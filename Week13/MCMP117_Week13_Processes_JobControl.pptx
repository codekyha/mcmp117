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13. In Week 3 we studied processes on paper: PIDs, the five states, the PCB, fork and exec. In Week 5 we scheduled them by priority. Today we meet the same ideas live in the Linux shell: ps, top and /proc to look at processes; &amp;, Ctrl+Z, jobs, fg and bg to control them; signals and kill to stop them; nice to change their priority; and a tiny C program that creates a zombie so that we can finally SEE state Z. Everything shown was captured on our lab machine as the user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recap. Ask: how many processes does 'grep ERROR logs/system.log | wc -l' create? (Two, running at the same time, connected by a pipe.) Who creates them? (The shell, with fork and exec — Week 3.) We will use a Week 12 pipeline again today: ps ... | cut | sort | uniq -c to count our processes by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1 and 2 before the break, Parts 3–5 after it, then 30–40 minutes of lab work. Ask everybody to open a terminal now and run the lab setup script: bash mcmp117_lab_setup.sh, then cd ~/lab. All demos use harmless test processes: sleep (waits and does nothing) and yes (prints 'y' forever; we send its output to /dev/null so it just burns CPU).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in Week 3 a process was a box in a diagram. Today it has a number you can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the fork/exec/wait picture of Week 3. The PIDs are real: our shell was PID 1913, and 'sleep 300 &amp;' became PID 1970 with parent 1913 — pstree confirms it. With &amp; the shell skips the wait() and prints the prompt immediately; that is the whole difference between foreground and background. PIDs on your machine will be different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of the week; it connects Week 3 with today. The five states are exactly the Week 3 diagram: new, ready, running, waiting, terminated. Linux prints one letter for each: R for both ready and running (it does not distinguish them), S (interruptible sleep) or D (uninterruptible, usually disk I/O) for waiting, Z for a terminated process that its parent has not yet waited for (zombie). Linux adds one state that Week 3 did not have: stopped, letter T, entered with Ctrl+Z or kill -STOP and left with fg, bg or kill -CONT. 'new' has no letter: it lasts microseconds. The amber arrows are the actions you will practise today. Note: kill also works on a waiting (S) process — sleep spends its whole life in S and we kill it all the time; the arrow is drawn from running only to keep the picture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letter is the state; the following characters are flags. In our captures: bash shows Ss (sleeping, session leader — it waits for your typing), ps itself shows R+ (it is the running foreground process when it takes the snapshot), a niced yes shows RN. Ask: why is ps always R? (It is the process that is running when the list is made.)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along. The login shell appears as '-bash': the leading dash marks a login shell. Point at the C column of yes: 96 — CPU usage in percent, because yes never stops working. PID numbers grow; the gap from 1913 to 1969 is processes created by other users on the same machine in the meantime.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-o is the most useful option of ps: ps -o pid,ppid,stat,cmd is the view we use all day. pstree -p $$ starts the tree at our shell. Compare with the fork_count tree of Week 3. The kill %1 %2 line is a preview of job control: %1 means 'job number 1', not PID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from our ps aux capture (next slide). VSZ and RSS connect to Weeks 6–7: VSZ is the size of the virtual address space, RSS the part currently in RAM; for yes, 3132 KiB virtual but only 1884 KiB resident — demand paging at work. %CPU in ps is an average over the whole life of the process, unlike top, which measures the last few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our lab machine the full lists contain about 70 processes of root and other users; we show the first lines of ps -ef and then only the student's processes (we trimmed the long PID 1 command line with '…'). PID 1 on this lab machine is a small container init program called process_api; on a normal Ubuntu installation PID 1 is systemd. PID 2, kthreadd, is the parent of all kernel threads (names in square brackets). The last line of ps aux | grep is grep itself — a classic surprise; pgrep (later) avoids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$! is the PID of the most recent background job. /proc is not on any disk: the kernel generates these files when you read them (Week 3, Week 9 FHS). The /proc/&lt;pid&gt;/status file is a text view of the kernel's task_struct, Linux's PCB. Uid 1013 is our lab user's number; yours will differ (typically 1000). The ls -l lines are cut at the right edge on the slide: they end in -&gt; /home/student/lab and -&gt; /usr/bin/sleep.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captured one snapshot with top -b -n 1 (batch mode) so that it fits on a slide; -u student shows only our processes, but the header lines are always for the whole machine (71 tasks of all users). Interactive keys in top: q quit, P sort by CPU, M sort by memory, k kill (asks for a PID), r renice, u filter by user, 1 show each CPU. htop is a friendlier, coloured version: arrow keys to select, F9 to kill, F7/F8 to change nice, F10 to quit. '0 user' appears because nobody is logged in on our lab machine's console; on your PC you will see 1 user or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checked with code/check_numbers.py. Our snapshot was taken 30 s after yes started, so the 1-minute average (0.59) had not yet climbed to 1: these are exponentially decaying averages, not instant counts. In the 4th field of /proc/loadavg, 3/98 means 3 runnable entities right now out of 98 in total; the last number is the most recently assigned PID. On Linux the load also counts processes in state D, which is why a machine waiting for a slow disk can show a high load with an idle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photograph this slide; the notes contain a longer command reference. Ask: which command would you use to find the PID of a program called firefox? (pgrep firefox, or ps aux | grep firefox.)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job is a command line started by the shell — one process, or several connected by pipes. The shell numbers them: [1], [2],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idea of the terminal belonging to one foreground process group at a time; the keyboard signals go to that group. Typical use of background jobs: a long compilation, a download, a server you are testing. Typical student error: starting an editor (nano) with &amp; — it is immediately stopped because a background job may not read from the terminal (state T, 'Stopped (tty input)').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live: type sleep 100, press Ctrl+Z, then jobs, ps -o pid,stat,cmd, bg, jobs -l, ps again. The + in [1]+ marks the 'current' job (the default for fg and bg without an argument), - the previous one. A stopped job keeps all its memory and open files; it just gets no CPU — in Week 3 terms it is neither ready nor waiting, which is why Linux needs the extra state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mistake: kill 1 instead of kill %1. Without % the number is a PID: 'kill 1' tries to signal PID 1 and fails with 'Operation not permitted' (we show this in the lab solutions). Note that the job numbers are per shell: another terminal has its own [1].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$$ and $! are shell variables; we will use them in scripts next week (Week 14), e.g. to remember the PID of a background job and wait for it or kill 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Before leaving, students can try: sleep 1000, Ctrl+Z, bg, jobs. After the break: everything we did with keys is actually done with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Ctrl+C, Ctrl+Z, kill, closing the terminal: all of these send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are an inter-process communication mechanism (Week 3 mentioned IPC) and the user-space version of interrupts (Week 2). The ownership rule is a protection rule (Week 11): a student cannot terminate another user's processes — pkill reports 'Operation not permitted' if you try. Numbers are those of Linux on x86 and ARM; a few differ on other UNIX systems, so names are safer than numbers (except 9 and 15, which are universal).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kill -l on our Linux machine. SIGTSTP (Ctrl+Z) is the polite stop: a program such as an editor can catch it and restore the terminal first; SIGSTOP cannot be refused. SIGCHLD is how the kernel tells a parent that a child has terminated — the parent should then call wait(); if it does not, the child stays a zombie (Part 5). Also worth knowing: SIGSEGV (11) = segmentation fault, sent by the kernel after an illegal memory access (Week 7 page-fault step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128 + n is a shell convention: an exit status above 128 means 'killed by signal (status − 128)'. Verified by check_numbers.py against the captured 143, 137 and 130. Week 14 uses $? in if statements. Safety: kill -9 gives the program no chance to save data or remove temporary files — always try plain kill (SIGTERM) first and wait a few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SIGSTOP freezes sleep (STAT T — the same state as after Ctrl+Z, so bash reports it as Stopped), SIGCONT lets it continue (S again). Right: pgrep lists matching PIDs; pkill sends SIGTERM to all of them; killall does the same with an exact name. The last pgrep finds nothing, so its exit status is 1. Safety: pkill and killall act on EVERY match — 'pkill -u student bash' would close all your terminals. Test the pattern with pgrep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with gcc -Wall -O2 -o catch catch.c (full file in code/catch.c). Messages from a background job appear wherever the cursor is — after the prompt — so the next typed command starts on a new line: this is normal. This is why well-written servers handle SIGTERM: they close files and save state before exiting, while SIGKILL gives them no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slide required for the hands-on weeks: kill -9 is the last resort, never the first. The right column previews Part 5: we will kill -9 a zombie and watch nothing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'nohup: ignoring input…' message was printed by the background nohup after the prompt had already appeared, so the next command starts on a new line. Use case: start a long job on a remote server over SSH, log out, come back later. Better tools for that (screen, tmux, systemd services) are beyond this course. disown is a bash builtin with a similar effect for an already running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short parts: nice values (Week 5) and zombie processes (Week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experiment as the Week 5 notes, repeated with yes instead of cpu_hog. The weights are from the kernel's sched_prio_to_weight table; numbers checked with check_numbers.py. The name 'nice' is literal: a process with a higher nice value is nicer to the others. Ordinary users may only make their processes nicer (raise the value), never lower it — otherwise everybody would set −20.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renice calls the nice value 'priority' in its message — same thing. 'nice -n -5 sleep 1' prints a warning but still runs sleep at nice 0. taskset -c 1 pins a process to CPU core 1; without it the two yes processes would each get their own core and both show about 100 %. Measured ratio 89.3/9.6 = 9.30 (check_numbers.py) — the Week 5 formula works on a real kernel. sudo renice -n -5 would work as root (Week 11); do not do it on shared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program in code/zombie.c with comments and #include lines; compile with gcc -Wall -O2 -o zombie zombie.c (or make). It compiles without warnings. Recall the Week 3 definition: a zombie is a process that has terminated but whose exit status has not yet been collected by its parent. It uses no memory or CPU but occupies a process-table entry and its PID.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cure for zombies is to fix or end the PARENT. If the parent is killed, the zombie becomes an orphan, is adopted by PID 1 (or a subreaper) and reaped immediately — Week 3. A few zombies are harmless; thousands can fill the process table (pid_max is 32768 on our machine, so the largest PID is 32767). The 'wait' builtin in the demo simply waits for the background job ./zombie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the cheat sheet. The notes contain both tables plus the full signal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30–40 minutes for both slides. Walk around: the most common problems are typing kill 1 instead of kill %1, forgetting &amp; and losing the prompt (press Ctrl+C or Ctrl+Z), and pkill without -u. Solutions are at the end of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17 links Week 12: ps -u student -o stat= | cut -c1 | sort | uniq -c. Students who finish early can explore htop.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 1, renice, nice and zombie messages appear in our captured outputs (out_lab.txt, out_nice.txt, out_zombie.txt); the others are standard bash messages. The 'Stopped (tty input)' case: run 'nano &amp;' or 'cat &amp;' and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(1) T = stopped; Week 3 has no such state — it is neither ready nor waiting; fg or bg (both send SIGCONT), or kill -CONT. (2) 137 = 128 + 9: killed by SIGKILL; 143 = 128 + 15: SIGTERM. (3) About 90.3 % and 9.7 % (weights 1024 and 110); we measured 89.3 % and 9.6 %. (4) A zombie has already terminated; it only waits for its parent to collect the exit status with wait(). Ending the parent makes PID 1 adopt and reap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quickly; each line is a likely exam item for the final (Week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 we put commands into files and make them programs. Everything from today returns: $$ and $! for background jobs, $? and the 128 + n rule in if statements, &amp; and wait to run tasks in parallel. Week 15 is the final exam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Remind students that the lab sheet and its solutions are in the notes, and that questions on the Telegram channel help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 ·  WEEK 13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Processes &amp; Job Control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you type becomes a process. Today you learn to watch it, pause it, move it and stop it.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Electronical Communication Technology Programme  ·  Vocational School  ·  Istanbul Okan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12 in Four Ideas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streams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starts with fd 0 (stdin), 1 (stdout) and 2 (stderr).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61188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&gt;&gt; &lt; 2&gt; 2&gt;&amp;1 &amp;&gt; /dev/null — done by the shell between fork() and exec().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4652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cmd1 | cmd2 runs two processes at the same time, joined by a kernel buffer.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05256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28116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grep, sort, uniq -c, cut, wc, tr, head, tail: small tools combined into pipelines.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the shell quietly created processes for every pipeline. Today we look at those processes directly — and take control of them.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150876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645920" y="15087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at processes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ps, pstree, top, /proc/&lt;pid&gt;/status — and the STAT letters R S D T Z.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2295144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2295144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645920" y="229514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control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and background, &amp;, Ctrl+Z, Ctrl+C, jobs, fg, bg.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3081528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3081528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645920" y="308152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kill, kill -l, SIGTERM vs SIGKILL vs SIGINT, SIGSTOP/SIGCONT, pkill, killall, nohup.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3867912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3867912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645920" y="386791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and renice: the nice values of Week 5, measured.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4654296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654296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645920" y="465429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Zombies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 program that makes state Z visible.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48640" y="5440680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71600" y="544068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164592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inspect, suspend, resume and kill jobs (graded exercises).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at Processes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on paper — Week 13 in the terminal.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Command Is a Process: fork, exec, wait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 program in execution, with a PID, a parent (PPID) and a PCB in the kernel. The shell creates one for each command.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18288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1913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29184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of bash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exec("sleep")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PID 1970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2331720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3268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300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1970, PPID 1913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2395728" y="2697480"/>
            <a:ext cx="877824" cy="41148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21808" y="2697480"/>
            <a:ext cx="78638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22208" y="2697480"/>
            <a:ext cx="78638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91840" y="3474720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291840" y="3474720"/>
            <a:ext cx="5212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foreground: bash calls wait() and shows no prompt until sleep ends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4160520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5EBD7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291840" y="4160520"/>
            <a:ext cx="5212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(&amp;): bash does NOT wait — the prompt returns at once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95728" y="3429000"/>
            <a:ext cx="877824" cy="32918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395728" y="3611880"/>
            <a:ext cx="877824" cy="822960"/>
          </a:xfrm>
          <a:prstGeom prst="line">
            <a:avLst/>
          </a:prstGeom>
          <a:noFill/>
          <a:ln w="19050">
            <a:solidFill>
              <a:srgbClr val="C98A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486400" cy="1325880"/>
          </a:xfrm>
          <a:prstGeom prst="roundRect">
            <a:avLst>
              <a:gd name="adj" fmla="val 3448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13232" y="5047488"/>
            <a:ext cx="51572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1970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pstree -p $$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bash(1913)─┬─pstree(1975)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├─sleep(1970)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└─yes(1971)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93776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49224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PID before and after exec(): the child keeps its number but runs a new program. [1] is the job number, 1970 the PID.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States, ps STAT Letters, and What You Can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828800" cy="640080"/>
          </a:xfrm>
          <a:prstGeom prst="roundRect">
            <a:avLst>
              <a:gd name="adj" fmla="val 2571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66544" y="1581912"/>
            <a:ext cx="420624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066544" y="158191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3291840"/>
            <a:ext cx="1828800" cy="640080"/>
          </a:xfrm>
          <a:prstGeom prst="roundRect">
            <a:avLst>
              <a:gd name="adj" fmla="val 25714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82880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46704" y="3090672"/>
            <a:ext cx="420624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346704" y="309067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3291840"/>
            <a:ext cx="1828800" cy="640080"/>
          </a:xfrm>
          <a:prstGeom prst="roundRect">
            <a:avLst>
              <a:gd name="adj" fmla="val 2571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922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0144" y="3090672"/>
            <a:ext cx="420624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010144" y="309067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4800600"/>
            <a:ext cx="1828800" cy="640080"/>
          </a:xfrm>
          <a:prstGeom prst="roundRect">
            <a:avLst>
              <a:gd name="adj" fmla="val 25714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16052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67528" y="459943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367528" y="4599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01000" y="1783080"/>
            <a:ext cx="1828800" cy="640080"/>
          </a:xfrm>
          <a:prstGeom prst="roundRect">
            <a:avLst>
              <a:gd name="adj" fmla="val 2571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00100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18904" y="1581912"/>
            <a:ext cx="420624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9518904" y="158191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60520" y="1783080"/>
            <a:ext cx="1828800" cy="640080"/>
          </a:xfrm>
          <a:prstGeom prst="roundRect">
            <a:avLst>
              <a:gd name="adj" fmla="val 25714"/>
            </a:avLst>
          </a:prstGeom>
          <a:solidFill>
            <a:srgbClr val="F5EBD7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1605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78424" y="1581912"/>
            <a:ext cx="420624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678424" y="158191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95560" y="178308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019556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463040" y="2441448"/>
            <a:ext cx="822960" cy="832104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50292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75888" y="3456432"/>
            <a:ext cx="2798064" cy="91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206240" y="31363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dispatch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 flipH="1">
            <a:off x="3675888" y="3767328"/>
            <a:ext cx="2798064" cy="91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4206240" y="37856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slice over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 flipH="1">
            <a:off x="6007608" y="3950208"/>
            <a:ext cx="1033272" cy="987552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6720840" y="43434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I/O, sleep, wait()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3108960" y="3950208"/>
            <a:ext cx="1033272" cy="987552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2240280" y="434340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done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 flipH="1" flipV="1">
            <a:off x="5852160" y="2441448"/>
            <a:ext cx="1097280" cy="832104"/>
          </a:xfrm>
          <a:prstGeom prst="line">
            <a:avLst/>
          </a:prstGeom>
          <a:noFill/>
          <a:ln w="31750">
            <a:solidFill>
              <a:srgbClr val="C98A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644652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-STOP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 flipH="1">
            <a:off x="3200400" y="2441448"/>
            <a:ext cx="1097280" cy="832104"/>
          </a:xfrm>
          <a:prstGeom prst="line">
            <a:avLst/>
          </a:prstGeom>
          <a:noFill/>
          <a:ln w="31750">
            <a:solidFill>
              <a:srgbClr val="C98A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187452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· bg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-CONT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 flipV="1">
            <a:off x="7863840" y="2441448"/>
            <a:ext cx="640080" cy="832104"/>
          </a:xfrm>
          <a:prstGeom prst="line">
            <a:avLst/>
          </a:prstGeom>
          <a:noFill/>
          <a:ln w="31750">
            <a:solidFill>
              <a:srgbClr val="C98A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845820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exit()  ·  Ctrl+C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·  kill -9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848088" y="2103120"/>
            <a:ext cx="329184" cy="91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94640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wait() reaps it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03720" y="475488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7132320" y="49377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= the letter ps prints in its STAT column.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arrows: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you do (keys, kill).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arrows: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kernel and scheduler (Week 3).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852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adds stopped (T). R = ready OR running.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STAT COLUMN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 Letters and Their Extra Flags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  <a:gridCol w="23774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Letter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Week 3 state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Seen today in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or runnable (on a CPU or in the ready queue)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/ ready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&gt; /dev/null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interruptible sleep: waiting for an event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300, bash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uninterruptible sleep, usually disk I/O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(rare, short-lived)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by Ctrl+Z or SIGSTOP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(Linux extra)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Ctrl+Z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zombie: finished, not yet reaped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./zombie (Part 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flags after the letter: s = session leader (your login shell: Ss), + = in the foreground group (R+), N = low priority (niced: RN), &lt; = high priority, l = multithreaded.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ps: A Snapshot of Your Processes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5745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$$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1913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TTY          TIME 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1913 pts/0    00:00:00 bash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1969 pts/0    00:00:00 ps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1970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&gt; /dev/null &amp;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1971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TTY          TIME 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1913 pts/0    00:00:00 bash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1970 pts/0    00:00:00 sleep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1971 pts/0    00:00:00 yes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1972 pts/0    00:00:00 ps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-f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       PID  PPID  C STIME TTY          TIME 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1913  1912  0 16:58 pts/0    00:00:00 -bash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1970  1913  0 16:58 pts/0    00:00:00 sleep 300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1971  1913 96 16:58 pts/0    00:00:00 yes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1973  1913  0 16:58 pts/0    00:00:00 ps -f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977640" cy="4754880"/>
          </a:xfrm>
          <a:prstGeom prst="roundRect">
            <a:avLst>
              <a:gd name="adj" fmla="val 137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909560" y="1691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148840"/>
            <a:ext cx="35204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$$ prints the PID of the shell itself: 1913.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ps: processes of this terminal only (TTY pts/0).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is in its own list — it is a process too.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-f (full): adds UID, PPID, start time, the whole command line.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PPID of sleep and yes = 1913: the shell is their parent.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PS -O · PSTREE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Columns; Draw the Tree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2514600"/>
          </a:xfrm>
          <a:prstGeom prst="roundRect">
            <a:avLst>
              <a:gd name="adj" fmla="val 1818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5745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pid,ppid,stat,ni,%cpu,%mem,cmd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 PPID STAT  NI %CPU %MEM 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1913  1912 Ss     0  0.5  0.0 -bash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1970  1913 S      0  0.0  0.0 sleep 300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1971  1913 R      0 97.4  0.0 yes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1974  1913 R+     0  0.0  0.0 ps -o pid,ppid,stat,ni,%cpu,%mem,cmd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pstree -p $$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bash(1913)─┬─pstree(1975)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├─sleep(1970)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└─yes(1971)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6903720" cy="1188720"/>
          </a:xfrm>
          <a:prstGeom prst="roundRect">
            <a:avLst>
              <a:gd name="adj" fmla="val 384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4315968"/>
            <a:ext cx="6574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%1 %2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[1]-  Terminated              sleep 300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[2]+  Terminated              yes &gt; /dev/null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508760"/>
            <a:ext cx="3977640" cy="4754880"/>
          </a:xfrm>
          <a:prstGeom prst="roundRect">
            <a:avLst>
              <a:gd name="adj" fmla="val 137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909560" y="1691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48840"/>
            <a:ext cx="35204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 lists exactly the columns you want: here state (STAT), nice value (NI), %CPU and %MEM.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R and ≈ 97 % CPU. sleep: S and 0 %.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pstree -p draws the parent–child tree of Week 3 with real PIDs.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%1 %2 ends both jobs; bash reports "Terminated" at the next prompt.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PS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Columns Mean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  <a:gridCol w="3246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Column</a:t>
                      </a:r>
                      <a:endParaRPr lang="en-US" sz="15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5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5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/ PPID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ID / parent's process ID (Week 3)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1970 / 1913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UID, USER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of the process (Week 11)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letter + flags (previous slides)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R+, 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%CPU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time ÷ elapsed time since start, in percent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 (yes)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%MEM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 memory ÷ total RAM, in percent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VSZ / RSS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size / resident set (in RAM), in KiB (Weeks 6–7)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3132 / 1884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the process belongs to; ? = none (daemon)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pts/0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CPU time used so far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CMD, COMMAND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command 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300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%CPU above 100 is possible for a multithreaded process: 200 % = two cores fully busy (Week 4 threads).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ALL PROCESSES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Everybody's Processes: ps -ef and ps aux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5438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721461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-ef | head -4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       PID  PPID  C STIME TTY          TIME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    1     0  0 16:17 ?        00:00:02 /process_api --firecracker-init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    2     0  0 16:17 ?        00:00:00 [kthreadd]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    3     2  0 16:17 ?        00:00:00 [pool_workqueue_release]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ps -f -u student: only the user student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-f -u student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       PID  PPID  C STIME TTY          TIME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1913  1912  0 16:58 pts/0    00:00:00 -bash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1970  1913  0 16:58 pts/0    00:00:00 sleep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1971  1913 99 16:58 pts/0    00:00:01 yes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1978  1913  0 16:58 pts/0    00:00:00 ps -f -u student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head -1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    PID %CPU %MEM    VSZ   RSS TTY      STAT START   TIME COMMAND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'^student'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1913  0.6  0.0   8436  7532 pts/0    Ss   16:58   0:00 -bash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1970  0.0  0.0   3132  1996 pts/0    S    16:58   0:00 sleep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1971 99.0  0.0   3132  1884 pts/0    R    16:58   0:02 yes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1981  0.0  0.0   8340  4328 pts/0    R+   16:58   0:00 ps aux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1982  0.0  0.0   4100  2200 pts/0    S+   16:58   0:00 grep ^student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321040" y="1508760"/>
            <a:ext cx="3337560" cy="4754880"/>
          </a:xfrm>
          <a:prstGeom prst="roundRect">
            <a:avLst>
              <a:gd name="adj" fmla="val 164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549640" y="16916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styles, same data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2148840"/>
            <a:ext cx="2880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-ef: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process, full format (System V style).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process, with %CPU, %MEM, VSZ, RSS (BSD style, no dash).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student: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one user.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 is the first process; kernel threads appear [in brackets].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finds itself!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3 · THE PCB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/proc/&lt;pid&gt;/status: Reading the PCB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5745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2118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$!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2118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'^(Name|State|Pid|PPid|Uid|Threads|VmRSS)' 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  sleep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S (sleeping)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Pid:    2118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PPid:   2061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Uid:    1013    1013    1013    1013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VmRSS:      2004 kB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Threads:       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ctxt /proc/$!/status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voluntary_ctxt_switches:       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nonvoluntary_ctxt_switches:     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/proc/$!/cmdline | tr '\0' ' '; echo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/proc/$!/cwd /proc/$!/exe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lrwxrwxrwx 1 student student 0 Oct 12 16:58 /proc/2118/cwd -&gt; /home/student…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lrwxrwxrwx 1 student student 0 Oct 12 16:58 /proc/2118/exe -&gt; /usr/bin/sleep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977640" cy="4754880"/>
          </a:xfrm>
          <a:prstGeom prst="roundRect">
            <a:avLst>
              <a:gd name="adj" fmla="val 137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909560" y="1691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fields of Week 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148840"/>
            <a:ext cx="35204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(sleeping) = waiting.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PPid: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identity and parent.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owner (Week 11).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VmRSS: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information.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ctxt_switches: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accounting — voluntary = it gave up the CPU, nonvoluntary = it was preempted.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cwd, exe: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 directory and program file.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TOP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top: A Live View, Refreshed Every Few Seconds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3063240"/>
          </a:xfrm>
          <a:prstGeom prst="roundRect">
            <a:avLst>
              <a:gd name="adj" fmla="val 149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1078077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-b -n 1 -u student | head -15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- 16:58:44 up 41 min,  0 user,  load average: 0.59, 0.34, 0.23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Tasks:  71 total,   2 running,  69 sleeping,   0 stopped,   0 zombie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%Cpu(s): 28.6 us, 23.8 sy,  0.0 ni, 42.9 id,  0.0 wa,  0.0 hi,  0.0 si,  4.8 st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MiB Mem :   8029.6 total,   7294.2 free,    598.8 used,    357.6 buff/cache    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MiB Swap:      0.0 total,      0.0 free,      0.0 used.   7430.8 avail Mem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USER      PR  NI    VIRT    RES    SHR S  %CPU  %MEM     TIME+ COMMAND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2260 student   20   0    3132   1876   1760 R 100.0   0.0   0:30.83 yes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2204 student   20   0    8436   7528   3552 S   0.0   0.1   0:00.01 bash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2261 student   20   0    3132   2004   1892 S   0.0   0.0   0:00.00 sleep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2264 student   20   0    9380   5436   3308 R   0.0   0.1   0:00.00 top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2265 student   20   0    3144   1956   1840 S   0.0   0.0   0:00.00 head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4937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and load average: 1, 5 and 15-minute averages of the number of processes running or waiting for a CPU.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25112" y="475488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53712" y="4937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2–3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by state (from STAT); %Cpu(s) of the WHOLE machine: us = user mode, sy = kernel mode (Week 2), id = idle.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475488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330184" y="4937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list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= 20 + NI (Week 5 priority), S = state, %CPU in the last interval: yes uses 100 % of one core.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Load Average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= average number of processes that are running or ready (R), plus those in disk wait (D). Compare it with the number of CPU cores.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937760" cy="1600200"/>
          </a:xfrm>
          <a:prstGeom prst="roundRect">
            <a:avLst>
              <a:gd name="adj" fmla="val 2857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2258568"/>
            <a:ext cx="46085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/proc/loadavg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 0.34 0.23 3/98 2262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nproc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16:58:45 up 41 min,  0 user,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load average: 0.59, 0.34, 0.23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5000" y="2148840"/>
            <a:ext cx="5943600" cy="3108960"/>
          </a:xfrm>
          <a:prstGeom prst="roundRect">
            <a:avLst>
              <a:gd name="adj" fmla="val 1471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897880" y="2258568"/>
            <a:ext cx="55778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cores c = 2  (nproc)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0.59 → 0.59 / 2 = 29.5 % of capacity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2.00 → 2.00 / 2 = 100 %: every core busy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3.00 → 150 %: on average 3 − 2 =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process waits in the ready queue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1-min &gt; 15-min: load is rising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1-min &lt; 15-min: load is falling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97764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yes needs one core: top shows 100 % for it, but only about 50 % in %Cpu(s), the average over 2 cores.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109960" cy="822960"/>
          </a:xfrm>
          <a:prstGeom prst="roundRect">
            <a:avLst>
              <a:gd name="adj" fmla="val 666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544068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link: load &gt; cores means processes spend time in the ready queue — their waiting time grows.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Inspecting Processes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903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Command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it shows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  ·   ps -f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of this terminal (short / full format)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-ef   ·   ps aux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processes of all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-u 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processes of one 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-o pid,ppid,stat,ni,%cpu,cmd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the columns you choose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... --sort=-%cpu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sorted, highest CPU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pgrep -l name   ·   pgrep -c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PIDs (and names) / count of matching processes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pstree -p   ·   pstree -p $$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process tree with PIDs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  ·   htop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view; q quits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/proc/&lt;pid&gt;/status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PCB as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 $$   ·   echo $!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of this shell / of the last background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Control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terminal, many jobs: foreground, background, stopped.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Foreground and Background Jobs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job owns the keyboard: the foreground job. Ctrl+C and Ctrl+Z are delivered to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Foreground:  command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waits (wait() of Week 3) — no prompt until the job ends.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reads your keyboard.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sends SIGINT: usually terminates it.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sends SIGTSTP: stops it (state T) and returns the prompt.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short commands and anything interactive (nano, less, top).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6520" y="22860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 command &amp;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prints [job] PID and the prompt at once.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working while the job runs.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does not reach it: use kill %n.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output still appears on your screen — redirect it (&gt; file, Week 12).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long, non-interactive work: compiling, copying, downloads.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lists the jobs of THIS shell.  fg %n: bring to the foreground.  bg %n: continue a stopped job in the background.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JOB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Ctrl+Z, jobs and bg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07161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100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^Z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Stopped                 sleep 100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Stopped                 sleep 100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pid,stat,cmd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STAT CMD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2345 Ss   -bash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2401 T    sleep 100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2402 R+   ps -o pid,stat,cmd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sleep 100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-l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2401 Running                 sleep 100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pid,stat,cmd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STAT CMD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2345 Ss   -bash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2401 S    sleep 100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2403 R+   ps -o pid,stat,cmd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1508760"/>
            <a:ext cx="4480560" cy="475488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406640" y="1691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148840"/>
            <a:ext cx="4023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100: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foreground — no prompt.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(^Z):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stopped; the prompt is back.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 T — the stopped state.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continue in the background; the shell adds the &amp;.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-l: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 Running, with its PID.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 S again — sleep is waiting for its timer, not stuck.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JOB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with &amp;, fg, Ctrl+C and kill %n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07161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200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2404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&gt; /dev/null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2405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Running                 sleep 100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[2]-  Running                 sleep 200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[3]+  Running                 yes &gt; /dev/null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%3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&gt; /dev/null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[1]-  Running                 sleep 100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[2]+  Running                 sleep 200 &amp;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%1 %2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[1]-  Terminated              sleep 100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[2]+  Terminated              sleep 200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1508760"/>
            <a:ext cx="4480560" cy="475488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406640" y="1691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148840"/>
            <a:ext cx="4023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[2] 2404 = job number 2, PID 2404.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is the current job, - the previous.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%3: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yes comes to the foreground; the shell prints its command.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(^C):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SIGINT ends it.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%1 %2:</a:t>
            </a: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 means job number.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is reported once, just before the next prompt.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Jobs and Processes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760720"/>
                <a:gridCol w="3154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You write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 means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%1, %2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number n of this shell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 %2, kill %1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%+  or  %%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current job (marked +); also fg/bg with no argument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previous job (marked -)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%-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%sleep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job whose command starts with sleep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%sleep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PID — works in any terminal, with any 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1970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of the current shell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 $$ → 1913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$!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of the most recent background job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$!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numbers (%n) exist only inside the shell that started the jobs. PIDs are global: ps, top and kill in another terminal see them too.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signals — how kill really works — then priorities and zombies.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numbered messages that the kernel delivers to a process.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Signal Is a Software Interrupt for a Process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a hardware interrupt stops the CPU and runs a handler. A signal does the same for one process.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2103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(Ctrl+C), kill, the kernel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103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signal pending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0" y="2331720"/>
            <a:ext cx="2103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1970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70048" y="2788920"/>
            <a:ext cx="78638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596128" y="2788920"/>
            <a:ext cx="78638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01168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-15 1970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7955280" cy="2423160"/>
          </a:xfrm>
          <a:prstGeom prst="roundRect">
            <a:avLst>
              <a:gd name="adj" fmla="val 226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40233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process does with 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8056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action: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terminate, stop, continue, or ignore — fixed per signal.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its own handler function (e.g. save work, then exit).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signal has no effect.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SIGKILL (9) and SIGSTOP (19) cannot be caught or ignored.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32520" y="1508760"/>
            <a:ext cx="2926080" cy="47548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96112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2148840"/>
            <a:ext cx="24688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may signal only their OWN processes (root: any).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does not always kill: it sends a signal. The default signal is 15, SIGTERM.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have names and numbers: kill -l.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Signals You Need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3886200"/>
                <a:gridCol w="30175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No.</a:t>
                      </a:r>
                      <a:endParaRPr lang="en-US" sz="1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Name</a:t>
                      </a:r>
                      <a:endParaRPr lang="en-US" sz="1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Sent by</a:t>
                      </a:r>
                      <a:endParaRPr lang="en-US" sz="1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Default action</a:t>
                      </a:r>
                      <a:endParaRPr lang="en-US" sz="1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Catchable?</a:t>
                      </a:r>
                      <a:endParaRPr lang="en-US" sz="16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SIGHUP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the terminal ("hang up")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SIGKILL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-9 — last resort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terminate, immediately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SIGTERM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(the default)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SIGCHLD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kernel, when a child ends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SIGCONT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fg, bg, kill -CONT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if stopped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SIGSTOP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-STOP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SIGTSTP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Ctrl+Z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Ctrl+\ sends SIGQUIT (3): like SIGINT, but may also write a core dump. SIGSEGV (11) is the kernel's answer to an illegal memory access (Week 7).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-l, SIGTERM, SIGKILL, SIGINT — and the Exit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6751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345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1) SIGHUP       2) SIGINT       3) SIGQUIT      4) SIGILL       5) SIGTRAP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6) SIGABRT      7) SIGBUS       8) SIGFPE       9) SIGKILL     10) SIGUSR1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11) SIGSEGV     12) SIGUSR2     13) SIGPIPE     14) SIGALRM     15) SIGTERM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64 signals in total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2541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Terminated              sleep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$?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2542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Killed                  sleep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$?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2543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-INT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Interrupt               sleep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$?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52360" y="1508760"/>
            <a:ext cx="4206240" cy="283464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680960" y="1691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-l lists all signals; kill -l 15 prints TERM, kill -l KILL prints 9.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$! waits for the job and reports how it ended: Terminated, Killed, Interrupt.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$? = exit status of the last command.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52360" y="4526280"/>
            <a:ext cx="4206240" cy="1737360"/>
          </a:xfrm>
          <a:prstGeom prst="roundRect">
            <a:avLst>
              <a:gd name="adj" fmla="val 263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635240" y="4636008"/>
            <a:ext cx="3840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killed by signal n → $? = 128 + 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SIGTERM: 128 + 15 = 143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SIGKILL: 128 +  9 = 137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SIGINT : 128 +  2 = 130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KILL, PKILL, KILLALL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Resume; Signal Processes by Name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89788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556869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2544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-STOP $!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pid,stat,cmd -p $!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STAT 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2544 T    sleep 300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Stopped                 sleep 300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-CONT $!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pid,stat,cmd -p $!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STAT CMD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2544 S    sleep 300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$!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29400" y="1508760"/>
            <a:ext cx="5029200" cy="3337560"/>
          </a:xfrm>
          <a:prstGeom prst="roundRect">
            <a:avLst>
              <a:gd name="adj" fmla="val 1370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793992" y="1618488"/>
            <a:ext cx="470001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401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2548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Terminated              sleep 300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402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2549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&gt; /dev/null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2550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-u student -l sleep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2548 sleep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2549 sleep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pkill -u student sleep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  Terminated              sleep 401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[3]-  Terminated              sleep 402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killall -u student yes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[4]+  Terminated              yes &gt; /dev/null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502920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0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pgrep / pkill / killall pick processes by NAME. Always add -u student: without it they also try other users' processes.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That Catches Signals: catch.c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257800" cy="3429000"/>
          </a:xfrm>
          <a:prstGeom prst="roundRect">
            <a:avLst>
              <a:gd name="adj" fmla="val 133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18488"/>
            <a:ext cx="489204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volatile sig_atomic_t got = 0;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handler(int sig) { got = sig; }  /* tiny! */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sa.sa_handler = handler;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sigaction(SIGINT,  &amp;sa, NULL);   /* Ctrl+C, 2: caught */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sigaction(SIGTERM, &amp;sa, NULL);   /* kill,  15: caught */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(sigaction(SIGKILL, &amp;sa, NULL) &lt; 0)  /* 9: refused */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perror("catch: sigaction(SIGKILL)");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(;;)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pause();                     /* sleep until a signal */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(got == SIGINT)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printf("... ignoring it, still running\n");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(got == SIGTERM)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printf("... cleaning up, bye\n");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566928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53912" y="1618488"/>
            <a:ext cx="534009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./catch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catch: sigaction(SIGKILL): Invalid argument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catch: PID 2694, waiting for signals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^Ccatch: got SIGINT (2) -- ignoring it, still running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^Ccatch: got SIGINT (2) -- ignoring it, still running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^Z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Stopped                 ./catch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./catch &amp;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-INT %1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catch: got SIGINT (2) -- ignoring it, still …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-TERM %1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catch: got SIGTERM (15) -- cleaning up, bye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Done                    ./catch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./catch &amp;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2695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catch: sigaction(SIGKILL): Invalid argument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catch: PID 2695, waiting for signals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-9 %1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Killed                  ./catch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52578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is caught (only a message); SIGTERM gives a clean exit (Done); a SIGKILL handler is refused, and kill -9 always works.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a Process Safely: Ask First, Force Last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1005840"/>
          </a:xfrm>
          <a:prstGeom prst="roundRect">
            <a:avLst>
              <a:gd name="adj" fmla="val 454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in the foreground (SIGINT)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172968" y="2194560"/>
            <a:ext cx="173736" cy="91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06040" cy="1005840"/>
          </a:xfrm>
          <a:prstGeom prst="roundRect">
            <a:avLst>
              <a:gd name="adj" fmla="val 454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364992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PID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SIGTERM: "please finish"; wait 5–10 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89320" y="2194560"/>
            <a:ext cx="173736" cy="91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06040" cy="1005840"/>
          </a:xfrm>
          <a:prstGeom prst="roundRect">
            <a:avLst>
              <a:gd name="adj" fmla="val 4545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181344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-p PID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there? check its STAT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05672" y="2194560"/>
            <a:ext cx="173736" cy="91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997696" y="1691640"/>
            <a:ext cx="2606040" cy="1005840"/>
          </a:xfrm>
          <a:prstGeom prst="roundRect">
            <a:avLst>
              <a:gd name="adj" fmla="val 4545"/>
            </a:avLst>
          </a:prstGeom>
          <a:solidFill>
            <a:srgbClr val="B5453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997696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PID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SIGKILL: no cleanup, no saving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F6E3E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77240" y="31546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always kill -9?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611880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cannot save open documents or flush buffers.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and lock files stay behind; a database may need repair.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children are not told; they become orphans.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46520" y="31546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kill -9 does NOT help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611880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(zombie):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already dead — only the parent's wait() removes it.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(disk wait):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signal is delivered when the I/O finishes.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process: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 not permitted (ask root).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SIGHUP, NOHUP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Surviving a Closed Terminal: nohup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0866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75741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"my shell is PID $$"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shell is PID 2775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500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2831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"last background job is PID $!"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background job is PID 2831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 sleep 600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2832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nohup: ignoring input and appending output to 'nohup.ou…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 sleep 700 &gt; /dev/null 2&gt;&amp;1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2834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README.txt  backup  data  docs  logs  nohup.out  photos  projects  scripts  src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-l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2831 Running                 sleep 500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[2]-  2832 Running                 nohup sleep 600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[3]+  2834 Running                 nohup sleep 700 &gt; /dev/null 2&gt;&amp;1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-HUP %1 %2 %3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-l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2831 Hangup                  sleep 500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[2]-  2832 Running                 nohup sleep 600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[3]+  2834 Running                 nohup sleep 700 &gt; /dev/null 2&gt;&amp;1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%2 %3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0" y="1508760"/>
            <a:ext cx="3794760" cy="4754880"/>
          </a:xfrm>
          <a:prstGeom prst="roundRect">
            <a:avLst>
              <a:gd name="adj" fmla="val 144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092440" y="16916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148840"/>
            <a:ext cx="3337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 = the shell, $! = the last background job.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terminal sends SIGHUP (1) to its jobs; we simulate it with kill -HUP.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sleep 500: Hangup — gone.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 jobs ignore SIGHUP: still Running.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nohup's output goes to nohup.out unless you redirect it.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4 AND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Priorities and Zombies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scheduling and Week 3 termination, measured.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Values: Being Nice to the Other Processes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49174" cy="411480"/>
          </a:xfrm>
          <a:prstGeom prst="rect">
            <a:avLst/>
          </a:prstGeom>
          <a:solidFill>
            <a:srgbClr val="C98A1B">
              <a:alpha val="8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98982" y="2057400"/>
            <a:ext cx="249174" cy="411480"/>
          </a:xfrm>
          <a:prstGeom prst="rect">
            <a:avLst/>
          </a:prstGeom>
          <a:solidFill>
            <a:srgbClr val="C98A1B">
              <a:alpha val="835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66444" y="2057400"/>
            <a:ext cx="249174" cy="411480"/>
          </a:xfrm>
          <a:prstGeom prst="rect">
            <a:avLst/>
          </a:prstGeom>
          <a:solidFill>
            <a:srgbClr val="C98A1B">
              <a:alpha val="82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533906" y="2057400"/>
            <a:ext cx="249174" cy="411480"/>
          </a:xfrm>
          <a:prstGeom prst="rect">
            <a:avLst/>
          </a:prstGeom>
          <a:solidFill>
            <a:srgbClr val="C98A1B">
              <a:alpha val="805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801368" y="2057400"/>
            <a:ext cx="249174" cy="411480"/>
          </a:xfrm>
          <a:prstGeom prst="rect">
            <a:avLst/>
          </a:prstGeom>
          <a:solidFill>
            <a:srgbClr val="C98A1B">
              <a:alpha val="79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068830" y="2057400"/>
            <a:ext cx="249174" cy="411480"/>
          </a:xfrm>
          <a:prstGeom prst="rect">
            <a:avLst/>
          </a:prstGeom>
          <a:solidFill>
            <a:srgbClr val="C98A1B">
              <a:alpha val="775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36292" y="2057400"/>
            <a:ext cx="249174" cy="411480"/>
          </a:xfrm>
          <a:prstGeom prst="rect">
            <a:avLst/>
          </a:prstGeom>
          <a:solidFill>
            <a:srgbClr val="C98A1B">
              <a:alpha val="76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603754" y="2057400"/>
            <a:ext cx="249174" cy="411480"/>
          </a:xfrm>
          <a:prstGeom prst="rect">
            <a:avLst/>
          </a:prstGeom>
          <a:solidFill>
            <a:srgbClr val="C98A1B">
              <a:alpha val="745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871216" y="2057400"/>
            <a:ext cx="249174" cy="411480"/>
          </a:xfrm>
          <a:prstGeom prst="rect">
            <a:avLst/>
          </a:prstGeom>
          <a:solidFill>
            <a:srgbClr val="C98A1B">
              <a:alpha val="73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38678" y="2057400"/>
            <a:ext cx="249174" cy="411480"/>
          </a:xfrm>
          <a:prstGeom prst="rect">
            <a:avLst/>
          </a:prstGeom>
          <a:solidFill>
            <a:srgbClr val="C98A1B">
              <a:alpha val="715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406140" y="2057400"/>
            <a:ext cx="249174" cy="411480"/>
          </a:xfrm>
          <a:prstGeom prst="rect">
            <a:avLst/>
          </a:prstGeom>
          <a:solidFill>
            <a:srgbClr val="C98A1B">
              <a:alpha val="7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73602" y="2057400"/>
            <a:ext cx="249174" cy="411480"/>
          </a:xfrm>
          <a:prstGeom prst="rect">
            <a:avLst/>
          </a:prstGeom>
          <a:solidFill>
            <a:srgbClr val="C98A1B">
              <a:alpha val="68500"/>
            </a:srgbClr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941064" y="2057400"/>
            <a:ext cx="249174" cy="411480"/>
          </a:xfrm>
          <a:prstGeom prst="rect">
            <a:avLst/>
          </a:prstGeom>
          <a:solidFill>
            <a:srgbClr val="C98A1B">
              <a:alpha val="67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08526" y="2057400"/>
            <a:ext cx="249174" cy="411480"/>
          </a:xfrm>
          <a:prstGeom prst="rect">
            <a:avLst/>
          </a:prstGeom>
          <a:solidFill>
            <a:srgbClr val="C98A1B">
              <a:alpha val="655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475988" y="2057400"/>
            <a:ext cx="249174" cy="411480"/>
          </a:xfrm>
          <a:prstGeom prst="rect">
            <a:avLst/>
          </a:prstGeom>
          <a:solidFill>
            <a:srgbClr val="C98A1B">
              <a:alpha val="64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43450" y="2057400"/>
            <a:ext cx="249174" cy="411480"/>
          </a:xfrm>
          <a:prstGeom prst="rect">
            <a:avLst/>
          </a:prstGeom>
          <a:solidFill>
            <a:srgbClr val="C98A1B">
              <a:alpha val="625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10912" y="2057400"/>
            <a:ext cx="249174" cy="411480"/>
          </a:xfrm>
          <a:prstGeom prst="rect">
            <a:avLst/>
          </a:prstGeom>
          <a:solidFill>
            <a:srgbClr val="C98A1B">
              <a:alpha val="61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278374" y="2057400"/>
            <a:ext cx="249174" cy="411480"/>
          </a:xfrm>
          <a:prstGeom prst="rect">
            <a:avLst/>
          </a:prstGeom>
          <a:solidFill>
            <a:srgbClr val="C98A1B">
              <a:alpha val="595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545836" y="2057400"/>
            <a:ext cx="249174" cy="411480"/>
          </a:xfrm>
          <a:prstGeom prst="rect">
            <a:avLst/>
          </a:prstGeom>
          <a:solidFill>
            <a:srgbClr val="C98A1B">
              <a:alpha val="58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813298" y="2057400"/>
            <a:ext cx="249174" cy="411480"/>
          </a:xfrm>
          <a:prstGeom prst="rect">
            <a:avLst/>
          </a:prstGeom>
          <a:solidFill>
            <a:srgbClr val="C98A1B">
              <a:alpha val="565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080760" y="2057400"/>
            <a:ext cx="249174" cy="41148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48222" y="2057400"/>
            <a:ext cx="249174" cy="411480"/>
          </a:xfrm>
          <a:prstGeom prst="rect">
            <a:avLst/>
          </a:prstGeom>
          <a:solidFill>
            <a:srgbClr val="02C39A">
              <a:alpha val="56500"/>
            </a:srgbClr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15684" y="2057400"/>
            <a:ext cx="249174" cy="411480"/>
          </a:xfrm>
          <a:prstGeom prst="rect">
            <a:avLst/>
          </a:prstGeom>
          <a:solidFill>
            <a:srgbClr val="02C39A">
              <a:alpha val="58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83146" y="2057400"/>
            <a:ext cx="249174" cy="411480"/>
          </a:xfrm>
          <a:prstGeom prst="rect">
            <a:avLst/>
          </a:prstGeom>
          <a:solidFill>
            <a:srgbClr val="02C39A">
              <a:alpha val="59500"/>
            </a:srgbClr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50608" y="2057400"/>
            <a:ext cx="249174" cy="411480"/>
          </a:xfrm>
          <a:prstGeom prst="rect">
            <a:avLst/>
          </a:prstGeom>
          <a:solidFill>
            <a:srgbClr val="02C39A">
              <a:alpha val="61000"/>
            </a:srgbClr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418070" y="2057400"/>
            <a:ext cx="249174" cy="411480"/>
          </a:xfrm>
          <a:prstGeom prst="rect">
            <a:avLst/>
          </a:prstGeom>
          <a:solidFill>
            <a:srgbClr val="02C39A">
              <a:alpha val="625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685532" y="2057400"/>
            <a:ext cx="249174" cy="411480"/>
          </a:xfrm>
          <a:prstGeom prst="rect">
            <a:avLst/>
          </a:prstGeom>
          <a:solidFill>
            <a:srgbClr val="02C39A">
              <a:alpha val="64000"/>
            </a:srgbClr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952994" y="2057400"/>
            <a:ext cx="249174" cy="411480"/>
          </a:xfrm>
          <a:prstGeom prst="rect">
            <a:avLst/>
          </a:prstGeom>
          <a:solidFill>
            <a:srgbClr val="02C39A">
              <a:alpha val="655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220456" y="2057400"/>
            <a:ext cx="249174" cy="411480"/>
          </a:xfrm>
          <a:prstGeom prst="rect">
            <a:avLst/>
          </a:prstGeom>
          <a:solidFill>
            <a:srgbClr val="02C39A">
              <a:alpha val="67000"/>
            </a:srgbClr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487918" y="2057400"/>
            <a:ext cx="249174" cy="411480"/>
          </a:xfrm>
          <a:prstGeom prst="rect">
            <a:avLst/>
          </a:prstGeom>
          <a:solidFill>
            <a:srgbClr val="02C39A">
              <a:alpha val="68500"/>
            </a:srgbClr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755380" y="2057400"/>
            <a:ext cx="249174" cy="4114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22842" y="2057400"/>
            <a:ext cx="249174" cy="411480"/>
          </a:xfrm>
          <a:prstGeom prst="rect">
            <a:avLst/>
          </a:prstGeom>
          <a:solidFill>
            <a:srgbClr val="02C39A">
              <a:alpha val="71500"/>
            </a:srgbClr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290304" y="2057400"/>
            <a:ext cx="249174" cy="411480"/>
          </a:xfrm>
          <a:prstGeom prst="rect">
            <a:avLst/>
          </a:prstGeom>
          <a:solidFill>
            <a:srgbClr val="02C39A">
              <a:alpha val="73000"/>
            </a:srgbClr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557766" y="2057400"/>
            <a:ext cx="249174" cy="411480"/>
          </a:xfrm>
          <a:prstGeom prst="rect">
            <a:avLst/>
          </a:prstGeom>
          <a:solidFill>
            <a:srgbClr val="02C39A">
              <a:alpha val="74500"/>
            </a:srgbClr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825228" y="2057400"/>
            <a:ext cx="249174" cy="411480"/>
          </a:xfrm>
          <a:prstGeom prst="rect">
            <a:avLst/>
          </a:prstGeom>
          <a:solidFill>
            <a:srgbClr val="02C39A">
              <a:alpha val="76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092690" y="2057400"/>
            <a:ext cx="249174" cy="411480"/>
          </a:xfrm>
          <a:prstGeom prst="rect">
            <a:avLst/>
          </a:prstGeom>
          <a:solidFill>
            <a:srgbClr val="02C39A">
              <a:alpha val="77500"/>
            </a:srgbClr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360152" y="2057400"/>
            <a:ext cx="249174" cy="411480"/>
          </a:xfrm>
          <a:prstGeom prst="rect">
            <a:avLst/>
          </a:prstGeom>
          <a:solidFill>
            <a:srgbClr val="02C39A">
              <a:alpha val="79000"/>
            </a:srgbClr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627614" y="2057400"/>
            <a:ext cx="249174" cy="411480"/>
          </a:xfrm>
          <a:prstGeom prst="rect">
            <a:avLst/>
          </a:prstGeom>
          <a:solidFill>
            <a:srgbClr val="02C39A">
              <a:alpha val="80500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895076" y="2057400"/>
            <a:ext cx="249174" cy="411480"/>
          </a:xfrm>
          <a:prstGeom prst="rect">
            <a:avLst/>
          </a:prstGeom>
          <a:solidFill>
            <a:srgbClr val="02C39A">
              <a:alpha val="82000"/>
            </a:srgbClr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1162538" y="2057400"/>
            <a:ext cx="249174" cy="411480"/>
          </a:xfrm>
          <a:prstGeom prst="rect">
            <a:avLst/>
          </a:prstGeom>
          <a:solidFill>
            <a:srgbClr val="02C39A">
              <a:alpha val="835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1828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28575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5321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(default)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2067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613898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1673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more CPU (only root may go below 0)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0" y="1673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CPU (any user may go up) →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315468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4" name="Text 52"/>
          <p:cNvSpPr txBox="1"/>
          <p:nvPr/>
        </p:nvSpPr>
        <p:spPr>
          <a:xfrm>
            <a:off x="777240" y="33375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recap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" y="379476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number = higher priority, as in Week 5.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shares the CPU by weight: nice 0 → 1024, nice 10 → 110; each step ≈ × 1.25.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shows PR = 20 + NI.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17920" y="3154680"/>
            <a:ext cx="5440680" cy="3108960"/>
          </a:xfrm>
          <a:prstGeom prst="roundRect">
            <a:avLst>
              <a:gd name="adj" fmla="val 1471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57" name="Text 55"/>
          <p:cNvSpPr txBox="1"/>
          <p:nvPr/>
        </p:nvSpPr>
        <p:spPr>
          <a:xfrm>
            <a:off x="6400800" y="3264408"/>
            <a:ext cx="50749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 CPU-bound jobs on ONE core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share(nice 0)  = 1024 / (1024 + 110)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= 90.3 %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share(nice 10) =  110 / (1024 + 110)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=  9.7 %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         = 1024 / 110 = 9.31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 1.25^10 = 9.31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NICE, RENICE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and renice in Practice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0866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75741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nice -n 10 yes &gt; /dev/null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2971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pid,ni,stat,cmd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 NI STAT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2914   0 Ss  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2971  10 RN   yes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2972   0 R+   ps -o pid,ni,stat,cmd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renice -n 15 -p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2971 (process ID) old priority 10, new priority 15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renice -n 5 -p $!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renice: failed to set priority for 2971 (process ID): Permission denied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nice -n -5 sleep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nice: cannot set niceness: Permission denied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%1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taskset -c 1 yes &gt; /dev/null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2976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Terminated              nice -n 10 yes &gt; /dev/null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taskset -c 1 nice -n 10 yes &gt; /dev/null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2977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pid,ni,stat,%cpu,cmd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 NI STAT %CPU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2914   0 Ss    0.0 -bash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2976   0 R    89.3 yes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2977  10 RN    9.6 yes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2978   0 R+    0.0 ps -o pid,ni,stat,%cpu,cmd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%2 %3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0" y="1508760"/>
            <a:ext cx="3794760" cy="4754880"/>
          </a:xfrm>
          <a:prstGeom prst="roundRect">
            <a:avLst>
              <a:gd name="adj" fmla="val 144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092440" y="16916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148840"/>
            <a:ext cx="3337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alone prints the current value: 0.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-n 10: NI 10, STAT RN (N = niced).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renice up (10 → 15): allowed. Down (15 → 5): Permission denied.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yes on one core (taskset -c 1): 89.3 % vs 9.6 %, ratio 9.30 — predicted 9.31.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3 · ZOMBIES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zombie.c: A Child That Nobody Waits For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18488"/>
            <a:ext cx="65836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pid_t pid = fork();                /* one process becomes two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(pid == 0) {                    /* ---- child ----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printf("child  %d: exiting now with status 7\n", getpid());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exit(7);                       /* terminated -&gt; zombie until reaped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---- parent: does NOT wait() for secs seconds ----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printf("parent %d: child is %d, sleeping %d s without wait()\n",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getpid(), pid, secs);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sleep(secs);                       /* meanwhile the child is a zombie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waitpid(pid, &amp;status, 0);          /* collect the exit status: reap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printf("parent %d: reaped child %d, exit status %d\n",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getpid(), pid, WEXITSTATUS(status));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0" y="1508760"/>
            <a:ext cx="3886200" cy="4754880"/>
          </a:xfrm>
          <a:prstGeom prst="roundRect">
            <a:avLst>
              <a:gd name="adj" fmla="val 141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001000" y="16916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148840"/>
            <a:ext cx="3429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fork(): parent and child (Week 3).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exits at once with status 7.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sleeps 25 s WITHOUT wait(): the child is a zombie meanwhile.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waitpid() collects status 7: the zombie is reaped.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STATE 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State Z — and Failing to Kill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0866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18488"/>
            <a:ext cx="675741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-O2 -o zombie zombie.c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./zombie 25 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3119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3119: child is 3120, sleeping 25 s without w…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 3120: exiting now with status 7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pid,ppid,stat,cmd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 PPID STAT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3057  3056 Ss  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3119  3057 S    ./zombie 25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3120  3119 Z    [zombie] &lt;defunct&gt;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3121  3057 R+   ps -o pid,ppid,stat,cmd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State /proc/$(pgrep -u student -n zombie)/stat…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Z (zombie)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-9 $(pgrep -u student -n zombie)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pid,ppid,stat,cmd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 PPID STAT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3057  3056 Ss  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3119  3057 S    ./zombie 25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3120  3119 Z    [zombie] &lt;defunct&gt;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3125  3057 R+   ps -o pid,ppid,stat,cmd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3119: reaped child 3120, exit status 7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[1]+  Done                    ./zombie 25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student@okan-lab:~/lab/src$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-o pid,ppid,stat,cmd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  PPID STAT CMD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3057  3056 Ss   -bash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3128  3057 R+   ps -o pid,ppid,stat,cmd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0" y="1508760"/>
            <a:ext cx="3794760" cy="4754880"/>
          </a:xfrm>
          <a:prstGeom prst="roundRect">
            <a:avLst>
              <a:gd name="adj" fmla="val 144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092440" y="16916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148840"/>
            <a:ext cx="3337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3120: STAT Z, [zombie] &lt;defunct&gt;, PPID 3119.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says: State Z (zombie).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-9 does nothing: the process is already dead.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parent's waitpid(): exit status 7, and the zombie is gone.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Jobs and Processes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35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86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Command / key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Effect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in the background; prints [job] PID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   ·   Ctrl+Z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SIGINT to the foreground job   ·   SIGTSTP: stop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  ·   jobs -l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this shell's jobs (with PIDs)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 %n   ·   bg %n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the foreground   ·   continue in the background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PID   ·   kill %n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SIGTERM (15) to a process / a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-9   ·   -STOP   ·   -CONT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SIGKILL (last resort)   ·   pause   ·   resume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pkill -u student name   ·   killall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processes by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nohup command &gt; log 2&gt;&amp;1 &amp;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running after the terminal closes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 -n 10 cmd   ·   renice -n 15 -p PID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/ change the nice value (users: up only)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· 30–40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Exercises (1/2): Inspect and Control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3749040"/>
          </a:xfrm>
          <a:prstGeom prst="roundRect">
            <a:avLst>
              <a:gd name="adj" fmla="val 14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Inspect (1–5)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$$ and find it in ps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-f: who is the parent of ps?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1000 &amp;: State and PPid from /proc/$!/status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pstree -p $$ with two sleeps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versus S: yes and sleep side by side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440680" cy="3749040"/>
          </a:xfrm>
          <a:prstGeom prst="roundRect">
            <a:avLst>
              <a:gd name="adj" fmla="val 14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91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Job control (6–9)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500, Ctrl+Z, jobs, STAT T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bg; check with jobs -l and ps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jobs; fg %2, then Ctrl+C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%1 versus kill 1: explain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~/lab (run bash mcmp117_lab_setup.sh first). Write down every command and its output: the Lab Sheet in the notes has all 17 exercises and the point values.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· 30–40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Exercises (2/2): Signals, Priority, Zombies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3749040"/>
          </a:xfrm>
          <a:prstGeom prst="roundRect">
            <a:avLst>
              <a:gd name="adj" fmla="val 14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Signals (10–13)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$? after SIGTERM, SIGKILL, SIGINT: explain 128 + n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CONT: watch STAT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pgrep -c, pkill -u student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 versus plain job: kill -HUP both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440680" cy="3749040"/>
          </a:xfrm>
          <a:prstGeom prst="roundRect">
            <a:avLst>
              <a:gd name="adj" fmla="val 14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91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Priority, zombies, challenge (14–17)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-n 15, renice to 19, then to 0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./zombie 30 &amp;: find Z, try kill -9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processes by %CPU (--sort)</a:t>
            </a:r>
            <a:endParaRPr lang="en-US" sz="16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your processes per state with a Week 12 pipeline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when you finish: jobs must be empty and pgrep -u student -l sleep must print nothing.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Messages and What They Mean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38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657600"/>
                <a:gridCol w="3246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You see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Why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Fix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-bash: kill: (1) - Operation not permitted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1 means PID 1 (system!)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%1 for job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-bash: kill: %6: no such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numbers are per 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jobs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renice: … Permission denied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may not lower nice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raise it (or root)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nice: cannot set niceness: Permission denied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nice as a 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at nice 0 anyway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prompt does not come 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foreground job is running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Ctrl+C, or Ctrl+Z then bg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[1]+ Stopped … (tty input)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job wants the keyboard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 %1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&lt;defunct&gt; survives kill -9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zombies are already dead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or fix the parent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message before retyping: bash, kill, renice and nice each tell you exactly which rule you broke.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780794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78079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shows STAT T for your process. Which Week 3 state is closest, and which two commands bring it back?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019806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0198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47772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ended and echo $? prints 137. What happened to it? What would 143 mean?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5881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25881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86784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CPU-bound processes on one core have nice 0 and nice 10. Roughly what CPU share does each get?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25796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549783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549783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5796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kill -9 not remove a zombie? What does?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13 — 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40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command is a process with a PID and PPID, created by the shell with fork + exec (Week 3).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ps (-f, -ef, aux, -o), pstree, top/htop, /proc/&lt;pid&gt;/status (the PCB).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= ready/running, S/D = waiting, T = stopped, Z = terminated but not reaped.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control: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starts in the background; Ctrl+Z stops; jobs, fg, bg; %n is a job, a plain number a PID.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kill sends SIGTERM (15) by default; Ctrl+C = SIGINT (2); kill -9 = SIGKILL, last resort; $? = 128 + n.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nice −20…19, users may only raise it; nice 10 vs 0 ≈ 1 : 9.3 of the CPU (Week 5).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Zombies:</a:t>
            </a:r>
            <a:r>
              <a:rPr lang="en-US" sz="18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the parent's wait() removes them.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Shell Scripting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7680960" cy="2926080"/>
          </a:xfrm>
          <a:prstGeom prst="roundRect">
            <a:avLst>
              <a:gd name="adj" fmla="val 187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will cover: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script: automate what you typed today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Shebang, chmod +x, variables, quoting, $( ) and $(( ))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$0 $1 $# $@, read, exit status $? and exit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[ ], if, for, while, functions, bash -x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scripts: backup.sh and report.sh in ~/lab/scripts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questions after class, ask them on the course Telegram channel — everyone benefits from the answer.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Hasan Oğuz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·  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MCMP117 Week 13</dc:title>
  <dc:subject>PptxGenJS Presentation</dc:subject>
  <dc:creator>PptxGenJS</dc:creator>
  <cp:lastModifiedBy>PptxGenJS</cp:lastModifiedBy>
  <cp:revision>1</cp:revision>
  <dcterms:created xsi:type="dcterms:W3CDTF">2026-10-12T17:07:36Z</dcterms:created>
  <dcterms:modified xsi:type="dcterms:W3CDTF">2026-10-12T17:07:36Z</dcterms:modified>
</cp:coreProperties>
</file>