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Lst>
  <p:notesMasterIdLst>
    <p:notesMasterId r:id="rId3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notesMaster" Target="notesMasters/notesMaster1.xml"/><Relationship Id="rId40" Type="http://schemas.openxmlformats.org/officeDocument/2006/relationships/presProps" Target="presProps.xml"/><Relationship Id="rId41" Type="http://schemas.openxmlformats.org/officeDocument/2006/relationships/viewProps" Target="viewProps.xml"/><Relationship Id="rId42" Type="http://schemas.openxmlformats.org/officeDocument/2006/relationships/theme" Target="theme/theme1.xml"/><Relationship Id="rId43"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to Week 8, the midterm week. The midterm covers Weeks 1 to 7. Plan for today: exam logistics, a compact recap of every week with the formulas, a 10-minute break, then seven fully worked practice problems covering every numerical question type, the most common mistakes, and an exam strategy. The course notes for this week are a study guide with a formula sheet and a complete practice exam with worked solutions; a separate sample exam paper with an answer key is also provided.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first half of the course was theory: what an operating system is and how it manages the CPU, memory and files. Everything on the top row is on the midterm. After the exam the course turns practical: from Week 9 we work in the Linux shell every week, and you will meet many of today's ideas again as commands (processes with ps, files with ls -i and ln, permissions in the inode). The final exam in Week 15 covers both halves.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Parts 1 to 3 before the break, Parts 4 to 6 after it. If your exam is later in the week, use the second half of this lecture as a guided practice session: try each problem yourself before I show the solution.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INSTRUCTOR: confirm date, room, duration, calculator rule, whether the exam is closed book and whether a formula sheet is provided, then delete the brackets. The format shown is that of the sample paper distributed with this week's material (exam/MCMP117_Midterm_Sample.pdf); the real paper follows the same structure unless announced otherwise. Students: bring your ID; phones must be switched off and put away.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week contributes. Weeks 5, 6 and 7 carry most of the numerical points because they have the calculation-type questions, but Weeks 1 to 4 appear in the multiple-choice and short-answer parts, and Amdahl's law, context-switch overhead and fork() counting are small numerical questions too. The middle column is your checklist; the right column tells you what to practise.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each week: the key definitions, the one diagram you should be able to draw, and the formulas. Everything uses exactly the notation of the weekly notes.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Week 1 questions are mostly multiple choice: which system introduced which idea, and why. Remember the reason behind each step: every invention removed a source of idle CPU time. The three formulas are simple; for example with p = 0.6, U(3) = 1 − 0.216 = 78.4 percent (Problem 1 later). Two dates to remember: UNIX 1969, Linux 1991.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Typical short-answer question: explain the two views with an example (files instead of disk sectors; CPU time multiplexing). Know the mode-bit convention of the course: 0 for kernel mode, 1 for user mode. A privileged instruction executed in user mode is not executed; the hardware traps to the OS. The 116 ns figure is our Week 2 measurement; your machine will differ, the ratio is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comparison table is straight from the Week 2 notes. Be ready to give one advantage and one disadvantage of a monolithic kernel (fast; a driver bug crashes everything) and of a microkernel (a crashed server can be restarted; extra messages and mode switches make it slower). Linux is monolithic AND modular (loadable kernel modules). With t_s = 0.1, t_c = 0.15 and t_w = 2 microseconds the microkernel is 2.7 / 2.2 ≈ 1.23 times slower (checked in review_problems.py).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Know the difference between an API function, a wrapper and the system call itself: printf() is an API function that may or may not call write(); strlen() never makes a system call. The kernel is entered at one fixed point and uses the number as an index into the system-call table; it trusts nothing in the request. Typical multiple-choice question: where is the system-call number on x86-64 Linux? Answer: in register rax.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Draw this diagram from memory before the exam. For every arrow, be able to name an event: dispatch (scheduler picks it), interrupt (time slice over), I/O request or wait() (running to waiting), disk interrupt (waiting to ready), exit. A process never goes from waiting directly to running: it must first join the ready queue. Context-switch overhead s/(q + s) and 2 to the n processes are favourite small numerical questions (Problem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table of shared versus private items is a classic multiple-choice source: the stack is private, the heap is shared. Linux and Windows use the one-to-one model. Amdahl's law: the numbers on the slide are the Week 4 notes example with S = 0.25. The practical lesson: first make the serial part small, then add cores. Problem 1(d) practises S = 0.2.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three formulas are used in every scheduling question. Always compute waiting time from the formula T_waiting = T_turnaround − T_burst, especially when a process runs in several pieces. If a process does I/O, subtract the I/O time too. For non-preemptive algorithms the response time equals the waiting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exactly the conventions of the Week 5 notes; state them at the top of every scheduling answer because textbooks differ. Round Robin bounds every wait for the next turn by (n − 1)q. Exponential averaging: with alpha = 0.5, tau0 = 8 and bursts 6, 10, 4 the predictions are 7, 8.5 and 6.25 (checked in review_problems.py). Problem 2 applies all five algorithms to one job set.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able to show a losing interleaving of counter++ (Problem 3). For the three requirements, know a 'solution' that breaks each one: never let anyone in breaks progress; strict alternation breaks progress; always preferring A breaks bounded waiting. In the bounded buffer, wait(empty) must come before wait(mutex), otherwise the producer can sleep holding the mutex and the system deadlocks.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check is strict: a logical address equal to the limit already traps, because the legal range is 0 to limit − 1. Example: base 12000, limit 2500: address 2499 maps to 14499, address 2500 traps. Fits: the hole list is in address order, and the request is carved from the start of the chosen hole (Problem 4). Remember which fragmentation belongs to which scheme: variable partitions and segmentation suffer external fragmentation, paging only internal.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offset is never translated: only the page number is replaced by the frame number. With 4 KB pages and hexadecimal addresses the offset is the last three hex digits, so translation is just replacing the first digit (Problem 5). For the TLB, use the course convention unless the question says otherwise, and say which convention you use. alpha here is the TLB hit ratio; do not confuse it with the alpha of exponential averaging.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six steps are a classic short-answer question; the instruction is restarted because it did not complete when the fault occurred. Note: p in the page-fault EAT is the fault rate, not the I/O-wait fraction p of Week 1. Clock (second chance): reference bit 1 → clear it and move on; 0 → victim. OPT and LRU are stack algorithms and never show Belady's anomaly.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Block arithmetic: compute the byte offset, then the block by floor division, then the offset inside the block. Then check the last byte of the record: if it falls into the next block the record crosses a block boundary and needs two block reads (Problem 7). Links: after ln a b and rm a, b still works (link count back to 1); after ln -s a b and rm a, b dangles.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table is also printed as a one-page formula sheet in the course notes. Warning about letters: p is the I/O-wait fraction in Week 1 but the page-fault rate in Week 7; alpha is the TLB hit ratio in Week 6 but the weight of exponential averaging in Week 5. Always say what your symbols mean. Whether a formula sheet is given in the exam will be announced; plan to know these by heart.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Ten minutes. Ask students to try Problem 2 (scheduling) on paper during the break: job set on the next section's first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Method for every numerical question: write the formula, substitute with units, compute, and box the result. Partial credit is given for a correct method even when the arithmetic slips.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U(n) = 1 − p^n; ln 0.05 / ln 0.6 ≈ 5.86, so n = 6. (b) s/(q + s) with q in microseconds: 2 ms = 2000 µs. (c) Before the first printf there are 2 × 2 = 4 processes, each prints A; the third fork doubles them to 8, each prints B. A real run with os.fork() in review_problems.py printed exactly 4 A and 8 B. Warning from Week 3: if the output goes to a file, printf buffers and fork() copies the buffer, so A can appear 8 times — exam questions assume a terminal. (d) 8 cores give only 3.33, far from 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Job set: P1 (0, 7, priority 2), P2 (2, 4, 1), P3 (3, 2, 4), P4 (5, 5, 3); total CPU work 18 ms, the CPU is never idle. Walk through SRTF slowly: at t = 2, P2 (4) &lt; P1's remaining 5, preempt; at t = 3, P3 (2) &lt; P2's remaining 3, preempt; P3 ends at 5; P2 (3 left) runs 5–8; at t = 8 P1 and P4 both need 5 ms, so the tie rule picks P1 (earlier arrival). Priority: P2 (priority 1) preempts P1 at t = 2. RR q = 3: at t = 3 P3 arrives exactly when P1's quantum expires, so the queue is P2, P3, P1.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Exam answers need the Gantt chart, a table with completion, turnaround and waiting time per process, and the averages. Compute waiting time as turnaround minus burst; do not try to add up gaps for preemptive schedules. Context switches here = number of changes of the running process (context-switch time taken as 0). Every number in this table comes from review_results.json.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Left: one of the 9 interleavings that lose the increment; B's store overwrites A's. The enumeration of all 20 interleavings (choose 3 positions out of 6) is in review_problems.py. Fix: put counter++ and counter-- inside a critical section protected by a mutex. Right: the semaphore trace with the Week 5 definition wait: while (S &lt;= 0); S--. When T1 signals, S becomes 1 and the waiting T3 immediately passes its wait, so S is 0 again. A mutex is the special case S initialised to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Notation: 600@500 means the hole of 600 KB starting at address 500 KB. Each request is cut from the start of the chosen hole and the rest stays as a smaller hole. First-fit takes the first hole (in address order) that is large enough; best-fit the smallest that fits; worst-fit the largest. Simulated by fit_run() in osim.py. In the sample paper you will find a case where first-fit wins and best-fit fails, so never claim one algorithm is always best.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Decimal route for 0x1C3B: 7227 = 1 × 4096 + 3131, so p = 1, d = 3131; frame 8 gives 8 × 4096 + 3131 = 35899 = 0x8C3B. The hex route is faster: replace the first digit. Page 3 is invalid: the MMU traps, there is no physical address. TLB: a hit costs t_TLB + t_m = 90 ns, a miss t_TLB + 2t_m = 170 ns. Solving for the required hit ratio: 2 − alpha = 90/80 = 1.125, alpha = 0.875.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FIFO: 1, 2, 0 fill the frames (3 compulsory faults). 4 replaces 1 (oldest). 2 is a hit — and in FIFO a hit does NOT change the order. 3 replaces 2, then 2 replaces 0, 1 replaces 4, and so on: 11 faults. LRU: at the reference to 4, the least recently used of 1, 2, 0 is 1; at the reference to 3, the frames hold 4, 2, 0 and 0 was used longest ago, so 0 leaves — the hot page 2 stays. 9 faults. Mint = page just loaded; pale columns are faults.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OPT at the reference to 4 (position 4): frames 1, 2, 0. Next uses: 2 at position 5, 1 at position 8, 0 at position 11 — so 0 is replaced. At 3: frames 1, 2, 4; next uses 2 (7), 1 (8), 4 (10) → 4 leaves. 7 faults, the minimum possible. Sanity checks: the string uses 5 distinct pages (0, 1, 2, 3, 4), so every algorithm has at least 5 faults; OPT can never be beaten. The 4-frame numbers are from review_problems.py.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The most common mistake is mixing milliseconds and nanoseconds. 1/p_max ≈ 1.2 million: at most one fault per 1.2 million memory accesses for a 5 percent slow-down. (b) The record starts 3984 bytes into block 21; 4096 − 3984 = 112 bytes fit in block 21, the remaining 8 bytes are in block 22. For comparison, record 40 (byte 4,800) lies completely in block 1 at offset 704 (also in review_problems.py).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mistakes seen most often in this kind of exam. Two more: in fork() questions, remember that every existing process executes the next fork; and for links, a hard link survives the deletion of the other name, a symbolic link does not. In short-answer questions, a definition plus one concrete example usually earns full points.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time bar is a suggestion for a 90-minute paper with the sample structure (A: 20, B: 20, C: 60 points). Part C carries most points, so do not spend 40 minutes on the multiple choice. The practice exam in Section 'Practice Exam' of the notes has worked solutions; the separate sample paper has an answer key with a grading rubric, so you can see how points are awarded.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(1) Turnaround 15 − 3 = 12 ms, waiting 12 − 4 = 8 ms. (2) p = 2, d = 0xABC, frame 6 → 0x6ABC. (3) EAT = 10 + (2 − 0.9) × 100 = 120 ns (= 0.9 × 110 + 0.1 × 210 = 99 + 21). (4) No: a symbolic link stores only the path a.txt, which no longer exists — the link dangles. With a hard link (ln without -s) the data would still be readable. All numbers checked in review_problems.py.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you can do the seven problems of today without looking, and explain every term on the coverage slide in one sentence with an example, you are well prepared. Good luck!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After the midterm the course becomes hands-on. In Week 9 we install or open a Linux system and start using the shell: the directory tree, absolute and relative paths and the inode ideas of Week 7 become commands you type. Please make sure before Week 9 that you can open a Linux terminal: a lab PC, WSL on Windows (wsl --install in an administrator PowerShell) or an Ubuntu virtual machine.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the floor for questions about the exam. Remind students that the confirmed date, room and rules will be posted on the Telegram channel, and that questions asked there help everyone.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2" Type="http://schemas.openxmlformats.org/officeDocument/2006/relationships/slideLayout" Target="../slideLayouts/slideLayout1.xml"/><Relationship Id="rId3" Type="http://schemas.openxmlformats.org/officeDocument/2006/relationships/notesSlide" Target="../notesSlides/notesSlide3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12121"/>
        </a:solidFill>
      </p:bgPr>
    </p:bg>
    <p:spTree>
      <p:nvGrpSpPr>
        <p:cNvPr id="1" name=""/>
        <p:cNvGrpSpPr/>
        <p:nvPr/>
      </p:nvGrpSpPr>
      <p:grpSpPr>
        <a:xfrm>
          <a:off x="0" y="0"/>
          <a:ext cx="0" cy="0"/>
          <a:chOff x="0" y="0"/>
          <a:chExt cx="0" cy="0"/>
        </a:xfrm>
      </p:grpSpPr>
      <p:sp>
        <p:nvSpPr>
          <p:cNvPr id="2" name="Text 0"/>
          <p:cNvSpPr txBox="1"/>
          <p:nvPr/>
        </p:nvSpPr>
        <p:spPr>
          <a:xfrm>
            <a:off x="548640" y="1737360"/>
            <a:ext cx="7315200" cy="320040"/>
          </a:xfrm>
          <a:prstGeom prst="rect">
            <a:avLst/>
          </a:prstGeom>
          <a:noFill/>
          <a:ln/>
        </p:spPr>
        <p:txBody>
          <a:bodyPr wrap="square" lIns="0" tIns="0" rIns="0" bIns="0" rtlCol="0" anchor="ctr"/>
          <a:lstStyle/>
          <a:p>
            <a:pPr indent="0" marL="0">
              <a:buNone/>
            </a:pPr>
            <a:r>
              <a:rPr lang="en-US" sz="1300" b="1" spc="300" kern="0" dirty="0">
                <a:solidFill>
                  <a:srgbClr val="02C39A"/>
                </a:solidFill>
                <a:latin typeface="Calibri" pitchFamily="34" charset="0"/>
                <a:ea typeface="Calibri" pitchFamily="34" charset="-122"/>
                <a:cs typeface="Calibri" pitchFamily="34" charset="-120"/>
              </a:rPr>
              <a:t>MCMP117  ·  WEEK 8</a:t>
            </a:r>
            <a:endParaRPr lang="en-US" sz="1300" dirty="0"/>
          </a:p>
        </p:txBody>
      </p:sp>
      <p:sp>
        <p:nvSpPr>
          <p:cNvPr id="3" name="Text 1"/>
          <p:cNvSpPr txBox="1"/>
          <p:nvPr/>
        </p:nvSpPr>
        <p:spPr>
          <a:xfrm>
            <a:off x="548640" y="2148840"/>
            <a:ext cx="8229600" cy="1463040"/>
          </a:xfrm>
          <a:prstGeom prst="rect">
            <a:avLst/>
          </a:prstGeom>
          <a:noFill/>
          <a:ln/>
        </p:spPr>
        <p:txBody>
          <a:bodyPr wrap="square" lIns="0" tIns="0" rIns="0" bIns="0" rtlCol="0" anchor="t"/>
          <a:lstStyle/>
          <a:p>
            <a:pPr indent="0" marL="0">
              <a:buNone/>
            </a:pPr>
            <a:r>
              <a:rPr lang="en-US" sz="4000" b="1" dirty="0">
                <a:solidFill>
                  <a:srgbClr val="FFFFFF"/>
                </a:solidFill>
                <a:latin typeface="Cambria" pitchFamily="34" charset="0"/>
                <a:ea typeface="Cambria" pitchFamily="34" charset="-122"/>
                <a:cs typeface="Cambria" pitchFamily="34" charset="-120"/>
              </a:rPr>
              <a:t>Fundamentals of</a:t>
            </a:r>
            <a:endParaRPr lang="en-US" sz="4000" dirty="0"/>
          </a:p>
          <a:p>
            <a:pPr indent="0" marL="0">
              <a:buNone/>
            </a:pPr>
            <a:r>
              <a:rPr lang="en-US" sz="4000" b="1" dirty="0">
                <a:solidFill>
                  <a:srgbClr val="FFFFFF"/>
                </a:solidFill>
                <a:latin typeface="Cambria" pitchFamily="34" charset="0"/>
                <a:ea typeface="Cambria" pitchFamily="34" charset="-122"/>
                <a:cs typeface="Cambria" pitchFamily="34" charset="-120"/>
              </a:rPr>
              <a:t>Operating Systems</a:t>
            </a:r>
            <a:endParaRPr lang="en-US" sz="4000" dirty="0"/>
          </a:p>
        </p:txBody>
      </p:sp>
      <p:sp>
        <p:nvSpPr>
          <p:cNvPr id="4" name="Text 2"/>
          <p:cNvSpPr txBox="1"/>
          <p:nvPr/>
        </p:nvSpPr>
        <p:spPr>
          <a:xfrm>
            <a:off x="548640" y="3703320"/>
            <a:ext cx="10058400" cy="457200"/>
          </a:xfrm>
          <a:prstGeom prst="rect">
            <a:avLst/>
          </a:prstGeom>
          <a:noFill/>
          <a:ln/>
        </p:spPr>
        <p:txBody>
          <a:bodyPr wrap="square" lIns="0" tIns="0" rIns="0" bIns="0" rtlCol="0" anchor="ctr"/>
          <a:lstStyle/>
          <a:p>
            <a:pPr indent="0" marL="0">
              <a:buNone/>
            </a:pPr>
            <a:r>
              <a:rPr lang="en-US" sz="2000" dirty="0">
                <a:solidFill>
                  <a:srgbClr val="F2F2F2"/>
                </a:solidFill>
                <a:latin typeface="Calibri" pitchFamily="34" charset="0"/>
                <a:ea typeface="Calibri" pitchFamily="34" charset="-122"/>
                <a:cs typeface="Calibri" pitchFamily="34" charset="-120"/>
              </a:rPr>
              <a:t>Week 8  ·  Midterm Review &amp; Practice</a:t>
            </a:r>
            <a:endParaRPr lang="en-US" sz="2000" dirty="0"/>
          </a:p>
        </p:txBody>
      </p:sp>
      <p:sp>
        <p:nvSpPr>
          <p:cNvPr id="5" name="Text 3"/>
          <p:cNvSpPr txBox="1"/>
          <p:nvPr/>
        </p:nvSpPr>
        <p:spPr>
          <a:xfrm>
            <a:off x="548640" y="4160520"/>
            <a:ext cx="10058400" cy="365760"/>
          </a:xfrm>
          <a:prstGeom prst="rect">
            <a:avLst/>
          </a:prstGeom>
          <a:noFill/>
          <a:ln/>
        </p:spPr>
        <p:txBody>
          <a:bodyPr wrap="square" lIns="0" tIns="0" rIns="0" bIns="0" rtlCol="0" anchor="ctr"/>
          <a:lstStyle/>
          <a:p>
            <a:pPr indent="0" marL="0">
              <a:buNone/>
            </a:pPr>
            <a:r>
              <a:rPr lang="en-US" sz="1400" i="1" dirty="0">
                <a:solidFill>
                  <a:srgbClr val="8A9AA0"/>
                </a:solidFill>
                <a:latin typeface="Calibri" pitchFamily="34" charset="0"/>
                <a:ea typeface="Calibri" pitchFamily="34" charset="-122"/>
                <a:cs typeface="Calibri" pitchFamily="34" charset="-120"/>
              </a:rPr>
              <a:t>Seven weeks of theory, one exam: what to know, and how to turn it into points.</a:t>
            </a:r>
            <a:endParaRPr lang="en-US" sz="1400" dirty="0"/>
          </a:p>
        </p:txBody>
      </p:sp>
      <p:sp>
        <p:nvSpPr>
          <p:cNvPr id="6" name="Text 4"/>
          <p:cNvSpPr txBox="1"/>
          <p:nvPr/>
        </p:nvSpPr>
        <p:spPr>
          <a:xfrm>
            <a:off x="548640" y="6217920"/>
            <a:ext cx="10058400" cy="274320"/>
          </a:xfrm>
          <a:prstGeom prst="rect">
            <a:avLst/>
          </a:prstGeom>
          <a:noFill/>
          <a:ln/>
        </p:spPr>
        <p:txBody>
          <a:bodyPr wrap="square" lIns="0" tIns="0" rIns="0" bIns="0" rtlCol="0" anchor="ctr"/>
          <a:lstStyle/>
          <a:p>
            <a:pPr indent="0" marL="0">
              <a:buNone/>
            </a:pPr>
            <a:r>
              <a:rPr lang="en-US" sz="1000" dirty="0">
                <a:solidFill>
                  <a:srgbClr val="8A9AA0"/>
                </a:solidFill>
                <a:latin typeface="Calibri" pitchFamily="34" charset="0"/>
                <a:ea typeface="Calibri" pitchFamily="34" charset="-122"/>
                <a:cs typeface="Calibri" pitchFamily="34" charset="-120"/>
              </a:rPr>
              <a:t>Electronical Communication Technology Programme  ·  Vocational School  ·  Istanbul Okan University</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en-US" sz="1200" b="1" spc="200" kern="0" dirty="0">
                <a:solidFill>
                  <a:srgbClr val="02C39A"/>
                </a:solidFill>
                <a:latin typeface="Calibri" pitchFamily="34" charset="0"/>
                <a:ea typeface="Calibri" pitchFamily="34" charset="-122"/>
                <a:cs typeface="Calibri" pitchFamily="34" charset="-120"/>
              </a:rPr>
              <a:t>THE COURSE SO FAR</a:t>
            </a:r>
            <a:endParaRPr lang="en-US"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en-US" sz="3000" b="1" dirty="0">
                <a:solidFill>
                  <a:srgbClr val="36454F"/>
                </a:solidFill>
                <a:latin typeface="Cambria" pitchFamily="34" charset="0"/>
                <a:ea typeface="Cambria" pitchFamily="34" charset="-122"/>
                <a:cs typeface="Cambria" pitchFamily="34" charset="-120"/>
              </a:rPr>
              <a:t>Where We Are: Half-Way Through</a:t>
            </a:r>
            <a:endParaRPr lang="en-US" sz="3000" dirty="0"/>
          </a:p>
        </p:txBody>
      </p:sp>
      <p:sp>
        <p:nvSpPr>
          <p:cNvPr id="4" name="Text 2"/>
          <p:cNvSpPr txBox="1"/>
          <p:nvPr/>
        </p:nvSpPr>
        <p:spPr>
          <a:xfrm>
            <a:off x="548640" y="6528816"/>
            <a:ext cx="6400800" cy="274320"/>
          </a:xfrm>
          <a:prstGeom prst="rect">
            <a:avLst/>
          </a:prstGeom>
          <a:noFill/>
          <a:ln/>
        </p:spPr>
        <p:txBody>
          <a:bodyPr wrap="square" lIns="0" tIns="0" rIns="0" bIns="0" rtlCol="0" anchor="ctr"/>
          <a:lstStyle/>
          <a:p>
            <a:pPr indent="0" marL="0">
              <a:buNone/>
            </a:pPr>
            <a:r>
              <a:rPr lang="en-US" sz="900" dirty="0">
                <a:solidFill>
                  <a:srgbClr val="6B7679"/>
                </a:solidFill>
                <a:latin typeface="Calibri" pitchFamily="34" charset="0"/>
                <a:ea typeface="Calibri" pitchFamily="34" charset="-122"/>
                <a:cs typeface="Calibri" pitchFamily="34" charset="-120"/>
              </a:rPr>
              <a:t>MCMP117 — Fundamentals of Operating Systems</a:t>
            </a:r>
            <a:endParaRPr lang="en-US" sz="900" dirty="0"/>
          </a:p>
        </p:txBody>
      </p:sp>
      <p:sp>
        <p:nvSpPr>
          <p:cNvPr id="5" name="Text 3"/>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en-US" sz="900" dirty="0">
                <a:solidFill>
                  <a:srgbClr val="6B7679"/>
                </a:solidFill>
                <a:latin typeface="Calibri" pitchFamily="34" charset="0"/>
                <a:ea typeface="Calibri" pitchFamily="34" charset="-122"/>
                <a:cs typeface="Calibri" pitchFamily="34" charset="-120"/>
              </a:rPr>
              <a:t>Week 8  ·  2</a:t>
            </a:r>
            <a:endParaRPr lang="en-US" sz="900" dirty="0"/>
          </a:p>
        </p:txBody>
      </p:sp>
      <p:sp>
        <p:nvSpPr>
          <p:cNvPr id="6" name="Shape 4"/>
          <p:cNvSpPr/>
          <p:nvPr/>
        </p:nvSpPr>
        <p:spPr>
          <a:xfrm>
            <a:off x="548640" y="1600200"/>
            <a:ext cx="1463040" cy="2240280"/>
          </a:xfrm>
          <a:prstGeom prst="roundRect">
            <a:avLst>
              <a:gd name="adj" fmla="val 3750"/>
            </a:avLst>
          </a:prstGeom>
          <a:solidFill>
            <a:srgbClr val="F2F2F2"/>
          </a:solidFill>
          <a:ln/>
        </p:spPr>
        <p:txBody>
          <a:bodyPr/>
          <a:p/>
        </p:txBody>
      </p:sp>
      <p:sp>
        <p:nvSpPr>
          <p:cNvPr id="7" name="Shape 5"/>
          <p:cNvSpPr/>
          <p:nvPr/>
        </p:nvSpPr>
        <p:spPr>
          <a:xfrm>
            <a:off x="685800" y="1737360"/>
            <a:ext cx="685800" cy="384048"/>
          </a:xfrm>
          <a:prstGeom prst="roundRect">
            <a:avLst>
              <a:gd name="adj" fmla="val 11905"/>
            </a:avLst>
          </a:prstGeom>
          <a:solidFill>
            <a:srgbClr val="02C39A"/>
          </a:solidFill>
          <a:ln/>
        </p:spPr>
        <p:txBody>
          <a:bodyPr/>
          <a:p/>
        </p:txBody>
      </p:sp>
      <p:sp>
        <p:nvSpPr>
          <p:cNvPr id="8" name="Text 6"/>
          <p:cNvSpPr txBox="1"/>
          <p:nvPr/>
        </p:nvSpPr>
        <p:spPr>
          <a:xfrm>
            <a:off x="685800" y="1737360"/>
            <a:ext cx="685800" cy="384048"/>
          </a:xfrm>
          <a:prstGeom prst="rect">
            <a:avLst/>
          </a:prstGeom>
          <a:noFill/>
          <a:ln/>
        </p:spPr>
        <p:txBody>
          <a:bodyPr wrap="square" lIns="38100" tIns="38100" rIns="38100" bIns="38100" rtlCol="0" anchor="ctr"/>
          <a:lstStyle/>
          <a:p>
            <a:pPr algn="ctr" indent="0" marL="0">
              <a:buNone/>
            </a:pPr>
            <a:r>
              <a:rPr lang="en-US" sz="1400" b="1" dirty="0">
                <a:solidFill>
                  <a:srgbClr val="212121"/>
                </a:solidFill>
                <a:latin typeface="Cambria" pitchFamily="34" charset="0"/>
                <a:ea typeface="Cambria" pitchFamily="34" charset="-122"/>
                <a:cs typeface="Cambria" pitchFamily="34" charset="-120"/>
              </a:rPr>
              <a:t>W1</a:t>
            </a:r>
            <a:endParaRPr lang="en-US" sz="1400" dirty="0"/>
          </a:p>
        </p:txBody>
      </p:sp>
      <p:sp>
        <p:nvSpPr>
          <p:cNvPr id="9" name="Text 7"/>
          <p:cNvSpPr txBox="1"/>
          <p:nvPr/>
        </p:nvSpPr>
        <p:spPr>
          <a:xfrm>
            <a:off x="685800" y="2212848"/>
            <a:ext cx="1188720" cy="566928"/>
          </a:xfrm>
          <a:prstGeom prst="rect">
            <a:avLst/>
          </a:prstGeom>
          <a:noFill/>
          <a:ln/>
        </p:spPr>
        <p:txBody>
          <a:bodyPr wrap="square" lIns="0" tIns="0" rIns="0" bIns="0" rtlCol="0" anchor="t"/>
          <a:lstStyle/>
          <a:p>
            <a:pPr indent="0" marL="0">
              <a:buNone/>
            </a:pPr>
            <a:r>
              <a:rPr lang="en-US" sz="1400" b="1" dirty="0">
                <a:solidFill>
                  <a:srgbClr val="36454F"/>
                </a:solidFill>
                <a:latin typeface="Cambria" pitchFamily="34" charset="0"/>
                <a:ea typeface="Cambria" pitchFamily="34" charset="-122"/>
                <a:cs typeface="Cambria" pitchFamily="34" charset="-120"/>
              </a:rPr>
              <a:t>History</a:t>
            </a:r>
            <a:endParaRPr lang="en-US" sz="1400" dirty="0"/>
          </a:p>
        </p:txBody>
      </p:sp>
      <p:sp>
        <p:nvSpPr>
          <p:cNvPr id="10" name="Text 8"/>
          <p:cNvSpPr txBox="1"/>
          <p:nvPr/>
        </p:nvSpPr>
        <p:spPr>
          <a:xfrm>
            <a:off x="685800" y="2788920"/>
            <a:ext cx="1188720" cy="960120"/>
          </a:xfrm>
          <a:prstGeom prst="rect">
            <a:avLst/>
          </a:prstGeom>
          <a:noFill/>
          <a:ln/>
        </p:spPr>
        <p:txBody>
          <a:bodyPr wrap="square" lIns="0" tIns="0" rIns="0" bIns="0" rtlCol="0" anchor="t"/>
          <a:lstStyle/>
          <a:p>
            <a:pPr indent="0" marL="0">
              <a:buNone/>
            </a:pPr>
            <a:r>
              <a:rPr lang="en-US" sz="1200" dirty="0">
                <a:solidFill>
                  <a:srgbClr val="3A464C"/>
                </a:solidFill>
                <a:latin typeface="Calibri" pitchFamily="34" charset="0"/>
                <a:ea typeface="Calibri" pitchFamily="34" charset="-122"/>
                <a:cs typeface="Calibri" pitchFamily="34" charset="-120"/>
              </a:rPr>
              <a:t>batch, multi-programming, time-sharing</a:t>
            </a:r>
            <a:endParaRPr lang="en-US" sz="1200" dirty="0"/>
          </a:p>
        </p:txBody>
      </p:sp>
      <p:sp>
        <p:nvSpPr>
          <p:cNvPr id="11" name="Shape 9"/>
          <p:cNvSpPr/>
          <p:nvPr/>
        </p:nvSpPr>
        <p:spPr>
          <a:xfrm>
            <a:off x="2156460" y="1600200"/>
            <a:ext cx="1463040" cy="2240280"/>
          </a:xfrm>
          <a:prstGeom prst="roundRect">
            <a:avLst>
              <a:gd name="adj" fmla="val 3750"/>
            </a:avLst>
          </a:prstGeom>
          <a:solidFill>
            <a:srgbClr val="F2F2F2"/>
          </a:solidFill>
          <a:ln/>
        </p:spPr>
        <p:txBody>
          <a:bodyPr/>
          <a:p/>
        </p:txBody>
      </p:sp>
      <p:sp>
        <p:nvSpPr>
          <p:cNvPr id="12" name="Shape 10"/>
          <p:cNvSpPr/>
          <p:nvPr/>
        </p:nvSpPr>
        <p:spPr>
          <a:xfrm>
            <a:off x="2293620" y="1737360"/>
            <a:ext cx="685800" cy="384048"/>
          </a:xfrm>
          <a:prstGeom prst="roundRect">
            <a:avLst>
              <a:gd name="adj" fmla="val 11905"/>
            </a:avLst>
          </a:prstGeom>
          <a:solidFill>
            <a:srgbClr val="02C39A"/>
          </a:solidFill>
          <a:ln/>
        </p:spPr>
        <p:txBody>
          <a:bodyPr/>
          <a:p/>
        </p:txBody>
      </p:sp>
      <p:sp>
        <p:nvSpPr>
          <p:cNvPr id="13" name="Text 11"/>
          <p:cNvSpPr txBox="1"/>
          <p:nvPr/>
        </p:nvSpPr>
        <p:spPr>
          <a:xfrm>
            <a:off x="2293620" y="1737360"/>
            <a:ext cx="685800" cy="384048"/>
          </a:xfrm>
          <a:prstGeom prst="rect">
            <a:avLst/>
          </a:prstGeom>
          <a:noFill/>
          <a:ln/>
        </p:spPr>
        <p:txBody>
          <a:bodyPr wrap="square" lIns="38100" tIns="38100" rIns="38100" bIns="38100" rtlCol="0" anchor="ctr"/>
          <a:lstStyle/>
          <a:p>
            <a:pPr algn="ctr" indent="0" marL="0">
              <a:buNone/>
            </a:pPr>
            <a:r>
              <a:rPr lang="en-US" sz="1400" b="1" dirty="0">
                <a:solidFill>
                  <a:srgbClr val="212121"/>
                </a:solidFill>
                <a:latin typeface="Cambria" pitchFamily="34" charset="0"/>
                <a:ea typeface="Cambria" pitchFamily="34" charset="-122"/>
                <a:cs typeface="Cambria" pitchFamily="34" charset="-120"/>
              </a:rPr>
              <a:t>W2</a:t>
            </a:r>
            <a:endParaRPr lang="en-US" sz="1400" dirty="0"/>
          </a:p>
        </p:txBody>
      </p:sp>
      <p:sp>
        <p:nvSpPr>
          <p:cNvPr id="14" name="Text 12"/>
          <p:cNvSpPr txBox="1"/>
          <p:nvPr/>
        </p:nvSpPr>
        <p:spPr>
          <a:xfrm>
            <a:off x="2293620" y="2212848"/>
            <a:ext cx="1188720" cy="566928"/>
          </a:xfrm>
          <a:prstGeom prst="rect">
            <a:avLst/>
          </a:prstGeom>
          <a:noFill/>
          <a:ln/>
        </p:spPr>
        <p:txBody>
          <a:bodyPr wrap="square" lIns="0" tIns="0" rIns="0" bIns="0" rtlCol="0" anchor="t"/>
          <a:lstStyle/>
          <a:p>
            <a:pPr indent="0" marL="0">
              <a:buNone/>
            </a:pPr>
            <a:r>
              <a:rPr lang="en-US" sz="1400" b="1" dirty="0">
                <a:solidFill>
                  <a:srgbClr val="36454F"/>
                </a:solidFill>
                <a:latin typeface="Cambria" pitchFamily="34" charset="0"/>
                <a:ea typeface="Cambria" pitchFamily="34" charset="-122"/>
                <a:cs typeface="Cambria" pitchFamily="34" charset="-120"/>
              </a:rPr>
              <a:t>OS basics</a:t>
            </a:r>
            <a:endParaRPr lang="en-US" sz="1400" dirty="0"/>
          </a:p>
        </p:txBody>
      </p:sp>
      <p:sp>
        <p:nvSpPr>
          <p:cNvPr id="15" name="Text 13"/>
          <p:cNvSpPr txBox="1"/>
          <p:nvPr/>
        </p:nvSpPr>
        <p:spPr>
          <a:xfrm>
            <a:off x="2293620" y="2788920"/>
            <a:ext cx="1188720" cy="960120"/>
          </a:xfrm>
          <a:prstGeom prst="rect">
            <a:avLst/>
          </a:prstGeom>
          <a:noFill/>
          <a:ln/>
        </p:spPr>
        <p:txBody>
          <a:bodyPr wrap="square" lIns="0" tIns="0" rIns="0" bIns="0" rtlCol="0" anchor="t"/>
          <a:lstStyle/>
          <a:p>
            <a:pPr indent="0" marL="0">
              <a:buNone/>
            </a:pPr>
            <a:r>
              <a:rPr lang="en-US" sz="1200" dirty="0">
                <a:solidFill>
                  <a:srgbClr val="3A464C"/>
                </a:solidFill>
                <a:latin typeface="Calibri" pitchFamily="34" charset="0"/>
                <a:ea typeface="Calibri" pitchFamily="34" charset="-122"/>
                <a:cs typeface="Calibri" pitchFamily="34" charset="-120"/>
              </a:rPr>
              <a:t>goals, interrupts, dual mode, structures</a:t>
            </a:r>
            <a:endParaRPr lang="en-US" sz="1200" dirty="0"/>
          </a:p>
        </p:txBody>
      </p:sp>
      <p:sp>
        <p:nvSpPr>
          <p:cNvPr id="16" name="Shape 14"/>
          <p:cNvSpPr/>
          <p:nvPr/>
        </p:nvSpPr>
        <p:spPr>
          <a:xfrm>
            <a:off x="3764280" y="1600200"/>
            <a:ext cx="1463040" cy="2240280"/>
          </a:xfrm>
          <a:prstGeom prst="roundRect">
            <a:avLst>
              <a:gd name="adj" fmla="val 3750"/>
            </a:avLst>
          </a:prstGeom>
          <a:solidFill>
            <a:srgbClr val="F2F2F2"/>
          </a:solidFill>
          <a:ln/>
        </p:spPr>
        <p:txBody>
          <a:bodyPr/>
          <a:p/>
        </p:txBody>
      </p:sp>
      <p:sp>
        <p:nvSpPr>
          <p:cNvPr id="17" name="Shape 15"/>
          <p:cNvSpPr/>
          <p:nvPr/>
        </p:nvSpPr>
        <p:spPr>
          <a:xfrm>
            <a:off x="3901440" y="1737360"/>
            <a:ext cx="685800" cy="384048"/>
          </a:xfrm>
          <a:prstGeom prst="roundRect">
            <a:avLst>
              <a:gd name="adj" fmla="val 11905"/>
            </a:avLst>
          </a:prstGeom>
          <a:solidFill>
            <a:srgbClr val="02C39A"/>
          </a:solidFill>
          <a:ln/>
        </p:spPr>
        <p:txBody>
          <a:bodyPr/>
          <a:p/>
        </p:txBody>
      </p:sp>
      <p:sp>
        <p:nvSpPr>
          <p:cNvPr id="18" name="Text 16"/>
          <p:cNvSpPr txBox="1"/>
          <p:nvPr/>
        </p:nvSpPr>
        <p:spPr>
          <a:xfrm>
            <a:off x="3901440" y="1737360"/>
            <a:ext cx="685800" cy="384048"/>
          </a:xfrm>
          <a:prstGeom prst="rect">
            <a:avLst/>
          </a:prstGeom>
          <a:noFill/>
          <a:ln/>
        </p:spPr>
        <p:txBody>
          <a:bodyPr wrap="square" lIns="38100" tIns="38100" rIns="38100" bIns="38100" rtlCol="0" anchor="ctr"/>
          <a:lstStyle/>
          <a:p>
            <a:pPr algn="ctr" indent="0" marL="0">
              <a:buNone/>
            </a:pPr>
            <a:r>
              <a:rPr lang="en-US" sz="1400" b="1" dirty="0">
                <a:solidFill>
                  <a:srgbClr val="212121"/>
                </a:solidFill>
                <a:latin typeface="Cambria" pitchFamily="34" charset="0"/>
                <a:ea typeface="Cambria" pitchFamily="34" charset="-122"/>
                <a:cs typeface="Cambria" pitchFamily="34" charset="-120"/>
              </a:rPr>
              <a:t>W3</a:t>
            </a:r>
            <a:endParaRPr lang="en-US" sz="1400" dirty="0"/>
          </a:p>
        </p:txBody>
      </p:sp>
      <p:sp>
        <p:nvSpPr>
          <p:cNvPr id="19" name="Text 17"/>
          <p:cNvSpPr txBox="1"/>
          <p:nvPr/>
        </p:nvSpPr>
        <p:spPr>
          <a:xfrm>
            <a:off x="3901440" y="2212848"/>
            <a:ext cx="1188720" cy="566928"/>
          </a:xfrm>
          <a:prstGeom prst="rect">
            <a:avLst/>
          </a:prstGeom>
          <a:noFill/>
          <a:ln/>
        </p:spPr>
        <p:txBody>
          <a:bodyPr wrap="square" lIns="0" tIns="0" rIns="0" bIns="0" rtlCol="0" anchor="t"/>
          <a:lstStyle/>
          <a:p>
            <a:pPr indent="0" marL="0">
              <a:buNone/>
            </a:pPr>
            <a:r>
              <a:rPr lang="en-US" sz="1400" b="1" dirty="0">
                <a:solidFill>
                  <a:srgbClr val="36454F"/>
                </a:solidFill>
                <a:latin typeface="Cambria" pitchFamily="34" charset="0"/>
                <a:ea typeface="Cambria" pitchFamily="34" charset="-122"/>
                <a:cs typeface="Cambria" pitchFamily="34" charset="-120"/>
              </a:rPr>
              <a:t>Processes</a:t>
            </a:r>
            <a:endParaRPr lang="en-US" sz="1400" dirty="0"/>
          </a:p>
        </p:txBody>
      </p:sp>
      <p:sp>
        <p:nvSpPr>
          <p:cNvPr id="20" name="Text 18"/>
          <p:cNvSpPr txBox="1"/>
          <p:nvPr/>
        </p:nvSpPr>
        <p:spPr>
          <a:xfrm>
            <a:off x="3901440" y="2788920"/>
            <a:ext cx="1188720" cy="960120"/>
          </a:xfrm>
          <a:prstGeom prst="rect">
            <a:avLst/>
          </a:prstGeom>
          <a:noFill/>
          <a:ln/>
        </p:spPr>
        <p:txBody>
          <a:bodyPr wrap="square" lIns="0" tIns="0" rIns="0" bIns="0" rtlCol="0" anchor="t"/>
          <a:lstStyle/>
          <a:p>
            <a:pPr indent="0" marL="0">
              <a:buNone/>
            </a:pPr>
            <a:r>
              <a:rPr lang="en-US" sz="1200" dirty="0">
                <a:solidFill>
                  <a:srgbClr val="3A464C"/>
                </a:solidFill>
                <a:latin typeface="Calibri" pitchFamily="34" charset="0"/>
                <a:ea typeface="Calibri" pitchFamily="34" charset="-122"/>
                <a:cs typeface="Calibri" pitchFamily="34" charset="-120"/>
              </a:rPr>
              <a:t>system calls, states, PCB, fork()</a:t>
            </a:r>
            <a:endParaRPr lang="en-US" sz="1200" dirty="0"/>
          </a:p>
        </p:txBody>
      </p:sp>
      <p:sp>
        <p:nvSpPr>
          <p:cNvPr id="21" name="Shape 19"/>
          <p:cNvSpPr/>
          <p:nvPr/>
        </p:nvSpPr>
        <p:spPr>
          <a:xfrm>
            <a:off x="5372100" y="1600200"/>
            <a:ext cx="1463040" cy="2240280"/>
          </a:xfrm>
          <a:prstGeom prst="roundRect">
            <a:avLst>
              <a:gd name="adj" fmla="val 3750"/>
            </a:avLst>
          </a:prstGeom>
          <a:solidFill>
            <a:srgbClr val="F2F2F2"/>
          </a:solidFill>
          <a:ln/>
        </p:spPr>
        <p:txBody>
          <a:bodyPr/>
          <a:p/>
        </p:txBody>
      </p:sp>
      <p:sp>
        <p:nvSpPr>
          <p:cNvPr id="22" name="Shape 20"/>
          <p:cNvSpPr/>
          <p:nvPr/>
        </p:nvSpPr>
        <p:spPr>
          <a:xfrm>
            <a:off x="5509260" y="1737360"/>
            <a:ext cx="685800" cy="384048"/>
          </a:xfrm>
          <a:prstGeom prst="roundRect">
            <a:avLst>
              <a:gd name="adj" fmla="val 11905"/>
            </a:avLst>
          </a:prstGeom>
          <a:solidFill>
            <a:srgbClr val="02C39A"/>
          </a:solidFill>
          <a:ln/>
        </p:spPr>
        <p:txBody>
          <a:bodyPr/>
          <a:p/>
        </p:txBody>
      </p:sp>
      <p:sp>
        <p:nvSpPr>
          <p:cNvPr id="23" name="Text 21"/>
          <p:cNvSpPr txBox="1"/>
          <p:nvPr/>
        </p:nvSpPr>
        <p:spPr>
          <a:xfrm>
            <a:off x="5509260" y="1737360"/>
            <a:ext cx="685800" cy="384048"/>
          </a:xfrm>
          <a:prstGeom prst="rect">
            <a:avLst/>
          </a:prstGeom>
          <a:noFill/>
          <a:ln/>
        </p:spPr>
        <p:txBody>
          <a:bodyPr wrap="square" lIns="38100" tIns="38100" rIns="38100" bIns="38100" rtlCol="0" anchor="ctr"/>
          <a:lstStyle/>
          <a:p>
            <a:pPr algn="ctr" indent="0" marL="0">
              <a:buNone/>
            </a:pPr>
            <a:r>
              <a:rPr lang="en-US" sz="1400" b="1" dirty="0">
                <a:solidFill>
                  <a:srgbClr val="212121"/>
                </a:solidFill>
                <a:latin typeface="Cambria" pitchFamily="34" charset="0"/>
                <a:ea typeface="Cambria" pitchFamily="34" charset="-122"/>
                <a:cs typeface="Cambria" pitchFamily="34" charset="-120"/>
              </a:rPr>
              <a:t>W4</a:t>
            </a:r>
            <a:endParaRPr lang="en-US" sz="1400" dirty="0"/>
          </a:p>
        </p:txBody>
      </p:sp>
      <p:sp>
        <p:nvSpPr>
          <p:cNvPr id="24" name="Text 22"/>
          <p:cNvSpPr txBox="1"/>
          <p:nvPr/>
        </p:nvSpPr>
        <p:spPr>
          <a:xfrm>
            <a:off x="5509260" y="2212848"/>
            <a:ext cx="1188720" cy="566928"/>
          </a:xfrm>
          <a:prstGeom prst="rect">
            <a:avLst/>
          </a:prstGeom>
          <a:noFill/>
          <a:ln/>
        </p:spPr>
        <p:txBody>
          <a:bodyPr wrap="square" lIns="0" tIns="0" rIns="0" bIns="0" rtlCol="0" anchor="t"/>
          <a:lstStyle/>
          <a:p>
            <a:pPr indent="0" marL="0">
              <a:buNone/>
            </a:pPr>
            <a:r>
              <a:rPr lang="en-US" sz="1400" b="1" dirty="0">
                <a:solidFill>
                  <a:srgbClr val="36454F"/>
                </a:solidFill>
                <a:latin typeface="Cambria" pitchFamily="34" charset="0"/>
                <a:ea typeface="Cambria" pitchFamily="34" charset="-122"/>
                <a:cs typeface="Cambria" pitchFamily="34" charset="-120"/>
              </a:rPr>
              <a:t>Threads</a:t>
            </a:r>
            <a:endParaRPr lang="en-US" sz="1400" dirty="0"/>
          </a:p>
        </p:txBody>
      </p:sp>
      <p:sp>
        <p:nvSpPr>
          <p:cNvPr id="25" name="Text 23"/>
          <p:cNvSpPr txBox="1"/>
          <p:nvPr/>
        </p:nvSpPr>
        <p:spPr>
          <a:xfrm>
            <a:off x="5509260" y="2788920"/>
            <a:ext cx="1188720" cy="960120"/>
          </a:xfrm>
          <a:prstGeom prst="rect">
            <a:avLst/>
          </a:prstGeom>
          <a:noFill/>
          <a:ln/>
        </p:spPr>
        <p:txBody>
          <a:bodyPr wrap="square" lIns="0" tIns="0" rIns="0" bIns="0" rtlCol="0" anchor="t"/>
          <a:lstStyle/>
          <a:p>
            <a:pPr indent="0" marL="0">
              <a:buNone/>
            </a:pPr>
            <a:r>
              <a:rPr lang="en-US" sz="1200" dirty="0">
                <a:solidFill>
                  <a:srgbClr val="3A464C"/>
                </a:solidFill>
                <a:latin typeface="Calibri" pitchFamily="34" charset="0"/>
                <a:ea typeface="Calibri" pitchFamily="34" charset="-122"/>
                <a:cs typeface="Calibri" pitchFamily="34" charset="-120"/>
              </a:rPr>
              <a:t>models, Amdahl, scheduling criteria</a:t>
            </a:r>
            <a:endParaRPr lang="en-US" sz="1200" dirty="0"/>
          </a:p>
        </p:txBody>
      </p:sp>
      <p:sp>
        <p:nvSpPr>
          <p:cNvPr id="26" name="Shape 24"/>
          <p:cNvSpPr/>
          <p:nvPr/>
        </p:nvSpPr>
        <p:spPr>
          <a:xfrm>
            <a:off x="6979920" y="1600200"/>
            <a:ext cx="1463040" cy="2240280"/>
          </a:xfrm>
          <a:prstGeom prst="roundRect">
            <a:avLst>
              <a:gd name="adj" fmla="val 3750"/>
            </a:avLst>
          </a:prstGeom>
          <a:solidFill>
            <a:srgbClr val="F2F2F2"/>
          </a:solidFill>
          <a:ln/>
        </p:spPr>
        <p:txBody>
          <a:bodyPr/>
          <a:p/>
        </p:txBody>
      </p:sp>
      <p:sp>
        <p:nvSpPr>
          <p:cNvPr id="27" name="Shape 25"/>
          <p:cNvSpPr/>
          <p:nvPr/>
        </p:nvSpPr>
        <p:spPr>
          <a:xfrm>
            <a:off x="7117080" y="1737360"/>
            <a:ext cx="685800" cy="384048"/>
          </a:xfrm>
          <a:prstGeom prst="roundRect">
            <a:avLst>
              <a:gd name="adj" fmla="val 11905"/>
            </a:avLst>
          </a:prstGeom>
          <a:solidFill>
            <a:srgbClr val="02C39A"/>
          </a:solidFill>
          <a:ln/>
        </p:spPr>
        <p:txBody>
          <a:bodyPr/>
          <a:p/>
        </p:txBody>
      </p:sp>
      <p:sp>
        <p:nvSpPr>
          <p:cNvPr id="28" name="Text 26"/>
          <p:cNvSpPr txBox="1"/>
          <p:nvPr/>
        </p:nvSpPr>
        <p:spPr>
          <a:xfrm>
            <a:off x="7117080" y="1737360"/>
            <a:ext cx="685800" cy="384048"/>
          </a:xfrm>
          <a:prstGeom prst="rect">
            <a:avLst/>
          </a:prstGeom>
          <a:noFill/>
          <a:ln/>
        </p:spPr>
        <p:txBody>
          <a:bodyPr wrap="square" lIns="38100" tIns="38100" rIns="38100" bIns="38100" rtlCol="0" anchor="ctr"/>
          <a:lstStyle/>
          <a:p>
            <a:pPr algn="ctr" indent="0" marL="0">
              <a:buNone/>
            </a:pPr>
            <a:r>
              <a:rPr lang="en-US" sz="1400" b="1" dirty="0">
                <a:solidFill>
                  <a:srgbClr val="212121"/>
                </a:solidFill>
                <a:latin typeface="Cambria" pitchFamily="34" charset="0"/>
                <a:ea typeface="Cambria" pitchFamily="34" charset="-122"/>
                <a:cs typeface="Cambria" pitchFamily="34" charset="-120"/>
              </a:rPr>
              <a:t>W5</a:t>
            </a:r>
            <a:endParaRPr lang="en-US" sz="1400" dirty="0"/>
          </a:p>
        </p:txBody>
      </p:sp>
      <p:sp>
        <p:nvSpPr>
          <p:cNvPr id="29" name="Text 27"/>
          <p:cNvSpPr txBox="1"/>
          <p:nvPr/>
        </p:nvSpPr>
        <p:spPr>
          <a:xfrm>
            <a:off x="7117080" y="2212848"/>
            <a:ext cx="1188720" cy="566928"/>
          </a:xfrm>
          <a:prstGeom prst="rect">
            <a:avLst/>
          </a:prstGeom>
          <a:noFill/>
          <a:ln/>
        </p:spPr>
        <p:txBody>
          <a:bodyPr wrap="square" lIns="0" tIns="0" rIns="0" bIns="0" rtlCol="0" anchor="t"/>
          <a:lstStyle/>
          <a:p>
            <a:pPr indent="0" marL="0">
              <a:buNone/>
            </a:pPr>
            <a:r>
              <a:rPr lang="en-US" sz="1400" b="1" dirty="0">
                <a:solidFill>
                  <a:srgbClr val="36454F"/>
                </a:solidFill>
                <a:latin typeface="Cambria" pitchFamily="34" charset="0"/>
                <a:ea typeface="Cambria" pitchFamily="34" charset="-122"/>
                <a:cs typeface="Cambria" pitchFamily="34" charset="-120"/>
              </a:rPr>
              <a:t>Scheduling &amp; sync</a:t>
            </a:r>
            <a:endParaRPr lang="en-US" sz="1400" dirty="0"/>
          </a:p>
        </p:txBody>
      </p:sp>
      <p:sp>
        <p:nvSpPr>
          <p:cNvPr id="30" name="Text 28"/>
          <p:cNvSpPr txBox="1"/>
          <p:nvPr/>
        </p:nvSpPr>
        <p:spPr>
          <a:xfrm>
            <a:off x="7117080" y="2788920"/>
            <a:ext cx="1188720" cy="960120"/>
          </a:xfrm>
          <a:prstGeom prst="rect">
            <a:avLst/>
          </a:prstGeom>
          <a:noFill/>
          <a:ln/>
        </p:spPr>
        <p:txBody>
          <a:bodyPr wrap="square" lIns="0" tIns="0" rIns="0" bIns="0" rtlCol="0" anchor="t"/>
          <a:lstStyle/>
          <a:p>
            <a:pPr indent="0" marL="0">
              <a:buNone/>
            </a:pPr>
            <a:r>
              <a:rPr lang="en-US" sz="1200" dirty="0">
                <a:solidFill>
                  <a:srgbClr val="3A464C"/>
                </a:solidFill>
                <a:latin typeface="Calibri" pitchFamily="34" charset="0"/>
                <a:ea typeface="Calibri" pitchFamily="34" charset="-122"/>
                <a:cs typeface="Calibri" pitchFamily="34" charset="-120"/>
              </a:rPr>
              <a:t>FCFS … RR, mutex, semaphores</a:t>
            </a:r>
            <a:endParaRPr lang="en-US" sz="1200" dirty="0"/>
          </a:p>
        </p:txBody>
      </p:sp>
      <p:sp>
        <p:nvSpPr>
          <p:cNvPr id="31" name="Shape 29"/>
          <p:cNvSpPr/>
          <p:nvPr/>
        </p:nvSpPr>
        <p:spPr>
          <a:xfrm>
            <a:off x="8587740" y="1600200"/>
            <a:ext cx="1463040" cy="2240280"/>
          </a:xfrm>
          <a:prstGeom prst="roundRect">
            <a:avLst>
              <a:gd name="adj" fmla="val 3750"/>
            </a:avLst>
          </a:prstGeom>
          <a:solidFill>
            <a:srgbClr val="F2F2F2"/>
          </a:solidFill>
          <a:ln/>
        </p:spPr>
        <p:txBody>
          <a:bodyPr/>
          <a:p/>
        </p:txBody>
      </p:sp>
      <p:sp>
        <p:nvSpPr>
          <p:cNvPr id="32" name="Shape 30"/>
          <p:cNvSpPr/>
          <p:nvPr/>
        </p:nvSpPr>
        <p:spPr>
          <a:xfrm>
            <a:off x="8724900" y="1737360"/>
            <a:ext cx="685800" cy="384048"/>
          </a:xfrm>
          <a:prstGeom prst="roundRect">
            <a:avLst>
              <a:gd name="adj" fmla="val 11905"/>
            </a:avLst>
          </a:prstGeom>
          <a:solidFill>
            <a:srgbClr val="02C39A"/>
          </a:solidFill>
          <a:ln/>
        </p:spPr>
        <p:txBody>
          <a:bodyPr/>
          <a:p/>
        </p:txBody>
      </p:sp>
      <p:sp>
        <p:nvSpPr>
          <p:cNvPr id="33" name="Text 31"/>
          <p:cNvSpPr txBox="1"/>
          <p:nvPr/>
        </p:nvSpPr>
        <p:spPr>
          <a:xfrm>
            <a:off x="8724900" y="1737360"/>
            <a:ext cx="685800" cy="384048"/>
          </a:xfrm>
          <a:prstGeom prst="rect">
            <a:avLst/>
          </a:prstGeom>
          <a:noFill/>
          <a:ln/>
        </p:spPr>
        <p:txBody>
          <a:bodyPr wrap="square" lIns="38100" tIns="38100" rIns="38100" bIns="38100" rtlCol="0" anchor="ctr"/>
          <a:lstStyle/>
          <a:p>
            <a:pPr algn="ctr" indent="0" marL="0">
              <a:buNone/>
            </a:pPr>
            <a:r>
              <a:rPr lang="en-US" sz="1400" b="1" dirty="0">
                <a:solidFill>
                  <a:srgbClr val="212121"/>
                </a:solidFill>
                <a:latin typeface="Cambria" pitchFamily="34" charset="0"/>
                <a:ea typeface="Cambria" pitchFamily="34" charset="-122"/>
                <a:cs typeface="Cambria" pitchFamily="34" charset="-120"/>
              </a:rPr>
              <a:t>W6</a:t>
            </a:r>
            <a:endParaRPr lang="en-US" sz="1400" dirty="0"/>
          </a:p>
        </p:txBody>
      </p:sp>
      <p:sp>
        <p:nvSpPr>
          <p:cNvPr id="34" name="Text 32"/>
          <p:cNvSpPr txBox="1"/>
          <p:nvPr/>
        </p:nvSpPr>
        <p:spPr>
          <a:xfrm>
            <a:off x="8724900" y="2212848"/>
            <a:ext cx="1188720" cy="566928"/>
          </a:xfrm>
          <a:prstGeom prst="rect">
            <a:avLst/>
          </a:prstGeom>
          <a:noFill/>
          <a:ln/>
        </p:spPr>
        <p:txBody>
          <a:bodyPr wrap="square" lIns="0" tIns="0" rIns="0" bIns="0" rtlCol="0" anchor="t"/>
          <a:lstStyle/>
          <a:p>
            <a:pPr indent="0" marL="0">
              <a:buNone/>
            </a:pPr>
            <a:r>
              <a:rPr lang="en-US" sz="1400" b="1" dirty="0">
                <a:solidFill>
                  <a:srgbClr val="36454F"/>
                </a:solidFill>
                <a:latin typeface="Cambria" pitchFamily="34" charset="0"/>
                <a:ea typeface="Cambria" pitchFamily="34" charset="-122"/>
                <a:cs typeface="Cambria" pitchFamily="34" charset="-120"/>
              </a:rPr>
              <a:t>Memory</a:t>
            </a:r>
            <a:endParaRPr lang="en-US" sz="1400" dirty="0"/>
          </a:p>
        </p:txBody>
      </p:sp>
      <p:sp>
        <p:nvSpPr>
          <p:cNvPr id="35" name="Text 33"/>
          <p:cNvSpPr txBox="1"/>
          <p:nvPr/>
        </p:nvSpPr>
        <p:spPr>
          <a:xfrm>
            <a:off x="8724900" y="2788920"/>
            <a:ext cx="1188720" cy="960120"/>
          </a:xfrm>
          <a:prstGeom prst="rect">
            <a:avLst/>
          </a:prstGeom>
          <a:noFill/>
          <a:ln/>
        </p:spPr>
        <p:txBody>
          <a:bodyPr wrap="square" lIns="0" tIns="0" rIns="0" bIns="0" rtlCol="0" anchor="t"/>
          <a:lstStyle/>
          <a:p>
            <a:pPr indent="0" marL="0">
              <a:buNone/>
            </a:pPr>
            <a:r>
              <a:rPr lang="en-US" sz="1200" dirty="0">
                <a:solidFill>
                  <a:srgbClr val="3A464C"/>
                </a:solidFill>
                <a:latin typeface="Calibri" pitchFamily="34" charset="0"/>
                <a:ea typeface="Calibri" pitchFamily="34" charset="-122"/>
                <a:cs typeface="Calibri" pitchFamily="34" charset="-120"/>
              </a:rPr>
              <a:t>MMU, fragmentation, paging, TLB</a:t>
            </a:r>
            <a:endParaRPr lang="en-US" sz="1200" dirty="0"/>
          </a:p>
        </p:txBody>
      </p:sp>
      <p:sp>
        <p:nvSpPr>
          <p:cNvPr id="36" name="Shape 34"/>
          <p:cNvSpPr/>
          <p:nvPr/>
        </p:nvSpPr>
        <p:spPr>
          <a:xfrm>
            <a:off x="10195560" y="1600200"/>
            <a:ext cx="1463040" cy="2240280"/>
          </a:xfrm>
          <a:prstGeom prst="roundRect">
            <a:avLst>
              <a:gd name="adj" fmla="val 3750"/>
            </a:avLst>
          </a:prstGeom>
          <a:solidFill>
            <a:srgbClr val="F2F2F2"/>
          </a:solidFill>
          <a:ln/>
        </p:spPr>
        <p:txBody>
          <a:bodyPr/>
          <a:p/>
        </p:txBody>
      </p:sp>
      <p:sp>
        <p:nvSpPr>
          <p:cNvPr id="37" name="Shape 35"/>
          <p:cNvSpPr/>
          <p:nvPr/>
        </p:nvSpPr>
        <p:spPr>
          <a:xfrm>
            <a:off x="10332720" y="1737360"/>
            <a:ext cx="685800" cy="384048"/>
          </a:xfrm>
          <a:prstGeom prst="roundRect">
            <a:avLst>
              <a:gd name="adj" fmla="val 11905"/>
            </a:avLst>
          </a:prstGeom>
          <a:solidFill>
            <a:srgbClr val="02C39A"/>
          </a:solidFill>
          <a:ln/>
        </p:spPr>
        <p:txBody>
          <a:bodyPr/>
          <a:p/>
        </p:txBody>
      </p:sp>
      <p:sp>
        <p:nvSpPr>
          <p:cNvPr id="38" name="Text 36"/>
          <p:cNvSpPr txBox="1"/>
          <p:nvPr/>
        </p:nvSpPr>
        <p:spPr>
          <a:xfrm>
            <a:off x="10332720" y="1737360"/>
            <a:ext cx="685800" cy="384048"/>
          </a:xfrm>
          <a:prstGeom prst="rect">
            <a:avLst/>
          </a:prstGeom>
          <a:noFill/>
          <a:ln/>
        </p:spPr>
        <p:txBody>
          <a:bodyPr wrap="square" lIns="38100" tIns="38100" rIns="38100" bIns="38100" rtlCol="0" anchor="ctr"/>
          <a:lstStyle/>
          <a:p>
            <a:pPr algn="ctr" indent="0" marL="0">
              <a:buNone/>
            </a:pPr>
            <a:r>
              <a:rPr lang="en-US" sz="1400" b="1" dirty="0">
                <a:solidFill>
                  <a:srgbClr val="212121"/>
                </a:solidFill>
                <a:latin typeface="Cambria" pitchFamily="34" charset="0"/>
                <a:ea typeface="Cambria" pitchFamily="34" charset="-122"/>
                <a:cs typeface="Cambria" pitchFamily="34" charset="-120"/>
              </a:rPr>
              <a:t>W7</a:t>
            </a:r>
            <a:endParaRPr lang="en-US" sz="1400" dirty="0"/>
          </a:p>
        </p:txBody>
      </p:sp>
      <p:sp>
        <p:nvSpPr>
          <p:cNvPr id="39" name="Text 37"/>
          <p:cNvSpPr txBox="1"/>
          <p:nvPr/>
        </p:nvSpPr>
        <p:spPr>
          <a:xfrm>
            <a:off x="10332720" y="2212848"/>
            <a:ext cx="1188720" cy="566928"/>
          </a:xfrm>
          <a:prstGeom prst="rect">
            <a:avLst/>
          </a:prstGeom>
          <a:noFill/>
          <a:ln/>
        </p:spPr>
        <p:txBody>
          <a:bodyPr wrap="square" lIns="0" tIns="0" rIns="0" bIns="0" rtlCol="0" anchor="t"/>
          <a:lstStyle/>
          <a:p>
            <a:pPr indent="0" marL="0">
              <a:buNone/>
            </a:pPr>
            <a:r>
              <a:rPr lang="en-US" sz="1400" b="1" dirty="0">
                <a:solidFill>
                  <a:srgbClr val="36454F"/>
                </a:solidFill>
                <a:latin typeface="Cambria" pitchFamily="34" charset="0"/>
                <a:ea typeface="Cambria" pitchFamily="34" charset="-122"/>
                <a:cs typeface="Cambria" pitchFamily="34" charset="-120"/>
              </a:rPr>
              <a:t>VM &amp; files</a:t>
            </a:r>
            <a:endParaRPr lang="en-US" sz="1400" dirty="0"/>
          </a:p>
        </p:txBody>
      </p:sp>
      <p:sp>
        <p:nvSpPr>
          <p:cNvPr id="40" name="Text 38"/>
          <p:cNvSpPr txBox="1"/>
          <p:nvPr/>
        </p:nvSpPr>
        <p:spPr>
          <a:xfrm>
            <a:off x="10332720" y="2788920"/>
            <a:ext cx="1188720" cy="960120"/>
          </a:xfrm>
          <a:prstGeom prst="rect">
            <a:avLst/>
          </a:prstGeom>
          <a:noFill/>
          <a:ln/>
        </p:spPr>
        <p:txBody>
          <a:bodyPr wrap="square" lIns="0" tIns="0" rIns="0" bIns="0" rtlCol="0" anchor="t"/>
          <a:lstStyle/>
          <a:p>
            <a:pPr indent="0" marL="0">
              <a:buNone/>
            </a:pPr>
            <a:r>
              <a:rPr lang="en-US" sz="1200" dirty="0">
                <a:solidFill>
                  <a:srgbClr val="3A464C"/>
                </a:solidFill>
                <a:latin typeface="Calibri" pitchFamily="34" charset="0"/>
                <a:ea typeface="Calibri" pitchFamily="34" charset="-122"/>
                <a:cs typeface="Calibri" pitchFamily="34" charset="-120"/>
              </a:rPr>
              <a:t>page faults, FIFO/OPT/LRU, directories</a:t>
            </a:r>
            <a:endParaRPr lang="en-US" sz="1200" dirty="0"/>
          </a:p>
        </p:txBody>
      </p:sp>
      <p:sp>
        <p:nvSpPr>
          <p:cNvPr id="41" name="Text 39"/>
          <p:cNvSpPr txBox="1"/>
          <p:nvPr/>
        </p:nvSpPr>
        <p:spPr>
          <a:xfrm>
            <a:off x="548640" y="3931920"/>
            <a:ext cx="11109960" cy="320040"/>
          </a:xfrm>
          <a:prstGeom prst="rect">
            <a:avLst/>
          </a:prstGeom>
          <a:noFill/>
          <a:ln/>
        </p:spPr>
        <p:txBody>
          <a:bodyPr wrap="square" lIns="0" tIns="0" rIns="0" bIns="0" rtlCol="0" anchor="t"/>
          <a:lstStyle/>
          <a:p>
            <a:pPr algn="ctr" indent="0" marL="0">
              <a:buNone/>
            </a:pPr>
            <a:r>
              <a:rPr lang="en-US" sz="1300" i="1" dirty="0">
                <a:solidFill>
                  <a:srgbClr val="028090"/>
                </a:solidFill>
                <a:latin typeface="Calibri" pitchFamily="34" charset="0"/>
                <a:ea typeface="Calibri" pitchFamily="34" charset="-122"/>
                <a:cs typeface="Calibri" pitchFamily="34" charset="-120"/>
              </a:rPr>
              <a:t>Theory: Weeks 1–7  —  all of it is on the midterm</a:t>
            </a:r>
            <a:endParaRPr lang="en-US" sz="1300" dirty="0"/>
          </a:p>
        </p:txBody>
      </p:sp>
      <p:sp>
        <p:nvSpPr>
          <p:cNvPr id="42" name="Shape 40"/>
          <p:cNvSpPr/>
          <p:nvPr/>
        </p:nvSpPr>
        <p:spPr>
          <a:xfrm>
            <a:off x="548640" y="4434840"/>
            <a:ext cx="2651760" cy="1143000"/>
          </a:xfrm>
          <a:prstGeom prst="roundRect">
            <a:avLst>
              <a:gd name="adj" fmla="val 4800"/>
            </a:avLst>
          </a:prstGeom>
          <a:solidFill>
            <a:srgbClr val="36454F"/>
          </a:solidFill>
          <a:ln/>
        </p:spPr>
        <p:txBody>
          <a:bodyPr/>
          <a:p/>
        </p:txBody>
      </p:sp>
      <p:sp>
        <p:nvSpPr>
          <p:cNvPr id="43" name="Text 41"/>
          <p:cNvSpPr txBox="1"/>
          <p:nvPr/>
        </p:nvSpPr>
        <p:spPr>
          <a:xfrm>
            <a:off x="777240" y="4434840"/>
            <a:ext cx="2194560" cy="1143000"/>
          </a:xfrm>
          <a:prstGeom prst="rect">
            <a:avLst/>
          </a:prstGeom>
          <a:noFill/>
          <a:ln/>
        </p:spPr>
        <p:txBody>
          <a:bodyPr wrap="square" lIns="0" tIns="0" rIns="0" bIns="0" rtlCol="0" anchor="ctr"/>
          <a:lstStyle/>
          <a:p>
            <a:pPr indent="0" marL="0">
              <a:buNone/>
            </a:pPr>
            <a:r>
              <a:rPr lang="en-US" sz="1600" b="1" dirty="0">
                <a:solidFill>
                  <a:srgbClr val="02C39A"/>
                </a:solidFill>
                <a:latin typeface="Cambria" pitchFamily="34" charset="0"/>
                <a:ea typeface="Cambria" pitchFamily="34" charset="-122"/>
                <a:cs typeface="Cambria" pitchFamily="34" charset="-120"/>
              </a:rPr>
              <a:t>W8   </a:t>
            </a:r>
            <a:r>
              <a:rPr lang="en-US" sz="1600" b="1" dirty="0">
                <a:solidFill>
                  <a:srgbClr val="FFFFFF"/>
                </a:solidFill>
                <a:latin typeface="Cambria" pitchFamily="34" charset="0"/>
                <a:ea typeface="Cambria" pitchFamily="34" charset="-122"/>
                <a:cs typeface="Cambria" pitchFamily="34" charset="-120"/>
              </a:rPr>
              <a:t>Midterm exam</a:t>
            </a:r>
            <a:endParaRPr lang="en-US" sz="1400" dirty="0"/>
          </a:p>
          <a:p>
            <a:pPr indent="0" marL="0">
              <a:buNone/>
            </a:pPr>
            <a:r>
              <a:rPr lang="en-US" sz="1250" dirty="0">
                <a:solidFill>
                  <a:srgbClr val="F2F2F2"/>
                </a:solidFill>
                <a:latin typeface="Calibri" pitchFamily="34" charset="0"/>
                <a:ea typeface="Calibri" pitchFamily="34" charset="-122"/>
                <a:cs typeface="Calibri" pitchFamily="34" charset="-120"/>
              </a:rPr>
              <a:t>today: review and practice</a:t>
            </a:r>
            <a:endParaRPr lang="en-US" sz="1400" dirty="0"/>
          </a:p>
        </p:txBody>
      </p:sp>
      <p:sp>
        <p:nvSpPr>
          <p:cNvPr id="44" name="Shape 42"/>
          <p:cNvSpPr/>
          <p:nvPr/>
        </p:nvSpPr>
        <p:spPr>
          <a:xfrm>
            <a:off x="3383280" y="4434840"/>
            <a:ext cx="5715000" cy="1143000"/>
          </a:xfrm>
          <a:prstGeom prst="roundRect">
            <a:avLst>
              <a:gd name="adj" fmla="val 4800"/>
            </a:avLst>
          </a:prstGeom>
          <a:solidFill>
            <a:srgbClr val="F2F2F2"/>
          </a:solidFill>
          <a:ln/>
        </p:spPr>
        <p:txBody>
          <a:bodyPr/>
          <a:p/>
        </p:txBody>
      </p:sp>
      <p:sp>
        <p:nvSpPr>
          <p:cNvPr id="45" name="Text 43"/>
          <p:cNvSpPr txBox="1"/>
          <p:nvPr/>
        </p:nvSpPr>
        <p:spPr>
          <a:xfrm>
            <a:off x="3611880" y="4434840"/>
            <a:ext cx="5257800" cy="1143000"/>
          </a:xfrm>
          <a:prstGeom prst="rect">
            <a:avLst/>
          </a:prstGeom>
          <a:noFill/>
          <a:ln/>
        </p:spPr>
        <p:txBody>
          <a:bodyPr wrap="square" lIns="0" tIns="0" rIns="0" bIns="0" rtlCol="0" anchor="ctr"/>
          <a:lstStyle/>
          <a:p>
            <a:pPr indent="0" marL="0">
              <a:buNone/>
            </a:pPr>
            <a:r>
              <a:rPr lang="en-US" sz="1600" b="1" dirty="0">
                <a:solidFill>
                  <a:srgbClr val="028090"/>
                </a:solidFill>
                <a:latin typeface="Cambria" pitchFamily="34" charset="0"/>
                <a:ea typeface="Cambria" pitchFamily="34" charset="-122"/>
                <a:cs typeface="Cambria" pitchFamily="34" charset="-120"/>
              </a:rPr>
              <a:t>W9–W14   </a:t>
            </a:r>
            <a:r>
              <a:rPr lang="en-US" sz="1600" b="1" dirty="0">
                <a:solidFill>
                  <a:srgbClr val="36454F"/>
                </a:solidFill>
                <a:latin typeface="Cambria" pitchFamily="34" charset="0"/>
                <a:ea typeface="Cambria" pitchFamily="34" charset="-122"/>
                <a:cs typeface="Cambria" pitchFamily="34" charset="-120"/>
              </a:rPr>
              <a:t>Hands-on Linux</a:t>
            </a:r>
            <a:endParaRPr lang="en-US" sz="1400" dirty="0"/>
          </a:p>
          <a:p>
            <a:pPr indent="0" marL="0">
              <a:buNone/>
            </a:pPr>
            <a:r>
              <a:rPr lang="en-US" sz="1250" dirty="0">
                <a:solidFill>
                  <a:srgbClr val="3A464C"/>
                </a:solidFill>
                <a:latin typeface="Calibri" pitchFamily="34" charset="0"/>
                <a:ea typeface="Calibri" pitchFamily="34" charset="-122"/>
                <a:cs typeface="Calibri" pitchFamily="34" charset="-120"/>
              </a:rPr>
              <a:t>shell, files, permissions, pipes, processes, scripts</a:t>
            </a:r>
            <a:endParaRPr lang="en-US" sz="1400" dirty="0"/>
          </a:p>
        </p:txBody>
      </p:sp>
      <p:sp>
        <p:nvSpPr>
          <p:cNvPr id="46" name="Shape 44"/>
          <p:cNvSpPr/>
          <p:nvPr/>
        </p:nvSpPr>
        <p:spPr>
          <a:xfrm>
            <a:off x="9281160" y="4434840"/>
            <a:ext cx="2377440" cy="1143000"/>
          </a:xfrm>
          <a:prstGeom prst="roundRect">
            <a:avLst>
              <a:gd name="adj" fmla="val 4800"/>
            </a:avLst>
          </a:prstGeom>
          <a:solidFill>
            <a:srgbClr val="F2F2F2"/>
          </a:solidFill>
          <a:ln/>
        </p:spPr>
        <p:txBody>
          <a:bodyPr/>
          <a:p/>
        </p:txBody>
      </p:sp>
      <p:sp>
        <p:nvSpPr>
          <p:cNvPr id="47" name="Text 45"/>
          <p:cNvSpPr txBox="1"/>
          <p:nvPr/>
        </p:nvSpPr>
        <p:spPr>
          <a:xfrm>
            <a:off x="9509760" y="4434840"/>
            <a:ext cx="1920240" cy="1143000"/>
          </a:xfrm>
          <a:prstGeom prst="rect">
            <a:avLst/>
          </a:prstGeom>
          <a:noFill/>
          <a:ln/>
        </p:spPr>
        <p:txBody>
          <a:bodyPr wrap="square" lIns="0" tIns="0" rIns="0" bIns="0" rtlCol="0" anchor="ctr"/>
          <a:lstStyle/>
          <a:p>
            <a:pPr indent="0" marL="0">
              <a:buNone/>
            </a:pPr>
            <a:r>
              <a:rPr lang="en-US" sz="1600" b="1" dirty="0">
                <a:solidFill>
                  <a:srgbClr val="028090"/>
                </a:solidFill>
                <a:latin typeface="Cambria" pitchFamily="34" charset="0"/>
                <a:ea typeface="Cambria" pitchFamily="34" charset="-122"/>
                <a:cs typeface="Cambria" pitchFamily="34" charset="-120"/>
              </a:rPr>
              <a:t>W15   </a:t>
            </a:r>
            <a:r>
              <a:rPr lang="en-US" sz="1600" b="1" dirty="0">
                <a:solidFill>
                  <a:srgbClr val="36454F"/>
                </a:solidFill>
                <a:latin typeface="Cambria" pitchFamily="34" charset="0"/>
                <a:ea typeface="Cambria" pitchFamily="34" charset="-122"/>
                <a:cs typeface="Cambria" pitchFamily="34" charset="-120"/>
              </a:rPr>
              <a:t>Final exam</a:t>
            </a:r>
            <a:endParaRPr lang="en-US" sz="1400" dirty="0"/>
          </a:p>
          <a:p>
            <a:pPr indent="0" marL="0">
              <a:buNone/>
            </a:pPr>
            <a:r>
              <a:rPr lang="en-US" sz="1250" dirty="0">
                <a:solidFill>
                  <a:srgbClr val="3A464C"/>
                </a:solidFill>
                <a:latin typeface="Calibri" pitchFamily="34" charset="0"/>
                <a:ea typeface="Calibri" pitchFamily="34" charset="-122"/>
                <a:cs typeface="Calibri" pitchFamily="34" charset="-120"/>
              </a:rPr>
              <a:t>whole course</a:t>
            </a:r>
            <a:endParaRPr lang="en-US" sz="1400" dirty="0"/>
          </a:p>
        </p:txBody>
      </p:sp>
      <p:sp>
        <p:nvSpPr>
          <p:cNvPr id="48" name="Text 46"/>
          <p:cNvSpPr txBox="1"/>
          <p:nvPr/>
        </p:nvSpPr>
        <p:spPr>
          <a:xfrm>
            <a:off x="548640" y="5669280"/>
            <a:ext cx="2651760" cy="320040"/>
          </a:xfrm>
          <a:prstGeom prst="rect">
            <a:avLst/>
          </a:prstGeom>
          <a:noFill/>
          <a:ln/>
        </p:spPr>
        <p:txBody>
          <a:bodyPr wrap="square" lIns="0" tIns="0" rIns="0" bIns="0" rtlCol="0" anchor="t"/>
          <a:lstStyle/>
          <a:p>
            <a:pPr algn="ctr" indent="0" marL="0">
              <a:buNone/>
            </a:pPr>
            <a:r>
              <a:rPr lang="en-US" sz="1300" b="1" dirty="0">
                <a:solidFill>
                  <a:srgbClr val="B5453A"/>
                </a:solidFill>
                <a:latin typeface="Calibri" pitchFamily="34" charset="0"/>
                <a:ea typeface="Calibri" pitchFamily="34" charset="-122"/>
                <a:cs typeface="Calibri" pitchFamily="34" charset="-120"/>
              </a:rPr>
              <a:t>You are here ↑</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en-US" sz="1200" b="1" spc="200" kern="0" dirty="0">
                <a:solidFill>
                  <a:srgbClr val="02C39A"/>
                </a:solidFill>
                <a:latin typeface="Calibri" pitchFamily="34" charset="0"/>
                <a:ea typeface="Calibri" pitchFamily="34" charset="-122"/>
                <a:cs typeface="Calibri" pitchFamily="34" charset="-120"/>
              </a:rPr>
              <a:t>WEEK 8</a:t>
            </a:r>
            <a:endParaRPr lang="en-US"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en-US" sz="3000" b="1" dirty="0">
                <a:solidFill>
                  <a:srgbClr val="36454F"/>
                </a:solidFill>
                <a:latin typeface="Cambria" pitchFamily="34" charset="0"/>
                <a:ea typeface="Cambria" pitchFamily="34" charset="-122"/>
                <a:cs typeface="Cambria" pitchFamily="34" charset="-120"/>
              </a:rPr>
              <a:t>Today's Agenda</a:t>
            </a:r>
            <a:endParaRPr lang="en-US" sz="3000" dirty="0"/>
          </a:p>
        </p:txBody>
      </p:sp>
      <p:sp>
        <p:nvSpPr>
          <p:cNvPr id="4" name="Text 2"/>
          <p:cNvSpPr txBox="1"/>
          <p:nvPr/>
        </p:nvSpPr>
        <p:spPr>
          <a:xfrm>
            <a:off x="548640" y="6528816"/>
            <a:ext cx="6400800" cy="274320"/>
          </a:xfrm>
          <a:prstGeom prst="rect">
            <a:avLst/>
          </a:prstGeom>
          <a:noFill/>
          <a:ln/>
        </p:spPr>
        <p:txBody>
          <a:bodyPr wrap="square" lIns="0" tIns="0" rIns="0" bIns="0" rtlCol="0" anchor="ctr"/>
          <a:lstStyle/>
          <a:p>
            <a:pPr indent="0" marL="0">
              <a:buNone/>
            </a:pPr>
            <a:r>
              <a:rPr lang="en-US" sz="900" dirty="0">
                <a:solidFill>
                  <a:srgbClr val="6B7679"/>
                </a:solidFill>
                <a:latin typeface="Calibri" pitchFamily="34" charset="0"/>
                <a:ea typeface="Calibri" pitchFamily="34" charset="-122"/>
                <a:cs typeface="Calibri" pitchFamily="34" charset="-120"/>
              </a:rPr>
              <a:t>MCMP117 — Fundamentals of Operating Systems</a:t>
            </a:r>
            <a:endParaRPr lang="en-US" sz="900" dirty="0"/>
          </a:p>
        </p:txBody>
      </p:sp>
      <p:sp>
        <p:nvSpPr>
          <p:cNvPr id="5" name="Text 3"/>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en-US" sz="900" dirty="0">
                <a:solidFill>
                  <a:srgbClr val="6B7679"/>
                </a:solidFill>
                <a:latin typeface="Calibri" pitchFamily="34" charset="0"/>
                <a:ea typeface="Calibri" pitchFamily="34" charset="-122"/>
                <a:cs typeface="Calibri" pitchFamily="34" charset="-120"/>
              </a:rPr>
              <a:t>Week 8  ·  3</a:t>
            </a:r>
            <a:endParaRPr lang="en-US" sz="900" dirty="0"/>
          </a:p>
        </p:txBody>
      </p:sp>
      <p:sp>
        <p:nvSpPr>
          <p:cNvPr id="6" name="Shape 4"/>
          <p:cNvSpPr/>
          <p:nvPr/>
        </p:nvSpPr>
        <p:spPr>
          <a:xfrm>
            <a:off x="548640" y="1508760"/>
            <a:ext cx="658368" cy="658368"/>
          </a:xfrm>
          <a:prstGeom prst="roundRect">
            <a:avLst>
              <a:gd name="adj" fmla="val 6944"/>
            </a:avLst>
          </a:prstGeom>
          <a:solidFill>
            <a:srgbClr val="02C39A"/>
          </a:solidFill>
          <a:ln/>
        </p:spPr>
        <p:txBody>
          <a:bodyPr/>
          <a:p/>
        </p:txBody>
      </p:sp>
      <p:sp>
        <p:nvSpPr>
          <p:cNvPr id="7" name="Text 5"/>
          <p:cNvSpPr txBox="1"/>
          <p:nvPr/>
        </p:nvSpPr>
        <p:spPr>
          <a:xfrm>
            <a:off x="548640" y="1508760"/>
            <a:ext cx="658368" cy="658368"/>
          </a:xfrm>
          <a:prstGeom prst="rect">
            <a:avLst/>
          </a:prstGeom>
          <a:noFill/>
          <a:ln/>
        </p:spPr>
        <p:txBody>
          <a:bodyPr wrap="square" lIns="38100" tIns="38100" rIns="38100" bIns="38100" rtlCol="0" anchor="ctr"/>
          <a:lstStyle/>
          <a:p>
            <a:pPr algn="ctr" indent="0" marL="0">
              <a:buNone/>
            </a:pPr>
            <a:r>
              <a:rPr lang="en-US" sz="2000" b="1" dirty="0">
                <a:solidFill>
                  <a:srgbClr val="36454F"/>
                </a:solidFill>
                <a:latin typeface="Cambria" pitchFamily="34" charset="0"/>
                <a:ea typeface="Cambria" pitchFamily="34" charset="-122"/>
                <a:cs typeface="Cambria" pitchFamily="34" charset="-120"/>
              </a:rPr>
              <a:t>1</a:t>
            </a:r>
            <a:endParaRPr lang="en-US" sz="2000" dirty="0"/>
          </a:p>
        </p:txBody>
      </p:sp>
      <p:sp>
        <p:nvSpPr>
          <p:cNvPr id="8" name="Shape 6"/>
          <p:cNvSpPr/>
          <p:nvPr/>
        </p:nvSpPr>
        <p:spPr>
          <a:xfrm>
            <a:off x="1371600" y="1508760"/>
            <a:ext cx="10287000" cy="658368"/>
          </a:xfrm>
          <a:prstGeom prst="roundRect">
            <a:avLst>
              <a:gd name="adj" fmla="val 6944"/>
            </a:avLst>
          </a:prstGeom>
          <a:solidFill>
            <a:srgbClr val="F2F2F2"/>
          </a:solidFill>
          <a:ln/>
        </p:spPr>
        <p:txBody>
          <a:bodyPr/>
          <a:p/>
        </p:txBody>
      </p:sp>
      <p:sp>
        <p:nvSpPr>
          <p:cNvPr id="9" name="Text 7"/>
          <p:cNvSpPr txBox="1"/>
          <p:nvPr/>
        </p:nvSpPr>
        <p:spPr>
          <a:xfrm>
            <a:off x="1645920" y="1508760"/>
            <a:ext cx="9875520" cy="658368"/>
          </a:xfrm>
          <a:prstGeom prst="rect">
            <a:avLst/>
          </a:prstGeom>
          <a:noFill/>
          <a:ln/>
        </p:spPr>
        <p:txBody>
          <a:bodyPr wrap="square" lIns="0" tIns="0" rIns="0" bIns="0" rtlCol="0" anchor="ctr"/>
          <a:lstStyle/>
          <a:p>
            <a:pPr indent="0" marL="0">
              <a:buNone/>
            </a:pPr>
            <a:r>
              <a:rPr lang="en-US" sz="1700" b="1" dirty="0">
                <a:solidFill>
                  <a:srgbClr val="36454F"/>
                </a:solidFill>
                <a:latin typeface="Cambria" pitchFamily="34" charset="0"/>
                <a:ea typeface="Cambria" pitchFamily="34" charset="-122"/>
                <a:cs typeface="Cambria" pitchFamily="34" charset="-120"/>
              </a:rPr>
              <a:t>The exam   </a:t>
            </a:r>
            <a:r>
              <a:rPr lang="en-US" sz="1500" dirty="0">
                <a:solidFill>
                  <a:srgbClr val="3A464C"/>
                </a:solidFill>
                <a:latin typeface="Calibri" pitchFamily="34" charset="0"/>
                <a:ea typeface="Calibri" pitchFamily="34" charset="-122"/>
                <a:cs typeface="Calibri" pitchFamily="34" charset="-120"/>
              </a:rPr>
              <a:t>Logistics, what is covered, question types and points.</a:t>
            </a:r>
            <a:endParaRPr lang="en-US" sz="1400" dirty="0"/>
          </a:p>
        </p:txBody>
      </p:sp>
      <p:sp>
        <p:nvSpPr>
          <p:cNvPr id="10" name="Shape 8"/>
          <p:cNvSpPr/>
          <p:nvPr/>
        </p:nvSpPr>
        <p:spPr>
          <a:xfrm>
            <a:off x="548640" y="2295144"/>
            <a:ext cx="658368" cy="658368"/>
          </a:xfrm>
          <a:prstGeom prst="roundRect">
            <a:avLst>
              <a:gd name="adj" fmla="val 6944"/>
            </a:avLst>
          </a:prstGeom>
          <a:solidFill>
            <a:srgbClr val="02C39A"/>
          </a:solidFill>
          <a:ln/>
        </p:spPr>
        <p:txBody>
          <a:bodyPr/>
          <a:p/>
        </p:txBody>
      </p:sp>
      <p:sp>
        <p:nvSpPr>
          <p:cNvPr id="11" name="Text 9"/>
          <p:cNvSpPr txBox="1"/>
          <p:nvPr/>
        </p:nvSpPr>
        <p:spPr>
          <a:xfrm>
            <a:off x="548640" y="2295144"/>
            <a:ext cx="658368" cy="658368"/>
          </a:xfrm>
          <a:prstGeom prst="rect">
            <a:avLst/>
          </a:prstGeom>
          <a:noFill/>
          <a:ln/>
        </p:spPr>
        <p:txBody>
          <a:bodyPr wrap="square" lIns="38100" tIns="38100" rIns="38100" bIns="38100" rtlCol="0" anchor="ctr"/>
          <a:lstStyle/>
          <a:p>
            <a:pPr algn="ctr" indent="0" marL="0">
              <a:buNone/>
            </a:pPr>
            <a:r>
              <a:rPr lang="en-US" sz="2000" b="1" dirty="0">
                <a:solidFill>
                  <a:srgbClr val="36454F"/>
                </a:solidFill>
                <a:latin typeface="Cambria" pitchFamily="34" charset="0"/>
                <a:ea typeface="Cambria" pitchFamily="34" charset="-122"/>
                <a:cs typeface="Cambria" pitchFamily="34" charset="-120"/>
              </a:rPr>
              <a:t>2</a:t>
            </a:r>
            <a:endParaRPr lang="en-US" sz="2000" dirty="0"/>
          </a:p>
        </p:txBody>
      </p:sp>
      <p:sp>
        <p:nvSpPr>
          <p:cNvPr id="12" name="Shape 10"/>
          <p:cNvSpPr/>
          <p:nvPr/>
        </p:nvSpPr>
        <p:spPr>
          <a:xfrm>
            <a:off x="1371600" y="2295144"/>
            <a:ext cx="10287000" cy="658368"/>
          </a:xfrm>
          <a:prstGeom prst="roundRect">
            <a:avLst>
              <a:gd name="adj" fmla="val 6944"/>
            </a:avLst>
          </a:prstGeom>
          <a:solidFill>
            <a:srgbClr val="F2F2F2"/>
          </a:solidFill>
          <a:ln/>
        </p:spPr>
        <p:txBody>
          <a:bodyPr/>
          <a:p/>
        </p:txBody>
      </p:sp>
      <p:sp>
        <p:nvSpPr>
          <p:cNvPr id="13" name="Text 11"/>
          <p:cNvSpPr txBox="1"/>
          <p:nvPr/>
        </p:nvSpPr>
        <p:spPr>
          <a:xfrm>
            <a:off x="1645920" y="2295144"/>
            <a:ext cx="9875520" cy="658368"/>
          </a:xfrm>
          <a:prstGeom prst="rect">
            <a:avLst/>
          </a:prstGeom>
          <a:noFill/>
          <a:ln/>
        </p:spPr>
        <p:txBody>
          <a:bodyPr wrap="square" lIns="0" tIns="0" rIns="0" bIns="0" rtlCol="0" anchor="ctr"/>
          <a:lstStyle/>
          <a:p>
            <a:pPr indent="0" marL="0">
              <a:buNone/>
            </a:pPr>
            <a:r>
              <a:rPr lang="en-US" sz="1700" b="1" dirty="0">
                <a:solidFill>
                  <a:srgbClr val="36454F"/>
                </a:solidFill>
                <a:latin typeface="Cambria" pitchFamily="34" charset="0"/>
                <a:ea typeface="Cambria" pitchFamily="34" charset="-122"/>
                <a:cs typeface="Cambria" pitchFamily="34" charset="-120"/>
              </a:rPr>
              <a:t>Recap, Weeks 1–7   </a:t>
            </a:r>
            <a:r>
              <a:rPr lang="en-US" sz="1500" dirty="0">
                <a:solidFill>
                  <a:srgbClr val="3A464C"/>
                </a:solidFill>
                <a:latin typeface="Calibri" pitchFamily="34" charset="0"/>
                <a:ea typeface="Calibri" pitchFamily="34" charset="-122"/>
                <a:cs typeface="Calibri" pitchFamily="34" charset="-120"/>
              </a:rPr>
              <a:t>One or two slides per week: definitions, diagrams, formulas.</a:t>
            </a:r>
            <a:endParaRPr lang="en-US" sz="1400" dirty="0"/>
          </a:p>
        </p:txBody>
      </p:sp>
      <p:sp>
        <p:nvSpPr>
          <p:cNvPr id="14" name="Shape 12"/>
          <p:cNvSpPr/>
          <p:nvPr/>
        </p:nvSpPr>
        <p:spPr>
          <a:xfrm>
            <a:off x="548640" y="3081528"/>
            <a:ext cx="658368" cy="658368"/>
          </a:xfrm>
          <a:prstGeom prst="roundRect">
            <a:avLst>
              <a:gd name="adj" fmla="val 6944"/>
            </a:avLst>
          </a:prstGeom>
          <a:solidFill>
            <a:srgbClr val="02C39A"/>
          </a:solidFill>
          <a:ln/>
        </p:spPr>
        <p:txBody>
          <a:bodyPr/>
          <a:p/>
        </p:txBody>
      </p:sp>
      <p:sp>
        <p:nvSpPr>
          <p:cNvPr id="15" name="Text 13"/>
          <p:cNvSpPr txBox="1"/>
          <p:nvPr/>
        </p:nvSpPr>
        <p:spPr>
          <a:xfrm>
            <a:off x="548640" y="3081528"/>
            <a:ext cx="658368" cy="658368"/>
          </a:xfrm>
          <a:prstGeom prst="rect">
            <a:avLst/>
          </a:prstGeom>
          <a:noFill/>
          <a:ln/>
        </p:spPr>
        <p:txBody>
          <a:bodyPr wrap="square" lIns="38100" tIns="38100" rIns="38100" bIns="38100" rtlCol="0" anchor="ctr"/>
          <a:lstStyle/>
          <a:p>
            <a:pPr algn="ctr" indent="0" marL="0">
              <a:buNone/>
            </a:pPr>
            <a:r>
              <a:rPr lang="en-US" sz="2000" b="1" dirty="0">
                <a:solidFill>
                  <a:srgbClr val="36454F"/>
                </a:solidFill>
                <a:latin typeface="Cambria" pitchFamily="34" charset="0"/>
                <a:ea typeface="Cambria" pitchFamily="34" charset="-122"/>
                <a:cs typeface="Cambria" pitchFamily="34" charset="-120"/>
              </a:rPr>
              <a:t>3</a:t>
            </a:r>
            <a:endParaRPr lang="en-US" sz="2000" dirty="0"/>
          </a:p>
        </p:txBody>
      </p:sp>
      <p:sp>
        <p:nvSpPr>
          <p:cNvPr id="16" name="Shape 14"/>
          <p:cNvSpPr/>
          <p:nvPr/>
        </p:nvSpPr>
        <p:spPr>
          <a:xfrm>
            <a:off x="1371600" y="3081528"/>
            <a:ext cx="10287000" cy="658368"/>
          </a:xfrm>
          <a:prstGeom prst="roundRect">
            <a:avLst>
              <a:gd name="adj" fmla="val 6944"/>
            </a:avLst>
          </a:prstGeom>
          <a:solidFill>
            <a:srgbClr val="F2F2F2"/>
          </a:solidFill>
          <a:ln/>
        </p:spPr>
        <p:txBody>
          <a:bodyPr/>
          <a:p/>
        </p:txBody>
      </p:sp>
      <p:sp>
        <p:nvSpPr>
          <p:cNvPr id="17" name="Text 15"/>
          <p:cNvSpPr txBox="1"/>
          <p:nvPr/>
        </p:nvSpPr>
        <p:spPr>
          <a:xfrm>
            <a:off x="1645920" y="3081528"/>
            <a:ext cx="9875520" cy="658368"/>
          </a:xfrm>
          <a:prstGeom prst="rect">
            <a:avLst/>
          </a:prstGeom>
          <a:noFill/>
          <a:ln/>
        </p:spPr>
        <p:txBody>
          <a:bodyPr wrap="square" lIns="0" tIns="0" rIns="0" bIns="0" rtlCol="0" anchor="ctr"/>
          <a:lstStyle/>
          <a:p>
            <a:pPr indent="0" marL="0">
              <a:buNone/>
            </a:pPr>
            <a:r>
              <a:rPr lang="en-US" sz="1700" b="1" dirty="0">
                <a:solidFill>
                  <a:srgbClr val="36454F"/>
                </a:solidFill>
                <a:latin typeface="Cambria" pitchFamily="34" charset="0"/>
                <a:ea typeface="Cambria" pitchFamily="34" charset="-122"/>
                <a:cs typeface="Cambria" pitchFamily="34" charset="-120"/>
              </a:rPr>
              <a:t>Formula sheet   </a:t>
            </a:r>
            <a:r>
              <a:rPr lang="en-US" sz="1500" dirty="0">
                <a:solidFill>
                  <a:srgbClr val="3A464C"/>
                </a:solidFill>
                <a:latin typeface="Calibri" pitchFamily="34" charset="0"/>
                <a:ea typeface="Calibri" pitchFamily="34" charset="-122"/>
                <a:cs typeface="Calibri" pitchFamily="34" charset="-120"/>
              </a:rPr>
              <a:t>Every formula of the course on one slide.</a:t>
            </a:r>
            <a:endParaRPr lang="en-US" sz="1400" dirty="0"/>
          </a:p>
        </p:txBody>
      </p:sp>
      <p:sp>
        <p:nvSpPr>
          <p:cNvPr id="18" name="Shape 16"/>
          <p:cNvSpPr/>
          <p:nvPr/>
        </p:nvSpPr>
        <p:spPr>
          <a:xfrm>
            <a:off x="548640" y="3867912"/>
            <a:ext cx="658368" cy="658368"/>
          </a:xfrm>
          <a:prstGeom prst="roundRect">
            <a:avLst>
              <a:gd name="adj" fmla="val 6944"/>
            </a:avLst>
          </a:prstGeom>
          <a:solidFill>
            <a:srgbClr val="02C39A"/>
          </a:solidFill>
          <a:ln/>
        </p:spPr>
        <p:txBody>
          <a:bodyPr/>
          <a:p/>
        </p:txBody>
      </p:sp>
      <p:sp>
        <p:nvSpPr>
          <p:cNvPr id="19" name="Text 17"/>
          <p:cNvSpPr txBox="1"/>
          <p:nvPr/>
        </p:nvSpPr>
        <p:spPr>
          <a:xfrm>
            <a:off x="548640" y="3867912"/>
            <a:ext cx="658368" cy="658368"/>
          </a:xfrm>
          <a:prstGeom prst="rect">
            <a:avLst/>
          </a:prstGeom>
          <a:noFill/>
          <a:ln/>
        </p:spPr>
        <p:txBody>
          <a:bodyPr wrap="square" lIns="38100" tIns="38100" rIns="38100" bIns="38100" rtlCol="0" anchor="ctr"/>
          <a:lstStyle/>
          <a:p>
            <a:pPr algn="ctr" indent="0" marL="0">
              <a:buNone/>
            </a:pPr>
            <a:r>
              <a:rPr lang="en-US" sz="2000" b="1" dirty="0">
                <a:solidFill>
                  <a:srgbClr val="36454F"/>
                </a:solidFill>
                <a:latin typeface="Cambria" pitchFamily="34" charset="0"/>
                <a:ea typeface="Cambria" pitchFamily="34" charset="-122"/>
                <a:cs typeface="Cambria" pitchFamily="34" charset="-120"/>
              </a:rPr>
              <a:t>4</a:t>
            </a:r>
            <a:endParaRPr lang="en-US" sz="2000" dirty="0"/>
          </a:p>
        </p:txBody>
      </p:sp>
      <p:sp>
        <p:nvSpPr>
          <p:cNvPr id="20" name="Shape 18"/>
          <p:cNvSpPr/>
          <p:nvPr/>
        </p:nvSpPr>
        <p:spPr>
          <a:xfrm>
            <a:off x="1371600" y="3867912"/>
            <a:ext cx="10287000" cy="658368"/>
          </a:xfrm>
          <a:prstGeom prst="roundRect">
            <a:avLst>
              <a:gd name="adj" fmla="val 6944"/>
            </a:avLst>
          </a:prstGeom>
          <a:solidFill>
            <a:srgbClr val="F2F2F2"/>
          </a:solidFill>
          <a:ln/>
        </p:spPr>
        <p:txBody>
          <a:bodyPr/>
          <a:p/>
        </p:txBody>
      </p:sp>
      <p:sp>
        <p:nvSpPr>
          <p:cNvPr id="21" name="Text 19"/>
          <p:cNvSpPr txBox="1"/>
          <p:nvPr/>
        </p:nvSpPr>
        <p:spPr>
          <a:xfrm>
            <a:off x="1645920" y="3867912"/>
            <a:ext cx="9875520" cy="658368"/>
          </a:xfrm>
          <a:prstGeom prst="rect">
            <a:avLst/>
          </a:prstGeom>
          <a:noFill/>
          <a:ln/>
        </p:spPr>
        <p:txBody>
          <a:bodyPr wrap="square" lIns="0" tIns="0" rIns="0" bIns="0" rtlCol="0" anchor="ctr"/>
          <a:lstStyle/>
          <a:p>
            <a:pPr indent="0" marL="0">
              <a:buNone/>
            </a:pPr>
            <a:r>
              <a:rPr lang="en-US" sz="1700" b="1" dirty="0">
                <a:solidFill>
                  <a:srgbClr val="36454F"/>
                </a:solidFill>
                <a:latin typeface="Cambria" pitchFamily="34" charset="0"/>
                <a:ea typeface="Cambria" pitchFamily="34" charset="-122"/>
                <a:cs typeface="Cambria" pitchFamily="34" charset="-120"/>
              </a:rPr>
              <a:t>Worked problems   </a:t>
            </a:r>
            <a:r>
              <a:rPr lang="en-US" sz="1500" dirty="0">
                <a:solidFill>
                  <a:srgbClr val="3A464C"/>
                </a:solidFill>
                <a:latin typeface="Calibri" pitchFamily="34" charset="0"/>
                <a:ea typeface="Calibri" pitchFamily="34" charset="-122"/>
                <a:cs typeface="Calibri" pitchFamily="34" charset="-120"/>
              </a:rPr>
              <a:t>Seven problems: every numerical question type of the exam.</a:t>
            </a:r>
            <a:endParaRPr lang="en-US" sz="1400" dirty="0"/>
          </a:p>
        </p:txBody>
      </p:sp>
      <p:sp>
        <p:nvSpPr>
          <p:cNvPr id="22" name="Shape 20"/>
          <p:cNvSpPr/>
          <p:nvPr/>
        </p:nvSpPr>
        <p:spPr>
          <a:xfrm>
            <a:off x="548640" y="4654296"/>
            <a:ext cx="658368" cy="658368"/>
          </a:xfrm>
          <a:prstGeom prst="roundRect">
            <a:avLst>
              <a:gd name="adj" fmla="val 6944"/>
            </a:avLst>
          </a:prstGeom>
          <a:solidFill>
            <a:srgbClr val="02C39A"/>
          </a:solidFill>
          <a:ln/>
        </p:spPr>
        <p:txBody>
          <a:bodyPr/>
          <a:p/>
        </p:txBody>
      </p:sp>
      <p:sp>
        <p:nvSpPr>
          <p:cNvPr id="23" name="Text 21"/>
          <p:cNvSpPr txBox="1"/>
          <p:nvPr/>
        </p:nvSpPr>
        <p:spPr>
          <a:xfrm>
            <a:off x="548640" y="4654296"/>
            <a:ext cx="658368" cy="658368"/>
          </a:xfrm>
          <a:prstGeom prst="rect">
            <a:avLst/>
          </a:prstGeom>
          <a:noFill/>
          <a:ln/>
        </p:spPr>
        <p:txBody>
          <a:bodyPr wrap="square" lIns="38100" tIns="38100" rIns="38100" bIns="38100" rtlCol="0" anchor="ctr"/>
          <a:lstStyle/>
          <a:p>
            <a:pPr algn="ctr" indent="0" marL="0">
              <a:buNone/>
            </a:pPr>
            <a:r>
              <a:rPr lang="en-US" sz="2000" b="1" dirty="0">
                <a:solidFill>
                  <a:srgbClr val="36454F"/>
                </a:solidFill>
                <a:latin typeface="Cambria" pitchFamily="34" charset="0"/>
                <a:ea typeface="Cambria" pitchFamily="34" charset="-122"/>
                <a:cs typeface="Cambria" pitchFamily="34" charset="-120"/>
              </a:rPr>
              <a:t>5</a:t>
            </a:r>
            <a:endParaRPr lang="en-US" sz="2000" dirty="0"/>
          </a:p>
        </p:txBody>
      </p:sp>
      <p:sp>
        <p:nvSpPr>
          <p:cNvPr id="24" name="Shape 22"/>
          <p:cNvSpPr/>
          <p:nvPr/>
        </p:nvSpPr>
        <p:spPr>
          <a:xfrm>
            <a:off x="1371600" y="4654296"/>
            <a:ext cx="10287000" cy="658368"/>
          </a:xfrm>
          <a:prstGeom prst="roundRect">
            <a:avLst>
              <a:gd name="adj" fmla="val 6944"/>
            </a:avLst>
          </a:prstGeom>
          <a:solidFill>
            <a:srgbClr val="F2F2F2"/>
          </a:solidFill>
          <a:ln/>
        </p:spPr>
        <p:txBody>
          <a:bodyPr/>
          <a:p/>
        </p:txBody>
      </p:sp>
      <p:sp>
        <p:nvSpPr>
          <p:cNvPr id="25" name="Text 23"/>
          <p:cNvSpPr txBox="1"/>
          <p:nvPr/>
        </p:nvSpPr>
        <p:spPr>
          <a:xfrm>
            <a:off x="1645920" y="4654296"/>
            <a:ext cx="9875520" cy="658368"/>
          </a:xfrm>
          <a:prstGeom prst="rect">
            <a:avLst/>
          </a:prstGeom>
          <a:noFill/>
          <a:ln/>
        </p:spPr>
        <p:txBody>
          <a:bodyPr wrap="square" lIns="0" tIns="0" rIns="0" bIns="0" rtlCol="0" anchor="ctr"/>
          <a:lstStyle/>
          <a:p>
            <a:pPr indent="0" marL="0">
              <a:buNone/>
            </a:pPr>
            <a:r>
              <a:rPr lang="en-US" sz="1700" b="1" dirty="0">
                <a:solidFill>
                  <a:srgbClr val="36454F"/>
                </a:solidFill>
                <a:latin typeface="Cambria" pitchFamily="34" charset="0"/>
                <a:ea typeface="Cambria" pitchFamily="34" charset="-122"/>
                <a:cs typeface="Cambria" pitchFamily="34" charset="-120"/>
              </a:rPr>
              <a:t>Mistakes &amp; strategy   </a:t>
            </a:r>
            <a:r>
              <a:rPr lang="en-US" sz="1500" dirty="0">
                <a:solidFill>
                  <a:srgbClr val="3A464C"/>
                </a:solidFill>
                <a:latin typeface="Calibri" pitchFamily="34" charset="0"/>
                <a:ea typeface="Calibri" pitchFamily="34" charset="-122"/>
                <a:cs typeface="Calibri" pitchFamily="34" charset="-120"/>
              </a:rPr>
              <a:t>Where points are usually lost, and how to use 90 minutes.</a:t>
            </a:r>
            <a:endParaRPr lang="en-US" sz="1400" dirty="0"/>
          </a:p>
        </p:txBody>
      </p:sp>
      <p:sp>
        <p:nvSpPr>
          <p:cNvPr id="26" name="Shape 24"/>
          <p:cNvSpPr/>
          <p:nvPr/>
        </p:nvSpPr>
        <p:spPr>
          <a:xfrm>
            <a:off x="548640" y="5440680"/>
            <a:ext cx="658368" cy="658368"/>
          </a:xfrm>
          <a:prstGeom prst="roundRect">
            <a:avLst>
              <a:gd name="adj" fmla="val 6944"/>
            </a:avLst>
          </a:prstGeom>
          <a:solidFill>
            <a:srgbClr val="02C39A"/>
          </a:solidFill>
          <a:ln/>
        </p:spPr>
        <p:txBody>
          <a:bodyPr/>
          <a:p/>
        </p:txBody>
      </p:sp>
      <p:sp>
        <p:nvSpPr>
          <p:cNvPr id="27" name="Text 25"/>
          <p:cNvSpPr txBox="1"/>
          <p:nvPr/>
        </p:nvSpPr>
        <p:spPr>
          <a:xfrm>
            <a:off x="548640" y="5440680"/>
            <a:ext cx="658368" cy="658368"/>
          </a:xfrm>
          <a:prstGeom prst="rect">
            <a:avLst/>
          </a:prstGeom>
          <a:noFill/>
          <a:ln/>
        </p:spPr>
        <p:txBody>
          <a:bodyPr wrap="square" lIns="38100" tIns="38100" rIns="38100" bIns="38100" rtlCol="0" anchor="ctr"/>
          <a:lstStyle/>
          <a:p>
            <a:pPr algn="ctr" indent="0" marL="0">
              <a:buNone/>
            </a:pPr>
            <a:r>
              <a:rPr lang="en-US" sz="2000" b="1" dirty="0">
                <a:solidFill>
                  <a:srgbClr val="36454F"/>
                </a:solidFill>
                <a:latin typeface="Cambria" pitchFamily="34" charset="0"/>
                <a:ea typeface="Cambria" pitchFamily="34" charset="-122"/>
                <a:cs typeface="Cambria" pitchFamily="34" charset="-120"/>
              </a:rPr>
              <a:t>6</a:t>
            </a:r>
            <a:endParaRPr lang="en-US" sz="2000" dirty="0"/>
          </a:p>
        </p:txBody>
      </p:sp>
      <p:sp>
        <p:nvSpPr>
          <p:cNvPr id="28" name="Shape 26"/>
          <p:cNvSpPr/>
          <p:nvPr/>
        </p:nvSpPr>
        <p:spPr>
          <a:xfrm>
            <a:off x="1371600" y="5440680"/>
            <a:ext cx="10287000" cy="658368"/>
          </a:xfrm>
          <a:prstGeom prst="roundRect">
            <a:avLst>
              <a:gd name="adj" fmla="val 6944"/>
            </a:avLst>
          </a:prstGeom>
          <a:solidFill>
            <a:srgbClr val="F2F2F2"/>
          </a:solidFill>
          <a:ln/>
        </p:spPr>
        <p:txBody>
          <a:bodyPr/>
          <a:p/>
        </p:txBody>
      </p:sp>
      <p:sp>
        <p:nvSpPr>
          <p:cNvPr id="29" name="Text 27"/>
          <p:cNvSpPr txBox="1"/>
          <p:nvPr/>
        </p:nvSpPr>
        <p:spPr>
          <a:xfrm>
            <a:off x="1645920" y="5440680"/>
            <a:ext cx="9875520" cy="658368"/>
          </a:xfrm>
          <a:prstGeom prst="rect">
            <a:avLst/>
          </a:prstGeom>
          <a:noFill/>
          <a:ln/>
        </p:spPr>
        <p:txBody>
          <a:bodyPr wrap="square" lIns="0" tIns="0" rIns="0" bIns="0" rtlCol="0" anchor="ctr"/>
          <a:lstStyle/>
          <a:p>
            <a:pPr indent="0" marL="0">
              <a:buNone/>
            </a:pPr>
            <a:r>
              <a:rPr lang="en-US" sz="1700" b="1" dirty="0">
                <a:solidFill>
                  <a:srgbClr val="36454F"/>
                </a:solidFill>
                <a:latin typeface="Cambria" pitchFamily="34" charset="0"/>
                <a:ea typeface="Cambria" pitchFamily="34" charset="-122"/>
                <a:cs typeface="Cambria" pitchFamily="34" charset="-120"/>
              </a:rPr>
              <a:t>Quiz &amp; questions   </a:t>
            </a:r>
            <a:r>
              <a:rPr lang="en-US" sz="1500" dirty="0">
                <a:solidFill>
                  <a:srgbClr val="3A464C"/>
                </a:solidFill>
                <a:latin typeface="Calibri" pitchFamily="34" charset="0"/>
                <a:ea typeface="Calibri" pitchFamily="34" charset="-122"/>
                <a:cs typeface="Calibri" pitchFamily="34" charset="-120"/>
              </a:rPr>
              <a:t>Check yourself, then ask anything about the exam.</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en-US" sz="1200" b="1" spc="200" kern="0" dirty="0">
                <a:solidFill>
                  <a:srgbClr val="02C39A"/>
                </a:solidFill>
                <a:latin typeface="Calibri" pitchFamily="34" charset="0"/>
                <a:ea typeface="Calibri" pitchFamily="34" charset="-122"/>
                <a:cs typeface="Calibri" pitchFamily="34" charset="-120"/>
              </a:rPr>
              <a:t>THE EXAM</a:t>
            </a:r>
            <a:endParaRPr lang="en-US"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en-US" sz="3000" b="1" dirty="0">
                <a:solidFill>
                  <a:srgbClr val="36454F"/>
                </a:solidFill>
                <a:latin typeface="Cambria" pitchFamily="34" charset="0"/>
                <a:ea typeface="Cambria" pitchFamily="34" charset="-122"/>
                <a:cs typeface="Cambria" pitchFamily="34" charset="-120"/>
              </a:rPr>
              <a:t>Midterm Logistics</a:t>
            </a:r>
            <a:endParaRPr lang="en-US" sz="3000" dirty="0"/>
          </a:p>
        </p:txBody>
      </p:sp>
      <p:sp>
        <p:nvSpPr>
          <p:cNvPr id="4" name="Text 2"/>
          <p:cNvSpPr txBox="1"/>
          <p:nvPr/>
        </p:nvSpPr>
        <p:spPr>
          <a:xfrm>
            <a:off x="548640" y="6528816"/>
            <a:ext cx="6400800" cy="274320"/>
          </a:xfrm>
          <a:prstGeom prst="rect">
            <a:avLst/>
          </a:prstGeom>
          <a:noFill/>
          <a:ln/>
        </p:spPr>
        <p:txBody>
          <a:bodyPr wrap="square" lIns="0" tIns="0" rIns="0" bIns="0" rtlCol="0" anchor="ctr"/>
          <a:lstStyle/>
          <a:p>
            <a:pPr indent="0" marL="0">
              <a:buNone/>
            </a:pPr>
            <a:r>
              <a:rPr lang="en-US" sz="900" dirty="0">
                <a:solidFill>
                  <a:srgbClr val="6B7679"/>
                </a:solidFill>
                <a:latin typeface="Calibri" pitchFamily="34" charset="0"/>
                <a:ea typeface="Calibri" pitchFamily="34" charset="-122"/>
                <a:cs typeface="Calibri" pitchFamily="34" charset="-120"/>
              </a:rPr>
              <a:t>MCMP117 — Fundamentals of Operating Systems</a:t>
            </a:r>
            <a:endParaRPr lang="en-US" sz="900" dirty="0"/>
          </a:p>
        </p:txBody>
      </p:sp>
      <p:sp>
        <p:nvSpPr>
          <p:cNvPr id="5" name="Text 3"/>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en-US" sz="900" dirty="0">
                <a:solidFill>
                  <a:srgbClr val="6B7679"/>
                </a:solidFill>
                <a:latin typeface="Calibri" pitchFamily="34" charset="0"/>
                <a:ea typeface="Calibri" pitchFamily="34" charset="-122"/>
                <a:cs typeface="Calibri" pitchFamily="34" charset="-120"/>
              </a:rPr>
              <a:t>Week 8  ·  4</a:t>
            </a:r>
            <a:endParaRPr lang="en-US" sz="900" dirty="0"/>
          </a:p>
        </p:txBody>
      </p:sp>
      <p:sp>
        <p:nvSpPr>
          <p:cNvPr id="6" name="Shape 4"/>
          <p:cNvSpPr/>
          <p:nvPr/>
        </p:nvSpPr>
        <p:spPr>
          <a:xfrm>
            <a:off x="548640" y="1508760"/>
            <a:ext cx="3550920" cy="3749040"/>
          </a:xfrm>
          <a:prstGeom prst="roundRect">
            <a:avLst>
              <a:gd name="adj" fmla="val 1545"/>
            </a:avLst>
          </a:prstGeom>
          <a:solidFill>
            <a:srgbClr val="F2F2F2"/>
          </a:solidFill>
          <a:ln/>
          <a:effectLst>
            <a:outerShdw sx="100000" sy="100000" kx="0" ky="0" algn="bl" rotWithShape="0" blurRad="101600" dist="25400" dir="5400000">
              <a:srgbClr val="000000">
                <a:alpha val="12000"/>
              </a:srgbClr>
            </a:outerShdw>
          </a:effectLst>
        </p:spPr>
        <p:txBody>
          <a:bodyPr/>
          <a:p/>
        </p:txBody>
      </p:sp>
      <p:sp>
        <p:nvSpPr>
          <p:cNvPr id="7" name="Text 5"/>
          <p:cNvSpPr txBox="1"/>
          <p:nvPr/>
        </p:nvSpPr>
        <p:spPr>
          <a:xfrm>
            <a:off x="777240" y="1691640"/>
            <a:ext cx="3093720" cy="384048"/>
          </a:xfrm>
          <a:prstGeom prst="rect">
            <a:avLst/>
          </a:prstGeom>
          <a:noFill/>
          <a:ln/>
        </p:spPr>
        <p:txBody>
          <a:bodyPr wrap="square" lIns="0" tIns="0" rIns="0" bIns="0" rtlCol="0" anchor="ctr"/>
          <a:lstStyle/>
          <a:p>
            <a:pPr indent="0" marL="0">
              <a:buNone/>
            </a:pPr>
            <a:r>
              <a:rPr lang="en-US" sz="1600" b="1" dirty="0">
                <a:solidFill>
                  <a:srgbClr val="028090"/>
                </a:solidFill>
                <a:latin typeface="Cambria" pitchFamily="34" charset="0"/>
                <a:ea typeface="Cambria" pitchFamily="34" charset="-122"/>
                <a:cs typeface="Cambria" pitchFamily="34" charset="-120"/>
              </a:rPr>
              <a:t>When and where</a:t>
            </a:r>
            <a:endParaRPr lang="en-US" sz="1600" dirty="0"/>
          </a:p>
        </p:txBody>
      </p:sp>
      <p:sp>
        <p:nvSpPr>
          <p:cNvPr id="8" name="Text 6"/>
          <p:cNvSpPr txBox="1"/>
          <p:nvPr/>
        </p:nvSpPr>
        <p:spPr>
          <a:xfrm>
            <a:off x="777240" y="2148840"/>
            <a:ext cx="3093720" cy="2971800"/>
          </a:xfrm>
          <a:prstGeom prst="rect">
            <a:avLst/>
          </a:prstGeom>
          <a:noFill/>
          <a:ln/>
        </p:spPr>
        <p:txBody>
          <a:bodyPr wrap="square" lIns="0" tIns="0" rIns="0" bIns="0" rtlCol="0" anchor="t"/>
          <a:lstStyle/>
          <a:p>
            <a:pPr marL="228600" indent="-228600">
              <a:spcAft>
                <a:spcPts val="400"/>
              </a:spcAft>
              <a:buSzPct val="100000"/>
              <a:buChar char="•"/>
            </a:pPr>
            <a:r>
              <a:rPr lang="en-US" sz="1600" dirty="0">
                <a:solidFill>
                  <a:srgbClr val="3A464C"/>
                </a:solidFill>
                <a:latin typeface="Calibri" pitchFamily="34" charset="0"/>
                <a:ea typeface="Calibri" pitchFamily="34" charset="-122"/>
                <a:cs typeface="Calibri" pitchFamily="34" charset="-120"/>
              </a:rPr>
              <a:t>Date and time: [to be announced]</a:t>
            </a:r>
            <a:endParaRPr lang="en-US" sz="1600" dirty="0"/>
          </a:p>
          <a:p>
            <a:pPr marL="228600" indent="-228600">
              <a:spcAft>
                <a:spcPts val="400"/>
              </a:spcAft>
              <a:buSzPct val="100000"/>
              <a:buChar char="•"/>
            </a:pPr>
            <a:r>
              <a:rPr lang="en-US" sz="1600" dirty="0">
                <a:solidFill>
                  <a:srgbClr val="3A464C"/>
                </a:solidFill>
                <a:latin typeface="Calibri" pitchFamily="34" charset="0"/>
                <a:ea typeface="Calibri" pitchFamily="34" charset="-122"/>
                <a:cs typeface="Calibri" pitchFamily="34" charset="-120"/>
              </a:rPr>
              <a:t>Room: [to be announced]</a:t>
            </a:r>
            <a:endParaRPr lang="en-US" sz="1600" dirty="0"/>
          </a:p>
          <a:p>
            <a:pPr marL="228600" indent="-228600">
              <a:spcAft>
                <a:spcPts val="400"/>
              </a:spcAft>
              <a:buSzPct val="100000"/>
              <a:buChar char="•"/>
            </a:pPr>
            <a:r>
              <a:rPr lang="en-US" sz="1600" dirty="0">
                <a:solidFill>
                  <a:srgbClr val="3A464C"/>
                </a:solidFill>
                <a:latin typeface="Calibri" pitchFamily="34" charset="0"/>
                <a:ea typeface="Calibri" pitchFamily="34" charset="-122"/>
                <a:cs typeface="Calibri" pitchFamily="34" charset="-120"/>
              </a:rPr>
              <a:t>Duration: [90] minutes</a:t>
            </a:r>
            <a:endParaRPr lang="en-US" sz="1600" dirty="0"/>
          </a:p>
          <a:p>
            <a:pPr marL="228600" indent="-228600">
              <a:spcAft>
                <a:spcPts val="400"/>
              </a:spcAft>
              <a:buSzPct val="100000"/>
              <a:buChar char="•"/>
            </a:pPr>
            <a:r>
              <a:rPr lang="en-US" sz="1600" dirty="0">
                <a:solidFill>
                  <a:srgbClr val="3A464C"/>
                </a:solidFill>
                <a:latin typeface="Calibri" pitchFamily="34" charset="0"/>
                <a:ea typeface="Calibri" pitchFamily="34" charset="-122"/>
                <a:cs typeface="Calibri" pitchFamily="34" charset="-120"/>
              </a:rPr>
              <a:t>Arrive 10 minutes early; bring your student ID.</a:t>
            </a:r>
            <a:endParaRPr lang="en-US" sz="1600" dirty="0"/>
          </a:p>
        </p:txBody>
      </p:sp>
      <p:sp>
        <p:nvSpPr>
          <p:cNvPr id="9" name="Shape 7"/>
          <p:cNvSpPr/>
          <p:nvPr/>
        </p:nvSpPr>
        <p:spPr>
          <a:xfrm>
            <a:off x="4328160" y="1508760"/>
            <a:ext cx="3550920" cy="3749040"/>
          </a:xfrm>
          <a:prstGeom prst="roundRect">
            <a:avLst>
              <a:gd name="adj" fmla="val 1545"/>
            </a:avLst>
          </a:prstGeom>
          <a:solidFill>
            <a:srgbClr val="F2F2F2"/>
          </a:solidFill>
          <a:ln/>
          <a:effectLst>
            <a:outerShdw sx="100000" sy="100000" kx="0" ky="0" algn="bl" rotWithShape="0" blurRad="101600" dist="25400" dir="5400000">
              <a:srgbClr val="000000">
                <a:alpha val="12000"/>
              </a:srgbClr>
            </a:outerShdw>
          </a:effectLst>
        </p:spPr>
        <p:txBody>
          <a:bodyPr/>
          <a:p/>
        </p:txBody>
      </p:sp>
      <p:sp>
        <p:nvSpPr>
          <p:cNvPr id="10" name="Text 8"/>
          <p:cNvSpPr txBox="1"/>
          <p:nvPr/>
        </p:nvSpPr>
        <p:spPr>
          <a:xfrm>
            <a:off x="4556760" y="1691640"/>
            <a:ext cx="3093720" cy="384048"/>
          </a:xfrm>
          <a:prstGeom prst="rect">
            <a:avLst/>
          </a:prstGeom>
          <a:noFill/>
          <a:ln/>
        </p:spPr>
        <p:txBody>
          <a:bodyPr wrap="square" lIns="0" tIns="0" rIns="0" bIns="0" rtlCol="0" anchor="ctr"/>
          <a:lstStyle/>
          <a:p>
            <a:pPr indent="0" marL="0">
              <a:buNone/>
            </a:pPr>
            <a:r>
              <a:rPr lang="en-US" sz="1600" b="1" dirty="0">
                <a:solidFill>
                  <a:srgbClr val="028090"/>
                </a:solidFill>
                <a:latin typeface="Cambria" pitchFamily="34" charset="0"/>
                <a:ea typeface="Cambria" pitchFamily="34" charset="-122"/>
                <a:cs typeface="Cambria" pitchFamily="34" charset="-120"/>
              </a:rPr>
              <a:t>Allowed materials</a:t>
            </a:r>
            <a:endParaRPr lang="en-US" sz="1600" dirty="0"/>
          </a:p>
        </p:txBody>
      </p:sp>
      <p:sp>
        <p:nvSpPr>
          <p:cNvPr id="11" name="Text 9"/>
          <p:cNvSpPr txBox="1"/>
          <p:nvPr/>
        </p:nvSpPr>
        <p:spPr>
          <a:xfrm>
            <a:off x="4556760" y="2148840"/>
            <a:ext cx="3093720" cy="2971800"/>
          </a:xfrm>
          <a:prstGeom prst="rect">
            <a:avLst/>
          </a:prstGeom>
          <a:noFill/>
          <a:ln/>
        </p:spPr>
        <p:txBody>
          <a:bodyPr wrap="square" lIns="0" tIns="0" rIns="0" bIns="0" rtlCol="0" anchor="t"/>
          <a:lstStyle/>
          <a:p>
            <a:pPr marL="228600" indent="-228600">
              <a:spcAft>
                <a:spcPts val="400"/>
              </a:spcAft>
              <a:buSzPct val="100000"/>
              <a:buChar char="•"/>
            </a:pPr>
            <a:r>
              <a:rPr lang="en-US" sz="1600" dirty="0">
                <a:solidFill>
                  <a:srgbClr val="3A464C"/>
                </a:solidFill>
                <a:latin typeface="Calibri" pitchFamily="34" charset="0"/>
                <a:ea typeface="Calibri" pitchFamily="34" charset="-122"/>
                <a:cs typeface="Calibri" pitchFamily="34" charset="-120"/>
              </a:rPr>
              <a:t>Pens; a basic calculator [to be confirmed]</a:t>
            </a:r>
            <a:endParaRPr lang="en-US" sz="1600" dirty="0"/>
          </a:p>
          <a:p>
            <a:pPr marL="228600" indent="-228600">
              <a:spcAft>
                <a:spcPts val="400"/>
              </a:spcAft>
              <a:buSzPct val="100000"/>
              <a:buChar char="•"/>
            </a:pPr>
            <a:r>
              <a:rPr lang="en-US" sz="1600" dirty="0">
                <a:solidFill>
                  <a:srgbClr val="3A464C"/>
                </a:solidFill>
                <a:latin typeface="Calibri" pitchFamily="34" charset="0"/>
                <a:ea typeface="Calibri" pitchFamily="34" charset="-122"/>
                <a:cs typeface="Calibri" pitchFamily="34" charset="-120"/>
              </a:rPr>
              <a:t>Closed book: no notes, no phones [to be confirmed]</a:t>
            </a:r>
            <a:endParaRPr lang="en-US" sz="1600" dirty="0"/>
          </a:p>
          <a:p>
            <a:pPr marL="228600" indent="-228600">
              <a:spcAft>
                <a:spcPts val="400"/>
              </a:spcAft>
              <a:buSzPct val="100000"/>
              <a:buChar char="•"/>
            </a:pPr>
            <a:r>
              <a:rPr lang="en-US" sz="1600" dirty="0">
                <a:solidFill>
                  <a:srgbClr val="3A464C"/>
                </a:solidFill>
                <a:latin typeface="Calibri" pitchFamily="34" charset="0"/>
                <a:ea typeface="Calibri" pitchFamily="34" charset="-122"/>
                <a:cs typeface="Calibri" pitchFamily="34" charset="-120"/>
              </a:rPr>
              <a:t>Formula sheet provided: [yes / no — to be confirmed]</a:t>
            </a:r>
            <a:endParaRPr lang="en-US" sz="1600" dirty="0"/>
          </a:p>
        </p:txBody>
      </p:sp>
      <p:sp>
        <p:nvSpPr>
          <p:cNvPr id="12" name="Shape 10"/>
          <p:cNvSpPr/>
          <p:nvPr/>
        </p:nvSpPr>
        <p:spPr>
          <a:xfrm>
            <a:off x="8107680" y="1508760"/>
            <a:ext cx="3550920" cy="3749040"/>
          </a:xfrm>
          <a:prstGeom prst="roundRect">
            <a:avLst>
              <a:gd name="adj" fmla="val 1545"/>
            </a:avLst>
          </a:prstGeom>
          <a:solidFill>
            <a:srgbClr val="F2F2F2"/>
          </a:solidFill>
          <a:ln/>
          <a:effectLst>
            <a:outerShdw sx="100000" sy="100000" kx="0" ky="0" algn="bl" rotWithShape="0" blurRad="101600" dist="25400" dir="5400000">
              <a:srgbClr val="000000">
                <a:alpha val="12000"/>
              </a:srgbClr>
            </a:outerShdw>
          </a:effectLst>
        </p:spPr>
        <p:txBody>
          <a:bodyPr/>
          <a:p/>
        </p:txBody>
      </p:sp>
      <p:sp>
        <p:nvSpPr>
          <p:cNvPr id="13" name="Text 11"/>
          <p:cNvSpPr txBox="1"/>
          <p:nvPr/>
        </p:nvSpPr>
        <p:spPr>
          <a:xfrm>
            <a:off x="8336280" y="1691640"/>
            <a:ext cx="3093720" cy="384048"/>
          </a:xfrm>
          <a:prstGeom prst="rect">
            <a:avLst/>
          </a:prstGeom>
          <a:noFill/>
          <a:ln/>
        </p:spPr>
        <p:txBody>
          <a:bodyPr wrap="square" lIns="0" tIns="0" rIns="0" bIns="0" rtlCol="0" anchor="ctr"/>
          <a:lstStyle/>
          <a:p>
            <a:pPr indent="0" marL="0">
              <a:buNone/>
            </a:pPr>
            <a:r>
              <a:rPr lang="en-US" sz="1600" b="1" dirty="0">
                <a:solidFill>
                  <a:srgbClr val="028090"/>
                </a:solidFill>
                <a:latin typeface="Cambria" pitchFamily="34" charset="0"/>
                <a:ea typeface="Cambria" pitchFamily="34" charset="-122"/>
                <a:cs typeface="Cambria" pitchFamily="34" charset="-120"/>
              </a:rPr>
              <a:t>Format (as in the sample paper)</a:t>
            </a:r>
            <a:endParaRPr lang="en-US" sz="1600" dirty="0"/>
          </a:p>
        </p:txBody>
      </p:sp>
      <p:sp>
        <p:nvSpPr>
          <p:cNvPr id="14" name="Text 12"/>
          <p:cNvSpPr txBox="1"/>
          <p:nvPr/>
        </p:nvSpPr>
        <p:spPr>
          <a:xfrm>
            <a:off x="8336280" y="2148840"/>
            <a:ext cx="3093720" cy="2971800"/>
          </a:xfrm>
          <a:prstGeom prst="rect">
            <a:avLst/>
          </a:prstGeom>
          <a:noFill/>
          <a:ln/>
        </p:spPr>
        <p:txBody>
          <a:bodyPr wrap="square" lIns="0" tIns="0" rIns="0" bIns="0" rtlCol="0" anchor="t"/>
          <a:lstStyle/>
          <a:p>
            <a:pPr marL="228600" indent="-228600">
              <a:spcAft>
                <a:spcPts val="400"/>
              </a:spcAft>
              <a:buSzPct val="100000"/>
              <a:buChar char="•"/>
            </a:pPr>
            <a:r>
              <a:rPr lang="en-US" sz="1600" dirty="0">
                <a:solidFill>
                  <a:srgbClr val="3A464C"/>
                </a:solidFill>
                <a:latin typeface="Calibri" pitchFamily="34" charset="0"/>
                <a:ea typeface="Calibri" pitchFamily="34" charset="-122"/>
                <a:cs typeface="Calibri" pitchFamily="34" charset="-120"/>
              </a:rPr>
              <a:t>Part A: 10 multiple-choice questions × 2 points</a:t>
            </a:r>
            <a:endParaRPr lang="en-US" sz="1600" dirty="0"/>
          </a:p>
          <a:p>
            <a:pPr marL="228600" indent="-228600">
              <a:spcAft>
                <a:spcPts val="400"/>
              </a:spcAft>
              <a:buSzPct val="100000"/>
              <a:buChar char="•"/>
            </a:pPr>
            <a:r>
              <a:rPr lang="en-US" sz="1600" dirty="0">
                <a:solidFill>
                  <a:srgbClr val="3A464C"/>
                </a:solidFill>
                <a:latin typeface="Calibri" pitchFamily="34" charset="0"/>
                <a:ea typeface="Calibri" pitchFamily="34" charset="-122"/>
                <a:cs typeface="Calibri" pitchFamily="34" charset="-120"/>
              </a:rPr>
              <a:t>Part B: 4 short-answer questions × 5 points</a:t>
            </a:r>
            <a:endParaRPr lang="en-US" sz="1600" dirty="0"/>
          </a:p>
          <a:p>
            <a:pPr marL="228600" indent="-228600">
              <a:spcAft>
                <a:spcPts val="400"/>
              </a:spcAft>
              <a:buSzPct val="100000"/>
              <a:buChar char="•"/>
            </a:pPr>
            <a:r>
              <a:rPr lang="en-US" sz="1600" dirty="0">
                <a:solidFill>
                  <a:srgbClr val="3A464C"/>
                </a:solidFill>
                <a:latin typeface="Calibri" pitchFamily="34" charset="0"/>
                <a:ea typeface="Calibri" pitchFamily="34" charset="-122"/>
                <a:cs typeface="Calibri" pitchFamily="34" charset="-120"/>
              </a:rPr>
              <a:t>Part C: 5 numerical problems, 60 points</a:t>
            </a:r>
            <a:endParaRPr lang="en-US" sz="1600" dirty="0"/>
          </a:p>
          <a:p>
            <a:pPr marL="228600" indent="-228600">
              <a:spcAft>
                <a:spcPts val="400"/>
              </a:spcAft>
              <a:buSzPct val="100000"/>
              <a:buChar char="•"/>
            </a:pPr>
            <a:r>
              <a:rPr lang="en-US" sz="1600" dirty="0">
                <a:solidFill>
                  <a:srgbClr val="3A464C"/>
                </a:solidFill>
                <a:latin typeface="Calibri" pitchFamily="34" charset="0"/>
                <a:ea typeface="Calibri" pitchFamily="34" charset="-122"/>
                <a:cs typeface="Calibri" pitchFamily="34" charset="-120"/>
              </a:rPr>
              <a:t>Total: 100 points</a:t>
            </a:r>
            <a:endParaRPr lang="en-US" sz="1600" dirty="0"/>
          </a:p>
        </p:txBody>
      </p:sp>
      <p:sp>
        <p:nvSpPr>
          <p:cNvPr id="15" name="Shape 13"/>
          <p:cNvSpPr/>
          <p:nvPr/>
        </p:nvSpPr>
        <p:spPr>
          <a:xfrm>
            <a:off x="548640" y="5486400"/>
            <a:ext cx="11109960" cy="777240"/>
          </a:xfrm>
          <a:prstGeom prst="roundRect">
            <a:avLst>
              <a:gd name="adj" fmla="val 7059"/>
            </a:avLst>
          </a:prstGeom>
          <a:solidFill>
            <a:srgbClr val="36454F"/>
          </a:solidFill>
          <a:ln/>
          <a:effectLst>
            <a:outerShdw sx="100000" sy="100000" kx="0" ky="0" algn="bl" rotWithShape="0" blurRad="101600" dist="25400" dir="5400000">
              <a:srgbClr val="000000">
                <a:alpha val="12000"/>
              </a:srgbClr>
            </a:outerShdw>
          </a:effectLst>
        </p:spPr>
        <p:txBody>
          <a:bodyPr/>
          <a:p/>
        </p:txBody>
      </p:sp>
      <p:sp>
        <p:nvSpPr>
          <p:cNvPr id="16" name="Text 14"/>
          <p:cNvSpPr txBox="1"/>
          <p:nvPr/>
        </p:nvSpPr>
        <p:spPr>
          <a:xfrm>
            <a:off x="777240" y="5486400"/>
            <a:ext cx="10652760" cy="777240"/>
          </a:xfrm>
          <a:prstGeom prst="rect">
            <a:avLst/>
          </a:prstGeom>
          <a:noFill/>
          <a:ln/>
        </p:spPr>
        <p:txBody>
          <a:bodyPr wrap="square" lIns="0" tIns="0" rIns="0" bIns="0" rtlCol="0" anchor="ctr"/>
          <a:lstStyle/>
          <a:p>
            <a:pPr indent="0" marL="0">
              <a:buNone/>
            </a:pPr>
            <a:r>
              <a:rPr lang="en-US" sz="1400" dirty="0">
                <a:solidFill>
                  <a:srgbClr val="F2F2F2"/>
                </a:solidFill>
                <a:latin typeface="Calibri" pitchFamily="34" charset="0"/>
                <a:ea typeface="Calibri" pitchFamily="34" charset="-122"/>
                <a:cs typeface="Calibri" pitchFamily="34" charset="-120"/>
              </a:rPr>
              <a:t>Everything in [square brackets] will be confirmed by the instructor on the course Telegram channel. Check it before the exam day.</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en-US" sz="1200" b="1" spc="200" kern="0" dirty="0">
                <a:solidFill>
                  <a:srgbClr val="02C39A"/>
                </a:solidFill>
                <a:latin typeface="Calibri" pitchFamily="34" charset="0"/>
                <a:ea typeface="Calibri" pitchFamily="34" charset="-122"/>
                <a:cs typeface="Calibri" pitchFamily="34" charset="-120"/>
              </a:rPr>
              <a:t>THE EXAM</a:t>
            </a:r>
            <a:endParaRPr lang="en-US"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en-US" sz="3000" b="1" dirty="0">
                <a:solidFill>
                  <a:srgbClr val="36454F"/>
                </a:solidFill>
                <a:latin typeface="Cambria" pitchFamily="34" charset="0"/>
                <a:ea typeface="Cambria" pitchFamily="34" charset="-122"/>
                <a:cs typeface="Cambria" pitchFamily="34" charset="-120"/>
              </a:rPr>
              <a:t>What Is Covered: Weeks 1–7</a:t>
            </a:r>
            <a:endParaRPr lang="en-US" sz="3000" dirty="0"/>
          </a:p>
        </p:txBody>
      </p:sp>
      <p:sp>
        <p:nvSpPr>
          <p:cNvPr id="4" name="Text 2"/>
          <p:cNvSpPr txBox="1"/>
          <p:nvPr/>
        </p:nvSpPr>
        <p:spPr>
          <a:xfrm>
            <a:off x="548640" y="6528816"/>
            <a:ext cx="6400800" cy="274320"/>
          </a:xfrm>
          <a:prstGeom prst="rect">
            <a:avLst/>
          </a:prstGeom>
          <a:noFill/>
          <a:ln/>
        </p:spPr>
        <p:txBody>
          <a:bodyPr wrap="square" lIns="0" tIns="0" rIns="0" bIns="0" rtlCol="0" anchor="ctr"/>
          <a:lstStyle/>
          <a:p>
            <a:pPr indent="0" marL="0">
              <a:buNone/>
            </a:pPr>
            <a:r>
              <a:rPr lang="en-US" sz="900" dirty="0">
                <a:solidFill>
                  <a:srgbClr val="6B7679"/>
                </a:solidFill>
                <a:latin typeface="Calibri" pitchFamily="34" charset="0"/>
                <a:ea typeface="Calibri" pitchFamily="34" charset="-122"/>
                <a:cs typeface="Calibri" pitchFamily="34" charset="-120"/>
              </a:rPr>
              <a:t>MCMP117 — Fundamentals of Operating Systems</a:t>
            </a:r>
            <a:endParaRPr lang="en-US" sz="900" dirty="0"/>
          </a:p>
        </p:txBody>
      </p:sp>
      <p:sp>
        <p:nvSpPr>
          <p:cNvPr id="5" name="Text 3"/>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en-US" sz="900" dirty="0">
                <a:solidFill>
                  <a:srgbClr val="6B7679"/>
                </a:solidFill>
                <a:latin typeface="Calibri" pitchFamily="34" charset="0"/>
                <a:ea typeface="Calibri" pitchFamily="34" charset="-122"/>
                <a:cs typeface="Calibri" pitchFamily="34" charset="-120"/>
              </a:rPr>
              <a:t>Week 8  ·  5</a:t>
            </a:r>
            <a:endParaRPr lang="en-US" sz="9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48640" y="1554480"/>
          <a:ext cx="11109960" cy="914400"/>
        </p:xfrm>
        <a:graphic>
          <a:graphicData uri="http://schemas.openxmlformats.org/drawingml/2006/table">
            <a:tbl>
              <a:tblPr/>
              <a:tblGrid>
                <a:gridCol w="868680"/>
                <a:gridCol w="5486400"/>
                <a:gridCol w="4754880"/>
              </a:tblGrid>
              <a:tr h="0">
                <a:tc>
                  <a:txBody>
                    <a:bodyPr/>
                    <a:lstStyle/>
                    <a:p>
                      <a:pPr indent="0" marL="0">
                        <a:buNone/>
                      </a:pPr>
                      <a:r>
                        <a:rPr lang="en-US" sz="1550" b="1" dirty="0">
                          <a:solidFill>
                            <a:srgbClr val="FFFFFF"/>
                          </a:solidFill>
                          <a:latin typeface="Cambria" pitchFamily="34" charset="0"/>
                          <a:ea typeface="Cambria" pitchFamily="34" charset="-122"/>
                          <a:cs typeface="Cambria" pitchFamily="34" charset="-120"/>
                        </a:rPr>
                        <a:t>Week</a:t>
                      </a:r>
                      <a:endParaRPr lang="en-US" sz="1550" dirty="0">
                        <a:latin typeface="Cambria" charset="0"/>
                        <a:ea typeface="Cambria" charset="0"/>
                        <a:cs typeface="Cambria"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36454F"/>
                    </a:solidFill>
                  </a:tcPr>
                </a:tc>
                <a:tc>
                  <a:txBody>
                    <a:bodyPr/>
                    <a:lstStyle/>
                    <a:p>
                      <a:pPr indent="0" marL="0">
                        <a:buNone/>
                      </a:pPr>
                      <a:r>
                        <a:rPr lang="en-US" sz="1550" b="1" dirty="0">
                          <a:solidFill>
                            <a:srgbClr val="FFFFFF"/>
                          </a:solidFill>
                          <a:latin typeface="Cambria" pitchFamily="34" charset="0"/>
                          <a:ea typeface="Cambria" pitchFamily="34" charset="-122"/>
                          <a:cs typeface="Cambria" pitchFamily="34" charset="-120"/>
                        </a:rPr>
                        <a:t>Topics</a:t>
                      </a:r>
                      <a:endParaRPr lang="en-US" sz="1550" dirty="0">
                        <a:latin typeface="Cambria" charset="0"/>
                        <a:ea typeface="Cambria" charset="0"/>
                        <a:cs typeface="Cambria"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36454F"/>
                    </a:solidFill>
                  </a:tcPr>
                </a:tc>
                <a:tc>
                  <a:txBody>
                    <a:bodyPr/>
                    <a:lstStyle/>
                    <a:p>
                      <a:pPr indent="0" marL="0">
                        <a:buNone/>
                      </a:pPr>
                      <a:r>
                        <a:rPr lang="en-US" sz="1550" b="1" dirty="0">
                          <a:solidFill>
                            <a:srgbClr val="FFFFFF"/>
                          </a:solidFill>
                          <a:latin typeface="Cambria" pitchFamily="34" charset="0"/>
                          <a:ea typeface="Cambria" pitchFamily="34" charset="-122"/>
                          <a:cs typeface="Cambria" pitchFamily="34" charset="-120"/>
                        </a:rPr>
                        <a:t>Typical questions</a:t>
                      </a:r>
                      <a:endParaRPr lang="en-US" sz="1550" dirty="0">
                        <a:latin typeface="Cambria" charset="0"/>
                        <a:ea typeface="Cambria" charset="0"/>
                        <a:cs typeface="Cambria"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36454F"/>
                    </a:solidFill>
                  </a:tcPr>
                </a:tc>
              </a:tr>
              <a:tr h="0">
                <a:tc>
                  <a:txBody>
                    <a:bodyPr/>
                    <a:lstStyle/>
                    <a:p>
                      <a:pPr indent="0" marL="0">
                        <a:buNone/>
                      </a:pPr>
                      <a:r>
                        <a:rPr lang="en-US" sz="1450" b="1" dirty="0">
                          <a:solidFill>
                            <a:srgbClr val="3A464C"/>
                          </a:solidFill>
                          <a:latin typeface="Calibri" pitchFamily="34" charset="0"/>
                          <a:ea typeface="Calibri" pitchFamily="34" charset="-122"/>
                          <a:cs typeface="Calibri" pitchFamily="34" charset="-120"/>
                        </a:rPr>
                        <a:t>W1</a:t>
                      </a:r>
                      <a:endParaRPr lang="en-US" sz="14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en-US" sz="1450" dirty="0">
                          <a:solidFill>
                            <a:srgbClr val="3A464C"/>
                          </a:solidFill>
                          <a:latin typeface="Calibri" pitchFamily="34" charset="0"/>
                          <a:ea typeface="Calibri" pitchFamily="34" charset="-122"/>
                          <a:cs typeface="Calibri" pitchFamily="34" charset="-120"/>
                        </a:rPr>
                        <a:t>History: batch, multiprogramming, time-sharing, UNIX, Linux</a:t>
                      </a:r>
                      <a:endParaRPr lang="en-US" sz="14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en-US" sz="1450" dirty="0">
                          <a:solidFill>
                            <a:srgbClr val="3A464C"/>
                          </a:solidFill>
                          <a:latin typeface="Calibri" pitchFamily="34" charset="0"/>
                          <a:ea typeface="Calibri" pitchFamily="34" charset="-122"/>
                          <a:cs typeface="Calibri" pitchFamily="34" charset="-120"/>
                        </a:rPr>
                        <a:t>Milestones; U = t_run/(t_run + t_setup), U(n) = 1 − pⁿ</a:t>
                      </a:r>
                      <a:endParaRPr lang="en-US" sz="14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r>
              <a:tr h="0">
                <a:tc>
                  <a:txBody>
                    <a:bodyPr/>
                    <a:lstStyle/>
                    <a:p>
                      <a:pPr indent="0" marL="0">
                        <a:buNone/>
                      </a:pPr>
                      <a:r>
                        <a:rPr lang="en-US" sz="1450" b="1" dirty="0">
                          <a:solidFill>
                            <a:srgbClr val="3A464C"/>
                          </a:solidFill>
                          <a:latin typeface="Calibri" pitchFamily="34" charset="0"/>
                          <a:ea typeface="Calibri" pitchFamily="34" charset="-122"/>
                          <a:cs typeface="Calibri" pitchFamily="34" charset="-120"/>
                        </a:rPr>
                        <a:t>W2</a:t>
                      </a:r>
                      <a:endParaRPr lang="en-US" sz="14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en-US" sz="1450" dirty="0">
                          <a:solidFill>
                            <a:srgbClr val="3A464C"/>
                          </a:solidFill>
                          <a:latin typeface="Calibri" pitchFamily="34" charset="0"/>
                          <a:ea typeface="Calibri" pitchFamily="34" charset="-122"/>
                          <a:cs typeface="Calibri" pitchFamily="34" charset="-120"/>
                        </a:rPr>
                        <a:t>Definitions, views, goals, interrupts, storage hierarchy, dual mode, OS structures</a:t>
                      </a:r>
                      <a:endParaRPr lang="en-US" sz="14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en-US" sz="1450" dirty="0">
                          <a:solidFill>
                            <a:srgbClr val="3A464C"/>
                          </a:solidFill>
                          <a:latin typeface="Calibri" pitchFamily="34" charset="0"/>
                          <a:ea typeface="Calibri" pitchFamily="34" charset="-122"/>
                          <a:cs typeface="Calibri" pitchFamily="34" charset="-120"/>
                        </a:rPr>
                        <a:t>Explain / compare; mode bit; monolithic vs microkernel</a:t>
                      </a:r>
                      <a:endParaRPr lang="en-US" sz="14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r>
              <a:tr h="0">
                <a:tc>
                  <a:txBody>
                    <a:bodyPr/>
                    <a:lstStyle/>
                    <a:p>
                      <a:pPr indent="0" marL="0">
                        <a:buNone/>
                      </a:pPr>
                      <a:r>
                        <a:rPr lang="en-US" sz="1450" b="1" dirty="0">
                          <a:solidFill>
                            <a:srgbClr val="3A464C"/>
                          </a:solidFill>
                          <a:latin typeface="Calibri" pitchFamily="34" charset="0"/>
                          <a:ea typeface="Calibri" pitchFamily="34" charset="-122"/>
                          <a:cs typeface="Calibri" pitchFamily="34" charset="-120"/>
                        </a:rPr>
                        <a:t>W3</a:t>
                      </a:r>
                      <a:endParaRPr lang="en-US" sz="14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en-US" sz="1450" dirty="0">
                          <a:solidFill>
                            <a:srgbClr val="3A464C"/>
                          </a:solidFill>
                          <a:latin typeface="Calibri" pitchFamily="34" charset="0"/>
                          <a:ea typeface="Calibri" pitchFamily="34" charset="-122"/>
                          <a:cs typeface="Calibri" pitchFamily="34" charset="-120"/>
                        </a:rPr>
                        <a:t>Services, system calls, process, states, PCB, context switch, fork()</a:t>
                      </a:r>
                      <a:endParaRPr lang="en-US" sz="14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en-US" sz="1450" dirty="0">
                          <a:solidFill>
                            <a:srgbClr val="3A464C"/>
                          </a:solidFill>
                          <a:latin typeface="Calibri" pitchFamily="34" charset="0"/>
                          <a:ea typeface="Calibri" pitchFamily="34" charset="-122"/>
                          <a:cs typeface="Calibri" pitchFamily="34" charset="-120"/>
                        </a:rPr>
                        <a:t>State diagram; overhead s/(q + s); count fork() processes</a:t>
                      </a:r>
                      <a:endParaRPr lang="en-US" sz="14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r>
              <a:tr h="0">
                <a:tc>
                  <a:txBody>
                    <a:bodyPr/>
                    <a:lstStyle/>
                    <a:p>
                      <a:pPr indent="0" marL="0">
                        <a:buNone/>
                      </a:pPr>
                      <a:r>
                        <a:rPr lang="en-US" sz="1450" b="1" dirty="0">
                          <a:solidFill>
                            <a:srgbClr val="3A464C"/>
                          </a:solidFill>
                          <a:latin typeface="Calibri" pitchFamily="34" charset="0"/>
                          <a:ea typeface="Calibri" pitchFamily="34" charset="-122"/>
                          <a:cs typeface="Calibri" pitchFamily="34" charset="-120"/>
                        </a:rPr>
                        <a:t>W4</a:t>
                      </a:r>
                      <a:endParaRPr lang="en-US" sz="14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en-US" sz="1450" dirty="0">
                          <a:solidFill>
                            <a:srgbClr val="3A464C"/>
                          </a:solidFill>
                          <a:latin typeface="Calibri" pitchFamily="34" charset="0"/>
                          <a:ea typeface="Calibri" pitchFamily="34" charset="-122"/>
                          <a:cs typeface="Calibri" pitchFamily="34" charset="-120"/>
                        </a:rPr>
                        <a:t>Threads, multithreading models, Amdahl's law, scheduling criteria</a:t>
                      </a:r>
                      <a:endParaRPr lang="en-US" sz="14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en-US" sz="1450" dirty="0">
                          <a:solidFill>
                            <a:srgbClr val="3A464C"/>
                          </a:solidFill>
                          <a:latin typeface="Calibri" pitchFamily="34" charset="0"/>
                          <a:ea typeface="Calibri" pitchFamily="34" charset="-122"/>
                          <a:cs typeface="Calibri" pitchFamily="34" charset="-120"/>
                        </a:rPr>
                        <a:t>Shared vs private; speedup; turnaround, waiting, response</a:t>
                      </a:r>
                      <a:endParaRPr lang="en-US" sz="14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r>
              <a:tr h="0">
                <a:tc>
                  <a:txBody>
                    <a:bodyPr/>
                    <a:lstStyle/>
                    <a:p>
                      <a:pPr indent="0" marL="0">
                        <a:buNone/>
                      </a:pPr>
                      <a:r>
                        <a:rPr lang="en-US" sz="1450" b="1" dirty="0">
                          <a:solidFill>
                            <a:srgbClr val="3A464C"/>
                          </a:solidFill>
                          <a:latin typeface="Calibri" pitchFamily="34" charset="0"/>
                          <a:ea typeface="Calibri" pitchFamily="34" charset="-122"/>
                          <a:cs typeface="Calibri" pitchFamily="34" charset="-120"/>
                        </a:rPr>
                        <a:t>W5</a:t>
                      </a:r>
                      <a:endParaRPr lang="en-US" sz="14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en-US" sz="1450" dirty="0">
                          <a:solidFill>
                            <a:srgbClr val="3A464C"/>
                          </a:solidFill>
                          <a:latin typeface="Calibri" pitchFamily="34" charset="0"/>
                          <a:ea typeface="Calibri" pitchFamily="34" charset="-122"/>
                          <a:cs typeface="Calibri" pitchFamily="34" charset="-120"/>
                        </a:rPr>
                        <a:t>FCFS, SJF, SRTF, Priority, RR; race, critical section, mutex, semaphores</a:t>
                      </a:r>
                      <a:endParaRPr lang="en-US" sz="14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en-US" sz="1450" dirty="0">
                          <a:solidFill>
                            <a:srgbClr val="3A464C"/>
                          </a:solidFill>
                          <a:latin typeface="Calibri" pitchFamily="34" charset="0"/>
                          <a:ea typeface="Calibri" pitchFamily="34" charset="-122"/>
                          <a:cs typeface="Calibri" pitchFamily="34" charset="-120"/>
                        </a:rPr>
                        <a:t>Gantt chart + average waiting time; race outcomes</a:t>
                      </a:r>
                      <a:endParaRPr lang="en-US" sz="14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r>
              <a:tr h="0">
                <a:tc>
                  <a:txBody>
                    <a:bodyPr/>
                    <a:lstStyle/>
                    <a:p>
                      <a:pPr indent="0" marL="0">
                        <a:buNone/>
                      </a:pPr>
                      <a:r>
                        <a:rPr lang="en-US" sz="1450" b="1" dirty="0">
                          <a:solidFill>
                            <a:srgbClr val="3A464C"/>
                          </a:solidFill>
                          <a:latin typeface="Calibri" pitchFamily="34" charset="0"/>
                          <a:ea typeface="Calibri" pitchFamily="34" charset="-122"/>
                          <a:cs typeface="Calibri" pitchFamily="34" charset="-120"/>
                        </a:rPr>
                        <a:t>W6</a:t>
                      </a:r>
                      <a:endParaRPr lang="en-US" sz="14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en-US" sz="1450" dirty="0">
                          <a:solidFill>
                            <a:srgbClr val="3A464C"/>
                          </a:solidFill>
                          <a:latin typeface="Calibri" pitchFamily="34" charset="0"/>
                          <a:ea typeface="Calibri" pitchFamily="34" charset="-122"/>
                          <a:cs typeface="Calibri" pitchFamily="34" charset="-120"/>
                        </a:rPr>
                        <a:t>Binding, MMU, swapping, fits, fragmentation, paging, TLB, segmentation</a:t>
                      </a:r>
                      <a:endParaRPr lang="en-US" sz="14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en-US" sz="1450" dirty="0">
                          <a:solidFill>
                            <a:srgbClr val="3A464C"/>
                          </a:solidFill>
                          <a:latin typeface="Calibri" pitchFamily="34" charset="0"/>
                          <a:ea typeface="Calibri" pitchFamily="34" charset="-122"/>
                          <a:cs typeface="Calibri" pitchFamily="34" charset="-120"/>
                        </a:rPr>
                        <a:t>Fits; address translation; EAT with a TLB</a:t>
                      </a:r>
                      <a:endParaRPr lang="en-US" sz="14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r>
              <a:tr h="0">
                <a:tc>
                  <a:txBody>
                    <a:bodyPr/>
                    <a:lstStyle/>
                    <a:p>
                      <a:pPr indent="0" marL="0">
                        <a:buNone/>
                      </a:pPr>
                      <a:r>
                        <a:rPr lang="en-US" sz="1450" b="1" dirty="0">
                          <a:solidFill>
                            <a:srgbClr val="3A464C"/>
                          </a:solidFill>
                          <a:latin typeface="Calibri" pitchFamily="34" charset="0"/>
                          <a:ea typeface="Calibri" pitchFamily="34" charset="-122"/>
                          <a:cs typeface="Calibri" pitchFamily="34" charset="-120"/>
                        </a:rPr>
                        <a:t>W7</a:t>
                      </a:r>
                      <a:endParaRPr lang="en-US" sz="14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en-US" sz="1450" dirty="0">
                          <a:solidFill>
                            <a:srgbClr val="3A464C"/>
                          </a:solidFill>
                          <a:latin typeface="Calibri" pitchFamily="34" charset="0"/>
                          <a:ea typeface="Calibri" pitchFamily="34" charset="-122"/>
                          <a:cs typeface="Calibri" pitchFamily="34" charset="-120"/>
                        </a:rPr>
                        <a:t>Demand paging, page faults, FIFO/OPT/LRU, thrashing, files, directories</a:t>
                      </a:r>
                      <a:endParaRPr lang="en-US" sz="14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en-US" sz="1450" dirty="0">
                          <a:solidFill>
                            <a:srgbClr val="3A464C"/>
                          </a:solidFill>
                          <a:latin typeface="Calibri" pitchFamily="34" charset="0"/>
                          <a:ea typeface="Calibri" pitchFamily="34" charset="-122"/>
                          <a:cs typeface="Calibri" pitchFamily="34" charset="-120"/>
                        </a:rPr>
                        <a:t>Frame tables; EAT with p; block arithmetic; links</a:t>
                      </a:r>
                      <a:endParaRPr lang="en-US" sz="14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r>
            </a:tbl>
          </a:graphicData>
        </a:graphic>
      </p:graphicFrame>
      <p:sp>
        <p:nvSpPr>
          <p:cNvPr id="7" name="Shape 4"/>
          <p:cNvSpPr/>
          <p:nvPr/>
        </p:nvSpPr>
        <p:spPr>
          <a:xfrm>
            <a:off x="548640" y="5486400"/>
            <a:ext cx="11109960" cy="777240"/>
          </a:xfrm>
          <a:prstGeom prst="roundRect">
            <a:avLst>
              <a:gd name="adj" fmla="val 7059"/>
            </a:avLst>
          </a:prstGeom>
          <a:solidFill>
            <a:srgbClr val="36454F"/>
          </a:solidFill>
          <a:ln/>
          <a:effectLst>
            <a:outerShdw sx="100000" sy="100000" kx="0" ky="0" algn="bl" rotWithShape="0" blurRad="101600" dist="25400" dir="5400000">
              <a:srgbClr val="000000">
                <a:alpha val="12000"/>
              </a:srgbClr>
            </a:outerShdw>
          </a:effectLst>
        </p:spPr>
        <p:txBody>
          <a:bodyPr/>
          <a:p/>
        </p:txBody>
      </p:sp>
      <p:sp>
        <p:nvSpPr>
          <p:cNvPr id="8" name="Text 5"/>
          <p:cNvSpPr txBox="1"/>
          <p:nvPr/>
        </p:nvSpPr>
        <p:spPr>
          <a:xfrm>
            <a:off x="777240" y="5486400"/>
            <a:ext cx="10652760" cy="777240"/>
          </a:xfrm>
          <a:prstGeom prst="rect">
            <a:avLst/>
          </a:prstGeom>
          <a:noFill/>
          <a:ln/>
        </p:spPr>
        <p:txBody>
          <a:bodyPr wrap="square" lIns="0" tIns="0" rIns="0" bIns="0" rtlCol="0" anchor="ctr"/>
          <a:lstStyle/>
          <a:p>
            <a:pPr indent="0" marL="0">
              <a:buNone/>
            </a:pPr>
            <a:r>
              <a:rPr lang="en-US" sz="1400" dirty="0">
                <a:solidFill>
                  <a:srgbClr val="F2F2F2"/>
                </a:solidFill>
                <a:latin typeface="Calibri" pitchFamily="34" charset="0"/>
                <a:ea typeface="Calibri" pitchFamily="34" charset="-122"/>
                <a:cs typeface="Calibri" pitchFamily="34" charset="-120"/>
              </a:rPr>
              <a:t>Parts A and B test definitions and explanations from every week; Part C (numerical problems) draws mainly on Weeks 5, 6 and 7.</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212121"/>
        </a:solidFill>
      </p:bgPr>
    </p:bg>
    <p:spTree>
      <p:nvGrpSpPr>
        <p:cNvPr id="1" name=""/>
        <p:cNvGrpSpPr/>
        <p:nvPr/>
      </p:nvGrpSpPr>
      <p:grpSpPr>
        <a:xfrm>
          <a:off x="0" y="0"/>
          <a:ext cx="0" cy="0"/>
          <a:chOff x="0" y="0"/>
          <a:chExt cx="0" cy="0"/>
        </a:xfrm>
      </p:grpSpPr>
      <p:sp>
        <p:nvSpPr>
          <p:cNvPr id="2" name="Text 0"/>
          <p:cNvSpPr txBox="1"/>
          <p:nvPr/>
        </p:nvSpPr>
        <p:spPr>
          <a:xfrm>
            <a:off x="548640" y="2514600"/>
            <a:ext cx="9144000" cy="320040"/>
          </a:xfrm>
          <a:prstGeom prst="rect">
            <a:avLst/>
          </a:prstGeom>
          <a:noFill/>
          <a:ln/>
        </p:spPr>
        <p:txBody>
          <a:bodyPr wrap="square" lIns="0" tIns="0" rIns="0" bIns="0" rtlCol="0" anchor="ctr"/>
          <a:lstStyle/>
          <a:p>
            <a:pPr indent="0" marL="0">
              <a:buNone/>
            </a:pPr>
            <a:r>
              <a:rPr lang="en-US" sz="1300" b="1" spc="300" kern="0" dirty="0">
                <a:solidFill>
                  <a:srgbClr val="02C39A"/>
                </a:solidFill>
                <a:latin typeface="Calibri" pitchFamily="34" charset="0"/>
                <a:ea typeface="Calibri" pitchFamily="34" charset="-122"/>
                <a:cs typeface="Calibri" pitchFamily="34" charset="-120"/>
              </a:rPr>
              <a:t>PART 1</a:t>
            </a:r>
            <a:endParaRPr lang="en-US" sz="1300" dirty="0"/>
          </a:p>
        </p:txBody>
      </p:sp>
      <p:sp>
        <p:nvSpPr>
          <p:cNvPr id="3" name="Text 1"/>
          <p:cNvSpPr txBox="1"/>
          <p:nvPr/>
        </p:nvSpPr>
        <p:spPr>
          <a:xfrm>
            <a:off x="548640" y="2880360"/>
            <a:ext cx="10972800" cy="868680"/>
          </a:xfrm>
          <a:prstGeom prst="rect">
            <a:avLst/>
          </a:prstGeom>
          <a:noFill/>
          <a:ln/>
        </p:spPr>
        <p:txBody>
          <a:bodyPr wrap="square" lIns="0" tIns="0" rIns="0" bIns="0"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Recap: Weeks 1–7</a:t>
            </a:r>
            <a:endParaRPr lang="en-US" sz="3800" dirty="0"/>
          </a:p>
        </p:txBody>
      </p:sp>
      <p:sp>
        <p:nvSpPr>
          <p:cNvPr id="4" name="Text 2"/>
          <p:cNvSpPr txBox="1"/>
          <p:nvPr/>
        </p:nvSpPr>
        <p:spPr>
          <a:xfrm>
            <a:off x="548640" y="3794760"/>
            <a:ext cx="10515600" cy="457200"/>
          </a:xfrm>
          <a:prstGeom prst="rect">
            <a:avLst/>
          </a:prstGeom>
          <a:noFill/>
          <a:ln/>
        </p:spPr>
        <p:txBody>
          <a:bodyPr wrap="square" lIns="0" tIns="0" rIns="0" bIns="0" rtlCol="0" anchor="ctr"/>
          <a:lstStyle/>
          <a:p>
            <a:pPr indent="0" marL="0">
              <a:buNone/>
            </a:pPr>
            <a:r>
              <a:rPr lang="en-US" sz="1600" i="1" dirty="0">
                <a:solidFill>
                  <a:srgbClr val="F2F2F2"/>
                </a:solidFill>
                <a:latin typeface="Calibri" pitchFamily="34" charset="0"/>
                <a:ea typeface="Calibri" pitchFamily="34" charset="-122"/>
                <a:cs typeface="Calibri" pitchFamily="34" charset="-120"/>
              </a:rPr>
              <a:t>Definitions, diagrams and formulas you must know — in the words of the course notes.</a:t>
            </a:r>
            <a:endParaRPr lang="en-US" sz="1600" dirty="0"/>
          </a:p>
        </p:txBody>
      </p:sp>
      <p:sp>
        <p:nvSpPr>
          <p:cNvPr id="5" name="Text 3"/>
          <p:cNvSpPr txBox="1"/>
          <p:nvPr/>
        </p:nvSpPr>
        <p:spPr>
          <a:xfrm>
            <a:off x="548640" y="6528816"/>
            <a:ext cx="6400800" cy="274320"/>
          </a:xfrm>
          <a:prstGeom prst="rect">
            <a:avLst/>
          </a:prstGeom>
          <a:noFill/>
          <a:ln/>
        </p:spPr>
        <p:txBody>
          <a:bodyPr wrap="square" lIns="0" tIns="0" rIns="0" bIns="0" rtlCol="0" anchor="ctr"/>
          <a:lstStyle/>
          <a:p>
            <a:pPr indent="0" marL="0">
              <a:buNone/>
            </a:pPr>
            <a:r>
              <a:rPr lang="en-US" sz="900" dirty="0">
                <a:solidFill>
                  <a:srgbClr val="8A9AA0"/>
                </a:solidFill>
                <a:latin typeface="Calibri" pitchFamily="34" charset="0"/>
                <a:ea typeface="Calibri" pitchFamily="34" charset="-122"/>
                <a:cs typeface="Calibri" pitchFamily="34" charset="-120"/>
              </a:rPr>
              <a:t>MCMP117 — Fundamentals of Operating Systems</a:t>
            </a:r>
            <a:endParaRPr lang="en-US" sz="900" dirty="0"/>
          </a:p>
        </p:txBody>
      </p:sp>
      <p:sp>
        <p:nvSpPr>
          <p:cNvPr id="6" name="Text 4"/>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en-US" sz="900" dirty="0">
                <a:solidFill>
                  <a:srgbClr val="8A9AA0"/>
                </a:solidFill>
                <a:latin typeface="Calibri" pitchFamily="34" charset="0"/>
                <a:ea typeface="Calibri" pitchFamily="34" charset="-122"/>
                <a:cs typeface="Calibri" pitchFamily="34" charset="-120"/>
              </a:rPr>
              <a:t>Week 8  ·  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en-US" sz="1200" b="1" spc="200" kern="0" dirty="0">
                <a:solidFill>
                  <a:srgbClr val="02C39A"/>
                </a:solidFill>
                <a:latin typeface="Calibri" pitchFamily="34" charset="0"/>
                <a:ea typeface="Calibri" pitchFamily="34" charset="-122"/>
                <a:cs typeface="Calibri" pitchFamily="34" charset="-120"/>
              </a:rPr>
              <a:t>WEEK 1 · HISTORY</a:t>
            </a:r>
            <a:endParaRPr lang="en-US"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en-US" sz="3000" b="1" dirty="0">
                <a:solidFill>
                  <a:srgbClr val="36454F"/>
                </a:solidFill>
                <a:latin typeface="Cambria" pitchFamily="34" charset="0"/>
                <a:ea typeface="Cambria" pitchFamily="34" charset="-122"/>
                <a:cs typeface="Cambria" pitchFamily="34" charset="-120"/>
              </a:rPr>
              <a:t>Why Operating Systems Exist</a:t>
            </a:r>
            <a:endParaRPr lang="en-US" sz="3000" dirty="0"/>
          </a:p>
        </p:txBody>
      </p:sp>
      <p:sp>
        <p:nvSpPr>
          <p:cNvPr id="4" name="Text 2"/>
          <p:cNvSpPr txBox="1"/>
          <p:nvPr/>
        </p:nvSpPr>
        <p:spPr>
          <a:xfrm>
            <a:off x="548640" y="6528816"/>
            <a:ext cx="6400800" cy="274320"/>
          </a:xfrm>
          <a:prstGeom prst="rect">
            <a:avLst/>
          </a:prstGeom>
          <a:noFill/>
          <a:ln/>
        </p:spPr>
        <p:txBody>
          <a:bodyPr wrap="square" lIns="0" tIns="0" rIns="0" bIns="0" rtlCol="0" anchor="ctr"/>
          <a:lstStyle/>
          <a:p>
            <a:pPr indent="0" marL="0">
              <a:buNone/>
            </a:pPr>
            <a:r>
              <a:rPr lang="en-US" sz="900" dirty="0">
                <a:solidFill>
                  <a:srgbClr val="6B7679"/>
                </a:solidFill>
                <a:latin typeface="Calibri" pitchFamily="34" charset="0"/>
                <a:ea typeface="Calibri" pitchFamily="34" charset="-122"/>
                <a:cs typeface="Calibri" pitchFamily="34" charset="-120"/>
              </a:rPr>
              <a:t>MCMP117 — Fundamentals of Operating Systems</a:t>
            </a:r>
            <a:endParaRPr lang="en-US" sz="900" dirty="0"/>
          </a:p>
        </p:txBody>
      </p:sp>
      <p:sp>
        <p:nvSpPr>
          <p:cNvPr id="5" name="Text 3"/>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en-US" sz="900" dirty="0">
                <a:solidFill>
                  <a:srgbClr val="6B7679"/>
                </a:solidFill>
                <a:latin typeface="Calibri" pitchFamily="34" charset="0"/>
                <a:ea typeface="Calibri" pitchFamily="34" charset="-122"/>
                <a:cs typeface="Calibri" pitchFamily="34" charset="-120"/>
              </a:rPr>
              <a:t>Week 8  ·  7</a:t>
            </a:r>
            <a:endParaRPr lang="en-US" sz="900" dirty="0"/>
          </a:p>
        </p:txBody>
      </p:sp>
      <p:sp>
        <p:nvSpPr>
          <p:cNvPr id="6" name="Shape 4"/>
          <p:cNvSpPr/>
          <p:nvPr/>
        </p:nvSpPr>
        <p:spPr>
          <a:xfrm>
            <a:off x="10287000" y="274320"/>
            <a:ext cx="1371600" cy="329184"/>
          </a:xfrm>
          <a:prstGeom prst="roundRect">
            <a:avLst>
              <a:gd name="adj" fmla="val 13889"/>
            </a:avLst>
          </a:prstGeom>
          <a:solidFill>
            <a:srgbClr val="02C39A"/>
          </a:solidFill>
          <a:ln/>
        </p:spPr>
        <p:txBody>
          <a:bodyPr/>
          <a:p/>
        </p:txBody>
      </p:sp>
      <p:sp>
        <p:nvSpPr>
          <p:cNvPr id="7" name="Text 5"/>
          <p:cNvSpPr txBox="1"/>
          <p:nvPr/>
        </p:nvSpPr>
        <p:spPr>
          <a:xfrm>
            <a:off x="10287000" y="274320"/>
            <a:ext cx="1371600" cy="329184"/>
          </a:xfrm>
          <a:prstGeom prst="rect">
            <a:avLst/>
          </a:prstGeom>
          <a:noFill/>
          <a:ln/>
        </p:spPr>
        <p:txBody>
          <a:bodyPr wrap="square" lIns="38100" tIns="38100" rIns="38100" bIns="38100" rtlCol="0" anchor="ctr"/>
          <a:lstStyle/>
          <a:p>
            <a:pPr algn="ctr" indent="0" marL="0">
              <a:buNone/>
            </a:pPr>
            <a:r>
              <a:rPr lang="en-US" sz="1200" b="1" dirty="0">
                <a:solidFill>
                  <a:srgbClr val="212121"/>
                </a:solidFill>
                <a:latin typeface="Calibri" pitchFamily="34" charset="0"/>
                <a:ea typeface="Calibri" pitchFamily="34" charset="-122"/>
                <a:cs typeface="Calibri" pitchFamily="34" charset="-120"/>
              </a:rPr>
              <a:t>Week 1</a:t>
            </a:r>
            <a:endParaRPr lang="en-US" sz="1200" dirty="0"/>
          </a:p>
        </p:txBody>
      </p:sp>
      <p:sp>
        <p:nvSpPr>
          <p:cNvPr id="8" name="Shape 6"/>
          <p:cNvSpPr/>
          <p:nvPr/>
        </p:nvSpPr>
        <p:spPr>
          <a:xfrm>
            <a:off x="640080" y="2103120"/>
            <a:ext cx="10927080" cy="91"/>
          </a:xfrm>
          <a:prstGeom prst="line">
            <a:avLst/>
          </a:prstGeom>
          <a:noFill/>
          <a:ln w="25400">
            <a:solidFill>
              <a:srgbClr val="50808E"/>
            </a:solidFill>
            <a:prstDash val="solid"/>
          </a:ln>
        </p:spPr>
        <p:txBody>
          <a:bodyPr/>
          <a:p/>
        </p:txBody>
      </p:sp>
      <p:sp>
        <p:nvSpPr>
          <p:cNvPr id="9" name="Shape 7"/>
          <p:cNvSpPr/>
          <p:nvPr/>
        </p:nvSpPr>
        <p:spPr>
          <a:xfrm>
            <a:off x="1065276" y="2002536"/>
            <a:ext cx="201168" cy="201168"/>
          </a:xfrm>
          <a:prstGeom prst="ellipse">
            <a:avLst/>
          </a:prstGeom>
          <a:solidFill>
            <a:srgbClr val="02C39A"/>
          </a:solidFill>
          <a:ln/>
        </p:spPr>
        <p:txBody>
          <a:bodyPr/>
          <a:p/>
        </p:txBody>
      </p:sp>
      <p:sp>
        <p:nvSpPr>
          <p:cNvPr id="10" name="Text 8"/>
          <p:cNvSpPr txBox="1"/>
          <p:nvPr/>
        </p:nvSpPr>
        <p:spPr>
          <a:xfrm>
            <a:off x="548640" y="1600200"/>
            <a:ext cx="1234440" cy="292608"/>
          </a:xfrm>
          <a:prstGeom prst="rect">
            <a:avLst/>
          </a:prstGeom>
          <a:noFill/>
          <a:ln/>
        </p:spPr>
        <p:txBody>
          <a:bodyPr wrap="square" lIns="0" tIns="0" rIns="0" bIns="0" rtlCol="0" anchor="t"/>
          <a:lstStyle/>
          <a:p>
            <a:pPr algn="ctr" indent="0" marL="0">
              <a:buNone/>
            </a:pPr>
            <a:r>
              <a:rPr lang="en-US" sz="1200" b="1" dirty="0">
                <a:solidFill>
                  <a:srgbClr val="028090"/>
                </a:solidFill>
                <a:latin typeface="Calibri" pitchFamily="34" charset="0"/>
                <a:ea typeface="Calibri" pitchFamily="34" charset="-122"/>
                <a:cs typeface="Calibri" pitchFamily="34" charset="-120"/>
              </a:rPr>
              <a:t>1945</a:t>
            </a:r>
            <a:endParaRPr lang="en-US" sz="1200" dirty="0"/>
          </a:p>
        </p:txBody>
      </p:sp>
      <p:sp>
        <p:nvSpPr>
          <p:cNvPr id="11" name="Text 9"/>
          <p:cNvSpPr txBox="1"/>
          <p:nvPr/>
        </p:nvSpPr>
        <p:spPr>
          <a:xfrm>
            <a:off x="576072" y="2286000"/>
            <a:ext cx="1179576" cy="502920"/>
          </a:xfrm>
          <a:prstGeom prst="rect">
            <a:avLst/>
          </a:prstGeom>
          <a:noFill/>
          <a:ln/>
        </p:spPr>
        <p:txBody>
          <a:bodyPr wrap="square" lIns="0" tIns="0" rIns="0" bIns="0" rtlCol="0" anchor="t"/>
          <a:lstStyle/>
          <a:p>
            <a:pPr algn="ctr" indent="0" marL="0">
              <a:buNone/>
            </a:pPr>
            <a:r>
              <a:rPr lang="en-US" sz="1250" b="1" dirty="0">
                <a:solidFill>
                  <a:srgbClr val="36454F"/>
                </a:solidFill>
                <a:latin typeface="Cambria" pitchFamily="34" charset="0"/>
                <a:ea typeface="Cambria" pitchFamily="34" charset="-122"/>
                <a:cs typeface="Cambria" pitchFamily="34" charset="-120"/>
              </a:rPr>
              <a:t>ENIAC</a:t>
            </a:r>
            <a:endParaRPr lang="en-US" sz="1250" dirty="0"/>
          </a:p>
        </p:txBody>
      </p:sp>
      <p:sp>
        <p:nvSpPr>
          <p:cNvPr id="12" name="Text 10"/>
          <p:cNvSpPr txBox="1"/>
          <p:nvPr/>
        </p:nvSpPr>
        <p:spPr>
          <a:xfrm>
            <a:off x="594360" y="2788920"/>
            <a:ext cx="1143000" cy="640080"/>
          </a:xfrm>
          <a:prstGeom prst="rect">
            <a:avLst/>
          </a:prstGeom>
          <a:noFill/>
          <a:ln/>
        </p:spPr>
        <p:txBody>
          <a:bodyPr wrap="square" lIns="0" tIns="0" rIns="0" bIns="0" rtlCol="0" anchor="t"/>
          <a:lstStyle/>
          <a:p>
            <a:pPr algn="ctr" indent="0" marL="0">
              <a:buNone/>
            </a:pPr>
            <a:r>
              <a:rPr lang="en-US" sz="1100" dirty="0">
                <a:solidFill>
                  <a:srgbClr val="3A464C"/>
                </a:solidFill>
                <a:latin typeface="Calibri" pitchFamily="34" charset="0"/>
                <a:ea typeface="Calibri" pitchFamily="34" charset="-122"/>
                <a:cs typeface="Calibri" pitchFamily="34" charset="-120"/>
              </a:rPr>
              <a:t>no OS, one job, rewiring</a:t>
            </a:r>
            <a:endParaRPr lang="en-US" sz="1100" dirty="0"/>
          </a:p>
        </p:txBody>
      </p:sp>
      <p:sp>
        <p:nvSpPr>
          <p:cNvPr id="13" name="Shape 11"/>
          <p:cNvSpPr/>
          <p:nvPr/>
        </p:nvSpPr>
        <p:spPr>
          <a:xfrm>
            <a:off x="2299716" y="2002536"/>
            <a:ext cx="201168" cy="201168"/>
          </a:xfrm>
          <a:prstGeom prst="ellipse">
            <a:avLst/>
          </a:prstGeom>
          <a:solidFill>
            <a:srgbClr val="02C39A"/>
          </a:solidFill>
          <a:ln/>
        </p:spPr>
        <p:txBody>
          <a:bodyPr/>
          <a:p/>
        </p:txBody>
      </p:sp>
      <p:sp>
        <p:nvSpPr>
          <p:cNvPr id="14" name="Text 12"/>
          <p:cNvSpPr txBox="1"/>
          <p:nvPr/>
        </p:nvSpPr>
        <p:spPr>
          <a:xfrm>
            <a:off x="1783080" y="1600200"/>
            <a:ext cx="1234440" cy="292608"/>
          </a:xfrm>
          <a:prstGeom prst="rect">
            <a:avLst/>
          </a:prstGeom>
          <a:noFill/>
          <a:ln/>
        </p:spPr>
        <p:txBody>
          <a:bodyPr wrap="square" lIns="0" tIns="0" rIns="0" bIns="0" rtlCol="0" anchor="t"/>
          <a:lstStyle/>
          <a:p>
            <a:pPr algn="ctr" indent="0" marL="0">
              <a:buNone/>
            </a:pPr>
            <a:r>
              <a:rPr lang="en-US" sz="1200" b="1" dirty="0">
                <a:solidFill>
                  <a:srgbClr val="028090"/>
                </a:solidFill>
                <a:latin typeface="Calibri" pitchFamily="34" charset="0"/>
                <a:ea typeface="Calibri" pitchFamily="34" charset="-122"/>
                <a:cs typeface="Calibri" pitchFamily="34" charset="-120"/>
              </a:rPr>
              <a:t>1956</a:t>
            </a:r>
            <a:endParaRPr lang="en-US" sz="1200" dirty="0"/>
          </a:p>
        </p:txBody>
      </p:sp>
      <p:sp>
        <p:nvSpPr>
          <p:cNvPr id="15" name="Text 13"/>
          <p:cNvSpPr txBox="1"/>
          <p:nvPr/>
        </p:nvSpPr>
        <p:spPr>
          <a:xfrm>
            <a:off x="1810512" y="2286000"/>
            <a:ext cx="1179576" cy="502920"/>
          </a:xfrm>
          <a:prstGeom prst="rect">
            <a:avLst/>
          </a:prstGeom>
          <a:noFill/>
          <a:ln/>
        </p:spPr>
        <p:txBody>
          <a:bodyPr wrap="square" lIns="0" tIns="0" rIns="0" bIns="0" rtlCol="0" anchor="t"/>
          <a:lstStyle/>
          <a:p>
            <a:pPr algn="ctr" indent="0" marL="0">
              <a:buNone/>
            </a:pPr>
            <a:r>
              <a:rPr lang="en-US" sz="1250" b="1" dirty="0">
                <a:solidFill>
                  <a:srgbClr val="36454F"/>
                </a:solidFill>
                <a:latin typeface="Cambria" pitchFamily="34" charset="0"/>
                <a:ea typeface="Cambria" pitchFamily="34" charset="-122"/>
                <a:cs typeface="Cambria" pitchFamily="34" charset="-120"/>
              </a:rPr>
              <a:t>GM-NAA I/O</a:t>
            </a:r>
            <a:endParaRPr lang="en-US" sz="1250" dirty="0"/>
          </a:p>
        </p:txBody>
      </p:sp>
      <p:sp>
        <p:nvSpPr>
          <p:cNvPr id="16" name="Text 14"/>
          <p:cNvSpPr txBox="1"/>
          <p:nvPr/>
        </p:nvSpPr>
        <p:spPr>
          <a:xfrm>
            <a:off x="1828800" y="2788920"/>
            <a:ext cx="1143000" cy="640080"/>
          </a:xfrm>
          <a:prstGeom prst="rect">
            <a:avLst/>
          </a:prstGeom>
          <a:noFill/>
          <a:ln/>
        </p:spPr>
        <p:txBody>
          <a:bodyPr wrap="square" lIns="0" tIns="0" rIns="0" bIns="0" rtlCol="0" anchor="t"/>
          <a:lstStyle/>
          <a:p>
            <a:pPr algn="ctr" indent="0" marL="0">
              <a:buNone/>
            </a:pPr>
            <a:r>
              <a:rPr lang="en-US" sz="1100" dirty="0">
                <a:solidFill>
                  <a:srgbClr val="3A464C"/>
                </a:solidFill>
                <a:latin typeface="Calibri" pitchFamily="34" charset="0"/>
                <a:ea typeface="Calibri" pitchFamily="34" charset="-122"/>
                <a:cs typeface="Calibri" pitchFamily="34" charset="-120"/>
              </a:rPr>
              <a:t>resident monitor: batch</a:t>
            </a:r>
            <a:endParaRPr lang="en-US" sz="1100" dirty="0"/>
          </a:p>
        </p:txBody>
      </p:sp>
      <p:sp>
        <p:nvSpPr>
          <p:cNvPr id="17" name="Shape 15"/>
          <p:cNvSpPr/>
          <p:nvPr/>
        </p:nvSpPr>
        <p:spPr>
          <a:xfrm>
            <a:off x="3534156" y="2002536"/>
            <a:ext cx="201168" cy="201168"/>
          </a:xfrm>
          <a:prstGeom prst="ellipse">
            <a:avLst/>
          </a:prstGeom>
          <a:solidFill>
            <a:srgbClr val="02C39A"/>
          </a:solidFill>
          <a:ln/>
        </p:spPr>
        <p:txBody>
          <a:bodyPr/>
          <a:p/>
        </p:txBody>
      </p:sp>
      <p:sp>
        <p:nvSpPr>
          <p:cNvPr id="18" name="Text 16"/>
          <p:cNvSpPr txBox="1"/>
          <p:nvPr/>
        </p:nvSpPr>
        <p:spPr>
          <a:xfrm>
            <a:off x="3017520" y="1600200"/>
            <a:ext cx="1234440" cy="292608"/>
          </a:xfrm>
          <a:prstGeom prst="rect">
            <a:avLst/>
          </a:prstGeom>
          <a:noFill/>
          <a:ln/>
        </p:spPr>
        <p:txBody>
          <a:bodyPr wrap="square" lIns="0" tIns="0" rIns="0" bIns="0" rtlCol="0" anchor="t"/>
          <a:lstStyle/>
          <a:p>
            <a:pPr algn="ctr" indent="0" marL="0">
              <a:buNone/>
            </a:pPr>
            <a:r>
              <a:rPr lang="en-US" sz="1200" b="1" dirty="0">
                <a:solidFill>
                  <a:srgbClr val="028090"/>
                </a:solidFill>
                <a:latin typeface="Calibri" pitchFamily="34" charset="0"/>
                <a:ea typeface="Calibri" pitchFamily="34" charset="-122"/>
                <a:cs typeface="Calibri" pitchFamily="34" charset="-120"/>
              </a:rPr>
              <a:t>1960s</a:t>
            </a:r>
            <a:endParaRPr lang="en-US" sz="1200" dirty="0"/>
          </a:p>
        </p:txBody>
      </p:sp>
      <p:sp>
        <p:nvSpPr>
          <p:cNvPr id="19" name="Text 17"/>
          <p:cNvSpPr txBox="1"/>
          <p:nvPr/>
        </p:nvSpPr>
        <p:spPr>
          <a:xfrm>
            <a:off x="3044952" y="2286000"/>
            <a:ext cx="1179576" cy="502920"/>
          </a:xfrm>
          <a:prstGeom prst="rect">
            <a:avLst/>
          </a:prstGeom>
          <a:noFill/>
          <a:ln/>
        </p:spPr>
        <p:txBody>
          <a:bodyPr wrap="square" lIns="0" tIns="0" rIns="0" bIns="0" rtlCol="0" anchor="t"/>
          <a:lstStyle/>
          <a:p>
            <a:pPr algn="ctr" indent="0" marL="0">
              <a:buNone/>
            </a:pPr>
            <a:r>
              <a:rPr lang="en-US" sz="1250" b="1" dirty="0">
                <a:solidFill>
                  <a:srgbClr val="36454F"/>
                </a:solidFill>
                <a:latin typeface="Cambria" pitchFamily="34" charset="0"/>
                <a:ea typeface="Cambria" pitchFamily="34" charset="-122"/>
                <a:cs typeface="Cambria" pitchFamily="34" charset="-120"/>
              </a:rPr>
              <a:t>Multi-programming</a:t>
            </a:r>
            <a:endParaRPr lang="en-US" sz="1250" dirty="0"/>
          </a:p>
        </p:txBody>
      </p:sp>
      <p:sp>
        <p:nvSpPr>
          <p:cNvPr id="20" name="Text 18"/>
          <p:cNvSpPr txBox="1"/>
          <p:nvPr/>
        </p:nvSpPr>
        <p:spPr>
          <a:xfrm>
            <a:off x="3063240" y="2788920"/>
            <a:ext cx="1143000" cy="640080"/>
          </a:xfrm>
          <a:prstGeom prst="rect">
            <a:avLst/>
          </a:prstGeom>
          <a:noFill/>
          <a:ln/>
        </p:spPr>
        <p:txBody>
          <a:bodyPr wrap="square" lIns="0" tIns="0" rIns="0" bIns="0" rtlCol="0" anchor="t"/>
          <a:lstStyle/>
          <a:p>
            <a:pPr algn="ctr" indent="0" marL="0">
              <a:buNone/>
            </a:pPr>
            <a:r>
              <a:rPr lang="en-US" sz="1100" dirty="0">
                <a:solidFill>
                  <a:srgbClr val="3A464C"/>
                </a:solidFill>
                <a:latin typeface="Calibri" pitchFamily="34" charset="0"/>
                <a:ea typeface="Calibri" pitchFamily="34" charset="-122"/>
                <a:cs typeface="Calibri" pitchFamily="34" charset="-120"/>
              </a:rPr>
              <a:t>CPU switches during I/O</a:t>
            </a:r>
            <a:endParaRPr lang="en-US" sz="1100" dirty="0"/>
          </a:p>
        </p:txBody>
      </p:sp>
      <p:sp>
        <p:nvSpPr>
          <p:cNvPr id="21" name="Shape 19"/>
          <p:cNvSpPr/>
          <p:nvPr/>
        </p:nvSpPr>
        <p:spPr>
          <a:xfrm>
            <a:off x="4768596" y="2002536"/>
            <a:ext cx="201168" cy="201168"/>
          </a:xfrm>
          <a:prstGeom prst="ellipse">
            <a:avLst/>
          </a:prstGeom>
          <a:solidFill>
            <a:srgbClr val="02C39A"/>
          </a:solidFill>
          <a:ln/>
        </p:spPr>
        <p:txBody>
          <a:bodyPr/>
          <a:p/>
        </p:txBody>
      </p:sp>
      <p:sp>
        <p:nvSpPr>
          <p:cNvPr id="22" name="Text 20"/>
          <p:cNvSpPr txBox="1"/>
          <p:nvPr/>
        </p:nvSpPr>
        <p:spPr>
          <a:xfrm>
            <a:off x="4251960" y="1600200"/>
            <a:ext cx="1234440" cy="292608"/>
          </a:xfrm>
          <a:prstGeom prst="rect">
            <a:avLst/>
          </a:prstGeom>
          <a:noFill/>
          <a:ln/>
        </p:spPr>
        <p:txBody>
          <a:bodyPr wrap="square" lIns="0" tIns="0" rIns="0" bIns="0" rtlCol="0" anchor="t"/>
          <a:lstStyle/>
          <a:p>
            <a:pPr algn="ctr" indent="0" marL="0">
              <a:buNone/>
            </a:pPr>
            <a:r>
              <a:rPr lang="en-US" sz="1200" b="1" dirty="0">
                <a:solidFill>
                  <a:srgbClr val="028090"/>
                </a:solidFill>
                <a:latin typeface="Calibri" pitchFamily="34" charset="0"/>
                <a:ea typeface="Calibri" pitchFamily="34" charset="-122"/>
                <a:cs typeface="Calibri" pitchFamily="34" charset="-120"/>
              </a:rPr>
              <a:t>1961</a:t>
            </a:r>
            <a:endParaRPr lang="en-US" sz="1200" dirty="0"/>
          </a:p>
        </p:txBody>
      </p:sp>
      <p:sp>
        <p:nvSpPr>
          <p:cNvPr id="23" name="Text 21"/>
          <p:cNvSpPr txBox="1"/>
          <p:nvPr/>
        </p:nvSpPr>
        <p:spPr>
          <a:xfrm>
            <a:off x="4279392" y="2286000"/>
            <a:ext cx="1179576" cy="502920"/>
          </a:xfrm>
          <a:prstGeom prst="rect">
            <a:avLst/>
          </a:prstGeom>
          <a:noFill/>
          <a:ln/>
        </p:spPr>
        <p:txBody>
          <a:bodyPr wrap="square" lIns="0" tIns="0" rIns="0" bIns="0" rtlCol="0" anchor="t"/>
          <a:lstStyle/>
          <a:p>
            <a:pPr algn="ctr" indent="0" marL="0">
              <a:buNone/>
            </a:pPr>
            <a:r>
              <a:rPr lang="en-US" sz="1250" b="1" dirty="0">
                <a:solidFill>
                  <a:srgbClr val="36454F"/>
                </a:solidFill>
                <a:latin typeface="Cambria" pitchFamily="34" charset="0"/>
                <a:ea typeface="Cambria" pitchFamily="34" charset="-122"/>
                <a:cs typeface="Cambria" pitchFamily="34" charset="-120"/>
              </a:rPr>
              <a:t>CTSS</a:t>
            </a:r>
            <a:endParaRPr lang="en-US" sz="1250" dirty="0"/>
          </a:p>
        </p:txBody>
      </p:sp>
      <p:sp>
        <p:nvSpPr>
          <p:cNvPr id="24" name="Text 22"/>
          <p:cNvSpPr txBox="1"/>
          <p:nvPr/>
        </p:nvSpPr>
        <p:spPr>
          <a:xfrm>
            <a:off x="4297680" y="2788920"/>
            <a:ext cx="1143000" cy="640080"/>
          </a:xfrm>
          <a:prstGeom prst="rect">
            <a:avLst/>
          </a:prstGeom>
          <a:noFill/>
          <a:ln/>
        </p:spPr>
        <p:txBody>
          <a:bodyPr wrap="square" lIns="0" tIns="0" rIns="0" bIns="0" rtlCol="0" anchor="t"/>
          <a:lstStyle/>
          <a:p>
            <a:pPr algn="ctr" indent="0" marL="0">
              <a:buNone/>
            </a:pPr>
            <a:r>
              <a:rPr lang="en-US" sz="1100" dirty="0">
                <a:solidFill>
                  <a:srgbClr val="3A464C"/>
                </a:solidFill>
                <a:latin typeface="Calibri" pitchFamily="34" charset="0"/>
                <a:ea typeface="Calibri" pitchFamily="34" charset="-122"/>
                <a:cs typeface="Calibri" pitchFamily="34" charset="-120"/>
              </a:rPr>
              <a:t>first time-sharing</a:t>
            </a:r>
            <a:endParaRPr lang="en-US" sz="1100" dirty="0"/>
          </a:p>
        </p:txBody>
      </p:sp>
      <p:sp>
        <p:nvSpPr>
          <p:cNvPr id="25" name="Shape 23"/>
          <p:cNvSpPr/>
          <p:nvPr/>
        </p:nvSpPr>
        <p:spPr>
          <a:xfrm>
            <a:off x="6003036" y="2002536"/>
            <a:ext cx="201168" cy="201168"/>
          </a:xfrm>
          <a:prstGeom prst="ellipse">
            <a:avLst/>
          </a:prstGeom>
          <a:solidFill>
            <a:srgbClr val="02C39A"/>
          </a:solidFill>
          <a:ln/>
        </p:spPr>
        <p:txBody>
          <a:bodyPr/>
          <a:p/>
        </p:txBody>
      </p:sp>
      <p:sp>
        <p:nvSpPr>
          <p:cNvPr id="26" name="Text 24"/>
          <p:cNvSpPr txBox="1"/>
          <p:nvPr/>
        </p:nvSpPr>
        <p:spPr>
          <a:xfrm>
            <a:off x="5486400" y="1600200"/>
            <a:ext cx="1234440" cy="292608"/>
          </a:xfrm>
          <a:prstGeom prst="rect">
            <a:avLst/>
          </a:prstGeom>
          <a:noFill/>
          <a:ln/>
        </p:spPr>
        <p:txBody>
          <a:bodyPr wrap="square" lIns="0" tIns="0" rIns="0" bIns="0" rtlCol="0" anchor="t"/>
          <a:lstStyle/>
          <a:p>
            <a:pPr algn="ctr" indent="0" marL="0">
              <a:buNone/>
            </a:pPr>
            <a:r>
              <a:rPr lang="en-US" sz="1200" b="1" dirty="0">
                <a:solidFill>
                  <a:srgbClr val="028090"/>
                </a:solidFill>
                <a:latin typeface="Calibri" pitchFamily="34" charset="0"/>
                <a:ea typeface="Calibri" pitchFamily="34" charset="-122"/>
                <a:cs typeface="Calibri" pitchFamily="34" charset="-120"/>
              </a:rPr>
              <a:t>1964</a:t>
            </a:r>
            <a:endParaRPr lang="en-US" sz="1200" dirty="0"/>
          </a:p>
        </p:txBody>
      </p:sp>
      <p:sp>
        <p:nvSpPr>
          <p:cNvPr id="27" name="Text 25"/>
          <p:cNvSpPr txBox="1"/>
          <p:nvPr/>
        </p:nvSpPr>
        <p:spPr>
          <a:xfrm>
            <a:off x="5513832" y="2286000"/>
            <a:ext cx="1179576" cy="502920"/>
          </a:xfrm>
          <a:prstGeom prst="rect">
            <a:avLst/>
          </a:prstGeom>
          <a:noFill/>
          <a:ln/>
        </p:spPr>
        <p:txBody>
          <a:bodyPr wrap="square" lIns="0" tIns="0" rIns="0" bIns="0" rtlCol="0" anchor="t"/>
          <a:lstStyle/>
          <a:p>
            <a:pPr algn="ctr" indent="0" marL="0">
              <a:buNone/>
            </a:pPr>
            <a:r>
              <a:rPr lang="en-US" sz="1250" b="1" dirty="0">
                <a:solidFill>
                  <a:srgbClr val="36454F"/>
                </a:solidFill>
                <a:latin typeface="Cambria" pitchFamily="34" charset="0"/>
                <a:ea typeface="Cambria" pitchFamily="34" charset="-122"/>
                <a:cs typeface="Cambria" pitchFamily="34" charset="-120"/>
              </a:rPr>
              <a:t>System/360</a:t>
            </a:r>
            <a:endParaRPr lang="en-US" sz="1250" dirty="0"/>
          </a:p>
        </p:txBody>
      </p:sp>
      <p:sp>
        <p:nvSpPr>
          <p:cNvPr id="28" name="Text 26"/>
          <p:cNvSpPr txBox="1"/>
          <p:nvPr/>
        </p:nvSpPr>
        <p:spPr>
          <a:xfrm>
            <a:off x="5532120" y="2788920"/>
            <a:ext cx="1143000" cy="640080"/>
          </a:xfrm>
          <a:prstGeom prst="rect">
            <a:avLst/>
          </a:prstGeom>
          <a:noFill/>
          <a:ln/>
        </p:spPr>
        <p:txBody>
          <a:bodyPr wrap="square" lIns="0" tIns="0" rIns="0" bIns="0" rtlCol="0" anchor="t"/>
          <a:lstStyle/>
          <a:p>
            <a:pPr algn="ctr" indent="0" marL="0">
              <a:buNone/>
            </a:pPr>
            <a:r>
              <a:rPr lang="en-US" sz="1100" dirty="0">
                <a:solidFill>
                  <a:srgbClr val="3A464C"/>
                </a:solidFill>
                <a:latin typeface="Calibri" pitchFamily="34" charset="0"/>
                <a:ea typeface="Calibri" pitchFamily="34" charset="-122"/>
                <a:cs typeface="Calibri" pitchFamily="34" charset="-120"/>
              </a:rPr>
              <a:t>one OS, many machines</a:t>
            </a:r>
            <a:endParaRPr lang="en-US" sz="1100" dirty="0"/>
          </a:p>
        </p:txBody>
      </p:sp>
      <p:sp>
        <p:nvSpPr>
          <p:cNvPr id="29" name="Shape 27"/>
          <p:cNvSpPr/>
          <p:nvPr/>
        </p:nvSpPr>
        <p:spPr>
          <a:xfrm>
            <a:off x="7237476" y="2002536"/>
            <a:ext cx="201168" cy="201168"/>
          </a:xfrm>
          <a:prstGeom prst="ellipse">
            <a:avLst/>
          </a:prstGeom>
          <a:solidFill>
            <a:srgbClr val="02C39A"/>
          </a:solidFill>
          <a:ln/>
        </p:spPr>
        <p:txBody>
          <a:bodyPr/>
          <a:p/>
        </p:txBody>
      </p:sp>
      <p:sp>
        <p:nvSpPr>
          <p:cNvPr id="30" name="Text 28"/>
          <p:cNvSpPr txBox="1"/>
          <p:nvPr/>
        </p:nvSpPr>
        <p:spPr>
          <a:xfrm>
            <a:off x="6720840" y="1600200"/>
            <a:ext cx="1234440" cy="292608"/>
          </a:xfrm>
          <a:prstGeom prst="rect">
            <a:avLst/>
          </a:prstGeom>
          <a:noFill/>
          <a:ln/>
        </p:spPr>
        <p:txBody>
          <a:bodyPr wrap="square" lIns="0" tIns="0" rIns="0" bIns="0" rtlCol="0" anchor="t"/>
          <a:lstStyle/>
          <a:p>
            <a:pPr algn="ctr" indent="0" marL="0">
              <a:buNone/>
            </a:pPr>
            <a:r>
              <a:rPr lang="en-US" sz="1200" b="1" dirty="0">
                <a:solidFill>
                  <a:srgbClr val="028090"/>
                </a:solidFill>
                <a:latin typeface="Calibri" pitchFamily="34" charset="0"/>
                <a:ea typeface="Calibri" pitchFamily="34" charset="-122"/>
                <a:cs typeface="Calibri" pitchFamily="34" charset="-120"/>
              </a:rPr>
              <a:t>1969/73</a:t>
            </a:r>
            <a:endParaRPr lang="en-US" sz="1200" dirty="0"/>
          </a:p>
        </p:txBody>
      </p:sp>
      <p:sp>
        <p:nvSpPr>
          <p:cNvPr id="31" name="Text 29"/>
          <p:cNvSpPr txBox="1"/>
          <p:nvPr/>
        </p:nvSpPr>
        <p:spPr>
          <a:xfrm>
            <a:off x="6748272" y="2286000"/>
            <a:ext cx="1179576" cy="502920"/>
          </a:xfrm>
          <a:prstGeom prst="rect">
            <a:avLst/>
          </a:prstGeom>
          <a:noFill/>
          <a:ln/>
        </p:spPr>
        <p:txBody>
          <a:bodyPr wrap="square" lIns="0" tIns="0" rIns="0" bIns="0" rtlCol="0" anchor="t"/>
          <a:lstStyle/>
          <a:p>
            <a:pPr algn="ctr" indent="0" marL="0">
              <a:buNone/>
            </a:pPr>
            <a:r>
              <a:rPr lang="en-US" sz="1250" b="1" dirty="0">
                <a:solidFill>
                  <a:srgbClr val="36454F"/>
                </a:solidFill>
                <a:latin typeface="Cambria" pitchFamily="34" charset="0"/>
                <a:ea typeface="Cambria" pitchFamily="34" charset="-122"/>
                <a:cs typeface="Cambria" pitchFamily="34" charset="-120"/>
              </a:rPr>
              <a:t>UNIX</a:t>
            </a:r>
            <a:endParaRPr lang="en-US" sz="1250" dirty="0"/>
          </a:p>
        </p:txBody>
      </p:sp>
      <p:sp>
        <p:nvSpPr>
          <p:cNvPr id="32" name="Text 30"/>
          <p:cNvSpPr txBox="1"/>
          <p:nvPr/>
        </p:nvSpPr>
        <p:spPr>
          <a:xfrm>
            <a:off x="6766560" y="2788920"/>
            <a:ext cx="1143000" cy="640080"/>
          </a:xfrm>
          <a:prstGeom prst="rect">
            <a:avLst/>
          </a:prstGeom>
          <a:noFill/>
          <a:ln/>
        </p:spPr>
        <p:txBody>
          <a:bodyPr wrap="square" lIns="0" tIns="0" rIns="0" bIns="0" rtlCol="0" anchor="t"/>
          <a:lstStyle/>
          <a:p>
            <a:pPr algn="ctr" indent="0" marL="0">
              <a:buNone/>
            </a:pPr>
            <a:r>
              <a:rPr lang="en-US" sz="1100" dirty="0">
                <a:solidFill>
                  <a:srgbClr val="3A464C"/>
                </a:solidFill>
                <a:latin typeface="Calibri" pitchFamily="34" charset="0"/>
                <a:ea typeface="Calibri" pitchFamily="34" charset="-122"/>
                <a:cs typeface="Calibri" pitchFamily="34" charset="-120"/>
              </a:rPr>
              <a:t>small tools; rewritten in C</a:t>
            </a:r>
            <a:endParaRPr lang="en-US" sz="1100" dirty="0"/>
          </a:p>
        </p:txBody>
      </p:sp>
      <p:sp>
        <p:nvSpPr>
          <p:cNvPr id="33" name="Shape 31"/>
          <p:cNvSpPr/>
          <p:nvPr/>
        </p:nvSpPr>
        <p:spPr>
          <a:xfrm>
            <a:off x="8471916" y="2002536"/>
            <a:ext cx="201168" cy="201168"/>
          </a:xfrm>
          <a:prstGeom prst="ellipse">
            <a:avLst/>
          </a:prstGeom>
          <a:solidFill>
            <a:srgbClr val="02C39A"/>
          </a:solidFill>
          <a:ln/>
        </p:spPr>
        <p:txBody>
          <a:bodyPr/>
          <a:p/>
        </p:txBody>
      </p:sp>
      <p:sp>
        <p:nvSpPr>
          <p:cNvPr id="34" name="Text 32"/>
          <p:cNvSpPr txBox="1"/>
          <p:nvPr/>
        </p:nvSpPr>
        <p:spPr>
          <a:xfrm>
            <a:off x="7955280" y="1600200"/>
            <a:ext cx="1234440" cy="292608"/>
          </a:xfrm>
          <a:prstGeom prst="rect">
            <a:avLst/>
          </a:prstGeom>
          <a:noFill/>
          <a:ln/>
        </p:spPr>
        <p:txBody>
          <a:bodyPr wrap="square" lIns="0" tIns="0" rIns="0" bIns="0" rtlCol="0" anchor="t"/>
          <a:lstStyle/>
          <a:p>
            <a:pPr algn="ctr" indent="0" marL="0">
              <a:buNone/>
            </a:pPr>
            <a:r>
              <a:rPr lang="en-US" sz="1200" b="1" dirty="0">
                <a:solidFill>
                  <a:srgbClr val="028090"/>
                </a:solidFill>
                <a:latin typeface="Calibri" pitchFamily="34" charset="0"/>
                <a:ea typeface="Calibri" pitchFamily="34" charset="-122"/>
                <a:cs typeface="Calibri" pitchFamily="34" charset="-120"/>
              </a:rPr>
              <a:t>1981</a:t>
            </a:r>
            <a:endParaRPr lang="en-US" sz="1200" dirty="0"/>
          </a:p>
        </p:txBody>
      </p:sp>
      <p:sp>
        <p:nvSpPr>
          <p:cNvPr id="35" name="Text 33"/>
          <p:cNvSpPr txBox="1"/>
          <p:nvPr/>
        </p:nvSpPr>
        <p:spPr>
          <a:xfrm>
            <a:off x="7982712" y="2286000"/>
            <a:ext cx="1179576" cy="502920"/>
          </a:xfrm>
          <a:prstGeom prst="rect">
            <a:avLst/>
          </a:prstGeom>
          <a:noFill/>
          <a:ln/>
        </p:spPr>
        <p:txBody>
          <a:bodyPr wrap="square" lIns="0" tIns="0" rIns="0" bIns="0" rtlCol="0" anchor="t"/>
          <a:lstStyle/>
          <a:p>
            <a:pPr algn="ctr" indent="0" marL="0">
              <a:buNone/>
            </a:pPr>
            <a:r>
              <a:rPr lang="en-US" sz="1250" b="1" dirty="0">
                <a:solidFill>
                  <a:srgbClr val="36454F"/>
                </a:solidFill>
                <a:latin typeface="Cambria" pitchFamily="34" charset="0"/>
                <a:ea typeface="Cambria" pitchFamily="34" charset="-122"/>
                <a:cs typeface="Cambria" pitchFamily="34" charset="-120"/>
              </a:rPr>
              <a:t>IBM PC</a:t>
            </a:r>
            <a:endParaRPr lang="en-US" sz="1250" dirty="0"/>
          </a:p>
        </p:txBody>
      </p:sp>
      <p:sp>
        <p:nvSpPr>
          <p:cNvPr id="36" name="Text 34"/>
          <p:cNvSpPr txBox="1"/>
          <p:nvPr/>
        </p:nvSpPr>
        <p:spPr>
          <a:xfrm>
            <a:off x="8001000" y="2788920"/>
            <a:ext cx="1143000" cy="640080"/>
          </a:xfrm>
          <a:prstGeom prst="rect">
            <a:avLst/>
          </a:prstGeom>
          <a:noFill/>
          <a:ln/>
        </p:spPr>
        <p:txBody>
          <a:bodyPr wrap="square" lIns="0" tIns="0" rIns="0" bIns="0" rtlCol="0" anchor="t"/>
          <a:lstStyle/>
          <a:p>
            <a:pPr algn="ctr" indent="0" marL="0">
              <a:buNone/>
            </a:pPr>
            <a:r>
              <a:rPr lang="en-US" sz="1100" dirty="0">
                <a:solidFill>
                  <a:srgbClr val="3A464C"/>
                </a:solidFill>
                <a:latin typeface="Calibri" pitchFamily="34" charset="0"/>
                <a:ea typeface="Calibri" pitchFamily="34" charset="-122"/>
                <a:cs typeface="Calibri" pitchFamily="34" charset="-120"/>
              </a:rPr>
              <a:t>MS-DOS, no protection</a:t>
            </a:r>
            <a:endParaRPr lang="en-US" sz="1100" dirty="0"/>
          </a:p>
        </p:txBody>
      </p:sp>
      <p:sp>
        <p:nvSpPr>
          <p:cNvPr id="37" name="Shape 35"/>
          <p:cNvSpPr/>
          <p:nvPr/>
        </p:nvSpPr>
        <p:spPr>
          <a:xfrm>
            <a:off x="9706356" y="2002536"/>
            <a:ext cx="201168" cy="201168"/>
          </a:xfrm>
          <a:prstGeom prst="ellipse">
            <a:avLst/>
          </a:prstGeom>
          <a:solidFill>
            <a:srgbClr val="02C39A"/>
          </a:solidFill>
          <a:ln/>
        </p:spPr>
        <p:txBody>
          <a:bodyPr/>
          <a:p/>
        </p:txBody>
      </p:sp>
      <p:sp>
        <p:nvSpPr>
          <p:cNvPr id="38" name="Text 36"/>
          <p:cNvSpPr txBox="1"/>
          <p:nvPr/>
        </p:nvSpPr>
        <p:spPr>
          <a:xfrm>
            <a:off x="9189720" y="1600200"/>
            <a:ext cx="1234440" cy="292608"/>
          </a:xfrm>
          <a:prstGeom prst="rect">
            <a:avLst/>
          </a:prstGeom>
          <a:noFill/>
          <a:ln/>
        </p:spPr>
        <p:txBody>
          <a:bodyPr wrap="square" lIns="0" tIns="0" rIns="0" bIns="0" rtlCol="0" anchor="t"/>
          <a:lstStyle/>
          <a:p>
            <a:pPr algn="ctr" indent="0" marL="0">
              <a:buNone/>
            </a:pPr>
            <a:r>
              <a:rPr lang="en-US" sz="1200" b="1" dirty="0">
                <a:solidFill>
                  <a:srgbClr val="028090"/>
                </a:solidFill>
                <a:latin typeface="Calibri" pitchFamily="34" charset="0"/>
                <a:ea typeface="Calibri" pitchFamily="34" charset="-122"/>
                <a:cs typeface="Calibri" pitchFamily="34" charset="-120"/>
              </a:rPr>
              <a:t>1991</a:t>
            </a:r>
            <a:endParaRPr lang="en-US" sz="1200" dirty="0"/>
          </a:p>
        </p:txBody>
      </p:sp>
      <p:sp>
        <p:nvSpPr>
          <p:cNvPr id="39" name="Text 37"/>
          <p:cNvSpPr txBox="1"/>
          <p:nvPr/>
        </p:nvSpPr>
        <p:spPr>
          <a:xfrm>
            <a:off x="9217152" y="2286000"/>
            <a:ext cx="1179576" cy="502920"/>
          </a:xfrm>
          <a:prstGeom prst="rect">
            <a:avLst/>
          </a:prstGeom>
          <a:noFill/>
          <a:ln/>
        </p:spPr>
        <p:txBody>
          <a:bodyPr wrap="square" lIns="0" tIns="0" rIns="0" bIns="0" rtlCol="0" anchor="t"/>
          <a:lstStyle/>
          <a:p>
            <a:pPr algn="ctr" indent="0" marL="0">
              <a:buNone/>
            </a:pPr>
            <a:r>
              <a:rPr lang="en-US" sz="1250" b="1" dirty="0">
                <a:solidFill>
                  <a:srgbClr val="36454F"/>
                </a:solidFill>
                <a:latin typeface="Cambria" pitchFamily="34" charset="0"/>
                <a:ea typeface="Cambria" pitchFamily="34" charset="-122"/>
                <a:cs typeface="Cambria" pitchFamily="34" charset="-120"/>
              </a:rPr>
              <a:t>Linux</a:t>
            </a:r>
            <a:endParaRPr lang="en-US" sz="1250" dirty="0"/>
          </a:p>
        </p:txBody>
      </p:sp>
      <p:sp>
        <p:nvSpPr>
          <p:cNvPr id="40" name="Text 38"/>
          <p:cNvSpPr txBox="1"/>
          <p:nvPr/>
        </p:nvSpPr>
        <p:spPr>
          <a:xfrm>
            <a:off x="9235440" y="2788920"/>
            <a:ext cx="1143000" cy="640080"/>
          </a:xfrm>
          <a:prstGeom prst="rect">
            <a:avLst/>
          </a:prstGeom>
          <a:noFill/>
          <a:ln/>
        </p:spPr>
        <p:txBody>
          <a:bodyPr wrap="square" lIns="0" tIns="0" rIns="0" bIns="0" rtlCol="0" anchor="t"/>
          <a:lstStyle/>
          <a:p>
            <a:pPr algn="ctr" indent="0" marL="0">
              <a:buNone/>
            </a:pPr>
            <a:r>
              <a:rPr lang="en-US" sz="1100" dirty="0">
                <a:solidFill>
                  <a:srgbClr val="3A464C"/>
                </a:solidFill>
                <a:latin typeface="Calibri" pitchFamily="34" charset="0"/>
                <a:ea typeface="Calibri" pitchFamily="34" charset="-122"/>
                <a:cs typeface="Calibri" pitchFamily="34" charset="-120"/>
              </a:rPr>
              <a:t>free UNIX-like kernel</a:t>
            </a:r>
            <a:endParaRPr lang="en-US" sz="1100" dirty="0"/>
          </a:p>
        </p:txBody>
      </p:sp>
      <p:sp>
        <p:nvSpPr>
          <p:cNvPr id="41" name="Shape 39"/>
          <p:cNvSpPr/>
          <p:nvPr/>
        </p:nvSpPr>
        <p:spPr>
          <a:xfrm>
            <a:off x="10940796" y="2002536"/>
            <a:ext cx="201168" cy="201168"/>
          </a:xfrm>
          <a:prstGeom prst="ellipse">
            <a:avLst/>
          </a:prstGeom>
          <a:solidFill>
            <a:srgbClr val="02C39A"/>
          </a:solidFill>
          <a:ln/>
        </p:spPr>
        <p:txBody>
          <a:bodyPr/>
          <a:p/>
        </p:txBody>
      </p:sp>
      <p:sp>
        <p:nvSpPr>
          <p:cNvPr id="42" name="Text 40"/>
          <p:cNvSpPr txBox="1"/>
          <p:nvPr/>
        </p:nvSpPr>
        <p:spPr>
          <a:xfrm>
            <a:off x="10424160" y="1600200"/>
            <a:ext cx="1234440" cy="292608"/>
          </a:xfrm>
          <a:prstGeom prst="rect">
            <a:avLst/>
          </a:prstGeom>
          <a:noFill/>
          <a:ln/>
        </p:spPr>
        <p:txBody>
          <a:bodyPr wrap="square" lIns="0" tIns="0" rIns="0" bIns="0" rtlCol="0" anchor="t"/>
          <a:lstStyle/>
          <a:p>
            <a:pPr algn="ctr" indent="0" marL="0">
              <a:buNone/>
            </a:pPr>
            <a:r>
              <a:rPr lang="en-US" sz="1200" b="1" dirty="0">
                <a:solidFill>
                  <a:srgbClr val="028090"/>
                </a:solidFill>
                <a:latin typeface="Calibri" pitchFamily="34" charset="0"/>
                <a:ea typeface="Calibri" pitchFamily="34" charset="-122"/>
                <a:cs typeface="Calibri" pitchFamily="34" charset="-120"/>
              </a:rPr>
              <a:t>2006–08</a:t>
            </a:r>
            <a:endParaRPr lang="en-US" sz="1200" dirty="0"/>
          </a:p>
        </p:txBody>
      </p:sp>
      <p:sp>
        <p:nvSpPr>
          <p:cNvPr id="43" name="Text 41"/>
          <p:cNvSpPr txBox="1"/>
          <p:nvPr/>
        </p:nvSpPr>
        <p:spPr>
          <a:xfrm>
            <a:off x="10451592" y="2286000"/>
            <a:ext cx="1179576" cy="502920"/>
          </a:xfrm>
          <a:prstGeom prst="rect">
            <a:avLst/>
          </a:prstGeom>
          <a:noFill/>
          <a:ln/>
        </p:spPr>
        <p:txBody>
          <a:bodyPr wrap="square" lIns="0" tIns="0" rIns="0" bIns="0" rtlCol="0" anchor="t"/>
          <a:lstStyle/>
          <a:p>
            <a:pPr algn="ctr" indent="0" marL="0">
              <a:buNone/>
            </a:pPr>
            <a:r>
              <a:rPr lang="en-US" sz="1250" b="1" dirty="0">
                <a:solidFill>
                  <a:srgbClr val="36454F"/>
                </a:solidFill>
                <a:latin typeface="Cambria" pitchFamily="34" charset="0"/>
                <a:ea typeface="Cambria" pitchFamily="34" charset="-122"/>
                <a:cs typeface="Cambria" pitchFamily="34" charset="-120"/>
              </a:rPr>
              <a:t>Cloud, phones</a:t>
            </a:r>
            <a:endParaRPr lang="en-US" sz="1250" dirty="0"/>
          </a:p>
        </p:txBody>
      </p:sp>
      <p:sp>
        <p:nvSpPr>
          <p:cNvPr id="44" name="Text 42"/>
          <p:cNvSpPr txBox="1"/>
          <p:nvPr/>
        </p:nvSpPr>
        <p:spPr>
          <a:xfrm>
            <a:off x="10469880" y="2788920"/>
            <a:ext cx="1143000" cy="640080"/>
          </a:xfrm>
          <a:prstGeom prst="rect">
            <a:avLst/>
          </a:prstGeom>
          <a:noFill/>
          <a:ln/>
        </p:spPr>
        <p:txBody>
          <a:bodyPr wrap="square" lIns="0" tIns="0" rIns="0" bIns="0" rtlCol="0" anchor="t"/>
          <a:lstStyle/>
          <a:p>
            <a:pPr algn="ctr" indent="0" marL="0">
              <a:buNone/>
            </a:pPr>
            <a:r>
              <a:rPr lang="en-US" sz="1100" dirty="0">
                <a:solidFill>
                  <a:srgbClr val="3A464C"/>
                </a:solidFill>
                <a:latin typeface="Calibri" pitchFamily="34" charset="0"/>
                <a:ea typeface="Calibri" pitchFamily="34" charset="-122"/>
                <a:cs typeface="Calibri" pitchFamily="34" charset="-120"/>
              </a:rPr>
              <a:t>AWS, iPhone, Android</a:t>
            </a:r>
            <a:endParaRPr lang="en-US" sz="1100" dirty="0"/>
          </a:p>
        </p:txBody>
      </p:sp>
      <p:sp>
        <p:nvSpPr>
          <p:cNvPr id="45" name="Shape 43"/>
          <p:cNvSpPr/>
          <p:nvPr/>
        </p:nvSpPr>
        <p:spPr>
          <a:xfrm>
            <a:off x="548640" y="3611880"/>
            <a:ext cx="5486400" cy="2651760"/>
          </a:xfrm>
          <a:prstGeom prst="roundRect">
            <a:avLst>
              <a:gd name="adj" fmla="val 2069"/>
            </a:avLst>
          </a:prstGeom>
          <a:solidFill>
            <a:srgbClr val="F2F2F2"/>
          </a:solidFill>
          <a:ln/>
          <a:effectLst>
            <a:outerShdw sx="100000" sy="100000" kx="0" ky="0" algn="bl" rotWithShape="0" blurRad="101600" dist="25400" dir="5400000">
              <a:srgbClr val="000000">
                <a:alpha val="12000"/>
              </a:srgbClr>
            </a:outerShdw>
          </a:effectLst>
        </p:spPr>
        <p:txBody>
          <a:bodyPr/>
          <a:p/>
        </p:txBody>
      </p:sp>
      <p:sp>
        <p:nvSpPr>
          <p:cNvPr id="46" name="Text 44"/>
          <p:cNvSpPr txBox="1"/>
          <p:nvPr/>
        </p:nvSpPr>
        <p:spPr>
          <a:xfrm>
            <a:off x="777240" y="3794760"/>
            <a:ext cx="5029200" cy="384048"/>
          </a:xfrm>
          <a:prstGeom prst="rect">
            <a:avLst/>
          </a:prstGeom>
          <a:noFill/>
          <a:ln/>
        </p:spPr>
        <p:txBody>
          <a:bodyPr wrap="square" lIns="0" tIns="0" rIns="0" bIns="0" rtlCol="0" anchor="ctr"/>
          <a:lstStyle/>
          <a:p>
            <a:pPr indent="0" marL="0">
              <a:buNone/>
            </a:pPr>
            <a:r>
              <a:rPr lang="en-US" sz="1500" b="1" dirty="0">
                <a:solidFill>
                  <a:srgbClr val="028090"/>
                </a:solidFill>
                <a:latin typeface="Cambria" pitchFamily="34" charset="0"/>
                <a:ea typeface="Cambria" pitchFamily="34" charset="-122"/>
                <a:cs typeface="Cambria" pitchFamily="34" charset="-120"/>
              </a:rPr>
              <a:t>The story in one line each</a:t>
            </a:r>
            <a:endParaRPr lang="en-US" sz="1500" dirty="0"/>
          </a:p>
        </p:txBody>
      </p:sp>
      <p:sp>
        <p:nvSpPr>
          <p:cNvPr id="47" name="Text 45"/>
          <p:cNvSpPr txBox="1"/>
          <p:nvPr/>
        </p:nvSpPr>
        <p:spPr>
          <a:xfrm>
            <a:off x="777240" y="4251960"/>
            <a:ext cx="5029200" cy="1874520"/>
          </a:xfrm>
          <a:prstGeom prst="rect">
            <a:avLst/>
          </a:prstGeom>
          <a:noFill/>
          <a:ln/>
        </p:spPr>
        <p:txBody>
          <a:bodyPr wrap="square" lIns="0" tIns="0" rIns="0" bIns="0" rtlCol="0" anchor="t"/>
          <a:lstStyle/>
          <a:p>
            <a:pPr marL="228600" indent="-228600">
              <a:spcAft>
                <a:spcPts val="400"/>
              </a:spcAft>
              <a:buSzPct val="100000"/>
              <a:buChar char="•"/>
            </a:pPr>
            <a:r>
              <a:rPr lang="en-US" sz="1400" b="1" dirty="0">
                <a:solidFill>
                  <a:srgbClr val="3A464C"/>
                </a:solidFill>
                <a:latin typeface="Calibri" pitchFamily="34" charset="0"/>
                <a:ea typeface="Calibri" pitchFamily="34" charset="-122"/>
                <a:cs typeface="Calibri" pitchFamily="34" charset="-120"/>
              </a:rPr>
              <a:t>Batch:</a:t>
            </a:r>
            <a:r>
              <a:rPr lang="en-US" sz="1400" dirty="0">
                <a:solidFill>
                  <a:srgbClr val="3A464C"/>
                </a:solidFill>
                <a:latin typeface="Calibri" pitchFamily="34" charset="0"/>
                <a:ea typeface="Calibri" pitchFamily="34" charset="-122"/>
                <a:cs typeface="Calibri" pitchFamily="34" charset="-120"/>
              </a:rPr>
              <a:t> a resident monitor runs jobs back to back — no human set-up time.</a:t>
            </a:r>
            <a:endParaRPr lang="en-US" sz="1400" dirty="0"/>
          </a:p>
          <a:p>
            <a:pPr marL="228600" indent="-228600">
              <a:spcAft>
                <a:spcPts val="400"/>
              </a:spcAft>
              <a:buSzPct val="100000"/>
              <a:buChar char="•"/>
            </a:pPr>
            <a:r>
              <a:rPr lang="en-US" sz="1400" b="1" dirty="0">
                <a:solidFill>
                  <a:srgbClr val="3A464C"/>
                </a:solidFill>
                <a:latin typeface="Calibri" pitchFamily="34" charset="0"/>
                <a:ea typeface="Calibri" pitchFamily="34" charset="-122"/>
                <a:cs typeface="Calibri" pitchFamily="34" charset="-120"/>
              </a:rPr>
              <a:t>Multiprogramming:</a:t>
            </a:r>
            <a:r>
              <a:rPr lang="en-US" sz="1400" dirty="0">
                <a:solidFill>
                  <a:srgbClr val="3A464C"/>
                </a:solidFill>
                <a:latin typeface="Calibri" pitchFamily="34" charset="0"/>
                <a:ea typeface="Calibri" pitchFamily="34" charset="-122"/>
                <a:cs typeface="Calibri" pitchFamily="34" charset="-120"/>
              </a:rPr>
              <a:t> several jobs in memory; the CPU switches when one waits for I/O.</a:t>
            </a:r>
            <a:endParaRPr lang="en-US" sz="1400" dirty="0"/>
          </a:p>
          <a:p>
            <a:pPr marL="228600" indent="-228600">
              <a:spcAft>
                <a:spcPts val="400"/>
              </a:spcAft>
              <a:buSzPct val="100000"/>
              <a:buChar char="•"/>
            </a:pPr>
            <a:r>
              <a:rPr lang="en-US" sz="1400" b="1" dirty="0">
                <a:solidFill>
                  <a:srgbClr val="3A464C"/>
                </a:solidFill>
                <a:latin typeface="Calibri" pitchFamily="34" charset="0"/>
                <a:ea typeface="Calibri" pitchFamily="34" charset="-122"/>
                <a:cs typeface="Calibri" pitchFamily="34" charset="-120"/>
              </a:rPr>
              <a:t>Time-sharing:</a:t>
            </a:r>
            <a:r>
              <a:rPr lang="en-US" sz="1400" dirty="0">
                <a:solidFill>
                  <a:srgbClr val="3A464C"/>
                </a:solidFill>
                <a:latin typeface="Calibri" pitchFamily="34" charset="0"/>
                <a:ea typeface="Calibri" pitchFamily="34" charset="-122"/>
                <a:cs typeface="Calibri" pitchFamily="34" charset="-120"/>
              </a:rPr>
              <a:t> short time quanta in rotation; every user feels the whole machine.</a:t>
            </a:r>
            <a:endParaRPr lang="en-US" sz="1400" dirty="0"/>
          </a:p>
        </p:txBody>
      </p:sp>
      <p:sp>
        <p:nvSpPr>
          <p:cNvPr id="48" name="Shape 46"/>
          <p:cNvSpPr/>
          <p:nvPr/>
        </p:nvSpPr>
        <p:spPr>
          <a:xfrm>
            <a:off x="6263640" y="3611880"/>
            <a:ext cx="5394960" cy="2651760"/>
          </a:xfrm>
          <a:prstGeom prst="roundRect">
            <a:avLst>
              <a:gd name="adj" fmla="val 1724"/>
            </a:avLst>
          </a:prstGeom>
          <a:solidFill>
            <a:srgbClr val="212121"/>
          </a:solidFill>
          <a:ln/>
        </p:spPr>
        <p:txBody>
          <a:bodyPr/>
          <a:p/>
        </p:txBody>
      </p:sp>
      <p:sp>
        <p:nvSpPr>
          <p:cNvPr id="49" name="Text 47"/>
          <p:cNvSpPr txBox="1"/>
          <p:nvPr/>
        </p:nvSpPr>
        <p:spPr>
          <a:xfrm>
            <a:off x="6446520" y="3721608"/>
            <a:ext cx="5029200" cy="2432304"/>
          </a:xfrm>
          <a:prstGeom prst="rect">
            <a:avLst/>
          </a:prstGeom>
          <a:noFill/>
          <a:ln/>
        </p:spPr>
        <p:txBody>
          <a:bodyPr wrap="square" lIns="0" tIns="0" rIns="0" bIns="0" rtlCol="0" anchor="t"/>
          <a:lstStyle/>
          <a:p>
            <a:pPr indent="0" marL="0">
              <a:lnSpc>
                <a:spcPct val="105000"/>
              </a:lnSpc>
              <a:buNone/>
            </a:pPr>
            <a:r>
              <a:rPr lang="en-US" sz="1400" dirty="0">
                <a:solidFill>
                  <a:srgbClr val="8A9AA0"/>
                </a:solidFill>
                <a:latin typeface="Consolas" pitchFamily="34" charset="0"/>
                <a:ea typeface="Consolas" pitchFamily="34" charset="-122"/>
                <a:cs typeface="Consolas" pitchFamily="34" charset="-120"/>
              </a:rPr>
              <a:t># CPU utilisation, batch</a:t>
            </a:r>
            <a:endParaRPr lang="en-US" sz="1400" dirty="0"/>
          </a:p>
          <a:p>
            <a:pPr indent="0" marL="0">
              <a:lnSpc>
                <a:spcPct val="105000"/>
              </a:lnSpc>
              <a:buNone/>
            </a:pPr>
            <a:r>
              <a:rPr lang="en-US" sz="1400" dirty="0">
                <a:solidFill>
                  <a:srgbClr val="F2F2F2"/>
                </a:solidFill>
                <a:latin typeface="Consolas" pitchFamily="34" charset="0"/>
                <a:ea typeface="Consolas" pitchFamily="34" charset="-122"/>
                <a:cs typeface="Consolas" pitchFamily="34" charset="-120"/>
              </a:rPr>
              <a:t>U = t_run / (t_run + t_setup)</a:t>
            </a:r>
            <a:endParaRPr lang="en-US" sz="1400" dirty="0"/>
          </a:p>
          <a:p>
            <a:pPr indent="0" marL="0">
              <a:lnSpc>
                <a:spcPct val="105000"/>
              </a:lnSpc>
              <a:buNone/>
            </a:pPr>
            <a:r>
              <a:rPr lang="en-US" sz="1400" dirty="0">
                <a:solidFill>
                  <a:srgbClr val="F2F2F2"/>
                </a:solidFill>
                <a:latin typeface="Consolas" pitchFamily="34" charset="0"/>
                <a:ea typeface="Consolas" pitchFamily="34" charset="-122"/>
                <a:cs typeface="Consolas" pitchFamily="34" charset="-120"/>
              </a:rPr>
              <a:t> </a:t>
            </a:r>
            <a:endParaRPr lang="en-US" sz="1400" dirty="0"/>
          </a:p>
          <a:p>
            <a:pPr indent="0" marL="0">
              <a:lnSpc>
                <a:spcPct val="105000"/>
              </a:lnSpc>
              <a:buNone/>
            </a:pPr>
            <a:r>
              <a:rPr lang="en-US" sz="1400" dirty="0">
                <a:solidFill>
                  <a:srgbClr val="8A9AA0"/>
                </a:solidFill>
                <a:latin typeface="Consolas" pitchFamily="34" charset="0"/>
                <a:ea typeface="Consolas" pitchFamily="34" charset="-122"/>
                <a:cs typeface="Consolas" pitchFamily="34" charset="-120"/>
              </a:rPr>
              <a:t># n jobs, each waiting for I/O a fraction p</a:t>
            </a:r>
            <a:endParaRPr lang="en-US" sz="1400" dirty="0"/>
          </a:p>
          <a:p>
            <a:pPr indent="0" marL="0">
              <a:lnSpc>
                <a:spcPct val="105000"/>
              </a:lnSpc>
              <a:buNone/>
            </a:pPr>
            <a:r>
              <a:rPr lang="en-US" sz="1400" dirty="0">
                <a:solidFill>
                  <a:srgbClr val="F2F2F2"/>
                </a:solidFill>
                <a:latin typeface="Consolas" pitchFamily="34" charset="0"/>
                <a:ea typeface="Consolas" pitchFamily="34" charset="-122"/>
                <a:cs typeface="Consolas" pitchFamily="34" charset="-120"/>
              </a:rPr>
              <a:t>U(n) = 1 − pⁿ</a:t>
            </a:r>
            <a:endParaRPr lang="en-US" sz="1400" dirty="0"/>
          </a:p>
          <a:p>
            <a:pPr indent="0" marL="0">
              <a:lnSpc>
                <a:spcPct val="105000"/>
              </a:lnSpc>
              <a:buNone/>
            </a:pPr>
            <a:r>
              <a:rPr lang="en-US" sz="1400" dirty="0">
                <a:solidFill>
                  <a:srgbClr val="F2F2F2"/>
                </a:solidFill>
                <a:latin typeface="Consolas" pitchFamily="34" charset="0"/>
                <a:ea typeface="Consolas" pitchFamily="34" charset="-122"/>
                <a:cs typeface="Consolas" pitchFamily="34" charset="-120"/>
              </a:rPr>
              <a:t> </a:t>
            </a:r>
            <a:endParaRPr lang="en-US" sz="1400" dirty="0"/>
          </a:p>
          <a:p>
            <a:pPr indent="0" marL="0">
              <a:lnSpc>
                <a:spcPct val="105000"/>
              </a:lnSpc>
              <a:buNone/>
            </a:pPr>
            <a:r>
              <a:rPr lang="en-US" sz="1400" dirty="0">
                <a:solidFill>
                  <a:srgbClr val="8A9AA0"/>
                </a:solidFill>
                <a:latin typeface="Consolas" pitchFamily="34" charset="0"/>
                <a:ea typeface="Consolas" pitchFamily="34" charset="-122"/>
                <a:cs typeface="Consolas" pitchFamily="34" charset="-120"/>
              </a:rPr>
              <a:t># time-sharing: worst-case wait</a:t>
            </a:r>
            <a:endParaRPr lang="en-US" sz="1400" dirty="0"/>
          </a:p>
          <a:p>
            <a:pPr indent="0" marL="0">
              <a:lnSpc>
                <a:spcPct val="105000"/>
              </a:lnSpc>
              <a:buNone/>
            </a:pPr>
            <a:r>
              <a:rPr lang="en-US" sz="1400" dirty="0">
                <a:solidFill>
                  <a:srgbClr val="F2F2F2"/>
                </a:solidFill>
                <a:latin typeface="Consolas" pitchFamily="34" charset="0"/>
                <a:ea typeface="Consolas" pitchFamily="34" charset="-122"/>
                <a:cs typeface="Consolas" pitchFamily="34" charset="-120"/>
              </a:rPr>
              <a:t>T_wait ≈ n · q</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en-US" sz="1200" b="1" spc="200" kern="0" dirty="0">
                <a:solidFill>
                  <a:srgbClr val="02C39A"/>
                </a:solidFill>
                <a:latin typeface="Calibri" pitchFamily="34" charset="0"/>
                <a:ea typeface="Calibri" pitchFamily="34" charset="-122"/>
                <a:cs typeface="Calibri" pitchFamily="34" charset="-120"/>
              </a:rPr>
              <a:t>WEEK 2 · OS BASICS</a:t>
            </a:r>
            <a:endParaRPr lang="en-US"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en-US" sz="3000" b="1" dirty="0">
                <a:solidFill>
                  <a:srgbClr val="36454F"/>
                </a:solidFill>
                <a:latin typeface="Cambria" pitchFamily="34" charset="0"/>
                <a:ea typeface="Cambria" pitchFamily="34" charset="-122"/>
                <a:cs typeface="Cambria" pitchFamily="34" charset="-120"/>
              </a:rPr>
              <a:t>What an OS Is and How It Protects Itself</a:t>
            </a:r>
            <a:endParaRPr lang="en-US" sz="3000" dirty="0"/>
          </a:p>
        </p:txBody>
      </p:sp>
      <p:sp>
        <p:nvSpPr>
          <p:cNvPr id="4" name="Text 2"/>
          <p:cNvSpPr txBox="1"/>
          <p:nvPr/>
        </p:nvSpPr>
        <p:spPr>
          <a:xfrm>
            <a:off x="548640" y="6528816"/>
            <a:ext cx="6400800" cy="274320"/>
          </a:xfrm>
          <a:prstGeom prst="rect">
            <a:avLst/>
          </a:prstGeom>
          <a:noFill/>
          <a:ln/>
        </p:spPr>
        <p:txBody>
          <a:bodyPr wrap="square" lIns="0" tIns="0" rIns="0" bIns="0" rtlCol="0" anchor="ctr"/>
          <a:lstStyle/>
          <a:p>
            <a:pPr indent="0" marL="0">
              <a:buNone/>
            </a:pPr>
            <a:r>
              <a:rPr lang="en-US" sz="900" dirty="0">
                <a:solidFill>
                  <a:srgbClr val="6B7679"/>
                </a:solidFill>
                <a:latin typeface="Calibri" pitchFamily="34" charset="0"/>
                <a:ea typeface="Calibri" pitchFamily="34" charset="-122"/>
                <a:cs typeface="Calibri" pitchFamily="34" charset="-120"/>
              </a:rPr>
              <a:t>MCMP117 — Fundamentals of Operating Systems</a:t>
            </a:r>
            <a:endParaRPr lang="en-US" sz="900" dirty="0"/>
          </a:p>
        </p:txBody>
      </p:sp>
      <p:sp>
        <p:nvSpPr>
          <p:cNvPr id="5" name="Text 3"/>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en-US" sz="900" dirty="0">
                <a:solidFill>
                  <a:srgbClr val="6B7679"/>
                </a:solidFill>
                <a:latin typeface="Calibri" pitchFamily="34" charset="0"/>
                <a:ea typeface="Calibri" pitchFamily="34" charset="-122"/>
                <a:cs typeface="Calibri" pitchFamily="34" charset="-120"/>
              </a:rPr>
              <a:t>Week 8  ·  8</a:t>
            </a:r>
            <a:endParaRPr lang="en-US" sz="900" dirty="0"/>
          </a:p>
        </p:txBody>
      </p:sp>
      <p:sp>
        <p:nvSpPr>
          <p:cNvPr id="6" name="Shape 4"/>
          <p:cNvSpPr/>
          <p:nvPr/>
        </p:nvSpPr>
        <p:spPr>
          <a:xfrm>
            <a:off x="548640" y="1508760"/>
            <a:ext cx="3550920" cy="2263140"/>
          </a:xfrm>
          <a:prstGeom prst="roundRect">
            <a:avLst>
              <a:gd name="adj" fmla="val 2424"/>
            </a:avLst>
          </a:prstGeom>
          <a:solidFill>
            <a:srgbClr val="F2F2F2"/>
          </a:solidFill>
          <a:ln/>
          <a:effectLst>
            <a:outerShdw sx="100000" sy="100000" kx="0" ky="0" algn="bl" rotWithShape="0" blurRad="101600" dist="25400" dir="5400000">
              <a:srgbClr val="000000">
                <a:alpha val="12000"/>
              </a:srgbClr>
            </a:outerShdw>
          </a:effectLst>
        </p:spPr>
        <p:txBody>
          <a:bodyPr/>
          <a:p/>
        </p:txBody>
      </p:sp>
      <p:sp>
        <p:nvSpPr>
          <p:cNvPr id="7" name="Text 5"/>
          <p:cNvSpPr txBox="1"/>
          <p:nvPr/>
        </p:nvSpPr>
        <p:spPr>
          <a:xfrm>
            <a:off x="777240" y="1691640"/>
            <a:ext cx="3093720" cy="384048"/>
          </a:xfrm>
          <a:prstGeom prst="rect">
            <a:avLst/>
          </a:prstGeom>
          <a:noFill/>
          <a:ln/>
        </p:spPr>
        <p:txBody>
          <a:bodyPr wrap="square" lIns="0" tIns="0" rIns="0" bIns="0" rtlCol="0" anchor="ctr"/>
          <a:lstStyle/>
          <a:p>
            <a:pPr indent="0" marL="0">
              <a:buNone/>
            </a:pPr>
            <a:r>
              <a:rPr lang="en-US" sz="1600" b="1" dirty="0">
                <a:solidFill>
                  <a:srgbClr val="028090"/>
                </a:solidFill>
                <a:latin typeface="Cambria" pitchFamily="34" charset="0"/>
                <a:ea typeface="Cambria" pitchFamily="34" charset="-122"/>
                <a:cs typeface="Cambria" pitchFamily="34" charset="-120"/>
              </a:rPr>
              <a:t>Definition and views</a:t>
            </a:r>
            <a:endParaRPr lang="en-US" sz="1600" dirty="0"/>
          </a:p>
        </p:txBody>
      </p:sp>
      <p:sp>
        <p:nvSpPr>
          <p:cNvPr id="8" name="Text 6"/>
          <p:cNvSpPr txBox="1"/>
          <p:nvPr/>
        </p:nvSpPr>
        <p:spPr>
          <a:xfrm>
            <a:off x="777240" y="2148840"/>
            <a:ext cx="3093720" cy="1485900"/>
          </a:xfrm>
          <a:prstGeom prst="rect">
            <a:avLst/>
          </a:prstGeom>
          <a:noFill/>
          <a:ln/>
        </p:spPr>
        <p:txBody>
          <a:bodyPr wrap="square" lIns="0" tIns="0" rIns="0" bIns="0" rtlCol="0" anchor="t"/>
          <a:lstStyle/>
          <a:p>
            <a:pPr marL="228600" indent="-228600">
              <a:spcAft>
                <a:spcPts val="400"/>
              </a:spcAft>
              <a:buSzPct val="100000"/>
              <a:buChar char="•"/>
            </a:pPr>
            <a:r>
              <a:rPr lang="en-US" sz="1450" dirty="0">
                <a:solidFill>
                  <a:srgbClr val="3A464C"/>
                </a:solidFill>
                <a:latin typeface="Calibri" pitchFamily="34" charset="0"/>
                <a:ea typeface="Calibri" pitchFamily="34" charset="-122"/>
                <a:cs typeface="Calibri" pitchFamily="34" charset="-120"/>
              </a:rPr>
              <a:t>Kernel: the one program always running.</a:t>
            </a:r>
            <a:endParaRPr lang="en-US" sz="1450" dirty="0"/>
          </a:p>
          <a:p>
            <a:pPr marL="228600" indent="-228600">
              <a:spcAft>
                <a:spcPts val="400"/>
              </a:spcAft>
              <a:buSzPct val="100000"/>
              <a:buChar char="•"/>
            </a:pPr>
            <a:r>
              <a:rPr lang="en-US" sz="1450" dirty="0">
                <a:solidFill>
                  <a:srgbClr val="3A464C"/>
                </a:solidFill>
                <a:latin typeface="Calibri" pitchFamily="34" charset="0"/>
                <a:ea typeface="Calibri" pitchFamily="34" charset="-122"/>
                <a:cs typeface="Calibri" pitchFamily="34" charset="-120"/>
              </a:rPr>
              <a:t>Extended machine (top-down): clean abstractions — files, processes.</a:t>
            </a:r>
            <a:endParaRPr lang="en-US" sz="1450" dirty="0"/>
          </a:p>
          <a:p>
            <a:pPr marL="228600" indent="-228600">
              <a:spcAft>
                <a:spcPts val="400"/>
              </a:spcAft>
              <a:buSzPct val="100000"/>
              <a:buChar char="•"/>
            </a:pPr>
            <a:r>
              <a:rPr lang="en-US" sz="1450" dirty="0">
                <a:solidFill>
                  <a:srgbClr val="3A464C"/>
                </a:solidFill>
                <a:latin typeface="Calibri" pitchFamily="34" charset="0"/>
                <a:ea typeface="Calibri" pitchFamily="34" charset="-122"/>
                <a:cs typeface="Calibri" pitchFamily="34" charset="-120"/>
              </a:rPr>
              <a:t>Resource manager (bottom-up): time and space multiplexing.</a:t>
            </a:r>
            <a:endParaRPr lang="en-US" sz="1450" dirty="0"/>
          </a:p>
        </p:txBody>
      </p:sp>
      <p:sp>
        <p:nvSpPr>
          <p:cNvPr id="9" name="Shape 7"/>
          <p:cNvSpPr/>
          <p:nvPr/>
        </p:nvSpPr>
        <p:spPr>
          <a:xfrm>
            <a:off x="4328160" y="1508760"/>
            <a:ext cx="3550920" cy="2263140"/>
          </a:xfrm>
          <a:prstGeom prst="roundRect">
            <a:avLst>
              <a:gd name="adj" fmla="val 2424"/>
            </a:avLst>
          </a:prstGeom>
          <a:solidFill>
            <a:srgbClr val="F2F2F2"/>
          </a:solidFill>
          <a:ln/>
          <a:effectLst>
            <a:outerShdw sx="100000" sy="100000" kx="0" ky="0" algn="bl" rotWithShape="0" blurRad="101600" dist="25400" dir="5400000">
              <a:srgbClr val="000000">
                <a:alpha val="12000"/>
              </a:srgbClr>
            </a:outerShdw>
          </a:effectLst>
        </p:spPr>
        <p:txBody>
          <a:bodyPr/>
          <a:p/>
        </p:txBody>
      </p:sp>
      <p:sp>
        <p:nvSpPr>
          <p:cNvPr id="10" name="Text 8"/>
          <p:cNvSpPr txBox="1"/>
          <p:nvPr/>
        </p:nvSpPr>
        <p:spPr>
          <a:xfrm>
            <a:off x="4556760" y="1691640"/>
            <a:ext cx="3093720" cy="384048"/>
          </a:xfrm>
          <a:prstGeom prst="rect">
            <a:avLst/>
          </a:prstGeom>
          <a:noFill/>
          <a:ln/>
        </p:spPr>
        <p:txBody>
          <a:bodyPr wrap="square" lIns="0" tIns="0" rIns="0" bIns="0" rtlCol="0" anchor="ctr"/>
          <a:lstStyle/>
          <a:p>
            <a:pPr indent="0" marL="0">
              <a:buNone/>
            </a:pPr>
            <a:r>
              <a:rPr lang="en-US" sz="1600" b="1" dirty="0">
                <a:solidFill>
                  <a:srgbClr val="028090"/>
                </a:solidFill>
                <a:latin typeface="Cambria" pitchFamily="34" charset="0"/>
                <a:ea typeface="Cambria" pitchFamily="34" charset="-122"/>
                <a:cs typeface="Cambria" pitchFamily="34" charset="-120"/>
              </a:rPr>
              <a:t>Goals and components</a:t>
            </a:r>
            <a:endParaRPr lang="en-US" sz="1600" dirty="0"/>
          </a:p>
        </p:txBody>
      </p:sp>
      <p:sp>
        <p:nvSpPr>
          <p:cNvPr id="11" name="Text 9"/>
          <p:cNvSpPr txBox="1"/>
          <p:nvPr/>
        </p:nvSpPr>
        <p:spPr>
          <a:xfrm>
            <a:off x="4556760" y="2148840"/>
            <a:ext cx="3093720" cy="1485900"/>
          </a:xfrm>
          <a:prstGeom prst="rect">
            <a:avLst/>
          </a:prstGeom>
          <a:noFill/>
          <a:ln/>
        </p:spPr>
        <p:txBody>
          <a:bodyPr wrap="square" lIns="0" tIns="0" rIns="0" bIns="0" rtlCol="0" anchor="t"/>
          <a:lstStyle/>
          <a:p>
            <a:pPr marL="228600" indent="-228600">
              <a:spcAft>
                <a:spcPts val="400"/>
              </a:spcAft>
              <a:buSzPct val="100000"/>
              <a:buChar char="•"/>
            </a:pPr>
            <a:r>
              <a:rPr lang="en-US" sz="1450" dirty="0">
                <a:solidFill>
                  <a:srgbClr val="3A464C"/>
                </a:solidFill>
                <a:latin typeface="Calibri" pitchFamily="34" charset="0"/>
                <a:ea typeface="Calibri" pitchFamily="34" charset="-122"/>
                <a:cs typeface="Calibri" pitchFamily="34" charset="-120"/>
              </a:rPr>
              <a:t>Goals: convenience, efficiency, ability to evolve — they conflict.</a:t>
            </a:r>
            <a:endParaRPr lang="en-US" sz="1450" dirty="0"/>
          </a:p>
          <a:p>
            <a:pPr marL="228600" indent="-228600">
              <a:spcAft>
                <a:spcPts val="400"/>
              </a:spcAft>
              <a:buSzPct val="100000"/>
              <a:buChar char="•"/>
            </a:pPr>
            <a:r>
              <a:rPr lang="en-US" sz="1450" dirty="0">
                <a:solidFill>
                  <a:srgbClr val="3A464C"/>
                </a:solidFill>
                <a:latin typeface="Calibri" pitchFamily="34" charset="0"/>
                <a:ea typeface="Calibri" pitchFamily="34" charset="-122"/>
                <a:cs typeface="Calibri" pitchFamily="34" charset="-120"/>
              </a:rPr>
              <a:t>Four components: hardware, OS, application programs, users.</a:t>
            </a:r>
            <a:endParaRPr lang="en-US" sz="1450" dirty="0"/>
          </a:p>
        </p:txBody>
      </p:sp>
      <p:sp>
        <p:nvSpPr>
          <p:cNvPr id="12" name="Shape 10"/>
          <p:cNvSpPr/>
          <p:nvPr/>
        </p:nvSpPr>
        <p:spPr>
          <a:xfrm>
            <a:off x="8107680" y="1508760"/>
            <a:ext cx="3550920" cy="2263140"/>
          </a:xfrm>
          <a:prstGeom prst="roundRect">
            <a:avLst>
              <a:gd name="adj" fmla="val 2424"/>
            </a:avLst>
          </a:prstGeom>
          <a:solidFill>
            <a:srgbClr val="F2F2F2"/>
          </a:solidFill>
          <a:ln/>
          <a:effectLst>
            <a:outerShdw sx="100000" sy="100000" kx="0" ky="0" algn="bl" rotWithShape="0" blurRad="101600" dist="25400" dir="5400000">
              <a:srgbClr val="000000">
                <a:alpha val="12000"/>
              </a:srgbClr>
            </a:outerShdw>
          </a:effectLst>
        </p:spPr>
        <p:txBody>
          <a:bodyPr/>
          <a:p/>
        </p:txBody>
      </p:sp>
      <p:sp>
        <p:nvSpPr>
          <p:cNvPr id="13" name="Text 11"/>
          <p:cNvSpPr txBox="1"/>
          <p:nvPr/>
        </p:nvSpPr>
        <p:spPr>
          <a:xfrm>
            <a:off x="8336280" y="1691640"/>
            <a:ext cx="3093720" cy="384048"/>
          </a:xfrm>
          <a:prstGeom prst="rect">
            <a:avLst/>
          </a:prstGeom>
          <a:noFill/>
          <a:ln/>
        </p:spPr>
        <p:txBody>
          <a:bodyPr wrap="square" lIns="0" tIns="0" rIns="0" bIns="0" rtlCol="0" anchor="ctr"/>
          <a:lstStyle/>
          <a:p>
            <a:pPr indent="0" marL="0">
              <a:buNone/>
            </a:pPr>
            <a:r>
              <a:rPr lang="en-US" sz="1600" b="1" dirty="0">
                <a:solidFill>
                  <a:srgbClr val="028090"/>
                </a:solidFill>
                <a:latin typeface="Cambria" pitchFamily="34" charset="0"/>
                <a:ea typeface="Cambria" pitchFamily="34" charset="-122"/>
                <a:cs typeface="Cambria" pitchFamily="34" charset="-120"/>
              </a:rPr>
              <a:t>Interrupts</a:t>
            </a:r>
            <a:endParaRPr lang="en-US" sz="1600" dirty="0"/>
          </a:p>
        </p:txBody>
      </p:sp>
      <p:sp>
        <p:nvSpPr>
          <p:cNvPr id="14" name="Text 12"/>
          <p:cNvSpPr txBox="1"/>
          <p:nvPr/>
        </p:nvSpPr>
        <p:spPr>
          <a:xfrm>
            <a:off x="8336280" y="2148840"/>
            <a:ext cx="3093720" cy="1485900"/>
          </a:xfrm>
          <a:prstGeom prst="rect">
            <a:avLst/>
          </a:prstGeom>
          <a:noFill/>
          <a:ln/>
        </p:spPr>
        <p:txBody>
          <a:bodyPr wrap="square" lIns="0" tIns="0" rIns="0" bIns="0" rtlCol="0" anchor="t"/>
          <a:lstStyle/>
          <a:p>
            <a:pPr marL="228600" indent="-228600">
              <a:spcAft>
                <a:spcPts val="400"/>
              </a:spcAft>
              <a:buSzPct val="100000"/>
              <a:buChar char="•"/>
            </a:pPr>
            <a:r>
              <a:rPr lang="en-US" sz="1450" dirty="0">
                <a:solidFill>
                  <a:srgbClr val="3A464C"/>
                </a:solidFill>
                <a:latin typeface="Calibri" pitchFamily="34" charset="0"/>
                <a:ea typeface="Calibri" pitchFamily="34" charset="-122"/>
                <a:cs typeface="Calibri" pitchFamily="34" charset="-120"/>
              </a:rPr>
              <a:t>Device signals the CPU; state saved; handler found in the interrupt vector; state restored.</a:t>
            </a:r>
            <a:endParaRPr lang="en-US" sz="1450" dirty="0"/>
          </a:p>
          <a:p>
            <a:pPr marL="228600" indent="-228600">
              <a:spcAft>
                <a:spcPts val="400"/>
              </a:spcAft>
              <a:buSzPct val="100000"/>
              <a:buChar char="•"/>
            </a:pPr>
            <a:r>
              <a:rPr lang="en-US" sz="1450" dirty="0">
                <a:solidFill>
                  <a:srgbClr val="3A464C"/>
                </a:solidFill>
                <a:latin typeface="Calibri" pitchFamily="34" charset="0"/>
                <a:ea typeface="Calibri" pitchFamily="34" charset="-122"/>
                <a:cs typeface="Calibri" pitchFamily="34" charset="-120"/>
              </a:rPr>
              <a:t>OS is interrupt-driven; polling wastes CPU.</a:t>
            </a:r>
            <a:endParaRPr lang="en-US" sz="1450" dirty="0"/>
          </a:p>
        </p:txBody>
      </p:sp>
      <p:sp>
        <p:nvSpPr>
          <p:cNvPr id="15" name="Shape 13"/>
          <p:cNvSpPr/>
          <p:nvPr/>
        </p:nvSpPr>
        <p:spPr>
          <a:xfrm>
            <a:off x="548640" y="4000500"/>
            <a:ext cx="3550920" cy="2263140"/>
          </a:xfrm>
          <a:prstGeom prst="roundRect">
            <a:avLst>
              <a:gd name="adj" fmla="val 2424"/>
            </a:avLst>
          </a:prstGeom>
          <a:solidFill>
            <a:srgbClr val="F2F2F2"/>
          </a:solidFill>
          <a:ln/>
          <a:effectLst>
            <a:outerShdw sx="100000" sy="100000" kx="0" ky="0" algn="bl" rotWithShape="0" blurRad="101600" dist="25400" dir="5400000">
              <a:srgbClr val="000000">
                <a:alpha val="12000"/>
              </a:srgbClr>
            </a:outerShdw>
          </a:effectLst>
        </p:spPr>
        <p:txBody>
          <a:bodyPr/>
          <a:p/>
        </p:txBody>
      </p:sp>
      <p:sp>
        <p:nvSpPr>
          <p:cNvPr id="16" name="Text 14"/>
          <p:cNvSpPr txBox="1"/>
          <p:nvPr/>
        </p:nvSpPr>
        <p:spPr>
          <a:xfrm>
            <a:off x="777240" y="4183380"/>
            <a:ext cx="3093720" cy="384048"/>
          </a:xfrm>
          <a:prstGeom prst="rect">
            <a:avLst/>
          </a:prstGeom>
          <a:noFill/>
          <a:ln/>
        </p:spPr>
        <p:txBody>
          <a:bodyPr wrap="square" lIns="0" tIns="0" rIns="0" bIns="0" rtlCol="0" anchor="ctr"/>
          <a:lstStyle/>
          <a:p>
            <a:pPr indent="0" marL="0">
              <a:buNone/>
            </a:pPr>
            <a:r>
              <a:rPr lang="en-US" sz="1600" b="1" dirty="0">
                <a:solidFill>
                  <a:srgbClr val="028090"/>
                </a:solidFill>
                <a:latin typeface="Cambria" pitchFamily="34" charset="0"/>
                <a:ea typeface="Cambria" pitchFamily="34" charset="-122"/>
                <a:cs typeface="Cambria" pitchFamily="34" charset="-120"/>
              </a:rPr>
              <a:t>Storage hierarchy</a:t>
            </a:r>
            <a:endParaRPr lang="en-US" sz="1600" dirty="0"/>
          </a:p>
        </p:txBody>
      </p:sp>
      <p:sp>
        <p:nvSpPr>
          <p:cNvPr id="17" name="Text 15"/>
          <p:cNvSpPr txBox="1"/>
          <p:nvPr/>
        </p:nvSpPr>
        <p:spPr>
          <a:xfrm>
            <a:off x="777240" y="4640580"/>
            <a:ext cx="3093720" cy="1485900"/>
          </a:xfrm>
          <a:prstGeom prst="rect">
            <a:avLst/>
          </a:prstGeom>
          <a:noFill/>
          <a:ln/>
        </p:spPr>
        <p:txBody>
          <a:bodyPr wrap="square" lIns="0" tIns="0" rIns="0" bIns="0" rtlCol="0" anchor="t"/>
          <a:lstStyle/>
          <a:p>
            <a:pPr marL="228600" indent="-228600">
              <a:spcAft>
                <a:spcPts val="400"/>
              </a:spcAft>
              <a:buSzPct val="100000"/>
              <a:buChar char="•"/>
            </a:pPr>
            <a:r>
              <a:rPr lang="en-US" sz="1450" dirty="0">
                <a:solidFill>
                  <a:srgbClr val="3A464C"/>
                </a:solidFill>
                <a:latin typeface="Calibri" pitchFamily="34" charset="0"/>
                <a:ea typeface="Calibri" pitchFamily="34" charset="-122"/>
                <a:cs typeface="Calibri" pitchFamily="34" charset="-120"/>
              </a:rPr>
              <a:t>Registers ≈ 0.3 ns, cache, RAM ≈ 100 ns, SSD ≈ 50 µs, HDD ≈ 5 ms.</a:t>
            </a:r>
            <a:endParaRPr lang="en-US" sz="1450" dirty="0"/>
          </a:p>
          <a:p>
            <a:pPr marL="228600" indent="-228600">
              <a:spcAft>
                <a:spcPts val="400"/>
              </a:spcAft>
              <a:buSzPct val="100000"/>
              <a:buChar char="•"/>
            </a:pPr>
            <a:r>
              <a:rPr lang="en-US" sz="1450" dirty="0">
                <a:solidFill>
                  <a:srgbClr val="3A464C"/>
                </a:solidFill>
                <a:latin typeface="Calibri" pitchFamily="34" charset="0"/>
                <a:ea typeface="Calibri" pitchFamily="34" charset="-122"/>
                <a:cs typeface="Calibri" pitchFamily="34" charset="-120"/>
              </a:rPr>
              <a:t>Registers, cache, RAM are volatile.</a:t>
            </a:r>
            <a:endParaRPr lang="en-US" sz="1450" dirty="0"/>
          </a:p>
        </p:txBody>
      </p:sp>
      <p:sp>
        <p:nvSpPr>
          <p:cNvPr id="18" name="Shape 16"/>
          <p:cNvSpPr/>
          <p:nvPr/>
        </p:nvSpPr>
        <p:spPr>
          <a:xfrm>
            <a:off x="4328160" y="4000500"/>
            <a:ext cx="3550920" cy="2263140"/>
          </a:xfrm>
          <a:prstGeom prst="roundRect">
            <a:avLst>
              <a:gd name="adj" fmla="val 2424"/>
            </a:avLst>
          </a:prstGeom>
          <a:solidFill>
            <a:srgbClr val="F2F2F2"/>
          </a:solidFill>
          <a:ln/>
          <a:effectLst>
            <a:outerShdw sx="100000" sy="100000" kx="0" ky="0" algn="bl" rotWithShape="0" blurRad="101600" dist="25400" dir="5400000">
              <a:srgbClr val="000000">
                <a:alpha val="12000"/>
              </a:srgbClr>
            </a:outerShdw>
          </a:effectLst>
        </p:spPr>
        <p:txBody>
          <a:bodyPr/>
          <a:p/>
        </p:txBody>
      </p:sp>
      <p:sp>
        <p:nvSpPr>
          <p:cNvPr id="19" name="Text 17"/>
          <p:cNvSpPr txBox="1"/>
          <p:nvPr/>
        </p:nvSpPr>
        <p:spPr>
          <a:xfrm>
            <a:off x="4556760" y="4183380"/>
            <a:ext cx="3093720" cy="384048"/>
          </a:xfrm>
          <a:prstGeom prst="rect">
            <a:avLst/>
          </a:prstGeom>
          <a:noFill/>
          <a:ln/>
        </p:spPr>
        <p:txBody>
          <a:bodyPr wrap="square" lIns="0" tIns="0" rIns="0" bIns="0" rtlCol="0" anchor="ctr"/>
          <a:lstStyle/>
          <a:p>
            <a:pPr indent="0" marL="0">
              <a:buNone/>
            </a:pPr>
            <a:r>
              <a:rPr lang="en-US" sz="1600" b="1" dirty="0">
                <a:solidFill>
                  <a:srgbClr val="028090"/>
                </a:solidFill>
                <a:latin typeface="Cambria" pitchFamily="34" charset="0"/>
                <a:ea typeface="Cambria" pitchFamily="34" charset="-122"/>
                <a:cs typeface="Cambria" pitchFamily="34" charset="-120"/>
              </a:rPr>
              <a:t>Dual mode</a:t>
            </a:r>
            <a:endParaRPr lang="en-US" sz="1600" dirty="0"/>
          </a:p>
        </p:txBody>
      </p:sp>
      <p:sp>
        <p:nvSpPr>
          <p:cNvPr id="20" name="Text 18"/>
          <p:cNvSpPr txBox="1"/>
          <p:nvPr/>
        </p:nvSpPr>
        <p:spPr>
          <a:xfrm>
            <a:off x="4556760" y="4640580"/>
            <a:ext cx="3093720" cy="1485900"/>
          </a:xfrm>
          <a:prstGeom prst="rect">
            <a:avLst/>
          </a:prstGeom>
          <a:noFill/>
          <a:ln/>
        </p:spPr>
        <p:txBody>
          <a:bodyPr wrap="square" lIns="0" tIns="0" rIns="0" bIns="0" rtlCol="0" anchor="t"/>
          <a:lstStyle/>
          <a:p>
            <a:pPr marL="228600" indent="-228600">
              <a:spcAft>
                <a:spcPts val="400"/>
              </a:spcAft>
              <a:buSzPct val="100000"/>
              <a:buChar char="•"/>
            </a:pPr>
            <a:r>
              <a:rPr lang="en-US" sz="1450" dirty="0">
                <a:solidFill>
                  <a:srgbClr val="3A464C"/>
                </a:solidFill>
                <a:latin typeface="Calibri" pitchFamily="34" charset="0"/>
                <a:ea typeface="Calibri" pitchFamily="34" charset="-122"/>
                <a:cs typeface="Calibri" pitchFamily="34" charset="-120"/>
              </a:rPr>
              <a:t>Mode bit 0 = kernel mode, 1 = user mode.</a:t>
            </a:r>
            <a:endParaRPr lang="en-US" sz="1450" dirty="0"/>
          </a:p>
          <a:p>
            <a:pPr marL="228600" indent="-228600">
              <a:spcAft>
                <a:spcPts val="400"/>
              </a:spcAft>
              <a:buSzPct val="100000"/>
              <a:buChar char="•"/>
            </a:pPr>
            <a:r>
              <a:rPr lang="en-US" sz="1450" dirty="0">
                <a:solidFill>
                  <a:srgbClr val="3A464C"/>
                </a:solidFill>
                <a:latin typeface="Calibri" pitchFamily="34" charset="0"/>
                <a:ea typeface="Calibri" pitchFamily="34" charset="-122"/>
                <a:cs typeface="Calibri" pitchFamily="34" charset="-120"/>
              </a:rPr>
              <a:t>Privileged instruction in user mode → trap.</a:t>
            </a:r>
            <a:endParaRPr lang="en-US" sz="1450" dirty="0"/>
          </a:p>
          <a:p>
            <a:pPr marL="228600" indent="-228600">
              <a:spcAft>
                <a:spcPts val="400"/>
              </a:spcAft>
              <a:buSzPct val="100000"/>
              <a:buChar char="•"/>
            </a:pPr>
            <a:r>
              <a:rPr lang="en-US" sz="1450" dirty="0">
                <a:solidFill>
                  <a:srgbClr val="3A464C"/>
                </a:solidFill>
                <a:latin typeface="Calibri" pitchFamily="34" charset="0"/>
                <a:ea typeface="Calibri" pitchFamily="34" charset="-122"/>
                <a:cs typeface="Calibri" pitchFamily="34" charset="-120"/>
              </a:rPr>
              <a:t>System call: switch to kernel mode and back.</a:t>
            </a:r>
            <a:endParaRPr lang="en-US" sz="1450" dirty="0"/>
          </a:p>
        </p:txBody>
      </p:sp>
      <p:sp>
        <p:nvSpPr>
          <p:cNvPr id="21" name="Shape 19"/>
          <p:cNvSpPr/>
          <p:nvPr/>
        </p:nvSpPr>
        <p:spPr>
          <a:xfrm>
            <a:off x="8107680" y="4000500"/>
            <a:ext cx="3550920" cy="2263140"/>
          </a:xfrm>
          <a:prstGeom prst="roundRect">
            <a:avLst>
              <a:gd name="adj" fmla="val 2424"/>
            </a:avLst>
          </a:prstGeom>
          <a:solidFill>
            <a:srgbClr val="F2F2F2"/>
          </a:solidFill>
          <a:ln/>
          <a:effectLst>
            <a:outerShdw sx="100000" sy="100000" kx="0" ky="0" algn="bl" rotWithShape="0" blurRad="101600" dist="25400" dir="5400000">
              <a:srgbClr val="000000">
                <a:alpha val="12000"/>
              </a:srgbClr>
            </a:outerShdw>
          </a:effectLst>
        </p:spPr>
        <p:txBody>
          <a:bodyPr/>
          <a:p/>
        </p:txBody>
      </p:sp>
      <p:sp>
        <p:nvSpPr>
          <p:cNvPr id="22" name="Text 20"/>
          <p:cNvSpPr txBox="1"/>
          <p:nvPr/>
        </p:nvSpPr>
        <p:spPr>
          <a:xfrm>
            <a:off x="8336280" y="4183380"/>
            <a:ext cx="3093720" cy="384048"/>
          </a:xfrm>
          <a:prstGeom prst="rect">
            <a:avLst/>
          </a:prstGeom>
          <a:noFill/>
          <a:ln/>
        </p:spPr>
        <p:txBody>
          <a:bodyPr wrap="square" lIns="0" tIns="0" rIns="0" bIns="0" rtlCol="0" anchor="ctr"/>
          <a:lstStyle/>
          <a:p>
            <a:pPr indent="0" marL="0">
              <a:buNone/>
            </a:pPr>
            <a:r>
              <a:rPr lang="en-US" sz="1600" b="1" dirty="0">
                <a:solidFill>
                  <a:srgbClr val="028090"/>
                </a:solidFill>
                <a:latin typeface="Cambria" pitchFamily="34" charset="0"/>
                <a:ea typeface="Cambria" pitchFamily="34" charset="-122"/>
                <a:cs typeface="Cambria" pitchFamily="34" charset="-120"/>
              </a:rPr>
              <a:t>System call cost</a:t>
            </a:r>
            <a:endParaRPr lang="en-US" sz="1600" dirty="0"/>
          </a:p>
        </p:txBody>
      </p:sp>
      <p:sp>
        <p:nvSpPr>
          <p:cNvPr id="23" name="Text 21"/>
          <p:cNvSpPr txBox="1"/>
          <p:nvPr/>
        </p:nvSpPr>
        <p:spPr>
          <a:xfrm>
            <a:off x="8336280" y="4640580"/>
            <a:ext cx="3093720" cy="1485900"/>
          </a:xfrm>
          <a:prstGeom prst="rect">
            <a:avLst/>
          </a:prstGeom>
          <a:noFill/>
          <a:ln/>
        </p:spPr>
        <p:txBody>
          <a:bodyPr wrap="square" lIns="0" tIns="0" rIns="0" bIns="0" rtlCol="0" anchor="t"/>
          <a:lstStyle/>
          <a:p>
            <a:pPr marL="228600" indent="-228600">
              <a:spcAft>
                <a:spcPts val="400"/>
              </a:spcAft>
              <a:buSzPct val="100000"/>
              <a:buChar char="•"/>
            </a:pPr>
            <a:r>
              <a:rPr lang="en-US" sz="1450" dirty="0">
                <a:solidFill>
                  <a:srgbClr val="3A464C"/>
                </a:solidFill>
                <a:latin typeface="Calibri" pitchFamily="34" charset="0"/>
                <a:ea typeface="Calibri" pitchFamily="34" charset="-122"/>
                <a:cs typeface="Calibri" pitchFamily="34" charset="-120"/>
              </a:rPr>
              <a:t>Measured: ≈ 116 ns per system call vs ≈ 1.5 ns per function call.</a:t>
            </a:r>
            <a:endParaRPr lang="en-US" sz="1450" dirty="0"/>
          </a:p>
          <a:p>
            <a:pPr marL="228600" indent="-228600">
              <a:spcAft>
                <a:spcPts val="400"/>
              </a:spcAft>
              <a:buSzPct val="100000"/>
              <a:buChar char="•"/>
            </a:pPr>
            <a:r>
              <a:rPr lang="en-US" sz="1450" dirty="0">
                <a:solidFill>
                  <a:srgbClr val="3A464C"/>
                </a:solidFill>
                <a:latin typeface="Calibri" pitchFamily="34" charset="0"/>
                <a:ea typeface="Calibri" pitchFamily="34" charset="-122"/>
                <a:cs typeface="Calibri" pitchFamily="34" charset="-120"/>
              </a:rPr>
              <a:t>Crossing the user/kernel boundary is expensive.</a:t>
            </a:r>
            <a:endParaRPr lang="en-US" sz="1450" dirty="0"/>
          </a:p>
        </p:txBody>
      </p:sp>
      <p:sp>
        <p:nvSpPr>
          <p:cNvPr id="24" name="Shape 22"/>
          <p:cNvSpPr/>
          <p:nvPr/>
        </p:nvSpPr>
        <p:spPr>
          <a:xfrm>
            <a:off x="10287000" y="274320"/>
            <a:ext cx="1371600" cy="329184"/>
          </a:xfrm>
          <a:prstGeom prst="roundRect">
            <a:avLst>
              <a:gd name="adj" fmla="val 13889"/>
            </a:avLst>
          </a:prstGeom>
          <a:solidFill>
            <a:srgbClr val="02C39A"/>
          </a:solidFill>
          <a:ln/>
        </p:spPr>
        <p:txBody>
          <a:bodyPr/>
          <a:p/>
        </p:txBody>
      </p:sp>
      <p:sp>
        <p:nvSpPr>
          <p:cNvPr id="25" name="Text 23"/>
          <p:cNvSpPr txBox="1"/>
          <p:nvPr/>
        </p:nvSpPr>
        <p:spPr>
          <a:xfrm>
            <a:off x="10287000" y="274320"/>
            <a:ext cx="1371600" cy="329184"/>
          </a:xfrm>
          <a:prstGeom prst="rect">
            <a:avLst/>
          </a:prstGeom>
          <a:noFill/>
          <a:ln/>
        </p:spPr>
        <p:txBody>
          <a:bodyPr wrap="square" lIns="38100" tIns="38100" rIns="38100" bIns="38100" rtlCol="0" anchor="ctr"/>
          <a:lstStyle/>
          <a:p>
            <a:pPr algn="ctr" indent="0" marL="0">
              <a:buNone/>
            </a:pPr>
            <a:r>
              <a:rPr lang="en-US" sz="1200" b="1" dirty="0">
                <a:solidFill>
                  <a:srgbClr val="212121"/>
                </a:solidFill>
                <a:latin typeface="Calibri" pitchFamily="34" charset="0"/>
                <a:ea typeface="Calibri" pitchFamily="34" charset="-122"/>
                <a:cs typeface="Calibri" pitchFamily="34" charset="-120"/>
              </a:rPr>
              <a:t>Week 2</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en-US" sz="1200" b="1" spc="200" kern="0" dirty="0">
                <a:solidFill>
                  <a:srgbClr val="02C39A"/>
                </a:solidFill>
                <a:latin typeface="Calibri" pitchFamily="34" charset="0"/>
                <a:ea typeface="Calibri" pitchFamily="34" charset="-122"/>
                <a:cs typeface="Calibri" pitchFamily="34" charset="-120"/>
              </a:rPr>
              <a:t>WEEK 2 · OS STRUCTURES</a:t>
            </a:r>
            <a:endParaRPr lang="en-US"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en-US" sz="3000" b="1" dirty="0">
                <a:solidFill>
                  <a:srgbClr val="36454F"/>
                </a:solidFill>
                <a:latin typeface="Cambria" pitchFamily="34" charset="0"/>
                <a:ea typeface="Cambria" pitchFamily="34" charset="-122"/>
                <a:cs typeface="Cambria" pitchFamily="34" charset="-120"/>
              </a:rPr>
              <a:t>Six Ways to Build an Operating System</a:t>
            </a:r>
            <a:endParaRPr lang="en-US" sz="3000" dirty="0"/>
          </a:p>
        </p:txBody>
      </p:sp>
      <p:sp>
        <p:nvSpPr>
          <p:cNvPr id="4" name="Text 2"/>
          <p:cNvSpPr txBox="1"/>
          <p:nvPr/>
        </p:nvSpPr>
        <p:spPr>
          <a:xfrm>
            <a:off x="548640" y="6528816"/>
            <a:ext cx="6400800" cy="274320"/>
          </a:xfrm>
          <a:prstGeom prst="rect">
            <a:avLst/>
          </a:prstGeom>
          <a:noFill/>
          <a:ln/>
        </p:spPr>
        <p:txBody>
          <a:bodyPr wrap="square" lIns="0" tIns="0" rIns="0" bIns="0" rtlCol="0" anchor="ctr"/>
          <a:lstStyle/>
          <a:p>
            <a:pPr indent="0" marL="0">
              <a:buNone/>
            </a:pPr>
            <a:r>
              <a:rPr lang="en-US" sz="900" dirty="0">
                <a:solidFill>
                  <a:srgbClr val="6B7679"/>
                </a:solidFill>
                <a:latin typeface="Calibri" pitchFamily="34" charset="0"/>
                <a:ea typeface="Calibri" pitchFamily="34" charset="-122"/>
                <a:cs typeface="Calibri" pitchFamily="34" charset="-120"/>
              </a:rPr>
              <a:t>MCMP117 — Fundamentals of Operating Systems</a:t>
            </a:r>
            <a:endParaRPr lang="en-US" sz="900" dirty="0"/>
          </a:p>
        </p:txBody>
      </p:sp>
      <p:sp>
        <p:nvSpPr>
          <p:cNvPr id="5" name="Text 3"/>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en-US" sz="900" dirty="0">
                <a:solidFill>
                  <a:srgbClr val="6B7679"/>
                </a:solidFill>
                <a:latin typeface="Calibri" pitchFamily="34" charset="0"/>
                <a:ea typeface="Calibri" pitchFamily="34" charset="-122"/>
                <a:cs typeface="Calibri" pitchFamily="34" charset="-120"/>
              </a:rPr>
              <a:t>Week 8  ·  9</a:t>
            </a:r>
            <a:endParaRPr lang="en-US" sz="9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48640" y="1554480"/>
          <a:ext cx="11109960" cy="914400"/>
        </p:xfrm>
        <a:graphic>
          <a:graphicData uri="http://schemas.openxmlformats.org/drawingml/2006/table">
            <a:tbl>
              <a:tblPr/>
              <a:tblGrid>
                <a:gridCol w="1828800"/>
                <a:gridCol w="3291840"/>
                <a:gridCol w="1280160"/>
                <a:gridCol w="1737360"/>
                <a:gridCol w="2971800"/>
              </a:tblGrid>
              <a:tr h="0">
                <a:tc>
                  <a:txBody>
                    <a:bodyPr/>
                    <a:lstStyle/>
                    <a:p>
                      <a:pPr indent="0" marL="0">
                        <a:buNone/>
                      </a:pPr>
                      <a:r>
                        <a:rPr lang="en-US" sz="1700" b="1" dirty="0">
                          <a:solidFill>
                            <a:srgbClr val="FFFFFF"/>
                          </a:solidFill>
                          <a:latin typeface="Cambria" pitchFamily="34" charset="0"/>
                          <a:ea typeface="Cambria" pitchFamily="34" charset="-122"/>
                          <a:cs typeface="Cambria" pitchFamily="34" charset="-120"/>
                        </a:rPr>
                        <a:t>Structure</a:t>
                      </a:r>
                      <a:endParaRPr lang="en-US" sz="1700" dirty="0">
                        <a:latin typeface="Cambria" charset="0"/>
                        <a:ea typeface="Cambria" charset="0"/>
                        <a:cs typeface="Cambria"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36454F"/>
                    </a:solidFill>
                  </a:tcPr>
                </a:tc>
                <a:tc>
                  <a:txBody>
                    <a:bodyPr/>
                    <a:lstStyle/>
                    <a:p>
                      <a:pPr indent="0" marL="0">
                        <a:buNone/>
                      </a:pPr>
                      <a:r>
                        <a:rPr lang="en-US" sz="1700" b="1" dirty="0">
                          <a:solidFill>
                            <a:srgbClr val="FFFFFF"/>
                          </a:solidFill>
                          <a:latin typeface="Cambria" pitchFamily="34" charset="0"/>
                          <a:ea typeface="Cambria" pitchFamily="34" charset="-122"/>
                          <a:cs typeface="Cambria" pitchFamily="34" charset="-120"/>
                        </a:rPr>
                        <a:t>In kernel mode</a:t>
                      </a:r>
                      <a:endParaRPr lang="en-US" sz="1700" dirty="0">
                        <a:latin typeface="Cambria" charset="0"/>
                        <a:ea typeface="Cambria" charset="0"/>
                        <a:cs typeface="Cambria"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36454F"/>
                    </a:solidFill>
                  </a:tcPr>
                </a:tc>
                <a:tc>
                  <a:txBody>
                    <a:bodyPr/>
                    <a:lstStyle/>
                    <a:p>
                      <a:pPr indent="0" marL="0">
                        <a:buNone/>
                      </a:pPr>
                      <a:r>
                        <a:rPr lang="en-US" sz="1700" b="1" dirty="0">
                          <a:solidFill>
                            <a:srgbClr val="FFFFFF"/>
                          </a:solidFill>
                          <a:latin typeface="Cambria" pitchFamily="34" charset="0"/>
                          <a:ea typeface="Cambria" pitchFamily="34" charset="-122"/>
                          <a:cs typeface="Cambria" pitchFamily="34" charset="-120"/>
                        </a:rPr>
                        <a:t>Speed</a:t>
                      </a:r>
                      <a:endParaRPr lang="en-US" sz="1700" dirty="0">
                        <a:latin typeface="Cambria" charset="0"/>
                        <a:ea typeface="Cambria" charset="0"/>
                        <a:cs typeface="Cambria"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36454F"/>
                    </a:solidFill>
                  </a:tcPr>
                </a:tc>
                <a:tc>
                  <a:txBody>
                    <a:bodyPr/>
                    <a:lstStyle/>
                    <a:p>
                      <a:pPr indent="0" marL="0">
                        <a:buNone/>
                      </a:pPr>
                      <a:r>
                        <a:rPr lang="en-US" sz="1700" b="1" dirty="0">
                          <a:solidFill>
                            <a:srgbClr val="FFFFFF"/>
                          </a:solidFill>
                          <a:latin typeface="Cambria" pitchFamily="34" charset="0"/>
                          <a:ea typeface="Cambria" pitchFamily="34" charset="-122"/>
                          <a:cs typeface="Cambria" pitchFamily="34" charset="-120"/>
                        </a:rPr>
                        <a:t>Reliability</a:t>
                      </a:r>
                      <a:endParaRPr lang="en-US" sz="1700" dirty="0">
                        <a:latin typeface="Cambria" charset="0"/>
                        <a:ea typeface="Cambria" charset="0"/>
                        <a:cs typeface="Cambria"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36454F"/>
                    </a:solidFill>
                  </a:tcPr>
                </a:tc>
                <a:tc>
                  <a:txBody>
                    <a:bodyPr/>
                    <a:lstStyle/>
                    <a:p>
                      <a:pPr indent="0" marL="0">
                        <a:buNone/>
                      </a:pPr>
                      <a:r>
                        <a:rPr lang="en-US" sz="1700" b="1" dirty="0">
                          <a:solidFill>
                            <a:srgbClr val="FFFFFF"/>
                          </a:solidFill>
                          <a:latin typeface="Cambria" pitchFamily="34" charset="0"/>
                          <a:ea typeface="Cambria" pitchFamily="34" charset="-122"/>
                          <a:cs typeface="Cambria" pitchFamily="34" charset="-120"/>
                        </a:rPr>
                        <a:t>Example</a:t>
                      </a:r>
                      <a:endParaRPr lang="en-US" sz="1700" dirty="0">
                        <a:latin typeface="Cambria" charset="0"/>
                        <a:ea typeface="Cambria" charset="0"/>
                        <a:cs typeface="Cambria"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36454F"/>
                    </a:solidFill>
                  </a:tcPr>
                </a:tc>
              </a:tr>
              <a:tr h="0">
                <a:tc>
                  <a:txBody>
                    <a:bodyPr/>
                    <a:lstStyle/>
                    <a:p>
                      <a:pPr indent="0" marL="0">
                        <a:buNone/>
                      </a:pPr>
                      <a:r>
                        <a:rPr lang="en-US" sz="1600" b="1" dirty="0">
                          <a:solidFill>
                            <a:srgbClr val="3A464C"/>
                          </a:solidFill>
                          <a:latin typeface="Calibri" pitchFamily="34" charset="0"/>
                          <a:ea typeface="Calibri" pitchFamily="34" charset="-122"/>
                          <a:cs typeface="Calibri" pitchFamily="34" charset="-120"/>
                        </a:rPr>
                        <a:t>Simple</a:t>
                      </a:r>
                      <a:endParaRPr lang="en-US" sz="16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en-US" sz="1600" dirty="0">
                          <a:solidFill>
                            <a:srgbClr val="3A464C"/>
                          </a:solidFill>
                          <a:latin typeface="Calibri" pitchFamily="34" charset="0"/>
                          <a:ea typeface="Calibri" pitchFamily="34" charset="-122"/>
                          <a:cs typeface="Calibri" pitchFamily="34" charset="-120"/>
                        </a:rPr>
                        <a:t>everything (no protection)</a:t>
                      </a:r>
                      <a:endParaRPr lang="en-US" sz="16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en-US" sz="1600" dirty="0">
                          <a:solidFill>
                            <a:srgbClr val="3A464C"/>
                          </a:solidFill>
                          <a:latin typeface="Calibri" pitchFamily="34" charset="0"/>
                          <a:ea typeface="Calibri" pitchFamily="34" charset="-122"/>
                          <a:cs typeface="Calibri" pitchFamily="34" charset="-120"/>
                        </a:rPr>
                        <a:t>high</a:t>
                      </a:r>
                      <a:endParaRPr lang="en-US" sz="16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en-US" sz="1600" dirty="0">
                          <a:solidFill>
                            <a:srgbClr val="3A464C"/>
                          </a:solidFill>
                          <a:latin typeface="Calibri" pitchFamily="34" charset="0"/>
                          <a:ea typeface="Calibri" pitchFamily="34" charset="-122"/>
                          <a:cs typeface="Calibri" pitchFamily="34" charset="-120"/>
                        </a:rPr>
                        <a:t>very low</a:t>
                      </a:r>
                      <a:endParaRPr lang="en-US" sz="16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en-US" sz="1600" dirty="0">
                          <a:solidFill>
                            <a:srgbClr val="3A464C"/>
                          </a:solidFill>
                          <a:latin typeface="Calibri" pitchFamily="34" charset="0"/>
                          <a:ea typeface="Calibri" pitchFamily="34" charset="-122"/>
                          <a:cs typeface="Calibri" pitchFamily="34" charset="-120"/>
                        </a:rPr>
                        <a:t>MS-DOS</a:t>
                      </a:r>
                      <a:endParaRPr lang="en-US" sz="16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r>
              <a:tr h="0">
                <a:tc>
                  <a:txBody>
                    <a:bodyPr/>
                    <a:lstStyle/>
                    <a:p>
                      <a:pPr indent="0" marL="0">
                        <a:buNone/>
                      </a:pPr>
                      <a:r>
                        <a:rPr lang="en-US" sz="1600" b="1" dirty="0">
                          <a:solidFill>
                            <a:srgbClr val="3A464C"/>
                          </a:solidFill>
                          <a:latin typeface="Calibri" pitchFamily="34" charset="0"/>
                          <a:ea typeface="Calibri" pitchFamily="34" charset="-122"/>
                          <a:cs typeface="Calibri" pitchFamily="34" charset="-120"/>
                        </a:rPr>
                        <a:t>Monolithic</a:t>
                      </a:r>
                      <a:endParaRPr lang="en-US" sz="16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en-US" sz="1600" dirty="0">
                          <a:solidFill>
                            <a:srgbClr val="3A464C"/>
                          </a:solidFill>
                          <a:latin typeface="Calibri" pitchFamily="34" charset="0"/>
                          <a:ea typeface="Calibri" pitchFamily="34" charset="-122"/>
                          <a:cs typeface="Calibri" pitchFamily="34" charset="-120"/>
                        </a:rPr>
                        <a:t>all OS services</a:t>
                      </a:r>
                      <a:endParaRPr lang="en-US" sz="16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en-US" sz="1600" dirty="0">
                          <a:solidFill>
                            <a:srgbClr val="3A464C"/>
                          </a:solidFill>
                          <a:latin typeface="Calibri" pitchFamily="34" charset="0"/>
                          <a:ea typeface="Calibri" pitchFamily="34" charset="-122"/>
                          <a:cs typeface="Calibri" pitchFamily="34" charset="-120"/>
                        </a:rPr>
                        <a:t>high</a:t>
                      </a:r>
                      <a:endParaRPr lang="en-US" sz="16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en-US" sz="1600" dirty="0">
                          <a:solidFill>
                            <a:srgbClr val="3A464C"/>
                          </a:solidFill>
                          <a:latin typeface="Calibri" pitchFamily="34" charset="0"/>
                          <a:ea typeface="Calibri" pitchFamily="34" charset="-122"/>
                          <a:cs typeface="Calibri" pitchFamily="34" charset="-120"/>
                        </a:rPr>
                        <a:t>medium</a:t>
                      </a:r>
                      <a:endParaRPr lang="en-US" sz="16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en-US" sz="1600" dirty="0">
                          <a:solidFill>
                            <a:srgbClr val="3A464C"/>
                          </a:solidFill>
                          <a:latin typeface="Calibri" pitchFamily="34" charset="0"/>
                          <a:ea typeface="Calibri" pitchFamily="34" charset="-122"/>
                          <a:cs typeface="Calibri" pitchFamily="34" charset="-120"/>
                        </a:rPr>
                        <a:t>UNIX, Linux</a:t>
                      </a:r>
                      <a:endParaRPr lang="en-US" sz="16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r>
              <a:tr h="0">
                <a:tc>
                  <a:txBody>
                    <a:bodyPr/>
                    <a:lstStyle/>
                    <a:p>
                      <a:pPr indent="0" marL="0">
                        <a:buNone/>
                      </a:pPr>
                      <a:r>
                        <a:rPr lang="en-US" sz="1600" b="1" dirty="0">
                          <a:solidFill>
                            <a:srgbClr val="3A464C"/>
                          </a:solidFill>
                          <a:latin typeface="Calibri" pitchFamily="34" charset="0"/>
                          <a:ea typeface="Calibri" pitchFamily="34" charset="-122"/>
                          <a:cs typeface="Calibri" pitchFamily="34" charset="-120"/>
                        </a:rPr>
                        <a:t>Layered</a:t>
                      </a:r>
                      <a:endParaRPr lang="en-US" sz="16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en-US" sz="1600" dirty="0">
                          <a:solidFill>
                            <a:srgbClr val="3A464C"/>
                          </a:solidFill>
                          <a:latin typeface="Calibri" pitchFamily="34" charset="0"/>
                          <a:ea typeface="Calibri" pitchFamily="34" charset="-122"/>
                          <a:cs typeface="Calibri" pitchFamily="34" charset="-120"/>
                        </a:rPr>
                        <a:t>all layers</a:t>
                      </a:r>
                      <a:endParaRPr lang="en-US" sz="16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en-US" sz="1600" dirty="0">
                          <a:solidFill>
                            <a:srgbClr val="3A464C"/>
                          </a:solidFill>
                          <a:latin typeface="Calibri" pitchFamily="34" charset="0"/>
                          <a:ea typeface="Calibri" pitchFamily="34" charset="-122"/>
                          <a:cs typeface="Calibri" pitchFamily="34" charset="-120"/>
                        </a:rPr>
                        <a:t>low</a:t>
                      </a:r>
                      <a:endParaRPr lang="en-US" sz="16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en-US" sz="1600" dirty="0">
                          <a:solidFill>
                            <a:srgbClr val="3A464C"/>
                          </a:solidFill>
                          <a:latin typeface="Calibri" pitchFamily="34" charset="0"/>
                          <a:ea typeface="Calibri" pitchFamily="34" charset="-122"/>
                          <a:cs typeface="Calibri" pitchFamily="34" charset="-120"/>
                        </a:rPr>
                        <a:t>high</a:t>
                      </a:r>
                      <a:endParaRPr lang="en-US" sz="16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en-US" sz="1600" dirty="0">
                          <a:solidFill>
                            <a:srgbClr val="3A464C"/>
                          </a:solidFill>
                          <a:latin typeface="Calibri" pitchFamily="34" charset="0"/>
                          <a:ea typeface="Calibri" pitchFamily="34" charset="-122"/>
                          <a:cs typeface="Calibri" pitchFamily="34" charset="-120"/>
                        </a:rPr>
                        <a:t>THE (1968)</a:t>
                      </a:r>
                      <a:endParaRPr lang="en-US" sz="16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r>
              <a:tr h="0">
                <a:tc>
                  <a:txBody>
                    <a:bodyPr/>
                    <a:lstStyle/>
                    <a:p>
                      <a:pPr indent="0" marL="0">
                        <a:buNone/>
                      </a:pPr>
                      <a:r>
                        <a:rPr lang="en-US" sz="1600" b="1" dirty="0">
                          <a:solidFill>
                            <a:srgbClr val="3A464C"/>
                          </a:solidFill>
                          <a:latin typeface="Calibri" pitchFamily="34" charset="0"/>
                          <a:ea typeface="Calibri" pitchFamily="34" charset="-122"/>
                          <a:cs typeface="Calibri" pitchFamily="34" charset="-120"/>
                        </a:rPr>
                        <a:t>Microkernel</a:t>
                      </a:r>
                      <a:endParaRPr lang="en-US" sz="16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en-US" sz="1600" dirty="0">
                          <a:solidFill>
                            <a:srgbClr val="3A464C"/>
                          </a:solidFill>
                          <a:latin typeface="Calibri" pitchFamily="34" charset="0"/>
                          <a:ea typeface="Calibri" pitchFamily="34" charset="-122"/>
                          <a:cs typeface="Calibri" pitchFamily="34" charset="-120"/>
                        </a:rPr>
                        <a:t>only the tiny kernel</a:t>
                      </a:r>
                      <a:endParaRPr lang="en-US" sz="16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en-US" sz="1600" dirty="0">
                          <a:solidFill>
                            <a:srgbClr val="3A464C"/>
                          </a:solidFill>
                          <a:latin typeface="Calibri" pitchFamily="34" charset="0"/>
                          <a:ea typeface="Calibri" pitchFamily="34" charset="-122"/>
                          <a:cs typeface="Calibri" pitchFamily="34" charset="-120"/>
                        </a:rPr>
                        <a:t>lower</a:t>
                      </a:r>
                      <a:endParaRPr lang="en-US" sz="16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en-US" sz="1600" dirty="0">
                          <a:solidFill>
                            <a:srgbClr val="3A464C"/>
                          </a:solidFill>
                          <a:latin typeface="Calibri" pitchFamily="34" charset="0"/>
                          <a:ea typeface="Calibri" pitchFamily="34" charset="-122"/>
                          <a:cs typeface="Calibri" pitchFamily="34" charset="-120"/>
                        </a:rPr>
                        <a:t>high</a:t>
                      </a:r>
                      <a:endParaRPr lang="en-US" sz="16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en-US" sz="1600" dirty="0">
                          <a:solidFill>
                            <a:srgbClr val="3A464C"/>
                          </a:solidFill>
                          <a:latin typeface="Calibri" pitchFamily="34" charset="0"/>
                          <a:ea typeface="Calibri" pitchFamily="34" charset="-122"/>
                          <a:cs typeface="Calibri" pitchFamily="34" charset="-120"/>
                        </a:rPr>
                        <a:t>MINIX 3, QNX, seL4</a:t>
                      </a:r>
                      <a:endParaRPr lang="en-US" sz="16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r>
              <a:tr h="0">
                <a:tc>
                  <a:txBody>
                    <a:bodyPr/>
                    <a:lstStyle/>
                    <a:p>
                      <a:pPr indent="0" marL="0">
                        <a:buNone/>
                      </a:pPr>
                      <a:r>
                        <a:rPr lang="en-US" sz="1600" b="1" dirty="0">
                          <a:solidFill>
                            <a:srgbClr val="3A464C"/>
                          </a:solidFill>
                          <a:latin typeface="Calibri" pitchFamily="34" charset="0"/>
                          <a:ea typeface="Calibri" pitchFamily="34" charset="-122"/>
                          <a:cs typeface="Calibri" pitchFamily="34" charset="-120"/>
                        </a:rPr>
                        <a:t>Modular</a:t>
                      </a:r>
                      <a:endParaRPr lang="en-US" sz="16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en-US" sz="1600" dirty="0">
                          <a:solidFill>
                            <a:srgbClr val="3A464C"/>
                          </a:solidFill>
                          <a:latin typeface="Calibri" pitchFamily="34" charset="0"/>
                          <a:ea typeface="Calibri" pitchFamily="34" charset="-122"/>
                          <a:cs typeface="Calibri" pitchFamily="34" charset="-120"/>
                        </a:rPr>
                        <a:t>core + loaded modules</a:t>
                      </a:r>
                      <a:endParaRPr lang="en-US" sz="16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en-US" sz="1600" dirty="0">
                          <a:solidFill>
                            <a:srgbClr val="3A464C"/>
                          </a:solidFill>
                          <a:latin typeface="Calibri" pitchFamily="34" charset="0"/>
                          <a:ea typeface="Calibri" pitchFamily="34" charset="-122"/>
                          <a:cs typeface="Calibri" pitchFamily="34" charset="-120"/>
                        </a:rPr>
                        <a:t>high</a:t>
                      </a:r>
                      <a:endParaRPr lang="en-US" sz="16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en-US" sz="1600" dirty="0">
                          <a:solidFill>
                            <a:srgbClr val="3A464C"/>
                          </a:solidFill>
                          <a:latin typeface="Calibri" pitchFamily="34" charset="0"/>
                          <a:ea typeface="Calibri" pitchFamily="34" charset="-122"/>
                          <a:cs typeface="Calibri" pitchFamily="34" charset="-120"/>
                        </a:rPr>
                        <a:t>medium</a:t>
                      </a:r>
                      <a:endParaRPr lang="en-US" sz="16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en-US" sz="1600" dirty="0">
                          <a:solidFill>
                            <a:srgbClr val="3A464C"/>
                          </a:solidFill>
                          <a:latin typeface="Calibri" pitchFamily="34" charset="0"/>
                          <a:ea typeface="Calibri" pitchFamily="34" charset="-122"/>
                          <a:cs typeface="Calibri" pitchFamily="34" charset="-120"/>
                        </a:rPr>
                        <a:t>Linux, Solaris</a:t>
                      </a:r>
                      <a:endParaRPr lang="en-US" sz="16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r>
              <a:tr h="0">
                <a:tc>
                  <a:txBody>
                    <a:bodyPr/>
                    <a:lstStyle/>
                    <a:p>
                      <a:pPr indent="0" marL="0">
                        <a:buNone/>
                      </a:pPr>
                      <a:r>
                        <a:rPr lang="en-US" sz="1600" b="1" dirty="0">
                          <a:solidFill>
                            <a:srgbClr val="3A464C"/>
                          </a:solidFill>
                          <a:latin typeface="Calibri" pitchFamily="34" charset="0"/>
                          <a:ea typeface="Calibri" pitchFamily="34" charset="-122"/>
                          <a:cs typeface="Calibri" pitchFamily="34" charset="-120"/>
                        </a:rPr>
                        <a:t>Hybrid</a:t>
                      </a:r>
                      <a:endParaRPr lang="en-US" sz="16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en-US" sz="1600" dirty="0">
                          <a:solidFill>
                            <a:srgbClr val="3A464C"/>
                          </a:solidFill>
                          <a:latin typeface="Calibri" pitchFamily="34" charset="0"/>
                          <a:ea typeface="Calibri" pitchFamily="34" charset="-122"/>
                          <a:cs typeface="Calibri" pitchFamily="34" charset="-120"/>
                        </a:rPr>
                        <a:t>varies</a:t>
                      </a:r>
                      <a:endParaRPr lang="en-US" sz="16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en-US" sz="1600" dirty="0">
                          <a:solidFill>
                            <a:srgbClr val="3A464C"/>
                          </a:solidFill>
                          <a:latin typeface="Calibri" pitchFamily="34" charset="0"/>
                          <a:ea typeface="Calibri" pitchFamily="34" charset="-122"/>
                          <a:cs typeface="Calibri" pitchFamily="34" charset="-120"/>
                        </a:rPr>
                        <a:t>high</a:t>
                      </a:r>
                      <a:endParaRPr lang="en-US" sz="16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en-US" sz="1600" dirty="0">
                          <a:solidFill>
                            <a:srgbClr val="3A464C"/>
                          </a:solidFill>
                          <a:latin typeface="Calibri" pitchFamily="34" charset="0"/>
                          <a:ea typeface="Calibri" pitchFamily="34" charset="-122"/>
                          <a:cs typeface="Calibri" pitchFamily="34" charset="-120"/>
                        </a:rPr>
                        <a:t>medium–high</a:t>
                      </a:r>
                      <a:endParaRPr lang="en-US" sz="16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en-US" sz="1600" dirty="0">
                          <a:solidFill>
                            <a:srgbClr val="3A464C"/>
                          </a:solidFill>
                          <a:latin typeface="Calibri" pitchFamily="34" charset="0"/>
                          <a:ea typeface="Calibri" pitchFamily="34" charset="-122"/>
                          <a:cs typeface="Calibri" pitchFamily="34" charset="-120"/>
                        </a:rPr>
                        <a:t>Windows, macOS, Android</a:t>
                      </a:r>
                      <a:endParaRPr lang="en-US" sz="16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r>
            </a:tbl>
          </a:graphicData>
        </a:graphic>
      </p:graphicFrame>
      <p:sp>
        <p:nvSpPr>
          <p:cNvPr id="7" name="Shape 4"/>
          <p:cNvSpPr/>
          <p:nvPr/>
        </p:nvSpPr>
        <p:spPr>
          <a:xfrm>
            <a:off x="548640" y="5486400"/>
            <a:ext cx="11109960" cy="777240"/>
          </a:xfrm>
          <a:prstGeom prst="roundRect">
            <a:avLst>
              <a:gd name="adj" fmla="val 7059"/>
            </a:avLst>
          </a:prstGeom>
          <a:solidFill>
            <a:srgbClr val="36454F"/>
          </a:solidFill>
          <a:ln/>
          <a:effectLst>
            <a:outerShdw sx="100000" sy="100000" kx="0" ky="0" algn="bl" rotWithShape="0" blurRad="101600" dist="25400" dir="5400000">
              <a:srgbClr val="000000">
                <a:alpha val="12000"/>
              </a:srgbClr>
            </a:outerShdw>
          </a:effectLst>
        </p:spPr>
        <p:txBody>
          <a:bodyPr/>
          <a:p/>
        </p:txBody>
      </p:sp>
      <p:sp>
        <p:nvSpPr>
          <p:cNvPr id="8" name="Text 5"/>
          <p:cNvSpPr txBox="1"/>
          <p:nvPr/>
        </p:nvSpPr>
        <p:spPr>
          <a:xfrm>
            <a:off x="777240" y="5486400"/>
            <a:ext cx="10652760" cy="777240"/>
          </a:xfrm>
          <a:prstGeom prst="rect">
            <a:avLst/>
          </a:prstGeom>
          <a:noFill/>
          <a:ln/>
        </p:spPr>
        <p:txBody>
          <a:bodyPr wrap="square" lIns="0" tIns="0" rIns="0" bIns="0" rtlCol="0" anchor="ctr"/>
          <a:lstStyle/>
          <a:p>
            <a:pPr indent="0" marL="0">
              <a:buNone/>
            </a:pPr>
            <a:r>
              <a:rPr lang="en-US" sz="1400" dirty="0">
                <a:solidFill>
                  <a:srgbClr val="F2F2F2"/>
                </a:solidFill>
                <a:latin typeface="Calibri" pitchFamily="34" charset="0"/>
                <a:ea typeface="Calibri" pitchFamily="34" charset="-122"/>
                <a:cs typeface="Calibri" pitchFamily="34" charset="-120"/>
              </a:rPr>
              <a:t>Microkernel cost of one request: T_mono = 2t_s + t_w versus T_µ = 4t_s + 2t_c + t_w (4 mode switches + 2 message copies). Every boundary buys reliability and costs speed.</a:t>
            </a:r>
            <a:endParaRPr lang="en-US" sz="1400" dirty="0"/>
          </a:p>
        </p:txBody>
      </p:sp>
      <p:sp>
        <p:nvSpPr>
          <p:cNvPr id="9" name="Shape 6"/>
          <p:cNvSpPr/>
          <p:nvPr/>
        </p:nvSpPr>
        <p:spPr>
          <a:xfrm>
            <a:off x="10287000" y="274320"/>
            <a:ext cx="1371600" cy="329184"/>
          </a:xfrm>
          <a:prstGeom prst="roundRect">
            <a:avLst>
              <a:gd name="adj" fmla="val 13889"/>
            </a:avLst>
          </a:prstGeom>
          <a:solidFill>
            <a:srgbClr val="02C39A"/>
          </a:solidFill>
          <a:ln/>
        </p:spPr>
        <p:txBody>
          <a:bodyPr/>
          <a:p/>
        </p:txBody>
      </p:sp>
      <p:sp>
        <p:nvSpPr>
          <p:cNvPr id="10" name="Text 7"/>
          <p:cNvSpPr txBox="1"/>
          <p:nvPr/>
        </p:nvSpPr>
        <p:spPr>
          <a:xfrm>
            <a:off x="10287000" y="274320"/>
            <a:ext cx="1371600" cy="329184"/>
          </a:xfrm>
          <a:prstGeom prst="rect">
            <a:avLst/>
          </a:prstGeom>
          <a:noFill/>
          <a:ln/>
        </p:spPr>
        <p:txBody>
          <a:bodyPr wrap="square" lIns="38100" tIns="38100" rIns="38100" bIns="38100" rtlCol="0" anchor="ctr"/>
          <a:lstStyle/>
          <a:p>
            <a:pPr algn="ctr" indent="0" marL="0">
              <a:buNone/>
            </a:pPr>
            <a:r>
              <a:rPr lang="en-US" sz="1200" b="1" dirty="0">
                <a:solidFill>
                  <a:srgbClr val="212121"/>
                </a:solidFill>
                <a:latin typeface="Calibri" pitchFamily="34" charset="0"/>
                <a:ea typeface="Calibri" pitchFamily="34" charset="-122"/>
                <a:cs typeface="Calibri" pitchFamily="34" charset="-120"/>
              </a:rPr>
              <a:t>Week 2</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en-US" sz="1200" b="1" spc="200" kern="0" dirty="0">
                <a:solidFill>
                  <a:srgbClr val="02C39A"/>
                </a:solidFill>
                <a:latin typeface="Calibri" pitchFamily="34" charset="0"/>
                <a:ea typeface="Calibri" pitchFamily="34" charset="-122"/>
                <a:cs typeface="Calibri" pitchFamily="34" charset="-120"/>
              </a:rPr>
              <a:t>WEEK 3 · SERVICES AND SYSTEM CALLS</a:t>
            </a:r>
            <a:endParaRPr lang="en-US"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en-US" sz="3000" b="1" dirty="0">
                <a:solidFill>
                  <a:srgbClr val="36454F"/>
                </a:solidFill>
                <a:latin typeface="Cambria" pitchFamily="34" charset="0"/>
                <a:ea typeface="Cambria" pitchFamily="34" charset="-122"/>
                <a:cs typeface="Cambria" pitchFamily="34" charset="-120"/>
              </a:rPr>
              <a:t>From printf() to the Kernel and Back</a:t>
            </a:r>
            <a:endParaRPr lang="en-US" sz="3000" dirty="0"/>
          </a:p>
        </p:txBody>
      </p:sp>
      <p:sp>
        <p:nvSpPr>
          <p:cNvPr id="4" name="Text 2"/>
          <p:cNvSpPr txBox="1"/>
          <p:nvPr/>
        </p:nvSpPr>
        <p:spPr>
          <a:xfrm>
            <a:off x="548640" y="6528816"/>
            <a:ext cx="6400800" cy="274320"/>
          </a:xfrm>
          <a:prstGeom prst="rect">
            <a:avLst/>
          </a:prstGeom>
          <a:noFill/>
          <a:ln/>
        </p:spPr>
        <p:txBody>
          <a:bodyPr wrap="square" lIns="0" tIns="0" rIns="0" bIns="0" rtlCol="0" anchor="ctr"/>
          <a:lstStyle/>
          <a:p>
            <a:pPr indent="0" marL="0">
              <a:buNone/>
            </a:pPr>
            <a:r>
              <a:rPr lang="en-US" sz="900" dirty="0">
                <a:solidFill>
                  <a:srgbClr val="6B7679"/>
                </a:solidFill>
                <a:latin typeface="Calibri" pitchFamily="34" charset="0"/>
                <a:ea typeface="Calibri" pitchFamily="34" charset="-122"/>
                <a:cs typeface="Calibri" pitchFamily="34" charset="-120"/>
              </a:rPr>
              <a:t>MCMP117 — Fundamentals of Operating Systems</a:t>
            </a:r>
            <a:endParaRPr lang="en-US" sz="900" dirty="0"/>
          </a:p>
        </p:txBody>
      </p:sp>
      <p:sp>
        <p:nvSpPr>
          <p:cNvPr id="5" name="Text 3"/>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en-US" sz="900" dirty="0">
                <a:solidFill>
                  <a:srgbClr val="6B7679"/>
                </a:solidFill>
                <a:latin typeface="Calibri" pitchFamily="34" charset="0"/>
                <a:ea typeface="Calibri" pitchFamily="34" charset="-122"/>
                <a:cs typeface="Calibri" pitchFamily="34" charset="-120"/>
              </a:rPr>
              <a:t>Week 8  ·  10</a:t>
            </a:r>
            <a:endParaRPr lang="en-US" sz="900" dirty="0"/>
          </a:p>
        </p:txBody>
      </p:sp>
      <p:sp>
        <p:nvSpPr>
          <p:cNvPr id="6" name="Shape 4"/>
          <p:cNvSpPr/>
          <p:nvPr/>
        </p:nvSpPr>
        <p:spPr>
          <a:xfrm>
            <a:off x="10287000" y="274320"/>
            <a:ext cx="1371600" cy="329184"/>
          </a:xfrm>
          <a:prstGeom prst="roundRect">
            <a:avLst>
              <a:gd name="adj" fmla="val 13889"/>
            </a:avLst>
          </a:prstGeom>
          <a:solidFill>
            <a:srgbClr val="02C39A"/>
          </a:solidFill>
          <a:ln/>
        </p:spPr>
        <p:txBody>
          <a:bodyPr/>
          <a:p/>
        </p:txBody>
      </p:sp>
      <p:sp>
        <p:nvSpPr>
          <p:cNvPr id="7" name="Text 5"/>
          <p:cNvSpPr txBox="1"/>
          <p:nvPr/>
        </p:nvSpPr>
        <p:spPr>
          <a:xfrm>
            <a:off x="10287000" y="274320"/>
            <a:ext cx="1371600" cy="329184"/>
          </a:xfrm>
          <a:prstGeom prst="rect">
            <a:avLst/>
          </a:prstGeom>
          <a:noFill/>
          <a:ln/>
        </p:spPr>
        <p:txBody>
          <a:bodyPr wrap="square" lIns="38100" tIns="38100" rIns="38100" bIns="38100" rtlCol="0" anchor="ctr"/>
          <a:lstStyle/>
          <a:p>
            <a:pPr algn="ctr" indent="0" marL="0">
              <a:buNone/>
            </a:pPr>
            <a:r>
              <a:rPr lang="en-US" sz="1200" b="1" dirty="0">
                <a:solidFill>
                  <a:srgbClr val="212121"/>
                </a:solidFill>
                <a:latin typeface="Calibri" pitchFamily="34" charset="0"/>
                <a:ea typeface="Calibri" pitchFamily="34" charset="-122"/>
                <a:cs typeface="Calibri" pitchFamily="34" charset="-120"/>
              </a:rPr>
              <a:t>Week 3</a:t>
            </a:r>
            <a:endParaRPr lang="en-US" sz="1200" dirty="0"/>
          </a:p>
        </p:txBody>
      </p:sp>
      <p:sp>
        <p:nvSpPr>
          <p:cNvPr id="8" name="Shape 6"/>
          <p:cNvSpPr/>
          <p:nvPr/>
        </p:nvSpPr>
        <p:spPr>
          <a:xfrm>
            <a:off x="548640" y="1691640"/>
            <a:ext cx="1965960" cy="868680"/>
          </a:xfrm>
          <a:prstGeom prst="roundRect">
            <a:avLst>
              <a:gd name="adj" fmla="val 5263"/>
            </a:avLst>
          </a:prstGeom>
          <a:solidFill>
            <a:srgbClr val="F2F2F2"/>
          </a:solidFill>
          <a:ln/>
        </p:spPr>
        <p:txBody>
          <a:bodyPr/>
          <a:p/>
        </p:txBody>
      </p:sp>
      <p:sp>
        <p:nvSpPr>
          <p:cNvPr id="9" name="Text 7"/>
          <p:cNvSpPr txBox="1"/>
          <p:nvPr/>
        </p:nvSpPr>
        <p:spPr>
          <a:xfrm>
            <a:off x="548640" y="1691640"/>
            <a:ext cx="1965960" cy="868680"/>
          </a:xfrm>
          <a:prstGeom prst="rect">
            <a:avLst/>
          </a:prstGeom>
          <a:noFill/>
          <a:ln/>
        </p:spPr>
        <p:txBody>
          <a:bodyPr wrap="square" lIns="38100" tIns="38100" rIns="38100" bIns="38100" rtlCol="0" anchor="ctr"/>
          <a:lstStyle/>
          <a:p>
            <a:pPr algn="ctr" indent="0" marL="0">
              <a:buNone/>
            </a:pPr>
            <a:r>
              <a:rPr lang="en-US" sz="1400" b="1" dirty="0">
                <a:solidFill>
                  <a:srgbClr val="36454F"/>
                </a:solidFill>
                <a:latin typeface="Consolas" pitchFamily="34" charset="0"/>
                <a:ea typeface="Consolas" pitchFamily="34" charset="-122"/>
                <a:cs typeface="Consolas" pitchFamily="34" charset="-120"/>
              </a:rPr>
              <a:t>printf()</a:t>
            </a:r>
            <a:endParaRPr lang="en-US" sz="1400" dirty="0"/>
          </a:p>
          <a:p>
            <a:pPr algn="ctr" indent="0" marL="0">
              <a:buNone/>
            </a:pPr>
            <a:r>
              <a:rPr lang="en-US" sz="1150" dirty="0">
                <a:solidFill>
                  <a:srgbClr val="36454F"/>
                </a:solidFill>
                <a:latin typeface="Calibri" pitchFamily="34" charset="0"/>
                <a:ea typeface="Calibri" pitchFamily="34" charset="-122"/>
                <a:cs typeface="Calibri" pitchFamily="34" charset="-120"/>
              </a:rPr>
              <a:t>C library (API)</a:t>
            </a:r>
            <a:endParaRPr lang="en-US" sz="1400" dirty="0"/>
          </a:p>
        </p:txBody>
      </p:sp>
      <p:sp>
        <p:nvSpPr>
          <p:cNvPr id="10" name="Shape 8"/>
          <p:cNvSpPr/>
          <p:nvPr/>
        </p:nvSpPr>
        <p:spPr>
          <a:xfrm>
            <a:off x="2532888" y="2121408"/>
            <a:ext cx="283464" cy="91"/>
          </a:xfrm>
          <a:prstGeom prst="line">
            <a:avLst/>
          </a:prstGeom>
          <a:noFill/>
          <a:ln w="22225">
            <a:solidFill>
              <a:srgbClr val="028090"/>
            </a:solidFill>
            <a:prstDash val="solid"/>
            <a:tailEnd type="triangle"/>
          </a:ln>
        </p:spPr>
        <p:txBody>
          <a:bodyPr/>
          <a:p/>
        </p:txBody>
      </p:sp>
      <p:sp>
        <p:nvSpPr>
          <p:cNvPr id="11" name="Shape 9"/>
          <p:cNvSpPr/>
          <p:nvPr/>
        </p:nvSpPr>
        <p:spPr>
          <a:xfrm>
            <a:off x="2834640" y="1691640"/>
            <a:ext cx="1965960" cy="868680"/>
          </a:xfrm>
          <a:prstGeom prst="roundRect">
            <a:avLst>
              <a:gd name="adj" fmla="val 5263"/>
            </a:avLst>
          </a:prstGeom>
          <a:solidFill>
            <a:srgbClr val="F2F2F2"/>
          </a:solidFill>
          <a:ln/>
        </p:spPr>
        <p:txBody>
          <a:bodyPr/>
          <a:p/>
        </p:txBody>
      </p:sp>
      <p:sp>
        <p:nvSpPr>
          <p:cNvPr id="12" name="Text 10"/>
          <p:cNvSpPr txBox="1"/>
          <p:nvPr/>
        </p:nvSpPr>
        <p:spPr>
          <a:xfrm>
            <a:off x="2834640" y="1691640"/>
            <a:ext cx="1965960" cy="868680"/>
          </a:xfrm>
          <a:prstGeom prst="rect">
            <a:avLst/>
          </a:prstGeom>
          <a:noFill/>
          <a:ln/>
        </p:spPr>
        <p:txBody>
          <a:bodyPr wrap="square" lIns="38100" tIns="38100" rIns="38100" bIns="38100" rtlCol="0" anchor="ctr"/>
          <a:lstStyle/>
          <a:p>
            <a:pPr algn="ctr" indent="0" marL="0">
              <a:buNone/>
            </a:pPr>
            <a:r>
              <a:rPr lang="en-US" sz="1400" b="1" dirty="0">
                <a:solidFill>
                  <a:srgbClr val="36454F"/>
                </a:solidFill>
                <a:latin typeface="Consolas" pitchFamily="34" charset="0"/>
                <a:ea typeface="Consolas" pitchFamily="34" charset="-122"/>
                <a:cs typeface="Consolas" pitchFamily="34" charset="-120"/>
              </a:rPr>
              <a:t>write() wrapper</a:t>
            </a:r>
            <a:endParaRPr lang="en-US" sz="1400" dirty="0"/>
          </a:p>
          <a:p>
            <a:pPr algn="ctr" indent="0" marL="0">
              <a:buNone/>
            </a:pPr>
            <a:r>
              <a:rPr lang="en-US" sz="1150" dirty="0">
                <a:solidFill>
                  <a:srgbClr val="36454F"/>
                </a:solidFill>
                <a:latin typeface="Calibri" pitchFamily="34" charset="0"/>
                <a:ea typeface="Calibri" pitchFamily="34" charset="-122"/>
                <a:cs typeface="Calibri" pitchFamily="34" charset="-120"/>
              </a:rPr>
              <a:t>rax = 1, rdi, rsi, rdx</a:t>
            </a:r>
            <a:endParaRPr lang="en-US" sz="1400" dirty="0"/>
          </a:p>
        </p:txBody>
      </p:sp>
      <p:sp>
        <p:nvSpPr>
          <p:cNvPr id="13" name="Shape 11"/>
          <p:cNvSpPr/>
          <p:nvPr/>
        </p:nvSpPr>
        <p:spPr>
          <a:xfrm>
            <a:off x="4818888" y="2121408"/>
            <a:ext cx="283464" cy="91"/>
          </a:xfrm>
          <a:prstGeom prst="line">
            <a:avLst/>
          </a:prstGeom>
          <a:noFill/>
          <a:ln w="22225">
            <a:solidFill>
              <a:srgbClr val="028090"/>
            </a:solidFill>
            <a:prstDash val="solid"/>
            <a:tailEnd type="triangle"/>
          </a:ln>
        </p:spPr>
        <p:txBody>
          <a:bodyPr/>
          <a:p/>
        </p:txBody>
      </p:sp>
      <p:sp>
        <p:nvSpPr>
          <p:cNvPr id="14" name="Shape 12"/>
          <p:cNvSpPr/>
          <p:nvPr/>
        </p:nvSpPr>
        <p:spPr>
          <a:xfrm>
            <a:off x="5120640" y="1691640"/>
            <a:ext cx="1965960" cy="868680"/>
          </a:xfrm>
          <a:prstGeom prst="roundRect">
            <a:avLst>
              <a:gd name="adj" fmla="val 5263"/>
            </a:avLst>
          </a:prstGeom>
          <a:solidFill>
            <a:srgbClr val="36454F"/>
          </a:solidFill>
          <a:ln/>
        </p:spPr>
        <p:txBody>
          <a:bodyPr/>
          <a:p/>
        </p:txBody>
      </p:sp>
      <p:sp>
        <p:nvSpPr>
          <p:cNvPr id="15" name="Text 13"/>
          <p:cNvSpPr txBox="1"/>
          <p:nvPr/>
        </p:nvSpPr>
        <p:spPr>
          <a:xfrm>
            <a:off x="5120640" y="1691640"/>
            <a:ext cx="1965960" cy="868680"/>
          </a:xfrm>
          <a:prstGeom prst="rect">
            <a:avLst/>
          </a:prstGeom>
          <a:noFill/>
          <a:ln/>
        </p:spPr>
        <p:txBody>
          <a:bodyPr wrap="square" lIns="38100" tIns="38100" rIns="38100" bIns="38100" rtlCol="0" anchor="ctr"/>
          <a:lstStyle/>
          <a:p>
            <a:pPr algn="ctr" indent="0" marL="0">
              <a:buNone/>
            </a:pPr>
            <a:r>
              <a:rPr lang="en-US" sz="1400" b="1" dirty="0">
                <a:solidFill>
                  <a:srgbClr val="FFFFFF"/>
                </a:solidFill>
                <a:latin typeface="Consolas" pitchFamily="34" charset="0"/>
                <a:ea typeface="Consolas" pitchFamily="34" charset="-122"/>
                <a:cs typeface="Consolas" pitchFamily="34" charset="-120"/>
              </a:rPr>
              <a:t>syscall</a:t>
            </a:r>
            <a:endParaRPr lang="en-US" sz="1400" dirty="0"/>
          </a:p>
          <a:p>
            <a:pPr algn="ctr" indent="0" marL="0">
              <a:buNone/>
            </a:pPr>
            <a:r>
              <a:rPr lang="en-US" sz="1150" dirty="0">
                <a:solidFill>
                  <a:srgbClr val="FFFFFF"/>
                </a:solidFill>
                <a:latin typeface="Calibri" pitchFamily="34" charset="0"/>
                <a:ea typeface="Calibri" pitchFamily="34" charset="-122"/>
                <a:cs typeface="Calibri" pitchFamily="34" charset="-120"/>
              </a:rPr>
              <a:t>trap: mode bit → kernel</a:t>
            </a:r>
            <a:endParaRPr lang="en-US" sz="1400" dirty="0"/>
          </a:p>
        </p:txBody>
      </p:sp>
      <p:sp>
        <p:nvSpPr>
          <p:cNvPr id="16" name="Shape 14"/>
          <p:cNvSpPr/>
          <p:nvPr/>
        </p:nvSpPr>
        <p:spPr>
          <a:xfrm>
            <a:off x="7104888" y="2121408"/>
            <a:ext cx="283464" cy="91"/>
          </a:xfrm>
          <a:prstGeom prst="line">
            <a:avLst/>
          </a:prstGeom>
          <a:noFill/>
          <a:ln w="22225">
            <a:solidFill>
              <a:srgbClr val="028090"/>
            </a:solidFill>
            <a:prstDash val="solid"/>
            <a:tailEnd type="triangle"/>
          </a:ln>
        </p:spPr>
        <p:txBody>
          <a:bodyPr/>
          <a:p/>
        </p:txBody>
      </p:sp>
      <p:sp>
        <p:nvSpPr>
          <p:cNvPr id="17" name="Shape 15"/>
          <p:cNvSpPr/>
          <p:nvPr/>
        </p:nvSpPr>
        <p:spPr>
          <a:xfrm>
            <a:off x="7406640" y="1691640"/>
            <a:ext cx="1965960" cy="868680"/>
          </a:xfrm>
          <a:prstGeom prst="roundRect">
            <a:avLst>
              <a:gd name="adj" fmla="val 5263"/>
            </a:avLst>
          </a:prstGeom>
          <a:solidFill>
            <a:srgbClr val="36454F"/>
          </a:solidFill>
          <a:ln/>
        </p:spPr>
        <p:txBody>
          <a:bodyPr/>
          <a:p/>
        </p:txBody>
      </p:sp>
      <p:sp>
        <p:nvSpPr>
          <p:cNvPr id="18" name="Text 16"/>
          <p:cNvSpPr txBox="1"/>
          <p:nvPr/>
        </p:nvSpPr>
        <p:spPr>
          <a:xfrm>
            <a:off x="7406640" y="1691640"/>
            <a:ext cx="1965960" cy="868680"/>
          </a:xfrm>
          <a:prstGeom prst="rect">
            <a:avLst/>
          </a:prstGeom>
          <a:noFill/>
          <a:ln/>
        </p:spPr>
        <p:txBody>
          <a:bodyPr wrap="square" lIns="38100" tIns="38100" rIns="38100" bIns="38100" rtlCol="0" anchor="ctr"/>
          <a:lstStyle/>
          <a:p>
            <a:pPr algn="ctr" indent="0" marL="0">
              <a:buNone/>
            </a:pPr>
            <a:r>
              <a:rPr lang="en-US" sz="1400" b="1" dirty="0">
                <a:solidFill>
                  <a:srgbClr val="FFFFFF"/>
                </a:solidFill>
                <a:latin typeface="Consolas" pitchFamily="34" charset="0"/>
                <a:ea typeface="Consolas" pitchFamily="34" charset="-122"/>
                <a:cs typeface="Consolas" pitchFamily="34" charset="-120"/>
              </a:rPr>
              <a:t>system-call table</a:t>
            </a:r>
            <a:endParaRPr lang="en-US" sz="1400" dirty="0"/>
          </a:p>
          <a:p>
            <a:pPr algn="ctr" indent="0" marL="0">
              <a:buNone/>
            </a:pPr>
            <a:r>
              <a:rPr lang="en-US" sz="1150" dirty="0">
                <a:solidFill>
                  <a:srgbClr val="FFFFFF"/>
                </a:solidFill>
                <a:latin typeface="Calibri" pitchFamily="34" charset="0"/>
                <a:ea typeface="Calibri" pitchFamily="34" charset="-122"/>
                <a:cs typeface="Calibri" pitchFamily="34" charset="-120"/>
              </a:rPr>
              <a:t>entry 1 → sys_write()</a:t>
            </a:r>
            <a:endParaRPr lang="en-US" sz="1400" dirty="0"/>
          </a:p>
        </p:txBody>
      </p:sp>
      <p:sp>
        <p:nvSpPr>
          <p:cNvPr id="19" name="Shape 17"/>
          <p:cNvSpPr/>
          <p:nvPr/>
        </p:nvSpPr>
        <p:spPr>
          <a:xfrm>
            <a:off x="9390888" y="2121408"/>
            <a:ext cx="283464" cy="91"/>
          </a:xfrm>
          <a:prstGeom prst="line">
            <a:avLst/>
          </a:prstGeom>
          <a:noFill/>
          <a:ln w="22225">
            <a:solidFill>
              <a:srgbClr val="028090"/>
            </a:solidFill>
            <a:prstDash val="solid"/>
            <a:tailEnd type="triangle"/>
          </a:ln>
        </p:spPr>
        <p:txBody>
          <a:bodyPr/>
          <a:p/>
        </p:txBody>
      </p:sp>
      <p:sp>
        <p:nvSpPr>
          <p:cNvPr id="20" name="Shape 18"/>
          <p:cNvSpPr/>
          <p:nvPr/>
        </p:nvSpPr>
        <p:spPr>
          <a:xfrm>
            <a:off x="9692640" y="1691640"/>
            <a:ext cx="1965960" cy="868680"/>
          </a:xfrm>
          <a:prstGeom prst="roundRect">
            <a:avLst>
              <a:gd name="adj" fmla="val 5263"/>
            </a:avLst>
          </a:prstGeom>
          <a:solidFill>
            <a:srgbClr val="F2F2F2"/>
          </a:solidFill>
          <a:ln/>
        </p:spPr>
        <p:txBody>
          <a:bodyPr/>
          <a:p/>
        </p:txBody>
      </p:sp>
      <p:sp>
        <p:nvSpPr>
          <p:cNvPr id="21" name="Text 19"/>
          <p:cNvSpPr txBox="1"/>
          <p:nvPr/>
        </p:nvSpPr>
        <p:spPr>
          <a:xfrm>
            <a:off x="9692640" y="1691640"/>
            <a:ext cx="1965960" cy="868680"/>
          </a:xfrm>
          <a:prstGeom prst="rect">
            <a:avLst/>
          </a:prstGeom>
          <a:noFill/>
          <a:ln/>
        </p:spPr>
        <p:txBody>
          <a:bodyPr wrap="square" lIns="38100" tIns="38100" rIns="38100" bIns="38100" rtlCol="0" anchor="ctr"/>
          <a:lstStyle/>
          <a:p>
            <a:pPr algn="ctr" indent="0" marL="0">
              <a:buNone/>
            </a:pPr>
            <a:r>
              <a:rPr lang="en-US" sz="1400" b="1" dirty="0">
                <a:solidFill>
                  <a:srgbClr val="36454F"/>
                </a:solidFill>
                <a:latin typeface="Consolas" pitchFamily="34" charset="0"/>
                <a:ea typeface="Consolas" pitchFamily="34" charset="-122"/>
                <a:cs typeface="Consolas" pitchFamily="34" charset="-120"/>
              </a:rPr>
              <a:t>return</a:t>
            </a:r>
            <a:endParaRPr lang="en-US" sz="1400" dirty="0"/>
          </a:p>
          <a:p>
            <a:pPr algn="ctr" indent="0" marL="0">
              <a:buNone/>
            </a:pPr>
            <a:r>
              <a:rPr lang="en-US" sz="1150" dirty="0">
                <a:solidFill>
                  <a:srgbClr val="36454F"/>
                </a:solidFill>
                <a:latin typeface="Calibri" pitchFamily="34" charset="0"/>
                <a:ea typeface="Calibri" pitchFamily="34" charset="-122"/>
                <a:cs typeface="Calibri" pitchFamily="34" charset="-120"/>
              </a:rPr>
              <a:t>bytes written in rax</a:t>
            </a:r>
            <a:endParaRPr lang="en-US" sz="1400" dirty="0"/>
          </a:p>
        </p:txBody>
      </p:sp>
      <p:sp>
        <p:nvSpPr>
          <p:cNvPr id="22" name="Text 20"/>
          <p:cNvSpPr txBox="1"/>
          <p:nvPr/>
        </p:nvSpPr>
        <p:spPr>
          <a:xfrm>
            <a:off x="548640" y="2606040"/>
            <a:ext cx="4389120" cy="274320"/>
          </a:xfrm>
          <a:prstGeom prst="rect">
            <a:avLst/>
          </a:prstGeom>
          <a:noFill/>
          <a:ln/>
        </p:spPr>
        <p:txBody>
          <a:bodyPr wrap="square" lIns="0" tIns="0" rIns="0" bIns="0" rtlCol="0" anchor="t"/>
          <a:lstStyle/>
          <a:p>
            <a:pPr algn="ctr" indent="0" marL="0">
              <a:buNone/>
            </a:pPr>
            <a:r>
              <a:rPr lang="en-US" sz="1100" i="1" dirty="0">
                <a:solidFill>
                  <a:srgbClr val="6B7679"/>
                </a:solidFill>
                <a:latin typeface="Calibri" pitchFamily="34" charset="0"/>
                <a:ea typeface="Calibri" pitchFamily="34" charset="-122"/>
                <a:cs typeface="Calibri" pitchFamily="34" charset="-120"/>
              </a:rPr>
              <a:t>user mode</a:t>
            </a:r>
            <a:endParaRPr lang="en-US" sz="1100" dirty="0"/>
          </a:p>
        </p:txBody>
      </p:sp>
      <p:sp>
        <p:nvSpPr>
          <p:cNvPr id="23" name="Text 21"/>
          <p:cNvSpPr txBox="1"/>
          <p:nvPr/>
        </p:nvSpPr>
        <p:spPr>
          <a:xfrm>
            <a:off x="5120640" y="2606040"/>
            <a:ext cx="4389120" cy="274320"/>
          </a:xfrm>
          <a:prstGeom prst="rect">
            <a:avLst/>
          </a:prstGeom>
          <a:noFill/>
          <a:ln/>
        </p:spPr>
        <p:txBody>
          <a:bodyPr wrap="square" lIns="0" tIns="0" rIns="0" bIns="0" rtlCol="0" anchor="t"/>
          <a:lstStyle/>
          <a:p>
            <a:pPr algn="ctr" indent="0" marL="0">
              <a:buNone/>
            </a:pPr>
            <a:r>
              <a:rPr lang="en-US" sz="1100" i="1" dirty="0">
                <a:solidFill>
                  <a:srgbClr val="6B7679"/>
                </a:solidFill>
                <a:latin typeface="Calibri" pitchFamily="34" charset="0"/>
                <a:ea typeface="Calibri" pitchFamily="34" charset="-122"/>
                <a:cs typeface="Calibri" pitchFamily="34" charset="-120"/>
              </a:rPr>
              <a:t>kernel mode</a:t>
            </a:r>
            <a:endParaRPr lang="en-US" sz="1100" dirty="0"/>
          </a:p>
        </p:txBody>
      </p:sp>
      <p:sp>
        <p:nvSpPr>
          <p:cNvPr id="24" name="Shape 22"/>
          <p:cNvSpPr/>
          <p:nvPr/>
        </p:nvSpPr>
        <p:spPr>
          <a:xfrm>
            <a:off x="548640" y="3154680"/>
            <a:ext cx="3657600" cy="3108960"/>
          </a:xfrm>
          <a:prstGeom prst="roundRect">
            <a:avLst>
              <a:gd name="adj" fmla="val 1765"/>
            </a:avLst>
          </a:prstGeom>
          <a:solidFill>
            <a:srgbClr val="F2F2F2"/>
          </a:solidFill>
          <a:ln/>
          <a:effectLst>
            <a:outerShdw sx="100000" sy="100000" kx="0" ky="0" algn="bl" rotWithShape="0" blurRad="101600" dist="25400" dir="5400000">
              <a:srgbClr val="000000">
                <a:alpha val="12000"/>
              </a:srgbClr>
            </a:outerShdw>
          </a:effectLst>
        </p:spPr>
        <p:txBody>
          <a:bodyPr/>
          <a:p/>
        </p:txBody>
      </p:sp>
      <p:sp>
        <p:nvSpPr>
          <p:cNvPr id="25" name="Text 23"/>
          <p:cNvSpPr txBox="1"/>
          <p:nvPr/>
        </p:nvSpPr>
        <p:spPr>
          <a:xfrm>
            <a:off x="777240" y="3337560"/>
            <a:ext cx="3200400" cy="384048"/>
          </a:xfrm>
          <a:prstGeom prst="rect">
            <a:avLst/>
          </a:prstGeom>
          <a:noFill/>
          <a:ln/>
        </p:spPr>
        <p:txBody>
          <a:bodyPr wrap="square" lIns="0" tIns="0" rIns="0" bIns="0" rtlCol="0" anchor="ctr"/>
          <a:lstStyle/>
          <a:p>
            <a:pPr indent="0" marL="0">
              <a:buNone/>
            </a:pPr>
            <a:r>
              <a:rPr lang="en-US" sz="1500" b="1" dirty="0">
                <a:solidFill>
                  <a:srgbClr val="028090"/>
                </a:solidFill>
                <a:latin typeface="Cambria" pitchFamily="34" charset="0"/>
                <a:ea typeface="Cambria" pitchFamily="34" charset="-122"/>
                <a:cs typeface="Cambria" pitchFamily="34" charset="-120"/>
              </a:rPr>
              <a:t>Services</a:t>
            </a:r>
            <a:endParaRPr lang="en-US" sz="1500" dirty="0"/>
          </a:p>
        </p:txBody>
      </p:sp>
      <p:sp>
        <p:nvSpPr>
          <p:cNvPr id="26" name="Text 24"/>
          <p:cNvSpPr txBox="1"/>
          <p:nvPr/>
        </p:nvSpPr>
        <p:spPr>
          <a:xfrm>
            <a:off x="777240" y="3794760"/>
            <a:ext cx="3200400" cy="2331720"/>
          </a:xfrm>
          <a:prstGeom prst="rect">
            <a:avLst/>
          </a:prstGeom>
          <a:noFill/>
          <a:ln/>
        </p:spPr>
        <p:txBody>
          <a:bodyPr wrap="square" lIns="0" tIns="0" rIns="0" bIns="0" rtlCol="0" anchor="t"/>
          <a:lstStyle/>
          <a:p>
            <a:pPr marL="228600" indent="-228600">
              <a:spcAft>
                <a:spcPts val="400"/>
              </a:spcAft>
              <a:buSzPct val="100000"/>
              <a:buChar char="•"/>
            </a:pPr>
            <a:r>
              <a:rPr lang="en-US" sz="1350" b="1" dirty="0">
                <a:solidFill>
                  <a:srgbClr val="3A464C"/>
                </a:solidFill>
                <a:latin typeface="Calibri" pitchFamily="34" charset="0"/>
                <a:ea typeface="Calibri" pitchFamily="34" charset="-122"/>
                <a:cs typeface="Calibri" pitchFamily="34" charset="-120"/>
              </a:rPr>
              <a:t>For the user:</a:t>
            </a:r>
            <a:r>
              <a:rPr lang="en-US" sz="1350" dirty="0">
                <a:solidFill>
                  <a:srgbClr val="3A464C"/>
                </a:solidFill>
                <a:latin typeface="Calibri" pitchFamily="34" charset="0"/>
                <a:ea typeface="Calibri" pitchFamily="34" charset="-122"/>
                <a:cs typeface="Calibri" pitchFamily="34" charset="-120"/>
              </a:rPr>
              <a:t> user interface, program execution, I/O, file-system manipulation, communication, error detection.</a:t>
            </a:r>
            <a:endParaRPr lang="en-US" sz="1350" dirty="0"/>
          </a:p>
          <a:p>
            <a:pPr marL="228600" indent="-228600">
              <a:spcAft>
                <a:spcPts val="400"/>
              </a:spcAft>
              <a:buSzPct val="100000"/>
              <a:buChar char="•"/>
            </a:pPr>
            <a:r>
              <a:rPr lang="en-US" sz="1350" b="1" dirty="0">
                <a:solidFill>
                  <a:srgbClr val="3A464C"/>
                </a:solidFill>
                <a:latin typeface="Calibri" pitchFamily="34" charset="0"/>
                <a:ea typeface="Calibri" pitchFamily="34" charset="-122"/>
                <a:cs typeface="Calibri" pitchFamily="34" charset="-120"/>
              </a:rPr>
              <a:t>For the system:</a:t>
            </a:r>
            <a:r>
              <a:rPr lang="en-US" sz="1350" dirty="0">
                <a:solidFill>
                  <a:srgbClr val="3A464C"/>
                </a:solidFill>
                <a:latin typeface="Calibri" pitchFamily="34" charset="0"/>
                <a:ea typeface="Calibri" pitchFamily="34" charset="-122"/>
                <a:cs typeface="Calibri" pitchFamily="34" charset="-120"/>
              </a:rPr>
              <a:t> resource allocation, accounting and logging, protection and security.</a:t>
            </a:r>
            <a:endParaRPr lang="en-US" sz="1350" dirty="0"/>
          </a:p>
        </p:txBody>
      </p:sp>
      <p:sp>
        <p:nvSpPr>
          <p:cNvPr id="27" name="Shape 25"/>
          <p:cNvSpPr/>
          <p:nvPr/>
        </p:nvSpPr>
        <p:spPr>
          <a:xfrm>
            <a:off x="4343400" y="3154680"/>
            <a:ext cx="3520440" cy="3108960"/>
          </a:xfrm>
          <a:prstGeom prst="roundRect">
            <a:avLst>
              <a:gd name="adj" fmla="val 1765"/>
            </a:avLst>
          </a:prstGeom>
          <a:solidFill>
            <a:srgbClr val="F2F2F2"/>
          </a:solidFill>
          <a:ln/>
          <a:effectLst>
            <a:outerShdw sx="100000" sy="100000" kx="0" ky="0" algn="bl" rotWithShape="0" blurRad="101600" dist="25400" dir="5400000">
              <a:srgbClr val="000000">
                <a:alpha val="12000"/>
              </a:srgbClr>
            </a:outerShdw>
          </a:effectLst>
        </p:spPr>
        <p:txBody>
          <a:bodyPr/>
          <a:p/>
        </p:txBody>
      </p:sp>
      <p:sp>
        <p:nvSpPr>
          <p:cNvPr id="28" name="Text 26"/>
          <p:cNvSpPr txBox="1"/>
          <p:nvPr/>
        </p:nvSpPr>
        <p:spPr>
          <a:xfrm>
            <a:off x="4572000" y="3337560"/>
            <a:ext cx="3063240" cy="384048"/>
          </a:xfrm>
          <a:prstGeom prst="rect">
            <a:avLst/>
          </a:prstGeom>
          <a:noFill/>
          <a:ln/>
        </p:spPr>
        <p:txBody>
          <a:bodyPr wrap="square" lIns="0" tIns="0" rIns="0" bIns="0" rtlCol="0" anchor="ctr"/>
          <a:lstStyle/>
          <a:p>
            <a:pPr indent="0" marL="0">
              <a:buNone/>
            </a:pPr>
            <a:r>
              <a:rPr lang="en-US" sz="1500" b="1" dirty="0">
                <a:solidFill>
                  <a:srgbClr val="028090"/>
                </a:solidFill>
                <a:latin typeface="Cambria" pitchFamily="34" charset="0"/>
                <a:ea typeface="Cambria" pitchFamily="34" charset="-122"/>
                <a:cs typeface="Cambria" pitchFamily="34" charset="-120"/>
              </a:rPr>
              <a:t>Passing parameters</a:t>
            </a:r>
            <a:endParaRPr lang="en-US" sz="1500" dirty="0"/>
          </a:p>
        </p:txBody>
      </p:sp>
      <p:sp>
        <p:nvSpPr>
          <p:cNvPr id="29" name="Text 27"/>
          <p:cNvSpPr txBox="1"/>
          <p:nvPr/>
        </p:nvSpPr>
        <p:spPr>
          <a:xfrm>
            <a:off x="4572000" y="3794760"/>
            <a:ext cx="3063240" cy="2331720"/>
          </a:xfrm>
          <a:prstGeom prst="rect">
            <a:avLst/>
          </a:prstGeom>
          <a:noFill/>
          <a:ln/>
        </p:spPr>
        <p:txBody>
          <a:bodyPr wrap="square" lIns="0" tIns="0" rIns="0" bIns="0" rtlCol="0" anchor="t"/>
          <a:lstStyle/>
          <a:p>
            <a:pPr marL="228600" indent="-228600">
              <a:spcAft>
                <a:spcPts val="400"/>
              </a:spcAft>
              <a:buSzPct val="100000"/>
              <a:buChar char="•"/>
            </a:pPr>
            <a:r>
              <a:rPr lang="en-US" sz="1350" dirty="0">
                <a:solidFill>
                  <a:srgbClr val="3A464C"/>
                </a:solidFill>
                <a:latin typeface="Calibri" pitchFamily="34" charset="0"/>
                <a:ea typeface="Calibri" pitchFamily="34" charset="-122"/>
                <a:cs typeface="Calibri" pitchFamily="34" charset="-120"/>
              </a:rPr>
              <a:t>1. In registers (fastest).</a:t>
            </a:r>
            <a:endParaRPr lang="en-US" sz="1350" dirty="0"/>
          </a:p>
          <a:p>
            <a:pPr marL="228600" indent="-228600">
              <a:spcAft>
                <a:spcPts val="400"/>
              </a:spcAft>
              <a:buSzPct val="100000"/>
              <a:buChar char="•"/>
            </a:pPr>
            <a:r>
              <a:rPr lang="en-US" sz="1350" dirty="0">
                <a:solidFill>
                  <a:srgbClr val="3A464C"/>
                </a:solidFill>
                <a:latin typeface="Calibri" pitchFamily="34" charset="0"/>
                <a:ea typeface="Calibri" pitchFamily="34" charset="-122"/>
                <a:cs typeface="Calibri" pitchFamily="34" charset="-120"/>
              </a:rPr>
              <a:t>2. In a memory block; its address in a register.</a:t>
            </a:r>
            <a:endParaRPr lang="en-US" sz="1350" dirty="0"/>
          </a:p>
          <a:p>
            <a:pPr marL="228600" indent="-228600">
              <a:spcAft>
                <a:spcPts val="400"/>
              </a:spcAft>
              <a:buSzPct val="100000"/>
              <a:buChar char="•"/>
            </a:pPr>
            <a:r>
              <a:rPr lang="en-US" sz="1350" dirty="0">
                <a:solidFill>
                  <a:srgbClr val="3A464C"/>
                </a:solidFill>
                <a:latin typeface="Calibri" pitchFamily="34" charset="0"/>
                <a:ea typeface="Calibri" pitchFamily="34" charset="-122"/>
                <a:cs typeface="Calibri" pitchFamily="34" charset="-120"/>
              </a:rPr>
              <a:t>3. On the stack.</a:t>
            </a:r>
            <a:endParaRPr lang="en-US" sz="1350" dirty="0"/>
          </a:p>
          <a:p>
            <a:pPr marL="228600" indent="-228600">
              <a:spcAft>
                <a:spcPts val="400"/>
              </a:spcAft>
              <a:buSzPct val="100000"/>
              <a:buChar char="•"/>
            </a:pPr>
            <a:r>
              <a:rPr lang="en-US" sz="1350" dirty="0">
                <a:solidFill>
                  <a:srgbClr val="3A464C"/>
                </a:solidFill>
                <a:latin typeface="Calibri" pitchFamily="34" charset="0"/>
                <a:ea typeface="Calibri" pitchFamily="34" charset="-122"/>
                <a:cs typeface="Calibri" pitchFamily="34" charset="-120"/>
              </a:rPr>
              <a:t>x86-64 Linux: number in rax, up to six parameters in registers.</a:t>
            </a:r>
            <a:endParaRPr lang="en-US" sz="1350" dirty="0"/>
          </a:p>
        </p:txBody>
      </p:sp>
      <p:sp>
        <p:nvSpPr>
          <p:cNvPr id="30" name="Shape 28"/>
          <p:cNvSpPr/>
          <p:nvPr/>
        </p:nvSpPr>
        <p:spPr>
          <a:xfrm>
            <a:off x="8001000" y="3154680"/>
            <a:ext cx="3657600" cy="3108960"/>
          </a:xfrm>
          <a:prstGeom prst="roundRect">
            <a:avLst>
              <a:gd name="adj" fmla="val 1765"/>
            </a:avLst>
          </a:prstGeom>
          <a:solidFill>
            <a:srgbClr val="F2F2F2"/>
          </a:solidFill>
          <a:ln/>
          <a:effectLst>
            <a:outerShdw sx="100000" sy="100000" kx="0" ky="0" algn="bl" rotWithShape="0" blurRad="101600" dist="25400" dir="5400000">
              <a:srgbClr val="000000">
                <a:alpha val="12000"/>
              </a:srgbClr>
            </a:outerShdw>
          </a:effectLst>
        </p:spPr>
        <p:txBody>
          <a:bodyPr/>
          <a:p/>
        </p:txBody>
      </p:sp>
      <p:sp>
        <p:nvSpPr>
          <p:cNvPr id="31" name="Text 29"/>
          <p:cNvSpPr txBox="1"/>
          <p:nvPr/>
        </p:nvSpPr>
        <p:spPr>
          <a:xfrm>
            <a:off x="8229600" y="3337560"/>
            <a:ext cx="3200400" cy="384048"/>
          </a:xfrm>
          <a:prstGeom prst="rect">
            <a:avLst/>
          </a:prstGeom>
          <a:noFill/>
          <a:ln/>
        </p:spPr>
        <p:txBody>
          <a:bodyPr wrap="square" lIns="0" tIns="0" rIns="0" bIns="0" rtlCol="0" anchor="ctr"/>
          <a:lstStyle/>
          <a:p>
            <a:pPr indent="0" marL="0">
              <a:buNone/>
            </a:pPr>
            <a:r>
              <a:rPr lang="en-US" sz="1500" b="1" dirty="0">
                <a:solidFill>
                  <a:srgbClr val="028090"/>
                </a:solidFill>
                <a:latin typeface="Cambria" pitchFamily="34" charset="0"/>
                <a:ea typeface="Cambria" pitchFamily="34" charset="-122"/>
                <a:cs typeface="Cambria" pitchFamily="34" charset="-120"/>
              </a:rPr>
              <a:t>Six categories</a:t>
            </a:r>
            <a:endParaRPr lang="en-US" sz="1500" dirty="0"/>
          </a:p>
        </p:txBody>
      </p:sp>
      <p:sp>
        <p:nvSpPr>
          <p:cNvPr id="32" name="Text 30"/>
          <p:cNvSpPr txBox="1"/>
          <p:nvPr/>
        </p:nvSpPr>
        <p:spPr>
          <a:xfrm>
            <a:off x="8229600" y="3794760"/>
            <a:ext cx="3200400" cy="2331720"/>
          </a:xfrm>
          <a:prstGeom prst="rect">
            <a:avLst/>
          </a:prstGeom>
          <a:noFill/>
          <a:ln/>
        </p:spPr>
        <p:txBody>
          <a:bodyPr wrap="square" lIns="0" tIns="0" rIns="0" bIns="0" rtlCol="0" anchor="t"/>
          <a:lstStyle/>
          <a:p>
            <a:pPr marL="228600" indent="-228600">
              <a:spcAft>
                <a:spcPts val="400"/>
              </a:spcAft>
              <a:buSzPct val="100000"/>
              <a:buChar char="•"/>
            </a:pPr>
            <a:r>
              <a:rPr lang="en-US" sz="1350" dirty="0">
                <a:solidFill>
                  <a:srgbClr val="3A464C"/>
                </a:solidFill>
                <a:latin typeface="Calibri" pitchFamily="34" charset="0"/>
                <a:ea typeface="Calibri" pitchFamily="34" charset="-122"/>
                <a:cs typeface="Calibri" pitchFamily="34" charset="-120"/>
              </a:rPr>
              <a:t>Process control (fork, exit, wait)</a:t>
            </a:r>
            <a:endParaRPr lang="en-US" sz="1350" dirty="0"/>
          </a:p>
          <a:p>
            <a:pPr marL="228600" indent="-228600">
              <a:spcAft>
                <a:spcPts val="400"/>
              </a:spcAft>
              <a:buSzPct val="100000"/>
              <a:buChar char="•"/>
            </a:pPr>
            <a:r>
              <a:rPr lang="en-US" sz="1350" dirty="0">
                <a:solidFill>
                  <a:srgbClr val="3A464C"/>
                </a:solidFill>
                <a:latin typeface="Calibri" pitchFamily="34" charset="0"/>
                <a:ea typeface="Calibri" pitchFamily="34" charset="-122"/>
                <a:cs typeface="Calibri" pitchFamily="34" charset="-120"/>
              </a:rPr>
              <a:t>File management (open, read, close)</a:t>
            </a:r>
            <a:endParaRPr lang="en-US" sz="1350" dirty="0"/>
          </a:p>
          <a:p>
            <a:pPr marL="228600" indent="-228600">
              <a:spcAft>
                <a:spcPts val="400"/>
              </a:spcAft>
              <a:buSzPct val="100000"/>
              <a:buChar char="•"/>
            </a:pPr>
            <a:r>
              <a:rPr lang="en-US" sz="1350" dirty="0">
                <a:solidFill>
                  <a:srgbClr val="3A464C"/>
                </a:solidFill>
                <a:latin typeface="Calibri" pitchFamily="34" charset="0"/>
                <a:ea typeface="Calibri" pitchFamily="34" charset="-122"/>
                <a:cs typeface="Calibri" pitchFamily="34" charset="-120"/>
              </a:rPr>
              <a:t>Device management (ioctl)</a:t>
            </a:r>
            <a:endParaRPr lang="en-US" sz="1350" dirty="0"/>
          </a:p>
          <a:p>
            <a:pPr marL="228600" indent="-228600">
              <a:spcAft>
                <a:spcPts val="400"/>
              </a:spcAft>
              <a:buSzPct val="100000"/>
              <a:buChar char="•"/>
            </a:pPr>
            <a:r>
              <a:rPr lang="en-US" sz="1350" dirty="0">
                <a:solidFill>
                  <a:srgbClr val="3A464C"/>
                </a:solidFill>
                <a:latin typeface="Calibri" pitchFamily="34" charset="0"/>
                <a:ea typeface="Calibri" pitchFamily="34" charset="-122"/>
                <a:cs typeface="Calibri" pitchFamily="34" charset="-120"/>
              </a:rPr>
              <a:t>Information maintenance (getpid)</a:t>
            </a:r>
            <a:endParaRPr lang="en-US" sz="1350" dirty="0"/>
          </a:p>
          <a:p>
            <a:pPr marL="228600" indent="-228600">
              <a:spcAft>
                <a:spcPts val="400"/>
              </a:spcAft>
              <a:buSzPct val="100000"/>
              <a:buChar char="•"/>
            </a:pPr>
            <a:r>
              <a:rPr lang="en-US" sz="1350" dirty="0">
                <a:solidFill>
                  <a:srgbClr val="3A464C"/>
                </a:solidFill>
                <a:latin typeface="Calibri" pitchFamily="34" charset="0"/>
                <a:ea typeface="Calibri" pitchFamily="34" charset="-122"/>
                <a:cs typeface="Calibri" pitchFamily="34" charset="-120"/>
              </a:rPr>
              <a:t>Communication (pipe, socket)</a:t>
            </a:r>
            <a:endParaRPr lang="en-US" sz="1350" dirty="0"/>
          </a:p>
          <a:p>
            <a:pPr marL="228600" indent="-228600">
              <a:spcAft>
                <a:spcPts val="400"/>
              </a:spcAft>
              <a:buSzPct val="100000"/>
              <a:buChar char="•"/>
            </a:pPr>
            <a:r>
              <a:rPr lang="en-US" sz="1350" dirty="0">
                <a:solidFill>
                  <a:srgbClr val="3A464C"/>
                </a:solidFill>
                <a:latin typeface="Calibri" pitchFamily="34" charset="0"/>
                <a:ea typeface="Calibri" pitchFamily="34" charset="-122"/>
                <a:cs typeface="Calibri" pitchFamily="34" charset="-120"/>
              </a:rPr>
              <a:t>Protection (chmod)</a:t>
            </a:r>
            <a:endParaRPr lang="en-US" sz="13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en-US" sz="1200" b="1" spc="200" kern="0" dirty="0">
                <a:solidFill>
                  <a:srgbClr val="02C39A"/>
                </a:solidFill>
                <a:latin typeface="Calibri" pitchFamily="34" charset="0"/>
                <a:ea typeface="Calibri" pitchFamily="34" charset="-122"/>
                <a:cs typeface="Calibri" pitchFamily="34" charset="-120"/>
              </a:rPr>
              <a:t>WEEK 3 · PROCESSES</a:t>
            </a:r>
            <a:endParaRPr lang="en-US"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en-US" sz="3000" b="1" dirty="0">
                <a:solidFill>
                  <a:srgbClr val="36454F"/>
                </a:solidFill>
                <a:latin typeface="Cambria" pitchFamily="34" charset="0"/>
                <a:ea typeface="Cambria" pitchFamily="34" charset="-122"/>
                <a:cs typeface="Cambria" pitchFamily="34" charset="-120"/>
              </a:rPr>
              <a:t>Process States, PCB, Context Switch, fork()</a:t>
            </a:r>
            <a:endParaRPr lang="en-US" sz="3000" dirty="0"/>
          </a:p>
        </p:txBody>
      </p:sp>
      <p:sp>
        <p:nvSpPr>
          <p:cNvPr id="4" name="Text 2"/>
          <p:cNvSpPr txBox="1"/>
          <p:nvPr/>
        </p:nvSpPr>
        <p:spPr>
          <a:xfrm>
            <a:off x="548640" y="6528816"/>
            <a:ext cx="6400800" cy="274320"/>
          </a:xfrm>
          <a:prstGeom prst="rect">
            <a:avLst/>
          </a:prstGeom>
          <a:noFill/>
          <a:ln/>
        </p:spPr>
        <p:txBody>
          <a:bodyPr wrap="square" lIns="0" tIns="0" rIns="0" bIns="0" rtlCol="0" anchor="ctr"/>
          <a:lstStyle/>
          <a:p>
            <a:pPr indent="0" marL="0">
              <a:buNone/>
            </a:pPr>
            <a:r>
              <a:rPr lang="en-US" sz="900" dirty="0">
                <a:solidFill>
                  <a:srgbClr val="6B7679"/>
                </a:solidFill>
                <a:latin typeface="Calibri" pitchFamily="34" charset="0"/>
                <a:ea typeface="Calibri" pitchFamily="34" charset="-122"/>
                <a:cs typeface="Calibri" pitchFamily="34" charset="-120"/>
              </a:rPr>
              <a:t>MCMP117 — Fundamentals of Operating Systems</a:t>
            </a:r>
            <a:endParaRPr lang="en-US" sz="900" dirty="0"/>
          </a:p>
        </p:txBody>
      </p:sp>
      <p:sp>
        <p:nvSpPr>
          <p:cNvPr id="5" name="Text 3"/>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en-US" sz="900" dirty="0">
                <a:solidFill>
                  <a:srgbClr val="6B7679"/>
                </a:solidFill>
                <a:latin typeface="Calibri" pitchFamily="34" charset="0"/>
                <a:ea typeface="Calibri" pitchFamily="34" charset="-122"/>
                <a:cs typeface="Calibri" pitchFamily="34" charset="-120"/>
              </a:rPr>
              <a:t>Week 8  ·  11</a:t>
            </a:r>
            <a:endParaRPr lang="en-US" sz="900" dirty="0"/>
          </a:p>
        </p:txBody>
      </p:sp>
      <p:sp>
        <p:nvSpPr>
          <p:cNvPr id="6" name="Shape 4"/>
          <p:cNvSpPr/>
          <p:nvPr/>
        </p:nvSpPr>
        <p:spPr>
          <a:xfrm>
            <a:off x="10287000" y="274320"/>
            <a:ext cx="1371600" cy="329184"/>
          </a:xfrm>
          <a:prstGeom prst="roundRect">
            <a:avLst>
              <a:gd name="adj" fmla="val 13889"/>
            </a:avLst>
          </a:prstGeom>
          <a:solidFill>
            <a:srgbClr val="02C39A"/>
          </a:solidFill>
          <a:ln/>
        </p:spPr>
        <p:txBody>
          <a:bodyPr/>
          <a:p/>
        </p:txBody>
      </p:sp>
      <p:sp>
        <p:nvSpPr>
          <p:cNvPr id="7" name="Text 5"/>
          <p:cNvSpPr txBox="1"/>
          <p:nvPr/>
        </p:nvSpPr>
        <p:spPr>
          <a:xfrm>
            <a:off x="10287000" y="274320"/>
            <a:ext cx="1371600" cy="329184"/>
          </a:xfrm>
          <a:prstGeom prst="rect">
            <a:avLst/>
          </a:prstGeom>
          <a:noFill/>
          <a:ln/>
        </p:spPr>
        <p:txBody>
          <a:bodyPr wrap="square" lIns="38100" tIns="38100" rIns="38100" bIns="38100" rtlCol="0" anchor="ctr"/>
          <a:lstStyle/>
          <a:p>
            <a:pPr algn="ctr" indent="0" marL="0">
              <a:buNone/>
            </a:pPr>
            <a:r>
              <a:rPr lang="en-US" sz="1200" b="1" dirty="0">
                <a:solidFill>
                  <a:srgbClr val="212121"/>
                </a:solidFill>
                <a:latin typeface="Calibri" pitchFamily="34" charset="0"/>
                <a:ea typeface="Calibri" pitchFamily="34" charset="-122"/>
                <a:cs typeface="Calibri" pitchFamily="34" charset="-120"/>
              </a:rPr>
              <a:t>Week 3</a:t>
            </a:r>
            <a:endParaRPr lang="en-US" sz="1200" dirty="0"/>
          </a:p>
        </p:txBody>
      </p:sp>
      <p:sp>
        <p:nvSpPr>
          <p:cNvPr id="8" name="Shape 6"/>
          <p:cNvSpPr/>
          <p:nvPr/>
        </p:nvSpPr>
        <p:spPr>
          <a:xfrm>
            <a:off x="640080" y="1691640"/>
            <a:ext cx="1417320" cy="548640"/>
          </a:xfrm>
          <a:prstGeom prst="roundRect">
            <a:avLst>
              <a:gd name="adj" fmla="val 8333"/>
            </a:avLst>
          </a:prstGeom>
          <a:solidFill>
            <a:srgbClr val="F2F2F2"/>
          </a:solidFill>
          <a:ln/>
        </p:spPr>
        <p:txBody>
          <a:bodyPr/>
          <a:p/>
        </p:txBody>
      </p:sp>
      <p:sp>
        <p:nvSpPr>
          <p:cNvPr id="9" name="Text 7"/>
          <p:cNvSpPr txBox="1"/>
          <p:nvPr/>
        </p:nvSpPr>
        <p:spPr>
          <a:xfrm>
            <a:off x="640080" y="1691640"/>
            <a:ext cx="1417320" cy="548640"/>
          </a:xfrm>
          <a:prstGeom prst="rect">
            <a:avLst/>
          </a:prstGeom>
          <a:noFill/>
          <a:ln/>
        </p:spPr>
        <p:txBody>
          <a:bodyPr wrap="square" lIns="38100" tIns="38100" rIns="38100" bIns="38100" rtlCol="0" anchor="ctr"/>
          <a:lstStyle/>
          <a:p>
            <a:pPr algn="ctr" indent="0" marL="0">
              <a:buNone/>
            </a:pPr>
            <a:r>
              <a:rPr lang="en-US" sz="1400" b="1" dirty="0">
                <a:solidFill>
                  <a:srgbClr val="212121"/>
                </a:solidFill>
                <a:latin typeface="Calibri" pitchFamily="34" charset="0"/>
                <a:ea typeface="Calibri" pitchFamily="34" charset="-122"/>
                <a:cs typeface="Calibri" pitchFamily="34" charset="-120"/>
              </a:rPr>
              <a:t>new</a:t>
            </a:r>
            <a:endParaRPr lang="en-US" sz="1400" dirty="0"/>
          </a:p>
        </p:txBody>
      </p:sp>
      <p:sp>
        <p:nvSpPr>
          <p:cNvPr id="10" name="Shape 8"/>
          <p:cNvSpPr/>
          <p:nvPr/>
        </p:nvSpPr>
        <p:spPr>
          <a:xfrm>
            <a:off x="5120640" y="1691640"/>
            <a:ext cx="1417320" cy="548640"/>
          </a:xfrm>
          <a:prstGeom prst="roundRect">
            <a:avLst>
              <a:gd name="adj" fmla="val 8333"/>
            </a:avLst>
          </a:prstGeom>
          <a:solidFill>
            <a:srgbClr val="F2F2F2"/>
          </a:solidFill>
          <a:ln/>
        </p:spPr>
        <p:txBody>
          <a:bodyPr/>
          <a:p/>
        </p:txBody>
      </p:sp>
      <p:sp>
        <p:nvSpPr>
          <p:cNvPr id="11" name="Text 9"/>
          <p:cNvSpPr txBox="1"/>
          <p:nvPr/>
        </p:nvSpPr>
        <p:spPr>
          <a:xfrm>
            <a:off x="5120640" y="1691640"/>
            <a:ext cx="1417320" cy="548640"/>
          </a:xfrm>
          <a:prstGeom prst="rect">
            <a:avLst/>
          </a:prstGeom>
          <a:noFill/>
          <a:ln/>
        </p:spPr>
        <p:txBody>
          <a:bodyPr wrap="square" lIns="38100" tIns="38100" rIns="38100" bIns="38100" rtlCol="0" anchor="ctr"/>
          <a:lstStyle/>
          <a:p>
            <a:pPr algn="ctr" indent="0" marL="0">
              <a:buNone/>
            </a:pPr>
            <a:r>
              <a:rPr lang="en-US" sz="1400" b="1" dirty="0">
                <a:solidFill>
                  <a:srgbClr val="212121"/>
                </a:solidFill>
                <a:latin typeface="Calibri" pitchFamily="34" charset="0"/>
                <a:ea typeface="Calibri" pitchFamily="34" charset="-122"/>
                <a:cs typeface="Calibri" pitchFamily="34" charset="-120"/>
              </a:rPr>
              <a:t>terminated</a:t>
            </a:r>
            <a:endParaRPr lang="en-US" sz="1400" dirty="0"/>
          </a:p>
        </p:txBody>
      </p:sp>
      <p:sp>
        <p:nvSpPr>
          <p:cNvPr id="12" name="Shape 10"/>
          <p:cNvSpPr/>
          <p:nvPr/>
        </p:nvSpPr>
        <p:spPr>
          <a:xfrm>
            <a:off x="640080" y="3429000"/>
            <a:ext cx="1417320" cy="548640"/>
          </a:xfrm>
          <a:prstGeom prst="roundRect">
            <a:avLst>
              <a:gd name="adj" fmla="val 8333"/>
            </a:avLst>
          </a:prstGeom>
          <a:solidFill>
            <a:srgbClr val="D7E9E6"/>
          </a:solidFill>
          <a:ln/>
        </p:spPr>
        <p:txBody>
          <a:bodyPr/>
          <a:p/>
        </p:txBody>
      </p:sp>
      <p:sp>
        <p:nvSpPr>
          <p:cNvPr id="13" name="Text 11"/>
          <p:cNvSpPr txBox="1"/>
          <p:nvPr/>
        </p:nvSpPr>
        <p:spPr>
          <a:xfrm>
            <a:off x="640080" y="3429000"/>
            <a:ext cx="1417320" cy="548640"/>
          </a:xfrm>
          <a:prstGeom prst="rect">
            <a:avLst/>
          </a:prstGeom>
          <a:noFill/>
          <a:ln/>
        </p:spPr>
        <p:txBody>
          <a:bodyPr wrap="square" lIns="38100" tIns="38100" rIns="38100" bIns="38100" rtlCol="0" anchor="ctr"/>
          <a:lstStyle/>
          <a:p>
            <a:pPr algn="ctr" indent="0" marL="0">
              <a:buNone/>
            </a:pPr>
            <a:r>
              <a:rPr lang="en-US" sz="1400" b="1" dirty="0">
                <a:solidFill>
                  <a:srgbClr val="212121"/>
                </a:solidFill>
                <a:latin typeface="Calibri" pitchFamily="34" charset="0"/>
                <a:ea typeface="Calibri" pitchFamily="34" charset="-122"/>
                <a:cs typeface="Calibri" pitchFamily="34" charset="-120"/>
              </a:rPr>
              <a:t>ready</a:t>
            </a:r>
            <a:endParaRPr lang="en-US" sz="1400" dirty="0"/>
          </a:p>
        </p:txBody>
      </p:sp>
      <p:sp>
        <p:nvSpPr>
          <p:cNvPr id="14" name="Shape 12"/>
          <p:cNvSpPr/>
          <p:nvPr/>
        </p:nvSpPr>
        <p:spPr>
          <a:xfrm>
            <a:off x="5120640" y="3429000"/>
            <a:ext cx="1417320" cy="548640"/>
          </a:xfrm>
          <a:prstGeom prst="roundRect">
            <a:avLst>
              <a:gd name="adj" fmla="val 8333"/>
            </a:avLst>
          </a:prstGeom>
          <a:solidFill>
            <a:srgbClr val="02C39A"/>
          </a:solidFill>
          <a:ln/>
        </p:spPr>
        <p:txBody>
          <a:bodyPr/>
          <a:p/>
        </p:txBody>
      </p:sp>
      <p:sp>
        <p:nvSpPr>
          <p:cNvPr id="15" name="Text 13"/>
          <p:cNvSpPr txBox="1"/>
          <p:nvPr/>
        </p:nvSpPr>
        <p:spPr>
          <a:xfrm>
            <a:off x="5120640" y="3429000"/>
            <a:ext cx="1417320" cy="548640"/>
          </a:xfrm>
          <a:prstGeom prst="rect">
            <a:avLst/>
          </a:prstGeom>
          <a:noFill/>
          <a:ln/>
        </p:spPr>
        <p:txBody>
          <a:bodyPr wrap="square" lIns="38100" tIns="38100" rIns="38100" bIns="38100" rtlCol="0" anchor="ctr"/>
          <a:lstStyle/>
          <a:p>
            <a:pPr algn="ctr" indent="0" marL="0">
              <a:buNone/>
            </a:pPr>
            <a:r>
              <a:rPr lang="en-US" sz="1400" b="1" dirty="0">
                <a:solidFill>
                  <a:srgbClr val="212121"/>
                </a:solidFill>
                <a:latin typeface="Calibri" pitchFamily="34" charset="0"/>
                <a:ea typeface="Calibri" pitchFamily="34" charset="-122"/>
                <a:cs typeface="Calibri" pitchFamily="34" charset="-120"/>
              </a:rPr>
              <a:t>running</a:t>
            </a:r>
            <a:endParaRPr lang="en-US" sz="1400" dirty="0"/>
          </a:p>
        </p:txBody>
      </p:sp>
      <p:sp>
        <p:nvSpPr>
          <p:cNvPr id="16" name="Shape 14"/>
          <p:cNvSpPr/>
          <p:nvPr/>
        </p:nvSpPr>
        <p:spPr>
          <a:xfrm>
            <a:off x="2880360" y="5257800"/>
            <a:ext cx="1417320" cy="548640"/>
          </a:xfrm>
          <a:prstGeom prst="roundRect">
            <a:avLst>
              <a:gd name="adj" fmla="val 8333"/>
            </a:avLst>
          </a:prstGeom>
          <a:solidFill>
            <a:srgbClr val="D7E9E6"/>
          </a:solidFill>
          <a:ln/>
        </p:spPr>
        <p:txBody>
          <a:bodyPr/>
          <a:p/>
        </p:txBody>
      </p:sp>
      <p:sp>
        <p:nvSpPr>
          <p:cNvPr id="17" name="Text 15"/>
          <p:cNvSpPr txBox="1"/>
          <p:nvPr/>
        </p:nvSpPr>
        <p:spPr>
          <a:xfrm>
            <a:off x="2880360" y="5257800"/>
            <a:ext cx="1417320" cy="548640"/>
          </a:xfrm>
          <a:prstGeom prst="rect">
            <a:avLst/>
          </a:prstGeom>
          <a:noFill/>
          <a:ln/>
        </p:spPr>
        <p:txBody>
          <a:bodyPr wrap="square" lIns="38100" tIns="38100" rIns="38100" bIns="38100" rtlCol="0" anchor="ctr"/>
          <a:lstStyle/>
          <a:p>
            <a:pPr algn="ctr" indent="0" marL="0">
              <a:buNone/>
            </a:pPr>
            <a:r>
              <a:rPr lang="en-US" sz="1400" b="1" dirty="0">
                <a:solidFill>
                  <a:srgbClr val="212121"/>
                </a:solidFill>
                <a:latin typeface="Calibri" pitchFamily="34" charset="0"/>
                <a:ea typeface="Calibri" pitchFamily="34" charset="-122"/>
                <a:cs typeface="Calibri" pitchFamily="34" charset="-120"/>
              </a:rPr>
              <a:t>waiting</a:t>
            </a:r>
            <a:endParaRPr lang="en-US" sz="1400" dirty="0"/>
          </a:p>
        </p:txBody>
      </p:sp>
      <p:sp>
        <p:nvSpPr>
          <p:cNvPr id="18" name="Shape 16"/>
          <p:cNvSpPr/>
          <p:nvPr/>
        </p:nvSpPr>
        <p:spPr>
          <a:xfrm>
            <a:off x="1353312" y="2258568"/>
            <a:ext cx="91" cy="1152144"/>
          </a:xfrm>
          <a:prstGeom prst="line">
            <a:avLst/>
          </a:prstGeom>
          <a:noFill/>
          <a:ln w="25400">
            <a:solidFill>
              <a:srgbClr val="028090"/>
            </a:solidFill>
            <a:prstDash val="solid"/>
            <a:tailEnd type="triangle"/>
          </a:ln>
        </p:spPr>
        <p:txBody>
          <a:bodyPr/>
          <a:p/>
        </p:txBody>
      </p:sp>
      <p:sp>
        <p:nvSpPr>
          <p:cNvPr id="19" name="Text 17"/>
          <p:cNvSpPr txBox="1"/>
          <p:nvPr/>
        </p:nvSpPr>
        <p:spPr>
          <a:xfrm>
            <a:off x="1417320" y="2697480"/>
            <a:ext cx="1097280" cy="274320"/>
          </a:xfrm>
          <a:prstGeom prst="rect">
            <a:avLst/>
          </a:prstGeom>
          <a:noFill/>
          <a:ln/>
        </p:spPr>
        <p:txBody>
          <a:bodyPr wrap="square" lIns="0" tIns="0" rIns="0" bIns="0" rtlCol="0" anchor="t"/>
          <a:lstStyle/>
          <a:p>
            <a:pPr algn="l" indent="0" marL="0">
              <a:buNone/>
            </a:pPr>
            <a:r>
              <a:rPr lang="en-US" sz="1050" i="1" dirty="0">
                <a:solidFill>
                  <a:srgbClr val="028090"/>
                </a:solidFill>
                <a:latin typeface="Calibri" pitchFamily="34" charset="0"/>
                <a:ea typeface="Calibri" pitchFamily="34" charset="-122"/>
                <a:cs typeface="Calibri" pitchFamily="34" charset="-120"/>
              </a:rPr>
              <a:t>admitted</a:t>
            </a:r>
            <a:endParaRPr lang="en-US" sz="1050" dirty="0"/>
          </a:p>
        </p:txBody>
      </p:sp>
      <p:sp>
        <p:nvSpPr>
          <p:cNvPr id="20" name="Shape 18"/>
          <p:cNvSpPr/>
          <p:nvPr/>
        </p:nvSpPr>
        <p:spPr>
          <a:xfrm>
            <a:off x="2075688" y="3584448"/>
            <a:ext cx="3026664" cy="91"/>
          </a:xfrm>
          <a:prstGeom prst="line">
            <a:avLst/>
          </a:prstGeom>
          <a:noFill/>
          <a:ln w="25400">
            <a:solidFill>
              <a:srgbClr val="028090"/>
            </a:solidFill>
            <a:prstDash val="solid"/>
            <a:tailEnd type="triangle"/>
          </a:ln>
        </p:spPr>
        <p:txBody>
          <a:bodyPr/>
          <a:p/>
        </p:txBody>
      </p:sp>
      <p:sp>
        <p:nvSpPr>
          <p:cNvPr id="21" name="Text 19"/>
          <p:cNvSpPr txBox="1"/>
          <p:nvPr/>
        </p:nvSpPr>
        <p:spPr>
          <a:xfrm>
            <a:off x="2743200" y="3291840"/>
            <a:ext cx="1645920" cy="274320"/>
          </a:xfrm>
          <a:prstGeom prst="rect">
            <a:avLst/>
          </a:prstGeom>
          <a:noFill/>
          <a:ln/>
        </p:spPr>
        <p:txBody>
          <a:bodyPr wrap="square" lIns="0" tIns="0" rIns="0" bIns="0" rtlCol="0" anchor="t"/>
          <a:lstStyle/>
          <a:p>
            <a:pPr algn="ctr" indent="0" marL="0">
              <a:buNone/>
            </a:pPr>
            <a:r>
              <a:rPr lang="en-US" sz="1050" i="1" dirty="0">
                <a:solidFill>
                  <a:srgbClr val="028090"/>
                </a:solidFill>
                <a:latin typeface="Calibri" pitchFamily="34" charset="0"/>
                <a:ea typeface="Calibri" pitchFamily="34" charset="-122"/>
                <a:cs typeface="Calibri" pitchFamily="34" charset="-120"/>
              </a:rPr>
              <a:t>scheduler dispatch</a:t>
            </a:r>
            <a:endParaRPr lang="en-US" sz="1050" dirty="0"/>
          </a:p>
        </p:txBody>
      </p:sp>
      <p:sp>
        <p:nvSpPr>
          <p:cNvPr id="22" name="Shape 20"/>
          <p:cNvSpPr/>
          <p:nvPr/>
        </p:nvSpPr>
        <p:spPr>
          <a:xfrm flipH="1">
            <a:off x="2075688" y="3840480"/>
            <a:ext cx="3026664" cy="91"/>
          </a:xfrm>
          <a:prstGeom prst="line">
            <a:avLst/>
          </a:prstGeom>
          <a:noFill/>
          <a:ln w="25400">
            <a:solidFill>
              <a:srgbClr val="028090"/>
            </a:solidFill>
            <a:prstDash val="solid"/>
            <a:tailEnd type="triangle"/>
          </a:ln>
        </p:spPr>
        <p:txBody>
          <a:bodyPr/>
          <a:p/>
        </p:txBody>
      </p:sp>
      <p:sp>
        <p:nvSpPr>
          <p:cNvPr id="23" name="Text 21"/>
          <p:cNvSpPr txBox="1"/>
          <p:nvPr/>
        </p:nvSpPr>
        <p:spPr>
          <a:xfrm>
            <a:off x="2743200" y="3858768"/>
            <a:ext cx="1645920" cy="274320"/>
          </a:xfrm>
          <a:prstGeom prst="rect">
            <a:avLst/>
          </a:prstGeom>
          <a:noFill/>
          <a:ln/>
        </p:spPr>
        <p:txBody>
          <a:bodyPr wrap="square" lIns="0" tIns="0" rIns="0" bIns="0" rtlCol="0" anchor="t"/>
          <a:lstStyle/>
          <a:p>
            <a:pPr algn="ctr" indent="0" marL="0">
              <a:buNone/>
            </a:pPr>
            <a:r>
              <a:rPr lang="en-US" sz="1050" i="1" dirty="0">
                <a:solidFill>
                  <a:srgbClr val="028090"/>
                </a:solidFill>
                <a:latin typeface="Calibri" pitchFamily="34" charset="0"/>
                <a:ea typeface="Calibri" pitchFamily="34" charset="-122"/>
                <a:cs typeface="Calibri" pitchFamily="34" charset="-120"/>
              </a:rPr>
              <a:t>interrupt</a:t>
            </a:r>
            <a:endParaRPr lang="en-US" sz="1050" dirty="0"/>
          </a:p>
        </p:txBody>
      </p:sp>
      <p:sp>
        <p:nvSpPr>
          <p:cNvPr id="24" name="Shape 22"/>
          <p:cNvSpPr/>
          <p:nvPr/>
        </p:nvSpPr>
        <p:spPr>
          <a:xfrm flipV="1">
            <a:off x="5833872" y="2258568"/>
            <a:ext cx="91" cy="1152144"/>
          </a:xfrm>
          <a:prstGeom prst="line">
            <a:avLst/>
          </a:prstGeom>
          <a:noFill/>
          <a:ln w="25400">
            <a:solidFill>
              <a:srgbClr val="028090"/>
            </a:solidFill>
            <a:prstDash val="solid"/>
            <a:tailEnd type="triangle"/>
          </a:ln>
        </p:spPr>
        <p:txBody>
          <a:bodyPr/>
          <a:p/>
        </p:txBody>
      </p:sp>
      <p:sp>
        <p:nvSpPr>
          <p:cNvPr id="25" name="Text 23"/>
          <p:cNvSpPr txBox="1"/>
          <p:nvPr/>
        </p:nvSpPr>
        <p:spPr>
          <a:xfrm>
            <a:off x="5897880" y="2697480"/>
            <a:ext cx="914400" cy="274320"/>
          </a:xfrm>
          <a:prstGeom prst="rect">
            <a:avLst/>
          </a:prstGeom>
          <a:noFill/>
          <a:ln/>
        </p:spPr>
        <p:txBody>
          <a:bodyPr wrap="square" lIns="0" tIns="0" rIns="0" bIns="0" rtlCol="0" anchor="t"/>
          <a:lstStyle/>
          <a:p>
            <a:pPr algn="l" indent="0" marL="0">
              <a:buNone/>
            </a:pPr>
            <a:r>
              <a:rPr lang="en-US" sz="1050" i="1" dirty="0">
                <a:solidFill>
                  <a:srgbClr val="028090"/>
                </a:solidFill>
                <a:latin typeface="Calibri" pitchFamily="34" charset="0"/>
                <a:ea typeface="Calibri" pitchFamily="34" charset="-122"/>
                <a:cs typeface="Calibri" pitchFamily="34" charset="-120"/>
              </a:rPr>
              <a:t>exit</a:t>
            </a:r>
            <a:endParaRPr lang="en-US" sz="1050" dirty="0"/>
          </a:p>
        </p:txBody>
      </p:sp>
      <p:sp>
        <p:nvSpPr>
          <p:cNvPr id="26" name="Shape 24"/>
          <p:cNvSpPr/>
          <p:nvPr/>
        </p:nvSpPr>
        <p:spPr>
          <a:xfrm flipH="1">
            <a:off x="4114800" y="3995928"/>
            <a:ext cx="1371600" cy="1243584"/>
          </a:xfrm>
          <a:prstGeom prst="line">
            <a:avLst/>
          </a:prstGeom>
          <a:noFill/>
          <a:ln w="25400">
            <a:solidFill>
              <a:srgbClr val="028090"/>
            </a:solidFill>
            <a:prstDash val="solid"/>
            <a:tailEnd type="triangle"/>
          </a:ln>
        </p:spPr>
        <p:txBody>
          <a:bodyPr/>
          <a:p/>
        </p:txBody>
      </p:sp>
      <p:sp>
        <p:nvSpPr>
          <p:cNvPr id="27" name="Text 25"/>
          <p:cNvSpPr txBox="1"/>
          <p:nvPr/>
        </p:nvSpPr>
        <p:spPr>
          <a:xfrm>
            <a:off x="4709160" y="4617720"/>
            <a:ext cx="1645920" cy="274320"/>
          </a:xfrm>
          <a:prstGeom prst="rect">
            <a:avLst/>
          </a:prstGeom>
          <a:noFill/>
          <a:ln/>
        </p:spPr>
        <p:txBody>
          <a:bodyPr wrap="square" lIns="0" tIns="0" rIns="0" bIns="0" rtlCol="0" anchor="t"/>
          <a:lstStyle/>
          <a:p>
            <a:pPr algn="ctr" indent="0" marL="0">
              <a:buNone/>
            </a:pPr>
            <a:r>
              <a:rPr lang="en-US" sz="1050" i="1" dirty="0">
                <a:solidFill>
                  <a:srgbClr val="028090"/>
                </a:solidFill>
                <a:latin typeface="Calibri" pitchFamily="34" charset="0"/>
                <a:ea typeface="Calibri" pitchFamily="34" charset="-122"/>
                <a:cs typeface="Calibri" pitchFamily="34" charset="-120"/>
              </a:rPr>
              <a:t>I/O or event wait</a:t>
            </a:r>
            <a:endParaRPr lang="en-US" sz="1050" dirty="0"/>
          </a:p>
        </p:txBody>
      </p:sp>
      <p:sp>
        <p:nvSpPr>
          <p:cNvPr id="28" name="Shape 26"/>
          <p:cNvSpPr/>
          <p:nvPr/>
        </p:nvSpPr>
        <p:spPr>
          <a:xfrm flipH="1" flipV="1">
            <a:off x="1554480" y="3995928"/>
            <a:ext cx="1508760" cy="1243584"/>
          </a:xfrm>
          <a:prstGeom prst="line">
            <a:avLst/>
          </a:prstGeom>
          <a:noFill/>
          <a:ln w="25400">
            <a:solidFill>
              <a:srgbClr val="028090"/>
            </a:solidFill>
            <a:prstDash val="solid"/>
            <a:tailEnd type="triangle"/>
          </a:ln>
        </p:spPr>
        <p:txBody>
          <a:bodyPr/>
          <a:p/>
        </p:txBody>
      </p:sp>
      <p:sp>
        <p:nvSpPr>
          <p:cNvPr id="29" name="Text 27"/>
          <p:cNvSpPr txBox="1"/>
          <p:nvPr/>
        </p:nvSpPr>
        <p:spPr>
          <a:xfrm>
            <a:off x="411480" y="4617720"/>
            <a:ext cx="2103120" cy="274320"/>
          </a:xfrm>
          <a:prstGeom prst="rect">
            <a:avLst/>
          </a:prstGeom>
          <a:noFill/>
          <a:ln/>
        </p:spPr>
        <p:txBody>
          <a:bodyPr wrap="square" lIns="0" tIns="0" rIns="0" bIns="0" rtlCol="0" anchor="t"/>
          <a:lstStyle/>
          <a:p>
            <a:pPr algn="ctr" indent="0" marL="0">
              <a:buNone/>
            </a:pPr>
            <a:r>
              <a:rPr lang="en-US" sz="1050" i="1" dirty="0">
                <a:solidFill>
                  <a:srgbClr val="028090"/>
                </a:solidFill>
                <a:latin typeface="Calibri" pitchFamily="34" charset="0"/>
                <a:ea typeface="Calibri" pitchFamily="34" charset="-122"/>
                <a:cs typeface="Calibri" pitchFamily="34" charset="-120"/>
              </a:rPr>
              <a:t>I/O or event completion</a:t>
            </a:r>
            <a:endParaRPr lang="en-US" sz="1050" dirty="0"/>
          </a:p>
        </p:txBody>
      </p:sp>
      <p:sp>
        <p:nvSpPr>
          <p:cNvPr id="30" name="Text 28"/>
          <p:cNvSpPr txBox="1"/>
          <p:nvPr/>
        </p:nvSpPr>
        <p:spPr>
          <a:xfrm>
            <a:off x="2286000" y="5897880"/>
            <a:ext cx="2651760" cy="274320"/>
          </a:xfrm>
          <a:prstGeom prst="rect">
            <a:avLst/>
          </a:prstGeom>
          <a:noFill/>
          <a:ln/>
        </p:spPr>
        <p:txBody>
          <a:bodyPr wrap="square" lIns="0" tIns="0" rIns="0" bIns="0" rtlCol="0" anchor="t"/>
          <a:lstStyle/>
          <a:p>
            <a:pPr algn="ctr" indent="0" marL="0">
              <a:buNone/>
            </a:pPr>
            <a:r>
              <a:rPr lang="en-US" sz="1150" b="1" dirty="0">
                <a:solidFill>
                  <a:srgbClr val="B5453A"/>
                </a:solidFill>
                <a:latin typeface="Calibri" pitchFamily="34" charset="0"/>
                <a:ea typeface="Calibri" pitchFamily="34" charset="-122"/>
                <a:cs typeface="Calibri" pitchFamily="34" charset="-120"/>
              </a:rPr>
              <a:t>no arrow waiting → running!</a:t>
            </a:r>
            <a:endParaRPr lang="en-US" sz="1150" dirty="0"/>
          </a:p>
        </p:txBody>
      </p:sp>
      <p:sp>
        <p:nvSpPr>
          <p:cNvPr id="31" name="Shape 29"/>
          <p:cNvSpPr/>
          <p:nvPr/>
        </p:nvSpPr>
        <p:spPr>
          <a:xfrm>
            <a:off x="6949440" y="1508760"/>
            <a:ext cx="4709160" cy="2331720"/>
          </a:xfrm>
          <a:prstGeom prst="roundRect">
            <a:avLst>
              <a:gd name="adj" fmla="val 2353"/>
            </a:avLst>
          </a:prstGeom>
          <a:solidFill>
            <a:srgbClr val="F2F2F2"/>
          </a:solidFill>
          <a:ln/>
          <a:effectLst>
            <a:outerShdw sx="100000" sy="100000" kx="0" ky="0" algn="bl" rotWithShape="0" blurRad="101600" dist="25400" dir="5400000">
              <a:srgbClr val="000000">
                <a:alpha val="12000"/>
              </a:srgbClr>
            </a:outerShdw>
          </a:effectLst>
        </p:spPr>
        <p:txBody>
          <a:bodyPr/>
          <a:p/>
        </p:txBody>
      </p:sp>
      <p:sp>
        <p:nvSpPr>
          <p:cNvPr id="32" name="Text 30"/>
          <p:cNvSpPr txBox="1"/>
          <p:nvPr/>
        </p:nvSpPr>
        <p:spPr>
          <a:xfrm>
            <a:off x="7178040" y="1691640"/>
            <a:ext cx="4251960" cy="384048"/>
          </a:xfrm>
          <a:prstGeom prst="rect">
            <a:avLst/>
          </a:prstGeom>
          <a:noFill/>
          <a:ln/>
        </p:spPr>
        <p:txBody>
          <a:bodyPr wrap="square" lIns="0" tIns="0" rIns="0" bIns="0" rtlCol="0" anchor="ctr"/>
          <a:lstStyle/>
          <a:p>
            <a:pPr indent="0" marL="0">
              <a:buNone/>
            </a:pPr>
            <a:r>
              <a:rPr lang="en-US" sz="1500" b="1" dirty="0">
                <a:solidFill>
                  <a:srgbClr val="028090"/>
                </a:solidFill>
                <a:latin typeface="Cambria" pitchFamily="34" charset="0"/>
                <a:ea typeface="Cambria" pitchFamily="34" charset="-122"/>
                <a:cs typeface="Cambria" pitchFamily="34" charset="-120"/>
              </a:rPr>
              <a:t>PCB and context switch</a:t>
            </a:r>
            <a:endParaRPr lang="en-US" sz="1500" dirty="0"/>
          </a:p>
        </p:txBody>
      </p:sp>
      <p:sp>
        <p:nvSpPr>
          <p:cNvPr id="33" name="Text 31"/>
          <p:cNvSpPr txBox="1"/>
          <p:nvPr/>
        </p:nvSpPr>
        <p:spPr>
          <a:xfrm>
            <a:off x="7178040" y="2148840"/>
            <a:ext cx="4251960" cy="1554480"/>
          </a:xfrm>
          <a:prstGeom prst="rect">
            <a:avLst/>
          </a:prstGeom>
          <a:noFill/>
          <a:ln/>
        </p:spPr>
        <p:txBody>
          <a:bodyPr wrap="square" lIns="0" tIns="0" rIns="0" bIns="0" rtlCol="0" anchor="t"/>
          <a:lstStyle/>
          <a:p>
            <a:pPr marL="228600" indent="-228600">
              <a:spcAft>
                <a:spcPts val="400"/>
              </a:spcAft>
              <a:buSzPct val="100000"/>
              <a:buChar char="•"/>
            </a:pPr>
            <a:r>
              <a:rPr lang="en-US" sz="1350" dirty="0">
                <a:solidFill>
                  <a:srgbClr val="3A464C"/>
                </a:solidFill>
                <a:latin typeface="Calibri" pitchFamily="34" charset="0"/>
                <a:ea typeface="Calibri" pitchFamily="34" charset="-122"/>
                <a:cs typeface="Calibri" pitchFamily="34" charset="-120"/>
              </a:rPr>
              <a:t>PCB: state, PID, program counter, registers, scheduling, memory and accounting info, open files.</a:t>
            </a:r>
            <a:endParaRPr lang="en-US" sz="1350" dirty="0"/>
          </a:p>
          <a:p>
            <a:pPr marL="228600" indent="-228600">
              <a:spcAft>
                <a:spcPts val="400"/>
              </a:spcAft>
              <a:buSzPct val="100000"/>
              <a:buChar char="•"/>
            </a:pPr>
            <a:r>
              <a:rPr lang="en-US" sz="1350" dirty="0">
                <a:solidFill>
                  <a:srgbClr val="3A464C"/>
                </a:solidFill>
                <a:latin typeface="Calibri" pitchFamily="34" charset="0"/>
                <a:ea typeface="Calibri" pitchFamily="34" charset="-122"/>
                <a:cs typeface="Calibri" pitchFamily="34" charset="-120"/>
              </a:rPr>
              <a:t>Context switch = save state into the old PCB, load the new PCB. Pure overhead: s / (q + s).</a:t>
            </a:r>
            <a:endParaRPr lang="en-US" sz="1350" dirty="0"/>
          </a:p>
        </p:txBody>
      </p:sp>
      <p:sp>
        <p:nvSpPr>
          <p:cNvPr id="34" name="Shape 32"/>
          <p:cNvSpPr/>
          <p:nvPr/>
        </p:nvSpPr>
        <p:spPr>
          <a:xfrm>
            <a:off x="6949440" y="4023360"/>
            <a:ext cx="4709160" cy="2240280"/>
          </a:xfrm>
          <a:prstGeom prst="roundRect">
            <a:avLst>
              <a:gd name="adj" fmla="val 2449"/>
            </a:avLst>
          </a:prstGeom>
          <a:solidFill>
            <a:srgbClr val="F2F2F2"/>
          </a:solidFill>
          <a:ln/>
          <a:effectLst>
            <a:outerShdw sx="100000" sy="100000" kx="0" ky="0" algn="bl" rotWithShape="0" blurRad="101600" dist="25400" dir="5400000">
              <a:srgbClr val="000000">
                <a:alpha val="12000"/>
              </a:srgbClr>
            </a:outerShdw>
          </a:effectLst>
        </p:spPr>
        <p:txBody>
          <a:bodyPr/>
          <a:p/>
        </p:txBody>
      </p:sp>
      <p:sp>
        <p:nvSpPr>
          <p:cNvPr id="35" name="Text 33"/>
          <p:cNvSpPr txBox="1"/>
          <p:nvPr/>
        </p:nvSpPr>
        <p:spPr>
          <a:xfrm>
            <a:off x="7178040" y="4206240"/>
            <a:ext cx="4251960" cy="384048"/>
          </a:xfrm>
          <a:prstGeom prst="rect">
            <a:avLst/>
          </a:prstGeom>
          <a:noFill/>
          <a:ln/>
        </p:spPr>
        <p:txBody>
          <a:bodyPr wrap="square" lIns="0" tIns="0" rIns="0" bIns="0" rtlCol="0" anchor="ctr"/>
          <a:lstStyle/>
          <a:p>
            <a:pPr indent="0" marL="0">
              <a:buNone/>
            </a:pPr>
            <a:r>
              <a:rPr lang="en-US" sz="1500" b="1" dirty="0">
                <a:solidFill>
                  <a:srgbClr val="028090"/>
                </a:solidFill>
                <a:latin typeface="Cambria" pitchFamily="34" charset="0"/>
                <a:ea typeface="Cambria" pitchFamily="34" charset="-122"/>
                <a:cs typeface="Cambria" pitchFamily="34" charset="-120"/>
              </a:rPr>
              <a:t>Creating processes</a:t>
            </a:r>
            <a:endParaRPr lang="en-US" sz="1500" dirty="0"/>
          </a:p>
        </p:txBody>
      </p:sp>
      <p:sp>
        <p:nvSpPr>
          <p:cNvPr id="36" name="Text 34"/>
          <p:cNvSpPr txBox="1"/>
          <p:nvPr/>
        </p:nvSpPr>
        <p:spPr>
          <a:xfrm>
            <a:off x="7178040" y="4663440"/>
            <a:ext cx="4251960" cy="1463040"/>
          </a:xfrm>
          <a:prstGeom prst="rect">
            <a:avLst/>
          </a:prstGeom>
          <a:noFill/>
          <a:ln/>
        </p:spPr>
        <p:txBody>
          <a:bodyPr wrap="square" lIns="0" tIns="0" rIns="0" bIns="0" rtlCol="0" anchor="t"/>
          <a:lstStyle/>
          <a:p>
            <a:pPr marL="228600" indent="-228600">
              <a:spcAft>
                <a:spcPts val="400"/>
              </a:spcAft>
              <a:buSzPct val="100000"/>
              <a:buChar char="•"/>
            </a:pPr>
            <a:r>
              <a:rPr lang="en-US" sz="1350" dirty="0">
                <a:solidFill>
                  <a:srgbClr val="3A464C"/>
                </a:solidFill>
                <a:latin typeface="Calibri" pitchFamily="34" charset="0"/>
                <a:ea typeface="Calibri" pitchFamily="34" charset="-122"/>
                <a:cs typeface="Calibri" pitchFamily="34" charset="-120"/>
              </a:rPr>
              <a:t>fork() returns 0 to the child, the child's PID to the parent.</a:t>
            </a:r>
            <a:endParaRPr lang="en-US" sz="1350" dirty="0"/>
          </a:p>
          <a:p>
            <a:pPr marL="228600" indent="-228600">
              <a:spcAft>
                <a:spcPts val="400"/>
              </a:spcAft>
              <a:buSzPct val="100000"/>
              <a:buChar char="•"/>
            </a:pPr>
            <a:r>
              <a:rPr lang="en-US" sz="1350" dirty="0">
                <a:solidFill>
                  <a:srgbClr val="3A464C"/>
                </a:solidFill>
                <a:latin typeface="Calibri" pitchFamily="34" charset="0"/>
                <a:ea typeface="Calibri" pitchFamily="34" charset="-122"/>
                <a:cs typeface="Calibri" pitchFamily="34" charset="-120"/>
              </a:rPr>
              <a:t>exec() replaces the program; wait() collects the child.</a:t>
            </a:r>
            <a:endParaRPr lang="en-US" sz="1350" dirty="0"/>
          </a:p>
          <a:p>
            <a:pPr marL="228600" indent="-228600">
              <a:spcAft>
                <a:spcPts val="400"/>
              </a:spcAft>
              <a:buSzPct val="100000"/>
              <a:buChar char="•"/>
            </a:pPr>
            <a:r>
              <a:rPr lang="en-US" sz="1350" dirty="0">
                <a:solidFill>
                  <a:srgbClr val="3A464C"/>
                </a:solidFill>
                <a:latin typeface="Calibri" pitchFamily="34" charset="0"/>
                <a:ea typeface="Calibri" pitchFamily="34" charset="-122"/>
                <a:cs typeface="Calibri" pitchFamily="34" charset="-120"/>
              </a:rPr>
              <a:t>n forks in a row → 2ⁿ processes. Zombie: ended, not yet waited for.</a:t>
            </a:r>
            <a:endParaRPr lang="en-US" sz="13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en-US" sz="1200" b="1" spc="200" kern="0" dirty="0">
                <a:solidFill>
                  <a:srgbClr val="02C39A"/>
                </a:solidFill>
                <a:latin typeface="Calibri" pitchFamily="34" charset="0"/>
                <a:ea typeface="Calibri" pitchFamily="34" charset="-122"/>
                <a:cs typeface="Calibri" pitchFamily="34" charset="-120"/>
              </a:rPr>
              <a:t>WEEK 4 · THREADS</a:t>
            </a:r>
            <a:endParaRPr lang="en-US"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en-US" sz="3000" b="1" dirty="0">
                <a:solidFill>
                  <a:srgbClr val="36454F"/>
                </a:solidFill>
                <a:latin typeface="Cambria" pitchFamily="34" charset="0"/>
                <a:ea typeface="Cambria" pitchFamily="34" charset="-122"/>
                <a:cs typeface="Cambria" pitchFamily="34" charset="-120"/>
              </a:rPr>
              <a:t>Threads, Multithreading Models, Amdahl's Law</a:t>
            </a:r>
            <a:endParaRPr lang="en-US" sz="3000" dirty="0"/>
          </a:p>
        </p:txBody>
      </p:sp>
      <p:sp>
        <p:nvSpPr>
          <p:cNvPr id="4" name="Text 2"/>
          <p:cNvSpPr txBox="1"/>
          <p:nvPr/>
        </p:nvSpPr>
        <p:spPr>
          <a:xfrm>
            <a:off x="548640" y="6528816"/>
            <a:ext cx="6400800" cy="274320"/>
          </a:xfrm>
          <a:prstGeom prst="rect">
            <a:avLst/>
          </a:prstGeom>
          <a:noFill/>
          <a:ln/>
        </p:spPr>
        <p:txBody>
          <a:bodyPr wrap="square" lIns="0" tIns="0" rIns="0" bIns="0" rtlCol="0" anchor="ctr"/>
          <a:lstStyle/>
          <a:p>
            <a:pPr indent="0" marL="0">
              <a:buNone/>
            </a:pPr>
            <a:r>
              <a:rPr lang="en-US" sz="900" dirty="0">
                <a:solidFill>
                  <a:srgbClr val="6B7679"/>
                </a:solidFill>
                <a:latin typeface="Calibri" pitchFamily="34" charset="0"/>
                <a:ea typeface="Calibri" pitchFamily="34" charset="-122"/>
                <a:cs typeface="Calibri" pitchFamily="34" charset="-120"/>
              </a:rPr>
              <a:t>MCMP117 — Fundamentals of Operating Systems</a:t>
            </a:r>
            <a:endParaRPr lang="en-US" sz="900" dirty="0"/>
          </a:p>
        </p:txBody>
      </p:sp>
      <p:sp>
        <p:nvSpPr>
          <p:cNvPr id="5" name="Text 3"/>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en-US" sz="900" dirty="0">
                <a:solidFill>
                  <a:srgbClr val="6B7679"/>
                </a:solidFill>
                <a:latin typeface="Calibri" pitchFamily="34" charset="0"/>
                <a:ea typeface="Calibri" pitchFamily="34" charset="-122"/>
                <a:cs typeface="Calibri" pitchFamily="34" charset="-120"/>
              </a:rPr>
              <a:t>Week 8  ·  12</a:t>
            </a:r>
            <a:endParaRPr lang="en-US" sz="900" dirty="0"/>
          </a:p>
        </p:txBody>
      </p:sp>
      <p:sp>
        <p:nvSpPr>
          <p:cNvPr id="6" name="Shape 4"/>
          <p:cNvSpPr/>
          <p:nvPr/>
        </p:nvSpPr>
        <p:spPr>
          <a:xfrm>
            <a:off x="10287000" y="274320"/>
            <a:ext cx="1371600" cy="329184"/>
          </a:xfrm>
          <a:prstGeom prst="roundRect">
            <a:avLst>
              <a:gd name="adj" fmla="val 13889"/>
            </a:avLst>
          </a:prstGeom>
          <a:solidFill>
            <a:srgbClr val="02C39A"/>
          </a:solidFill>
          <a:ln/>
        </p:spPr>
        <p:txBody>
          <a:bodyPr/>
          <a:p/>
        </p:txBody>
      </p:sp>
      <p:sp>
        <p:nvSpPr>
          <p:cNvPr id="7" name="Text 5"/>
          <p:cNvSpPr txBox="1"/>
          <p:nvPr/>
        </p:nvSpPr>
        <p:spPr>
          <a:xfrm>
            <a:off x="10287000" y="274320"/>
            <a:ext cx="1371600" cy="329184"/>
          </a:xfrm>
          <a:prstGeom prst="rect">
            <a:avLst/>
          </a:prstGeom>
          <a:noFill/>
          <a:ln/>
        </p:spPr>
        <p:txBody>
          <a:bodyPr wrap="square" lIns="38100" tIns="38100" rIns="38100" bIns="38100" rtlCol="0" anchor="ctr"/>
          <a:lstStyle/>
          <a:p>
            <a:pPr algn="ctr" indent="0" marL="0">
              <a:buNone/>
            </a:pPr>
            <a:r>
              <a:rPr lang="en-US" sz="1200" b="1" dirty="0">
                <a:solidFill>
                  <a:srgbClr val="212121"/>
                </a:solidFill>
                <a:latin typeface="Calibri" pitchFamily="34" charset="0"/>
                <a:ea typeface="Calibri" pitchFamily="34" charset="-122"/>
                <a:cs typeface="Calibri" pitchFamily="34" charset="-120"/>
              </a:rPr>
              <a:t>Week 4</a:t>
            </a:r>
            <a:endParaRPr lang="en-US" sz="12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48640" y="1554480"/>
          <a:ext cx="5394960" cy="914400"/>
        </p:xfrm>
        <a:graphic>
          <a:graphicData uri="http://schemas.openxmlformats.org/drawingml/2006/table">
            <a:tbl>
              <a:tblPr/>
              <a:tblGrid>
                <a:gridCol w="2697480"/>
                <a:gridCol w="2697480"/>
              </a:tblGrid>
              <a:tr h="0">
                <a:tc>
                  <a:txBody>
                    <a:bodyPr/>
                    <a:lstStyle/>
                    <a:p>
                      <a:pPr indent="0" marL="0">
                        <a:buNone/>
                      </a:pPr>
                      <a:r>
                        <a:rPr lang="en-US" sz="1350" b="1" dirty="0">
                          <a:solidFill>
                            <a:srgbClr val="FFFFFF"/>
                          </a:solidFill>
                          <a:latin typeface="Cambria" pitchFamily="34" charset="0"/>
                          <a:ea typeface="Cambria" pitchFamily="34" charset="-122"/>
                          <a:cs typeface="Cambria" pitchFamily="34" charset="-120"/>
                        </a:rPr>
                        <a:t>Shared by all threads</a:t>
                      </a:r>
                      <a:endParaRPr lang="en-US" sz="1350" dirty="0">
                        <a:latin typeface="Cambria" charset="0"/>
                        <a:ea typeface="Cambria" charset="0"/>
                        <a:cs typeface="Cambria" charset="0"/>
                      </a:endParaRPr>
                    </a:p>
                  </a:txBody>
                  <a:tcPr marL="76200" marR="762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36454F"/>
                    </a:solidFill>
                  </a:tcPr>
                </a:tc>
                <a:tc>
                  <a:txBody>
                    <a:bodyPr/>
                    <a:lstStyle/>
                    <a:p>
                      <a:pPr indent="0" marL="0">
                        <a:buNone/>
                      </a:pPr>
                      <a:r>
                        <a:rPr lang="en-US" sz="1350" b="1" dirty="0">
                          <a:solidFill>
                            <a:srgbClr val="FFFFFF"/>
                          </a:solidFill>
                          <a:latin typeface="Cambria" pitchFamily="34" charset="0"/>
                          <a:ea typeface="Cambria" pitchFamily="34" charset="-122"/>
                          <a:cs typeface="Cambria" pitchFamily="34" charset="-120"/>
                        </a:rPr>
                        <a:t>Private to each thread</a:t>
                      </a:r>
                      <a:endParaRPr lang="en-US" sz="1350" dirty="0">
                        <a:latin typeface="Cambria" charset="0"/>
                        <a:ea typeface="Cambria" charset="0"/>
                        <a:cs typeface="Cambria" charset="0"/>
                      </a:endParaRPr>
                    </a:p>
                  </a:txBody>
                  <a:tcPr marL="76200" marR="762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36454F"/>
                    </a:solidFill>
                  </a:tcPr>
                </a:tc>
              </a:tr>
              <a:tr h="0">
                <a:tc>
                  <a:txBody>
                    <a:bodyPr/>
                    <a:lstStyle/>
                    <a:p>
                      <a:pPr indent="0" marL="0">
                        <a:buNone/>
                      </a:pPr>
                      <a:r>
                        <a:rPr lang="en-US" sz="1350" b="1" dirty="0">
                          <a:solidFill>
                            <a:srgbClr val="3A464C"/>
                          </a:solidFill>
                          <a:latin typeface="Calibri" pitchFamily="34" charset="0"/>
                          <a:ea typeface="Calibri" pitchFamily="34" charset="-122"/>
                          <a:cs typeface="Calibri" pitchFamily="34" charset="-120"/>
                        </a:rPr>
                        <a:t>code (text section)</a:t>
                      </a:r>
                      <a:endParaRPr lang="en-US" sz="1350" dirty="0">
                        <a:latin typeface="Calibri" charset="0"/>
                        <a:ea typeface="Calibri" charset="0"/>
                        <a:cs typeface="Calibri" charset="0"/>
                      </a:endParaRPr>
                    </a:p>
                  </a:txBody>
                  <a:tcPr marL="76200" marR="762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en-US" sz="1350" dirty="0">
                          <a:solidFill>
                            <a:srgbClr val="3A464C"/>
                          </a:solidFill>
                          <a:latin typeface="Calibri" pitchFamily="34" charset="0"/>
                          <a:ea typeface="Calibri" pitchFamily="34" charset="-122"/>
                          <a:cs typeface="Calibri" pitchFamily="34" charset="-120"/>
                        </a:rPr>
                        <a:t>thread ID</a:t>
                      </a:r>
                      <a:endParaRPr lang="en-US" sz="1350" dirty="0">
                        <a:latin typeface="Calibri" charset="0"/>
                        <a:ea typeface="Calibri" charset="0"/>
                        <a:cs typeface="Calibri" charset="0"/>
                      </a:endParaRPr>
                    </a:p>
                  </a:txBody>
                  <a:tcPr marL="76200" marR="762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r>
              <a:tr h="0">
                <a:tc>
                  <a:txBody>
                    <a:bodyPr/>
                    <a:lstStyle/>
                    <a:p>
                      <a:pPr indent="0" marL="0">
                        <a:buNone/>
                      </a:pPr>
                      <a:r>
                        <a:rPr lang="en-US" sz="1350" b="1" dirty="0">
                          <a:solidFill>
                            <a:srgbClr val="3A464C"/>
                          </a:solidFill>
                          <a:latin typeface="Calibri" pitchFamily="34" charset="0"/>
                          <a:ea typeface="Calibri" pitchFamily="34" charset="-122"/>
                          <a:cs typeface="Calibri" pitchFamily="34" charset="-120"/>
                        </a:rPr>
                        <a:t>global data and heap</a:t>
                      </a:r>
                      <a:endParaRPr lang="en-US" sz="1350" dirty="0">
                        <a:latin typeface="Calibri" charset="0"/>
                        <a:ea typeface="Calibri" charset="0"/>
                        <a:cs typeface="Calibri" charset="0"/>
                      </a:endParaRPr>
                    </a:p>
                  </a:txBody>
                  <a:tcPr marL="76200" marR="762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en-US" sz="1350" dirty="0">
                          <a:solidFill>
                            <a:srgbClr val="3A464C"/>
                          </a:solidFill>
                          <a:latin typeface="Calibri" pitchFamily="34" charset="0"/>
                          <a:ea typeface="Calibri" pitchFamily="34" charset="-122"/>
                          <a:cs typeface="Calibri" pitchFamily="34" charset="-120"/>
                        </a:rPr>
                        <a:t>program counter and registers</a:t>
                      </a:r>
                      <a:endParaRPr lang="en-US" sz="1350" dirty="0">
                        <a:latin typeface="Calibri" charset="0"/>
                        <a:ea typeface="Calibri" charset="0"/>
                        <a:cs typeface="Calibri" charset="0"/>
                      </a:endParaRPr>
                    </a:p>
                  </a:txBody>
                  <a:tcPr marL="76200" marR="762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r>
              <a:tr h="0">
                <a:tc>
                  <a:txBody>
                    <a:bodyPr/>
                    <a:lstStyle/>
                    <a:p>
                      <a:pPr indent="0" marL="0">
                        <a:buNone/>
                      </a:pPr>
                      <a:r>
                        <a:rPr lang="en-US" sz="1350" b="1" dirty="0">
                          <a:solidFill>
                            <a:srgbClr val="3A464C"/>
                          </a:solidFill>
                          <a:latin typeface="Calibri" pitchFamily="34" charset="0"/>
                          <a:ea typeface="Calibri" pitchFamily="34" charset="-122"/>
                          <a:cs typeface="Calibri" pitchFamily="34" charset="-120"/>
                        </a:rPr>
                        <a:t>open files, PID, user ID</a:t>
                      </a:r>
                      <a:endParaRPr lang="en-US" sz="1350" dirty="0">
                        <a:latin typeface="Calibri" charset="0"/>
                        <a:ea typeface="Calibri" charset="0"/>
                        <a:cs typeface="Calibri" charset="0"/>
                      </a:endParaRPr>
                    </a:p>
                  </a:txBody>
                  <a:tcPr marL="76200" marR="762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en-US" sz="1350" dirty="0">
                          <a:solidFill>
                            <a:srgbClr val="3A464C"/>
                          </a:solidFill>
                          <a:latin typeface="Calibri" pitchFamily="34" charset="0"/>
                          <a:ea typeface="Calibri" pitchFamily="34" charset="-122"/>
                          <a:cs typeface="Calibri" pitchFamily="34" charset="-120"/>
                        </a:rPr>
                        <a:t>stack (local variables)</a:t>
                      </a:r>
                      <a:endParaRPr lang="en-US" sz="1350" dirty="0">
                        <a:latin typeface="Calibri" charset="0"/>
                        <a:ea typeface="Calibri" charset="0"/>
                        <a:cs typeface="Calibri" charset="0"/>
                      </a:endParaRPr>
                    </a:p>
                  </a:txBody>
                  <a:tcPr marL="76200" marR="762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r>
            </a:tbl>
          </a:graphicData>
        </a:graphic>
      </p:graphicFrame>
      <p:sp>
        <p:nvSpPr>
          <p:cNvPr id="9" name="Shape 6"/>
          <p:cNvSpPr/>
          <p:nvPr/>
        </p:nvSpPr>
        <p:spPr>
          <a:xfrm>
            <a:off x="548640" y="3291840"/>
            <a:ext cx="5394960" cy="2971800"/>
          </a:xfrm>
          <a:prstGeom prst="roundRect">
            <a:avLst>
              <a:gd name="adj" fmla="val 1846"/>
            </a:avLst>
          </a:prstGeom>
          <a:solidFill>
            <a:srgbClr val="F2F2F2"/>
          </a:solidFill>
          <a:ln/>
          <a:effectLst>
            <a:outerShdw sx="100000" sy="100000" kx="0" ky="0" algn="bl" rotWithShape="0" blurRad="101600" dist="25400" dir="5400000">
              <a:srgbClr val="000000">
                <a:alpha val="12000"/>
              </a:srgbClr>
            </a:outerShdw>
          </a:effectLst>
        </p:spPr>
        <p:txBody>
          <a:bodyPr/>
          <a:p/>
        </p:txBody>
      </p:sp>
      <p:sp>
        <p:nvSpPr>
          <p:cNvPr id="10" name="Text 7"/>
          <p:cNvSpPr txBox="1"/>
          <p:nvPr/>
        </p:nvSpPr>
        <p:spPr>
          <a:xfrm>
            <a:off x="777240" y="3474720"/>
            <a:ext cx="4937760" cy="384048"/>
          </a:xfrm>
          <a:prstGeom prst="rect">
            <a:avLst/>
          </a:prstGeom>
          <a:noFill/>
          <a:ln/>
        </p:spPr>
        <p:txBody>
          <a:bodyPr wrap="square" lIns="0" tIns="0" rIns="0" bIns="0" rtlCol="0" anchor="ctr"/>
          <a:lstStyle/>
          <a:p>
            <a:pPr indent="0" marL="0">
              <a:buNone/>
            </a:pPr>
            <a:r>
              <a:rPr lang="en-US" sz="1500" b="1" dirty="0">
                <a:solidFill>
                  <a:srgbClr val="028090"/>
                </a:solidFill>
                <a:latin typeface="Cambria" pitchFamily="34" charset="0"/>
                <a:ea typeface="Cambria" pitchFamily="34" charset="-122"/>
                <a:cs typeface="Cambria" pitchFamily="34" charset="-120"/>
              </a:rPr>
              <a:t>Models (user : kernel threads)</a:t>
            </a:r>
            <a:endParaRPr lang="en-US" sz="1500" dirty="0"/>
          </a:p>
        </p:txBody>
      </p:sp>
      <p:sp>
        <p:nvSpPr>
          <p:cNvPr id="11" name="Text 8"/>
          <p:cNvSpPr txBox="1"/>
          <p:nvPr/>
        </p:nvSpPr>
        <p:spPr>
          <a:xfrm>
            <a:off x="777240" y="3931920"/>
            <a:ext cx="4937760" cy="2194560"/>
          </a:xfrm>
          <a:prstGeom prst="rect">
            <a:avLst/>
          </a:prstGeom>
          <a:noFill/>
          <a:ln/>
        </p:spPr>
        <p:txBody>
          <a:bodyPr wrap="square" lIns="0" tIns="0" rIns="0" bIns="0" rtlCol="0" anchor="t"/>
          <a:lstStyle/>
          <a:p>
            <a:pPr marL="228600" indent="-228600">
              <a:spcAft>
                <a:spcPts val="400"/>
              </a:spcAft>
              <a:buSzPct val="100000"/>
              <a:buChar char="•"/>
            </a:pPr>
            <a:r>
              <a:rPr lang="en-US" sz="1300" b="1" dirty="0">
                <a:solidFill>
                  <a:srgbClr val="3A464C"/>
                </a:solidFill>
                <a:latin typeface="Calibri" pitchFamily="34" charset="0"/>
                <a:ea typeface="Calibri" pitchFamily="34" charset="-122"/>
                <a:cs typeface="Calibri" pitchFamily="34" charset="-120"/>
              </a:rPr>
              <a:t>Many-to-one:</a:t>
            </a:r>
            <a:r>
              <a:rPr lang="en-US" sz="1300" dirty="0">
                <a:solidFill>
                  <a:srgbClr val="3A464C"/>
                </a:solidFill>
                <a:latin typeface="Calibri" pitchFamily="34" charset="0"/>
                <a:ea typeface="Calibri" pitchFamily="34" charset="-122"/>
                <a:cs typeface="Calibri" pitchFamily="34" charset="-120"/>
              </a:rPr>
              <a:t> fast, but one blocking call stops all; no parallelism.</a:t>
            </a:r>
            <a:endParaRPr lang="en-US" sz="1300" dirty="0"/>
          </a:p>
          <a:p>
            <a:pPr marL="228600" indent="-228600">
              <a:spcAft>
                <a:spcPts val="400"/>
              </a:spcAft>
              <a:buSzPct val="100000"/>
              <a:buChar char="•"/>
            </a:pPr>
            <a:r>
              <a:rPr lang="en-US" sz="1300" b="1" dirty="0">
                <a:solidFill>
                  <a:srgbClr val="3A464C"/>
                </a:solidFill>
                <a:latin typeface="Calibri" pitchFamily="34" charset="0"/>
                <a:ea typeface="Calibri" pitchFamily="34" charset="-122"/>
                <a:cs typeface="Calibri" pitchFamily="34" charset="-120"/>
              </a:rPr>
              <a:t>One-to-one:</a:t>
            </a:r>
            <a:r>
              <a:rPr lang="en-US" sz="1300" dirty="0">
                <a:solidFill>
                  <a:srgbClr val="3A464C"/>
                </a:solidFill>
                <a:latin typeface="Calibri" pitchFamily="34" charset="0"/>
                <a:ea typeface="Calibri" pitchFamily="34" charset="-122"/>
                <a:cs typeface="Calibri" pitchFamily="34" charset="-120"/>
              </a:rPr>
              <a:t> Linux and Windows; true parallelism; each thread costs a kernel thread.</a:t>
            </a:r>
            <a:endParaRPr lang="en-US" sz="1300" dirty="0"/>
          </a:p>
          <a:p>
            <a:pPr marL="228600" indent="-228600">
              <a:spcAft>
                <a:spcPts val="400"/>
              </a:spcAft>
              <a:buSzPct val="100000"/>
              <a:buChar char="•"/>
            </a:pPr>
            <a:r>
              <a:rPr lang="en-US" sz="1300" b="1" dirty="0">
                <a:solidFill>
                  <a:srgbClr val="3A464C"/>
                </a:solidFill>
                <a:latin typeface="Calibri" pitchFamily="34" charset="0"/>
                <a:ea typeface="Calibri" pitchFamily="34" charset="-122"/>
                <a:cs typeface="Calibri" pitchFamily="34" charset="-120"/>
              </a:rPr>
              <a:t>Many-to-many:</a:t>
            </a:r>
            <a:r>
              <a:rPr lang="en-US" sz="1300" dirty="0">
                <a:solidFill>
                  <a:srgbClr val="3A464C"/>
                </a:solidFill>
                <a:latin typeface="Calibri" pitchFamily="34" charset="0"/>
                <a:ea typeface="Calibri" pitchFamily="34" charset="-122"/>
                <a:cs typeface="Calibri" pitchFamily="34" charset="-120"/>
              </a:rPr>
              <a:t> Go goroutines, Java virtual threads.</a:t>
            </a:r>
            <a:endParaRPr lang="en-US" sz="1300" dirty="0"/>
          </a:p>
          <a:p>
            <a:pPr marL="228600" indent="-228600">
              <a:spcAft>
                <a:spcPts val="400"/>
              </a:spcAft>
              <a:buSzPct val="100000"/>
              <a:buChar char="•"/>
            </a:pPr>
            <a:r>
              <a:rPr lang="en-US" sz="1300" dirty="0">
                <a:solidFill>
                  <a:srgbClr val="3A464C"/>
                </a:solidFill>
                <a:latin typeface="Calibri" pitchFamily="34" charset="0"/>
                <a:ea typeface="Calibri" pitchFamily="34" charset="-122"/>
                <a:cs typeface="Calibri" pitchFamily="34" charset="-120"/>
              </a:rPr>
              <a:t>Concurrency = progress together; parallelism = at the same instant (needs ≥ 2 cores).</a:t>
            </a:r>
            <a:endParaRPr lang="en-US" sz="1300" dirty="0"/>
          </a:p>
        </p:txBody>
      </p:sp>
      <p:sp>
        <p:nvSpPr>
          <p:cNvPr id="12" name="Shape 9"/>
          <p:cNvSpPr/>
          <p:nvPr/>
        </p:nvSpPr>
        <p:spPr>
          <a:xfrm>
            <a:off x="6172200" y="1554480"/>
            <a:ext cx="5486400" cy="1600200"/>
          </a:xfrm>
          <a:prstGeom prst="roundRect">
            <a:avLst>
              <a:gd name="adj" fmla="val 3429"/>
            </a:avLst>
          </a:prstGeom>
          <a:solidFill>
            <a:srgbClr val="F2F2F2"/>
          </a:solidFill>
          <a:ln/>
          <a:effectLst>
            <a:outerShdw sx="100000" sy="100000" kx="0" ky="0" algn="bl" rotWithShape="0" blurRad="101600" dist="25400" dir="5400000">
              <a:srgbClr val="000000">
                <a:alpha val="12000"/>
              </a:srgbClr>
            </a:outerShdw>
          </a:effectLst>
        </p:spPr>
        <p:txBody>
          <a:bodyPr/>
          <a:p/>
        </p:txBody>
      </p:sp>
      <p:sp>
        <p:nvSpPr>
          <p:cNvPr id="13" name="Text 10"/>
          <p:cNvSpPr txBox="1"/>
          <p:nvPr/>
        </p:nvSpPr>
        <p:spPr>
          <a:xfrm>
            <a:off x="6400800" y="1737360"/>
            <a:ext cx="5029200" cy="384048"/>
          </a:xfrm>
          <a:prstGeom prst="rect">
            <a:avLst/>
          </a:prstGeom>
          <a:noFill/>
          <a:ln/>
        </p:spPr>
        <p:txBody>
          <a:bodyPr wrap="square" lIns="0" tIns="0" rIns="0" bIns="0" rtlCol="0" anchor="ctr"/>
          <a:lstStyle/>
          <a:p>
            <a:pPr indent="0" marL="0">
              <a:buNone/>
            </a:pPr>
            <a:r>
              <a:rPr lang="en-US" sz="1500" b="1" dirty="0">
                <a:solidFill>
                  <a:srgbClr val="028090"/>
                </a:solidFill>
                <a:latin typeface="Cambria" pitchFamily="34" charset="0"/>
                <a:ea typeface="Cambria" pitchFamily="34" charset="-122"/>
                <a:cs typeface="Cambria" pitchFamily="34" charset="-120"/>
              </a:rPr>
              <a:t>Benefits of threads</a:t>
            </a:r>
            <a:endParaRPr lang="en-US" sz="1500" dirty="0"/>
          </a:p>
        </p:txBody>
      </p:sp>
      <p:sp>
        <p:nvSpPr>
          <p:cNvPr id="14" name="Text 11"/>
          <p:cNvSpPr txBox="1"/>
          <p:nvPr/>
        </p:nvSpPr>
        <p:spPr>
          <a:xfrm>
            <a:off x="6400800" y="2194560"/>
            <a:ext cx="5029200" cy="822960"/>
          </a:xfrm>
          <a:prstGeom prst="rect">
            <a:avLst/>
          </a:prstGeom>
          <a:noFill/>
          <a:ln/>
        </p:spPr>
        <p:txBody>
          <a:bodyPr wrap="square" lIns="0" tIns="0" rIns="0" bIns="0" rtlCol="0" anchor="t"/>
          <a:lstStyle/>
          <a:p>
            <a:pPr indent="0" marL="0">
              <a:spcAft>
                <a:spcPts val="400"/>
              </a:spcAft>
              <a:buNone/>
            </a:pPr>
            <a:r>
              <a:rPr lang="en-US" sz="1350" dirty="0">
                <a:solidFill>
                  <a:srgbClr val="3A464C"/>
                </a:solidFill>
                <a:latin typeface="Calibri" pitchFamily="34" charset="0"/>
                <a:ea typeface="Calibri" pitchFamily="34" charset="-122"/>
                <a:cs typeface="Calibri" pitchFamily="34" charset="-120"/>
              </a:rPr>
              <a:t>Responsiveness, resource sharing, economy (cheaper than processes: ≈ 4× on our test machine), scalability on multicore CPUs.</a:t>
            </a:r>
            <a:endParaRPr lang="en-US" sz="1350" dirty="0"/>
          </a:p>
        </p:txBody>
      </p:sp>
      <p:sp>
        <p:nvSpPr>
          <p:cNvPr id="15" name="Shape 12"/>
          <p:cNvSpPr/>
          <p:nvPr/>
        </p:nvSpPr>
        <p:spPr>
          <a:xfrm>
            <a:off x="6172200" y="3291840"/>
            <a:ext cx="5486400" cy="2971800"/>
          </a:xfrm>
          <a:prstGeom prst="roundRect">
            <a:avLst>
              <a:gd name="adj" fmla="val 1538"/>
            </a:avLst>
          </a:prstGeom>
          <a:solidFill>
            <a:srgbClr val="212121"/>
          </a:solidFill>
          <a:ln/>
        </p:spPr>
        <p:txBody>
          <a:bodyPr/>
          <a:p/>
        </p:txBody>
      </p:sp>
      <p:sp>
        <p:nvSpPr>
          <p:cNvPr id="16" name="Text 13"/>
          <p:cNvSpPr txBox="1"/>
          <p:nvPr/>
        </p:nvSpPr>
        <p:spPr>
          <a:xfrm>
            <a:off x="6355080" y="3401568"/>
            <a:ext cx="5120640" cy="2752344"/>
          </a:xfrm>
          <a:prstGeom prst="rect">
            <a:avLst/>
          </a:prstGeom>
          <a:noFill/>
          <a:ln/>
        </p:spPr>
        <p:txBody>
          <a:bodyPr wrap="square" lIns="0" tIns="0" rIns="0" bIns="0" rtlCol="0" anchor="t"/>
          <a:lstStyle/>
          <a:p>
            <a:pPr indent="0" marL="0">
              <a:lnSpc>
                <a:spcPct val="105000"/>
              </a:lnSpc>
              <a:buNone/>
            </a:pPr>
            <a:r>
              <a:rPr lang="en-US" sz="1350" dirty="0">
                <a:solidFill>
                  <a:srgbClr val="8A9AA0"/>
                </a:solidFill>
                <a:latin typeface="Consolas" pitchFamily="34" charset="0"/>
                <a:ea typeface="Consolas" pitchFamily="34" charset="-122"/>
                <a:cs typeface="Consolas" pitchFamily="34" charset="-120"/>
              </a:rPr>
              <a:t># Amdahl's law: serial fraction S, N cores</a:t>
            </a:r>
            <a:endParaRPr lang="en-US" sz="1350" dirty="0"/>
          </a:p>
          <a:p>
            <a:pPr indent="0" marL="0">
              <a:lnSpc>
                <a:spcPct val="105000"/>
              </a:lnSpc>
              <a:buNone/>
            </a:pPr>
            <a:r>
              <a:rPr lang="en-US" sz="1350" dirty="0">
                <a:solidFill>
                  <a:srgbClr val="F2F2F2"/>
                </a:solidFill>
                <a:latin typeface="Consolas" pitchFamily="34" charset="0"/>
                <a:ea typeface="Consolas" pitchFamily="34" charset="-122"/>
                <a:cs typeface="Consolas" pitchFamily="34" charset="-120"/>
              </a:rPr>
              <a:t>speedup(N) ≤ 1 / (S + (1 − S)/N)</a:t>
            </a:r>
            <a:endParaRPr lang="en-US" sz="1350" dirty="0"/>
          </a:p>
          <a:p>
            <a:pPr indent="0" marL="0">
              <a:lnSpc>
                <a:spcPct val="105000"/>
              </a:lnSpc>
              <a:buNone/>
            </a:pPr>
            <a:r>
              <a:rPr lang="en-US" sz="1350" dirty="0">
                <a:solidFill>
                  <a:srgbClr val="F2F2F2"/>
                </a:solidFill>
                <a:latin typeface="Consolas" pitchFamily="34" charset="0"/>
                <a:ea typeface="Consolas" pitchFamily="34" charset="-122"/>
                <a:cs typeface="Consolas" pitchFamily="34" charset="-120"/>
              </a:rPr>
              <a:t>limit N → ∞:  1 / S</a:t>
            </a:r>
            <a:endParaRPr lang="en-US" sz="1350" dirty="0"/>
          </a:p>
          <a:p>
            <a:pPr indent="0" marL="0">
              <a:lnSpc>
                <a:spcPct val="105000"/>
              </a:lnSpc>
              <a:buNone/>
            </a:pPr>
            <a:r>
              <a:rPr lang="en-US" sz="1350" dirty="0">
                <a:solidFill>
                  <a:srgbClr val="F2F2F2"/>
                </a:solidFill>
                <a:latin typeface="Consolas" pitchFamily="34" charset="0"/>
                <a:ea typeface="Consolas" pitchFamily="34" charset="-122"/>
                <a:cs typeface="Consolas" pitchFamily="34" charset="-120"/>
              </a:rPr>
              <a:t> </a:t>
            </a:r>
            <a:endParaRPr lang="en-US" sz="1350" dirty="0"/>
          </a:p>
          <a:p>
            <a:pPr indent="0" marL="0">
              <a:lnSpc>
                <a:spcPct val="105000"/>
              </a:lnSpc>
              <a:buNone/>
            </a:pPr>
            <a:r>
              <a:rPr lang="en-US" sz="1350" dirty="0">
                <a:solidFill>
                  <a:srgbClr val="8A9AA0"/>
                </a:solidFill>
                <a:latin typeface="Consolas" pitchFamily="34" charset="0"/>
                <a:ea typeface="Consolas" pitchFamily="34" charset="-122"/>
                <a:cs typeface="Consolas" pitchFamily="34" charset="-120"/>
              </a:rPr>
              <a:t># S = 0.25:</a:t>
            </a:r>
            <a:endParaRPr lang="en-US" sz="1350" dirty="0"/>
          </a:p>
          <a:p>
            <a:pPr indent="0" marL="0">
              <a:lnSpc>
                <a:spcPct val="105000"/>
              </a:lnSpc>
              <a:buNone/>
            </a:pPr>
            <a:r>
              <a:rPr lang="en-US" sz="1350" dirty="0">
                <a:solidFill>
                  <a:srgbClr val="F2F2F2"/>
                </a:solidFill>
                <a:latin typeface="Consolas" pitchFamily="34" charset="0"/>
                <a:ea typeface="Consolas" pitchFamily="34" charset="-122"/>
                <a:cs typeface="Consolas" pitchFamily="34" charset="-120"/>
              </a:rPr>
              <a:t>N = 2 → 1.60   N = 4 → 2.29</a:t>
            </a:r>
            <a:endParaRPr lang="en-US" sz="1350" dirty="0"/>
          </a:p>
          <a:p>
            <a:pPr indent="0" marL="0">
              <a:lnSpc>
                <a:spcPct val="105000"/>
              </a:lnSpc>
              <a:buNone/>
            </a:pPr>
            <a:r>
              <a:rPr lang="en-US" sz="1350" dirty="0">
                <a:solidFill>
                  <a:srgbClr val="F2F2F2"/>
                </a:solidFill>
                <a:latin typeface="Consolas" pitchFamily="34" charset="0"/>
                <a:ea typeface="Consolas" pitchFamily="34" charset="-122"/>
                <a:cs typeface="Consolas" pitchFamily="34" charset="-120"/>
              </a:rPr>
              <a:t>N = 8 → 2.91   N → ∞ → 4</a:t>
            </a:r>
            <a:endParaRPr lang="en-US" sz="13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en-US" sz="1200" b="1" spc="200" kern="0" dirty="0">
                <a:solidFill>
                  <a:srgbClr val="02C39A"/>
                </a:solidFill>
                <a:latin typeface="Calibri" pitchFamily="34" charset="0"/>
                <a:ea typeface="Calibri" pitchFamily="34" charset="-122"/>
                <a:cs typeface="Calibri" pitchFamily="34" charset="-120"/>
              </a:rPr>
              <a:t>WEEK 4 · CPU SCHEDULING BASICS</a:t>
            </a:r>
            <a:endParaRPr lang="en-US"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en-US" sz="3000" b="1" dirty="0">
                <a:solidFill>
                  <a:srgbClr val="36454F"/>
                </a:solidFill>
                <a:latin typeface="Cambria" pitchFamily="34" charset="0"/>
                <a:ea typeface="Cambria" pitchFamily="34" charset="-122"/>
                <a:cs typeface="Cambria" pitchFamily="34" charset="-120"/>
              </a:rPr>
              <a:t>Bursts, Decisions, Dispatcher and Criteria</a:t>
            </a:r>
            <a:endParaRPr lang="en-US" sz="3000" dirty="0"/>
          </a:p>
        </p:txBody>
      </p:sp>
      <p:sp>
        <p:nvSpPr>
          <p:cNvPr id="4" name="Text 2"/>
          <p:cNvSpPr txBox="1"/>
          <p:nvPr/>
        </p:nvSpPr>
        <p:spPr>
          <a:xfrm>
            <a:off x="548640" y="6528816"/>
            <a:ext cx="6400800" cy="274320"/>
          </a:xfrm>
          <a:prstGeom prst="rect">
            <a:avLst/>
          </a:prstGeom>
          <a:noFill/>
          <a:ln/>
        </p:spPr>
        <p:txBody>
          <a:bodyPr wrap="square" lIns="0" tIns="0" rIns="0" bIns="0" rtlCol="0" anchor="ctr"/>
          <a:lstStyle/>
          <a:p>
            <a:pPr indent="0" marL="0">
              <a:buNone/>
            </a:pPr>
            <a:r>
              <a:rPr lang="en-US" sz="900" dirty="0">
                <a:solidFill>
                  <a:srgbClr val="6B7679"/>
                </a:solidFill>
                <a:latin typeface="Calibri" pitchFamily="34" charset="0"/>
                <a:ea typeface="Calibri" pitchFamily="34" charset="-122"/>
                <a:cs typeface="Calibri" pitchFamily="34" charset="-120"/>
              </a:rPr>
              <a:t>MCMP117 — Fundamentals of Operating Systems</a:t>
            </a:r>
            <a:endParaRPr lang="en-US" sz="900" dirty="0"/>
          </a:p>
        </p:txBody>
      </p:sp>
      <p:sp>
        <p:nvSpPr>
          <p:cNvPr id="5" name="Text 3"/>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en-US" sz="900" dirty="0">
                <a:solidFill>
                  <a:srgbClr val="6B7679"/>
                </a:solidFill>
                <a:latin typeface="Calibri" pitchFamily="34" charset="0"/>
                <a:ea typeface="Calibri" pitchFamily="34" charset="-122"/>
                <a:cs typeface="Calibri" pitchFamily="34" charset="-120"/>
              </a:rPr>
              <a:t>Week 8  ·  13</a:t>
            </a:r>
            <a:endParaRPr lang="en-US" sz="900" dirty="0"/>
          </a:p>
        </p:txBody>
      </p:sp>
      <p:sp>
        <p:nvSpPr>
          <p:cNvPr id="6" name="Shape 4"/>
          <p:cNvSpPr/>
          <p:nvPr/>
        </p:nvSpPr>
        <p:spPr>
          <a:xfrm>
            <a:off x="10287000" y="274320"/>
            <a:ext cx="1371600" cy="329184"/>
          </a:xfrm>
          <a:prstGeom prst="roundRect">
            <a:avLst>
              <a:gd name="adj" fmla="val 13889"/>
            </a:avLst>
          </a:prstGeom>
          <a:solidFill>
            <a:srgbClr val="02C39A"/>
          </a:solidFill>
          <a:ln/>
        </p:spPr>
        <p:txBody>
          <a:bodyPr/>
          <a:p/>
        </p:txBody>
      </p:sp>
      <p:sp>
        <p:nvSpPr>
          <p:cNvPr id="7" name="Text 5"/>
          <p:cNvSpPr txBox="1"/>
          <p:nvPr/>
        </p:nvSpPr>
        <p:spPr>
          <a:xfrm>
            <a:off x="10287000" y="274320"/>
            <a:ext cx="1371600" cy="329184"/>
          </a:xfrm>
          <a:prstGeom prst="rect">
            <a:avLst/>
          </a:prstGeom>
          <a:noFill/>
          <a:ln/>
        </p:spPr>
        <p:txBody>
          <a:bodyPr wrap="square" lIns="38100" tIns="38100" rIns="38100" bIns="38100" rtlCol="0" anchor="ctr"/>
          <a:lstStyle/>
          <a:p>
            <a:pPr algn="ctr" indent="0" marL="0">
              <a:buNone/>
            </a:pPr>
            <a:r>
              <a:rPr lang="en-US" sz="1200" b="1" dirty="0">
                <a:solidFill>
                  <a:srgbClr val="212121"/>
                </a:solidFill>
                <a:latin typeface="Calibri" pitchFamily="34" charset="0"/>
                <a:ea typeface="Calibri" pitchFamily="34" charset="-122"/>
                <a:cs typeface="Calibri" pitchFamily="34" charset="-120"/>
              </a:rPr>
              <a:t>Week 4</a:t>
            </a:r>
            <a:endParaRPr lang="en-US" sz="1200" dirty="0"/>
          </a:p>
        </p:txBody>
      </p:sp>
      <p:sp>
        <p:nvSpPr>
          <p:cNvPr id="8" name="Shape 6"/>
          <p:cNvSpPr/>
          <p:nvPr/>
        </p:nvSpPr>
        <p:spPr>
          <a:xfrm>
            <a:off x="548640" y="1508760"/>
            <a:ext cx="5486400" cy="1508760"/>
          </a:xfrm>
          <a:prstGeom prst="roundRect">
            <a:avLst>
              <a:gd name="adj" fmla="val 3636"/>
            </a:avLst>
          </a:prstGeom>
          <a:solidFill>
            <a:srgbClr val="F2F2F2"/>
          </a:solidFill>
          <a:ln/>
          <a:effectLst>
            <a:outerShdw sx="100000" sy="100000" kx="0" ky="0" algn="bl" rotWithShape="0" blurRad="101600" dist="25400" dir="5400000">
              <a:srgbClr val="000000">
                <a:alpha val="12000"/>
              </a:srgbClr>
            </a:outerShdw>
          </a:effectLst>
        </p:spPr>
        <p:txBody>
          <a:bodyPr/>
          <a:p/>
        </p:txBody>
      </p:sp>
      <p:sp>
        <p:nvSpPr>
          <p:cNvPr id="9" name="Text 7"/>
          <p:cNvSpPr txBox="1"/>
          <p:nvPr/>
        </p:nvSpPr>
        <p:spPr>
          <a:xfrm>
            <a:off x="777240" y="1691640"/>
            <a:ext cx="5029200" cy="384048"/>
          </a:xfrm>
          <a:prstGeom prst="rect">
            <a:avLst/>
          </a:prstGeom>
          <a:noFill/>
          <a:ln/>
        </p:spPr>
        <p:txBody>
          <a:bodyPr wrap="square" lIns="0" tIns="0" rIns="0" bIns="0" rtlCol="0" anchor="ctr"/>
          <a:lstStyle/>
          <a:p>
            <a:pPr indent="0" marL="0">
              <a:buNone/>
            </a:pPr>
            <a:r>
              <a:rPr lang="en-US" sz="1500" b="1" dirty="0">
                <a:solidFill>
                  <a:srgbClr val="028090"/>
                </a:solidFill>
                <a:latin typeface="Cambria" pitchFamily="34" charset="0"/>
                <a:ea typeface="Cambria" pitchFamily="34" charset="-122"/>
                <a:cs typeface="Cambria" pitchFamily="34" charset="-120"/>
              </a:rPr>
              <a:t>CPU–I/O burst cycle</a:t>
            </a:r>
            <a:endParaRPr lang="en-US" sz="1500" dirty="0"/>
          </a:p>
        </p:txBody>
      </p:sp>
      <p:sp>
        <p:nvSpPr>
          <p:cNvPr id="10" name="Text 8"/>
          <p:cNvSpPr txBox="1"/>
          <p:nvPr/>
        </p:nvSpPr>
        <p:spPr>
          <a:xfrm>
            <a:off x="777240" y="2148840"/>
            <a:ext cx="5029200" cy="731520"/>
          </a:xfrm>
          <a:prstGeom prst="rect">
            <a:avLst/>
          </a:prstGeom>
          <a:noFill/>
          <a:ln/>
        </p:spPr>
        <p:txBody>
          <a:bodyPr wrap="square" lIns="0" tIns="0" rIns="0" bIns="0" rtlCol="0" anchor="t"/>
          <a:lstStyle/>
          <a:p>
            <a:pPr indent="0" marL="0">
              <a:spcAft>
                <a:spcPts val="400"/>
              </a:spcAft>
              <a:buNone/>
            </a:pPr>
            <a:r>
              <a:rPr lang="en-US" sz="1350" dirty="0">
                <a:solidFill>
                  <a:srgbClr val="3A464C"/>
                </a:solidFill>
                <a:latin typeface="Calibri" pitchFamily="34" charset="0"/>
                <a:ea typeface="Calibri" pitchFamily="34" charset="-122"/>
                <a:cs typeface="Calibri" pitchFamily="34" charset="-120"/>
              </a:rPr>
              <a:t>CPU-bound: few long CPU bursts. I/O-bound: many short bursts. Most bursts are short.</a:t>
            </a:r>
            <a:endParaRPr lang="en-US" sz="1350" dirty="0"/>
          </a:p>
        </p:txBody>
      </p:sp>
      <p:sp>
        <p:nvSpPr>
          <p:cNvPr id="11" name="Shape 9"/>
          <p:cNvSpPr/>
          <p:nvPr/>
        </p:nvSpPr>
        <p:spPr>
          <a:xfrm>
            <a:off x="548640" y="3154680"/>
            <a:ext cx="5486400" cy="1783080"/>
          </a:xfrm>
          <a:prstGeom prst="roundRect">
            <a:avLst>
              <a:gd name="adj" fmla="val 3077"/>
            </a:avLst>
          </a:prstGeom>
          <a:solidFill>
            <a:srgbClr val="F2F2F2"/>
          </a:solidFill>
          <a:ln/>
          <a:effectLst>
            <a:outerShdw sx="100000" sy="100000" kx="0" ky="0" algn="bl" rotWithShape="0" blurRad="101600" dist="25400" dir="5400000">
              <a:srgbClr val="000000">
                <a:alpha val="12000"/>
              </a:srgbClr>
            </a:outerShdw>
          </a:effectLst>
        </p:spPr>
        <p:txBody>
          <a:bodyPr/>
          <a:p/>
        </p:txBody>
      </p:sp>
      <p:sp>
        <p:nvSpPr>
          <p:cNvPr id="12" name="Text 10"/>
          <p:cNvSpPr txBox="1"/>
          <p:nvPr/>
        </p:nvSpPr>
        <p:spPr>
          <a:xfrm>
            <a:off x="777240" y="3337560"/>
            <a:ext cx="5029200" cy="384048"/>
          </a:xfrm>
          <a:prstGeom prst="rect">
            <a:avLst/>
          </a:prstGeom>
          <a:noFill/>
          <a:ln/>
        </p:spPr>
        <p:txBody>
          <a:bodyPr wrap="square" lIns="0" tIns="0" rIns="0" bIns="0" rtlCol="0" anchor="ctr"/>
          <a:lstStyle/>
          <a:p>
            <a:pPr indent="0" marL="0">
              <a:buNone/>
            </a:pPr>
            <a:r>
              <a:rPr lang="en-US" sz="1500" b="1" dirty="0">
                <a:solidFill>
                  <a:srgbClr val="028090"/>
                </a:solidFill>
                <a:latin typeface="Cambria" pitchFamily="34" charset="0"/>
                <a:ea typeface="Cambria" pitchFamily="34" charset="-122"/>
                <a:cs typeface="Cambria" pitchFamily="34" charset="-120"/>
              </a:rPr>
              <a:t>Four decision points</a:t>
            </a:r>
            <a:endParaRPr lang="en-US" sz="1500" dirty="0"/>
          </a:p>
        </p:txBody>
      </p:sp>
      <p:sp>
        <p:nvSpPr>
          <p:cNvPr id="13" name="Text 11"/>
          <p:cNvSpPr txBox="1"/>
          <p:nvPr/>
        </p:nvSpPr>
        <p:spPr>
          <a:xfrm>
            <a:off x="777240" y="3794760"/>
            <a:ext cx="5029200" cy="1005840"/>
          </a:xfrm>
          <a:prstGeom prst="rect">
            <a:avLst/>
          </a:prstGeom>
          <a:noFill/>
          <a:ln/>
        </p:spPr>
        <p:txBody>
          <a:bodyPr wrap="square" lIns="0" tIns="0" rIns="0" bIns="0" rtlCol="0" anchor="t"/>
          <a:lstStyle/>
          <a:p>
            <a:pPr marL="228600" indent="-228600">
              <a:spcAft>
                <a:spcPts val="400"/>
              </a:spcAft>
              <a:buSzPct val="100000"/>
              <a:buChar char="•"/>
            </a:pPr>
            <a:r>
              <a:rPr lang="en-US" sz="1350" dirty="0">
                <a:solidFill>
                  <a:srgbClr val="3A464C"/>
                </a:solidFill>
                <a:latin typeface="Calibri" pitchFamily="34" charset="0"/>
                <a:ea typeface="Calibri" pitchFamily="34" charset="-122"/>
                <a:cs typeface="Calibri" pitchFamily="34" charset="-120"/>
              </a:rPr>
              <a:t>1 running → waiting   2 running → ready</a:t>
            </a:r>
            <a:endParaRPr lang="en-US" sz="1350" dirty="0"/>
          </a:p>
          <a:p>
            <a:pPr marL="228600" indent="-228600">
              <a:spcAft>
                <a:spcPts val="400"/>
              </a:spcAft>
              <a:buSzPct val="100000"/>
              <a:buChar char="•"/>
            </a:pPr>
            <a:r>
              <a:rPr lang="en-US" sz="1350" dirty="0">
                <a:solidFill>
                  <a:srgbClr val="3A464C"/>
                </a:solidFill>
                <a:latin typeface="Calibri" pitchFamily="34" charset="0"/>
                <a:ea typeface="Calibri" pitchFamily="34" charset="-122"/>
                <a:cs typeface="Calibri" pitchFamily="34" charset="-120"/>
              </a:rPr>
              <a:t>3 waiting → ready   4 terminates</a:t>
            </a:r>
            <a:endParaRPr lang="en-US" sz="1350" dirty="0"/>
          </a:p>
          <a:p>
            <a:pPr marL="228600" indent="-228600">
              <a:spcAft>
                <a:spcPts val="400"/>
              </a:spcAft>
              <a:buSzPct val="100000"/>
              <a:buChar char="•"/>
            </a:pPr>
            <a:r>
              <a:rPr lang="en-US" sz="1350" dirty="0">
                <a:solidFill>
                  <a:srgbClr val="3A464C"/>
                </a:solidFill>
                <a:latin typeface="Calibri" pitchFamily="34" charset="0"/>
                <a:ea typeface="Calibri" pitchFamily="34" charset="-122"/>
                <a:cs typeface="Calibri" pitchFamily="34" charset="-120"/>
              </a:rPr>
              <a:t>Non-preemptive: only 1 and 4. Preemptive: all four.</a:t>
            </a:r>
            <a:endParaRPr lang="en-US" sz="1350" dirty="0"/>
          </a:p>
        </p:txBody>
      </p:sp>
      <p:sp>
        <p:nvSpPr>
          <p:cNvPr id="14" name="Shape 12"/>
          <p:cNvSpPr/>
          <p:nvPr/>
        </p:nvSpPr>
        <p:spPr>
          <a:xfrm>
            <a:off x="548640" y="5074920"/>
            <a:ext cx="5486400" cy="1188720"/>
          </a:xfrm>
          <a:prstGeom prst="roundRect">
            <a:avLst>
              <a:gd name="adj" fmla="val 4615"/>
            </a:avLst>
          </a:prstGeom>
          <a:solidFill>
            <a:srgbClr val="F2F2F2"/>
          </a:solidFill>
          <a:ln/>
          <a:effectLst>
            <a:outerShdw sx="100000" sy="100000" kx="0" ky="0" algn="bl" rotWithShape="0" blurRad="101600" dist="25400" dir="5400000">
              <a:srgbClr val="000000">
                <a:alpha val="12000"/>
              </a:srgbClr>
            </a:outerShdw>
          </a:effectLst>
        </p:spPr>
        <p:txBody>
          <a:bodyPr/>
          <a:p/>
        </p:txBody>
      </p:sp>
      <p:sp>
        <p:nvSpPr>
          <p:cNvPr id="15" name="Text 13"/>
          <p:cNvSpPr txBox="1"/>
          <p:nvPr/>
        </p:nvSpPr>
        <p:spPr>
          <a:xfrm>
            <a:off x="777240" y="5257800"/>
            <a:ext cx="5029200" cy="384048"/>
          </a:xfrm>
          <a:prstGeom prst="rect">
            <a:avLst/>
          </a:prstGeom>
          <a:noFill/>
          <a:ln/>
        </p:spPr>
        <p:txBody>
          <a:bodyPr wrap="square" lIns="0" tIns="0" rIns="0" bIns="0" rtlCol="0" anchor="ctr"/>
          <a:lstStyle/>
          <a:p>
            <a:pPr indent="0" marL="0">
              <a:buNone/>
            </a:pPr>
            <a:r>
              <a:rPr lang="en-US" sz="1500" b="1" dirty="0">
                <a:solidFill>
                  <a:srgbClr val="028090"/>
                </a:solidFill>
                <a:latin typeface="Cambria" pitchFamily="34" charset="0"/>
                <a:ea typeface="Cambria" pitchFamily="34" charset="-122"/>
                <a:cs typeface="Cambria" pitchFamily="34" charset="-120"/>
              </a:rPr>
              <a:t>Dispatcher</a:t>
            </a:r>
            <a:endParaRPr lang="en-US" sz="1500" dirty="0"/>
          </a:p>
        </p:txBody>
      </p:sp>
      <p:sp>
        <p:nvSpPr>
          <p:cNvPr id="16" name="Text 14"/>
          <p:cNvSpPr txBox="1"/>
          <p:nvPr/>
        </p:nvSpPr>
        <p:spPr>
          <a:xfrm>
            <a:off x="777240" y="5715000"/>
            <a:ext cx="5029200" cy="411480"/>
          </a:xfrm>
          <a:prstGeom prst="rect">
            <a:avLst/>
          </a:prstGeom>
          <a:noFill/>
          <a:ln/>
        </p:spPr>
        <p:txBody>
          <a:bodyPr wrap="square" lIns="0" tIns="0" rIns="0" bIns="0" rtlCol="0" anchor="t"/>
          <a:lstStyle/>
          <a:p>
            <a:pPr indent="0" marL="0">
              <a:spcAft>
                <a:spcPts val="400"/>
              </a:spcAft>
              <a:buNone/>
            </a:pPr>
            <a:r>
              <a:rPr lang="en-US" sz="1300" dirty="0">
                <a:solidFill>
                  <a:srgbClr val="3A464C"/>
                </a:solidFill>
                <a:latin typeface="Calibri" pitchFamily="34" charset="0"/>
                <a:ea typeface="Calibri" pitchFamily="34" charset="-122"/>
                <a:cs typeface="Calibri" pitchFamily="34" charset="-120"/>
              </a:rPr>
              <a:t>Switch context, switch to user mode, jump to the saved PC. Its time = dispatch latency.</a:t>
            </a:r>
            <a:endParaRPr lang="en-US" sz="1300" dirty="0"/>
          </a:p>
        </p:txBody>
      </p:sp>
      <p:sp>
        <p:nvSpPr>
          <p:cNvPr id="17" name="Shape 15"/>
          <p:cNvSpPr/>
          <p:nvPr/>
        </p:nvSpPr>
        <p:spPr>
          <a:xfrm>
            <a:off x="6263640" y="1508760"/>
            <a:ext cx="5394960" cy="3429000"/>
          </a:xfrm>
          <a:prstGeom prst="roundRect">
            <a:avLst>
              <a:gd name="adj" fmla="val 1333"/>
            </a:avLst>
          </a:prstGeom>
          <a:solidFill>
            <a:srgbClr val="212121"/>
          </a:solidFill>
          <a:ln/>
        </p:spPr>
        <p:txBody>
          <a:bodyPr/>
          <a:p/>
        </p:txBody>
      </p:sp>
      <p:sp>
        <p:nvSpPr>
          <p:cNvPr id="18" name="Text 16"/>
          <p:cNvSpPr txBox="1"/>
          <p:nvPr/>
        </p:nvSpPr>
        <p:spPr>
          <a:xfrm>
            <a:off x="6446520" y="1618488"/>
            <a:ext cx="5029200" cy="3209544"/>
          </a:xfrm>
          <a:prstGeom prst="rect">
            <a:avLst/>
          </a:prstGeom>
          <a:noFill/>
          <a:ln/>
        </p:spPr>
        <p:txBody>
          <a:bodyPr wrap="square" lIns="0" tIns="0" rIns="0" bIns="0" rtlCol="0" anchor="t"/>
          <a:lstStyle/>
          <a:p>
            <a:pPr indent="0" marL="0">
              <a:lnSpc>
                <a:spcPct val="105000"/>
              </a:lnSpc>
              <a:buNone/>
            </a:pPr>
            <a:r>
              <a:rPr lang="en-US" sz="1350" dirty="0">
                <a:solidFill>
                  <a:srgbClr val="F2F2F2"/>
                </a:solidFill>
                <a:latin typeface="Consolas" pitchFamily="34" charset="0"/>
                <a:ea typeface="Consolas" pitchFamily="34" charset="-122"/>
                <a:cs typeface="Consolas" pitchFamily="34" charset="-120"/>
              </a:rPr>
              <a:t>T_turnaround = T_completion − T_arrival</a:t>
            </a:r>
            <a:endParaRPr lang="en-US" sz="1350" dirty="0"/>
          </a:p>
          <a:p>
            <a:pPr indent="0" marL="0">
              <a:lnSpc>
                <a:spcPct val="105000"/>
              </a:lnSpc>
              <a:buNone/>
            </a:pPr>
            <a:r>
              <a:rPr lang="en-US" sz="1350" dirty="0">
                <a:solidFill>
                  <a:srgbClr val="F2F2F2"/>
                </a:solidFill>
                <a:latin typeface="Consolas" pitchFamily="34" charset="0"/>
                <a:ea typeface="Consolas" pitchFamily="34" charset="-122"/>
                <a:cs typeface="Consolas" pitchFamily="34" charset="-120"/>
              </a:rPr>
              <a:t>T_waiting    = T_turnaround − T_burst</a:t>
            </a:r>
            <a:endParaRPr lang="en-US" sz="1350" dirty="0"/>
          </a:p>
          <a:p>
            <a:pPr indent="0" marL="0">
              <a:lnSpc>
                <a:spcPct val="105000"/>
              </a:lnSpc>
              <a:buNone/>
            </a:pPr>
            <a:r>
              <a:rPr lang="en-US" sz="1350" dirty="0">
                <a:solidFill>
                  <a:srgbClr val="F2F2F2"/>
                </a:solidFill>
                <a:latin typeface="Consolas" pitchFamily="34" charset="0"/>
                <a:ea typeface="Consolas" pitchFamily="34" charset="-122"/>
                <a:cs typeface="Consolas" pitchFamily="34" charset="-120"/>
              </a:rPr>
              <a:t>T_response   = T_first run  − T_arrival</a:t>
            </a:r>
            <a:endParaRPr lang="en-US" sz="1350" dirty="0"/>
          </a:p>
          <a:p>
            <a:pPr indent="0" marL="0">
              <a:lnSpc>
                <a:spcPct val="105000"/>
              </a:lnSpc>
              <a:buNone/>
            </a:pPr>
            <a:r>
              <a:rPr lang="en-US" sz="1350" dirty="0">
                <a:solidFill>
                  <a:srgbClr val="F2F2F2"/>
                </a:solidFill>
                <a:latin typeface="Consolas" pitchFamily="34" charset="0"/>
                <a:ea typeface="Consolas" pitchFamily="34" charset="-122"/>
                <a:cs typeface="Consolas" pitchFamily="34" charset="-120"/>
              </a:rPr>
              <a:t> </a:t>
            </a:r>
            <a:endParaRPr lang="en-US" sz="1350" dirty="0"/>
          </a:p>
          <a:p>
            <a:pPr indent="0" marL="0">
              <a:lnSpc>
                <a:spcPct val="105000"/>
              </a:lnSpc>
              <a:buNone/>
            </a:pPr>
            <a:r>
              <a:rPr lang="en-US" sz="1350" dirty="0">
                <a:solidFill>
                  <a:srgbClr val="F2F2F2"/>
                </a:solidFill>
                <a:latin typeface="Consolas" pitchFamily="34" charset="0"/>
                <a:ea typeface="Consolas" pitchFamily="34" charset="-122"/>
                <a:cs typeface="Consolas" pitchFamily="34" charset="-120"/>
              </a:rPr>
              <a:t>CPU utilisation = B / T     (busy / total)</a:t>
            </a:r>
            <a:endParaRPr lang="en-US" sz="1350" dirty="0"/>
          </a:p>
          <a:p>
            <a:pPr indent="0" marL="0">
              <a:lnSpc>
                <a:spcPct val="105000"/>
              </a:lnSpc>
              <a:buNone/>
            </a:pPr>
            <a:r>
              <a:rPr lang="en-US" sz="1350" dirty="0">
                <a:solidFill>
                  <a:srgbClr val="F2F2F2"/>
                </a:solidFill>
                <a:latin typeface="Consolas" pitchFamily="34" charset="0"/>
                <a:ea typeface="Consolas" pitchFamily="34" charset="-122"/>
                <a:cs typeface="Consolas" pitchFamily="34" charset="-120"/>
              </a:rPr>
              <a:t>throughput      = n / T</a:t>
            </a:r>
            <a:endParaRPr lang="en-US" sz="1350" dirty="0"/>
          </a:p>
          <a:p>
            <a:pPr indent="0" marL="0">
              <a:lnSpc>
                <a:spcPct val="105000"/>
              </a:lnSpc>
              <a:buNone/>
            </a:pPr>
            <a:r>
              <a:rPr lang="en-US" sz="1350" dirty="0">
                <a:solidFill>
                  <a:srgbClr val="F2F2F2"/>
                </a:solidFill>
                <a:latin typeface="Consolas" pitchFamily="34" charset="0"/>
                <a:ea typeface="Consolas" pitchFamily="34" charset="-122"/>
                <a:cs typeface="Consolas" pitchFamily="34" charset="-120"/>
              </a:rPr>
              <a:t> </a:t>
            </a:r>
            <a:endParaRPr lang="en-US" sz="1350" dirty="0"/>
          </a:p>
          <a:p>
            <a:pPr indent="0" marL="0">
              <a:lnSpc>
                <a:spcPct val="105000"/>
              </a:lnSpc>
              <a:buNone/>
            </a:pPr>
            <a:r>
              <a:rPr lang="en-US" sz="1350" dirty="0">
                <a:solidFill>
                  <a:srgbClr val="F2F2F2"/>
                </a:solidFill>
                <a:latin typeface="Consolas" pitchFamily="34" charset="0"/>
                <a:ea typeface="Consolas" pitchFamily="34" charset="-122"/>
                <a:cs typeface="Consolas" pitchFamily="34" charset="-120"/>
              </a:rPr>
              <a:t>maximise: utilisation, throughput</a:t>
            </a:r>
            <a:endParaRPr lang="en-US" sz="1350" dirty="0"/>
          </a:p>
          <a:p>
            <a:pPr indent="0" marL="0">
              <a:lnSpc>
                <a:spcPct val="105000"/>
              </a:lnSpc>
              <a:buNone/>
            </a:pPr>
            <a:r>
              <a:rPr lang="en-US" sz="1350" dirty="0">
                <a:solidFill>
                  <a:srgbClr val="F2F2F2"/>
                </a:solidFill>
                <a:latin typeface="Consolas" pitchFamily="34" charset="0"/>
                <a:ea typeface="Consolas" pitchFamily="34" charset="-122"/>
                <a:cs typeface="Consolas" pitchFamily="34" charset="-120"/>
              </a:rPr>
              <a:t>minimise: turnaround, waiting, response</a:t>
            </a:r>
            <a:endParaRPr lang="en-US" sz="1350" dirty="0"/>
          </a:p>
        </p:txBody>
      </p:sp>
      <p:sp>
        <p:nvSpPr>
          <p:cNvPr id="19" name="Shape 17"/>
          <p:cNvSpPr/>
          <p:nvPr/>
        </p:nvSpPr>
        <p:spPr>
          <a:xfrm>
            <a:off x="6263640" y="5074920"/>
            <a:ext cx="5394960" cy="1188720"/>
          </a:xfrm>
          <a:prstGeom prst="roundRect">
            <a:avLst>
              <a:gd name="adj" fmla="val 4615"/>
            </a:avLst>
          </a:prstGeom>
          <a:solidFill>
            <a:srgbClr val="36454F"/>
          </a:solidFill>
          <a:ln/>
          <a:effectLst>
            <a:outerShdw sx="100000" sy="100000" kx="0" ky="0" algn="bl" rotWithShape="0" blurRad="101600" dist="25400" dir="5400000">
              <a:srgbClr val="000000">
                <a:alpha val="12000"/>
              </a:srgbClr>
            </a:outerShdw>
          </a:effectLst>
        </p:spPr>
        <p:txBody>
          <a:bodyPr/>
          <a:p/>
        </p:txBody>
      </p:sp>
      <p:sp>
        <p:nvSpPr>
          <p:cNvPr id="20" name="Text 18"/>
          <p:cNvSpPr txBox="1"/>
          <p:nvPr/>
        </p:nvSpPr>
        <p:spPr>
          <a:xfrm>
            <a:off x="6492240" y="5074920"/>
            <a:ext cx="4937760" cy="1188720"/>
          </a:xfrm>
          <a:prstGeom prst="rect">
            <a:avLst/>
          </a:prstGeom>
          <a:noFill/>
          <a:ln/>
        </p:spPr>
        <p:txBody>
          <a:bodyPr wrap="square" lIns="0" tIns="0" rIns="0" bIns="0" rtlCol="0" anchor="ctr"/>
          <a:lstStyle/>
          <a:p>
            <a:pPr indent="0" marL="0">
              <a:buNone/>
            </a:pPr>
            <a:r>
              <a:rPr lang="en-US" sz="1400" dirty="0">
                <a:solidFill>
                  <a:srgbClr val="F2F2F2"/>
                </a:solidFill>
                <a:latin typeface="Calibri" pitchFamily="34" charset="0"/>
                <a:ea typeface="Calibri" pitchFamily="34" charset="-122"/>
                <a:cs typeface="Calibri" pitchFamily="34" charset="-120"/>
              </a:rPr>
              <a:t>Waiting time = time in the ready queue only. The scheduler cannot change bursts or I/O — only waiting.</a:t>
            </a:r>
            <a:endParaRPr lang="en-US" sz="1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en-US" sz="1200" b="1" spc="200" kern="0" dirty="0">
                <a:solidFill>
                  <a:srgbClr val="02C39A"/>
                </a:solidFill>
                <a:latin typeface="Calibri" pitchFamily="34" charset="0"/>
                <a:ea typeface="Calibri" pitchFamily="34" charset="-122"/>
                <a:cs typeface="Calibri" pitchFamily="34" charset="-120"/>
              </a:rPr>
              <a:t>WEEK 5 · SCHEDULING ALGORITHMS</a:t>
            </a:r>
            <a:endParaRPr lang="en-US"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en-US" sz="3000" b="1" dirty="0">
                <a:solidFill>
                  <a:srgbClr val="36454F"/>
                </a:solidFill>
                <a:latin typeface="Cambria" pitchFamily="34" charset="0"/>
                <a:ea typeface="Cambria" pitchFamily="34" charset="-122"/>
                <a:cs typeface="Cambria" pitchFamily="34" charset="-120"/>
              </a:rPr>
              <a:t>Five Algorithms at a Glance</a:t>
            </a:r>
            <a:endParaRPr lang="en-US" sz="3000" dirty="0"/>
          </a:p>
        </p:txBody>
      </p:sp>
      <p:sp>
        <p:nvSpPr>
          <p:cNvPr id="4" name="Text 2"/>
          <p:cNvSpPr txBox="1"/>
          <p:nvPr/>
        </p:nvSpPr>
        <p:spPr>
          <a:xfrm>
            <a:off x="548640" y="6528816"/>
            <a:ext cx="6400800" cy="274320"/>
          </a:xfrm>
          <a:prstGeom prst="rect">
            <a:avLst/>
          </a:prstGeom>
          <a:noFill/>
          <a:ln/>
        </p:spPr>
        <p:txBody>
          <a:bodyPr wrap="square" lIns="0" tIns="0" rIns="0" bIns="0" rtlCol="0" anchor="ctr"/>
          <a:lstStyle/>
          <a:p>
            <a:pPr indent="0" marL="0">
              <a:buNone/>
            </a:pPr>
            <a:r>
              <a:rPr lang="en-US" sz="900" dirty="0">
                <a:solidFill>
                  <a:srgbClr val="6B7679"/>
                </a:solidFill>
                <a:latin typeface="Calibri" pitchFamily="34" charset="0"/>
                <a:ea typeface="Calibri" pitchFamily="34" charset="-122"/>
                <a:cs typeface="Calibri" pitchFamily="34" charset="-120"/>
              </a:rPr>
              <a:t>MCMP117 — Fundamentals of Operating Systems</a:t>
            </a:r>
            <a:endParaRPr lang="en-US" sz="900" dirty="0"/>
          </a:p>
        </p:txBody>
      </p:sp>
      <p:sp>
        <p:nvSpPr>
          <p:cNvPr id="5" name="Text 3"/>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en-US" sz="900" dirty="0">
                <a:solidFill>
                  <a:srgbClr val="6B7679"/>
                </a:solidFill>
                <a:latin typeface="Calibri" pitchFamily="34" charset="0"/>
                <a:ea typeface="Calibri" pitchFamily="34" charset="-122"/>
                <a:cs typeface="Calibri" pitchFamily="34" charset="-120"/>
              </a:rPr>
              <a:t>Week 8  ·  14</a:t>
            </a:r>
            <a:endParaRPr lang="en-US" sz="9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548640" y="1554480"/>
          <a:ext cx="11109960" cy="914400"/>
        </p:xfrm>
        <a:graphic>
          <a:graphicData uri="http://schemas.openxmlformats.org/drawingml/2006/table">
            <a:tbl>
              <a:tblPr/>
              <a:tblGrid>
                <a:gridCol w="1600200"/>
                <a:gridCol w="4343400"/>
                <a:gridCol w="1463040"/>
                <a:gridCol w="3703320"/>
              </a:tblGrid>
              <a:tr h="0">
                <a:tc>
                  <a:txBody>
                    <a:bodyPr/>
                    <a:lstStyle/>
                    <a:p>
                      <a:pPr indent="0" marL="0">
                        <a:buNone/>
                      </a:pPr>
                      <a:r>
                        <a:rPr lang="en-US" sz="1550" b="1" dirty="0">
                          <a:solidFill>
                            <a:srgbClr val="FFFFFF"/>
                          </a:solidFill>
                          <a:latin typeface="Cambria" pitchFamily="34" charset="0"/>
                          <a:ea typeface="Cambria" pitchFamily="34" charset="-122"/>
                          <a:cs typeface="Cambria" pitchFamily="34" charset="-120"/>
                        </a:rPr>
                        <a:t>Algorithm</a:t>
                      </a:r>
                      <a:endParaRPr lang="en-US" sz="1550" dirty="0">
                        <a:latin typeface="Cambria" charset="0"/>
                        <a:ea typeface="Cambria" charset="0"/>
                        <a:cs typeface="Cambria"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36454F"/>
                    </a:solidFill>
                  </a:tcPr>
                </a:tc>
                <a:tc>
                  <a:txBody>
                    <a:bodyPr/>
                    <a:lstStyle/>
                    <a:p>
                      <a:pPr indent="0" marL="0">
                        <a:buNone/>
                      </a:pPr>
                      <a:r>
                        <a:rPr lang="en-US" sz="1550" b="1" dirty="0">
                          <a:solidFill>
                            <a:srgbClr val="FFFFFF"/>
                          </a:solidFill>
                          <a:latin typeface="Cambria" pitchFamily="34" charset="0"/>
                          <a:ea typeface="Cambria" pitchFamily="34" charset="-122"/>
                          <a:cs typeface="Cambria" pitchFamily="34" charset="-120"/>
                        </a:rPr>
                        <a:t>Rule</a:t>
                      </a:r>
                      <a:endParaRPr lang="en-US" sz="1550" dirty="0">
                        <a:latin typeface="Cambria" charset="0"/>
                        <a:ea typeface="Cambria" charset="0"/>
                        <a:cs typeface="Cambria"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36454F"/>
                    </a:solidFill>
                  </a:tcPr>
                </a:tc>
                <a:tc>
                  <a:txBody>
                    <a:bodyPr/>
                    <a:lstStyle/>
                    <a:p>
                      <a:pPr indent="0" marL="0">
                        <a:buNone/>
                      </a:pPr>
                      <a:r>
                        <a:rPr lang="en-US" sz="1550" b="1" dirty="0">
                          <a:solidFill>
                            <a:srgbClr val="FFFFFF"/>
                          </a:solidFill>
                          <a:latin typeface="Cambria" pitchFamily="34" charset="0"/>
                          <a:ea typeface="Cambria" pitchFamily="34" charset="-122"/>
                          <a:cs typeface="Cambria" pitchFamily="34" charset="-120"/>
                        </a:rPr>
                        <a:t>Preemptive?</a:t>
                      </a:r>
                      <a:endParaRPr lang="en-US" sz="1550" dirty="0">
                        <a:latin typeface="Cambria" charset="0"/>
                        <a:ea typeface="Cambria" charset="0"/>
                        <a:cs typeface="Cambria"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36454F"/>
                    </a:solidFill>
                  </a:tcPr>
                </a:tc>
                <a:tc>
                  <a:txBody>
                    <a:bodyPr/>
                    <a:lstStyle/>
                    <a:p>
                      <a:pPr indent="0" marL="0">
                        <a:buNone/>
                      </a:pPr>
                      <a:r>
                        <a:rPr lang="en-US" sz="1550" b="1" dirty="0">
                          <a:solidFill>
                            <a:srgbClr val="FFFFFF"/>
                          </a:solidFill>
                          <a:latin typeface="Cambria" pitchFamily="34" charset="0"/>
                          <a:ea typeface="Cambria" pitchFamily="34" charset="-122"/>
                          <a:cs typeface="Cambria" pitchFamily="34" charset="-120"/>
                        </a:rPr>
                        <a:t>Watch out for</a:t>
                      </a:r>
                      <a:endParaRPr lang="en-US" sz="1550" dirty="0">
                        <a:latin typeface="Cambria" charset="0"/>
                        <a:ea typeface="Cambria" charset="0"/>
                        <a:cs typeface="Cambria"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36454F"/>
                    </a:solidFill>
                  </a:tcPr>
                </a:tc>
              </a:tr>
              <a:tr h="0">
                <a:tc>
                  <a:txBody>
                    <a:bodyPr/>
                    <a:lstStyle/>
                    <a:p>
                      <a:pPr indent="0" marL="0">
                        <a:buNone/>
                      </a:pPr>
                      <a:r>
                        <a:rPr lang="en-US" sz="1450" b="1" dirty="0">
                          <a:solidFill>
                            <a:srgbClr val="3A464C"/>
                          </a:solidFill>
                          <a:latin typeface="Calibri" pitchFamily="34" charset="0"/>
                          <a:ea typeface="Calibri" pitchFamily="34" charset="-122"/>
                          <a:cs typeface="Calibri" pitchFamily="34" charset="-120"/>
                        </a:rPr>
                        <a:t>FCFS</a:t>
                      </a:r>
                      <a:endParaRPr lang="en-US" sz="14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en-US" sz="1450" dirty="0">
                          <a:solidFill>
                            <a:srgbClr val="3A464C"/>
                          </a:solidFill>
                          <a:latin typeface="Calibri" pitchFamily="34" charset="0"/>
                          <a:ea typeface="Calibri" pitchFamily="34" charset="-122"/>
                          <a:cs typeface="Calibri" pitchFamily="34" charset="-120"/>
                        </a:rPr>
                        <a:t>FIFO ready queue, run to completion</a:t>
                      </a:r>
                      <a:endParaRPr lang="en-US" sz="14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en-US" sz="1450" dirty="0">
                          <a:solidFill>
                            <a:srgbClr val="3A464C"/>
                          </a:solidFill>
                          <a:latin typeface="Calibri" pitchFamily="34" charset="0"/>
                          <a:ea typeface="Calibri" pitchFamily="34" charset="-122"/>
                          <a:cs typeface="Calibri" pitchFamily="34" charset="-120"/>
                        </a:rPr>
                        <a:t>no</a:t>
                      </a:r>
                      <a:endParaRPr lang="en-US" sz="14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en-US" sz="1450" dirty="0">
                          <a:solidFill>
                            <a:srgbClr val="3A464C"/>
                          </a:solidFill>
                          <a:latin typeface="Calibri" pitchFamily="34" charset="0"/>
                          <a:ea typeface="Calibri" pitchFamily="34" charset="-122"/>
                          <a:cs typeface="Calibri" pitchFamily="34" charset="-120"/>
                        </a:rPr>
                        <a:t>convoy effect: short jobs behind a long one</a:t>
                      </a:r>
                      <a:endParaRPr lang="en-US" sz="14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r>
              <a:tr h="0">
                <a:tc>
                  <a:txBody>
                    <a:bodyPr/>
                    <a:lstStyle/>
                    <a:p>
                      <a:pPr indent="0" marL="0">
                        <a:buNone/>
                      </a:pPr>
                      <a:r>
                        <a:rPr lang="en-US" sz="1450" b="1" dirty="0">
                          <a:solidFill>
                            <a:srgbClr val="3A464C"/>
                          </a:solidFill>
                          <a:latin typeface="Calibri" pitchFamily="34" charset="0"/>
                          <a:ea typeface="Calibri" pitchFamily="34" charset="-122"/>
                          <a:cs typeface="Calibri" pitchFamily="34" charset="-120"/>
                        </a:rPr>
                        <a:t>SJF</a:t>
                      </a:r>
                      <a:endParaRPr lang="en-US" sz="14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en-US" sz="1450" dirty="0">
                          <a:solidFill>
                            <a:srgbClr val="3A464C"/>
                          </a:solidFill>
                          <a:latin typeface="Calibri" pitchFamily="34" charset="0"/>
                          <a:ea typeface="Calibri" pitchFamily="34" charset="-122"/>
                          <a:cs typeface="Calibri" pitchFamily="34" charset="-120"/>
                        </a:rPr>
                        <a:t>shortest next CPU burst first; τₙ₊₁ = α tₙ + (1 − α) τₙ</a:t>
                      </a:r>
                      <a:endParaRPr lang="en-US" sz="14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en-US" sz="1450" dirty="0">
                          <a:solidFill>
                            <a:srgbClr val="3A464C"/>
                          </a:solidFill>
                          <a:latin typeface="Calibri" pitchFamily="34" charset="0"/>
                          <a:ea typeface="Calibri" pitchFamily="34" charset="-122"/>
                          <a:cs typeface="Calibri" pitchFamily="34" charset="-120"/>
                        </a:rPr>
                        <a:t>no</a:t>
                      </a:r>
                      <a:endParaRPr lang="en-US" sz="14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en-US" sz="1450" dirty="0">
                          <a:solidFill>
                            <a:srgbClr val="3A464C"/>
                          </a:solidFill>
                          <a:latin typeface="Calibri" pitchFamily="34" charset="0"/>
                          <a:ea typeface="Calibri" pitchFamily="34" charset="-122"/>
                          <a:cs typeface="Calibri" pitchFamily="34" charset="-120"/>
                        </a:rPr>
                        <a:t>optimal average wait (all ready); needs prediction</a:t>
                      </a:r>
                      <a:endParaRPr lang="en-US" sz="14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r>
              <a:tr h="0">
                <a:tc>
                  <a:txBody>
                    <a:bodyPr/>
                    <a:lstStyle/>
                    <a:p>
                      <a:pPr indent="0" marL="0">
                        <a:buNone/>
                      </a:pPr>
                      <a:r>
                        <a:rPr lang="en-US" sz="1450" b="1" dirty="0">
                          <a:solidFill>
                            <a:srgbClr val="3A464C"/>
                          </a:solidFill>
                          <a:latin typeface="Calibri" pitchFamily="34" charset="0"/>
                          <a:ea typeface="Calibri" pitchFamily="34" charset="-122"/>
                          <a:cs typeface="Calibri" pitchFamily="34" charset="-120"/>
                        </a:rPr>
                        <a:t>SRTF</a:t>
                      </a:r>
                      <a:endParaRPr lang="en-US" sz="14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en-US" sz="1450" dirty="0">
                          <a:solidFill>
                            <a:srgbClr val="3A464C"/>
                          </a:solidFill>
                          <a:latin typeface="Calibri" pitchFamily="34" charset="0"/>
                          <a:ea typeface="Calibri" pitchFamily="34" charset="-122"/>
                          <a:cs typeface="Calibri" pitchFamily="34" charset="-120"/>
                        </a:rPr>
                        <a:t>newcomer shorter than the REMAINING time preempts</a:t>
                      </a:r>
                      <a:endParaRPr lang="en-US" sz="14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en-US" sz="1450" dirty="0">
                          <a:solidFill>
                            <a:srgbClr val="3A464C"/>
                          </a:solidFill>
                          <a:latin typeface="Calibri" pitchFamily="34" charset="0"/>
                          <a:ea typeface="Calibri" pitchFamily="34" charset="-122"/>
                          <a:cs typeface="Calibri" pitchFamily="34" charset="-120"/>
                        </a:rPr>
                        <a:t>yes</a:t>
                      </a:r>
                      <a:endParaRPr lang="en-US" sz="14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en-US" sz="1450" dirty="0">
                          <a:solidFill>
                            <a:srgbClr val="3A464C"/>
                          </a:solidFill>
                          <a:latin typeface="Calibri" pitchFamily="34" charset="0"/>
                          <a:ea typeface="Calibri" pitchFamily="34" charset="-122"/>
                          <a:cs typeface="Calibri" pitchFamily="34" charset="-120"/>
                        </a:rPr>
                        <a:t>minimum average wait; long jobs may starve</a:t>
                      </a:r>
                      <a:endParaRPr lang="en-US" sz="14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r>
              <a:tr h="0">
                <a:tc>
                  <a:txBody>
                    <a:bodyPr/>
                    <a:lstStyle/>
                    <a:p>
                      <a:pPr indent="0" marL="0">
                        <a:buNone/>
                      </a:pPr>
                      <a:r>
                        <a:rPr lang="en-US" sz="1450" b="1" dirty="0">
                          <a:solidFill>
                            <a:srgbClr val="3A464C"/>
                          </a:solidFill>
                          <a:latin typeface="Calibri" pitchFamily="34" charset="0"/>
                          <a:ea typeface="Calibri" pitchFamily="34" charset="-122"/>
                          <a:cs typeface="Calibri" pitchFamily="34" charset="-120"/>
                        </a:rPr>
                        <a:t>Priority</a:t>
                      </a:r>
                      <a:endParaRPr lang="en-US" sz="14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en-US" sz="1450" dirty="0">
                          <a:solidFill>
                            <a:srgbClr val="3A464C"/>
                          </a:solidFill>
                          <a:latin typeface="Calibri" pitchFamily="34" charset="0"/>
                          <a:ea typeface="Calibri" pitchFamily="34" charset="-122"/>
                          <a:cs typeface="Calibri" pitchFamily="34" charset="-120"/>
                        </a:rPr>
                        <a:t>highest priority first (smaller number = higher)</a:t>
                      </a:r>
                      <a:endParaRPr lang="en-US" sz="14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en-US" sz="1450" dirty="0">
                          <a:solidFill>
                            <a:srgbClr val="3A464C"/>
                          </a:solidFill>
                          <a:latin typeface="Calibri" pitchFamily="34" charset="0"/>
                          <a:ea typeface="Calibri" pitchFamily="34" charset="-122"/>
                          <a:cs typeface="Calibri" pitchFamily="34" charset="-120"/>
                        </a:rPr>
                        <a:t>either</a:t>
                      </a:r>
                      <a:endParaRPr lang="en-US" sz="14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en-US" sz="1450" dirty="0">
                          <a:solidFill>
                            <a:srgbClr val="3A464C"/>
                          </a:solidFill>
                          <a:latin typeface="Calibri" pitchFamily="34" charset="0"/>
                          <a:ea typeface="Calibri" pitchFamily="34" charset="-122"/>
                          <a:cs typeface="Calibri" pitchFamily="34" charset="-120"/>
                        </a:rPr>
                        <a:t>starvation → cure: aging</a:t>
                      </a:r>
                      <a:endParaRPr lang="en-US" sz="14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r>
              <a:tr h="0">
                <a:tc>
                  <a:txBody>
                    <a:bodyPr/>
                    <a:lstStyle/>
                    <a:p>
                      <a:pPr indent="0" marL="0">
                        <a:buNone/>
                      </a:pPr>
                      <a:r>
                        <a:rPr lang="en-US" sz="1450" b="1" dirty="0">
                          <a:solidFill>
                            <a:srgbClr val="3A464C"/>
                          </a:solidFill>
                          <a:latin typeface="Calibri" pitchFamily="34" charset="0"/>
                          <a:ea typeface="Calibri" pitchFamily="34" charset="-122"/>
                          <a:cs typeface="Calibri" pitchFamily="34" charset="-120"/>
                        </a:rPr>
                        <a:t>Round Robin</a:t>
                      </a:r>
                      <a:endParaRPr lang="en-US" sz="14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en-US" sz="1450" dirty="0">
                          <a:solidFill>
                            <a:srgbClr val="3A464C"/>
                          </a:solidFill>
                          <a:latin typeface="Calibri" pitchFamily="34" charset="0"/>
                          <a:ea typeface="Calibri" pitchFamily="34" charset="-122"/>
                          <a:cs typeface="Calibri" pitchFamily="34" charset="-120"/>
                        </a:rPr>
                        <a:t>quantum q, preempted process to the tail</a:t>
                      </a:r>
                      <a:endParaRPr lang="en-US" sz="14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en-US" sz="1450" dirty="0">
                          <a:solidFill>
                            <a:srgbClr val="3A464C"/>
                          </a:solidFill>
                          <a:latin typeface="Calibri" pitchFamily="34" charset="0"/>
                          <a:ea typeface="Calibri" pitchFamily="34" charset="-122"/>
                          <a:cs typeface="Calibri" pitchFamily="34" charset="-120"/>
                        </a:rPr>
                        <a:t>yes</a:t>
                      </a:r>
                      <a:endParaRPr lang="en-US" sz="14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en-US" sz="1450" dirty="0">
                          <a:solidFill>
                            <a:srgbClr val="3A464C"/>
                          </a:solidFill>
                          <a:latin typeface="Calibri" pitchFamily="34" charset="0"/>
                          <a:ea typeface="Calibri" pitchFamily="34" charset="-122"/>
                          <a:cs typeface="Calibri" pitchFamily="34" charset="-120"/>
                        </a:rPr>
                        <a:t>q too large → FCFS; too small → overhead s/(q + s)</a:t>
                      </a:r>
                      <a:endParaRPr lang="en-US" sz="14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r>
            </a:tbl>
          </a:graphicData>
        </a:graphic>
      </p:graphicFrame>
      <p:sp>
        <p:nvSpPr>
          <p:cNvPr id="7" name="Shape 4"/>
          <p:cNvSpPr/>
          <p:nvPr/>
        </p:nvSpPr>
        <p:spPr>
          <a:xfrm>
            <a:off x="548640" y="5486400"/>
            <a:ext cx="11109960" cy="777240"/>
          </a:xfrm>
          <a:prstGeom prst="roundRect">
            <a:avLst>
              <a:gd name="adj" fmla="val 7059"/>
            </a:avLst>
          </a:prstGeom>
          <a:solidFill>
            <a:srgbClr val="36454F"/>
          </a:solidFill>
          <a:ln/>
          <a:effectLst>
            <a:outerShdw sx="100000" sy="100000" kx="0" ky="0" algn="bl" rotWithShape="0" blurRad="101600" dist="25400" dir="5400000">
              <a:srgbClr val="000000">
                <a:alpha val="12000"/>
              </a:srgbClr>
            </a:outerShdw>
          </a:effectLst>
        </p:spPr>
        <p:txBody>
          <a:bodyPr/>
          <a:p/>
        </p:txBody>
      </p:sp>
      <p:sp>
        <p:nvSpPr>
          <p:cNvPr id="8" name="Text 5"/>
          <p:cNvSpPr txBox="1"/>
          <p:nvPr/>
        </p:nvSpPr>
        <p:spPr>
          <a:xfrm>
            <a:off x="777240" y="5486400"/>
            <a:ext cx="10652760" cy="777240"/>
          </a:xfrm>
          <a:prstGeom prst="rect">
            <a:avLst/>
          </a:prstGeom>
          <a:noFill/>
          <a:ln/>
        </p:spPr>
        <p:txBody>
          <a:bodyPr wrap="square" lIns="0" tIns="0" rIns="0" bIns="0" rtlCol="0" anchor="ctr"/>
          <a:lstStyle/>
          <a:p>
            <a:pPr indent="0" marL="0">
              <a:buNone/>
            </a:pPr>
            <a:r>
              <a:rPr lang="en-US" sz="1400" dirty="0">
                <a:solidFill>
                  <a:srgbClr val="F2F2F2"/>
                </a:solidFill>
                <a:latin typeface="Calibri" pitchFamily="34" charset="0"/>
                <a:ea typeface="Calibri" pitchFamily="34" charset="-122"/>
                <a:cs typeface="Calibri" pitchFamily="34" charset="-120"/>
              </a:rPr>
              <a:t>Exam conventions (write them down): context switch = 0 · ties → earlier arrival, then name · smaller number = higher priority · RR: a process arriving when a quantum expires enters the queue BEFORE the preempted one.</a:t>
            </a:r>
            <a:endParaRPr lang="en-US" sz="1400" dirty="0"/>
          </a:p>
        </p:txBody>
      </p:sp>
      <p:sp>
        <p:nvSpPr>
          <p:cNvPr id="9" name="Shape 6"/>
          <p:cNvSpPr/>
          <p:nvPr/>
        </p:nvSpPr>
        <p:spPr>
          <a:xfrm>
            <a:off x="10287000" y="274320"/>
            <a:ext cx="1371600" cy="329184"/>
          </a:xfrm>
          <a:prstGeom prst="roundRect">
            <a:avLst>
              <a:gd name="adj" fmla="val 13889"/>
            </a:avLst>
          </a:prstGeom>
          <a:solidFill>
            <a:srgbClr val="02C39A"/>
          </a:solidFill>
          <a:ln/>
        </p:spPr>
        <p:txBody>
          <a:bodyPr/>
          <a:p/>
        </p:txBody>
      </p:sp>
      <p:sp>
        <p:nvSpPr>
          <p:cNvPr id="10" name="Text 7"/>
          <p:cNvSpPr txBox="1"/>
          <p:nvPr/>
        </p:nvSpPr>
        <p:spPr>
          <a:xfrm>
            <a:off x="10287000" y="274320"/>
            <a:ext cx="1371600" cy="329184"/>
          </a:xfrm>
          <a:prstGeom prst="rect">
            <a:avLst/>
          </a:prstGeom>
          <a:noFill/>
          <a:ln/>
        </p:spPr>
        <p:txBody>
          <a:bodyPr wrap="square" lIns="38100" tIns="38100" rIns="38100" bIns="38100" rtlCol="0" anchor="ctr"/>
          <a:lstStyle/>
          <a:p>
            <a:pPr algn="ctr" indent="0" marL="0">
              <a:buNone/>
            </a:pPr>
            <a:r>
              <a:rPr lang="en-US" sz="1200" b="1" dirty="0">
                <a:solidFill>
                  <a:srgbClr val="212121"/>
                </a:solidFill>
                <a:latin typeface="Calibri" pitchFamily="34" charset="0"/>
                <a:ea typeface="Calibri" pitchFamily="34" charset="-122"/>
                <a:cs typeface="Calibri" pitchFamily="34" charset="-120"/>
              </a:rPr>
              <a:t>Week 5</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en-US" sz="1200" b="1" spc="200" kern="0" dirty="0">
                <a:solidFill>
                  <a:srgbClr val="02C39A"/>
                </a:solidFill>
                <a:latin typeface="Calibri" pitchFamily="34" charset="0"/>
                <a:ea typeface="Calibri" pitchFamily="34" charset="-122"/>
                <a:cs typeface="Calibri" pitchFamily="34" charset="-120"/>
              </a:rPr>
              <a:t>WEEK 5 · SYNCHRONISATION</a:t>
            </a:r>
            <a:endParaRPr lang="en-US"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en-US" sz="3000" b="1" dirty="0">
                <a:solidFill>
                  <a:srgbClr val="36454F"/>
                </a:solidFill>
                <a:latin typeface="Cambria" pitchFamily="34" charset="0"/>
                <a:ea typeface="Cambria" pitchFamily="34" charset="-122"/>
                <a:cs typeface="Cambria" pitchFamily="34" charset="-120"/>
              </a:rPr>
              <a:t>Race Conditions, Critical Sections, Semaphores</a:t>
            </a:r>
            <a:endParaRPr lang="en-US" sz="3000" dirty="0"/>
          </a:p>
        </p:txBody>
      </p:sp>
      <p:sp>
        <p:nvSpPr>
          <p:cNvPr id="4" name="Text 2"/>
          <p:cNvSpPr txBox="1"/>
          <p:nvPr/>
        </p:nvSpPr>
        <p:spPr>
          <a:xfrm>
            <a:off x="548640" y="6528816"/>
            <a:ext cx="6400800" cy="274320"/>
          </a:xfrm>
          <a:prstGeom prst="rect">
            <a:avLst/>
          </a:prstGeom>
          <a:noFill/>
          <a:ln/>
        </p:spPr>
        <p:txBody>
          <a:bodyPr wrap="square" lIns="0" tIns="0" rIns="0" bIns="0" rtlCol="0" anchor="ctr"/>
          <a:lstStyle/>
          <a:p>
            <a:pPr indent="0" marL="0">
              <a:buNone/>
            </a:pPr>
            <a:r>
              <a:rPr lang="en-US" sz="900" dirty="0">
                <a:solidFill>
                  <a:srgbClr val="6B7679"/>
                </a:solidFill>
                <a:latin typeface="Calibri" pitchFamily="34" charset="0"/>
                <a:ea typeface="Calibri" pitchFamily="34" charset="-122"/>
                <a:cs typeface="Calibri" pitchFamily="34" charset="-120"/>
              </a:rPr>
              <a:t>MCMP117 — Fundamentals of Operating Systems</a:t>
            </a:r>
            <a:endParaRPr lang="en-US" sz="900" dirty="0"/>
          </a:p>
        </p:txBody>
      </p:sp>
      <p:sp>
        <p:nvSpPr>
          <p:cNvPr id="5" name="Text 3"/>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en-US" sz="900" dirty="0">
                <a:solidFill>
                  <a:srgbClr val="6B7679"/>
                </a:solidFill>
                <a:latin typeface="Calibri" pitchFamily="34" charset="0"/>
                <a:ea typeface="Calibri" pitchFamily="34" charset="-122"/>
                <a:cs typeface="Calibri" pitchFamily="34" charset="-120"/>
              </a:rPr>
              <a:t>Week 8  ·  15</a:t>
            </a:r>
            <a:endParaRPr lang="en-US" sz="900" dirty="0"/>
          </a:p>
        </p:txBody>
      </p:sp>
      <p:sp>
        <p:nvSpPr>
          <p:cNvPr id="6" name="Shape 4"/>
          <p:cNvSpPr/>
          <p:nvPr/>
        </p:nvSpPr>
        <p:spPr>
          <a:xfrm>
            <a:off x="548640" y="1508760"/>
            <a:ext cx="5440680" cy="1760220"/>
          </a:xfrm>
          <a:prstGeom prst="roundRect">
            <a:avLst>
              <a:gd name="adj" fmla="val 3117"/>
            </a:avLst>
          </a:prstGeom>
          <a:solidFill>
            <a:srgbClr val="F2F2F2"/>
          </a:solidFill>
          <a:ln/>
          <a:effectLst>
            <a:outerShdw sx="100000" sy="100000" kx="0" ky="0" algn="bl" rotWithShape="0" blurRad="101600" dist="25400" dir="5400000">
              <a:srgbClr val="000000">
                <a:alpha val="12000"/>
              </a:srgbClr>
            </a:outerShdw>
          </a:effectLst>
        </p:spPr>
        <p:txBody>
          <a:bodyPr/>
          <a:p/>
        </p:txBody>
      </p:sp>
      <p:sp>
        <p:nvSpPr>
          <p:cNvPr id="7" name="Text 5"/>
          <p:cNvSpPr txBox="1"/>
          <p:nvPr/>
        </p:nvSpPr>
        <p:spPr>
          <a:xfrm>
            <a:off x="777240" y="1691640"/>
            <a:ext cx="4983480" cy="384048"/>
          </a:xfrm>
          <a:prstGeom prst="rect">
            <a:avLst/>
          </a:prstGeom>
          <a:noFill/>
          <a:ln/>
        </p:spPr>
        <p:txBody>
          <a:bodyPr wrap="square" lIns="0" tIns="0" rIns="0" bIns="0" rtlCol="0" anchor="ctr"/>
          <a:lstStyle/>
          <a:p>
            <a:pPr indent="0" marL="0">
              <a:buNone/>
            </a:pPr>
            <a:r>
              <a:rPr lang="en-US" sz="1600" b="1" dirty="0">
                <a:solidFill>
                  <a:srgbClr val="028090"/>
                </a:solidFill>
                <a:latin typeface="Cambria" pitchFamily="34" charset="0"/>
                <a:ea typeface="Cambria" pitchFamily="34" charset="-122"/>
                <a:cs typeface="Cambria" pitchFamily="34" charset="-120"/>
              </a:rPr>
              <a:t>Race condition</a:t>
            </a:r>
            <a:endParaRPr lang="en-US" sz="1600" dirty="0"/>
          </a:p>
        </p:txBody>
      </p:sp>
      <p:sp>
        <p:nvSpPr>
          <p:cNvPr id="8" name="Text 6"/>
          <p:cNvSpPr txBox="1"/>
          <p:nvPr/>
        </p:nvSpPr>
        <p:spPr>
          <a:xfrm>
            <a:off x="777240" y="2148840"/>
            <a:ext cx="4983480" cy="982980"/>
          </a:xfrm>
          <a:prstGeom prst="rect">
            <a:avLst/>
          </a:prstGeom>
          <a:noFill/>
          <a:ln/>
        </p:spPr>
        <p:txBody>
          <a:bodyPr wrap="square" lIns="0" tIns="0" rIns="0" bIns="0" rtlCol="0" anchor="t"/>
          <a:lstStyle/>
          <a:p>
            <a:pPr marL="228600" indent="-228600">
              <a:spcAft>
                <a:spcPts val="400"/>
              </a:spcAft>
              <a:buSzPct val="100000"/>
              <a:buChar char="•"/>
            </a:pPr>
            <a:r>
              <a:rPr lang="en-US" sz="1400" dirty="0">
                <a:solidFill>
                  <a:srgbClr val="3A464C"/>
                </a:solidFill>
                <a:latin typeface="Calibri" pitchFamily="34" charset="0"/>
                <a:ea typeface="Calibri" pitchFamily="34" charset="-122"/>
                <a:cs typeface="Calibri" pitchFamily="34" charset="-120"/>
              </a:rPr>
              <a:t>Several threads access shared data, at least one writes, the result depends on timing.</a:t>
            </a:r>
            <a:endParaRPr lang="en-US" sz="1400" dirty="0"/>
          </a:p>
          <a:p>
            <a:pPr marL="228600" indent="-228600">
              <a:spcAft>
                <a:spcPts val="400"/>
              </a:spcAft>
              <a:buSzPct val="100000"/>
              <a:buChar char="•"/>
            </a:pPr>
            <a:r>
              <a:rPr lang="en-US" sz="1400" dirty="0">
                <a:solidFill>
                  <a:srgbClr val="3A464C"/>
                </a:solidFill>
                <a:latin typeface="Calibri" pitchFamily="34" charset="0"/>
                <a:ea typeface="Calibri" pitchFamily="34" charset="-122"/>
                <a:cs typeface="Calibri" pitchFamily="34" charset="-120"/>
              </a:rPr>
              <a:t>counter++ is load – add – store: an update can be lost.</a:t>
            </a:r>
            <a:endParaRPr lang="en-US" sz="1400" dirty="0"/>
          </a:p>
        </p:txBody>
      </p:sp>
      <p:sp>
        <p:nvSpPr>
          <p:cNvPr id="9" name="Shape 7"/>
          <p:cNvSpPr/>
          <p:nvPr/>
        </p:nvSpPr>
        <p:spPr>
          <a:xfrm>
            <a:off x="6217920" y="1508760"/>
            <a:ext cx="5440680" cy="1760220"/>
          </a:xfrm>
          <a:prstGeom prst="roundRect">
            <a:avLst>
              <a:gd name="adj" fmla="val 3117"/>
            </a:avLst>
          </a:prstGeom>
          <a:solidFill>
            <a:srgbClr val="F2F2F2"/>
          </a:solidFill>
          <a:ln/>
          <a:effectLst>
            <a:outerShdw sx="100000" sy="100000" kx="0" ky="0" algn="bl" rotWithShape="0" blurRad="101600" dist="25400" dir="5400000">
              <a:srgbClr val="000000">
                <a:alpha val="12000"/>
              </a:srgbClr>
            </a:outerShdw>
          </a:effectLst>
        </p:spPr>
        <p:txBody>
          <a:bodyPr/>
          <a:p/>
        </p:txBody>
      </p:sp>
      <p:sp>
        <p:nvSpPr>
          <p:cNvPr id="10" name="Text 8"/>
          <p:cNvSpPr txBox="1"/>
          <p:nvPr/>
        </p:nvSpPr>
        <p:spPr>
          <a:xfrm>
            <a:off x="6446520" y="1691640"/>
            <a:ext cx="4983480" cy="384048"/>
          </a:xfrm>
          <a:prstGeom prst="rect">
            <a:avLst/>
          </a:prstGeom>
          <a:noFill/>
          <a:ln/>
        </p:spPr>
        <p:txBody>
          <a:bodyPr wrap="square" lIns="0" tIns="0" rIns="0" bIns="0" rtlCol="0" anchor="ctr"/>
          <a:lstStyle/>
          <a:p>
            <a:pPr indent="0" marL="0">
              <a:buNone/>
            </a:pPr>
            <a:r>
              <a:rPr lang="en-US" sz="1600" b="1" dirty="0">
                <a:solidFill>
                  <a:srgbClr val="028090"/>
                </a:solidFill>
                <a:latin typeface="Cambria" pitchFamily="34" charset="0"/>
                <a:ea typeface="Cambria" pitchFamily="34" charset="-122"/>
                <a:cs typeface="Cambria" pitchFamily="34" charset="-120"/>
              </a:rPr>
              <a:t>Critical-section problem</a:t>
            </a:r>
            <a:endParaRPr lang="en-US" sz="1600" dirty="0"/>
          </a:p>
        </p:txBody>
      </p:sp>
      <p:sp>
        <p:nvSpPr>
          <p:cNvPr id="11" name="Text 9"/>
          <p:cNvSpPr txBox="1"/>
          <p:nvPr/>
        </p:nvSpPr>
        <p:spPr>
          <a:xfrm>
            <a:off x="6446520" y="2148840"/>
            <a:ext cx="4983480" cy="982980"/>
          </a:xfrm>
          <a:prstGeom prst="rect">
            <a:avLst/>
          </a:prstGeom>
          <a:noFill/>
          <a:ln/>
        </p:spPr>
        <p:txBody>
          <a:bodyPr wrap="square" lIns="0" tIns="0" rIns="0" bIns="0" rtlCol="0" anchor="t"/>
          <a:lstStyle/>
          <a:p>
            <a:pPr marL="228600" indent="-228600">
              <a:spcAft>
                <a:spcPts val="400"/>
              </a:spcAft>
              <a:buSzPct val="100000"/>
              <a:buChar char="•"/>
            </a:pPr>
            <a:r>
              <a:rPr lang="en-US" sz="1400" dirty="0">
                <a:solidFill>
                  <a:srgbClr val="3A464C"/>
                </a:solidFill>
                <a:latin typeface="Calibri" pitchFamily="34" charset="0"/>
                <a:ea typeface="Calibri" pitchFamily="34" charset="-122"/>
                <a:cs typeface="Calibri" pitchFamily="34" charset="-120"/>
              </a:rPr>
              <a:t>Mutual exclusion: at most one thread inside.</a:t>
            </a:r>
            <a:endParaRPr lang="en-US" sz="1400" dirty="0"/>
          </a:p>
          <a:p>
            <a:pPr marL="228600" indent="-228600">
              <a:spcAft>
                <a:spcPts val="400"/>
              </a:spcAft>
              <a:buSzPct val="100000"/>
              <a:buChar char="•"/>
            </a:pPr>
            <a:r>
              <a:rPr lang="en-US" sz="1400" dirty="0">
                <a:solidFill>
                  <a:srgbClr val="3A464C"/>
                </a:solidFill>
                <a:latin typeface="Calibri" pitchFamily="34" charset="0"/>
                <a:ea typeface="Calibri" pitchFamily="34" charset="-122"/>
                <a:cs typeface="Calibri" pitchFamily="34" charset="-120"/>
              </a:rPr>
              <a:t>Progress: no veto from outside, no endless postponement.</a:t>
            </a:r>
            <a:endParaRPr lang="en-US" sz="1400" dirty="0"/>
          </a:p>
          <a:p>
            <a:pPr marL="228600" indent="-228600">
              <a:spcAft>
                <a:spcPts val="400"/>
              </a:spcAft>
              <a:buSzPct val="100000"/>
              <a:buChar char="•"/>
            </a:pPr>
            <a:r>
              <a:rPr lang="en-US" sz="1400" dirty="0">
                <a:solidFill>
                  <a:srgbClr val="3A464C"/>
                </a:solidFill>
                <a:latin typeface="Calibri" pitchFamily="34" charset="0"/>
                <a:ea typeface="Calibri" pitchFamily="34" charset="-122"/>
                <a:cs typeface="Calibri" pitchFamily="34" charset="-120"/>
              </a:rPr>
              <a:t>Bounded waiting: no starvation.</a:t>
            </a:r>
            <a:endParaRPr lang="en-US" sz="1400" dirty="0"/>
          </a:p>
        </p:txBody>
      </p:sp>
      <p:sp>
        <p:nvSpPr>
          <p:cNvPr id="12" name="Shape 10"/>
          <p:cNvSpPr/>
          <p:nvPr/>
        </p:nvSpPr>
        <p:spPr>
          <a:xfrm>
            <a:off x="548640" y="3497580"/>
            <a:ext cx="5440680" cy="1760220"/>
          </a:xfrm>
          <a:prstGeom prst="roundRect">
            <a:avLst>
              <a:gd name="adj" fmla="val 3117"/>
            </a:avLst>
          </a:prstGeom>
          <a:solidFill>
            <a:srgbClr val="F2F2F2"/>
          </a:solidFill>
          <a:ln/>
          <a:effectLst>
            <a:outerShdw sx="100000" sy="100000" kx="0" ky="0" algn="bl" rotWithShape="0" blurRad="101600" dist="25400" dir="5400000">
              <a:srgbClr val="000000">
                <a:alpha val="12000"/>
              </a:srgbClr>
            </a:outerShdw>
          </a:effectLst>
        </p:spPr>
        <p:txBody>
          <a:bodyPr/>
          <a:p/>
        </p:txBody>
      </p:sp>
      <p:sp>
        <p:nvSpPr>
          <p:cNvPr id="13" name="Text 11"/>
          <p:cNvSpPr txBox="1"/>
          <p:nvPr/>
        </p:nvSpPr>
        <p:spPr>
          <a:xfrm>
            <a:off x="777240" y="3680460"/>
            <a:ext cx="4983480" cy="384048"/>
          </a:xfrm>
          <a:prstGeom prst="rect">
            <a:avLst/>
          </a:prstGeom>
          <a:noFill/>
          <a:ln/>
        </p:spPr>
        <p:txBody>
          <a:bodyPr wrap="square" lIns="0" tIns="0" rIns="0" bIns="0" rtlCol="0" anchor="ctr"/>
          <a:lstStyle/>
          <a:p>
            <a:pPr indent="0" marL="0">
              <a:buNone/>
            </a:pPr>
            <a:r>
              <a:rPr lang="en-US" sz="1600" b="1" dirty="0">
                <a:solidFill>
                  <a:srgbClr val="028090"/>
                </a:solidFill>
                <a:latin typeface="Cambria" pitchFamily="34" charset="0"/>
                <a:ea typeface="Cambria" pitchFamily="34" charset="-122"/>
                <a:cs typeface="Cambria" pitchFamily="34" charset="-120"/>
              </a:rPr>
              <a:t>Locks</a:t>
            </a:r>
            <a:endParaRPr lang="en-US" sz="1600" dirty="0"/>
          </a:p>
        </p:txBody>
      </p:sp>
      <p:sp>
        <p:nvSpPr>
          <p:cNvPr id="14" name="Text 12"/>
          <p:cNvSpPr txBox="1"/>
          <p:nvPr/>
        </p:nvSpPr>
        <p:spPr>
          <a:xfrm>
            <a:off x="777240" y="4137660"/>
            <a:ext cx="4983480" cy="982980"/>
          </a:xfrm>
          <a:prstGeom prst="rect">
            <a:avLst/>
          </a:prstGeom>
          <a:noFill/>
          <a:ln/>
        </p:spPr>
        <p:txBody>
          <a:bodyPr wrap="square" lIns="0" tIns="0" rIns="0" bIns="0" rtlCol="0" anchor="t"/>
          <a:lstStyle/>
          <a:p>
            <a:pPr marL="228600" indent="-228600">
              <a:spcAft>
                <a:spcPts val="400"/>
              </a:spcAft>
              <a:buSzPct val="100000"/>
              <a:buChar char="•"/>
            </a:pPr>
            <a:r>
              <a:rPr lang="en-US" sz="1400" dirty="0">
                <a:solidFill>
                  <a:srgbClr val="3A464C"/>
                </a:solidFill>
                <a:latin typeface="Calibri" pitchFamily="34" charset="0"/>
                <a:ea typeface="Calibri" pitchFamily="34" charset="-122"/>
                <a:cs typeface="Calibri" pitchFamily="34" charset="-120"/>
              </a:rPr>
              <a:t>Disabling interrupts: not on multiprocessors, privileged.</a:t>
            </a:r>
            <a:endParaRPr lang="en-US" sz="1400" dirty="0"/>
          </a:p>
          <a:p>
            <a:pPr marL="228600" indent="-228600">
              <a:spcAft>
                <a:spcPts val="400"/>
              </a:spcAft>
              <a:buSzPct val="100000"/>
              <a:buChar char="•"/>
            </a:pPr>
            <a:r>
              <a:rPr lang="en-US" sz="1400" dirty="0">
                <a:solidFill>
                  <a:srgbClr val="3A464C"/>
                </a:solidFill>
                <a:latin typeface="Calibri" pitchFamily="34" charset="0"/>
                <a:ea typeface="Calibri" pitchFamily="34" charset="-122"/>
                <a:cs typeface="Calibri" pitchFamily="34" charset="-120"/>
              </a:rPr>
              <a:t>Peterson (2 threads); atomic test_and_set / CAS.</a:t>
            </a:r>
            <a:endParaRPr lang="en-US" sz="1400" dirty="0"/>
          </a:p>
          <a:p>
            <a:pPr marL="228600" indent="-228600">
              <a:spcAft>
                <a:spcPts val="400"/>
              </a:spcAft>
              <a:buSzPct val="100000"/>
              <a:buChar char="•"/>
            </a:pPr>
            <a:r>
              <a:rPr lang="en-US" sz="1400" dirty="0">
                <a:solidFill>
                  <a:srgbClr val="3A464C"/>
                </a:solidFill>
                <a:latin typeface="Calibri" pitchFamily="34" charset="0"/>
                <a:ea typeface="Calibri" pitchFamily="34" charset="-122"/>
                <a:cs typeface="Calibri" pitchFamily="34" charset="-120"/>
              </a:rPr>
              <a:t>Mutex: acquire / release; spinlock vs sleeping.</a:t>
            </a:r>
            <a:endParaRPr lang="en-US" sz="1400" dirty="0"/>
          </a:p>
        </p:txBody>
      </p:sp>
      <p:sp>
        <p:nvSpPr>
          <p:cNvPr id="15" name="Shape 13"/>
          <p:cNvSpPr/>
          <p:nvPr/>
        </p:nvSpPr>
        <p:spPr>
          <a:xfrm>
            <a:off x="6217920" y="3497580"/>
            <a:ext cx="5440680" cy="1760220"/>
          </a:xfrm>
          <a:prstGeom prst="roundRect">
            <a:avLst>
              <a:gd name="adj" fmla="val 3117"/>
            </a:avLst>
          </a:prstGeom>
          <a:solidFill>
            <a:srgbClr val="F2F2F2"/>
          </a:solidFill>
          <a:ln/>
          <a:effectLst>
            <a:outerShdw sx="100000" sy="100000" kx="0" ky="0" algn="bl" rotWithShape="0" blurRad="101600" dist="25400" dir="5400000">
              <a:srgbClr val="000000">
                <a:alpha val="12000"/>
              </a:srgbClr>
            </a:outerShdw>
          </a:effectLst>
        </p:spPr>
        <p:txBody>
          <a:bodyPr/>
          <a:p/>
        </p:txBody>
      </p:sp>
      <p:sp>
        <p:nvSpPr>
          <p:cNvPr id="16" name="Text 14"/>
          <p:cNvSpPr txBox="1"/>
          <p:nvPr/>
        </p:nvSpPr>
        <p:spPr>
          <a:xfrm>
            <a:off x="6446520" y="3680460"/>
            <a:ext cx="4983480" cy="384048"/>
          </a:xfrm>
          <a:prstGeom prst="rect">
            <a:avLst/>
          </a:prstGeom>
          <a:noFill/>
          <a:ln/>
        </p:spPr>
        <p:txBody>
          <a:bodyPr wrap="square" lIns="0" tIns="0" rIns="0" bIns="0" rtlCol="0" anchor="ctr"/>
          <a:lstStyle/>
          <a:p>
            <a:pPr indent="0" marL="0">
              <a:buNone/>
            </a:pPr>
            <a:r>
              <a:rPr lang="en-US" sz="1600" b="1" dirty="0">
                <a:solidFill>
                  <a:srgbClr val="028090"/>
                </a:solidFill>
                <a:latin typeface="Cambria" pitchFamily="34" charset="0"/>
                <a:ea typeface="Cambria" pitchFamily="34" charset="-122"/>
                <a:cs typeface="Cambria" pitchFamily="34" charset="-120"/>
              </a:rPr>
              <a:t>Semaphores</a:t>
            </a:r>
            <a:endParaRPr lang="en-US" sz="1600" dirty="0"/>
          </a:p>
        </p:txBody>
      </p:sp>
      <p:sp>
        <p:nvSpPr>
          <p:cNvPr id="17" name="Text 15"/>
          <p:cNvSpPr txBox="1"/>
          <p:nvPr/>
        </p:nvSpPr>
        <p:spPr>
          <a:xfrm>
            <a:off x="6446520" y="4137660"/>
            <a:ext cx="4983480" cy="982980"/>
          </a:xfrm>
          <a:prstGeom prst="rect">
            <a:avLst/>
          </a:prstGeom>
          <a:noFill/>
          <a:ln/>
        </p:spPr>
        <p:txBody>
          <a:bodyPr wrap="square" lIns="0" tIns="0" rIns="0" bIns="0" rtlCol="0" anchor="t"/>
          <a:lstStyle/>
          <a:p>
            <a:pPr marL="228600" indent="-228600">
              <a:spcAft>
                <a:spcPts val="400"/>
              </a:spcAft>
              <a:buSzPct val="100000"/>
              <a:buChar char="•"/>
            </a:pPr>
            <a:r>
              <a:rPr lang="en-US" sz="1400" dirty="0">
                <a:solidFill>
                  <a:srgbClr val="3A464C"/>
                </a:solidFill>
                <a:latin typeface="Calibri" pitchFamily="34" charset="0"/>
                <a:ea typeface="Calibri" pitchFamily="34" charset="-122"/>
                <a:cs typeface="Calibri" pitchFamily="34" charset="-120"/>
              </a:rPr>
              <a:t>wait(S): while (S &lt;= 0); S--;   signal(S): S++;</a:t>
            </a:r>
            <a:endParaRPr lang="en-US" sz="1400" dirty="0"/>
          </a:p>
          <a:p>
            <a:pPr marL="228600" indent="-228600">
              <a:spcAft>
                <a:spcPts val="400"/>
              </a:spcAft>
              <a:buSzPct val="100000"/>
              <a:buChar char="•"/>
            </a:pPr>
            <a:r>
              <a:rPr lang="en-US" sz="1400" dirty="0">
                <a:solidFill>
                  <a:srgbClr val="3A464C"/>
                </a:solidFill>
                <a:latin typeface="Calibri" pitchFamily="34" charset="0"/>
                <a:ea typeface="Calibri" pitchFamily="34" charset="-122"/>
                <a:cs typeface="Calibri" pitchFamily="34" charset="-120"/>
              </a:rPr>
              <a:t>Binary (= mutex, init 1) or counting (init N).</a:t>
            </a:r>
            <a:endParaRPr lang="en-US" sz="1400" dirty="0"/>
          </a:p>
          <a:p>
            <a:pPr marL="228600" indent="-228600">
              <a:spcAft>
                <a:spcPts val="400"/>
              </a:spcAft>
              <a:buSzPct val="100000"/>
              <a:buChar char="•"/>
            </a:pPr>
            <a:r>
              <a:rPr lang="en-US" sz="1400" dirty="0">
                <a:solidFill>
                  <a:srgbClr val="3A464C"/>
                </a:solidFill>
                <a:latin typeface="Calibri" pitchFamily="34" charset="0"/>
                <a:ea typeface="Calibri" pitchFamily="34" charset="-122"/>
                <a:cs typeface="Calibri" pitchFamily="34" charset="-120"/>
              </a:rPr>
              <a:t>Bounded buffer: empty = n, full = 0, mutex = 1.</a:t>
            </a:r>
            <a:endParaRPr lang="en-US" sz="1400" dirty="0"/>
          </a:p>
        </p:txBody>
      </p:sp>
      <p:sp>
        <p:nvSpPr>
          <p:cNvPr id="18" name="Shape 16"/>
          <p:cNvSpPr/>
          <p:nvPr/>
        </p:nvSpPr>
        <p:spPr>
          <a:xfrm>
            <a:off x="548640" y="5486400"/>
            <a:ext cx="11109960" cy="777240"/>
          </a:xfrm>
          <a:prstGeom prst="roundRect">
            <a:avLst>
              <a:gd name="adj" fmla="val 7059"/>
            </a:avLst>
          </a:prstGeom>
          <a:solidFill>
            <a:srgbClr val="36454F"/>
          </a:solidFill>
          <a:ln/>
          <a:effectLst>
            <a:outerShdw sx="100000" sy="100000" kx="0" ky="0" algn="bl" rotWithShape="0" blurRad="101600" dist="25400" dir="5400000">
              <a:srgbClr val="000000">
                <a:alpha val="12000"/>
              </a:srgbClr>
            </a:outerShdw>
          </a:effectLst>
        </p:spPr>
        <p:txBody>
          <a:bodyPr/>
          <a:p/>
        </p:txBody>
      </p:sp>
      <p:sp>
        <p:nvSpPr>
          <p:cNvPr id="19" name="Text 17"/>
          <p:cNvSpPr txBox="1"/>
          <p:nvPr/>
        </p:nvSpPr>
        <p:spPr>
          <a:xfrm>
            <a:off x="777240" y="5486400"/>
            <a:ext cx="10652760" cy="777240"/>
          </a:xfrm>
          <a:prstGeom prst="rect">
            <a:avLst/>
          </a:prstGeom>
          <a:noFill/>
          <a:ln/>
        </p:spPr>
        <p:txBody>
          <a:bodyPr wrap="square" lIns="0" tIns="0" rIns="0" bIns="0" rtlCol="0" anchor="ctr"/>
          <a:lstStyle/>
          <a:p>
            <a:pPr indent="0" marL="0">
              <a:buNone/>
            </a:pPr>
            <a:r>
              <a:rPr lang="en-US" sz="1400" dirty="0">
                <a:solidFill>
                  <a:srgbClr val="F2F2F2"/>
                </a:solidFill>
                <a:latin typeface="Calibri" pitchFamily="34" charset="0"/>
                <a:ea typeface="Calibri" pitchFamily="34" charset="-122"/>
                <a:cs typeface="Calibri" pitchFamily="34" charset="-120"/>
              </a:rPr>
              <a:t>Deadlock: each thread of a group waits for an event only another member can cause (e.g. wait(S); wait(Q) vs wait(Q); wait(S)). Prevent it: acquire locks in one global order.</a:t>
            </a:r>
            <a:endParaRPr lang="en-US" sz="1400" dirty="0"/>
          </a:p>
        </p:txBody>
      </p:sp>
      <p:sp>
        <p:nvSpPr>
          <p:cNvPr id="20" name="Shape 18"/>
          <p:cNvSpPr/>
          <p:nvPr/>
        </p:nvSpPr>
        <p:spPr>
          <a:xfrm>
            <a:off x="10287000" y="274320"/>
            <a:ext cx="1371600" cy="329184"/>
          </a:xfrm>
          <a:prstGeom prst="roundRect">
            <a:avLst>
              <a:gd name="adj" fmla="val 13889"/>
            </a:avLst>
          </a:prstGeom>
          <a:solidFill>
            <a:srgbClr val="02C39A"/>
          </a:solidFill>
          <a:ln/>
        </p:spPr>
        <p:txBody>
          <a:bodyPr/>
          <a:p/>
        </p:txBody>
      </p:sp>
      <p:sp>
        <p:nvSpPr>
          <p:cNvPr id="21" name="Text 19"/>
          <p:cNvSpPr txBox="1"/>
          <p:nvPr/>
        </p:nvSpPr>
        <p:spPr>
          <a:xfrm>
            <a:off x="10287000" y="274320"/>
            <a:ext cx="1371600" cy="329184"/>
          </a:xfrm>
          <a:prstGeom prst="rect">
            <a:avLst/>
          </a:prstGeom>
          <a:noFill/>
          <a:ln/>
        </p:spPr>
        <p:txBody>
          <a:bodyPr wrap="square" lIns="38100" tIns="38100" rIns="38100" bIns="38100" rtlCol="0" anchor="ctr"/>
          <a:lstStyle/>
          <a:p>
            <a:pPr algn="ctr" indent="0" marL="0">
              <a:buNone/>
            </a:pPr>
            <a:r>
              <a:rPr lang="en-US" sz="1200" b="1" dirty="0">
                <a:solidFill>
                  <a:srgbClr val="212121"/>
                </a:solidFill>
                <a:latin typeface="Calibri" pitchFamily="34" charset="0"/>
                <a:ea typeface="Calibri" pitchFamily="34" charset="-122"/>
                <a:cs typeface="Calibri" pitchFamily="34" charset="-120"/>
              </a:rPr>
              <a:t>Week 5</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en-US" sz="1200" b="1" spc="200" kern="0" dirty="0">
                <a:solidFill>
                  <a:srgbClr val="02C39A"/>
                </a:solidFill>
                <a:latin typeface="Calibri" pitchFamily="34" charset="0"/>
                <a:ea typeface="Calibri" pitchFamily="34" charset="-122"/>
                <a:cs typeface="Calibri" pitchFamily="34" charset="-120"/>
              </a:rPr>
              <a:t>WEEK 6 · MEMORY MANAGEMENT</a:t>
            </a:r>
            <a:endParaRPr lang="en-US"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en-US" sz="3000" b="1" dirty="0">
                <a:solidFill>
                  <a:srgbClr val="36454F"/>
                </a:solidFill>
                <a:latin typeface="Cambria" pitchFamily="34" charset="0"/>
                <a:ea typeface="Cambria" pitchFamily="34" charset="-122"/>
                <a:cs typeface="Cambria" pitchFamily="34" charset="-120"/>
              </a:rPr>
              <a:t>Binding, MMU, Allocation and Fragmentation</a:t>
            </a:r>
            <a:endParaRPr lang="en-US" sz="3000" dirty="0"/>
          </a:p>
        </p:txBody>
      </p:sp>
      <p:sp>
        <p:nvSpPr>
          <p:cNvPr id="4" name="Text 2"/>
          <p:cNvSpPr txBox="1"/>
          <p:nvPr/>
        </p:nvSpPr>
        <p:spPr>
          <a:xfrm>
            <a:off x="548640" y="6528816"/>
            <a:ext cx="6400800" cy="274320"/>
          </a:xfrm>
          <a:prstGeom prst="rect">
            <a:avLst/>
          </a:prstGeom>
          <a:noFill/>
          <a:ln/>
        </p:spPr>
        <p:txBody>
          <a:bodyPr wrap="square" lIns="0" tIns="0" rIns="0" bIns="0" rtlCol="0" anchor="ctr"/>
          <a:lstStyle/>
          <a:p>
            <a:pPr indent="0" marL="0">
              <a:buNone/>
            </a:pPr>
            <a:r>
              <a:rPr lang="en-US" sz="900" dirty="0">
                <a:solidFill>
                  <a:srgbClr val="6B7679"/>
                </a:solidFill>
                <a:latin typeface="Calibri" pitchFamily="34" charset="0"/>
                <a:ea typeface="Calibri" pitchFamily="34" charset="-122"/>
                <a:cs typeface="Calibri" pitchFamily="34" charset="-120"/>
              </a:rPr>
              <a:t>MCMP117 — Fundamentals of Operating Systems</a:t>
            </a:r>
            <a:endParaRPr lang="en-US" sz="900" dirty="0"/>
          </a:p>
        </p:txBody>
      </p:sp>
      <p:sp>
        <p:nvSpPr>
          <p:cNvPr id="5" name="Text 3"/>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en-US" sz="900" dirty="0">
                <a:solidFill>
                  <a:srgbClr val="6B7679"/>
                </a:solidFill>
                <a:latin typeface="Calibri" pitchFamily="34" charset="0"/>
                <a:ea typeface="Calibri" pitchFamily="34" charset="-122"/>
                <a:cs typeface="Calibri" pitchFamily="34" charset="-120"/>
              </a:rPr>
              <a:t>Week 8  ·  16</a:t>
            </a:r>
            <a:endParaRPr lang="en-US" sz="900" dirty="0"/>
          </a:p>
        </p:txBody>
      </p:sp>
      <p:sp>
        <p:nvSpPr>
          <p:cNvPr id="6" name="Shape 4"/>
          <p:cNvSpPr/>
          <p:nvPr/>
        </p:nvSpPr>
        <p:spPr>
          <a:xfrm>
            <a:off x="548640" y="1508760"/>
            <a:ext cx="3550920" cy="2263140"/>
          </a:xfrm>
          <a:prstGeom prst="roundRect">
            <a:avLst>
              <a:gd name="adj" fmla="val 2424"/>
            </a:avLst>
          </a:prstGeom>
          <a:solidFill>
            <a:srgbClr val="F2F2F2"/>
          </a:solidFill>
          <a:ln/>
          <a:effectLst>
            <a:outerShdw sx="100000" sy="100000" kx="0" ky="0" algn="bl" rotWithShape="0" blurRad="101600" dist="25400" dir="5400000">
              <a:srgbClr val="000000">
                <a:alpha val="12000"/>
              </a:srgbClr>
            </a:outerShdw>
          </a:effectLst>
        </p:spPr>
        <p:txBody>
          <a:bodyPr/>
          <a:p/>
        </p:txBody>
      </p:sp>
      <p:sp>
        <p:nvSpPr>
          <p:cNvPr id="7" name="Text 5"/>
          <p:cNvSpPr txBox="1"/>
          <p:nvPr/>
        </p:nvSpPr>
        <p:spPr>
          <a:xfrm>
            <a:off x="777240" y="1691640"/>
            <a:ext cx="3093720" cy="384048"/>
          </a:xfrm>
          <a:prstGeom prst="rect">
            <a:avLst/>
          </a:prstGeom>
          <a:noFill/>
          <a:ln/>
        </p:spPr>
        <p:txBody>
          <a:bodyPr wrap="square" lIns="0" tIns="0" rIns="0" bIns="0" rtlCol="0" anchor="ctr"/>
          <a:lstStyle/>
          <a:p>
            <a:pPr indent="0" marL="0">
              <a:buNone/>
            </a:pPr>
            <a:r>
              <a:rPr lang="en-US" sz="1600" b="1" dirty="0">
                <a:solidFill>
                  <a:srgbClr val="028090"/>
                </a:solidFill>
                <a:latin typeface="Cambria" pitchFamily="34" charset="0"/>
                <a:ea typeface="Cambria" pitchFamily="34" charset="-122"/>
                <a:cs typeface="Cambria" pitchFamily="34" charset="-120"/>
              </a:rPr>
              <a:t>Address binding</a:t>
            </a:r>
            <a:endParaRPr lang="en-US" sz="1600" dirty="0"/>
          </a:p>
        </p:txBody>
      </p:sp>
      <p:sp>
        <p:nvSpPr>
          <p:cNvPr id="8" name="Text 6"/>
          <p:cNvSpPr txBox="1"/>
          <p:nvPr/>
        </p:nvSpPr>
        <p:spPr>
          <a:xfrm>
            <a:off x="777240" y="2148840"/>
            <a:ext cx="3093720" cy="1485900"/>
          </a:xfrm>
          <a:prstGeom prst="rect">
            <a:avLst/>
          </a:prstGeom>
          <a:noFill/>
          <a:ln/>
        </p:spPr>
        <p:txBody>
          <a:bodyPr wrap="square" lIns="0" tIns="0" rIns="0" bIns="0" rtlCol="0" anchor="t"/>
          <a:lstStyle/>
          <a:p>
            <a:pPr marL="228600" indent="-228600">
              <a:spcAft>
                <a:spcPts val="400"/>
              </a:spcAft>
              <a:buSzPct val="100000"/>
              <a:buChar char="•"/>
            </a:pPr>
            <a:r>
              <a:rPr lang="en-US" sz="1450" dirty="0">
                <a:solidFill>
                  <a:srgbClr val="3A464C"/>
                </a:solidFill>
                <a:latin typeface="Calibri" pitchFamily="34" charset="0"/>
                <a:ea typeface="Calibri" pitchFamily="34" charset="-122"/>
                <a:cs typeface="Calibri" pitchFamily="34" charset="-120"/>
              </a:rPr>
              <a:t>Compile time: absolute code.</a:t>
            </a:r>
            <a:endParaRPr lang="en-US" sz="1450" dirty="0"/>
          </a:p>
          <a:p>
            <a:pPr marL="228600" indent="-228600">
              <a:spcAft>
                <a:spcPts val="400"/>
              </a:spcAft>
              <a:buSzPct val="100000"/>
              <a:buChar char="•"/>
            </a:pPr>
            <a:r>
              <a:rPr lang="en-US" sz="1450" dirty="0">
                <a:solidFill>
                  <a:srgbClr val="3A464C"/>
                </a:solidFill>
                <a:latin typeface="Calibri" pitchFamily="34" charset="0"/>
                <a:ea typeface="Calibri" pitchFamily="34" charset="-122"/>
                <a:cs typeface="Calibri" pitchFamily="34" charset="-120"/>
              </a:rPr>
              <a:t>Load time: relocatable code.</a:t>
            </a:r>
            <a:endParaRPr lang="en-US" sz="1450" dirty="0"/>
          </a:p>
          <a:p>
            <a:pPr marL="228600" indent="-228600">
              <a:spcAft>
                <a:spcPts val="400"/>
              </a:spcAft>
              <a:buSzPct val="100000"/>
              <a:buChar char="•"/>
            </a:pPr>
            <a:r>
              <a:rPr lang="en-US" sz="1450" dirty="0">
                <a:solidFill>
                  <a:srgbClr val="3A464C"/>
                </a:solidFill>
                <a:latin typeface="Calibri" pitchFamily="34" charset="0"/>
                <a:ea typeface="Calibri" pitchFamily="34" charset="-122"/>
                <a:cs typeface="Calibri" pitchFamily="34" charset="-120"/>
              </a:rPr>
              <a:t>Execution time: MMU translates every access — all modern systems.</a:t>
            </a:r>
            <a:endParaRPr lang="en-US" sz="1450" dirty="0"/>
          </a:p>
        </p:txBody>
      </p:sp>
      <p:sp>
        <p:nvSpPr>
          <p:cNvPr id="9" name="Shape 7"/>
          <p:cNvSpPr/>
          <p:nvPr/>
        </p:nvSpPr>
        <p:spPr>
          <a:xfrm>
            <a:off x="4328160" y="1508760"/>
            <a:ext cx="3550920" cy="2263140"/>
          </a:xfrm>
          <a:prstGeom prst="roundRect">
            <a:avLst>
              <a:gd name="adj" fmla="val 2424"/>
            </a:avLst>
          </a:prstGeom>
          <a:solidFill>
            <a:srgbClr val="F2F2F2"/>
          </a:solidFill>
          <a:ln/>
          <a:effectLst>
            <a:outerShdw sx="100000" sy="100000" kx="0" ky="0" algn="bl" rotWithShape="0" blurRad="101600" dist="25400" dir="5400000">
              <a:srgbClr val="000000">
                <a:alpha val="12000"/>
              </a:srgbClr>
            </a:outerShdw>
          </a:effectLst>
        </p:spPr>
        <p:txBody>
          <a:bodyPr/>
          <a:p/>
        </p:txBody>
      </p:sp>
      <p:sp>
        <p:nvSpPr>
          <p:cNvPr id="10" name="Text 8"/>
          <p:cNvSpPr txBox="1"/>
          <p:nvPr/>
        </p:nvSpPr>
        <p:spPr>
          <a:xfrm>
            <a:off x="4556760" y="1691640"/>
            <a:ext cx="3093720" cy="384048"/>
          </a:xfrm>
          <a:prstGeom prst="rect">
            <a:avLst/>
          </a:prstGeom>
          <a:noFill/>
          <a:ln/>
        </p:spPr>
        <p:txBody>
          <a:bodyPr wrap="square" lIns="0" tIns="0" rIns="0" bIns="0" rtlCol="0" anchor="ctr"/>
          <a:lstStyle/>
          <a:p>
            <a:pPr indent="0" marL="0">
              <a:buNone/>
            </a:pPr>
            <a:r>
              <a:rPr lang="en-US" sz="1600" b="1" dirty="0">
                <a:solidFill>
                  <a:srgbClr val="028090"/>
                </a:solidFill>
                <a:latin typeface="Cambria" pitchFamily="34" charset="0"/>
                <a:ea typeface="Cambria" pitchFamily="34" charset="-122"/>
                <a:cs typeface="Cambria" pitchFamily="34" charset="-120"/>
              </a:rPr>
              <a:t>Base and limit</a:t>
            </a:r>
            <a:endParaRPr lang="en-US" sz="1600" dirty="0"/>
          </a:p>
        </p:txBody>
      </p:sp>
      <p:sp>
        <p:nvSpPr>
          <p:cNvPr id="11" name="Text 9"/>
          <p:cNvSpPr txBox="1"/>
          <p:nvPr/>
        </p:nvSpPr>
        <p:spPr>
          <a:xfrm>
            <a:off x="4556760" y="2148840"/>
            <a:ext cx="3093720" cy="1485900"/>
          </a:xfrm>
          <a:prstGeom prst="rect">
            <a:avLst/>
          </a:prstGeom>
          <a:noFill/>
          <a:ln/>
        </p:spPr>
        <p:txBody>
          <a:bodyPr wrap="square" lIns="0" tIns="0" rIns="0" bIns="0" rtlCol="0" anchor="t"/>
          <a:lstStyle/>
          <a:p>
            <a:pPr marL="228600" indent="-228600">
              <a:spcAft>
                <a:spcPts val="400"/>
              </a:spcAft>
              <a:buSzPct val="100000"/>
              <a:buChar char="•"/>
            </a:pPr>
            <a:r>
              <a:rPr lang="en-US" sz="1450" dirty="0">
                <a:solidFill>
                  <a:srgbClr val="3A464C"/>
                </a:solidFill>
                <a:latin typeface="Calibri" pitchFamily="34" charset="0"/>
                <a:ea typeface="Calibri" pitchFamily="34" charset="-122"/>
                <a:cs typeface="Calibri" pitchFamily="34" charset="-120"/>
              </a:rPr>
              <a:t>Logical a: if 0 ≤ a &lt; limit → physical = base + a; otherwise trap.</a:t>
            </a:r>
            <a:endParaRPr lang="en-US" sz="1450" dirty="0"/>
          </a:p>
          <a:p>
            <a:pPr marL="228600" indent="-228600">
              <a:spcAft>
                <a:spcPts val="400"/>
              </a:spcAft>
              <a:buSzPct val="100000"/>
              <a:buChar char="•"/>
            </a:pPr>
            <a:r>
              <a:rPr lang="en-US" sz="1450" dirty="0">
                <a:solidFill>
                  <a:srgbClr val="3A464C"/>
                </a:solidFill>
                <a:latin typeface="Calibri" pitchFamily="34" charset="0"/>
                <a:ea typeface="Calibri" pitchFamily="34" charset="-122"/>
                <a:cs typeface="Calibri" pitchFamily="34" charset="-120"/>
              </a:rPr>
              <a:t>Only the kernel may load these registers.</a:t>
            </a:r>
            <a:endParaRPr lang="en-US" sz="1450" dirty="0"/>
          </a:p>
        </p:txBody>
      </p:sp>
      <p:sp>
        <p:nvSpPr>
          <p:cNvPr id="12" name="Shape 10"/>
          <p:cNvSpPr/>
          <p:nvPr/>
        </p:nvSpPr>
        <p:spPr>
          <a:xfrm>
            <a:off x="8107680" y="1508760"/>
            <a:ext cx="3550920" cy="2263140"/>
          </a:xfrm>
          <a:prstGeom prst="roundRect">
            <a:avLst>
              <a:gd name="adj" fmla="val 2424"/>
            </a:avLst>
          </a:prstGeom>
          <a:solidFill>
            <a:srgbClr val="F2F2F2"/>
          </a:solidFill>
          <a:ln/>
          <a:effectLst>
            <a:outerShdw sx="100000" sy="100000" kx="0" ky="0" algn="bl" rotWithShape="0" blurRad="101600" dist="25400" dir="5400000">
              <a:srgbClr val="000000">
                <a:alpha val="12000"/>
              </a:srgbClr>
            </a:outerShdw>
          </a:effectLst>
        </p:spPr>
        <p:txBody>
          <a:bodyPr/>
          <a:p/>
        </p:txBody>
      </p:sp>
      <p:sp>
        <p:nvSpPr>
          <p:cNvPr id="13" name="Text 11"/>
          <p:cNvSpPr txBox="1"/>
          <p:nvPr/>
        </p:nvSpPr>
        <p:spPr>
          <a:xfrm>
            <a:off x="8336280" y="1691640"/>
            <a:ext cx="3093720" cy="384048"/>
          </a:xfrm>
          <a:prstGeom prst="rect">
            <a:avLst/>
          </a:prstGeom>
          <a:noFill/>
          <a:ln/>
        </p:spPr>
        <p:txBody>
          <a:bodyPr wrap="square" lIns="0" tIns="0" rIns="0" bIns="0" rtlCol="0" anchor="ctr"/>
          <a:lstStyle/>
          <a:p>
            <a:pPr indent="0" marL="0">
              <a:buNone/>
            </a:pPr>
            <a:r>
              <a:rPr lang="en-US" sz="1600" b="1" dirty="0">
                <a:solidFill>
                  <a:srgbClr val="028090"/>
                </a:solidFill>
                <a:latin typeface="Cambria" pitchFamily="34" charset="0"/>
                <a:ea typeface="Cambria" pitchFamily="34" charset="-122"/>
                <a:cs typeface="Cambria" pitchFamily="34" charset="-120"/>
              </a:rPr>
              <a:t>Swapping</a:t>
            </a:r>
            <a:endParaRPr lang="en-US" sz="1600" dirty="0"/>
          </a:p>
        </p:txBody>
      </p:sp>
      <p:sp>
        <p:nvSpPr>
          <p:cNvPr id="14" name="Text 12"/>
          <p:cNvSpPr txBox="1"/>
          <p:nvPr/>
        </p:nvSpPr>
        <p:spPr>
          <a:xfrm>
            <a:off x="8336280" y="2148840"/>
            <a:ext cx="3093720" cy="1485900"/>
          </a:xfrm>
          <a:prstGeom prst="rect">
            <a:avLst/>
          </a:prstGeom>
          <a:noFill/>
          <a:ln/>
        </p:spPr>
        <p:txBody>
          <a:bodyPr wrap="square" lIns="0" tIns="0" rIns="0" bIns="0" rtlCol="0" anchor="t"/>
          <a:lstStyle/>
          <a:p>
            <a:pPr marL="228600" indent="-228600">
              <a:spcAft>
                <a:spcPts val="400"/>
              </a:spcAft>
              <a:buSzPct val="100000"/>
              <a:buChar char="•"/>
            </a:pPr>
            <a:r>
              <a:rPr lang="en-US" sz="1450" dirty="0">
                <a:solidFill>
                  <a:srgbClr val="3A464C"/>
                </a:solidFill>
                <a:latin typeface="Calibri" pitchFamily="34" charset="0"/>
                <a:ea typeface="Calibri" pitchFamily="34" charset="-122"/>
                <a:cs typeface="Calibri" pitchFamily="34" charset="-120"/>
              </a:rPr>
              <a:t>Time = size / transfer rate (100 MB at 50 MB/s: 2 s each way).</a:t>
            </a:r>
            <a:endParaRPr lang="en-US" sz="1450" dirty="0"/>
          </a:p>
          <a:p>
            <a:pPr marL="228600" indent="-228600">
              <a:spcAft>
                <a:spcPts val="400"/>
              </a:spcAft>
              <a:buSzPct val="100000"/>
              <a:buChar char="•"/>
            </a:pPr>
            <a:r>
              <a:rPr lang="en-US" sz="1450" dirty="0">
                <a:solidFill>
                  <a:srgbClr val="3A464C"/>
                </a:solidFill>
                <a:latin typeface="Calibri" pitchFamily="34" charset="0"/>
                <a:ea typeface="Calibri" pitchFamily="34" charset="-122"/>
                <a:cs typeface="Calibri" pitchFamily="34" charset="-120"/>
              </a:rPr>
              <a:t>Modern systems swap pages, not processes.</a:t>
            </a:r>
            <a:endParaRPr lang="en-US" sz="1450" dirty="0"/>
          </a:p>
        </p:txBody>
      </p:sp>
      <p:sp>
        <p:nvSpPr>
          <p:cNvPr id="15" name="Shape 13"/>
          <p:cNvSpPr/>
          <p:nvPr/>
        </p:nvSpPr>
        <p:spPr>
          <a:xfrm>
            <a:off x="548640" y="4000500"/>
            <a:ext cx="3550920" cy="2263140"/>
          </a:xfrm>
          <a:prstGeom prst="roundRect">
            <a:avLst>
              <a:gd name="adj" fmla="val 2424"/>
            </a:avLst>
          </a:prstGeom>
          <a:solidFill>
            <a:srgbClr val="F2F2F2"/>
          </a:solidFill>
          <a:ln/>
          <a:effectLst>
            <a:outerShdw sx="100000" sy="100000" kx="0" ky="0" algn="bl" rotWithShape="0" blurRad="101600" dist="25400" dir="5400000">
              <a:srgbClr val="000000">
                <a:alpha val="12000"/>
              </a:srgbClr>
            </a:outerShdw>
          </a:effectLst>
        </p:spPr>
        <p:txBody>
          <a:bodyPr/>
          <a:p/>
        </p:txBody>
      </p:sp>
      <p:sp>
        <p:nvSpPr>
          <p:cNvPr id="16" name="Text 14"/>
          <p:cNvSpPr txBox="1"/>
          <p:nvPr/>
        </p:nvSpPr>
        <p:spPr>
          <a:xfrm>
            <a:off x="777240" y="4183380"/>
            <a:ext cx="3093720" cy="384048"/>
          </a:xfrm>
          <a:prstGeom prst="rect">
            <a:avLst/>
          </a:prstGeom>
          <a:noFill/>
          <a:ln/>
        </p:spPr>
        <p:txBody>
          <a:bodyPr wrap="square" lIns="0" tIns="0" rIns="0" bIns="0" rtlCol="0" anchor="ctr"/>
          <a:lstStyle/>
          <a:p>
            <a:pPr indent="0" marL="0">
              <a:buNone/>
            </a:pPr>
            <a:r>
              <a:rPr lang="en-US" sz="1600" b="1" dirty="0">
                <a:solidFill>
                  <a:srgbClr val="028090"/>
                </a:solidFill>
                <a:latin typeface="Cambria" pitchFamily="34" charset="0"/>
                <a:ea typeface="Cambria" pitchFamily="34" charset="-122"/>
                <a:cs typeface="Cambria" pitchFamily="34" charset="-120"/>
              </a:rPr>
              <a:t>Placement</a:t>
            </a:r>
            <a:endParaRPr lang="en-US" sz="1600" dirty="0"/>
          </a:p>
        </p:txBody>
      </p:sp>
      <p:sp>
        <p:nvSpPr>
          <p:cNvPr id="17" name="Text 15"/>
          <p:cNvSpPr txBox="1"/>
          <p:nvPr/>
        </p:nvSpPr>
        <p:spPr>
          <a:xfrm>
            <a:off x="777240" y="4640580"/>
            <a:ext cx="3093720" cy="1485900"/>
          </a:xfrm>
          <a:prstGeom prst="rect">
            <a:avLst/>
          </a:prstGeom>
          <a:noFill/>
          <a:ln/>
        </p:spPr>
        <p:txBody>
          <a:bodyPr wrap="square" lIns="0" tIns="0" rIns="0" bIns="0" rtlCol="0" anchor="t"/>
          <a:lstStyle/>
          <a:p>
            <a:pPr marL="228600" indent="-228600">
              <a:spcAft>
                <a:spcPts val="400"/>
              </a:spcAft>
              <a:buSzPct val="100000"/>
              <a:buChar char="•"/>
            </a:pPr>
            <a:r>
              <a:rPr lang="en-US" sz="1450" dirty="0">
                <a:solidFill>
                  <a:srgbClr val="3A464C"/>
                </a:solidFill>
                <a:latin typeface="Calibri" pitchFamily="34" charset="0"/>
                <a:ea typeface="Calibri" pitchFamily="34" charset="-122"/>
                <a:cs typeface="Calibri" pitchFamily="34" charset="-120"/>
              </a:rPr>
              <a:t>First-fit: first hole big enough.</a:t>
            </a:r>
            <a:endParaRPr lang="en-US" sz="1450" dirty="0"/>
          </a:p>
          <a:p>
            <a:pPr marL="228600" indent="-228600">
              <a:spcAft>
                <a:spcPts val="400"/>
              </a:spcAft>
              <a:buSzPct val="100000"/>
              <a:buChar char="•"/>
            </a:pPr>
            <a:r>
              <a:rPr lang="en-US" sz="1450" dirty="0">
                <a:solidFill>
                  <a:srgbClr val="3A464C"/>
                </a:solidFill>
                <a:latin typeface="Calibri" pitchFamily="34" charset="0"/>
                <a:ea typeface="Calibri" pitchFamily="34" charset="-122"/>
                <a:cs typeface="Calibri" pitchFamily="34" charset="-120"/>
              </a:rPr>
              <a:t>Best-fit: smallest hole big enough.</a:t>
            </a:r>
            <a:endParaRPr lang="en-US" sz="1450" dirty="0"/>
          </a:p>
          <a:p>
            <a:pPr marL="228600" indent="-228600">
              <a:spcAft>
                <a:spcPts val="400"/>
              </a:spcAft>
              <a:buSzPct val="100000"/>
              <a:buChar char="•"/>
            </a:pPr>
            <a:r>
              <a:rPr lang="en-US" sz="1450" dirty="0">
                <a:solidFill>
                  <a:srgbClr val="3A464C"/>
                </a:solidFill>
                <a:latin typeface="Calibri" pitchFamily="34" charset="0"/>
                <a:ea typeface="Calibri" pitchFamily="34" charset="-122"/>
                <a:cs typeface="Calibri" pitchFamily="34" charset="-120"/>
              </a:rPr>
              <a:t>Worst-fit: largest hole.</a:t>
            </a:r>
            <a:endParaRPr lang="en-US" sz="1450" dirty="0"/>
          </a:p>
        </p:txBody>
      </p:sp>
      <p:sp>
        <p:nvSpPr>
          <p:cNvPr id="18" name="Shape 16"/>
          <p:cNvSpPr/>
          <p:nvPr/>
        </p:nvSpPr>
        <p:spPr>
          <a:xfrm>
            <a:off x="4328160" y="4000500"/>
            <a:ext cx="3550920" cy="2263140"/>
          </a:xfrm>
          <a:prstGeom prst="roundRect">
            <a:avLst>
              <a:gd name="adj" fmla="val 2424"/>
            </a:avLst>
          </a:prstGeom>
          <a:solidFill>
            <a:srgbClr val="F2F2F2"/>
          </a:solidFill>
          <a:ln/>
          <a:effectLst>
            <a:outerShdw sx="100000" sy="100000" kx="0" ky="0" algn="bl" rotWithShape="0" blurRad="101600" dist="25400" dir="5400000">
              <a:srgbClr val="000000">
                <a:alpha val="12000"/>
              </a:srgbClr>
            </a:outerShdw>
          </a:effectLst>
        </p:spPr>
        <p:txBody>
          <a:bodyPr/>
          <a:p/>
        </p:txBody>
      </p:sp>
      <p:sp>
        <p:nvSpPr>
          <p:cNvPr id="19" name="Text 17"/>
          <p:cNvSpPr txBox="1"/>
          <p:nvPr/>
        </p:nvSpPr>
        <p:spPr>
          <a:xfrm>
            <a:off x="4556760" y="4183380"/>
            <a:ext cx="3093720" cy="384048"/>
          </a:xfrm>
          <a:prstGeom prst="rect">
            <a:avLst/>
          </a:prstGeom>
          <a:noFill/>
          <a:ln/>
        </p:spPr>
        <p:txBody>
          <a:bodyPr wrap="square" lIns="0" tIns="0" rIns="0" bIns="0" rtlCol="0" anchor="ctr"/>
          <a:lstStyle/>
          <a:p>
            <a:pPr indent="0" marL="0">
              <a:buNone/>
            </a:pPr>
            <a:r>
              <a:rPr lang="en-US" sz="1600" b="1" dirty="0">
                <a:solidFill>
                  <a:srgbClr val="028090"/>
                </a:solidFill>
                <a:latin typeface="Cambria" pitchFamily="34" charset="0"/>
                <a:ea typeface="Cambria" pitchFamily="34" charset="-122"/>
                <a:cs typeface="Cambria" pitchFamily="34" charset="-120"/>
              </a:rPr>
              <a:t>Fragmentation</a:t>
            </a:r>
            <a:endParaRPr lang="en-US" sz="1600" dirty="0"/>
          </a:p>
        </p:txBody>
      </p:sp>
      <p:sp>
        <p:nvSpPr>
          <p:cNvPr id="20" name="Text 18"/>
          <p:cNvSpPr txBox="1"/>
          <p:nvPr/>
        </p:nvSpPr>
        <p:spPr>
          <a:xfrm>
            <a:off x="4556760" y="4640580"/>
            <a:ext cx="3093720" cy="1485900"/>
          </a:xfrm>
          <a:prstGeom prst="rect">
            <a:avLst/>
          </a:prstGeom>
          <a:noFill/>
          <a:ln/>
        </p:spPr>
        <p:txBody>
          <a:bodyPr wrap="square" lIns="0" tIns="0" rIns="0" bIns="0" rtlCol="0" anchor="t"/>
          <a:lstStyle/>
          <a:p>
            <a:pPr marL="228600" indent="-228600">
              <a:spcAft>
                <a:spcPts val="400"/>
              </a:spcAft>
              <a:buSzPct val="100000"/>
              <a:buChar char="•"/>
            </a:pPr>
            <a:r>
              <a:rPr lang="en-US" sz="1450" dirty="0">
                <a:solidFill>
                  <a:srgbClr val="3A464C"/>
                </a:solidFill>
                <a:latin typeface="Calibri" pitchFamily="34" charset="0"/>
                <a:ea typeface="Calibri" pitchFamily="34" charset="-122"/>
                <a:cs typeface="Calibri" pitchFamily="34" charset="-120"/>
              </a:rPr>
              <a:t>External: free memory in holes too small to use (50-% rule: up to 1/3 lost).</a:t>
            </a:r>
            <a:endParaRPr lang="en-US" sz="1450" dirty="0"/>
          </a:p>
          <a:p>
            <a:pPr marL="228600" indent="-228600">
              <a:spcAft>
                <a:spcPts val="400"/>
              </a:spcAft>
              <a:buSzPct val="100000"/>
              <a:buChar char="•"/>
            </a:pPr>
            <a:r>
              <a:rPr lang="en-US" sz="1450" dirty="0">
                <a:solidFill>
                  <a:srgbClr val="3A464C"/>
                </a:solidFill>
                <a:latin typeface="Calibri" pitchFamily="34" charset="0"/>
                <a:ea typeface="Calibri" pitchFamily="34" charset="-122"/>
                <a:cs typeface="Calibri" pitchFamily="34" charset="-120"/>
              </a:rPr>
              <a:t>Internal: unused memory inside an allocated block.</a:t>
            </a:r>
            <a:endParaRPr lang="en-US" sz="1450" dirty="0"/>
          </a:p>
        </p:txBody>
      </p:sp>
      <p:sp>
        <p:nvSpPr>
          <p:cNvPr id="21" name="Shape 19"/>
          <p:cNvSpPr/>
          <p:nvPr/>
        </p:nvSpPr>
        <p:spPr>
          <a:xfrm>
            <a:off x="8107680" y="4000500"/>
            <a:ext cx="3550920" cy="2263140"/>
          </a:xfrm>
          <a:prstGeom prst="roundRect">
            <a:avLst>
              <a:gd name="adj" fmla="val 2424"/>
            </a:avLst>
          </a:prstGeom>
          <a:solidFill>
            <a:srgbClr val="F2F2F2"/>
          </a:solidFill>
          <a:ln/>
          <a:effectLst>
            <a:outerShdw sx="100000" sy="100000" kx="0" ky="0" algn="bl" rotWithShape="0" blurRad="101600" dist="25400" dir="5400000">
              <a:srgbClr val="000000">
                <a:alpha val="12000"/>
              </a:srgbClr>
            </a:outerShdw>
          </a:effectLst>
        </p:spPr>
        <p:txBody>
          <a:bodyPr/>
          <a:p/>
        </p:txBody>
      </p:sp>
      <p:sp>
        <p:nvSpPr>
          <p:cNvPr id="22" name="Text 20"/>
          <p:cNvSpPr txBox="1"/>
          <p:nvPr/>
        </p:nvSpPr>
        <p:spPr>
          <a:xfrm>
            <a:off x="8336280" y="4183380"/>
            <a:ext cx="3093720" cy="384048"/>
          </a:xfrm>
          <a:prstGeom prst="rect">
            <a:avLst/>
          </a:prstGeom>
          <a:noFill/>
          <a:ln/>
        </p:spPr>
        <p:txBody>
          <a:bodyPr wrap="square" lIns="0" tIns="0" rIns="0" bIns="0" rtlCol="0" anchor="ctr"/>
          <a:lstStyle/>
          <a:p>
            <a:pPr indent="0" marL="0">
              <a:buNone/>
            </a:pPr>
            <a:r>
              <a:rPr lang="en-US" sz="1600" b="1" dirty="0">
                <a:solidFill>
                  <a:srgbClr val="028090"/>
                </a:solidFill>
                <a:latin typeface="Cambria" pitchFamily="34" charset="0"/>
                <a:ea typeface="Cambria" pitchFamily="34" charset="-122"/>
                <a:cs typeface="Cambria" pitchFamily="34" charset="-120"/>
              </a:rPr>
              <a:t>Compaction</a:t>
            </a:r>
            <a:endParaRPr lang="en-US" sz="1600" dirty="0"/>
          </a:p>
        </p:txBody>
      </p:sp>
      <p:sp>
        <p:nvSpPr>
          <p:cNvPr id="23" name="Text 21"/>
          <p:cNvSpPr txBox="1"/>
          <p:nvPr/>
        </p:nvSpPr>
        <p:spPr>
          <a:xfrm>
            <a:off x="8336280" y="4640580"/>
            <a:ext cx="3093720" cy="1485900"/>
          </a:xfrm>
          <a:prstGeom prst="rect">
            <a:avLst/>
          </a:prstGeom>
          <a:noFill/>
          <a:ln/>
        </p:spPr>
        <p:txBody>
          <a:bodyPr wrap="square" lIns="0" tIns="0" rIns="0" bIns="0" rtlCol="0" anchor="t"/>
          <a:lstStyle/>
          <a:p>
            <a:pPr marL="228600" indent="-228600">
              <a:spcAft>
                <a:spcPts val="400"/>
              </a:spcAft>
              <a:buSzPct val="100000"/>
              <a:buChar char="•"/>
            </a:pPr>
            <a:r>
              <a:rPr lang="en-US" sz="1450" dirty="0">
                <a:solidFill>
                  <a:srgbClr val="3A464C"/>
                </a:solidFill>
                <a:latin typeface="Calibri" pitchFamily="34" charset="0"/>
                <a:ea typeface="Calibri" pitchFamily="34" charset="-122"/>
                <a:cs typeface="Calibri" pitchFamily="34" charset="-120"/>
              </a:rPr>
              <a:t>Move blocks together into one hole.</a:t>
            </a:r>
            <a:endParaRPr lang="en-US" sz="1450" dirty="0"/>
          </a:p>
          <a:p>
            <a:pPr marL="228600" indent="-228600">
              <a:spcAft>
                <a:spcPts val="400"/>
              </a:spcAft>
              <a:buSzPct val="100000"/>
              <a:buChar char="•"/>
            </a:pPr>
            <a:r>
              <a:rPr lang="en-US" sz="1450" dirty="0">
                <a:solidFill>
                  <a:srgbClr val="3A464C"/>
                </a:solidFill>
                <a:latin typeface="Calibri" pitchFamily="34" charset="0"/>
                <a:ea typeface="Calibri" pitchFamily="34" charset="-122"/>
                <a:cs typeface="Calibri" pitchFamily="34" charset="-120"/>
              </a:rPr>
              <a:t>Needs execution-time binding; expensive.</a:t>
            </a:r>
            <a:endParaRPr lang="en-US" sz="1450" dirty="0"/>
          </a:p>
          <a:p>
            <a:pPr marL="228600" indent="-228600">
              <a:spcAft>
                <a:spcPts val="400"/>
              </a:spcAft>
              <a:buSzPct val="100000"/>
              <a:buChar char="•"/>
            </a:pPr>
            <a:r>
              <a:rPr lang="en-US" sz="1450" dirty="0">
                <a:solidFill>
                  <a:srgbClr val="3A464C"/>
                </a:solidFill>
                <a:latin typeface="Calibri" pitchFamily="34" charset="0"/>
                <a:ea typeface="Calibri" pitchFamily="34" charset="-122"/>
                <a:cs typeface="Calibri" pitchFamily="34" charset="-120"/>
              </a:rPr>
              <a:t>Better cure: paging.</a:t>
            </a:r>
            <a:endParaRPr lang="en-US" sz="1450" dirty="0"/>
          </a:p>
        </p:txBody>
      </p:sp>
      <p:sp>
        <p:nvSpPr>
          <p:cNvPr id="24" name="Shape 22"/>
          <p:cNvSpPr/>
          <p:nvPr/>
        </p:nvSpPr>
        <p:spPr>
          <a:xfrm>
            <a:off x="10287000" y="274320"/>
            <a:ext cx="1371600" cy="329184"/>
          </a:xfrm>
          <a:prstGeom prst="roundRect">
            <a:avLst>
              <a:gd name="adj" fmla="val 13889"/>
            </a:avLst>
          </a:prstGeom>
          <a:solidFill>
            <a:srgbClr val="02C39A"/>
          </a:solidFill>
          <a:ln/>
        </p:spPr>
        <p:txBody>
          <a:bodyPr/>
          <a:p/>
        </p:txBody>
      </p:sp>
      <p:sp>
        <p:nvSpPr>
          <p:cNvPr id="25" name="Text 23"/>
          <p:cNvSpPr txBox="1"/>
          <p:nvPr/>
        </p:nvSpPr>
        <p:spPr>
          <a:xfrm>
            <a:off x="10287000" y="274320"/>
            <a:ext cx="1371600" cy="329184"/>
          </a:xfrm>
          <a:prstGeom prst="rect">
            <a:avLst/>
          </a:prstGeom>
          <a:noFill/>
          <a:ln/>
        </p:spPr>
        <p:txBody>
          <a:bodyPr wrap="square" lIns="38100" tIns="38100" rIns="38100" bIns="38100" rtlCol="0" anchor="ctr"/>
          <a:lstStyle/>
          <a:p>
            <a:pPr algn="ctr" indent="0" marL="0">
              <a:buNone/>
            </a:pPr>
            <a:r>
              <a:rPr lang="en-US" sz="1200" b="1" dirty="0">
                <a:solidFill>
                  <a:srgbClr val="212121"/>
                </a:solidFill>
                <a:latin typeface="Calibri" pitchFamily="34" charset="0"/>
                <a:ea typeface="Calibri" pitchFamily="34" charset="-122"/>
                <a:cs typeface="Calibri" pitchFamily="34" charset="-120"/>
              </a:rPr>
              <a:t>Week 6</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en-US" sz="1200" b="1" spc="200" kern="0" dirty="0">
                <a:solidFill>
                  <a:srgbClr val="02C39A"/>
                </a:solidFill>
                <a:latin typeface="Calibri" pitchFamily="34" charset="0"/>
                <a:ea typeface="Calibri" pitchFamily="34" charset="-122"/>
                <a:cs typeface="Calibri" pitchFamily="34" charset="-120"/>
              </a:rPr>
              <a:t>WEEK 6 · PAGING, TLB, SEGMENTATION</a:t>
            </a:r>
            <a:endParaRPr lang="en-US"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en-US" sz="3000" b="1" dirty="0">
                <a:solidFill>
                  <a:srgbClr val="36454F"/>
                </a:solidFill>
                <a:latin typeface="Cambria" pitchFamily="34" charset="0"/>
                <a:ea typeface="Cambria" pitchFamily="34" charset="-122"/>
                <a:cs typeface="Cambria" pitchFamily="34" charset="-120"/>
              </a:rPr>
              <a:t>Pages, Frames, TLB and Segments</a:t>
            </a:r>
            <a:endParaRPr lang="en-US" sz="3000" dirty="0"/>
          </a:p>
        </p:txBody>
      </p:sp>
      <p:sp>
        <p:nvSpPr>
          <p:cNvPr id="4" name="Text 2"/>
          <p:cNvSpPr txBox="1"/>
          <p:nvPr/>
        </p:nvSpPr>
        <p:spPr>
          <a:xfrm>
            <a:off x="548640" y="6528816"/>
            <a:ext cx="6400800" cy="274320"/>
          </a:xfrm>
          <a:prstGeom prst="rect">
            <a:avLst/>
          </a:prstGeom>
          <a:noFill/>
          <a:ln/>
        </p:spPr>
        <p:txBody>
          <a:bodyPr wrap="square" lIns="0" tIns="0" rIns="0" bIns="0" rtlCol="0" anchor="ctr"/>
          <a:lstStyle/>
          <a:p>
            <a:pPr indent="0" marL="0">
              <a:buNone/>
            </a:pPr>
            <a:r>
              <a:rPr lang="en-US" sz="900" dirty="0">
                <a:solidFill>
                  <a:srgbClr val="6B7679"/>
                </a:solidFill>
                <a:latin typeface="Calibri" pitchFamily="34" charset="0"/>
                <a:ea typeface="Calibri" pitchFamily="34" charset="-122"/>
                <a:cs typeface="Calibri" pitchFamily="34" charset="-120"/>
              </a:rPr>
              <a:t>MCMP117 — Fundamentals of Operating Systems</a:t>
            </a:r>
            <a:endParaRPr lang="en-US" sz="900" dirty="0"/>
          </a:p>
        </p:txBody>
      </p:sp>
      <p:sp>
        <p:nvSpPr>
          <p:cNvPr id="5" name="Text 3"/>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en-US" sz="900" dirty="0">
                <a:solidFill>
                  <a:srgbClr val="6B7679"/>
                </a:solidFill>
                <a:latin typeface="Calibri" pitchFamily="34" charset="0"/>
                <a:ea typeface="Calibri" pitchFamily="34" charset="-122"/>
                <a:cs typeface="Calibri" pitchFamily="34" charset="-120"/>
              </a:rPr>
              <a:t>Week 8  ·  17</a:t>
            </a:r>
            <a:endParaRPr lang="en-US" sz="900" dirty="0"/>
          </a:p>
        </p:txBody>
      </p:sp>
      <p:sp>
        <p:nvSpPr>
          <p:cNvPr id="6" name="Shape 4"/>
          <p:cNvSpPr/>
          <p:nvPr/>
        </p:nvSpPr>
        <p:spPr>
          <a:xfrm>
            <a:off x="10287000" y="274320"/>
            <a:ext cx="1371600" cy="329184"/>
          </a:xfrm>
          <a:prstGeom prst="roundRect">
            <a:avLst>
              <a:gd name="adj" fmla="val 13889"/>
            </a:avLst>
          </a:prstGeom>
          <a:solidFill>
            <a:srgbClr val="02C39A"/>
          </a:solidFill>
          <a:ln/>
        </p:spPr>
        <p:txBody>
          <a:bodyPr/>
          <a:p/>
        </p:txBody>
      </p:sp>
      <p:sp>
        <p:nvSpPr>
          <p:cNvPr id="7" name="Text 5"/>
          <p:cNvSpPr txBox="1"/>
          <p:nvPr/>
        </p:nvSpPr>
        <p:spPr>
          <a:xfrm>
            <a:off x="10287000" y="274320"/>
            <a:ext cx="1371600" cy="329184"/>
          </a:xfrm>
          <a:prstGeom prst="rect">
            <a:avLst/>
          </a:prstGeom>
          <a:noFill/>
          <a:ln/>
        </p:spPr>
        <p:txBody>
          <a:bodyPr wrap="square" lIns="38100" tIns="38100" rIns="38100" bIns="38100" rtlCol="0" anchor="ctr"/>
          <a:lstStyle/>
          <a:p>
            <a:pPr algn="ctr" indent="0" marL="0">
              <a:buNone/>
            </a:pPr>
            <a:r>
              <a:rPr lang="en-US" sz="1200" b="1" dirty="0">
                <a:solidFill>
                  <a:srgbClr val="212121"/>
                </a:solidFill>
                <a:latin typeface="Calibri" pitchFamily="34" charset="0"/>
                <a:ea typeface="Calibri" pitchFamily="34" charset="-122"/>
                <a:cs typeface="Calibri" pitchFamily="34" charset="-120"/>
              </a:rPr>
              <a:t>Week 6</a:t>
            </a:r>
            <a:endParaRPr lang="en-US" sz="1200" dirty="0"/>
          </a:p>
        </p:txBody>
      </p:sp>
      <p:sp>
        <p:nvSpPr>
          <p:cNvPr id="8" name="Shape 6"/>
          <p:cNvSpPr/>
          <p:nvPr/>
        </p:nvSpPr>
        <p:spPr>
          <a:xfrm>
            <a:off x="548640" y="1600200"/>
            <a:ext cx="1737360" cy="548640"/>
          </a:xfrm>
          <a:prstGeom prst="roundRect">
            <a:avLst>
              <a:gd name="adj" fmla="val 8333"/>
            </a:avLst>
          </a:prstGeom>
          <a:solidFill>
            <a:srgbClr val="36454F"/>
          </a:solidFill>
          <a:ln/>
        </p:spPr>
        <p:txBody>
          <a:bodyPr/>
          <a:p/>
        </p:txBody>
      </p:sp>
      <p:sp>
        <p:nvSpPr>
          <p:cNvPr id="9" name="Text 7"/>
          <p:cNvSpPr txBox="1"/>
          <p:nvPr/>
        </p:nvSpPr>
        <p:spPr>
          <a:xfrm>
            <a:off x="548640" y="1600200"/>
            <a:ext cx="1737360" cy="548640"/>
          </a:xfrm>
          <a:prstGeom prst="rect">
            <a:avLst/>
          </a:prstGeom>
          <a:noFill/>
          <a:ln/>
        </p:spPr>
        <p:txBody>
          <a:bodyPr wrap="square" lIns="38100" tIns="38100" rIns="38100" bIns="3810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p</a:t>
            </a:r>
            <a:endParaRPr lang="en-US" sz="1600" dirty="0"/>
          </a:p>
          <a:p>
            <a:pPr algn="ctr" indent="0" marL="0">
              <a:buNone/>
            </a:pPr>
            <a:r>
              <a:rPr lang="en-US" sz="1050" dirty="0">
                <a:solidFill>
                  <a:srgbClr val="FFFFFF"/>
                </a:solidFill>
                <a:latin typeface="Calibri" pitchFamily="34" charset="0"/>
                <a:ea typeface="Calibri" pitchFamily="34" charset="-122"/>
                <a:cs typeface="Calibri" pitchFamily="34" charset="-120"/>
              </a:rPr>
              <a:t>page number</a:t>
            </a:r>
            <a:endParaRPr lang="en-US" sz="1600" dirty="0"/>
          </a:p>
        </p:txBody>
      </p:sp>
      <p:sp>
        <p:nvSpPr>
          <p:cNvPr id="10" name="Shape 8"/>
          <p:cNvSpPr/>
          <p:nvPr/>
        </p:nvSpPr>
        <p:spPr>
          <a:xfrm>
            <a:off x="2331720" y="1600200"/>
            <a:ext cx="1737360" cy="548640"/>
          </a:xfrm>
          <a:prstGeom prst="roundRect">
            <a:avLst>
              <a:gd name="adj" fmla="val 8333"/>
            </a:avLst>
          </a:prstGeom>
          <a:solidFill>
            <a:srgbClr val="02C39A"/>
          </a:solidFill>
          <a:ln/>
        </p:spPr>
        <p:txBody>
          <a:bodyPr/>
          <a:p/>
        </p:txBody>
      </p:sp>
      <p:sp>
        <p:nvSpPr>
          <p:cNvPr id="11" name="Text 9"/>
          <p:cNvSpPr txBox="1"/>
          <p:nvPr/>
        </p:nvSpPr>
        <p:spPr>
          <a:xfrm>
            <a:off x="2331720" y="1600200"/>
            <a:ext cx="1737360" cy="548640"/>
          </a:xfrm>
          <a:prstGeom prst="rect">
            <a:avLst/>
          </a:prstGeom>
          <a:noFill/>
          <a:ln/>
        </p:spPr>
        <p:txBody>
          <a:bodyPr wrap="square" lIns="38100" tIns="38100" rIns="38100" bIns="38100" rtlCol="0" anchor="ctr"/>
          <a:lstStyle/>
          <a:p>
            <a:pPr algn="ctr" indent="0" marL="0">
              <a:buNone/>
            </a:pPr>
            <a:r>
              <a:rPr lang="en-US" sz="1600" b="1" dirty="0">
                <a:solidFill>
                  <a:srgbClr val="212121"/>
                </a:solidFill>
                <a:latin typeface="Calibri" pitchFamily="34" charset="0"/>
                <a:ea typeface="Calibri" pitchFamily="34" charset="-122"/>
                <a:cs typeface="Calibri" pitchFamily="34" charset="-120"/>
              </a:rPr>
              <a:t>d</a:t>
            </a:r>
            <a:endParaRPr lang="en-US" sz="1600" dirty="0"/>
          </a:p>
          <a:p>
            <a:pPr algn="ctr" indent="0" marL="0">
              <a:buNone/>
            </a:pPr>
            <a:r>
              <a:rPr lang="en-US" sz="1050" dirty="0">
                <a:solidFill>
                  <a:srgbClr val="212121"/>
                </a:solidFill>
                <a:latin typeface="Calibri" pitchFamily="34" charset="0"/>
                <a:ea typeface="Calibri" pitchFamily="34" charset="-122"/>
                <a:cs typeface="Calibri" pitchFamily="34" charset="-120"/>
              </a:rPr>
              <a:t>offset (n bits)</a:t>
            </a:r>
            <a:endParaRPr lang="en-US" sz="1600" dirty="0"/>
          </a:p>
        </p:txBody>
      </p:sp>
      <p:sp>
        <p:nvSpPr>
          <p:cNvPr id="12" name="Shape 10"/>
          <p:cNvSpPr/>
          <p:nvPr/>
        </p:nvSpPr>
        <p:spPr>
          <a:xfrm>
            <a:off x="4114800" y="1874520"/>
            <a:ext cx="594360" cy="91"/>
          </a:xfrm>
          <a:prstGeom prst="line">
            <a:avLst/>
          </a:prstGeom>
          <a:noFill/>
          <a:ln w="25400">
            <a:solidFill>
              <a:srgbClr val="028090"/>
            </a:solidFill>
            <a:prstDash val="solid"/>
            <a:tailEnd type="triangle"/>
          </a:ln>
        </p:spPr>
        <p:txBody>
          <a:bodyPr/>
          <a:p/>
        </p:txBody>
      </p:sp>
      <p:sp>
        <p:nvSpPr>
          <p:cNvPr id="13" name="Shape 11"/>
          <p:cNvSpPr/>
          <p:nvPr/>
        </p:nvSpPr>
        <p:spPr>
          <a:xfrm>
            <a:off x="4754880" y="1600200"/>
            <a:ext cx="1828800" cy="548640"/>
          </a:xfrm>
          <a:prstGeom prst="roundRect">
            <a:avLst>
              <a:gd name="adj" fmla="val 8333"/>
            </a:avLst>
          </a:prstGeom>
          <a:solidFill>
            <a:srgbClr val="F2F2F2"/>
          </a:solidFill>
          <a:ln/>
        </p:spPr>
        <p:txBody>
          <a:bodyPr/>
          <a:p/>
        </p:txBody>
      </p:sp>
      <p:sp>
        <p:nvSpPr>
          <p:cNvPr id="14" name="Text 12"/>
          <p:cNvSpPr txBox="1"/>
          <p:nvPr/>
        </p:nvSpPr>
        <p:spPr>
          <a:xfrm>
            <a:off x="4754880" y="1600200"/>
            <a:ext cx="1828800" cy="548640"/>
          </a:xfrm>
          <a:prstGeom prst="rect">
            <a:avLst/>
          </a:prstGeom>
          <a:noFill/>
          <a:ln/>
        </p:spPr>
        <p:txBody>
          <a:bodyPr wrap="square" lIns="38100" tIns="38100" rIns="38100" bIns="38100" rtlCol="0" anchor="ctr"/>
          <a:lstStyle/>
          <a:p>
            <a:pPr algn="ctr" indent="0" marL="0">
              <a:buNone/>
            </a:pPr>
            <a:r>
              <a:rPr lang="en-US" sz="1300" b="1" dirty="0">
                <a:solidFill>
                  <a:srgbClr val="36454F"/>
                </a:solidFill>
                <a:latin typeface="Calibri" pitchFamily="34" charset="0"/>
                <a:ea typeface="Calibri" pitchFamily="34" charset="-122"/>
                <a:cs typeface="Calibri" pitchFamily="34" charset="-120"/>
              </a:rPr>
              <a:t>page table [p] = f</a:t>
            </a:r>
            <a:endParaRPr lang="en-US" sz="1300" dirty="0"/>
          </a:p>
        </p:txBody>
      </p:sp>
      <p:sp>
        <p:nvSpPr>
          <p:cNvPr id="15" name="Shape 13"/>
          <p:cNvSpPr/>
          <p:nvPr/>
        </p:nvSpPr>
        <p:spPr>
          <a:xfrm>
            <a:off x="6629400" y="1874520"/>
            <a:ext cx="594360" cy="91"/>
          </a:xfrm>
          <a:prstGeom prst="line">
            <a:avLst/>
          </a:prstGeom>
          <a:noFill/>
          <a:ln w="25400">
            <a:solidFill>
              <a:srgbClr val="028090"/>
            </a:solidFill>
            <a:prstDash val="solid"/>
            <a:tailEnd type="triangle"/>
          </a:ln>
        </p:spPr>
        <p:txBody>
          <a:bodyPr/>
          <a:p/>
        </p:txBody>
      </p:sp>
      <p:sp>
        <p:nvSpPr>
          <p:cNvPr id="16" name="Shape 14"/>
          <p:cNvSpPr/>
          <p:nvPr/>
        </p:nvSpPr>
        <p:spPr>
          <a:xfrm>
            <a:off x="7269480" y="1600200"/>
            <a:ext cx="1737360" cy="548640"/>
          </a:xfrm>
          <a:prstGeom prst="roundRect">
            <a:avLst>
              <a:gd name="adj" fmla="val 8333"/>
            </a:avLst>
          </a:prstGeom>
          <a:solidFill>
            <a:srgbClr val="36454F"/>
          </a:solidFill>
          <a:ln/>
        </p:spPr>
        <p:txBody>
          <a:bodyPr/>
          <a:p/>
        </p:txBody>
      </p:sp>
      <p:sp>
        <p:nvSpPr>
          <p:cNvPr id="17" name="Text 15"/>
          <p:cNvSpPr txBox="1"/>
          <p:nvPr/>
        </p:nvSpPr>
        <p:spPr>
          <a:xfrm>
            <a:off x="7269480" y="1600200"/>
            <a:ext cx="1737360" cy="548640"/>
          </a:xfrm>
          <a:prstGeom prst="rect">
            <a:avLst/>
          </a:prstGeom>
          <a:noFill/>
          <a:ln/>
        </p:spPr>
        <p:txBody>
          <a:bodyPr wrap="square" lIns="38100" tIns="38100" rIns="38100" bIns="3810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f</a:t>
            </a:r>
            <a:endParaRPr lang="en-US" sz="1600" dirty="0"/>
          </a:p>
          <a:p>
            <a:pPr algn="ctr" indent="0" marL="0">
              <a:buNone/>
            </a:pPr>
            <a:r>
              <a:rPr lang="en-US" sz="1050" dirty="0">
                <a:solidFill>
                  <a:srgbClr val="FFFFFF"/>
                </a:solidFill>
                <a:latin typeface="Calibri" pitchFamily="34" charset="0"/>
                <a:ea typeface="Calibri" pitchFamily="34" charset="-122"/>
                <a:cs typeface="Calibri" pitchFamily="34" charset="-120"/>
              </a:rPr>
              <a:t>frame number</a:t>
            </a:r>
            <a:endParaRPr lang="en-US" sz="1600" dirty="0"/>
          </a:p>
        </p:txBody>
      </p:sp>
      <p:sp>
        <p:nvSpPr>
          <p:cNvPr id="18" name="Shape 16"/>
          <p:cNvSpPr/>
          <p:nvPr/>
        </p:nvSpPr>
        <p:spPr>
          <a:xfrm>
            <a:off x="9052560" y="1600200"/>
            <a:ext cx="1737360" cy="548640"/>
          </a:xfrm>
          <a:prstGeom prst="roundRect">
            <a:avLst>
              <a:gd name="adj" fmla="val 8333"/>
            </a:avLst>
          </a:prstGeom>
          <a:solidFill>
            <a:srgbClr val="02C39A"/>
          </a:solidFill>
          <a:ln/>
        </p:spPr>
        <p:txBody>
          <a:bodyPr/>
          <a:p/>
        </p:txBody>
      </p:sp>
      <p:sp>
        <p:nvSpPr>
          <p:cNvPr id="19" name="Text 17"/>
          <p:cNvSpPr txBox="1"/>
          <p:nvPr/>
        </p:nvSpPr>
        <p:spPr>
          <a:xfrm>
            <a:off x="9052560" y="1600200"/>
            <a:ext cx="1737360" cy="548640"/>
          </a:xfrm>
          <a:prstGeom prst="rect">
            <a:avLst/>
          </a:prstGeom>
          <a:noFill/>
          <a:ln/>
        </p:spPr>
        <p:txBody>
          <a:bodyPr wrap="square" lIns="38100" tIns="38100" rIns="38100" bIns="38100" rtlCol="0" anchor="ctr"/>
          <a:lstStyle/>
          <a:p>
            <a:pPr algn="ctr" indent="0" marL="0">
              <a:buNone/>
            </a:pPr>
            <a:r>
              <a:rPr lang="en-US" sz="1600" b="1" dirty="0">
                <a:solidFill>
                  <a:srgbClr val="212121"/>
                </a:solidFill>
                <a:latin typeface="Calibri" pitchFamily="34" charset="0"/>
                <a:ea typeface="Calibri" pitchFamily="34" charset="-122"/>
                <a:cs typeface="Calibri" pitchFamily="34" charset="-120"/>
              </a:rPr>
              <a:t>d</a:t>
            </a:r>
            <a:endParaRPr lang="en-US" sz="1600" dirty="0"/>
          </a:p>
          <a:p>
            <a:pPr algn="ctr" indent="0" marL="0">
              <a:buNone/>
            </a:pPr>
            <a:r>
              <a:rPr lang="en-US" sz="1050" dirty="0">
                <a:solidFill>
                  <a:srgbClr val="212121"/>
                </a:solidFill>
                <a:latin typeface="Calibri" pitchFamily="34" charset="0"/>
                <a:ea typeface="Calibri" pitchFamily="34" charset="-122"/>
                <a:cs typeface="Calibri" pitchFamily="34" charset="-120"/>
              </a:rPr>
              <a:t>unchanged</a:t>
            </a:r>
            <a:endParaRPr lang="en-US" sz="1600" dirty="0"/>
          </a:p>
        </p:txBody>
      </p:sp>
      <p:sp>
        <p:nvSpPr>
          <p:cNvPr id="20" name="Shape 18"/>
          <p:cNvSpPr/>
          <p:nvPr/>
        </p:nvSpPr>
        <p:spPr>
          <a:xfrm>
            <a:off x="548640" y="2377440"/>
            <a:ext cx="5486400" cy="2011680"/>
          </a:xfrm>
          <a:prstGeom prst="roundRect">
            <a:avLst>
              <a:gd name="adj" fmla="val 2273"/>
            </a:avLst>
          </a:prstGeom>
          <a:solidFill>
            <a:srgbClr val="212121"/>
          </a:solidFill>
          <a:ln/>
        </p:spPr>
        <p:txBody>
          <a:bodyPr/>
          <a:p/>
        </p:txBody>
      </p:sp>
      <p:sp>
        <p:nvSpPr>
          <p:cNvPr id="21" name="Text 19"/>
          <p:cNvSpPr txBox="1"/>
          <p:nvPr/>
        </p:nvSpPr>
        <p:spPr>
          <a:xfrm>
            <a:off x="731520" y="2487168"/>
            <a:ext cx="5120640" cy="1792224"/>
          </a:xfrm>
          <a:prstGeom prst="rect">
            <a:avLst/>
          </a:prstGeom>
          <a:noFill/>
          <a:ln/>
        </p:spPr>
        <p:txBody>
          <a:bodyPr wrap="square" lIns="0" tIns="0" rIns="0" bIns="0" rtlCol="0" anchor="t"/>
          <a:lstStyle/>
          <a:p>
            <a:pPr indent="0" marL="0">
              <a:lnSpc>
                <a:spcPct val="105000"/>
              </a:lnSpc>
              <a:buNone/>
            </a:pPr>
            <a:r>
              <a:rPr lang="en-US" sz="1300" dirty="0">
                <a:solidFill>
                  <a:srgbClr val="F2F2F2"/>
                </a:solidFill>
                <a:latin typeface="Consolas" pitchFamily="34" charset="0"/>
                <a:ea typeface="Consolas" pitchFamily="34" charset="-122"/>
                <a:cs typeface="Consolas" pitchFamily="34" charset="-120"/>
              </a:rPr>
              <a:t>page size 2ⁿ:  p = ⌊a / 2ⁿ⌋,   d = a mod 2ⁿ</a:t>
            </a:r>
            <a:endParaRPr lang="en-US" sz="1300" dirty="0"/>
          </a:p>
          <a:p>
            <a:pPr indent="0" marL="0">
              <a:lnSpc>
                <a:spcPct val="105000"/>
              </a:lnSpc>
              <a:buNone/>
            </a:pPr>
            <a:r>
              <a:rPr lang="en-US" sz="1300" dirty="0">
                <a:solidFill>
                  <a:srgbClr val="F2F2F2"/>
                </a:solidFill>
                <a:latin typeface="Consolas" pitchFamily="34" charset="0"/>
                <a:ea typeface="Consolas" pitchFamily="34" charset="-122"/>
                <a:cs typeface="Consolas" pitchFamily="34" charset="-120"/>
              </a:rPr>
              <a:t>a_phys = f · 2ⁿ + d</a:t>
            </a:r>
            <a:endParaRPr lang="en-US" sz="1300" dirty="0"/>
          </a:p>
          <a:p>
            <a:pPr indent="0" marL="0">
              <a:lnSpc>
                <a:spcPct val="105000"/>
              </a:lnSpc>
              <a:buNone/>
            </a:pPr>
            <a:r>
              <a:rPr lang="en-US" sz="1300" dirty="0">
                <a:solidFill>
                  <a:srgbClr val="F2F2F2"/>
                </a:solidFill>
                <a:latin typeface="Consolas" pitchFamily="34" charset="0"/>
                <a:ea typeface="Consolas" pitchFamily="34" charset="-122"/>
                <a:cs typeface="Consolas" pitchFamily="34" charset="-120"/>
              </a:rPr>
              <a:t>4 KB pages + hex: replace the page digit</a:t>
            </a:r>
            <a:endParaRPr lang="en-US" sz="1300" dirty="0"/>
          </a:p>
          <a:p>
            <a:pPr indent="0" marL="0">
              <a:lnSpc>
                <a:spcPct val="105000"/>
              </a:lnSpc>
              <a:buNone/>
            </a:pPr>
            <a:r>
              <a:rPr lang="en-US" sz="1300" dirty="0">
                <a:solidFill>
                  <a:srgbClr val="F2F2F2"/>
                </a:solidFill>
                <a:latin typeface="Consolas" pitchFamily="34" charset="0"/>
                <a:ea typeface="Consolas" pitchFamily="34" charset="-122"/>
                <a:cs typeface="Consolas" pitchFamily="34" charset="-120"/>
              </a:rPr>
              <a:t>page-table size = (2ᵐ / 2ⁿ) entries × entry size</a:t>
            </a:r>
            <a:endParaRPr lang="en-US" sz="1300" dirty="0"/>
          </a:p>
          <a:p>
            <a:pPr indent="0" marL="0">
              <a:lnSpc>
                <a:spcPct val="105000"/>
              </a:lnSpc>
              <a:buNone/>
            </a:pPr>
            <a:r>
              <a:rPr lang="en-US" sz="1300" dirty="0">
                <a:solidFill>
                  <a:srgbClr val="F2F2F2"/>
                </a:solidFill>
                <a:latin typeface="Consolas" pitchFamily="34" charset="0"/>
                <a:ea typeface="Consolas" pitchFamily="34" charset="-122"/>
                <a:cs typeface="Consolas" pitchFamily="34" charset="-120"/>
              </a:rPr>
              <a:t>32-bit, 4 KB, 4 B → 2²⁰ entries = 4 MB</a:t>
            </a:r>
            <a:endParaRPr lang="en-US" sz="1300" dirty="0"/>
          </a:p>
        </p:txBody>
      </p:sp>
      <p:sp>
        <p:nvSpPr>
          <p:cNvPr id="22" name="Shape 20"/>
          <p:cNvSpPr/>
          <p:nvPr/>
        </p:nvSpPr>
        <p:spPr>
          <a:xfrm>
            <a:off x="6172200" y="2377440"/>
            <a:ext cx="5486400" cy="2011680"/>
          </a:xfrm>
          <a:prstGeom prst="roundRect">
            <a:avLst>
              <a:gd name="adj" fmla="val 2273"/>
            </a:avLst>
          </a:prstGeom>
          <a:solidFill>
            <a:srgbClr val="212121"/>
          </a:solidFill>
          <a:ln/>
        </p:spPr>
        <p:txBody>
          <a:bodyPr/>
          <a:p/>
        </p:txBody>
      </p:sp>
      <p:sp>
        <p:nvSpPr>
          <p:cNvPr id="23" name="Text 21"/>
          <p:cNvSpPr txBox="1"/>
          <p:nvPr/>
        </p:nvSpPr>
        <p:spPr>
          <a:xfrm>
            <a:off x="6355080" y="2487168"/>
            <a:ext cx="5120640" cy="1792224"/>
          </a:xfrm>
          <a:prstGeom prst="rect">
            <a:avLst/>
          </a:prstGeom>
          <a:noFill/>
          <a:ln/>
        </p:spPr>
        <p:txBody>
          <a:bodyPr wrap="square" lIns="0" tIns="0" rIns="0" bIns="0" rtlCol="0" anchor="t"/>
          <a:lstStyle/>
          <a:p>
            <a:pPr indent="0" marL="0">
              <a:lnSpc>
                <a:spcPct val="105000"/>
              </a:lnSpc>
              <a:buNone/>
            </a:pPr>
            <a:r>
              <a:rPr lang="en-US" sz="1300" dirty="0">
                <a:solidFill>
                  <a:srgbClr val="8A9AA0"/>
                </a:solidFill>
                <a:latin typeface="Consolas" pitchFamily="34" charset="0"/>
                <a:ea typeface="Consolas" pitchFamily="34" charset="-122"/>
                <a:cs typeface="Consolas" pitchFamily="34" charset="-120"/>
              </a:rPr>
              <a:t># course convention (TLB lookup always counted)</a:t>
            </a:r>
            <a:endParaRPr lang="en-US" sz="1300" dirty="0"/>
          </a:p>
          <a:p>
            <a:pPr indent="0" marL="0">
              <a:lnSpc>
                <a:spcPct val="105000"/>
              </a:lnSpc>
              <a:buNone/>
            </a:pPr>
            <a:r>
              <a:rPr lang="en-US" sz="1300" dirty="0">
                <a:solidFill>
                  <a:srgbClr val="F2F2F2"/>
                </a:solidFill>
                <a:latin typeface="Consolas" pitchFamily="34" charset="0"/>
                <a:ea typeface="Consolas" pitchFamily="34" charset="-122"/>
                <a:cs typeface="Consolas" pitchFamily="34" charset="-120"/>
              </a:rPr>
              <a:t>EAT = α(t_TLB + t_m) + (1 − α)(t_TLB + 2t_m)</a:t>
            </a:r>
            <a:endParaRPr lang="en-US" sz="1300" dirty="0"/>
          </a:p>
          <a:p>
            <a:pPr indent="0" marL="0">
              <a:lnSpc>
                <a:spcPct val="105000"/>
              </a:lnSpc>
              <a:buNone/>
            </a:pPr>
            <a:r>
              <a:rPr lang="en-US" sz="1300" dirty="0">
                <a:solidFill>
                  <a:srgbClr val="F2F2F2"/>
                </a:solidFill>
                <a:latin typeface="Consolas" pitchFamily="34" charset="0"/>
                <a:ea typeface="Consolas" pitchFamily="34" charset="-122"/>
                <a:cs typeface="Consolas" pitchFamily="34" charset="-120"/>
              </a:rPr>
              <a:t>    = t_TLB + (2 − α) t_m</a:t>
            </a:r>
            <a:endParaRPr lang="en-US" sz="1300" dirty="0"/>
          </a:p>
          <a:p>
            <a:pPr indent="0" marL="0">
              <a:lnSpc>
                <a:spcPct val="105000"/>
              </a:lnSpc>
              <a:buNone/>
            </a:pPr>
            <a:r>
              <a:rPr lang="en-US" sz="1300" dirty="0">
                <a:solidFill>
                  <a:srgbClr val="8A9AA0"/>
                </a:solidFill>
                <a:latin typeface="Consolas" pitchFamily="34" charset="0"/>
                <a:ea typeface="Consolas" pitchFamily="34" charset="-122"/>
                <a:cs typeface="Consolas" pitchFamily="34" charset="-120"/>
              </a:rPr>
              <a:t># simplified (t_TLB ≈ 0):</a:t>
            </a:r>
            <a:endParaRPr lang="en-US" sz="1300" dirty="0"/>
          </a:p>
          <a:p>
            <a:pPr indent="0" marL="0">
              <a:lnSpc>
                <a:spcPct val="105000"/>
              </a:lnSpc>
              <a:buNone/>
            </a:pPr>
            <a:r>
              <a:rPr lang="en-US" sz="1300" dirty="0">
                <a:solidFill>
                  <a:srgbClr val="F2F2F2"/>
                </a:solidFill>
                <a:latin typeface="Consolas" pitchFamily="34" charset="0"/>
                <a:ea typeface="Consolas" pitchFamily="34" charset="-122"/>
                <a:cs typeface="Consolas" pitchFamily="34" charset="-120"/>
              </a:rPr>
              <a:t>EAT = α t_m + (1 − α) 2t_m</a:t>
            </a:r>
            <a:endParaRPr lang="en-US" sz="1300" dirty="0"/>
          </a:p>
        </p:txBody>
      </p:sp>
      <p:sp>
        <p:nvSpPr>
          <p:cNvPr id="24" name="Shape 22"/>
          <p:cNvSpPr/>
          <p:nvPr/>
        </p:nvSpPr>
        <p:spPr>
          <a:xfrm>
            <a:off x="548640" y="4572000"/>
            <a:ext cx="5486400" cy="1691640"/>
          </a:xfrm>
          <a:prstGeom prst="roundRect">
            <a:avLst>
              <a:gd name="adj" fmla="val 3243"/>
            </a:avLst>
          </a:prstGeom>
          <a:solidFill>
            <a:srgbClr val="F2F2F2"/>
          </a:solidFill>
          <a:ln/>
          <a:effectLst>
            <a:outerShdw sx="100000" sy="100000" kx="0" ky="0" algn="bl" rotWithShape="0" blurRad="101600" dist="25400" dir="5400000">
              <a:srgbClr val="000000">
                <a:alpha val="12000"/>
              </a:srgbClr>
            </a:outerShdw>
          </a:effectLst>
        </p:spPr>
        <p:txBody>
          <a:bodyPr/>
          <a:p/>
        </p:txBody>
      </p:sp>
      <p:sp>
        <p:nvSpPr>
          <p:cNvPr id="25" name="Text 23"/>
          <p:cNvSpPr txBox="1"/>
          <p:nvPr/>
        </p:nvSpPr>
        <p:spPr>
          <a:xfrm>
            <a:off x="777240" y="4754880"/>
            <a:ext cx="5029200" cy="384048"/>
          </a:xfrm>
          <a:prstGeom prst="rect">
            <a:avLst/>
          </a:prstGeom>
          <a:noFill/>
          <a:ln/>
        </p:spPr>
        <p:txBody>
          <a:bodyPr wrap="square" lIns="0" tIns="0" rIns="0" bIns="0" rtlCol="0" anchor="ctr"/>
          <a:lstStyle/>
          <a:p>
            <a:pPr indent="0" marL="0">
              <a:buNone/>
            </a:pPr>
            <a:r>
              <a:rPr lang="en-US" sz="1500" b="1" dirty="0">
                <a:solidFill>
                  <a:srgbClr val="028090"/>
                </a:solidFill>
                <a:latin typeface="Cambria" pitchFamily="34" charset="0"/>
                <a:ea typeface="Cambria" pitchFamily="34" charset="-122"/>
                <a:cs typeface="Cambria" pitchFamily="34" charset="-120"/>
              </a:rPr>
              <a:t>Paging</a:t>
            </a:r>
            <a:endParaRPr lang="en-US" sz="1500" dirty="0"/>
          </a:p>
        </p:txBody>
      </p:sp>
      <p:sp>
        <p:nvSpPr>
          <p:cNvPr id="26" name="Text 24"/>
          <p:cNvSpPr txBox="1"/>
          <p:nvPr/>
        </p:nvSpPr>
        <p:spPr>
          <a:xfrm>
            <a:off x="777240" y="5212080"/>
            <a:ext cx="5029200" cy="914400"/>
          </a:xfrm>
          <a:prstGeom prst="rect">
            <a:avLst/>
          </a:prstGeom>
          <a:noFill/>
          <a:ln/>
        </p:spPr>
        <p:txBody>
          <a:bodyPr wrap="square" lIns="0" tIns="0" rIns="0" bIns="0" rtlCol="0" anchor="t"/>
          <a:lstStyle/>
          <a:p>
            <a:pPr indent="0" marL="0">
              <a:spcAft>
                <a:spcPts val="400"/>
              </a:spcAft>
              <a:buNone/>
            </a:pPr>
            <a:r>
              <a:rPr lang="en-US" sz="1350" dirty="0">
                <a:solidFill>
                  <a:srgbClr val="3A464C"/>
                </a:solidFill>
                <a:latin typeface="Calibri" pitchFamily="34" charset="0"/>
                <a:ea typeface="Calibri" pitchFamily="34" charset="-122"/>
                <a:cs typeface="Calibri" pitchFamily="34" charset="-120"/>
              </a:rPr>
              <a:t>No external fragmentation; internal: on average half a page per process. Valid–invalid and r/w/x bits checked on every access.</a:t>
            </a:r>
            <a:endParaRPr lang="en-US" sz="1350" dirty="0"/>
          </a:p>
        </p:txBody>
      </p:sp>
      <p:sp>
        <p:nvSpPr>
          <p:cNvPr id="27" name="Shape 25"/>
          <p:cNvSpPr/>
          <p:nvPr/>
        </p:nvSpPr>
        <p:spPr>
          <a:xfrm>
            <a:off x="6172200" y="4572000"/>
            <a:ext cx="5486400" cy="1691640"/>
          </a:xfrm>
          <a:prstGeom prst="roundRect">
            <a:avLst>
              <a:gd name="adj" fmla="val 3243"/>
            </a:avLst>
          </a:prstGeom>
          <a:solidFill>
            <a:srgbClr val="F2F2F2"/>
          </a:solidFill>
          <a:ln/>
          <a:effectLst>
            <a:outerShdw sx="100000" sy="100000" kx="0" ky="0" algn="bl" rotWithShape="0" blurRad="101600" dist="25400" dir="5400000">
              <a:srgbClr val="000000">
                <a:alpha val="12000"/>
              </a:srgbClr>
            </a:outerShdw>
          </a:effectLst>
        </p:spPr>
        <p:txBody>
          <a:bodyPr/>
          <a:p/>
        </p:txBody>
      </p:sp>
      <p:sp>
        <p:nvSpPr>
          <p:cNvPr id="28" name="Text 26"/>
          <p:cNvSpPr txBox="1"/>
          <p:nvPr/>
        </p:nvSpPr>
        <p:spPr>
          <a:xfrm>
            <a:off x="6400800" y="4754880"/>
            <a:ext cx="5029200" cy="384048"/>
          </a:xfrm>
          <a:prstGeom prst="rect">
            <a:avLst/>
          </a:prstGeom>
          <a:noFill/>
          <a:ln/>
        </p:spPr>
        <p:txBody>
          <a:bodyPr wrap="square" lIns="0" tIns="0" rIns="0" bIns="0" rtlCol="0" anchor="ctr"/>
          <a:lstStyle/>
          <a:p>
            <a:pPr indent="0" marL="0">
              <a:buNone/>
            </a:pPr>
            <a:r>
              <a:rPr lang="en-US" sz="1500" b="1" dirty="0">
                <a:solidFill>
                  <a:srgbClr val="028090"/>
                </a:solidFill>
                <a:latin typeface="Cambria" pitchFamily="34" charset="0"/>
                <a:ea typeface="Cambria" pitchFamily="34" charset="-122"/>
                <a:cs typeface="Cambria" pitchFamily="34" charset="-120"/>
              </a:rPr>
              <a:t>Segmentation</a:t>
            </a:r>
            <a:endParaRPr lang="en-US" sz="1500" dirty="0"/>
          </a:p>
        </p:txBody>
      </p:sp>
      <p:sp>
        <p:nvSpPr>
          <p:cNvPr id="29" name="Text 27"/>
          <p:cNvSpPr txBox="1"/>
          <p:nvPr/>
        </p:nvSpPr>
        <p:spPr>
          <a:xfrm>
            <a:off x="6400800" y="5212080"/>
            <a:ext cx="5029200" cy="914400"/>
          </a:xfrm>
          <a:prstGeom prst="rect">
            <a:avLst/>
          </a:prstGeom>
          <a:noFill/>
          <a:ln/>
        </p:spPr>
        <p:txBody>
          <a:bodyPr wrap="square" lIns="0" tIns="0" rIns="0" bIns="0" rtlCol="0" anchor="t"/>
          <a:lstStyle/>
          <a:p>
            <a:pPr indent="0" marL="0">
              <a:spcAft>
                <a:spcPts val="400"/>
              </a:spcAft>
              <a:buNone/>
            </a:pPr>
            <a:r>
              <a:rPr lang="en-US" sz="1350" dirty="0">
                <a:solidFill>
                  <a:srgbClr val="3A464C"/>
                </a:solidFill>
                <a:latin typeface="Calibri" pitchFamily="34" charset="0"/>
                <a:ea typeface="Calibri" pitchFamily="34" charset="-122"/>
                <a:cs typeface="Calibri" pitchFamily="34" charset="-120"/>
              </a:rPr>
              <a:t>Address ⟨s, d⟩: if 0 ≤ d &lt; limit[s] → base[s] + d, else trap. Variable size → external fragmentation. x86-64 Linux: flat segments, paging does the work.</a:t>
            </a:r>
            <a:endParaRPr lang="en-US" sz="13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en-US" sz="1200" b="1" spc="200" kern="0" dirty="0">
                <a:solidFill>
                  <a:srgbClr val="02C39A"/>
                </a:solidFill>
                <a:latin typeface="Calibri" pitchFamily="34" charset="0"/>
                <a:ea typeface="Calibri" pitchFamily="34" charset="-122"/>
                <a:cs typeface="Calibri" pitchFamily="34" charset="-120"/>
              </a:rPr>
              <a:t>WEEK 7 · VIRTUAL MEMORY</a:t>
            </a:r>
            <a:endParaRPr lang="en-US"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en-US" sz="3000" b="1" dirty="0">
                <a:solidFill>
                  <a:srgbClr val="36454F"/>
                </a:solidFill>
                <a:latin typeface="Cambria" pitchFamily="34" charset="0"/>
                <a:ea typeface="Cambria" pitchFamily="34" charset="-122"/>
                <a:cs typeface="Cambria" pitchFamily="34" charset="-120"/>
              </a:rPr>
              <a:t>Demand Paging, Page Faults, Replacement</a:t>
            </a:r>
            <a:endParaRPr lang="en-US" sz="3000" dirty="0"/>
          </a:p>
        </p:txBody>
      </p:sp>
      <p:sp>
        <p:nvSpPr>
          <p:cNvPr id="4" name="Text 2"/>
          <p:cNvSpPr txBox="1"/>
          <p:nvPr/>
        </p:nvSpPr>
        <p:spPr>
          <a:xfrm>
            <a:off x="548640" y="6528816"/>
            <a:ext cx="6400800" cy="274320"/>
          </a:xfrm>
          <a:prstGeom prst="rect">
            <a:avLst/>
          </a:prstGeom>
          <a:noFill/>
          <a:ln/>
        </p:spPr>
        <p:txBody>
          <a:bodyPr wrap="square" lIns="0" tIns="0" rIns="0" bIns="0" rtlCol="0" anchor="ctr"/>
          <a:lstStyle/>
          <a:p>
            <a:pPr indent="0" marL="0">
              <a:buNone/>
            </a:pPr>
            <a:r>
              <a:rPr lang="en-US" sz="900" dirty="0">
                <a:solidFill>
                  <a:srgbClr val="6B7679"/>
                </a:solidFill>
                <a:latin typeface="Calibri" pitchFamily="34" charset="0"/>
                <a:ea typeface="Calibri" pitchFamily="34" charset="-122"/>
                <a:cs typeface="Calibri" pitchFamily="34" charset="-120"/>
              </a:rPr>
              <a:t>MCMP117 — Fundamentals of Operating Systems</a:t>
            </a:r>
            <a:endParaRPr lang="en-US" sz="900" dirty="0"/>
          </a:p>
        </p:txBody>
      </p:sp>
      <p:sp>
        <p:nvSpPr>
          <p:cNvPr id="5" name="Text 3"/>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en-US" sz="900" dirty="0">
                <a:solidFill>
                  <a:srgbClr val="6B7679"/>
                </a:solidFill>
                <a:latin typeface="Calibri" pitchFamily="34" charset="0"/>
                <a:ea typeface="Calibri" pitchFamily="34" charset="-122"/>
                <a:cs typeface="Calibri" pitchFamily="34" charset="-120"/>
              </a:rPr>
              <a:t>Week 8  ·  18</a:t>
            </a:r>
            <a:endParaRPr lang="en-US" sz="900" dirty="0"/>
          </a:p>
        </p:txBody>
      </p:sp>
      <p:sp>
        <p:nvSpPr>
          <p:cNvPr id="6" name="Shape 4"/>
          <p:cNvSpPr/>
          <p:nvPr/>
        </p:nvSpPr>
        <p:spPr>
          <a:xfrm>
            <a:off x="10287000" y="274320"/>
            <a:ext cx="1371600" cy="329184"/>
          </a:xfrm>
          <a:prstGeom prst="roundRect">
            <a:avLst>
              <a:gd name="adj" fmla="val 13889"/>
            </a:avLst>
          </a:prstGeom>
          <a:solidFill>
            <a:srgbClr val="02C39A"/>
          </a:solidFill>
          <a:ln/>
        </p:spPr>
        <p:txBody>
          <a:bodyPr/>
          <a:p/>
        </p:txBody>
      </p:sp>
      <p:sp>
        <p:nvSpPr>
          <p:cNvPr id="7" name="Text 5"/>
          <p:cNvSpPr txBox="1"/>
          <p:nvPr/>
        </p:nvSpPr>
        <p:spPr>
          <a:xfrm>
            <a:off x="10287000" y="274320"/>
            <a:ext cx="1371600" cy="329184"/>
          </a:xfrm>
          <a:prstGeom prst="rect">
            <a:avLst/>
          </a:prstGeom>
          <a:noFill/>
          <a:ln/>
        </p:spPr>
        <p:txBody>
          <a:bodyPr wrap="square" lIns="38100" tIns="38100" rIns="38100" bIns="38100" rtlCol="0" anchor="ctr"/>
          <a:lstStyle/>
          <a:p>
            <a:pPr algn="ctr" indent="0" marL="0">
              <a:buNone/>
            </a:pPr>
            <a:r>
              <a:rPr lang="en-US" sz="1200" b="1" dirty="0">
                <a:solidFill>
                  <a:srgbClr val="212121"/>
                </a:solidFill>
                <a:latin typeface="Calibri" pitchFamily="34" charset="0"/>
                <a:ea typeface="Calibri" pitchFamily="34" charset="-122"/>
                <a:cs typeface="Calibri" pitchFamily="34" charset="-120"/>
              </a:rPr>
              <a:t>Week 7</a:t>
            </a:r>
            <a:endParaRPr lang="en-US" sz="1200" dirty="0"/>
          </a:p>
        </p:txBody>
      </p:sp>
      <p:sp>
        <p:nvSpPr>
          <p:cNvPr id="8" name="Shape 6"/>
          <p:cNvSpPr/>
          <p:nvPr/>
        </p:nvSpPr>
        <p:spPr>
          <a:xfrm>
            <a:off x="548640" y="1554480"/>
            <a:ext cx="1691640" cy="777240"/>
          </a:xfrm>
          <a:prstGeom prst="roundRect">
            <a:avLst>
              <a:gd name="adj" fmla="val 5882"/>
            </a:avLst>
          </a:prstGeom>
          <a:solidFill>
            <a:srgbClr val="F2F2F2"/>
          </a:solidFill>
          <a:ln/>
        </p:spPr>
        <p:txBody>
          <a:bodyPr/>
          <a:p/>
        </p:txBody>
      </p:sp>
      <p:sp>
        <p:nvSpPr>
          <p:cNvPr id="9" name="Text 7"/>
          <p:cNvSpPr txBox="1"/>
          <p:nvPr/>
        </p:nvSpPr>
        <p:spPr>
          <a:xfrm>
            <a:off x="548640" y="1554480"/>
            <a:ext cx="1691640" cy="777240"/>
          </a:xfrm>
          <a:prstGeom prst="rect">
            <a:avLst/>
          </a:prstGeom>
          <a:noFill/>
          <a:ln/>
        </p:spPr>
        <p:txBody>
          <a:bodyPr wrap="square" lIns="38100" tIns="38100" rIns="38100" bIns="38100" rtlCol="0" anchor="ctr"/>
          <a:lstStyle/>
          <a:p>
            <a:pPr algn="ctr" indent="0" marL="0">
              <a:buNone/>
            </a:pPr>
            <a:r>
              <a:rPr lang="en-US" sz="1400" b="1" dirty="0">
                <a:solidFill>
                  <a:srgbClr val="212121"/>
                </a:solidFill>
                <a:latin typeface="Calibri" pitchFamily="34" charset="0"/>
                <a:ea typeface="Calibri" pitchFamily="34" charset="-122"/>
                <a:cs typeface="Calibri" pitchFamily="34" charset="-120"/>
              </a:rPr>
              <a:t>1 Reference</a:t>
            </a:r>
            <a:endParaRPr lang="en-US" sz="1400" dirty="0"/>
          </a:p>
          <a:p>
            <a:pPr algn="ctr" indent="0" marL="0">
              <a:buNone/>
            </a:pPr>
            <a:r>
              <a:rPr lang="en-US" sz="1100" dirty="0">
                <a:solidFill>
                  <a:srgbClr val="212121"/>
                </a:solidFill>
                <a:latin typeface="Calibri" pitchFamily="34" charset="0"/>
                <a:ea typeface="Calibri" pitchFamily="34" charset="-122"/>
                <a:cs typeface="Calibri" pitchFamily="34" charset="-120"/>
              </a:rPr>
              <a:t>bit = i</a:t>
            </a:r>
            <a:endParaRPr lang="en-US" sz="1400" dirty="0"/>
          </a:p>
        </p:txBody>
      </p:sp>
      <p:sp>
        <p:nvSpPr>
          <p:cNvPr id="10" name="Shape 8"/>
          <p:cNvSpPr/>
          <p:nvPr/>
        </p:nvSpPr>
        <p:spPr>
          <a:xfrm>
            <a:off x="2249424" y="1938528"/>
            <a:ext cx="173736" cy="91"/>
          </a:xfrm>
          <a:prstGeom prst="line">
            <a:avLst/>
          </a:prstGeom>
          <a:noFill/>
          <a:ln w="19050">
            <a:solidFill>
              <a:srgbClr val="028090"/>
            </a:solidFill>
            <a:prstDash val="solid"/>
            <a:tailEnd type="triangle"/>
          </a:ln>
        </p:spPr>
        <p:txBody>
          <a:bodyPr/>
          <a:p/>
        </p:txBody>
      </p:sp>
      <p:sp>
        <p:nvSpPr>
          <p:cNvPr id="11" name="Shape 9"/>
          <p:cNvSpPr/>
          <p:nvPr/>
        </p:nvSpPr>
        <p:spPr>
          <a:xfrm>
            <a:off x="2432304" y="1554480"/>
            <a:ext cx="1691640" cy="777240"/>
          </a:xfrm>
          <a:prstGeom prst="roundRect">
            <a:avLst>
              <a:gd name="adj" fmla="val 5882"/>
            </a:avLst>
          </a:prstGeom>
          <a:solidFill>
            <a:srgbClr val="F3D9D6"/>
          </a:solidFill>
          <a:ln/>
        </p:spPr>
        <p:txBody>
          <a:bodyPr/>
          <a:p/>
        </p:txBody>
      </p:sp>
      <p:sp>
        <p:nvSpPr>
          <p:cNvPr id="12" name="Text 10"/>
          <p:cNvSpPr txBox="1"/>
          <p:nvPr/>
        </p:nvSpPr>
        <p:spPr>
          <a:xfrm>
            <a:off x="2432304" y="1554480"/>
            <a:ext cx="1691640" cy="777240"/>
          </a:xfrm>
          <a:prstGeom prst="rect">
            <a:avLst/>
          </a:prstGeom>
          <a:noFill/>
          <a:ln/>
        </p:spPr>
        <p:txBody>
          <a:bodyPr wrap="square" lIns="38100" tIns="38100" rIns="38100" bIns="38100" rtlCol="0" anchor="ctr"/>
          <a:lstStyle/>
          <a:p>
            <a:pPr algn="ctr" indent="0" marL="0">
              <a:buNone/>
            </a:pPr>
            <a:r>
              <a:rPr lang="en-US" sz="1400" b="1" dirty="0">
                <a:solidFill>
                  <a:srgbClr val="212121"/>
                </a:solidFill>
                <a:latin typeface="Calibri" pitchFamily="34" charset="0"/>
                <a:ea typeface="Calibri" pitchFamily="34" charset="-122"/>
                <a:cs typeface="Calibri" pitchFamily="34" charset="-120"/>
              </a:rPr>
              <a:t>2 Trap</a:t>
            </a:r>
            <a:endParaRPr lang="en-US" sz="1400" dirty="0"/>
          </a:p>
          <a:p>
            <a:pPr algn="ctr" indent="0" marL="0">
              <a:buNone/>
            </a:pPr>
            <a:r>
              <a:rPr lang="en-US" sz="1100" dirty="0">
                <a:solidFill>
                  <a:srgbClr val="212121"/>
                </a:solidFill>
                <a:latin typeface="Calibri" pitchFamily="34" charset="0"/>
                <a:ea typeface="Calibri" pitchFamily="34" charset="-122"/>
                <a:cs typeface="Calibri" pitchFamily="34" charset="-120"/>
              </a:rPr>
              <a:t>MMU → OS</a:t>
            </a:r>
            <a:endParaRPr lang="en-US" sz="1400" dirty="0"/>
          </a:p>
        </p:txBody>
      </p:sp>
      <p:sp>
        <p:nvSpPr>
          <p:cNvPr id="13" name="Shape 11"/>
          <p:cNvSpPr/>
          <p:nvPr/>
        </p:nvSpPr>
        <p:spPr>
          <a:xfrm>
            <a:off x="4133088" y="1938528"/>
            <a:ext cx="173736" cy="91"/>
          </a:xfrm>
          <a:prstGeom prst="line">
            <a:avLst/>
          </a:prstGeom>
          <a:noFill/>
          <a:ln w="19050">
            <a:solidFill>
              <a:srgbClr val="028090"/>
            </a:solidFill>
            <a:prstDash val="solid"/>
            <a:tailEnd type="triangle"/>
          </a:ln>
        </p:spPr>
        <p:txBody>
          <a:bodyPr/>
          <a:p/>
        </p:txBody>
      </p:sp>
      <p:sp>
        <p:nvSpPr>
          <p:cNvPr id="14" name="Shape 12"/>
          <p:cNvSpPr/>
          <p:nvPr/>
        </p:nvSpPr>
        <p:spPr>
          <a:xfrm>
            <a:off x="4315968" y="1554480"/>
            <a:ext cx="1691640" cy="777240"/>
          </a:xfrm>
          <a:prstGeom prst="roundRect">
            <a:avLst>
              <a:gd name="adj" fmla="val 5882"/>
            </a:avLst>
          </a:prstGeom>
          <a:solidFill>
            <a:srgbClr val="F2F2F2"/>
          </a:solidFill>
          <a:ln/>
        </p:spPr>
        <p:txBody>
          <a:bodyPr/>
          <a:p/>
        </p:txBody>
      </p:sp>
      <p:sp>
        <p:nvSpPr>
          <p:cNvPr id="15" name="Text 13"/>
          <p:cNvSpPr txBox="1"/>
          <p:nvPr/>
        </p:nvSpPr>
        <p:spPr>
          <a:xfrm>
            <a:off x="4315968" y="1554480"/>
            <a:ext cx="1691640" cy="777240"/>
          </a:xfrm>
          <a:prstGeom prst="rect">
            <a:avLst/>
          </a:prstGeom>
          <a:noFill/>
          <a:ln/>
        </p:spPr>
        <p:txBody>
          <a:bodyPr wrap="square" lIns="38100" tIns="38100" rIns="38100" bIns="38100" rtlCol="0" anchor="ctr"/>
          <a:lstStyle/>
          <a:p>
            <a:pPr algn="ctr" indent="0" marL="0">
              <a:buNone/>
            </a:pPr>
            <a:r>
              <a:rPr lang="en-US" sz="1400" b="1" dirty="0">
                <a:solidFill>
                  <a:srgbClr val="212121"/>
                </a:solidFill>
                <a:latin typeface="Calibri" pitchFamily="34" charset="0"/>
                <a:ea typeface="Calibri" pitchFamily="34" charset="-122"/>
                <a:cs typeface="Calibri" pitchFamily="34" charset="-120"/>
              </a:rPr>
              <a:t>3 Locate</a:t>
            </a:r>
            <a:endParaRPr lang="en-US" sz="1400" dirty="0"/>
          </a:p>
          <a:p>
            <a:pPr algn="ctr" indent="0" marL="0">
              <a:buNone/>
            </a:pPr>
            <a:r>
              <a:rPr lang="en-US" sz="1100" dirty="0">
                <a:solidFill>
                  <a:srgbClr val="212121"/>
                </a:solidFill>
                <a:latin typeface="Calibri" pitchFamily="34" charset="0"/>
                <a:ea typeface="Calibri" pitchFamily="34" charset="-122"/>
                <a:cs typeface="Calibri" pitchFamily="34" charset="-120"/>
              </a:rPr>
              <a:t>page on disk, free frame</a:t>
            </a:r>
            <a:endParaRPr lang="en-US" sz="1400" dirty="0"/>
          </a:p>
        </p:txBody>
      </p:sp>
      <p:sp>
        <p:nvSpPr>
          <p:cNvPr id="16" name="Shape 14"/>
          <p:cNvSpPr/>
          <p:nvPr/>
        </p:nvSpPr>
        <p:spPr>
          <a:xfrm>
            <a:off x="6016752" y="1938528"/>
            <a:ext cx="173736" cy="91"/>
          </a:xfrm>
          <a:prstGeom prst="line">
            <a:avLst/>
          </a:prstGeom>
          <a:noFill/>
          <a:ln w="19050">
            <a:solidFill>
              <a:srgbClr val="028090"/>
            </a:solidFill>
            <a:prstDash val="solid"/>
            <a:tailEnd type="triangle"/>
          </a:ln>
        </p:spPr>
        <p:txBody>
          <a:bodyPr/>
          <a:p/>
        </p:txBody>
      </p:sp>
      <p:sp>
        <p:nvSpPr>
          <p:cNvPr id="17" name="Shape 15"/>
          <p:cNvSpPr/>
          <p:nvPr/>
        </p:nvSpPr>
        <p:spPr>
          <a:xfrm>
            <a:off x="6199632" y="1554480"/>
            <a:ext cx="1691640" cy="777240"/>
          </a:xfrm>
          <a:prstGeom prst="roundRect">
            <a:avLst>
              <a:gd name="adj" fmla="val 5882"/>
            </a:avLst>
          </a:prstGeom>
          <a:solidFill>
            <a:srgbClr val="D7E9E6"/>
          </a:solidFill>
          <a:ln/>
        </p:spPr>
        <p:txBody>
          <a:bodyPr/>
          <a:p/>
        </p:txBody>
      </p:sp>
      <p:sp>
        <p:nvSpPr>
          <p:cNvPr id="18" name="Text 16"/>
          <p:cNvSpPr txBox="1"/>
          <p:nvPr/>
        </p:nvSpPr>
        <p:spPr>
          <a:xfrm>
            <a:off x="6199632" y="1554480"/>
            <a:ext cx="1691640" cy="777240"/>
          </a:xfrm>
          <a:prstGeom prst="rect">
            <a:avLst/>
          </a:prstGeom>
          <a:noFill/>
          <a:ln/>
        </p:spPr>
        <p:txBody>
          <a:bodyPr wrap="square" lIns="38100" tIns="38100" rIns="38100" bIns="38100" rtlCol="0" anchor="ctr"/>
          <a:lstStyle/>
          <a:p>
            <a:pPr algn="ctr" indent="0" marL="0">
              <a:buNone/>
            </a:pPr>
            <a:r>
              <a:rPr lang="en-US" sz="1400" b="1" dirty="0">
                <a:solidFill>
                  <a:srgbClr val="212121"/>
                </a:solidFill>
                <a:latin typeface="Calibri" pitchFamily="34" charset="0"/>
                <a:ea typeface="Calibri" pitchFamily="34" charset="-122"/>
                <a:cs typeface="Calibri" pitchFamily="34" charset="-120"/>
              </a:rPr>
              <a:t>4 Read</a:t>
            </a:r>
            <a:endParaRPr lang="en-US" sz="1400" dirty="0"/>
          </a:p>
          <a:p>
            <a:pPr algn="ctr" indent="0" marL="0">
              <a:buNone/>
            </a:pPr>
            <a:r>
              <a:rPr lang="en-US" sz="1100" dirty="0">
                <a:solidFill>
                  <a:srgbClr val="212121"/>
                </a:solidFill>
                <a:latin typeface="Calibri" pitchFamily="34" charset="0"/>
                <a:ea typeface="Calibri" pitchFamily="34" charset="-122"/>
                <a:cs typeface="Calibri" pitchFamily="34" charset="-120"/>
              </a:rPr>
              <a:t>disk → frame</a:t>
            </a:r>
            <a:endParaRPr lang="en-US" sz="1400" dirty="0"/>
          </a:p>
        </p:txBody>
      </p:sp>
      <p:sp>
        <p:nvSpPr>
          <p:cNvPr id="19" name="Shape 17"/>
          <p:cNvSpPr/>
          <p:nvPr/>
        </p:nvSpPr>
        <p:spPr>
          <a:xfrm>
            <a:off x="7900416" y="1938528"/>
            <a:ext cx="173736" cy="91"/>
          </a:xfrm>
          <a:prstGeom prst="line">
            <a:avLst/>
          </a:prstGeom>
          <a:noFill/>
          <a:ln w="19050">
            <a:solidFill>
              <a:srgbClr val="028090"/>
            </a:solidFill>
            <a:prstDash val="solid"/>
            <a:tailEnd type="triangle"/>
          </a:ln>
        </p:spPr>
        <p:txBody>
          <a:bodyPr/>
          <a:p/>
        </p:txBody>
      </p:sp>
      <p:sp>
        <p:nvSpPr>
          <p:cNvPr id="20" name="Shape 18"/>
          <p:cNvSpPr/>
          <p:nvPr/>
        </p:nvSpPr>
        <p:spPr>
          <a:xfrm>
            <a:off x="8083296" y="1554480"/>
            <a:ext cx="1691640" cy="777240"/>
          </a:xfrm>
          <a:prstGeom prst="roundRect">
            <a:avLst>
              <a:gd name="adj" fmla="val 5882"/>
            </a:avLst>
          </a:prstGeom>
          <a:solidFill>
            <a:srgbClr val="F2F2F2"/>
          </a:solidFill>
          <a:ln/>
        </p:spPr>
        <p:txBody>
          <a:bodyPr/>
          <a:p/>
        </p:txBody>
      </p:sp>
      <p:sp>
        <p:nvSpPr>
          <p:cNvPr id="21" name="Text 19"/>
          <p:cNvSpPr txBox="1"/>
          <p:nvPr/>
        </p:nvSpPr>
        <p:spPr>
          <a:xfrm>
            <a:off x="8083296" y="1554480"/>
            <a:ext cx="1691640" cy="777240"/>
          </a:xfrm>
          <a:prstGeom prst="rect">
            <a:avLst/>
          </a:prstGeom>
          <a:noFill/>
          <a:ln/>
        </p:spPr>
        <p:txBody>
          <a:bodyPr wrap="square" lIns="38100" tIns="38100" rIns="38100" bIns="38100" rtlCol="0" anchor="ctr"/>
          <a:lstStyle/>
          <a:p>
            <a:pPr algn="ctr" indent="0" marL="0">
              <a:buNone/>
            </a:pPr>
            <a:r>
              <a:rPr lang="en-US" sz="1400" b="1" dirty="0">
                <a:solidFill>
                  <a:srgbClr val="212121"/>
                </a:solidFill>
                <a:latin typeface="Calibri" pitchFamily="34" charset="0"/>
                <a:ea typeface="Calibri" pitchFamily="34" charset="-122"/>
                <a:cs typeface="Calibri" pitchFamily="34" charset="-120"/>
              </a:rPr>
              <a:t>5 Update</a:t>
            </a:r>
            <a:endParaRPr lang="en-US" sz="1400" dirty="0"/>
          </a:p>
          <a:p>
            <a:pPr algn="ctr" indent="0" marL="0">
              <a:buNone/>
            </a:pPr>
            <a:r>
              <a:rPr lang="en-US" sz="1100" dirty="0">
                <a:solidFill>
                  <a:srgbClr val="212121"/>
                </a:solidFill>
                <a:latin typeface="Calibri" pitchFamily="34" charset="0"/>
                <a:ea typeface="Calibri" pitchFamily="34" charset="-122"/>
                <a:cs typeface="Calibri" pitchFamily="34" charset="-120"/>
              </a:rPr>
              <a:t>frame no., bit = v</a:t>
            </a:r>
            <a:endParaRPr lang="en-US" sz="1400" dirty="0"/>
          </a:p>
        </p:txBody>
      </p:sp>
      <p:sp>
        <p:nvSpPr>
          <p:cNvPr id="22" name="Shape 20"/>
          <p:cNvSpPr/>
          <p:nvPr/>
        </p:nvSpPr>
        <p:spPr>
          <a:xfrm>
            <a:off x="9784080" y="1938528"/>
            <a:ext cx="173736" cy="91"/>
          </a:xfrm>
          <a:prstGeom prst="line">
            <a:avLst/>
          </a:prstGeom>
          <a:noFill/>
          <a:ln w="19050">
            <a:solidFill>
              <a:srgbClr val="028090"/>
            </a:solidFill>
            <a:prstDash val="solid"/>
            <a:tailEnd type="triangle"/>
          </a:ln>
        </p:spPr>
        <p:txBody>
          <a:bodyPr/>
          <a:p/>
        </p:txBody>
      </p:sp>
      <p:sp>
        <p:nvSpPr>
          <p:cNvPr id="23" name="Shape 21"/>
          <p:cNvSpPr/>
          <p:nvPr/>
        </p:nvSpPr>
        <p:spPr>
          <a:xfrm>
            <a:off x="9966960" y="1554480"/>
            <a:ext cx="1691640" cy="777240"/>
          </a:xfrm>
          <a:prstGeom prst="roundRect">
            <a:avLst>
              <a:gd name="adj" fmla="val 5882"/>
            </a:avLst>
          </a:prstGeom>
          <a:solidFill>
            <a:srgbClr val="F2F2F2"/>
          </a:solidFill>
          <a:ln/>
        </p:spPr>
        <p:txBody>
          <a:bodyPr/>
          <a:p/>
        </p:txBody>
      </p:sp>
      <p:sp>
        <p:nvSpPr>
          <p:cNvPr id="24" name="Text 22"/>
          <p:cNvSpPr txBox="1"/>
          <p:nvPr/>
        </p:nvSpPr>
        <p:spPr>
          <a:xfrm>
            <a:off x="9966960" y="1554480"/>
            <a:ext cx="1691640" cy="777240"/>
          </a:xfrm>
          <a:prstGeom prst="rect">
            <a:avLst/>
          </a:prstGeom>
          <a:noFill/>
          <a:ln/>
        </p:spPr>
        <p:txBody>
          <a:bodyPr wrap="square" lIns="38100" tIns="38100" rIns="38100" bIns="38100" rtlCol="0" anchor="ctr"/>
          <a:lstStyle/>
          <a:p>
            <a:pPr algn="ctr" indent="0" marL="0">
              <a:buNone/>
            </a:pPr>
            <a:r>
              <a:rPr lang="en-US" sz="1400" b="1" dirty="0">
                <a:solidFill>
                  <a:srgbClr val="212121"/>
                </a:solidFill>
                <a:latin typeface="Calibri" pitchFamily="34" charset="0"/>
                <a:ea typeface="Calibri" pitchFamily="34" charset="-122"/>
                <a:cs typeface="Calibri" pitchFamily="34" charset="-120"/>
              </a:rPr>
              <a:t>6 Restart</a:t>
            </a:r>
            <a:endParaRPr lang="en-US" sz="1400" dirty="0"/>
          </a:p>
          <a:p>
            <a:pPr algn="ctr" indent="0" marL="0">
              <a:buNone/>
            </a:pPr>
            <a:r>
              <a:rPr lang="en-US" sz="1100" dirty="0">
                <a:solidFill>
                  <a:srgbClr val="212121"/>
                </a:solidFill>
                <a:latin typeface="Calibri" pitchFamily="34" charset="0"/>
                <a:ea typeface="Calibri" pitchFamily="34" charset="-122"/>
                <a:cs typeface="Calibri" pitchFamily="34" charset="-120"/>
              </a:rPr>
              <a:t>same instruction</a:t>
            </a:r>
            <a:endParaRPr lang="en-US" sz="1400" dirty="0"/>
          </a:p>
        </p:txBody>
      </p:sp>
      <p:sp>
        <p:nvSpPr>
          <p:cNvPr id="25" name="Shape 23"/>
          <p:cNvSpPr/>
          <p:nvPr/>
        </p:nvSpPr>
        <p:spPr>
          <a:xfrm>
            <a:off x="548640" y="2560320"/>
            <a:ext cx="5120640" cy="1463040"/>
          </a:xfrm>
          <a:prstGeom prst="roundRect">
            <a:avLst>
              <a:gd name="adj" fmla="val 3125"/>
            </a:avLst>
          </a:prstGeom>
          <a:solidFill>
            <a:srgbClr val="212121"/>
          </a:solidFill>
          <a:ln/>
        </p:spPr>
        <p:txBody>
          <a:bodyPr/>
          <a:p/>
        </p:txBody>
      </p:sp>
      <p:sp>
        <p:nvSpPr>
          <p:cNvPr id="26" name="Text 24"/>
          <p:cNvSpPr txBox="1"/>
          <p:nvPr/>
        </p:nvSpPr>
        <p:spPr>
          <a:xfrm>
            <a:off x="731520" y="2670048"/>
            <a:ext cx="4754880" cy="1243584"/>
          </a:xfrm>
          <a:prstGeom prst="rect">
            <a:avLst/>
          </a:prstGeom>
          <a:noFill/>
          <a:ln/>
        </p:spPr>
        <p:txBody>
          <a:bodyPr wrap="square" lIns="0" tIns="0" rIns="0" bIns="0" rtlCol="0" anchor="t"/>
          <a:lstStyle/>
          <a:p>
            <a:pPr indent="0" marL="0">
              <a:lnSpc>
                <a:spcPct val="105000"/>
              </a:lnSpc>
              <a:buNone/>
            </a:pPr>
            <a:r>
              <a:rPr lang="en-US" sz="1350" dirty="0">
                <a:solidFill>
                  <a:srgbClr val="F2F2F2"/>
                </a:solidFill>
                <a:latin typeface="Consolas" pitchFamily="34" charset="0"/>
                <a:ea typeface="Consolas" pitchFamily="34" charset="-122"/>
                <a:cs typeface="Consolas" pitchFamily="34" charset="-120"/>
              </a:rPr>
              <a:t>EAT = (1 − p) t_m + p t_fault</a:t>
            </a:r>
            <a:endParaRPr lang="en-US" sz="1350" dirty="0"/>
          </a:p>
          <a:p>
            <a:pPr indent="0" marL="0">
              <a:lnSpc>
                <a:spcPct val="105000"/>
              </a:lnSpc>
              <a:buNone/>
            </a:pPr>
            <a:r>
              <a:rPr lang="en-US" sz="1350" dirty="0">
                <a:solidFill>
                  <a:srgbClr val="F2F2F2"/>
                </a:solidFill>
                <a:latin typeface="Consolas" pitchFamily="34" charset="0"/>
                <a:ea typeface="Consolas" pitchFamily="34" charset="-122"/>
                <a:cs typeface="Consolas" pitchFamily="34" charset="-120"/>
              </a:rPr>
              <a:t>p = page-fault rate; t_fault ≈ ms</a:t>
            </a:r>
            <a:endParaRPr lang="en-US" sz="1350" dirty="0"/>
          </a:p>
          <a:p>
            <a:pPr indent="0" marL="0">
              <a:lnSpc>
                <a:spcPct val="105000"/>
              </a:lnSpc>
              <a:buNone/>
            </a:pPr>
            <a:r>
              <a:rPr lang="en-US" sz="1350" dirty="0">
                <a:solidFill>
                  <a:srgbClr val="F2F2F2"/>
                </a:solidFill>
                <a:latin typeface="Consolas" pitchFamily="34" charset="0"/>
                <a:ea typeface="Consolas" pitchFamily="34" charset="-122"/>
                <a:cs typeface="Consolas" pitchFamily="34" charset="-120"/>
              </a:rPr>
              <a:t>→ p must be tiny (≈ 10⁻⁶)</a:t>
            </a:r>
            <a:endParaRPr lang="en-US" sz="1350" dirty="0"/>
          </a:p>
        </p:txBody>
      </p:sp>
      <p:sp>
        <p:nvSpPr>
          <p:cNvPr id="27" name="Shape 25"/>
          <p:cNvSpPr/>
          <p:nvPr/>
        </p:nvSpPr>
        <p:spPr>
          <a:xfrm>
            <a:off x="548640" y="4206240"/>
            <a:ext cx="5120640" cy="2057400"/>
          </a:xfrm>
          <a:prstGeom prst="roundRect">
            <a:avLst>
              <a:gd name="adj" fmla="val 2667"/>
            </a:avLst>
          </a:prstGeom>
          <a:solidFill>
            <a:srgbClr val="F2F2F2"/>
          </a:solidFill>
          <a:ln/>
          <a:effectLst>
            <a:outerShdw sx="100000" sy="100000" kx="0" ky="0" algn="bl" rotWithShape="0" blurRad="101600" dist="25400" dir="5400000">
              <a:srgbClr val="000000">
                <a:alpha val="12000"/>
              </a:srgbClr>
            </a:outerShdw>
          </a:effectLst>
        </p:spPr>
        <p:txBody>
          <a:bodyPr/>
          <a:p/>
        </p:txBody>
      </p:sp>
      <p:sp>
        <p:nvSpPr>
          <p:cNvPr id="28" name="Text 26"/>
          <p:cNvSpPr txBox="1"/>
          <p:nvPr/>
        </p:nvSpPr>
        <p:spPr>
          <a:xfrm>
            <a:off x="777240" y="4389120"/>
            <a:ext cx="4663440" cy="384048"/>
          </a:xfrm>
          <a:prstGeom prst="rect">
            <a:avLst/>
          </a:prstGeom>
          <a:noFill/>
          <a:ln/>
        </p:spPr>
        <p:txBody>
          <a:bodyPr wrap="square" lIns="0" tIns="0" rIns="0" bIns="0" rtlCol="0" anchor="ctr"/>
          <a:lstStyle/>
          <a:p>
            <a:pPr indent="0" marL="0">
              <a:buNone/>
            </a:pPr>
            <a:r>
              <a:rPr lang="en-US" sz="1500" b="1" dirty="0">
                <a:solidFill>
                  <a:srgbClr val="028090"/>
                </a:solidFill>
                <a:latin typeface="Cambria" pitchFamily="34" charset="0"/>
                <a:ea typeface="Cambria" pitchFamily="34" charset="-122"/>
                <a:cs typeface="Cambria" pitchFamily="34" charset="-120"/>
              </a:rPr>
              <a:t>Also know</a:t>
            </a:r>
            <a:endParaRPr lang="en-US" sz="1500" dirty="0"/>
          </a:p>
        </p:txBody>
      </p:sp>
      <p:sp>
        <p:nvSpPr>
          <p:cNvPr id="29" name="Text 27"/>
          <p:cNvSpPr txBox="1"/>
          <p:nvPr/>
        </p:nvSpPr>
        <p:spPr>
          <a:xfrm>
            <a:off x="777240" y="4846320"/>
            <a:ext cx="4663440" cy="1280160"/>
          </a:xfrm>
          <a:prstGeom prst="rect">
            <a:avLst/>
          </a:prstGeom>
          <a:noFill/>
          <a:ln/>
        </p:spPr>
        <p:txBody>
          <a:bodyPr wrap="square" lIns="0" tIns="0" rIns="0" bIns="0" rtlCol="0" anchor="t"/>
          <a:lstStyle/>
          <a:p>
            <a:pPr marL="228600" indent="-228600">
              <a:spcAft>
                <a:spcPts val="400"/>
              </a:spcAft>
              <a:buSzPct val="100000"/>
              <a:buChar char="•"/>
            </a:pPr>
            <a:r>
              <a:rPr lang="en-US" sz="1350" dirty="0">
                <a:solidFill>
                  <a:srgbClr val="3A464C"/>
                </a:solidFill>
                <a:latin typeface="Calibri" pitchFamily="34" charset="0"/>
                <a:ea typeface="Calibri" pitchFamily="34" charset="-122"/>
                <a:cs typeface="Calibri" pitchFamily="34" charset="-120"/>
              </a:rPr>
              <a:t>Valid–invalid bit; pure demand paging; the pager.</a:t>
            </a:r>
            <a:endParaRPr lang="en-US" sz="1350" dirty="0"/>
          </a:p>
          <a:p>
            <a:pPr marL="228600" indent="-228600">
              <a:spcAft>
                <a:spcPts val="400"/>
              </a:spcAft>
              <a:buSzPct val="100000"/>
              <a:buChar char="•"/>
            </a:pPr>
            <a:r>
              <a:rPr lang="en-US" sz="1350" dirty="0">
                <a:solidFill>
                  <a:srgbClr val="3A464C"/>
                </a:solidFill>
                <a:latin typeface="Calibri" pitchFamily="34" charset="0"/>
                <a:ea typeface="Calibri" pitchFamily="34" charset="-122"/>
                <a:cs typeface="Calibri" pitchFamily="34" charset="-120"/>
              </a:rPr>
              <a:t>Copy-on-write: fork() shares pages until a write.</a:t>
            </a:r>
            <a:endParaRPr lang="en-US" sz="1350" dirty="0"/>
          </a:p>
          <a:p>
            <a:pPr marL="228600" indent="-228600">
              <a:spcAft>
                <a:spcPts val="400"/>
              </a:spcAft>
              <a:buSzPct val="100000"/>
              <a:buChar char="•"/>
            </a:pPr>
            <a:r>
              <a:rPr lang="en-US" sz="1350" dirty="0">
                <a:solidFill>
                  <a:srgbClr val="3A464C"/>
                </a:solidFill>
                <a:latin typeface="Calibri" pitchFamily="34" charset="0"/>
                <a:ea typeface="Calibri" pitchFamily="34" charset="-122"/>
                <a:cs typeface="Calibri" pitchFamily="34" charset="-120"/>
              </a:rPr>
              <a:t>Dirty bit: a clean victim is not written back.</a:t>
            </a:r>
            <a:endParaRPr lang="en-US" sz="135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5897880" y="2560320"/>
          <a:ext cx="5760720" cy="914400"/>
        </p:xfrm>
        <a:graphic>
          <a:graphicData uri="http://schemas.openxmlformats.org/drawingml/2006/table">
            <a:tbl>
              <a:tblPr/>
              <a:tblGrid>
                <a:gridCol w="1051560"/>
                <a:gridCol w="2148840"/>
                <a:gridCol w="2560320"/>
              </a:tblGrid>
              <a:tr h="0">
                <a:tc>
                  <a:txBody>
                    <a:bodyPr/>
                    <a:lstStyle/>
                    <a:p>
                      <a:pPr indent="0" marL="0">
                        <a:buNone/>
                      </a:pPr>
                      <a:r>
                        <a:rPr lang="en-US" sz="1250" b="1" dirty="0">
                          <a:solidFill>
                            <a:srgbClr val="FFFFFF"/>
                          </a:solidFill>
                          <a:latin typeface="Cambria" pitchFamily="34" charset="0"/>
                          <a:ea typeface="Cambria" pitchFamily="34" charset="-122"/>
                          <a:cs typeface="Cambria" pitchFamily="34" charset="-120"/>
                        </a:rPr>
                        <a:t>Algorithm</a:t>
                      </a:r>
                      <a:endParaRPr lang="en-US" sz="1250" dirty="0">
                        <a:latin typeface="Cambria" charset="0"/>
                        <a:ea typeface="Cambria" charset="0"/>
                        <a:cs typeface="Cambria" charset="0"/>
                      </a:endParaRPr>
                    </a:p>
                  </a:txBody>
                  <a:tcPr marL="76200" marR="762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36454F"/>
                    </a:solidFill>
                  </a:tcPr>
                </a:tc>
                <a:tc>
                  <a:txBody>
                    <a:bodyPr/>
                    <a:lstStyle/>
                    <a:p>
                      <a:pPr indent="0" marL="0">
                        <a:buNone/>
                      </a:pPr>
                      <a:r>
                        <a:rPr lang="en-US" sz="1250" b="1" dirty="0">
                          <a:solidFill>
                            <a:srgbClr val="FFFFFF"/>
                          </a:solidFill>
                          <a:latin typeface="Cambria" pitchFamily="34" charset="0"/>
                          <a:ea typeface="Cambria" pitchFamily="34" charset="-122"/>
                          <a:cs typeface="Cambria" pitchFamily="34" charset="-120"/>
                        </a:rPr>
                        <a:t>Victim</a:t>
                      </a:r>
                      <a:endParaRPr lang="en-US" sz="1250" dirty="0">
                        <a:latin typeface="Cambria" charset="0"/>
                        <a:ea typeface="Cambria" charset="0"/>
                        <a:cs typeface="Cambria" charset="0"/>
                      </a:endParaRPr>
                    </a:p>
                  </a:txBody>
                  <a:tcPr marL="76200" marR="762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36454F"/>
                    </a:solidFill>
                  </a:tcPr>
                </a:tc>
                <a:tc>
                  <a:txBody>
                    <a:bodyPr/>
                    <a:lstStyle/>
                    <a:p>
                      <a:pPr indent="0" marL="0">
                        <a:buNone/>
                      </a:pPr>
                      <a:r>
                        <a:rPr lang="en-US" sz="1250" b="1" dirty="0">
                          <a:solidFill>
                            <a:srgbClr val="FFFFFF"/>
                          </a:solidFill>
                          <a:latin typeface="Cambria" pitchFamily="34" charset="0"/>
                          <a:ea typeface="Cambria" pitchFamily="34" charset="-122"/>
                          <a:cs typeface="Cambria" pitchFamily="34" charset="-120"/>
                        </a:rPr>
                        <a:t>Notes</a:t>
                      </a:r>
                      <a:endParaRPr lang="en-US" sz="1250" dirty="0">
                        <a:latin typeface="Cambria" charset="0"/>
                        <a:ea typeface="Cambria" charset="0"/>
                        <a:cs typeface="Cambria" charset="0"/>
                      </a:endParaRPr>
                    </a:p>
                  </a:txBody>
                  <a:tcPr marL="76200" marR="762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36454F"/>
                    </a:solidFill>
                  </a:tcPr>
                </a:tc>
              </a:tr>
              <a:tr h="0">
                <a:tc>
                  <a:txBody>
                    <a:bodyPr/>
                    <a:lstStyle/>
                    <a:p>
                      <a:pPr indent="0" marL="0">
                        <a:buNone/>
                      </a:pPr>
                      <a:r>
                        <a:rPr lang="en-US" sz="1250" b="1" dirty="0">
                          <a:solidFill>
                            <a:srgbClr val="3A464C"/>
                          </a:solidFill>
                          <a:latin typeface="Calibri" pitchFamily="34" charset="0"/>
                          <a:ea typeface="Calibri" pitchFamily="34" charset="-122"/>
                          <a:cs typeface="Calibri" pitchFamily="34" charset="-120"/>
                        </a:rPr>
                        <a:t>FIFO</a:t>
                      </a:r>
                      <a:endParaRPr lang="en-US" sz="1250" dirty="0">
                        <a:latin typeface="Calibri" charset="0"/>
                        <a:ea typeface="Calibri" charset="0"/>
                        <a:cs typeface="Calibri" charset="0"/>
                      </a:endParaRPr>
                    </a:p>
                  </a:txBody>
                  <a:tcPr marL="76200" marR="762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en-US" sz="1250" dirty="0">
                          <a:solidFill>
                            <a:srgbClr val="3A464C"/>
                          </a:solidFill>
                          <a:latin typeface="Calibri" pitchFamily="34" charset="0"/>
                          <a:ea typeface="Calibri" pitchFamily="34" charset="-122"/>
                          <a:cs typeface="Calibri" pitchFamily="34" charset="-120"/>
                        </a:rPr>
                        <a:t>loaded longest ago</a:t>
                      </a:r>
                      <a:endParaRPr lang="en-US" sz="1250" dirty="0">
                        <a:latin typeface="Calibri" charset="0"/>
                        <a:ea typeface="Calibri" charset="0"/>
                        <a:cs typeface="Calibri" charset="0"/>
                      </a:endParaRPr>
                    </a:p>
                  </a:txBody>
                  <a:tcPr marL="76200" marR="762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en-US" sz="1250" dirty="0">
                          <a:solidFill>
                            <a:srgbClr val="3A464C"/>
                          </a:solidFill>
                          <a:latin typeface="Calibri" pitchFamily="34" charset="0"/>
                          <a:ea typeface="Calibri" pitchFamily="34" charset="-122"/>
                          <a:cs typeface="Calibri" pitchFamily="34" charset="-120"/>
                        </a:rPr>
                        <a:t>cheap; Belady's anomaly possible</a:t>
                      </a:r>
                      <a:endParaRPr lang="en-US" sz="1250" dirty="0">
                        <a:latin typeface="Calibri" charset="0"/>
                        <a:ea typeface="Calibri" charset="0"/>
                        <a:cs typeface="Calibri" charset="0"/>
                      </a:endParaRPr>
                    </a:p>
                  </a:txBody>
                  <a:tcPr marL="76200" marR="762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r>
              <a:tr h="0">
                <a:tc>
                  <a:txBody>
                    <a:bodyPr/>
                    <a:lstStyle/>
                    <a:p>
                      <a:pPr indent="0" marL="0">
                        <a:buNone/>
                      </a:pPr>
                      <a:r>
                        <a:rPr lang="en-US" sz="1250" b="1" dirty="0">
                          <a:solidFill>
                            <a:srgbClr val="3A464C"/>
                          </a:solidFill>
                          <a:latin typeface="Calibri" pitchFamily="34" charset="0"/>
                          <a:ea typeface="Calibri" pitchFamily="34" charset="-122"/>
                          <a:cs typeface="Calibri" pitchFamily="34" charset="-120"/>
                        </a:rPr>
                        <a:t>OPT</a:t>
                      </a:r>
                      <a:endParaRPr lang="en-US" sz="1250" dirty="0">
                        <a:latin typeface="Calibri" charset="0"/>
                        <a:ea typeface="Calibri" charset="0"/>
                        <a:cs typeface="Calibri" charset="0"/>
                      </a:endParaRPr>
                    </a:p>
                  </a:txBody>
                  <a:tcPr marL="76200" marR="762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en-US" sz="1250" dirty="0">
                          <a:solidFill>
                            <a:srgbClr val="3A464C"/>
                          </a:solidFill>
                          <a:latin typeface="Calibri" pitchFamily="34" charset="0"/>
                          <a:ea typeface="Calibri" pitchFamily="34" charset="-122"/>
                          <a:cs typeface="Calibri" pitchFamily="34" charset="-120"/>
                        </a:rPr>
                        <a:t>used farthest in the future</a:t>
                      </a:r>
                      <a:endParaRPr lang="en-US" sz="1250" dirty="0">
                        <a:latin typeface="Calibri" charset="0"/>
                        <a:ea typeface="Calibri" charset="0"/>
                        <a:cs typeface="Calibri" charset="0"/>
                      </a:endParaRPr>
                    </a:p>
                  </a:txBody>
                  <a:tcPr marL="76200" marR="762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en-US" sz="1250" dirty="0">
                          <a:solidFill>
                            <a:srgbClr val="3A464C"/>
                          </a:solidFill>
                          <a:latin typeface="Calibri" pitchFamily="34" charset="0"/>
                          <a:ea typeface="Calibri" pitchFamily="34" charset="-122"/>
                          <a:cs typeface="Calibri" pitchFamily="34" charset="-120"/>
                        </a:rPr>
                        <a:t>minimum faults; needs the future</a:t>
                      </a:r>
                      <a:endParaRPr lang="en-US" sz="1250" dirty="0">
                        <a:latin typeface="Calibri" charset="0"/>
                        <a:ea typeface="Calibri" charset="0"/>
                        <a:cs typeface="Calibri" charset="0"/>
                      </a:endParaRPr>
                    </a:p>
                  </a:txBody>
                  <a:tcPr marL="76200" marR="762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r>
              <a:tr h="0">
                <a:tc>
                  <a:txBody>
                    <a:bodyPr/>
                    <a:lstStyle/>
                    <a:p>
                      <a:pPr indent="0" marL="0">
                        <a:buNone/>
                      </a:pPr>
                      <a:r>
                        <a:rPr lang="en-US" sz="1250" b="1" dirty="0">
                          <a:solidFill>
                            <a:srgbClr val="3A464C"/>
                          </a:solidFill>
                          <a:latin typeface="Calibri" pitchFamily="34" charset="0"/>
                          <a:ea typeface="Calibri" pitchFamily="34" charset="-122"/>
                          <a:cs typeface="Calibri" pitchFamily="34" charset="-120"/>
                        </a:rPr>
                        <a:t>LRU</a:t>
                      </a:r>
                      <a:endParaRPr lang="en-US" sz="1250" dirty="0">
                        <a:latin typeface="Calibri" charset="0"/>
                        <a:ea typeface="Calibri" charset="0"/>
                        <a:cs typeface="Calibri" charset="0"/>
                      </a:endParaRPr>
                    </a:p>
                  </a:txBody>
                  <a:tcPr marL="76200" marR="762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en-US" sz="1250" dirty="0">
                          <a:solidFill>
                            <a:srgbClr val="3A464C"/>
                          </a:solidFill>
                          <a:latin typeface="Calibri" pitchFamily="34" charset="0"/>
                          <a:ea typeface="Calibri" pitchFamily="34" charset="-122"/>
                          <a:cs typeface="Calibri" pitchFamily="34" charset="-120"/>
                        </a:rPr>
                        <a:t>used longest ago</a:t>
                      </a:r>
                      <a:endParaRPr lang="en-US" sz="1250" dirty="0">
                        <a:latin typeface="Calibri" charset="0"/>
                        <a:ea typeface="Calibri" charset="0"/>
                        <a:cs typeface="Calibri" charset="0"/>
                      </a:endParaRPr>
                    </a:p>
                  </a:txBody>
                  <a:tcPr marL="76200" marR="762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en-US" sz="1250" dirty="0">
                          <a:solidFill>
                            <a:srgbClr val="3A464C"/>
                          </a:solidFill>
                          <a:latin typeface="Calibri" pitchFamily="34" charset="0"/>
                          <a:ea typeface="Calibri" pitchFamily="34" charset="-122"/>
                          <a:cs typeface="Calibri" pitchFamily="34" charset="-120"/>
                        </a:rPr>
                        <a:t>good; approximated by the clock</a:t>
                      </a:r>
                      <a:endParaRPr lang="en-US" sz="1250" dirty="0">
                        <a:latin typeface="Calibri" charset="0"/>
                        <a:ea typeface="Calibri" charset="0"/>
                        <a:cs typeface="Calibri" charset="0"/>
                      </a:endParaRPr>
                    </a:p>
                  </a:txBody>
                  <a:tcPr marL="76200" marR="762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r>
            </a:tbl>
          </a:graphicData>
        </a:graphic>
      </p:graphicFrame>
      <p:sp>
        <p:nvSpPr>
          <p:cNvPr id="31" name="Shape 28"/>
          <p:cNvSpPr/>
          <p:nvPr/>
        </p:nvSpPr>
        <p:spPr>
          <a:xfrm>
            <a:off x="5897880" y="4206240"/>
            <a:ext cx="5760720" cy="2057400"/>
          </a:xfrm>
          <a:prstGeom prst="roundRect">
            <a:avLst>
              <a:gd name="adj" fmla="val 2667"/>
            </a:avLst>
          </a:prstGeom>
          <a:solidFill>
            <a:srgbClr val="F2F2F2"/>
          </a:solidFill>
          <a:ln/>
          <a:effectLst>
            <a:outerShdw sx="100000" sy="100000" kx="0" ky="0" algn="bl" rotWithShape="0" blurRad="101600" dist="25400" dir="5400000">
              <a:srgbClr val="000000">
                <a:alpha val="12000"/>
              </a:srgbClr>
            </a:outerShdw>
          </a:effectLst>
        </p:spPr>
        <p:txBody>
          <a:bodyPr/>
          <a:p/>
        </p:txBody>
      </p:sp>
      <p:sp>
        <p:nvSpPr>
          <p:cNvPr id="32" name="Text 29"/>
          <p:cNvSpPr txBox="1"/>
          <p:nvPr/>
        </p:nvSpPr>
        <p:spPr>
          <a:xfrm>
            <a:off x="6126480" y="4389120"/>
            <a:ext cx="5303520" cy="384048"/>
          </a:xfrm>
          <a:prstGeom prst="rect">
            <a:avLst/>
          </a:prstGeom>
          <a:noFill/>
          <a:ln/>
        </p:spPr>
        <p:txBody>
          <a:bodyPr wrap="square" lIns="0" tIns="0" rIns="0" bIns="0" rtlCol="0" anchor="ctr"/>
          <a:lstStyle/>
          <a:p>
            <a:pPr indent="0" marL="0">
              <a:buNone/>
            </a:pPr>
            <a:r>
              <a:rPr lang="en-US" sz="1500" b="1" dirty="0">
                <a:solidFill>
                  <a:srgbClr val="028090"/>
                </a:solidFill>
                <a:latin typeface="Cambria" pitchFamily="34" charset="0"/>
                <a:ea typeface="Cambria" pitchFamily="34" charset="-122"/>
                <a:cs typeface="Cambria" pitchFamily="34" charset="-120"/>
              </a:rPr>
              <a:t>Thrashing and working set</a:t>
            </a:r>
            <a:endParaRPr lang="en-US" sz="1500" dirty="0"/>
          </a:p>
        </p:txBody>
      </p:sp>
      <p:sp>
        <p:nvSpPr>
          <p:cNvPr id="33" name="Text 30"/>
          <p:cNvSpPr txBox="1"/>
          <p:nvPr/>
        </p:nvSpPr>
        <p:spPr>
          <a:xfrm>
            <a:off x="6126480" y="4846320"/>
            <a:ext cx="5303520" cy="1280160"/>
          </a:xfrm>
          <a:prstGeom prst="rect">
            <a:avLst/>
          </a:prstGeom>
          <a:noFill/>
          <a:ln/>
        </p:spPr>
        <p:txBody>
          <a:bodyPr wrap="square" lIns="0" tIns="0" rIns="0" bIns="0" rtlCol="0" anchor="t"/>
          <a:lstStyle/>
          <a:p>
            <a:pPr marL="228600" indent="-228600">
              <a:spcAft>
                <a:spcPts val="400"/>
              </a:spcAft>
              <a:buSzPct val="100000"/>
              <a:buChar char="•"/>
            </a:pPr>
            <a:r>
              <a:rPr lang="en-US" sz="1350" dirty="0">
                <a:solidFill>
                  <a:srgbClr val="3A464C"/>
                </a:solidFill>
                <a:latin typeface="Calibri" pitchFamily="34" charset="0"/>
                <a:ea typeface="Calibri" pitchFamily="34" charset="-122"/>
                <a:cs typeface="Calibri" pitchFamily="34" charset="-120"/>
              </a:rPr>
              <a:t>Too few frames → constant faults → CPU idle → more processes admitted → worse.</a:t>
            </a:r>
            <a:endParaRPr lang="en-US" sz="1350" dirty="0"/>
          </a:p>
          <a:p>
            <a:pPr marL="228600" indent="-228600">
              <a:spcAft>
                <a:spcPts val="400"/>
              </a:spcAft>
              <a:buSzPct val="100000"/>
              <a:buChar char="•"/>
            </a:pPr>
            <a:r>
              <a:rPr lang="en-US" sz="1350" dirty="0">
                <a:solidFill>
                  <a:srgbClr val="3A464C"/>
                </a:solidFill>
                <a:latin typeface="Calibri" pitchFamily="34" charset="0"/>
                <a:ea typeface="Calibri" pitchFamily="34" charset="-122"/>
                <a:cs typeface="Calibri" pitchFamily="34" charset="-120"/>
              </a:rPr>
              <a:t>WS(t, Δ) = distinct pages in the last Δ references; if D = Σ WSSᵢ &gt; m frames → suspend a process.</a:t>
            </a:r>
            <a:endParaRPr lang="en-US" sz="13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en-US" sz="1200" b="1" spc="200" kern="0" dirty="0">
                <a:solidFill>
                  <a:srgbClr val="02C39A"/>
                </a:solidFill>
                <a:latin typeface="Calibri" pitchFamily="34" charset="0"/>
                <a:ea typeface="Calibri" pitchFamily="34" charset="-122"/>
                <a:cs typeface="Calibri" pitchFamily="34" charset="-120"/>
              </a:rPr>
              <a:t>WEEK 7 · FILE SYSTEMS</a:t>
            </a:r>
            <a:endParaRPr lang="en-US"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en-US" sz="3000" b="1" dirty="0">
                <a:solidFill>
                  <a:srgbClr val="36454F"/>
                </a:solidFill>
                <a:latin typeface="Cambria" pitchFamily="34" charset="0"/>
                <a:ea typeface="Cambria" pitchFamily="34" charset="-122"/>
                <a:cs typeface="Cambria" pitchFamily="34" charset="-120"/>
              </a:rPr>
              <a:t>Files, Access Methods, Directories, Links</a:t>
            </a:r>
            <a:endParaRPr lang="en-US" sz="3000" dirty="0"/>
          </a:p>
        </p:txBody>
      </p:sp>
      <p:sp>
        <p:nvSpPr>
          <p:cNvPr id="4" name="Text 2"/>
          <p:cNvSpPr txBox="1"/>
          <p:nvPr/>
        </p:nvSpPr>
        <p:spPr>
          <a:xfrm>
            <a:off x="548640" y="6528816"/>
            <a:ext cx="6400800" cy="274320"/>
          </a:xfrm>
          <a:prstGeom prst="rect">
            <a:avLst/>
          </a:prstGeom>
          <a:noFill/>
          <a:ln/>
        </p:spPr>
        <p:txBody>
          <a:bodyPr wrap="square" lIns="0" tIns="0" rIns="0" bIns="0" rtlCol="0" anchor="ctr"/>
          <a:lstStyle/>
          <a:p>
            <a:pPr indent="0" marL="0">
              <a:buNone/>
            </a:pPr>
            <a:r>
              <a:rPr lang="en-US" sz="900" dirty="0">
                <a:solidFill>
                  <a:srgbClr val="6B7679"/>
                </a:solidFill>
                <a:latin typeface="Calibri" pitchFamily="34" charset="0"/>
                <a:ea typeface="Calibri" pitchFamily="34" charset="-122"/>
                <a:cs typeface="Calibri" pitchFamily="34" charset="-120"/>
              </a:rPr>
              <a:t>MCMP117 — Fundamentals of Operating Systems</a:t>
            </a:r>
            <a:endParaRPr lang="en-US" sz="900" dirty="0"/>
          </a:p>
        </p:txBody>
      </p:sp>
      <p:sp>
        <p:nvSpPr>
          <p:cNvPr id="5" name="Text 3"/>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en-US" sz="900" dirty="0">
                <a:solidFill>
                  <a:srgbClr val="6B7679"/>
                </a:solidFill>
                <a:latin typeface="Calibri" pitchFamily="34" charset="0"/>
                <a:ea typeface="Calibri" pitchFamily="34" charset="-122"/>
                <a:cs typeface="Calibri" pitchFamily="34" charset="-120"/>
              </a:rPr>
              <a:t>Week 8  ·  19</a:t>
            </a:r>
            <a:endParaRPr lang="en-US" sz="900" dirty="0"/>
          </a:p>
        </p:txBody>
      </p:sp>
      <p:sp>
        <p:nvSpPr>
          <p:cNvPr id="6" name="Shape 4"/>
          <p:cNvSpPr/>
          <p:nvPr/>
        </p:nvSpPr>
        <p:spPr>
          <a:xfrm>
            <a:off x="10287000" y="274320"/>
            <a:ext cx="1371600" cy="329184"/>
          </a:xfrm>
          <a:prstGeom prst="roundRect">
            <a:avLst>
              <a:gd name="adj" fmla="val 13889"/>
            </a:avLst>
          </a:prstGeom>
          <a:solidFill>
            <a:srgbClr val="02C39A"/>
          </a:solidFill>
          <a:ln/>
        </p:spPr>
        <p:txBody>
          <a:bodyPr/>
          <a:p/>
        </p:txBody>
      </p:sp>
      <p:sp>
        <p:nvSpPr>
          <p:cNvPr id="7" name="Text 5"/>
          <p:cNvSpPr txBox="1"/>
          <p:nvPr/>
        </p:nvSpPr>
        <p:spPr>
          <a:xfrm>
            <a:off x="10287000" y="274320"/>
            <a:ext cx="1371600" cy="329184"/>
          </a:xfrm>
          <a:prstGeom prst="rect">
            <a:avLst/>
          </a:prstGeom>
          <a:noFill/>
          <a:ln/>
        </p:spPr>
        <p:txBody>
          <a:bodyPr wrap="square" lIns="38100" tIns="38100" rIns="38100" bIns="38100" rtlCol="0" anchor="ctr"/>
          <a:lstStyle/>
          <a:p>
            <a:pPr algn="ctr" indent="0" marL="0">
              <a:buNone/>
            </a:pPr>
            <a:r>
              <a:rPr lang="en-US" sz="1200" b="1" dirty="0">
                <a:solidFill>
                  <a:srgbClr val="212121"/>
                </a:solidFill>
                <a:latin typeface="Calibri" pitchFamily="34" charset="0"/>
                <a:ea typeface="Calibri" pitchFamily="34" charset="-122"/>
                <a:cs typeface="Calibri" pitchFamily="34" charset="-120"/>
              </a:rPr>
              <a:t>Week 7</a:t>
            </a:r>
            <a:endParaRPr lang="en-US" sz="1200" dirty="0"/>
          </a:p>
        </p:txBody>
      </p:sp>
      <p:sp>
        <p:nvSpPr>
          <p:cNvPr id="8" name="Shape 6"/>
          <p:cNvSpPr/>
          <p:nvPr/>
        </p:nvSpPr>
        <p:spPr>
          <a:xfrm>
            <a:off x="548640" y="1508760"/>
            <a:ext cx="3657600" cy="2331720"/>
          </a:xfrm>
          <a:prstGeom prst="roundRect">
            <a:avLst>
              <a:gd name="adj" fmla="val 2353"/>
            </a:avLst>
          </a:prstGeom>
          <a:solidFill>
            <a:srgbClr val="F2F2F2"/>
          </a:solidFill>
          <a:ln/>
          <a:effectLst>
            <a:outerShdw sx="100000" sy="100000" kx="0" ky="0" algn="bl" rotWithShape="0" blurRad="101600" dist="25400" dir="5400000">
              <a:srgbClr val="000000">
                <a:alpha val="12000"/>
              </a:srgbClr>
            </a:outerShdw>
          </a:effectLst>
        </p:spPr>
        <p:txBody>
          <a:bodyPr/>
          <a:p/>
        </p:txBody>
      </p:sp>
      <p:sp>
        <p:nvSpPr>
          <p:cNvPr id="9" name="Text 7"/>
          <p:cNvSpPr txBox="1"/>
          <p:nvPr/>
        </p:nvSpPr>
        <p:spPr>
          <a:xfrm>
            <a:off x="777240" y="1691640"/>
            <a:ext cx="3200400" cy="384048"/>
          </a:xfrm>
          <a:prstGeom prst="rect">
            <a:avLst/>
          </a:prstGeom>
          <a:noFill/>
          <a:ln/>
        </p:spPr>
        <p:txBody>
          <a:bodyPr wrap="square" lIns="0" tIns="0" rIns="0" bIns="0" rtlCol="0" anchor="ctr"/>
          <a:lstStyle/>
          <a:p>
            <a:pPr indent="0" marL="0">
              <a:buNone/>
            </a:pPr>
            <a:r>
              <a:rPr lang="en-US" sz="1500" b="1" dirty="0">
                <a:solidFill>
                  <a:srgbClr val="028090"/>
                </a:solidFill>
                <a:latin typeface="Cambria" pitchFamily="34" charset="0"/>
                <a:ea typeface="Cambria" pitchFamily="34" charset="-122"/>
                <a:cs typeface="Cambria" pitchFamily="34" charset="-120"/>
              </a:rPr>
              <a:t>File and inode</a:t>
            </a:r>
            <a:endParaRPr lang="en-US" sz="1500" dirty="0"/>
          </a:p>
        </p:txBody>
      </p:sp>
      <p:sp>
        <p:nvSpPr>
          <p:cNvPr id="10" name="Text 8"/>
          <p:cNvSpPr txBox="1"/>
          <p:nvPr/>
        </p:nvSpPr>
        <p:spPr>
          <a:xfrm>
            <a:off x="777240" y="2148840"/>
            <a:ext cx="3200400" cy="1554480"/>
          </a:xfrm>
          <a:prstGeom prst="rect">
            <a:avLst/>
          </a:prstGeom>
          <a:noFill/>
          <a:ln/>
        </p:spPr>
        <p:txBody>
          <a:bodyPr wrap="square" lIns="0" tIns="0" rIns="0" bIns="0" rtlCol="0" anchor="t"/>
          <a:lstStyle/>
          <a:p>
            <a:pPr marL="228600" indent="-228600">
              <a:spcAft>
                <a:spcPts val="400"/>
              </a:spcAft>
              <a:buSzPct val="100000"/>
              <a:buChar char="•"/>
            </a:pPr>
            <a:r>
              <a:rPr lang="en-US" sz="1400" dirty="0">
                <a:solidFill>
                  <a:srgbClr val="3A464C"/>
                </a:solidFill>
                <a:latin typeface="Calibri" pitchFamily="34" charset="0"/>
                <a:ea typeface="Calibri" pitchFamily="34" charset="-122"/>
                <a:cs typeface="Calibri" pitchFamily="34" charset="-120"/>
              </a:rPr>
              <a:t>Attributes: name, identifier, type, location, size, protection, timestamps.</a:t>
            </a:r>
            <a:endParaRPr lang="en-US" sz="1400" dirty="0"/>
          </a:p>
          <a:p>
            <a:pPr marL="228600" indent="-228600">
              <a:spcAft>
                <a:spcPts val="400"/>
              </a:spcAft>
              <a:buSzPct val="100000"/>
              <a:buChar char="•"/>
            </a:pPr>
            <a:r>
              <a:rPr lang="en-US" sz="1400" dirty="0">
                <a:solidFill>
                  <a:srgbClr val="3A464C"/>
                </a:solidFill>
                <a:latin typeface="Calibri" pitchFamily="34" charset="0"/>
                <a:ea typeface="Calibri" pitchFamily="34" charset="-122"/>
                <a:cs typeface="Calibri" pitchFamily="34" charset="-120"/>
              </a:rPr>
              <a:t>Linux: all in the inode — except the name (in the directory).</a:t>
            </a:r>
            <a:endParaRPr lang="en-US" sz="1400" dirty="0"/>
          </a:p>
        </p:txBody>
      </p:sp>
      <p:sp>
        <p:nvSpPr>
          <p:cNvPr id="11" name="Shape 9"/>
          <p:cNvSpPr/>
          <p:nvPr/>
        </p:nvSpPr>
        <p:spPr>
          <a:xfrm>
            <a:off x="4343400" y="1508760"/>
            <a:ext cx="3566160" cy="2331720"/>
          </a:xfrm>
          <a:prstGeom prst="roundRect">
            <a:avLst>
              <a:gd name="adj" fmla="val 2353"/>
            </a:avLst>
          </a:prstGeom>
          <a:solidFill>
            <a:srgbClr val="F2F2F2"/>
          </a:solidFill>
          <a:ln/>
          <a:effectLst>
            <a:outerShdw sx="100000" sy="100000" kx="0" ky="0" algn="bl" rotWithShape="0" blurRad="101600" dist="25400" dir="5400000">
              <a:srgbClr val="000000">
                <a:alpha val="12000"/>
              </a:srgbClr>
            </a:outerShdw>
          </a:effectLst>
        </p:spPr>
        <p:txBody>
          <a:bodyPr/>
          <a:p/>
        </p:txBody>
      </p:sp>
      <p:sp>
        <p:nvSpPr>
          <p:cNvPr id="12" name="Text 10"/>
          <p:cNvSpPr txBox="1"/>
          <p:nvPr/>
        </p:nvSpPr>
        <p:spPr>
          <a:xfrm>
            <a:off x="4572000" y="1691640"/>
            <a:ext cx="3108960" cy="384048"/>
          </a:xfrm>
          <a:prstGeom prst="rect">
            <a:avLst/>
          </a:prstGeom>
          <a:noFill/>
          <a:ln/>
        </p:spPr>
        <p:txBody>
          <a:bodyPr wrap="square" lIns="0" tIns="0" rIns="0" bIns="0" rtlCol="0" anchor="ctr"/>
          <a:lstStyle/>
          <a:p>
            <a:pPr indent="0" marL="0">
              <a:buNone/>
            </a:pPr>
            <a:r>
              <a:rPr lang="en-US" sz="1500" b="1" dirty="0">
                <a:solidFill>
                  <a:srgbClr val="028090"/>
                </a:solidFill>
                <a:latin typeface="Cambria" pitchFamily="34" charset="0"/>
                <a:ea typeface="Cambria" pitchFamily="34" charset="-122"/>
                <a:cs typeface="Cambria" pitchFamily="34" charset="-120"/>
              </a:rPr>
              <a:t>Operations, tables</a:t>
            </a:r>
            <a:endParaRPr lang="en-US" sz="1500" dirty="0"/>
          </a:p>
        </p:txBody>
      </p:sp>
      <p:sp>
        <p:nvSpPr>
          <p:cNvPr id="13" name="Text 11"/>
          <p:cNvSpPr txBox="1"/>
          <p:nvPr/>
        </p:nvSpPr>
        <p:spPr>
          <a:xfrm>
            <a:off x="4572000" y="2148840"/>
            <a:ext cx="3108960" cy="1554480"/>
          </a:xfrm>
          <a:prstGeom prst="rect">
            <a:avLst/>
          </a:prstGeom>
          <a:noFill/>
          <a:ln/>
        </p:spPr>
        <p:txBody>
          <a:bodyPr wrap="square" lIns="0" tIns="0" rIns="0" bIns="0" rtlCol="0" anchor="t"/>
          <a:lstStyle/>
          <a:p>
            <a:pPr marL="228600" indent="-228600">
              <a:spcAft>
                <a:spcPts val="400"/>
              </a:spcAft>
              <a:buSzPct val="100000"/>
              <a:buChar char="•"/>
            </a:pPr>
            <a:r>
              <a:rPr lang="en-US" sz="1300" dirty="0">
                <a:solidFill>
                  <a:srgbClr val="3A464C"/>
                </a:solidFill>
                <a:latin typeface="Calibri" pitchFamily="34" charset="0"/>
                <a:ea typeface="Calibri" pitchFamily="34" charset="-122"/>
                <a:cs typeface="Calibri" pitchFamily="34" charset="-120"/>
              </a:rPr>
              <a:t>create, open, read, write, seek, close, delete (unlink), truncate.</a:t>
            </a:r>
            <a:endParaRPr lang="en-US" sz="1300" dirty="0"/>
          </a:p>
          <a:p>
            <a:pPr marL="228600" indent="-228600">
              <a:spcAft>
                <a:spcPts val="400"/>
              </a:spcAft>
              <a:buSzPct val="100000"/>
              <a:buChar char="•"/>
            </a:pPr>
            <a:r>
              <a:rPr lang="en-US" sz="1300" dirty="0">
                <a:solidFill>
                  <a:srgbClr val="3A464C"/>
                </a:solidFill>
                <a:latin typeface="Calibri" pitchFamily="34" charset="0"/>
                <a:ea typeface="Calibri" pitchFamily="34" charset="-122"/>
                <a:cs typeface="Calibri" pitchFamily="34" charset="-120"/>
              </a:rPr>
              <a:t>open() once → file descriptor; per-process table (file pointer), system-wide table (open count).</a:t>
            </a:r>
            <a:endParaRPr lang="en-US" sz="1300" dirty="0"/>
          </a:p>
        </p:txBody>
      </p:sp>
      <p:sp>
        <p:nvSpPr>
          <p:cNvPr id="14" name="Shape 12"/>
          <p:cNvSpPr/>
          <p:nvPr/>
        </p:nvSpPr>
        <p:spPr>
          <a:xfrm>
            <a:off x="8046720" y="1508760"/>
            <a:ext cx="3611880" cy="2331720"/>
          </a:xfrm>
          <a:prstGeom prst="roundRect">
            <a:avLst>
              <a:gd name="adj" fmla="val 1961"/>
            </a:avLst>
          </a:prstGeom>
          <a:solidFill>
            <a:srgbClr val="212121"/>
          </a:solidFill>
          <a:ln/>
        </p:spPr>
        <p:txBody>
          <a:bodyPr/>
          <a:p/>
        </p:txBody>
      </p:sp>
      <p:sp>
        <p:nvSpPr>
          <p:cNvPr id="15" name="Text 13"/>
          <p:cNvSpPr txBox="1"/>
          <p:nvPr/>
        </p:nvSpPr>
        <p:spPr>
          <a:xfrm>
            <a:off x="8229600" y="1618488"/>
            <a:ext cx="3246120" cy="2112264"/>
          </a:xfrm>
          <a:prstGeom prst="rect">
            <a:avLst/>
          </a:prstGeom>
          <a:noFill/>
          <a:ln/>
        </p:spPr>
        <p:txBody>
          <a:bodyPr wrap="square" lIns="0" tIns="0" rIns="0" bIns="0" rtlCol="0" anchor="t"/>
          <a:lstStyle/>
          <a:p>
            <a:pPr indent="0" marL="0">
              <a:lnSpc>
                <a:spcPct val="105000"/>
              </a:lnSpc>
              <a:buNone/>
            </a:pPr>
            <a:r>
              <a:rPr lang="en-US" sz="1250" dirty="0">
                <a:solidFill>
                  <a:srgbClr val="8A9AA0"/>
                </a:solidFill>
                <a:latin typeface="Consolas" pitchFamily="34" charset="0"/>
                <a:ea typeface="Consolas" pitchFamily="34" charset="-122"/>
                <a:cs typeface="Consolas" pitchFamily="34" charset="-120"/>
              </a:rPr>
              <a:t># direct access, record k</a:t>
            </a:r>
            <a:endParaRPr lang="en-US" sz="1250" dirty="0"/>
          </a:p>
          <a:p>
            <a:pPr indent="0" marL="0">
              <a:lnSpc>
                <a:spcPct val="105000"/>
              </a:lnSpc>
              <a:buNone/>
            </a:pPr>
            <a:r>
              <a:rPr lang="en-US" sz="1250" dirty="0">
                <a:solidFill>
                  <a:srgbClr val="F2F2F2"/>
                </a:solidFill>
                <a:latin typeface="Consolas" pitchFamily="34" charset="0"/>
                <a:ea typeface="Consolas" pitchFamily="34" charset="-122"/>
                <a:cs typeface="Consolas" pitchFamily="34" charset="-120"/>
              </a:rPr>
              <a:t>offset = k · R</a:t>
            </a:r>
            <a:endParaRPr lang="en-US" sz="1250" dirty="0"/>
          </a:p>
          <a:p>
            <a:pPr indent="0" marL="0">
              <a:lnSpc>
                <a:spcPct val="105000"/>
              </a:lnSpc>
              <a:buNone/>
            </a:pPr>
            <a:r>
              <a:rPr lang="en-US" sz="1250" dirty="0">
                <a:solidFill>
                  <a:srgbClr val="F2F2F2"/>
                </a:solidFill>
                <a:latin typeface="Consolas" pitchFamily="34" charset="0"/>
                <a:ea typeface="Consolas" pitchFamily="34" charset="-122"/>
                <a:cs typeface="Consolas" pitchFamily="34" charset="-120"/>
              </a:rPr>
              <a:t>block  = ⌊k·R / B⌋</a:t>
            </a:r>
            <a:endParaRPr lang="en-US" sz="1250" dirty="0"/>
          </a:p>
          <a:p>
            <a:pPr indent="0" marL="0">
              <a:lnSpc>
                <a:spcPct val="105000"/>
              </a:lnSpc>
              <a:buNone/>
            </a:pPr>
            <a:r>
              <a:rPr lang="en-US" sz="1250" dirty="0">
                <a:solidFill>
                  <a:srgbClr val="F2F2F2"/>
                </a:solidFill>
                <a:latin typeface="Consolas" pitchFamily="34" charset="0"/>
                <a:ea typeface="Consolas" pitchFamily="34" charset="-122"/>
                <a:cs typeface="Consolas" pitchFamily="34" charset="-120"/>
              </a:rPr>
              <a:t>in blk = k·R − block · B</a:t>
            </a:r>
            <a:endParaRPr lang="en-US" sz="1250" dirty="0"/>
          </a:p>
          <a:p>
            <a:pPr indent="0" marL="0">
              <a:lnSpc>
                <a:spcPct val="105000"/>
              </a:lnSpc>
              <a:buNone/>
            </a:pPr>
            <a:r>
              <a:rPr lang="en-US" sz="1250" dirty="0">
                <a:solidFill>
                  <a:srgbClr val="F2F2F2"/>
                </a:solidFill>
                <a:latin typeface="Consolas" pitchFamily="34" charset="0"/>
                <a:ea typeface="Consolas" pitchFamily="34" charset="-122"/>
                <a:cs typeface="Consolas" pitchFamily="34" charset="-120"/>
              </a:rPr>
              <a:t>check the LAST byte too!</a:t>
            </a:r>
            <a:endParaRPr lang="en-US" sz="1250" dirty="0"/>
          </a:p>
        </p:txBody>
      </p:sp>
      <p:sp>
        <p:nvSpPr>
          <p:cNvPr id="16" name="Shape 14"/>
          <p:cNvSpPr/>
          <p:nvPr/>
        </p:nvSpPr>
        <p:spPr>
          <a:xfrm>
            <a:off x="548640" y="4023360"/>
            <a:ext cx="3657600" cy="2240280"/>
          </a:xfrm>
          <a:prstGeom prst="roundRect">
            <a:avLst>
              <a:gd name="adj" fmla="val 2449"/>
            </a:avLst>
          </a:prstGeom>
          <a:solidFill>
            <a:srgbClr val="F2F2F2"/>
          </a:solidFill>
          <a:ln/>
          <a:effectLst>
            <a:outerShdw sx="100000" sy="100000" kx="0" ky="0" algn="bl" rotWithShape="0" blurRad="101600" dist="25400" dir="5400000">
              <a:srgbClr val="000000">
                <a:alpha val="12000"/>
              </a:srgbClr>
            </a:outerShdw>
          </a:effectLst>
        </p:spPr>
        <p:txBody>
          <a:bodyPr/>
          <a:p/>
        </p:txBody>
      </p:sp>
      <p:sp>
        <p:nvSpPr>
          <p:cNvPr id="17" name="Text 15"/>
          <p:cNvSpPr txBox="1"/>
          <p:nvPr/>
        </p:nvSpPr>
        <p:spPr>
          <a:xfrm>
            <a:off x="777240" y="4206240"/>
            <a:ext cx="3200400" cy="384048"/>
          </a:xfrm>
          <a:prstGeom prst="rect">
            <a:avLst/>
          </a:prstGeom>
          <a:noFill/>
          <a:ln/>
        </p:spPr>
        <p:txBody>
          <a:bodyPr wrap="square" lIns="0" tIns="0" rIns="0" bIns="0" rtlCol="0" anchor="ctr"/>
          <a:lstStyle/>
          <a:p>
            <a:pPr indent="0" marL="0">
              <a:buNone/>
            </a:pPr>
            <a:r>
              <a:rPr lang="en-US" sz="1500" b="1" dirty="0">
                <a:solidFill>
                  <a:srgbClr val="028090"/>
                </a:solidFill>
                <a:latin typeface="Cambria" pitchFamily="34" charset="0"/>
                <a:ea typeface="Cambria" pitchFamily="34" charset="-122"/>
                <a:cs typeface="Cambria" pitchFamily="34" charset="-120"/>
              </a:rPr>
              <a:t>Access methods</a:t>
            </a:r>
            <a:endParaRPr lang="en-US" sz="1500" dirty="0"/>
          </a:p>
        </p:txBody>
      </p:sp>
      <p:sp>
        <p:nvSpPr>
          <p:cNvPr id="18" name="Text 16"/>
          <p:cNvSpPr txBox="1"/>
          <p:nvPr/>
        </p:nvSpPr>
        <p:spPr>
          <a:xfrm>
            <a:off x="777240" y="4663440"/>
            <a:ext cx="3200400" cy="1463040"/>
          </a:xfrm>
          <a:prstGeom prst="rect">
            <a:avLst/>
          </a:prstGeom>
          <a:noFill/>
          <a:ln/>
        </p:spPr>
        <p:txBody>
          <a:bodyPr wrap="square" lIns="0" tIns="0" rIns="0" bIns="0" rtlCol="0" anchor="t"/>
          <a:lstStyle/>
          <a:p>
            <a:pPr marL="228600" indent="-228600">
              <a:spcAft>
                <a:spcPts val="400"/>
              </a:spcAft>
              <a:buSzPct val="100000"/>
              <a:buChar char="•"/>
            </a:pPr>
            <a:r>
              <a:rPr lang="en-US" sz="1300" b="1" dirty="0">
                <a:solidFill>
                  <a:srgbClr val="3A464C"/>
                </a:solidFill>
                <a:latin typeface="Calibri" pitchFamily="34" charset="0"/>
                <a:ea typeface="Calibri" pitchFamily="34" charset="-122"/>
                <a:cs typeface="Calibri" pitchFamily="34" charset="-120"/>
              </a:rPr>
              <a:t>Sequential:</a:t>
            </a:r>
            <a:r>
              <a:rPr lang="en-US" sz="1300" dirty="0">
                <a:solidFill>
                  <a:srgbClr val="3A464C"/>
                </a:solidFill>
                <a:latin typeface="Calibri" pitchFamily="34" charset="0"/>
                <a:ea typeface="Calibri" pitchFamily="34" charset="-122"/>
                <a:cs typeface="Calibri" pitchFamily="34" charset="-120"/>
              </a:rPr>
              <a:t> in order (tape model).</a:t>
            </a:r>
            <a:endParaRPr lang="en-US" sz="1300" dirty="0"/>
          </a:p>
          <a:p>
            <a:pPr marL="228600" indent="-228600">
              <a:spcAft>
                <a:spcPts val="400"/>
              </a:spcAft>
              <a:buSzPct val="100000"/>
              <a:buChar char="•"/>
            </a:pPr>
            <a:r>
              <a:rPr lang="en-US" sz="1300" b="1" dirty="0">
                <a:solidFill>
                  <a:srgbClr val="3A464C"/>
                </a:solidFill>
                <a:latin typeface="Calibri" pitchFamily="34" charset="0"/>
                <a:ea typeface="Calibri" pitchFamily="34" charset="-122"/>
                <a:cs typeface="Calibri" pitchFamily="34" charset="-120"/>
              </a:rPr>
              <a:t>Direct:</a:t>
            </a:r>
            <a:r>
              <a:rPr lang="en-US" sz="1300" dirty="0">
                <a:solidFill>
                  <a:srgbClr val="3A464C"/>
                </a:solidFill>
                <a:latin typeface="Calibri" pitchFamily="34" charset="0"/>
                <a:ea typeface="Calibri" pitchFamily="34" charset="-122"/>
                <a:cs typeface="Calibri" pitchFamily="34" charset="-120"/>
              </a:rPr>
              <a:t> any block n (disk model).</a:t>
            </a:r>
            <a:endParaRPr lang="en-US" sz="1300" dirty="0"/>
          </a:p>
          <a:p>
            <a:pPr marL="228600" indent="-228600">
              <a:spcAft>
                <a:spcPts val="400"/>
              </a:spcAft>
              <a:buSzPct val="100000"/>
              <a:buChar char="•"/>
            </a:pPr>
            <a:r>
              <a:rPr lang="en-US" sz="1300" b="1" dirty="0">
                <a:solidFill>
                  <a:srgbClr val="3A464C"/>
                </a:solidFill>
                <a:latin typeface="Calibri" pitchFamily="34" charset="0"/>
                <a:ea typeface="Calibri" pitchFamily="34" charset="-122"/>
                <a:cs typeface="Calibri" pitchFamily="34" charset="-120"/>
              </a:rPr>
              <a:t>Indexed:</a:t>
            </a:r>
            <a:r>
              <a:rPr lang="en-US" sz="1300" dirty="0">
                <a:solidFill>
                  <a:srgbClr val="3A464C"/>
                </a:solidFill>
                <a:latin typeface="Calibri" pitchFamily="34" charset="0"/>
                <a:ea typeface="Calibri" pitchFamily="34" charset="-122"/>
                <a:cs typeface="Calibri" pitchFamily="34" charset="-120"/>
              </a:rPr>
              <a:t> search a small index, then jump.</a:t>
            </a:r>
            <a:endParaRPr lang="en-US" sz="1300" dirty="0"/>
          </a:p>
        </p:txBody>
      </p:sp>
      <p:sp>
        <p:nvSpPr>
          <p:cNvPr id="19" name="Shape 17"/>
          <p:cNvSpPr/>
          <p:nvPr/>
        </p:nvSpPr>
        <p:spPr>
          <a:xfrm>
            <a:off x="4343400" y="4023360"/>
            <a:ext cx="3566160" cy="2240280"/>
          </a:xfrm>
          <a:prstGeom prst="roundRect">
            <a:avLst>
              <a:gd name="adj" fmla="val 2449"/>
            </a:avLst>
          </a:prstGeom>
          <a:solidFill>
            <a:srgbClr val="F2F2F2"/>
          </a:solidFill>
          <a:ln/>
          <a:effectLst>
            <a:outerShdw sx="100000" sy="100000" kx="0" ky="0" algn="bl" rotWithShape="0" blurRad="101600" dist="25400" dir="5400000">
              <a:srgbClr val="000000">
                <a:alpha val="12000"/>
              </a:srgbClr>
            </a:outerShdw>
          </a:effectLst>
        </p:spPr>
        <p:txBody>
          <a:bodyPr/>
          <a:p/>
        </p:txBody>
      </p:sp>
      <p:sp>
        <p:nvSpPr>
          <p:cNvPr id="20" name="Text 18"/>
          <p:cNvSpPr txBox="1"/>
          <p:nvPr/>
        </p:nvSpPr>
        <p:spPr>
          <a:xfrm>
            <a:off x="4572000" y="4206240"/>
            <a:ext cx="3108960" cy="384048"/>
          </a:xfrm>
          <a:prstGeom prst="rect">
            <a:avLst/>
          </a:prstGeom>
          <a:noFill/>
          <a:ln/>
        </p:spPr>
        <p:txBody>
          <a:bodyPr wrap="square" lIns="0" tIns="0" rIns="0" bIns="0" rtlCol="0" anchor="ctr"/>
          <a:lstStyle/>
          <a:p>
            <a:pPr indent="0" marL="0">
              <a:buNone/>
            </a:pPr>
            <a:r>
              <a:rPr lang="en-US" sz="1500" b="1" dirty="0">
                <a:solidFill>
                  <a:srgbClr val="028090"/>
                </a:solidFill>
                <a:latin typeface="Cambria" pitchFamily="34" charset="0"/>
                <a:ea typeface="Cambria" pitchFamily="34" charset="-122"/>
                <a:cs typeface="Cambria" pitchFamily="34" charset="-120"/>
              </a:rPr>
              <a:t>Directory structures</a:t>
            </a:r>
            <a:endParaRPr lang="en-US" sz="1500" dirty="0"/>
          </a:p>
        </p:txBody>
      </p:sp>
      <p:sp>
        <p:nvSpPr>
          <p:cNvPr id="21" name="Text 19"/>
          <p:cNvSpPr txBox="1"/>
          <p:nvPr/>
        </p:nvSpPr>
        <p:spPr>
          <a:xfrm>
            <a:off x="4572000" y="4663440"/>
            <a:ext cx="3108960" cy="1463040"/>
          </a:xfrm>
          <a:prstGeom prst="rect">
            <a:avLst/>
          </a:prstGeom>
          <a:noFill/>
          <a:ln/>
        </p:spPr>
        <p:txBody>
          <a:bodyPr wrap="square" lIns="0" tIns="0" rIns="0" bIns="0" rtlCol="0" anchor="t"/>
          <a:lstStyle/>
          <a:p>
            <a:pPr marL="228600" indent="-228600">
              <a:spcAft>
                <a:spcPts val="400"/>
              </a:spcAft>
              <a:buSzPct val="100000"/>
              <a:buChar char="•"/>
            </a:pPr>
            <a:r>
              <a:rPr lang="en-US" sz="1300" dirty="0">
                <a:solidFill>
                  <a:srgbClr val="3A464C"/>
                </a:solidFill>
                <a:latin typeface="Calibri" pitchFamily="34" charset="0"/>
                <a:ea typeface="Calibri" pitchFamily="34" charset="-122"/>
                <a:cs typeface="Calibri" pitchFamily="34" charset="-120"/>
              </a:rPr>
              <a:t>Single-level → two-level → tree → acyclic graph → general graph (cycles).</a:t>
            </a:r>
            <a:endParaRPr lang="en-US" sz="1300" dirty="0"/>
          </a:p>
          <a:p>
            <a:pPr marL="228600" indent="-228600">
              <a:spcAft>
                <a:spcPts val="400"/>
              </a:spcAft>
              <a:buSzPct val="100000"/>
              <a:buChar char="•"/>
            </a:pPr>
            <a:r>
              <a:rPr lang="en-US" sz="1300" dirty="0">
                <a:solidFill>
                  <a:srgbClr val="3A464C"/>
                </a:solidFill>
                <a:latin typeface="Calibri" pitchFamily="34" charset="0"/>
                <a:ea typeface="Calibri" pitchFamily="34" charset="-122"/>
                <a:cs typeface="Calibri" pitchFamily="34" charset="-120"/>
              </a:rPr>
              <a:t>Absolute path from /; relative from the current directory; . and ..</a:t>
            </a:r>
            <a:endParaRPr lang="en-US" sz="1300" dirty="0"/>
          </a:p>
        </p:txBody>
      </p:sp>
      <p:sp>
        <p:nvSpPr>
          <p:cNvPr id="22" name="Shape 20"/>
          <p:cNvSpPr/>
          <p:nvPr/>
        </p:nvSpPr>
        <p:spPr>
          <a:xfrm>
            <a:off x="8046720" y="4023360"/>
            <a:ext cx="3611880" cy="2240280"/>
          </a:xfrm>
          <a:prstGeom prst="roundRect">
            <a:avLst>
              <a:gd name="adj" fmla="val 2449"/>
            </a:avLst>
          </a:prstGeom>
          <a:solidFill>
            <a:srgbClr val="F2F2F2"/>
          </a:solidFill>
          <a:ln/>
          <a:effectLst>
            <a:outerShdw sx="100000" sy="100000" kx="0" ky="0" algn="bl" rotWithShape="0" blurRad="101600" dist="25400" dir="5400000">
              <a:srgbClr val="000000">
                <a:alpha val="12000"/>
              </a:srgbClr>
            </a:outerShdw>
          </a:effectLst>
        </p:spPr>
        <p:txBody>
          <a:bodyPr/>
          <a:p/>
        </p:txBody>
      </p:sp>
      <p:sp>
        <p:nvSpPr>
          <p:cNvPr id="23" name="Text 21"/>
          <p:cNvSpPr txBox="1"/>
          <p:nvPr/>
        </p:nvSpPr>
        <p:spPr>
          <a:xfrm>
            <a:off x="8275320" y="4206240"/>
            <a:ext cx="3154680" cy="384048"/>
          </a:xfrm>
          <a:prstGeom prst="rect">
            <a:avLst/>
          </a:prstGeom>
          <a:noFill/>
          <a:ln/>
        </p:spPr>
        <p:txBody>
          <a:bodyPr wrap="square" lIns="0" tIns="0" rIns="0" bIns="0" rtlCol="0" anchor="ctr"/>
          <a:lstStyle/>
          <a:p>
            <a:pPr indent="0" marL="0">
              <a:buNone/>
            </a:pPr>
            <a:r>
              <a:rPr lang="en-US" sz="1500" b="1" dirty="0">
                <a:solidFill>
                  <a:srgbClr val="028090"/>
                </a:solidFill>
                <a:latin typeface="Cambria" pitchFamily="34" charset="0"/>
                <a:ea typeface="Cambria" pitchFamily="34" charset="-122"/>
                <a:cs typeface="Cambria" pitchFamily="34" charset="-120"/>
              </a:rPr>
              <a:t>Links</a:t>
            </a:r>
            <a:endParaRPr lang="en-US" sz="1500" dirty="0"/>
          </a:p>
        </p:txBody>
      </p:sp>
      <p:sp>
        <p:nvSpPr>
          <p:cNvPr id="24" name="Text 22"/>
          <p:cNvSpPr txBox="1"/>
          <p:nvPr/>
        </p:nvSpPr>
        <p:spPr>
          <a:xfrm>
            <a:off x="8275320" y="4663440"/>
            <a:ext cx="3154680" cy="1463040"/>
          </a:xfrm>
          <a:prstGeom prst="rect">
            <a:avLst/>
          </a:prstGeom>
          <a:noFill/>
          <a:ln/>
        </p:spPr>
        <p:txBody>
          <a:bodyPr wrap="square" lIns="0" tIns="0" rIns="0" bIns="0" rtlCol="0" anchor="t"/>
          <a:lstStyle/>
          <a:p>
            <a:pPr marL="228600" indent="-228600">
              <a:spcAft>
                <a:spcPts val="400"/>
              </a:spcAft>
              <a:buSzPct val="100000"/>
              <a:buChar char="•"/>
            </a:pPr>
            <a:r>
              <a:rPr lang="en-US" sz="1300" b="1" dirty="0">
                <a:solidFill>
                  <a:srgbClr val="3A464C"/>
                </a:solidFill>
                <a:latin typeface="Calibri" pitchFamily="34" charset="0"/>
                <a:ea typeface="Calibri" pitchFamily="34" charset="-122"/>
                <a:cs typeface="Calibri" pitchFamily="34" charset="-120"/>
              </a:rPr>
              <a:t>Hard:</a:t>
            </a:r>
            <a:r>
              <a:rPr lang="en-US" sz="1300" dirty="0">
                <a:solidFill>
                  <a:srgbClr val="3A464C"/>
                </a:solidFill>
                <a:latin typeface="Calibri" pitchFamily="34" charset="0"/>
                <a:ea typeface="Calibri" pitchFamily="34" charset="-122"/>
                <a:cs typeface="Calibri" pitchFamily="34" charset="-120"/>
              </a:rPr>
              <a:t> another name for the same inode; link count.</a:t>
            </a:r>
            <a:endParaRPr lang="en-US" sz="1300" dirty="0"/>
          </a:p>
          <a:p>
            <a:pPr marL="228600" indent="-228600">
              <a:spcAft>
                <a:spcPts val="400"/>
              </a:spcAft>
              <a:buSzPct val="100000"/>
              <a:buChar char="•"/>
            </a:pPr>
            <a:r>
              <a:rPr lang="en-US" sz="1300" b="1" dirty="0">
                <a:solidFill>
                  <a:srgbClr val="3A464C"/>
                </a:solidFill>
                <a:latin typeface="Calibri" pitchFamily="34" charset="0"/>
                <a:ea typeface="Calibri" pitchFamily="34" charset="-122"/>
                <a:cs typeface="Calibri" pitchFamily="34" charset="-120"/>
              </a:rPr>
              <a:t>Symbolic:</a:t>
            </a:r>
            <a:r>
              <a:rPr lang="en-US" sz="1300" dirty="0">
                <a:solidFill>
                  <a:srgbClr val="3A464C"/>
                </a:solidFill>
                <a:latin typeface="Calibri" pitchFamily="34" charset="0"/>
                <a:ea typeface="Calibri" pitchFamily="34" charset="-122"/>
                <a:cs typeface="Calibri" pitchFamily="34" charset="-120"/>
              </a:rPr>
              <a:t> a file holding a path; dangles if the target is removed.</a:t>
            </a:r>
            <a:endParaRPr lang="en-US" sz="13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en-US" sz="1200" b="1" spc="200" kern="0" dirty="0">
                <a:solidFill>
                  <a:srgbClr val="02C39A"/>
                </a:solidFill>
                <a:latin typeface="Calibri" pitchFamily="34" charset="0"/>
                <a:ea typeface="Calibri" pitchFamily="34" charset="-122"/>
                <a:cs typeface="Calibri" pitchFamily="34" charset="-120"/>
              </a:rPr>
              <a:t>FORMULA SHEET</a:t>
            </a:r>
            <a:endParaRPr lang="en-US"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en-US" sz="3000" b="1" dirty="0">
                <a:solidFill>
                  <a:srgbClr val="36454F"/>
                </a:solidFill>
                <a:latin typeface="Cambria" pitchFamily="34" charset="0"/>
                <a:ea typeface="Cambria" pitchFamily="34" charset="-122"/>
                <a:cs typeface="Cambria" pitchFamily="34" charset="-120"/>
              </a:rPr>
              <a:t>Every Formula of Weeks 1–7 on One Slide</a:t>
            </a:r>
            <a:endParaRPr lang="en-US" sz="3000" dirty="0"/>
          </a:p>
        </p:txBody>
      </p:sp>
      <p:sp>
        <p:nvSpPr>
          <p:cNvPr id="4" name="Text 2"/>
          <p:cNvSpPr txBox="1"/>
          <p:nvPr/>
        </p:nvSpPr>
        <p:spPr>
          <a:xfrm>
            <a:off x="548640" y="6528816"/>
            <a:ext cx="6400800" cy="274320"/>
          </a:xfrm>
          <a:prstGeom prst="rect">
            <a:avLst/>
          </a:prstGeom>
          <a:noFill/>
          <a:ln/>
        </p:spPr>
        <p:txBody>
          <a:bodyPr wrap="square" lIns="0" tIns="0" rIns="0" bIns="0" rtlCol="0" anchor="ctr"/>
          <a:lstStyle/>
          <a:p>
            <a:pPr indent="0" marL="0">
              <a:buNone/>
            </a:pPr>
            <a:r>
              <a:rPr lang="en-US" sz="900" dirty="0">
                <a:solidFill>
                  <a:srgbClr val="6B7679"/>
                </a:solidFill>
                <a:latin typeface="Calibri" pitchFamily="34" charset="0"/>
                <a:ea typeface="Calibri" pitchFamily="34" charset="-122"/>
                <a:cs typeface="Calibri" pitchFamily="34" charset="-120"/>
              </a:rPr>
              <a:t>MCMP117 — Fundamentals of Operating Systems</a:t>
            </a:r>
            <a:endParaRPr lang="en-US" sz="900" dirty="0"/>
          </a:p>
        </p:txBody>
      </p:sp>
      <p:sp>
        <p:nvSpPr>
          <p:cNvPr id="5" name="Text 3"/>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en-US" sz="900" dirty="0">
                <a:solidFill>
                  <a:srgbClr val="6B7679"/>
                </a:solidFill>
                <a:latin typeface="Calibri" pitchFamily="34" charset="0"/>
                <a:ea typeface="Calibri" pitchFamily="34" charset="-122"/>
                <a:cs typeface="Calibri" pitchFamily="34" charset="-120"/>
              </a:rPr>
              <a:t>Week 8  ·  20</a:t>
            </a:r>
            <a:endParaRPr lang="en-US" sz="90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11109960" cy="914400"/>
        </p:xfrm>
        <a:graphic>
          <a:graphicData uri="http://schemas.openxmlformats.org/drawingml/2006/table">
            <a:tbl>
              <a:tblPr/>
              <a:tblGrid>
                <a:gridCol w="731520"/>
                <a:gridCol w="3429000"/>
                <a:gridCol w="6949440"/>
              </a:tblGrid>
              <a:tr h="0">
                <a:tc>
                  <a:txBody>
                    <a:bodyPr/>
                    <a:lstStyle/>
                    <a:p>
                      <a:pPr indent="0" marL="0">
                        <a:buNone/>
                      </a:pPr>
                      <a:r>
                        <a:rPr lang="en-US" sz="1400" b="1" dirty="0">
                          <a:solidFill>
                            <a:srgbClr val="FFFFFF"/>
                          </a:solidFill>
                          <a:latin typeface="Cambria" pitchFamily="34" charset="0"/>
                          <a:ea typeface="Cambria" pitchFamily="34" charset="-122"/>
                          <a:cs typeface="Cambria" pitchFamily="34" charset="-120"/>
                        </a:rPr>
                        <a:t>Week</a:t>
                      </a:r>
                      <a:endParaRPr lang="en-US" sz="1400" dirty="0">
                        <a:latin typeface="Cambria" charset="0"/>
                        <a:ea typeface="Cambria" charset="0"/>
                        <a:cs typeface="Cambria" charset="0"/>
                      </a:endParaRPr>
                    </a:p>
                  </a:txBody>
                  <a:tcPr marL="76200" marR="762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36454F"/>
                    </a:solidFill>
                  </a:tcPr>
                </a:tc>
                <a:tc>
                  <a:txBody>
                    <a:bodyPr/>
                    <a:lstStyle/>
                    <a:p>
                      <a:pPr indent="0" marL="0">
                        <a:buNone/>
                      </a:pPr>
                      <a:r>
                        <a:rPr lang="en-US" sz="1400" b="1" dirty="0">
                          <a:solidFill>
                            <a:srgbClr val="FFFFFF"/>
                          </a:solidFill>
                          <a:latin typeface="Cambria" pitchFamily="34" charset="0"/>
                          <a:ea typeface="Cambria" pitchFamily="34" charset="-122"/>
                          <a:cs typeface="Cambria" pitchFamily="34" charset="-120"/>
                        </a:rPr>
                        <a:t>Quantity</a:t>
                      </a:r>
                      <a:endParaRPr lang="en-US" sz="1400" dirty="0">
                        <a:latin typeface="Cambria" charset="0"/>
                        <a:ea typeface="Cambria" charset="0"/>
                        <a:cs typeface="Cambria" charset="0"/>
                      </a:endParaRPr>
                    </a:p>
                  </a:txBody>
                  <a:tcPr marL="76200" marR="762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36454F"/>
                    </a:solidFill>
                  </a:tcPr>
                </a:tc>
                <a:tc>
                  <a:txBody>
                    <a:bodyPr/>
                    <a:lstStyle/>
                    <a:p>
                      <a:pPr indent="0" marL="0">
                        <a:buNone/>
                      </a:pPr>
                      <a:r>
                        <a:rPr lang="en-US" sz="1400" b="1" dirty="0">
                          <a:solidFill>
                            <a:srgbClr val="FFFFFF"/>
                          </a:solidFill>
                          <a:latin typeface="Cambria" pitchFamily="34" charset="0"/>
                          <a:ea typeface="Cambria" pitchFamily="34" charset="-122"/>
                          <a:cs typeface="Cambria" pitchFamily="34" charset="-120"/>
                        </a:rPr>
                        <a:t>Formula</a:t>
                      </a:r>
                      <a:endParaRPr lang="en-US" sz="1400" dirty="0">
                        <a:latin typeface="Cambria" charset="0"/>
                        <a:ea typeface="Cambria" charset="0"/>
                        <a:cs typeface="Cambria" charset="0"/>
                      </a:endParaRPr>
                    </a:p>
                  </a:txBody>
                  <a:tcPr marL="76200" marR="762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36454F"/>
                    </a:solidFill>
                  </a:tcPr>
                </a:tc>
              </a:tr>
              <a:tr h="0">
                <a:tc>
                  <a:txBody>
                    <a:bodyPr/>
                    <a:lstStyle/>
                    <a:p>
                      <a:pPr indent="0" marL="0">
                        <a:buNone/>
                      </a:pPr>
                      <a:r>
                        <a:rPr lang="en-US" sz="1400" b="1" dirty="0">
                          <a:solidFill>
                            <a:srgbClr val="3A464C"/>
                          </a:solidFill>
                          <a:latin typeface="Calibri" pitchFamily="34" charset="0"/>
                          <a:ea typeface="Calibri" pitchFamily="34" charset="-122"/>
                          <a:cs typeface="Calibri" pitchFamily="34" charset="-120"/>
                        </a:rPr>
                        <a:t>1</a:t>
                      </a:r>
                      <a:endParaRPr lang="en-US" sz="1400" dirty="0">
                        <a:latin typeface="Calibri" charset="0"/>
                        <a:ea typeface="Calibri" charset="0"/>
                        <a:cs typeface="Calibri" charset="0"/>
                      </a:endParaRPr>
                    </a:p>
                  </a:txBody>
                  <a:tcPr marL="76200" marR="762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en-US" sz="1400" dirty="0">
                          <a:solidFill>
                            <a:srgbClr val="3A464C"/>
                          </a:solidFill>
                          <a:latin typeface="Calibri" pitchFamily="34" charset="0"/>
                          <a:ea typeface="Calibri" pitchFamily="34" charset="-122"/>
                          <a:cs typeface="Calibri" pitchFamily="34" charset="-120"/>
                        </a:rPr>
                        <a:t>Batch utilisation / multiprogramming</a:t>
                      </a:r>
                      <a:endParaRPr lang="en-US" sz="1400" dirty="0">
                        <a:latin typeface="Calibri" charset="0"/>
                        <a:ea typeface="Calibri" charset="0"/>
                        <a:cs typeface="Calibri" charset="0"/>
                      </a:endParaRPr>
                    </a:p>
                  </a:txBody>
                  <a:tcPr marL="76200" marR="762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en-US" sz="1400" dirty="0">
                          <a:solidFill>
                            <a:srgbClr val="3A464C"/>
                          </a:solidFill>
                          <a:latin typeface="Calibri" pitchFamily="34" charset="0"/>
                          <a:ea typeface="Calibri" pitchFamily="34" charset="-122"/>
                          <a:cs typeface="Calibri" pitchFamily="34" charset="-120"/>
                        </a:rPr>
                        <a:t>U = t_run / (t_run + t_setup);   U(n) = 1 − pⁿ</a:t>
                      </a:r>
                      <a:endParaRPr lang="en-US" sz="1400" dirty="0">
                        <a:latin typeface="Calibri" charset="0"/>
                        <a:ea typeface="Calibri" charset="0"/>
                        <a:cs typeface="Calibri" charset="0"/>
                      </a:endParaRPr>
                    </a:p>
                  </a:txBody>
                  <a:tcPr marL="76200" marR="762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r>
              <a:tr h="0">
                <a:tc>
                  <a:txBody>
                    <a:bodyPr/>
                    <a:lstStyle/>
                    <a:p>
                      <a:pPr indent="0" marL="0">
                        <a:buNone/>
                      </a:pPr>
                      <a:r>
                        <a:rPr lang="en-US" sz="1400" b="1" dirty="0">
                          <a:solidFill>
                            <a:srgbClr val="3A464C"/>
                          </a:solidFill>
                          <a:latin typeface="Calibri" pitchFamily="34" charset="0"/>
                          <a:ea typeface="Calibri" pitchFamily="34" charset="-122"/>
                          <a:cs typeface="Calibri" pitchFamily="34" charset="-120"/>
                        </a:rPr>
                        <a:t>2</a:t>
                      </a:r>
                      <a:endParaRPr lang="en-US" sz="1400" dirty="0">
                        <a:latin typeface="Calibri" charset="0"/>
                        <a:ea typeface="Calibri" charset="0"/>
                        <a:cs typeface="Calibri" charset="0"/>
                      </a:endParaRPr>
                    </a:p>
                  </a:txBody>
                  <a:tcPr marL="76200" marR="762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en-US" sz="1400" dirty="0">
                          <a:solidFill>
                            <a:srgbClr val="3A464C"/>
                          </a:solidFill>
                          <a:latin typeface="Calibri" pitchFamily="34" charset="0"/>
                          <a:ea typeface="Calibri" pitchFamily="34" charset="-122"/>
                          <a:cs typeface="Calibri" pitchFamily="34" charset="-120"/>
                        </a:rPr>
                        <a:t>Microkernel vs monolithic (one request)</a:t>
                      </a:r>
                      <a:endParaRPr lang="en-US" sz="1400" dirty="0">
                        <a:latin typeface="Calibri" charset="0"/>
                        <a:ea typeface="Calibri" charset="0"/>
                        <a:cs typeface="Calibri" charset="0"/>
                      </a:endParaRPr>
                    </a:p>
                  </a:txBody>
                  <a:tcPr marL="76200" marR="762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en-US" sz="1400" dirty="0">
                          <a:solidFill>
                            <a:srgbClr val="3A464C"/>
                          </a:solidFill>
                          <a:latin typeface="Calibri" pitchFamily="34" charset="0"/>
                          <a:ea typeface="Calibri" pitchFamily="34" charset="-122"/>
                          <a:cs typeface="Calibri" pitchFamily="34" charset="-120"/>
                        </a:rPr>
                        <a:t>T_mono = 2t_s + t_w;   T_µ = 4t_s + 2t_c + t_w</a:t>
                      </a:r>
                      <a:endParaRPr lang="en-US" sz="1400" dirty="0">
                        <a:latin typeface="Calibri" charset="0"/>
                        <a:ea typeface="Calibri" charset="0"/>
                        <a:cs typeface="Calibri" charset="0"/>
                      </a:endParaRPr>
                    </a:p>
                  </a:txBody>
                  <a:tcPr marL="76200" marR="762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r>
              <a:tr h="0">
                <a:tc>
                  <a:txBody>
                    <a:bodyPr/>
                    <a:lstStyle/>
                    <a:p>
                      <a:pPr indent="0" marL="0">
                        <a:buNone/>
                      </a:pPr>
                      <a:r>
                        <a:rPr lang="en-US" sz="1400" b="1" dirty="0">
                          <a:solidFill>
                            <a:srgbClr val="3A464C"/>
                          </a:solidFill>
                          <a:latin typeface="Calibri" pitchFamily="34" charset="0"/>
                          <a:ea typeface="Calibri" pitchFamily="34" charset="-122"/>
                          <a:cs typeface="Calibri" pitchFamily="34" charset="-120"/>
                        </a:rPr>
                        <a:t>3, 5</a:t>
                      </a:r>
                      <a:endParaRPr lang="en-US" sz="1400" dirty="0">
                        <a:latin typeface="Calibri" charset="0"/>
                        <a:ea typeface="Calibri" charset="0"/>
                        <a:cs typeface="Calibri" charset="0"/>
                      </a:endParaRPr>
                    </a:p>
                  </a:txBody>
                  <a:tcPr marL="76200" marR="762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en-US" sz="1400" dirty="0">
                          <a:solidFill>
                            <a:srgbClr val="3A464C"/>
                          </a:solidFill>
                          <a:latin typeface="Calibri" pitchFamily="34" charset="0"/>
                          <a:ea typeface="Calibri" pitchFamily="34" charset="-122"/>
                          <a:cs typeface="Calibri" pitchFamily="34" charset="-120"/>
                        </a:rPr>
                        <a:t>Context-switch (RR) overhead</a:t>
                      </a:r>
                      <a:endParaRPr lang="en-US" sz="1400" dirty="0">
                        <a:latin typeface="Calibri" charset="0"/>
                        <a:ea typeface="Calibri" charset="0"/>
                        <a:cs typeface="Calibri" charset="0"/>
                      </a:endParaRPr>
                    </a:p>
                  </a:txBody>
                  <a:tcPr marL="76200" marR="762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en-US" sz="1400" dirty="0">
                          <a:solidFill>
                            <a:srgbClr val="3A464C"/>
                          </a:solidFill>
                          <a:latin typeface="Calibri" pitchFamily="34" charset="0"/>
                          <a:ea typeface="Calibri" pitchFamily="34" charset="-122"/>
                          <a:cs typeface="Calibri" pitchFamily="34" charset="-120"/>
                        </a:rPr>
                        <a:t>s / (q + s)</a:t>
                      </a:r>
                      <a:endParaRPr lang="en-US" sz="1400" dirty="0">
                        <a:latin typeface="Calibri" charset="0"/>
                        <a:ea typeface="Calibri" charset="0"/>
                        <a:cs typeface="Calibri" charset="0"/>
                      </a:endParaRPr>
                    </a:p>
                  </a:txBody>
                  <a:tcPr marL="76200" marR="762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r>
              <a:tr h="0">
                <a:tc>
                  <a:txBody>
                    <a:bodyPr/>
                    <a:lstStyle/>
                    <a:p>
                      <a:pPr indent="0" marL="0">
                        <a:buNone/>
                      </a:pPr>
                      <a:r>
                        <a:rPr lang="en-US" sz="1400" b="1" dirty="0">
                          <a:solidFill>
                            <a:srgbClr val="3A464C"/>
                          </a:solidFill>
                          <a:latin typeface="Calibri" pitchFamily="34" charset="0"/>
                          <a:ea typeface="Calibri" pitchFamily="34" charset="-122"/>
                          <a:cs typeface="Calibri" pitchFamily="34" charset="-120"/>
                        </a:rPr>
                        <a:t>3</a:t>
                      </a:r>
                      <a:endParaRPr lang="en-US" sz="1400" dirty="0">
                        <a:latin typeface="Calibri" charset="0"/>
                        <a:ea typeface="Calibri" charset="0"/>
                        <a:cs typeface="Calibri" charset="0"/>
                      </a:endParaRPr>
                    </a:p>
                  </a:txBody>
                  <a:tcPr marL="76200" marR="762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en-US" sz="1400" dirty="0">
                          <a:solidFill>
                            <a:srgbClr val="3A464C"/>
                          </a:solidFill>
                          <a:latin typeface="Calibri" pitchFamily="34" charset="0"/>
                          <a:ea typeface="Calibri" pitchFamily="34" charset="-122"/>
                          <a:cs typeface="Calibri" pitchFamily="34" charset="-120"/>
                        </a:rPr>
                        <a:t>Processes after n fork() calls in a row</a:t>
                      </a:r>
                      <a:endParaRPr lang="en-US" sz="1400" dirty="0">
                        <a:latin typeface="Calibri" charset="0"/>
                        <a:ea typeface="Calibri" charset="0"/>
                        <a:cs typeface="Calibri" charset="0"/>
                      </a:endParaRPr>
                    </a:p>
                  </a:txBody>
                  <a:tcPr marL="76200" marR="762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en-US" sz="1400" dirty="0">
                          <a:solidFill>
                            <a:srgbClr val="3A464C"/>
                          </a:solidFill>
                          <a:latin typeface="Calibri" pitchFamily="34" charset="0"/>
                          <a:ea typeface="Calibri" pitchFamily="34" charset="-122"/>
                          <a:cs typeface="Calibri" pitchFamily="34" charset="-120"/>
                        </a:rPr>
                        <a:t>2ⁿ  (2ⁿ − 1 created)</a:t>
                      </a:r>
                      <a:endParaRPr lang="en-US" sz="1400" dirty="0">
                        <a:latin typeface="Calibri" charset="0"/>
                        <a:ea typeface="Calibri" charset="0"/>
                        <a:cs typeface="Calibri" charset="0"/>
                      </a:endParaRPr>
                    </a:p>
                  </a:txBody>
                  <a:tcPr marL="76200" marR="762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r>
              <a:tr h="0">
                <a:tc>
                  <a:txBody>
                    <a:bodyPr/>
                    <a:lstStyle/>
                    <a:p>
                      <a:pPr indent="0" marL="0">
                        <a:buNone/>
                      </a:pPr>
                      <a:r>
                        <a:rPr lang="en-US" sz="1400" b="1" dirty="0">
                          <a:solidFill>
                            <a:srgbClr val="3A464C"/>
                          </a:solidFill>
                          <a:latin typeface="Calibri" pitchFamily="34" charset="0"/>
                          <a:ea typeface="Calibri" pitchFamily="34" charset="-122"/>
                          <a:cs typeface="Calibri" pitchFamily="34" charset="-120"/>
                        </a:rPr>
                        <a:t>4</a:t>
                      </a:r>
                      <a:endParaRPr lang="en-US" sz="1400" dirty="0">
                        <a:latin typeface="Calibri" charset="0"/>
                        <a:ea typeface="Calibri" charset="0"/>
                        <a:cs typeface="Calibri" charset="0"/>
                      </a:endParaRPr>
                    </a:p>
                  </a:txBody>
                  <a:tcPr marL="76200" marR="762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en-US" sz="1400" dirty="0">
                          <a:solidFill>
                            <a:srgbClr val="3A464C"/>
                          </a:solidFill>
                          <a:latin typeface="Calibri" pitchFamily="34" charset="0"/>
                          <a:ea typeface="Calibri" pitchFamily="34" charset="-122"/>
                          <a:cs typeface="Calibri" pitchFamily="34" charset="-120"/>
                        </a:rPr>
                        <a:t>Amdahl's law</a:t>
                      </a:r>
                      <a:endParaRPr lang="en-US" sz="1400" dirty="0">
                        <a:latin typeface="Calibri" charset="0"/>
                        <a:ea typeface="Calibri" charset="0"/>
                        <a:cs typeface="Calibri" charset="0"/>
                      </a:endParaRPr>
                    </a:p>
                  </a:txBody>
                  <a:tcPr marL="76200" marR="762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en-US" sz="1400" dirty="0">
                          <a:solidFill>
                            <a:srgbClr val="3A464C"/>
                          </a:solidFill>
                          <a:latin typeface="Calibri" pitchFamily="34" charset="0"/>
                          <a:ea typeface="Calibri" pitchFamily="34" charset="-122"/>
                          <a:cs typeface="Calibri" pitchFamily="34" charset="-120"/>
                        </a:rPr>
                        <a:t>speedup ≤ 1 / (S + (1 − S)/N);  limit 1/S</a:t>
                      </a:r>
                      <a:endParaRPr lang="en-US" sz="1400" dirty="0">
                        <a:latin typeface="Calibri" charset="0"/>
                        <a:ea typeface="Calibri" charset="0"/>
                        <a:cs typeface="Calibri" charset="0"/>
                      </a:endParaRPr>
                    </a:p>
                  </a:txBody>
                  <a:tcPr marL="76200" marR="762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r>
              <a:tr h="0">
                <a:tc>
                  <a:txBody>
                    <a:bodyPr/>
                    <a:lstStyle/>
                    <a:p>
                      <a:pPr indent="0" marL="0">
                        <a:buNone/>
                      </a:pPr>
                      <a:r>
                        <a:rPr lang="en-US" sz="1400" b="1" dirty="0">
                          <a:solidFill>
                            <a:srgbClr val="3A464C"/>
                          </a:solidFill>
                          <a:latin typeface="Calibri" pitchFamily="34" charset="0"/>
                          <a:ea typeface="Calibri" pitchFamily="34" charset="-122"/>
                          <a:cs typeface="Calibri" pitchFamily="34" charset="-120"/>
                        </a:rPr>
                        <a:t>4</a:t>
                      </a:r>
                      <a:endParaRPr lang="en-US" sz="1400" dirty="0">
                        <a:latin typeface="Calibri" charset="0"/>
                        <a:ea typeface="Calibri" charset="0"/>
                        <a:cs typeface="Calibri" charset="0"/>
                      </a:endParaRPr>
                    </a:p>
                  </a:txBody>
                  <a:tcPr marL="76200" marR="762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en-US" sz="1400" dirty="0">
                          <a:solidFill>
                            <a:srgbClr val="3A464C"/>
                          </a:solidFill>
                          <a:latin typeface="Calibri" pitchFamily="34" charset="0"/>
                          <a:ea typeface="Calibri" pitchFamily="34" charset="-122"/>
                          <a:cs typeface="Calibri" pitchFamily="34" charset="-120"/>
                        </a:rPr>
                        <a:t>Turnaround and waiting time</a:t>
                      </a:r>
                      <a:endParaRPr lang="en-US" sz="1400" dirty="0">
                        <a:latin typeface="Calibri" charset="0"/>
                        <a:ea typeface="Calibri" charset="0"/>
                        <a:cs typeface="Calibri" charset="0"/>
                      </a:endParaRPr>
                    </a:p>
                  </a:txBody>
                  <a:tcPr marL="76200" marR="762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en-US" sz="1400" dirty="0">
                          <a:solidFill>
                            <a:srgbClr val="3A464C"/>
                          </a:solidFill>
                          <a:latin typeface="Calibri" pitchFamily="34" charset="0"/>
                          <a:ea typeface="Calibri" pitchFamily="34" charset="-122"/>
                          <a:cs typeface="Calibri" pitchFamily="34" charset="-120"/>
                        </a:rPr>
                        <a:t>T_turnaround = T_completion − T_arrival;  T_waiting = T_turnaround − T_burst</a:t>
                      </a:r>
                      <a:endParaRPr lang="en-US" sz="1400" dirty="0">
                        <a:latin typeface="Calibri" charset="0"/>
                        <a:ea typeface="Calibri" charset="0"/>
                        <a:cs typeface="Calibri" charset="0"/>
                      </a:endParaRPr>
                    </a:p>
                  </a:txBody>
                  <a:tcPr marL="76200" marR="762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r>
              <a:tr h="0">
                <a:tc>
                  <a:txBody>
                    <a:bodyPr/>
                    <a:lstStyle/>
                    <a:p>
                      <a:pPr indent="0" marL="0">
                        <a:buNone/>
                      </a:pPr>
                      <a:r>
                        <a:rPr lang="en-US" sz="1400" b="1" dirty="0">
                          <a:solidFill>
                            <a:srgbClr val="3A464C"/>
                          </a:solidFill>
                          <a:latin typeface="Calibri" pitchFamily="34" charset="0"/>
                          <a:ea typeface="Calibri" pitchFamily="34" charset="-122"/>
                          <a:cs typeface="Calibri" pitchFamily="34" charset="-120"/>
                        </a:rPr>
                        <a:t>4</a:t>
                      </a:r>
                      <a:endParaRPr lang="en-US" sz="1400" dirty="0">
                        <a:latin typeface="Calibri" charset="0"/>
                        <a:ea typeface="Calibri" charset="0"/>
                        <a:cs typeface="Calibri" charset="0"/>
                      </a:endParaRPr>
                    </a:p>
                  </a:txBody>
                  <a:tcPr marL="76200" marR="762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en-US" sz="1400" dirty="0">
                          <a:solidFill>
                            <a:srgbClr val="3A464C"/>
                          </a:solidFill>
                          <a:latin typeface="Calibri" pitchFamily="34" charset="0"/>
                          <a:ea typeface="Calibri" pitchFamily="34" charset="-122"/>
                          <a:cs typeface="Calibri" pitchFamily="34" charset="-120"/>
                        </a:rPr>
                        <a:t>Response time</a:t>
                      </a:r>
                      <a:endParaRPr lang="en-US" sz="1400" dirty="0">
                        <a:latin typeface="Calibri" charset="0"/>
                        <a:ea typeface="Calibri" charset="0"/>
                        <a:cs typeface="Calibri" charset="0"/>
                      </a:endParaRPr>
                    </a:p>
                  </a:txBody>
                  <a:tcPr marL="76200" marR="762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en-US" sz="1400" dirty="0">
                          <a:solidFill>
                            <a:srgbClr val="3A464C"/>
                          </a:solidFill>
                          <a:latin typeface="Calibri" pitchFamily="34" charset="0"/>
                          <a:ea typeface="Calibri" pitchFamily="34" charset="-122"/>
                          <a:cs typeface="Calibri" pitchFamily="34" charset="-120"/>
                        </a:rPr>
                        <a:t>T_response = T_first run − T_arrival</a:t>
                      </a:r>
                      <a:endParaRPr lang="en-US" sz="1400" dirty="0">
                        <a:latin typeface="Calibri" charset="0"/>
                        <a:ea typeface="Calibri" charset="0"/>
                        <a:cs typeface="Calibri" charset="0"/>
                      </a:endParaRPr>
                    </a:p>
                  </a:txBody>
                  <a:tcPr marL="76200" marR="762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r>
              <a:tr h="0">
                <a:tc>
                  <a:txBody>
                    <a:bodyPr/>
                    <a:lstStyle/>
                    <a:p>
                      <a:pPr indent="0" marL="0">
                        <a:buNone/>
                      </a:pPr>
                      <a:r>
                        <a:rPr lang="en-US" sz="1400" b="1" dirty="0">
                          <a:solidFill>
                            <a:srgbClr val="3A464C"/>
                          </a:solidFill>
                          <a:latin typeface="Calibri" pitchFamily="34" charset="0"/>
                          <a:ea typeface="Calibri" pitchFamily="34" charset="-122"/>
                          <a:cs typeface="Calibri" pitchFamily="34" charset="-120"/>
                        </a:rPr>
                        <a:t>5</a:t>
                      </a:r>
                      <a:endParaRPr lang="en-US" sz="1400" dirty="0">
                        <a:latin typeface="Calibri" charset="0"/>
                        <a:ea typeface="Calibri" charset="0"/>
                        <a:cs typeface="Calibri" charset="0"/>
                      </a:endParaRPr>
                    </a:p>
                  </a:txBody>
                  <a:tcPr marL="76200" marR="762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en-US" sz="1400" dirty="0">
                          <a:solidFill>
                            <a:srgbClr val="3A464C"/>
                          </a:solidFill>
                          <a:latin typeface="Calibri" pitchFamily="34" charset="0"/>
                          <a:ea typeface="Calibri" pitchFamily="34" charset="-122"/>
                          <a:cs typeface="Calibri" pitchFamily="34" charset="-120"/>
                        </a:rPr>
                        <a:t>Exponential average of bursts</a:t>
                      </a:r>
                      <a:endParaRPr lang="en-US" sz="1400" dirty="0">
                        <a:latin typeface="Calibri" charset="0"/>
                        <a:ea typeface="Calibri" charset="0"/>
                        <a:cs typeface="Calibri" charset="0"/>
                      </a:endParaRPr>
                    </a:p>
                  </a:txBody>
                  <a:tcPr marL="76200" marR="762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en-US" sz="1400" dirty="0">
                          <a:solidFill>
                            <a:srgbClr val="3A464C"/>
                          </a:solidFill>
                          <a:latin typeface="Calibri" pitchFamily="34" charset="0"/>
                          <a:ea typeface="Calibri" pitchFamily="34" charset="-122"/>
                          <a:cs typeface="Calibri" pitchFamily="34" charset="-120"/>
                        </a:rPr>
                        <a:t>τₙ₊₁ = α tₙ + (1 − α) τₙ</a:t>
                      </a:r>
                      <a:endParaRPr lang="en-US" sz="1400" dirty="0">
                        <a:latin typeface="Calibri" charset="0"/>
                        <a:ea typeface="Calibri" charset="0"/>
                        <a:cs typeface="Calibri" charset="0"/>
                      </a:endParaRPr>
                    </a:p>
                  </a:txBody>
                  <a:tcPr marL="76200" marR="762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r>
              <a:tr h="0">
                <a:tc>
                  <a:txBody>
                    <a:bodyPr/>
                    <a:lstStyle/>
                    <a:p>
                      <a:pPr indent="0" marL="0">
                        <a:buNone/>
                      </a:pPr>
                      <a:r>
                        <a:rPr lang="en-US" sz="1400" b="1" dirty="0">
                          <a:solidFill>
                            <a:srgbClr val="3A464C"/>
                          </a:solidFill>
                          <a:latin typeface="Calibri" pitchFamily="34" charset="0"/>
                          <a:ea typeface="Calibri" pitchFamily="34" charset="-122"/>
                          <a:cs typeface="Calibri" pitchFamily="34" charset="-120"/>
                        </a:rPr>
                        <a:t>6</a:t>
                      </a:r>
                      <a:endParaRPr lang="en-US" sz="1400" dirty="0">
                        <a:latin typeface="Calibri" charset="0"/>
                        <a:ea typeface="Calibri" charset="0"/>
                        <a:cs typeface="Calibri" charset="0"/>
                      </a:endParaRPr>
                    </a:p>
                  </a:txBody>
                  <a:tcPr marL="76200" marR="762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en-US" sz="1400" dirty="0">
                          <a:solidFill>
                            <a:srgbClr val="3A464C"/>
                          </a:solidFill>
                          <a:latin typeface="Calibri" pitchFamily="34" charset="0"/>
                          <a:ea typeface="Calibri" pitchFamily="34" charset="-122"/>
                          <a:cs typeface="Calibri" pitchFamily="34" charset="-120"/>
                        </a:rPr>
                        <a:t>Base and limit</a:t>
                      </a:r>
                      <a:endParaRPr lang="en-US" sz="1400" dirty="0">
                        <a:latin typeface="Calibri" charset="0"/>
                        <a:ea typeface="Calibri" charset="0"/>
                        <a:cs typeface="Calibri" charset="0"/>
                      </a:endParaRPr>
                    </a:p>
                  </a:txBody>
                  <a:tcPr marL="76200" marR="762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en-US" sz="1400" dirty="0">
                          <a:solidFill>
                            <a:srgbClr val="3A464C"/>
                          </a:solidFill>
                          <a:latin typeface="Calibri" pitchFamily="34" charset="0"/>
                          <a:ea typeface="Calibri" pitchFamily="34" charset="-122"/>
                          <a:cs typeface="Calibri" pitchFamily="34" charset="-120"/>
                        </a:rPr>
                        <a:t>0 ≤ a &lt; limit → base + a, else trap</a:t>
                      </a:r>
                      <a:endParaRPr lang="en-US" sz="1400" dirty="0">
                        <a:latin typeface="Calibri" charset="0"/>
                        <a:ea typeface="Calibri" charset="0"/>
                        <a:cs typeface="Calibri" charset="0"/>
                      </a:endParaRPr>
                    </a:p>
                  </a:txBody>
                  <a:tcPr marL="76200" marR="762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r>
              <a:tr h="0">
                <a:tc>
                  <a:txBody>
                    <a:bodyPr/>
                    <a:lstStyle/>
                    <a:p>
                      <a:pPr indent="0" marL="0">
                        <a:buNone/>
                      </a:pPr>
                      <a:r>
                        <a:rPr lang="en-US" sz="1400" b="1" dirty="0">
                          <a:solidFill>
                            <a:srgbClr val="3A464C"/>
                          </a:solidFill>
                          <a:latin typeface="Calibri" pitchFamily="34" charset="0"/>
                          <a:ea typeface="Calibri" pitchFamily="34" charset="-122"/>
                          <a:cs typeface="Calibri" pitchFamily="34" charset="-120"/>
                        </a:rPr>
                        <a:t>6</a:t>
                      </a:r>
                      <a:endParaRPr lang="en-US" sz="1400" dirty="0">
                        <a:latin typeface="Calibri" charset="0"/>
                        <a:ea typeface="Calibri" charset="0"/>
                        <a:cs typeface="Calibri" charset="0"/>
                      </a:endParaRPr>
                    </a:p>
                  </a:txBody>
                  <a:tcPr marL="76200" marR="762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en-US" sz="1400" dirty="0">
                          <a:solidFill>
                            <a:srgbClr val="3A464C"/>
                          </a:solidFill>
                          <a:latin typeface="Calibri" pitchFamily="34" charset="0"/>
                          <a:ea typeface="Calibri" pitchFamily="34" charset="-122"/>
                          <a:cs typeface="Calibri" pitchFamily="34" charset="-120"/>
                        </a:rPr>
                        <a:t>Paging</a:t>
                      </a:r>
                      <a:endParaRPr lang="en-US" sz="1400" dirty="0">
                        <a:latin typeface="Calibri" charset="0"/>
                        <a:ea typeface="Calibri" charset="0"/>
                        <a:cs typeface="Calibri" charset="0"/>
                      </a:endParaRPr>
                    </a:p>
                  </a:txBody>
                  <a:tcPr marL="76200" marR="762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en-US" sz="1400" dirty="0">
                          <a:solidFill>
                            <a:srgbClr val="3A464C"/>
                          </a:solidFill>
                          <a:latin typeface="Calibri" pitchFamily="34" charset="0"/>
                          <a:ea typeface="Calibri" pitchFamily="34" charset="-122"/>
                          <a:cs typeface="Calibri" pitchFamily="34" charset="-120"/>
                        </a:rPr>
                        <a:t>p = ⌊a/2ⁿ⌋, d = a mod 2ⁿ;  a_phys = f · 2ⁿ + d</a:t>
                      </a:r>
                      <a:endParaRPr lang="en-US" sz="1400" dirty="0">
                        <a:latin typeface="Calibri" charset="0"/>
                        <a:ea typeface="Calibri" charset="0"/>
                        <a:cs typeface="Calibri" charset="0"/>
                      </a:endParaRPr>
                    </a:p>
                  </a:txBody>
                  <a:tcPr marL="76200" marR="762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r>
              <a:tr h="0">
                <a:tc>
                  <a:txBody>
                    <a:bodyPr/>
                    <a:lstStyle/>
                    <a:p>
                      <a:pPr indent="0" marL="0">
                        <a:buNone/>
                      </a:pPr>
                      <a:r>
                        <a:rPr lang="en-US" sz="1400" b="1" dirty="0">
                          <a:solidFill>
                            <a:srgbClr val="3A464C"/>
                          </a:solidFill>
                          <a:latin typeface="Calibri" pitchFamily="34" charset="0"/>
                          <a:ea typeface="Calibri" pitchFamily="34" charset="-122"/>
                          <a:cs typeface="Calibri" pitchFamily="34" charset="-120"/>
                        </a:rPr>
                        <a:t>6</a:t>
                      </a:r>
                      <a:endParaRPr lang="en-US" sz="1400" dirty="0">
                        <a:latin typeface="Calibri" charset="0"/>
                        <a:ea typeface="Calibri" charset="0"/>
                        <a:cs typeface="Calibri" charset="0"/>
                      </a:endParaRPr>
                    </a:p>
                  </a:txBody>
                  <a:tcPr marL="76200" marR="762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en-US" sz="1400" dirty="0">
                          <a:solidFill>
                            <a:srgbClr val="3A464C"/>
                          </a:solidFill>
                          <a:latin typeface="Calibri" pitchFamily="34" charset="0"/>
                          <a:ea typeface="Calibri" pitchFamily="34" charset="-122"/>
                          <a:cs typeface="Calibri" pitchFamily="34" charset="-120"/>
                        </a:rPr>
                        <a:t>TLB effective access time</a:t>
                      </a:r>
                      <a:endParaRPr lang="en-US" sz="1400" dirty="0">
                        <a:latin typeface="Calibri" charset="0"/>
                        <a:ea typeface="Calibri" charset="0"/>
                        <a:cs typeface="Calibri" charset="0"/>
                      </a:endParaRPr>
                    </a:p>
                  </a:txBody>
                  <a:tcPr marL="76200" marR="762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en-US" sz="1400" dirty="0">
                          <a:solidFill>
                            <a:srgbClr val="3A464C"/>
                          </a:solidFill>
                          <a:latin typeface="Calibri" pitchFamily="34" charset="0"/>
                          <a:ea typeface="Calibri" pitchFamily="34" charset="-122"/>
                          <a:cs typeface="Calibri" pitchFamily="34" charset="-120"/>
                        </a:rPr>
                        <a:t>EAT = t_TLB + (2 − α) t_m</a:t>
                      </a:r>
                      <a:endParaRPr lang="en-US" sz="1400" dirty="0">
                        <a:latin typeface="Calibri" charset="0"/>
                        <a:ea typeface="Calibri" charset="0"/>
                        <a:cs typeface="Calibri" charset="0"/>
                      </a:endParaRPr>
                    </a:p>
                  </a:txBody>
                  <a:tcPr marL="76200" marR="762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r>
              <a:tr h="0">
                <a:tc>
                  <a:txBody>
                    <a:bodyPr/>
                    <a:lstStyle/>
                    <a:p>
                      <a:pPr indent="0" marL="0">
                        <a:buNone/>
                      </a:pPr>
                      <a:r>
                        <a:rPr lang="en-US" sz="1400" b="1" dirty="0">
                          <a:solidFill>
                            <a:srgbClr val="3A464C"/>
                          </a:solidFill>
                          <a:latin typeface="Calibri" pitchFamily="34" charset="0"/>
                          <a:ea typeface="Calibri" pitchFamily="34" charset="-122"/>
                          <a:cs typeface="Calibri" pitchFamily="34" charset="-120"/>
                        </a:rPr>
                        <a:t>7</a:t>
                      </a:r>
                      <a:endParaRPr lang="en-US" sz="1400" dirty="0">
                        <a:latin typeface="Calibri" charset="0"/>
                        <a:ea typeface="Calibri" charset="0"/>
                        <a:cs typeface="Calibri" charset="0"/>
                      </a:endParaRPr>
                    </a:p>
                  </a:txBody>
                  <a:tcPr marL="76200" marR="762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en-US" sz="1400" dirty="0">
                          <a:solidFill>
                            <a:srgbClr val="3A464C"/>
                          </a:solidFill>
                          <a:latin typeface="Calibri" pitchFamily="34" charset="0"/>
                          <a:ea typeface="Calibri" pitchFamily="34" charset="-122"/>
                          <a:cs typeface="Calibri" pitchFamily="34" charset="-120"/>
                        </a:rPr>
                        <a:t>Page-fault effective access time</a:t>
                      </a:r>
                      <a:endParaRPr lang="en-US" sz="1400" dirty="0">
                        <a:latin typeface="Calibri" charset="0"/>
                        <a:ea typeface="Calibri" charset="0"/>
                        <a:cs typeface="Calibri" charset="0"/>
                      </a:endParaRPr>
                    </a:p>
                  </a:txBody>
                  <a:tcPr marL="76200" marR="762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en-US" sz="1400" dirty="0">
                          <a:solidFill>
                            <a:srgbClr val="3A464C"/>
                          </a:solidFill>
                          <a:latin typeface="Calibri" pitchFamily="34" charset="0"/>
                          <a:ea typeface="Calibri" pitchFamily="34" charset="-122"/>
                          <a:cs typeface="Calibri" pitchFamily="34" charset="-120"/>
                        </a:rPr>
                        <a:t>EAT = (1 − p) t_m + p t_fault</a:t>
                      </a:r>
                      <a:endParaRPr lang="en-US" sz="1400" dirty="0">
                        <a:latin typeface="Calibri" charset="0"/>
                        <a:ea typeface="Calibri" charset="0"/>
                        <a:cs typeface="Calibri" charset="0"/>
                      </a:endParaRPr>
                    </a:p>
                  </a:txBody>
                  <a:tcPr marL="76200" marR="762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r>
              <a:tr h="0">
                <a:tc>
                  <a:txBody>
                    <a:bodyPr/>
                    <a:lstStyle/>
                    <a:p>
                      <a:pPr indent="0" marL="0">
                        <a:buNone/>
                      </a:pPr>
                      <a:r>
                        <a:rPr lang="en-US" sz="1400" b="1" dirty="0">
                          <a:solidFill>
                            <a:srgbClr val="3A464C"/>
                          </a:solidFill>
                          <a:latin typeface="Calibri" pitchFamily="34" charset="0"/>
                          <a:ea typeface="Calibri" pitchFamily="34" charset="-122"/>
                          <a:cs typeface="Calibri" pitchFamily="34" charset="-120"/>
                        </a:rPr>
                        <a:t>7</a:t>
                      </a:r>
                      <a:endParaRPr lang="en-US" sz="1400" dirty="0">
                        <a:latin typeface="Calibri" charset="0"/>
                        <a:ea typeface="Calibri" charset="0"/>
                        <a:cs typeface="Calibri" charset="0"/>
                      </a:endParaRPr>
                    </a:p>
                  </a:txBody>
                  <a:tcPr marL="76200" marR="762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en-US" sz="1400" dirty="0">
                          <a:solidFill>
                            <a:srgbClr val="3A464C"/>
                          </a:solidFill>
                          <a:latin typeface="Calibri" pitchFamily="34" charset="0"/>
                          <a:ea typeface="Calibri" pitchFamily="34" charset="-122"/>
                          <a:cs typeface="Calibri" pitchFamily="34" charset="-120"/>
                        </a:rPr>
                        <a:t>Direct access, record k</a:t>
                      </a:r>
                      <a:endParaRPr lang="en-US" sz="1400" dirty="0">
                        <a:latin typeface="Calibri" charset="0"/>
                        <a:ea typeface="Calibri" charset="0"/>
                        <a:cs typeface="Calibri" charset="0"/>
                      </a:endParaRPr>
                    </a:p>
                  </a:txBody>
                  <a:tcPr marL="76200" marR="762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en-US" sz="1400" dirty="0">
                          <a:solidFill>
                            <a:srgbClr val="3A464C"/>
                          </a:solidFill>
                          <a:latin typeface="Calibri" pitchFamily="34" charset="0"/>
                          <a:ea typeface="Calibri" pitchFamily="34" charset="-122"/>
                          <a:cs typeface="Calibri" pitchFamily="34" charset="-120"/>
                        </a:rPr>
                        <a:t>block = ⌊kR / B⌋;  offset = kR − block · B</a:t>
                      </a:r>
                      <a:endParaRPr lang="en-US" sz="1400" dirty="0">
                        <a:latin typeface="Calibri" charset="0"/>
                        <a:ea typeface="Calibri" charset="0"/>
                        <a:cs typeface="Calibri" charset="0"/>
                      </a:endParaRPr>
                    </a:p>
                  </a:txBody>
                  <a:tcPr marL="76200" marR="762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r>
            </a:tbl>
          </a:graphicData>
        </a:graphic>
      </p:graphicFrame>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212121"/>
        </a:solidFill>
      </p:bgPr>
    </p:bg>
    <p:spTree>
      <p:nvGrpSpPr>
        <p:cNvPr id="1" name=""/>
        <p:cNvGrpSpPr/>
        <p:nvPr/>
      </p:nvGrpSpPr>
      <p:grpSpPr>
        <a:xfrm>
          <a:off x="0" y="0"/>
          <a:ext cx="0" cy="0"/>
          <a:chOff x="0" y="0"/>
          <a:chExt cx="0" cy="0"/>
        </a:xfrm>
      </p:grpSpPr>
      <p:sp>
        <p:nvSpPr>
          <p:cNvPr id="2" name="Text 0"/>
          <p:cNvSpPr txBox="1"/>
          <p:nvPr/>
        </p:nvSpPr>
        <p:spPr>
          <a:xfrm>
            <a:off x="548640" y="2514600"/>
            <a:ext cx="9144000" cy="320040"/>
          </a:xfrm>
          <a:prstGeom prst="rect">
            <a:avLst/>
          </a:prstGeom>
          <a:noFill/>
          <a:ln/>
        </p:spPr>
        <p:txBody>
          <a:bodyPr wrap="square" lIns="0" tIns="0" rIns="0" bIns="0" rtlCol="0" anchor="ctr"/>
          <a:lstStyle/>
          <a:p>
            <a:pPr indent="0" marL="0">
              <a:buNone/>
            </a:pPr>
            <a:r>
              <a:rPr lang="en-US" sz="1300" b="1" spc="300" kern="0" dirty="0">
                <a:solidFill>
                  <a:srgbClr val="02C39A"/>
                </a:solidFill>
                <a:latin typeface="Calibri" pitchFamily="34" charset="0"/>
                <a:ea typeface="Calibri" pitchFamily="34" charset="-122"/>
                <a:cs typeface="Calibri" pitchFamily="34" charset="-120"/>
              </a:rPr>
              <a:t>INTERMISSION</a:t>
            </a:r>
            <a:endParaRPr lang="en-US" sz="1300" dirty="0"/>
          </a:p>
        </p:txBody>
      </p:sp>
      <p:sp>
        <p:nvSpPr>
          <p:cNvPr id="3" name="Text 1"/>
          <p:cNvSpPr txBox="1"/>
          <p:nvPr/>
        </p:nvSpPr>
        <p:spPr>
          <a:xfrm>
            <a:off x="548640" y="2880360"/>
            <a:ext cx="10972800" cy="868680"/>
          </a:xfrm>
          <a:prstGeom prst="rect">
            <a:avLst/>
          </a:prstGeom>
          <a:noFill/>
          <a:ln/>
        </p:spPr>
        <p:txBody>
          <a:bodyPr wrap="square" lIns="0" tIns="0" rIns="0" bIns="0"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10-Minute Break</a:t>
            </a:r>
            <a:endParaRPr lang="en-US" sz="3800" dirty="0"/>
          </a:p>
        </p:txBody>
      </p:sp>
      <p:sp>
        <p:nvSpPr>
          <p:cNvPr id="4" name="Text 2"/>
          <p:cNvSpPr txBox="1"/>
          <p:nvPr/>
        </p:nvSpPr>
        <p:spPr>
          <a:xfrm>
            <a:off x="548640" y="3794760"/>
            <a:ext cx="10515600" cy="457200"/>
          </a:xfrm>
          <a:prstGeom prst="rect">
            <a:avLst/>
          </a:prstGeom>
          <a:noFill/>
          <a:ln/>
        </p:spPr>
        <p:txBody>
          <a:bodyPr wrap="square" lIns="0" tIns="0" rIns="0" bIns="0" rtlCol="0" anchor="ctr"/>
          <a:lstStyle/>
          <a:p>
            <a:pPr indent="0" marL="0">
              <a:buNone/>
            </a:pPr>
            <a:r>
              <a:rPr lang="en-US" sz="1600" i="1" dirty="0">
                <a:solidFill>
                  <a:srgbClr val="F2F2F2"/>
                </a:solidFill>
                <a:latin typeface="Calibri" pitchFamily="34" charset="0"/>
                <a:ea typeface="Calibri" pitchFamily="34" charset="-122"/>
                <a:cs typeface="Calibri" pitchFamily="34" charset="-120"/>
              </a:rPr>
              <a:t>Next: seven worked problems — one for every numerical question type.</a:t>
            </a:r>
            <a:endParaRPr lang="en-US" sz="1600" dirty="0"/>
          </a:p>
        </p:txBody>
      </p:sp>
      <p:sp>
        <p:nvSpPr>
          <p:cNvPr id="5" name="Text 3"/>
          <p:cNvSpPr txBox="1"/>
          <p:nvPr/>
        </p:nvSpPr>
        <p:spPr>
          <a:xfrm>
            <a:off x="548640" y="6528816"/>
            <a:ext cx="6400800" cy="274320"/>
          </a:xfrm>
          <a:prstGeom prst="rect">
            <a:avLst/>
          </a:prstGeom>
          <a:noFill/>
          <a:ln/>
        </p:spPr>
        <p:txBody>
          <a:bodyPr wrap="square" lIns="0" tIns="0" rIns="0" bIns="0" rtlCol="0" anchor="ctr"/>
          <a:lstStyle/>
          <a:p>
            <a:pPr indent="0" marL="0">
              <a:buNone/>
            </a:pPr>
            <a:r>
              <a:rPr lang="en-US" sz="900" dirty="0">
                <a:solidFill>
                  <a:srgbClr val="8A9AA0"/>
                </a:solidFill>
                <a:latin typeface="Calibri" pitchFamily="34" charset="0"/>
                <a:ea typeface="Calibri" pitchFamily="34" charset="-122"/>
                <a:cs typeface="Calibri" pitchFamily="34" charset="-120"/>
              </a:rPr>
              <a:t>MCMP117 — Fundamentals of Operating Systems</a:t>
            </a:r>
            <a:endParaRPr lang="en-US" sz="900" dirty="0"/>
          </a:p>
        </p:txBody>
      </p:sp>
      <p:sp>
        <p:nvSpPr>
          <p:cNvPr id="6" name="Text 4"/>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en-US" sz="900" dirty="0">
                <a:solidFill>
                  <a:srgbClr val="8A9AA0"/>
                </a:solidFill>
                <a:latin typeface="Calibri" pitchFamily="34" charset="0"/>
                <a:ea typeface="Calibri" pitchFamily="34" charset="-122"/>
                <a:cs typeface="Calibri" pitchFamily="34" charset="-120"/>
              </a:rPr>
              <a:t>Week 8  ·  21</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212121"/>
        </a:solidFill>
      </p:bgPr>
    </p:bg>
    <p:spTree>
      <p:nvGrpSpPr>
        <p:cNvPr id="1" name=""/>
        <p:cNvGrpSpPr/>
        <p:nvPr/>
      </p:nvGrpSpPr>
      <p:grpSpPr>
        <a:xfrm>
          <a:off x="0" y="0"/>
          <a:ext cx="0" cy="0"/>
          <a:chOff x="0" y="0"/>
          <a:chExt cx="0" cy="0"/>
        </a:xfrm>
      </p:grpSpPr>
      <p:sp>
        <p:nvSpPr>
          <p:cNvPr id="2" name="Text 0"/>
          <p:cNvSpPr txBox="1"/>
          <p:nvPr/>
        </p:nvSpPr>
        <p:spPr>
          <a:xfrm>
            <a:off x="548640" y="2514600"/>
            <a:ext cx="9144000" cy="320040"/>
          </a:xfrm>
          <a:prstGeom prst="rect">
            <a:avLst/>
          </a:prstGeom>
          <a:noFill/>
          <a:ln/>
        </p:spPr>
        <p:txBody>
          <a:bodyPr wrap="square" lIns="0" tIns="0" rIns="0" bIns="0" rtlCol="0" anchor="ctr"/>
          <a:lstStyle/>
          <a:p>
            <a:pPr indent="0" marL="0">
              <a:buNone/>
            </a:pPr>
            <a:r>
              <a:rPr lang="en-US" sz="1300" b="1" spc="300" kern="0" dirty="0">
                <a:solidFill>
                  <a:srgbClr val="02C39A"/>
                </a:solidFill>
                <a:latin typeface="Calibri" pitchFamily="34" charset="0"/>
                <a:ea typeface="Calibri" pitchFamily="34" charset="-122"/>
                <a:cs typeface="Calibri" pitchFamily="34" charset="-120"/>
              </a:rPr>
              <a:t>PART 2</a:t>
            </a:r>
            <a:endParaRPr lang="en-US" sz="1300" dirty="0"/>
          </a:p>
        </p:txBody>
      </p:sp>
      <p:sp>
        <p:nvSpPr>
          <p:cNvPr id="3" name="Text 1"/>
          <p:cNvSpPr txBox="1"/>
          <p:nvPr/>
        </p:nvSpPr>
        <p:spPr>
          <a:xfrm>
            <a:off x="548640" y="2880360"/>
            <a:ext cx="10972800" cy="868680"/>
          </a:xfrm>
          <a:prstGeom prst="rect">
            <a:avLst/>
          </a:prstGeom>
          <a:noFill/>
          <a:ln/>
        </p:spPr>
        <p:txBody>
          <a:bodyPr wrap="square" lIns="0" tIns="0" rIns="0" bIns="0"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Worked Problems</a:t>
            </a:r>
            <a:endParaRPr lang="en-US" sz="3800" dirty="0"/>
          </a:p>
        </p:txBody>
      </p:sp>
      <p:sp>
        <p:nvSpPr>
          <p:cNvPr id="4" name="Text 2"/>
          <p:cNvSpPr txBox="1"/>
          <p:nvPr/>
        </p:nvSpPr>
        <p:spPr>
          <a:xfrm>
            <a:off x="548640" y="3794760"/>
            <a:ext cx="10515600" cy="457200"/>
          </a:xfrm>
          <a:prstGeom prst="rect">
            <a:avLst/>
          </a:prstGeom>
          <a:noFill/>
          <a:ln/>
        </p:spPr>
        <p:txBody>
          <a:bodyPr wrap="square" lIns="0" tIns="0" rIns="0" bIns="0" rtlCol="0" anchor="ctr"/>
          <a:lstStyle/>
          <a:p>
            <a:pPr indent="0" marL="0">
              <a:buNone/>
            </a:pPr>
            <a:r>
              <a:rPr lang="en-US" sz="1600" i="1" dirty="0">
                <a:solidFill>
                  <a:srgbClr val="F2F2F2"/>
                </a:solidFill>
                <a:latin typeface="Calibri" pitchFamily="34" charset="0"/>
                <a:ea typeface="Calibri" pitchFamily="34" charset="-122"/>
                <a:cs typeface="Calibri" pitchFamily="34" charset="-120"/>
              </a:rPr>
              <a:t>Try each one yourself first. Every number is checked by code/review_problems.py.</a:t>
            </a:r>
            <a:endParaRPr lang="en-US" sz="1600" dirty="0"/>
          </a:p>
        </p:txBody>
      </p:sp>
      <p:sp>
        <p:nvSpPr>
          <p:cNvPr id="5" name="Text 3"/>
          <p:cNvSpPr txBox="1"/>
          <p:nvPr/>
        </p:nvSpPr>
        <p:spPr>
          <a:xfrm>
            <a:off x="548640" y="6528816"/>
            <a:ext cx="6400800" cy="274320"/>
          </a:xfrm>
          <a:prstGeom prst="rect">
            <a:avLst/>
          </a:prstGeom>
          <a:noFill/>
          <a:ln/>
        </p:spPr>
        <p:txBody>
          <a:bodyPr wrap="square" lIns="0" tIns="0" rIns="0" bIns="0" rtlCol="0" anchor="ctr"/>
          <a:lstStyle/>
          <a:p>
            <a:pPr indent="0" marL="0">
              <a:buNone/>
            </a:pPr>
            <a:r>
              <a:rPr lang="en-US" sz="900" dirty="0">
                <a:solidFill>
                  <a:srgbClr val="8A9AA0"/>
                </a:solidFill>
                <a:latin typeface="Calibri" pitchFamily="34" charset="0"/>
                <a:ea typeface="Calibri" pitchFamily="34" charset="-122"/>
                <a:cs typeface="Calibri" pitchFamily="34" charset="-120"/>
              </a:rPr>
              <a:t>MCMP117 — Fundamentals of Operating Systems</a:t>
            </a:r>
            <a:endParaRPr lang="en-US" sz="900" dirty="0"/>
          </a:p>
        </p:txBody>
      </p:sp>
      <p:sp>
        <p:nvSpPr>
          <p:cNvPr id="6" name="Text 4"/>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en-US" sz="900" dirty="0">
                <a:solidFill>
                  <a:srgbClr val="8A9AA0"/>
                </a:solidFill>
                <a:latin typeface="Calibri" pitchFamily="34" charset="0"/>
                <a:ea typeface="Calibri" pitchFamily="34" charset="-122"/>
                <a:cs typeface="Calibri" pitchFamily="34" charset="-120"/>
              </a:rPr>
              <a:t>Week 8  ·  22</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en-US" sz="1200" b="1" spc="200" kern="0" dirty="0">
                <a:solidFill>
                  <a:srgbClr val="02C39A"/>
                </a:solidFill>
                <a:latin typeface="Calibri" pitchFamily="34" charset="0"/>
                <a:ea typeface="Calibri" pitchFamily="34" charset="-122"/>
                <a:cs typeface="Calibri" pitchFamily="34" charset="-120"/>
              </a:rPr>
              <a:t>PROBLEM 1 · WEEKS 1, 3, 4</a:t>
            </a:r>
            <a:endParaRPr lang="en-US"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en-US" sz="3000" b="1" dirty="0">
                <a:solidFill>
                  <a:srgbClr val="36454F"/>
                </a:solidFill>
                <a:latin typeface="Cambria" pitchFamily="34" charset="0"/>
                <a:ea typeface="Cambria" pitchFamily="34" charset="-122"/>
                <a:cs typeface="Cambria" pitchFamily="34" charset="-120"/>
              </a:rPr>
              <a:t>Four Quick Calculations</a:t>
            </a:r>
            <a:endParaRPr lang="en-US" sz="3000" dirty="0"/>
          </a:p>
        </p:txBody>
      </p:sp>
      <p:sp>
        <p:nvSpPr>
          <p:cNvPr id="4" name="Text 2"/>
          <p:cNvSpPr txBox="1"/>
          <p:nvPr/>
        </p:nvSpPr>
        <p:spPr>
          <a:xfrm>
            <a:off x="548640" y="6528816"/>
            <a:ext cx="6400800" cy="274320"/>
          </a:xfrm>
          <a:prstGeom prst="rect">
            <a:avLst/>
          </a:prstGeom>
          <a:noFill/>
          <a:ln/>
        </p:spPr>
        <p:txBody>
          <a:bodyPr wrap="square" lIns="0" tIns="0" rIns="0" bIns="0" rtlCol="0" anchor="ctr"/>
          <a:lstStyle/>
          <a:p>
            <a:pPr indent="0" marL="0">
              <a:buNone/>
            </a:pPr>
            <a:r>
              <a:rPr lang="en-US" sz="900" dirty="0">
                <a:solidFill>
                  <a:srgbClr val="6B7679"/>
                </a:solidFill>
                <a:latin typeface="Calibri" pitchFamily="34" charset="0"/>
                <a:ea typeface="Calibri" pitchFamily="34" charset="-122"/>
                <a:cs typeface="Calibri" pitchFamily="34" charset="-120"/>
              </a:rPr>
              <a:t>MCMP117 — Fundamentals of Operating Systems</a:t>
            </a:r>
            <a:endParaRPr lang="en-US" sz="900" dirty="0"/>
          </a:p>
        </p:txBody>
      </p:sp>
      <p:sp>
        <p:nvSpPr>
          <p:cNvPr id="5" name="Text 3"/>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en-US" sz="900" dirty="0">
                <a:solidFill>
                  <a:srgbClr val="6B7679"/>
                </a:solidFill>
                <a:latin typeface="Calibri" pitchFamily="34" charset="0"/>
                <a:ea typeface="Calibri" pitchFamily="34" charset="-122"/>
                <a:cs typeface="Calibri" pitchFamily="34" charset="-120"/>
              </a:rPr>
              <a:t>Week 8  ·  23</a:t>
            </a:r>
            <a:endParaRPr lang="en-US" sz="900" dirty="0"/>
          </a:p>
        </p:txBody>
      </p:sp>
      <p:sp>
        <p:nvSpPr>
          <p:cNvPr id="6" name="Shape 4"/>
          <p:cNvSpPr/>
          <p:nvPr/>
        </p:nvSpPr>
        <p:spPr>
          <a:xfrm>
            <a:off x="548640" y="1508760"/>
            <a:ext cx="5440680" cy="2263140"/>
          </a:xfrm>
          <a:prstGeom prst="roundRect">
            <a:avLst>
              <a:gd name="adj" fmla="val 2424"/>
            </a:avLst>
          </a:prstGeom>
          <a:solidFill>
            <a:srgbClr val="F2F2F2"/>
          </a:solidFill>
          <a:ln/>
          <a:effectLst>
            <a:outerShdw sx="100000" sy="100000" kx="0" ky="0" algn="bl" rotWithShape="0" blurRad="101600" dist="25400" dir="5400000">
              <a:srgbClr val="000000">
                <a:alpha val="12000"/>
              </a:srgbClr>
            </a:outerShdw>
          </a:effectLst>
        </p:spPr>
        <p:txBody>
          <a:bodyPr/>
          <a:p/>
        </p:txBody>
      </p:sp>
      <p:sp>
        <p:nvSpPr>
          <p:cNvPr id="7" name="Text 5"/>
          <p:cNvSpPr txBox="1"/>
          <p:nvPr/>
        </p:nvSpPr>
        <p:spPr>
          <a:xfrm>
            <a:off x="777240" y="1691640"/>
            <a:ext cx="4983480" cy="384048"/>
          </a:xfrm>
          <a:prstGeom prst="rect">
            <a:avLst/>
          </a:prstGeom>
          <a:noFill/>
          <a:ln/>
        </p:spPr>
        <p:txBody>
          <a:bodyPr wrap="square" lIns="0" tIns="0" rIns="0" bIns="0" rtlCol="0" anchor="ctr"/>
          <a:lstStyle/>
          <a:p>
            <a:pPr indent="0" marL="0">
              <a:buNone/>
            </a:pPr>
            <a:r>
              <a:rPr lang="en-US" sz="1600" b="1" dirty="0">
                <a:solidFill>
                  <a:srgbClr val="028090"/>
                </a:solidFill>
                <a:latin typeface="Cambria" pitchFamily="34" charset="0"/>
                <a:ea typeface="Cambria" pitchFamily="34" charset="-122"/>
                <a:cs typeface="Cambria" pitchFamily="34" charset="-120"/>
              </a:rPr>
              <a:t>(a) Multiprogramming (W1)</a:t>
            </a:r>
            <a:endParaRPr lang="en-US" sz="1600" dirty="0"/>
          </a:p>
        </p:txBody>
      </p:sp>
      <p:sp>
        <p:nvSpPr>
          <p:cNvPr id="8" name="Text 6"/>
          <p:cNvSpPr txBox="1"/>
          <p:nvPr/>
        </p:nvSpPr>
        <p:spPr>
          <a:xfrm>
            <a:off x="777240" y="2148840"/>
            <a:ext cx="4983480" cy="1485900"/>
          </a:xfrm>
          <a:prstGeom prst="rect">
            <a:avLst/>
          </a:prstGeom>
          <a:noFill/>
          <a:ln/>
        </p:spPr>
        <p:txBody>
          <a:bodyPr wrap="square" lIns="0" tIns="0" rIns="0" bIns="0" rtlCol="0" anchor="t"/>
          <a:lstStyle/>
          <a:p>
            <a:pPr marL="228600" indent="-228600">
              <a:spcAft>
                <a:spcPts val="400"/>
              </a:spcAft>
              <a:buSzPct val="100000"/>
              <a:buChar char="•"/>
            </a:pPr>
            <a:r>
              <a:rPr lang="en-US" sz="1700" dirty="0">
                <a:solidFill>
                  <a:srgbClr val="3A464C"/>
                </a:solidFill>
                <a:latin typeface="Calibri" pitchFamily="34" charset="0"/>
                <a:ea typeface="Calibri" pitchFamily="34" charset="-122"/>
                <a:cs typeface="Calibri" pitchFamily="34" charset="-120"/>
              </a:rPr>
              <a:t>Jobs wait for I/O p = 0.6 of the time. U(3)? Smallest n with U ≥ 95 %?</a:t>
            </a:r>
            <a:endParaRPr lang="en-US" sz="1700" dirty="0"/>
          </a:p>
          <a:p>
            <a:pPr marL="228600" indent="-228600">
              <a:spcAft>
                <a:spcPts val="400"/>
              </a:spcAft>
              <a:buSzPct val="100000"/>
              <a:buChar char="•"/>
            </a:pPr>
            <a:r>
              <a:rPr lang="en-US" sz="1700" b="1" dirty="0">
                <a:solidFill>
                  <a:srgbClr val="3A464C"/>
                </a:solidFill>
                <a:latin typeface="Calibri" pitchFamily="34" charset="0"/>
                <a:ea typeface="Calibri" pitchFamily="34" charset="-122"/>
                <a:cs typeface="Calibri" pitchFamily="34" charset="-120"/>
              </a:rPr>
              <a:t>U(3) = 1 − 0.6³ = 78.4 %.</a:t>
            </a:r>
            <a:r>
              <a:rPr lang="en-US" sz="1700" dirty="0">
                <a:solidFill>
                  <a:srgbClr val="3A464C"/>
                </a:solidFill>
                <a:latin typeface="Calibri" pitchFamily="34" charset="0"/>
                <a:ea typeface="Calibri" pitchFamily="34" charset="-122"/>
                <a:cs typeface="Calibri" pitchFamily="34" charset="-120"/>
              </a:rPr>
              <a:t> 0.6⁵ ≈ 0.078 &gt; 0.05 but 0.6⁶ ≈ 0.047 ≤ 0.05 → n = 6.</a:t>
            </a:r>
            <a:endParaRPr lang="en-US" sz="1700" dirty="0"/>
          </a:p>
        </p:txBody>
      </p:sp>
      <p:sp>
        <p:nvSpPr>
          <p:cNvPr id="9" name="Shape 7"/>
          <p:cNvSpPr/>
          <p:nvPr/>
        </p:nvSpPr>
        <p:spPr>
          <a:xfrm>
            <a:off x="6217920" y="1508760"/>
            <a:ext cx="5440680" cy="2263140"/>
          </a:xfrm>
          <a:prstGeom prst="roundRect">
            <a:avLst>
              <a:gd name="adj" fmla="val 2424"/>
            </a:avLst>
          </a:prstGeom>
          <a:solidFill>
            <a:srgbClr val="F2F2F2"/>
          </a:solidFill>
          <a:ln/>
          <a:effectLst>
            <a:outerShdw sx="100000" sy="100000" kx="0" ky="0" algn="bl" rotWithShape="0" blurRad="101600" dist="25400" dir="5400000">
              <a:srgbClr val="000000">
                <a:alpha val="12000"/>
              </a:srgbClr>
            </a:outerShdw>
          </a:effectLst>
        </p:spPr>
        <p:txBody>
          <a:bodyPr/>
          <a:p/>
        </p:txBody>
      </p:sp>
      <p:sp>
        <p:nvSpPr>
          <p:cNvPr id="10" name="Text 8"/>
          <p:cNvSpPr txBox="1"/>
          <p:nvPr/>
        </p:nvSpPr>
        <p:spPr>
          <a:xfrm>
            <a:off x="6446520" y="1691640"/>
            <a:ext cx="4983480" cy="384048"/>
          </a:xfrm>
          <a:prstGeom prst="rect">
            <a:avLst/>
          </a:prstGeom>
          <a:noFill/>
          <a:ln/>
        </p:spPr>
        <p:txBody>
          <a:bodyPr wrap="square" lIns="0" tIns="0" rIns="0" bIns="0" rtlCol="0" anchor="ctr"/>
          <a:lstStyle/>
          <a:p>
            <a:pPr indent="0" marL="0">
              <a:buNone/>
            </a:pPr>
            <a:r>
              <a:rPr lang="en-US" sz="1600" b="1" dirty="0">
                <a:solidFill>
                  <a:srgbClr val="028090"/>
                </a:solidFill>
                <a:latin typeface="Cambria" pitchFamily="34" charset="0"/>
                <a:ea typeface="Cambria" pitchFamily="34" charset="-122"/>
                <a:cs typeface="Cambria" pitchFamily="34" charset="-120"/>
              </a:rPr>
              <a:t>(b) Context switch (W3)</a:t>
            </a:r>
            <a:endParaRPr lang="en-US" sz="1600" dirty="0"/>
          </a:p>
        </p:txBody>
      </p:sp>
      <p:sp>
        <p:nvSpPr>
          <p:cNvPr id="11" name="Text 9"/>
          <p:cNvSpPr txBox="1"/>
          <p:nvPr/>
        </p:nvSpPr>
        <p:spPr>
          <a:xfrm>
            <a:off x="6446520" y="2148840"/>
            <a:ext cx="4983480" cy="1485900"/>
          </a:xfrm>
          <a:prstGeom prst="rect">
            <a:avLst/>
          </a:prstGeom>
          <a:noFill/>
          <a:ln/>
        </p:spPr>
        <p:txBody>
          <a:bodyPr wrap="square" lIns="0" tIns="0" rIns="0" bIns="0" rtlCol="0" anchor="t"/>
          <a:lstStyle/>
          <a:p>
            <a:pPr marL="228600" indent="-228600">
              <a:spcAft>
                <a:spcPts val="400"/>
              </a:spcAft>
              <a:buSzPct val="100000"/>
              <a:buChar char="•"/>
            </a:pPr>
            <a:r>
              <a:rPr lang="en-US" sz="1700" dirty="0">
                <a:solidFill>
                  <a:srgbClr val="3A464C"/>
                </a:solidFill>
                <a:latin typeface="Calibri" pitchFamily="34" charset="0"/>
                <a:ea typeface="Calibri" pitchFamily="34" charset="-122"/>
                <a:cs typeface="Calibri" pitchFamily="34" charset="-120"/>
              </a:rPr>
              <a:t>s = 4 µs. Overhead for q = 2 ms and for q = 50 µs?</a:t>
            </a:r>
            <a:endParaRPr lang="en-US" sz="1700" dirty="0"/>
          </a:p>
          <a:p>
            <a:pPr marL="228600" indent="-228600">
              <a:spcAft>
                <a:spcPts val="400"/>
              </a:spcAft>
              <a:buSzPct val="100000"/>
              <a:buChar char="•"/>
            </a:pPr>
            <a:r>
              <a:rPr lang="en-US" sz="1700" b="1" dirty="0">
                <a:solidFill>
                  <a:srgbClr val="3A464C"/>
                </a:solidFill>
                <a:latin typeface="Calibri" pitchFamily="34" charset="0"/>
                <a:ea typeface="Calibri" pitchFamily="34" charset="-122"/>
                <a:cs typeface="Calibri" pitchFamily="34" charset="-120"/>
              </a:rPr>
              <a:t>4 / 2004 ≈ 0.20 %;</a:t>
            </a:r>
            <a:r>
              <a:rPr lang="en-US" sz="1700" dirty="0">
                <a:solidFill>
                  <a:srgbClr val="3A464C"/>
                </a:solidFill>
                <a:latin typeface="Calibri" pitchFamily="34" charset="0"/>
                <a:ea typeface="Calibri" pitchFamily="34" charset="-122"/>
                <a:cs typeface="Calibri" pitchFamily="34" charset="-120"/>
              </a:rPr>
              <a:t>  4 / 54 ≈ 7.4 %. Tiny quanta waste the CPU.</a:t>
            </a:r>
            <a:endParaRPr lang="en-US" sz="1700" dirty="0"/>
          </a:p>
        </p:txBody>
      </p:sp>
      <p:sp>
        <p:nvSpPr>
          <p:cNvPr id="12" name="Shape 10"/>
          <p:cNvSpPr/>
          <p:nvPr/>
        </p:nvSpPr>
        <p:spPr>
          <a:xfrm>
            <a:off x="548640" y="4000500"/>
            <a:ext cx="5440680" cy="2263140"/>
          </a:xfrm>
          <a:prstGeom prst="roundRect">
            <a:avLst>
              <a:gd name="adj" fmla="val 2424"/>
            </a:avLst>
          </a:prstGeom>
          <a:solidFill>
            <a:srgbClr val="F2F2F2"/>
          </a:solidFill>
          <a:ln/>
          <a:effectLst>
            <a:outerShdw sx="100000" sy="100000" kx="0" ky="0" algn="bl" rotWithShape="0" blurRad="101600" dist="25400" dir="5400000">
              <a:srgbClr val="000000">
                <a:alpha val="12000"/>
              </a:srgbClr>
            </a:outerShdw>
          </a:effectLst>
        </p:spPr>
        <p:txBody>
          <a:bodyPr/>
          <a:p/>
        </p:txBody>
      </p:sp>
      <p:sp>
        <p:nvSpPr>
          <p:cNvPr id="13" name="Text 11"/>
          <p:cNvSpPr txBox="1"/>
          <p:nvPr/>
        </p:nvSpPr>
        <p:spPr>
          <a:xfrm>
            <a:off x="777240" y="4183380"/>
            <a:ext cx="4983480" cy="384048"/>
          </a:xfrm>
          <a:prstGeom prst="rect">
            <a:avLst/>
          </a:prstGeom>
          <a:noFill/>
          <a:ln/>
        </p:spPr>
        <p:txBody>
          <a:bodyPr wrap="square" lIns="0" tIns="0" rIns="0" bIns="0" rtlCol="0" anchor="ctr"/>
          <a:lstStyle/>
          <a:p>
            <a:pPr indent="0" marL="0">
              <a:buNone/>
            </a:pPr>
            <a:r>
              <a:rPr lang="en-US" sz="1600" b="1" dirty="0">
                <a:solidFill>
                  <a:srgbClr val="028090"/>
                </a:solidFill>
                <a:latin typeface="Cambria" pitchFamily="34" charset="0"/>
                <a:ea typeface="Cambria" pitchFamily="34" charset="-122"/>
                <a:cs typeface="Cambria" pitchFamily="34" charset="-120"/>
              </a:rPr>
              <a:t>(c) fork() (W3)</a:t>
            </a:r>
            <a:endParaRPr lang="en-US" sz="1600" dirty="0"/>
          </a:p>
        </p:txBody>
      </p:sp>
      <p:sp>
        <p:nvSpPr>
          <p:cNvPr id="14" name="Text 12"/>
          <p:cNvSpPr txBox="1"/>
          <p:nvPr/>
        </p:nvSpPr>
        <p:spPr>
          <a:xfrm>
            <a:off x="777240" y="4640580"/>
            <a:ext cx="4983480" cy="1485900"/>
          </a:xfrm>
          <a:prstGeom prst="rect">
            <a:avLst/>
          </a:prstGeom>
          <a:noFill/>
          <a:ln/>
        </p:spPr>
        <p:txBody>
          <a:bodyPr wrap="square" lIns="0" tIns="0" rIns="0" bIns="0" rtlCol="0" anchor="t"/>
          <a:lstStyle/>
          <a:p>
            <a:pPr marL="228600" indent="-228600">
              <a:spcAft>
                <a:spcPts val="400"/>
              </a:spcAft>
              <a:buSzPct val="100000"/>
              <a:buChar char="•"/>
            </a:pPr>
            <a:r>
              <a:rPr lang="en-US" sz="1700" dirty="0">
                <a:solidFill>
                  <a:srgbClr val="3A464C"/>
                </a:solidFill>
                <a:latin typeface="Calibri" pitchFamily="34" charset="0"/>
                <a:ea typeface="Calibri" pitchFamily="34" charset="-122"/>
                <a:cs typeface="Calibri" pitchFamily="34" charset="-120"/>
              </a:rPr>
              <a:t>fork(); fork(); printf("A\n"); fork(); printf("B\n");</a:t>
            </a:r>
            <a:endParaRPr lang="en-US" sz="1700" dirty="0"/>
          </a:p>
          <a:p>
            <a:pPr marL="228600" indent="-228600">
              <a:spcAft>
                <a:spcPts val="400"/>
              </a:spcAft>
              <a:buSzPct val="100000"/>
              <a:buChar char="•"/>
            </a:pPr>
            <a:r>
              <a:rPr lang="en-US" sz="1700" b="1" dirty="0">
                <a:solidFill>
                  <a:srgbClr val="3A464C"/>
                </a:solidFill>
                <a:latin typeface="Calibri" pitchFamily="34" charset="0"/>
                <a:ea typeface="Calibri" pitchFamily="34" charset="-122"/>
                <a:cs typeface="Calibri" pitchFamily="34" charset="-120"/>
              </a:rPr>
              <a:t>A: 4 times, B: 8 times,</a:t>
            </a:r>
            <a:r>
              <a:rPr lang="en-US" sz="1700" dirty="0">
                <a:solidFill>
                  <a:srgbClr val="3A464C"/>
                </a:solidFill>
                <a:latin typeface="Calibri" pitchFamily="34" charset="0"/>
                <a:ea typeface="Calibri" pitchFamily="34" charset="-122"/>
                <a:cs typeface="Calibri" pitchFamily="34" charset="-120"/>
              </a:rPr>
              <a:t> 8 processes (7 created). Output to a terminal.</a:t>
            </a:r>
            <a:endParaRPr lang="en-US" sz="1700" dirty="0"/>
          </a:p>
        </p:txBody>
      </p:sp>
      <p:sp>
        <p:nvSpPr>
          <p:cNvPr id="15" name="Shape 13"/>
          <p:cNvSpPr/>
          <p:nvPr/>
        </p:nvSpPr>
        <p:spPr>
          <a:xfrm>
            <a:off x="6217920" y="4000500"/>
            <a:ext cx="5440680" cy="2263140"/>
          </a:xfrm>
          <a:prstGeom prst="roundRect">
            <a:avLst>
              <a:gd name="adj" fmla="val 2424"/>
            </a:avLst>
          </a:prstGeom>
          <a:solidFill>
            <a:srgbClr val="F2F2F2"/>
          </a:solidFill>
          <a:ln/>
          <a:effectLst>
            <a:outerShdw sx="100000" sy="100000" kx="0" ky="0" algn="bl" rotWithShape="0" blurRad="101600" dist="25400" dir="5400000">
              <a:srgbClr val="000000">
                <a:alpha val="12000"/>
              </a:srgbClr>
            </a:outerShdw>
          </a:effectLst>
        </p:spPr>
        <p:txBody>
          <a:bodyPr/>
          <a:p/>
        </p:txBody>
      </p:sp>
      <p:sp>
        <p:nvSpPr>
          <p:cNvPr id="16" name="Text 14"/>
          <p:cNvSpPr txBox="1"/>
          <p:nvPr/>
        </p:nvSpPr>
        <p:spPr>
          <a:xfrm>
            <a:off x="6446520" y="4183380"/>
            <a:ext cx="4983480" cy="384048"/>
          </a:xfrm>
          <a:prstGeom prst="rect">
            <a:avLst/>
          </a:prstGeom>
          <a:noFill/>
          <a:ln/>
        </p:spPr>
        <p:txBody>
          <a:bodyPr wrap="square" lIns="0" tIns="0" rIns="0" bIns="0" rtlCol="0" anchor="ctr"/>
          <a:lstStyle/>
          <a:p>
            <a:pPr indent="0" marL="0">
              <a:buNone/>
            </a:pPr>
            <a:r>
              <a:rPr lang="en-US" sz="1600" b="1" dirty="0">
                <a:solidFill>
                  <a:srgbClr val="028090"/>
                </a:solidFill>
                <a:latin typeface="Cambria" pitchFamily="34" charset="0"/>
                <a:ea typeface="Cambria" pitchFamily="34" charset="-122"/>
                <a:cs typeface="Cambria" pitchFamily="34" charset="-120"/>
              </a:rPr>
              <a:t>(d) Amdahl (W4)</a:t>
            </a:r>
            <a:endParaRPr lang="en-US" sz="1600" dirty="0"/>
          </a:p>
        </p:txBody>
      </p:sp>
      <p:sp>
        <p:nvSpPr>
          <p:cNvPr id="17" name="Text 15"/>
          <p:cNvSpPr txBox="1"/>
          <p:nvPr/>
        </p:nvSpPr>
        <p:spPr>
          <a:xfrm>
            <a:off x="6446520" y="4640580"/>
            <a:ext cx="4983480" cy="1485900"/>
          </a:xfrm>
          <a:prstGeom prst="rect">
            <a:avLst/>
          </a:prstGeom>
          <a:noFill/>
          <a:ln/>
        </p:spPr>
        <p:txBody>
          <a:bodyPr wrap="square" lIns="0" tIns="0" rIns="0" bIns="0" rtlCol="0" anchor="t"/>
          <a:lstStyle/>
          <a:p>
            <a:pPr marL="228600" indent="-228600">
              <a:spcAft>
                <a:spcPts val="400"/>
              </a:spcAft>
              <a:buSzPct val="100000"/>
              <a:buChar char="•"/>
            </a:pPr>
            <a:r>
              <a:rPr lang="en-US" sz="1700" dirty="0">
                <a:solidFill>
                  <a:srgbClr val="3A464C"/>
                </a:solidFill>
                <a:latin typeface="Calibri" pitchFamily="34" charset="0"/>
                <a:ea typeface="Calibri" pitchFamily="34" charset="-122"/>
                <a:cs typeface="Calibri" pitchFamily="34" charset="-120"/>
              </a:rPr>
              <a:t>S = 0.2. Speedup on 4 and 8 cores? Limit?</a:t>
            </a:r>
            <a:endParaRPr lang="en-US" sz="1700" dirty="0"/>
          </a:p>
          <a:p>
            <a:pPr marL="228600" indent="-228600">
              <a:spcAft>
                <a:spcPts val="400"/>
              </a:spcAft>
              <a:buSzPct val="100000"/>
              <a:buChar char="•"/>
            </a:pPr>
            <a:r>
              <a:rPr lang="en-US" sz="1700" b="1" dirty="0">
                <a:solidFill>
                  <a:srgbClr val="3A464C"/>
                </a:solidFill>
                <a:latin typeface="Calibri" pitchFamily="34" charset="0"/>
                <a:ea typeface="Calibri" pitchFamily="34" charset="-122"/>
                <a:cs typeface="Calibri" pitchFamily="34" charset="-120"/>
              </a:rPr>
              <a:t>1/(0.2 + 0.8/4) = 2.5;</a:t>
            </a:r>
            <a:r>
              <a:rPr lang="en-US" sz="1700" dirty="0">
                <a:solidFill>
                  <a:srgbClr val="3A464C"/>
                </a:solidFill>
                <a:latin typeface="Calibri" pitchFamily="34" charset="0"/>
                <a:ea typeface="Calibri" pitchFamily="34" charset="-122"/>
                <a:cs typeface="Calibri" pitchFamily="34" charset="-120"/>
              </a:rPr>
              <a:t>  1/(0.2 + 0.1) ≈ 3.33;  limit 1/0.2 = 5.</a:t>
            </a:r>
            <a:endParaRPr lang="en-US" sz="17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en-US" sz="1200" b="1" spc="200" kern="0" dirty="0">
                <a:solidFill>
                  <a:srgbClr val="02C39A"/>
                </a:solidFill>
                <a:latin typeface="Calibri" pitchFamily="34" charset="0"/>
                <a:ea typeface="Calibri" pitchFamily="34" charset="-122"/>
                <a:cs typeface="Calibri" pitchFamily="34" charset="-120"/>
              </a:rPr>
              <a:t>PROBLEM 2 · WEEK 5</a:t>
            </a:r>
            <a:endParaRPr lang="en-US"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en-US" sz="3000" b="1" dirty="0">
                <a:solidFill>
                  <a:srgbClr val="36454F"/>
                </a:solidFill>
                <a:latin typeface="Cambria" pitchFamily="34" charset="0"/>
                <a:ea typeface="Cambria" pitchFamily="34" charset="-122"/>
                <a:cs typeface="Cambria" pitchFamily="34" charset="-120"/>
              </a:rPr>
              <a:t>One Job Set, Five Schedulers</a:t>
            </a:r>
            <a:endParaRPr lang="en-US" sz="3000" dirty="0"/>
          </a:p>
        </p:txBody>
      </p:sp>
      <p:sp>
        <p:nvSpPr>
          <p:cNvPr id="4" name="Text 2"/>
          <p:cNvSpPr txBox="1"/>
          <p:nvPr/>
        </p:nvSpPr>
        <p:spPr>
          <a:xfrm>
            <a:off x="548640" y="6528816"/>
            <a:ext cx="6400800" cy="274320"/>
          </a:xfrm>
          <a:prstGeom prst="rect">
            <a:avLst/>
          </a:prstGeom>
          <a:noFill/>
          <a:ln/>
        </p:spPr>
        <p:txBody>
          <a:bodyPr wrap="square" lIns="0" tIns="0" rIns="0" bIns="0" rtlCol="0" anchor="ctr"/>
          <a:lstStyle/>
          <a:p>
            <a:pPr indent="0" marL="0">
              <a:buNone/>
            </a:pPr>
            <a:r>
              <a:rPr lang="en-US" sz="900" dirty="0">
                <a:solidFill>
                  <a:srgbClr val="6B7679"/>
                </a:solidFill>
                <a:latin typeface="Calibri" pitchFamily="34" charset="0"/>
                <a:ea typeface="Calibri" pitchFamily="34" charset="-122"/>
                <a:cs typeface="Calibri" pitchFamily="34" charset="-120"/>
              </a:rPr>
              <a:t>MCMP117 — Fundamentals of Operating Systems</a:t>
            </a:r>
            <a:endParaRPr lang="en-US" sz="900" dirty="0"/>
          </a:p>
        </p:txBody>
      </p:sp>
      <p:sp>
        <p:nvSpPr>
          <p:cNvPr id="5" name="Text 3"/>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en-US" sz="900" dirty="0">
                <a:solidFill>
                  <a:srgbClr val="6B7679"/>
                </a:solidFill>
                <a:latin typeface="Calibri" pitchFamily="34" charset="0"/>
                <a:ea typeface="Calibri" pitchFamily="34" charset="-122"/>
                <a:cs typeface="Calibri" pitchFamily="34" charset="-120"/>
              </a:rPr>
              <a:t>Week 8  ·  24</a:t>
            </a:r>
            <a:endParaRPr lang="en-US" sz="900" dirty="0"/>
          </a:p>
        </p:txBody>
      </p:sp>
      <p:graphicFrame>
        <p:nvGraphicFramePr>
          <p:cNvPr id="25" name="Table 0"/>
          <p:cNvGraphicFramePr>
            <a:graphicFrameLocks noGrp="1"/>
          </p:cNvGraphicFramePr>
          <p:nvPr>
            <p:extLst>
              <p:ext uri="{D42A27DB-BD31-4B8C-83A1-F6EECF244321}">
                <p14:modId xmlns:p14="http://schemas.microsoft.com/office/powerpoint/2010/main" val="1579011935"/>
              </p:ext>
            </p:extLst>
          </p:nvPr>
        </p:nvGraphicFramePr>
        <p:xfrm>
          <a:off x="548640" y="1554480"/>
          <a:ext cx="3383280" cy="914400"/>
        </p:xfrm>
        <a:graphic>
          <a:graphicData uri="http://schemas.openxmlformats.org/drawingml/2006/table">
            <a:tbl>
              <a:tblPr/>
              <a:tblGrid>
                <a:gridCol w="914400"/>
                <a:gridCol w="822960"/>
                <a:gridCol w="777240"/>
                <a:gridCol w="868680"/>
              </a:tblGrid>
              <a:tr h="0">
                <a:tc>
                  <a:txBody>
                    <a:bodyPr/>
                    <a:lstStyle/>
                    <a:p>
                      <a:pPr algn="ctr" indent="0" marL="0">
                        <a:buNone/>
                      </a:pPr>
                      <a:r>
                        <a:rPr lang="en-US" sz="1300" b="1" dirty="0">
                          <a:solidFill>
                            <a:srgbClr val="FFFFFF"/>
                          </a:solidFill>
                          <a:latin typeface="Cambria" pitchFamily="34" charset="0"/>
                          <a:ea typeface="Cambria" pitchFamily="34" charset="-122"/>
                          <a:cs typeface="Cambria" pitchFamily="34" charset="-120"/>
                        </a:rPr>
                        <a:t>Process</a:t>
                      </a:r>
                      <a:endParaRPr lang="en-US" sz="1300" dirty="0">
                        <a:latin typeface="Cambria" charset="0"/>
                        <a:ea typeface="Cambria" charset="0"/>
                        <a:cs typeface="Cambria" charset="0"/>
                      </a:endParaRPr>
                    </a:p>
                  </a:txBody>
                  <a:tcPr marL="76200" marR="762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36454F"/>
                    </a:solidFill>
                  </a:tcPr>
                </a:tc>
                <a:tc>
                  <a:txBody>
                    <a:bodyPr/>
                    <a:lstStyle/>
                    <a:p>
                      <a:pPr algn="ctr" indent="0" marL="0">
                        <a:buNone/>
                      </a:pPr>
                      <a:r>
                        <a:rPr lang="en-US" sz="1300" b="1" dirty="0">
                          <a:solidFill>
                            <a:srgbClr val="FFFFFF"/>
                          </a:solidFill>
                          <a:latin typeface="Cambria" pitchFamily="34" charset="0"/>
                          <a:ea typeface="Cambria" pitchFamily="34" charset="-122"/>
                          <a:cs typeface="Cambria" pitchFamily="34" charset="-120"/>
                        </a:rPr>
                        <a:t>Arrival</a:t>
                      </a:r>
                      <a:endParaRPr lang="en-US" sz="1300" dirty="0">
                        <a:latin typeface="Cambria" charset="0"/>
                        <a:ea typeface="Cambria" charset="0"/>
                        <a:cs typeface="Cambria" charset="0"/>
                      </a:endParaRPr>
                    </a:p>
                  </a:txBody>
                  <a:tcPr marL="76200" marR="762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36454F"/>
                    </a:solidFill>
                  </a:tcPr>
                </a:tc>
                <a:tc>
                  <a:txBody>
                    <a:bodyPr/>
                    <a:lstStyle/>
                    <a:p>
                      <a:pPr algn="ctr" indent="0" marL="0">
                        <a:buNone/>
                      </a:pPr>
                      <a:r>
                        <a:rPr lang="en-US" sz="1300" b="1" dirty="0">
                          <a:solidFill>
                            <a:srgbClr val="FFFFFF"/>
                          </a:solidFill>
                          <a:latin typeface="Cambria" pitchFamily="34" charset="0"/>
                          <a:ea typeface="Cambria" pitchFamily="34" charset="-122"/>
                          <a:cs typeface="Cambria" pitchFamily="34" charset="-120"/>
                        </a:rPr>
                        <a:t>Burst</a:t>
                      </a:r>
                      <a:endParaRPr lang="en-US" sz="1300" dirty="0">
                        <a:latin typeface="Cambria" charset="0"/>
                        <a:ea typeface="Cambria" charset="0"/>
                        <a:cs typeface="Cambria" charset="0"/>
                      </a:endParaRPr>
                    </a:p>
                  </a:txBody>
                  <a:tcPr marL="76200" marR="762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36454F"/>
                    </a:solidFill>
                  </a:tcPr>
                </a:tc>
                <a:tc>
                  <a:txBody>
                    <a:bodyPr/>
                    <a:lstStyle/>
                    <a:p>
                      <a:pPr algn="ctr" indent="0" marL="0">
                        <a:buNone/>
                      </a:pPr>
                      <a:r>
                        <a:rPr lang="en-US" sz="1300" b="1" dirty="0">
                          <a:solidFill>
                            <a:srgbClr val="FFFFFF"/>
                          </a:solidFill>
                          <a:latin typeface="Cambria" pitchFamily="34" charset="0"/>
                          <a:ea typeface="Cambria" pitchFamily="34" charset="-122"/>
                          <a:cs typeface="Cambria" pitchFamily="34" charset="-120"/>
                        </a:rPr>
                        <a:t>Priority</a:t>
                      </a:r>
                      <a:endParaRPr lang="en-US" sz="1300" dirty="0">
                        <a:latin typeface="Cambria" charset="0"/>
                        <a:ea typeface="Cambria" charset="0"/>
                        <a:cs typeface="Cambria" charset="0"/>
                      </a:endParaRPr>
                    </a:p>
                  </a:txBody>
                  <a:tcPr marL="76200" marR="762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36454F"/>
                    </a:solidFill>
                  </a:tcPr>
                </a:tc>
              </a:tr>
              <a:tr h="0">
                <a:tc>
                  <a:txBody>
                    <a:bodyPr/>
                    <a:lstStyle/>
                    <a:p>
                      <a:pPr algn="ctr" indent="0" marL="0">
                        <a:buNone/>
                      </a:pPr>
                      <a:r>
                        <a:rPr lang="en-US" sz="1300" b="1" dirty="0">
                          <a:solidFill>
                            <a:srgbClr val="3A464C"/>
                          </a:solidFill>
                          <a:latin typeface="Calibri" pitchFamily="34" charset="0"/>
                          <a:ea typeface="Calibri" pitchFamily="34" charset="-122"/>
                          <a:cs typeface="Calibri" pitchFamily="34" charset="-120"/>
                        </a:rPr>
                        <a:t>P1</a:t>
                      </a:r>
                      <a:endParaRPr lang="en-US" sz="1300" dirty="0">
                        <a:latin typeface="Calibri" charset="0"/>
                        <a:ea typeface="Calibri" charset="0"/>
                        <a:cs typeface="Calibri" charset="0"/>
                      </a:endParaRPr>
                    </a:p>
                  </a:txBody>
                  <a:tcPr marL="76200" marR="762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algn="ctr" indent="0" marL="0">
                        <a:buNone/>
                      </a:pPr>
                      <a:r>
                        <a:rPr lang="en-US" sz="1300" dirty="0">
                          <a:solidFill>
                            <a:srgbClr val="3A464C"/>
                          </a:solidFill>
                          <a:latin typeface="Calibri" pitchFamily="34" charset="0"/>
                          <a:ea typeface="Calibri" pitchFamily="34" charset="-122"/>
                          <a:cs typeface="Calibri" pitchFamily="34" charset="-120"/>
                        </a:rPr>
                        <a:t>0</a:t>
                      </a:r>
                      <a:endParaRPr lang="en-US" sz="1300" dirty="0">
                        <a:latin typeface="Calibri" charset="0"/>
                        <a:ea typeface="Calibri" charset="0"/>
                        <a:cs typeface="Calibri" charset="0"/>
                      </a:endParaRPr>
                    </a:p>
                  </a:txBody>
                  <a:tcPr marL="76200" marR="762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algn="ctr" indent="0" marL="0">
                        <a:buNone/>
                      </a:pPr>
                      <a:r>
                        <a:rPr lang="en-US" sz="1300" dirty="0">
                          <a:solidFill>
                            <a:srgbClr val="3A464C"/>
                          </a:solidFill>
                          <a:latin typeface="Calibri" pitchFamily="34" charset="0"/>
                          <a:ea typeface="Calibri" pitchFamily="34" charset="-122"/>
                          <a:cs typeface="Calibri" pitchFamily="34" charset="-120"/>
                        </a:rPr>
                        <a:t>7</a:t>
                      </a:r>
                      <a:endParaRPr lang="en-US" sz="1300" dirty="0">
                        <a:latin typeface="Calibri" charset="0"/>
                        <a:ea typeface="Calibri" charset="0"/>
                        <a:cs typeface="Calibri" charset="0"/>
                      </a:endParaRPr>
                    </a:p>
                  </a:txBody>
                  <a:tcPr marL="76200" marR="762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algn="ctr" indent="0" marL="0">
                        <a:buNone/>
                      </a:pPr>
                      <a:r>
                        <a:rPr lang="en-US" sz="1300" dirty="0">
                          <a:solidFill>
                            <a:srgbClr val="3A464C"/>
                          </a:solidFill>
                          <a:latin typeface="Calibri" pitchFamily="34" charset="0"/>
                          <a:ea typeface="Calibri" pitchFamily="34" charset="-122"/>
                          <a:cs typeface="Calibri" pitchFamily="34" charset="-120"/>
                        </a:rPr>
                        <a:t>2</a:t>
                      </a:r>
                      <a:endParaRPr lang="en-US" sz="1300" dirty="0">
                        <a:latin typeface="Calibri" charset="0"/>
                        <a:ea typeface="Calibri" charset="0"/>
                        <a:cs typeface="Calibri" charset="0"/>
                      </a:endParaRPr>
                    </a:p>
                  </a:txBody>
                  <a:tcPr marL="76200" marR="762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r>
              <a:tr h="0">
                <a:tc>
                  <a:txBody>
                    <a:bodyPr/>
                    <a:lstStyle/>
                    <a:p>
                      <a:pPr algn="ctr" indent="0" marL="0">
                        <a:buNone/>
                      </a:pPr>
                      <a:r>
                        <a:rPr lang="en-US" sz="1300" b="1" dirty="0">
                          <a:solidFill>
                            <a:srgbClr val="3A464C"/>
                          </a:solidFill>
                          <a:latin typeface="Calibri" pitchFamily="34" charset="0"/>
                          <a:ea typeface="Calibri" pitchFamily="34" charset="-122"/>
                          <a:cs typeface="Calibri" pitchFamily="34" charset="-120"/>
                        </a:rPr>
                        <a:t>P2</a:t>
                      </a:r>
                      <a:endParaRPr lang="en-US" sz="1300" dirty="0">
                        <a:latin typeface="Calibri" charset="0"/>
                        <a:ea typeface="Calibri" charset="0"/>
                        <a:cs typeface="Calibri" charset="0"/>
                      </a:endParaRPr>
                    </a:p>
                  </a:txBody>
                  <a:tcPr marL="76200" marR="762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3A464C"/>
                          </a:solidFill>
                          <a:latin typeface="Calibri" pitchFamily="34" charset="0"/>
                          <a:ea typeface="Calibri" pitchFamily="34" charset="-122"/>
                          <a:cs typeface="Calibri" pitchFamily="34" charset="-120"/>
                        </a:rPr>
                        <a:t>2</a:t>
                      </a:r>
                      <a:endParaRPr lang="en-US" sz="1300" dirty="0">
                        <a:latin typeface="Calibri" charset="0"/>
                        <a:ea typeface="Calibri" charset="0"/>
                        <a:cs typeface="Calibri" charset="0"/>
                      </a:endParaRPr>
                    </a:p>
                  </a:txBody>
                  <a:tcPr marL="76200" marR="762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3A464C"/>
                          </a:solidFill>
                          <a:latin typeface="Calibri" pitchFamily="34" charset="0"/>
                          <a:ea typeface="Calibri" pitchFamily="34" charset="-122"/>
                          <a:cs typeface="Calibri" pitchFamily="34" charset="-120"/>
                        </a:rPr>
                        <a:t>4</a:t>
                      </a:r>
                      <a:endParaRPr lang="en-US" sz="1300" dirty="0">
                        <a:latin typeface="Calibri" charset="0"/>
                        <a:ea typeface="Calibri" charset="0"/>
                        <a:cs typeface="Calibri" charset="0"/>
                      </a:endParaRPr>
                    </a:p>
                  </a:txBody>
                  <a:tcPr marL="76200" marR="762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3A464C"/>
                          </a:solidFill>
                          <a:latin typeface="Calibri" pitchFamily="34" charset="0"/>
                          <a:ea typeface="Calibri" pitchFamily="34" charset="-122"/>
                          <a:cs typeface="Calibri" pitchFamily="34" charset="-120"/>
                        </a:rPr>
                        <a:t>1</a:t>
                      </a:r>
                      <a:endParaRPr lang="en-US" sz="1300" dirty="0">
                        <a:latin typeface="Calibri" charset="0"/>
                        <a:ea typeface="Calibri" charset="0"/>
                        <a:cs typeface="Calibri" charset="0"/>
                      </a:endParaRPr>
                    </a:p>
                  </a:txBody>
                  <a:tcPr marL="76200" marR="762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r>
              <a:tr h="0">
                <a:tc>
                  <a:txBody>
                    <a:bodyPr/>
                    <a:lstStyle/>
                    <a:p>
                      <a:pPr algn="ctr" indent="0" marL="0">
                        <a:buNone/>
                      </a:pPr>
                      <a:r>
                        <a:rPr lang="en-US" sz="1300" b="1" dirty="0">
                          <a:solidFill>
                            <a:srgbClr val="3A464C"/>
                          </a:solidFill>
                          <a:latin typeface="Calibri" pitchFamily="34" charset="0"/>
                          <a:ea typeface="Calibri" pitchFamily="34" charset="-122"/>
                          <a:cs typeface="Calibri" pitchFamily="34" charset="-120"/>
                        </a:rPr>
                        <a:t>P3</a:t>
                      </a:r>
                      <a:endParaRPr lang="en-US" sz="1300" dirty="0">
                        <a:latin typeface="Calibri" charset="0"/>
                        <a:ea typeface="Calibri" charset="0"/>
                        <a:cs typeface="Calibri" charset="0"/>
                      </a:endParaRPr>
                    </a:p>
                  </a:txBody>
                  <a:tcPr marL="76200" marR="762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algn="ctr" indent="0" marL="0">
                        <a:buNone/>
                      </a:pPr>
                      <a:r>
                        <a:rPr lang="en-US" sz="1300" dirty="0">
                          <a:solidFill>
                            <a:srgbClr val="3A464C"/>
                          </a:solidFill>
                          <a:latin typeface="Calibri" pitchFamily="34" charset="0"/>
                          <a:ea typeface="Calibri" pitchFamily="34" charset="-122"/>
                          <a:cs typeface="Calibri" pitchFamily="34" charset="-120"/>
                        </a:rPr>
                        <a:t>3</a:t>
                      </a:r>
                      <a:endParaRPr lang="en-US" sz="1300" dirty="0">
                        <a:latin typeface="Calibri" charset="0"/>
                        <a:ea typeface="Calibri" charset="0"/>
                        <a:cs typeface="Calibri" charset="0"/>
                      </a:endParaRPr>
                    </a:p>
                  </a:txBody>
                  <a:tcPr marL="76200" marR="762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algn="ctr" indent="0" marL="0">
                        <a:buNone/>
                      </a:pPr>
                      <a:r>
                        <a:rPr lang="en-US" sz="1300" dirty="0">
                          <a:solidFill>
                            <a:srgbClr val="3A464C"/>
                          </a:solidFill>
                          <a:latin typeface="Calibri" pitchFamily="34" charset="0"/>
                          <a:ea typeface="Calibri" pitchFamily="34" charset="-122"/>
                          <a:cs typeface="Calibri" pitchFamily="34" charset="-120"/>
                        </a:rPr>
                        <a:t>2</a:t>
                      </a:r>
                      <a:endParaRPr lang="en-US" sz="1300" dirty="0">
                        <a:latin typeface="Calibri" charset="0"/>
                        <a:ea typeface="Calibri" charset="0"/>
                        <a:cs typeface="Calibri" charset="0"/>
                      </a:endParaRPr>
                    </a:p>
                  </a:txBody>
                  <a:tcPr marL="76200" marR="762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algn="ctr" indent="0" marL="0">
                        <a:buNone/>
                      </a:pPr>
                      <a:r>
                        <a:rPr lang="en-US" sz="1300" dirty="0">
                          <a:solidFill>
                            <a:srgbClr val="3A464C"/>
                          </a:solidFill>
                          <a:latin typeface="Calibri" pitchFamily="34" charset="0"/>
                          <a:ea typeface="Calibri" pitchFamily="34" charset="-122"/>
                          <a:cs typeface="Calibri" pitchFamily="34" charset="-120"/>
                        </a:rPr>
                        <a:t>4</a:t>
                      </a:r>
                      <a:endParaRPr lang="en-US" sz="1300" dirty="0">
                        <a:latin typeface="Calibri" charset="0"/>
                        <a:ea typeface="Calibri" charset="0"/>
                        <a:cs typeface="Calibri" charset="0"/>
                      </a:endParaRPr>
                    </a:p>
                  </a:txBody>
                  <a:tcPr marL="76200" marR="762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r>
              <a:tr h="0">
                <a:tc>
                  <a:txBody>
                    <a:bodyPr/>
                    <a:lstStyle/>
                    <a:p>
                      <a:pPr algn="ctr" indent="0" marL="0">
                        <a:buNone/>
                      </a:pPr>
                      <a:r>
                        <a:rPr lang="en-US" sz="1300" b="1" dirty="0">
                          <a:solidFill>
                            <a:srgbClr val="3A464C"/>
                          </a:solidFill>
                          <a:latin typeface="Calibri" pitchFamily="34" charset="0"/>
                          <a:ea typeface="Calibri" pitchFamily="34" charset="-122"/>
                          <a:cs typeface="Calibri" pitchFamily="34" charset="-120"/>
                        </a:rPr>
                        <a:t>P4</a:t>
                      </a:r>
                      <a:endParaRPr lang="en-US" sz="1300" dirty="0">
                        <a:latin typeface="Calibri" charset="0"/>
                        <a:ea typeface="Calibri" charset="0"/>
                        <a:cs typeface="Calibri" charset="0"/>
                      </a:endParaRPr>
                    </a:p>
                  </a:txBody>
                  <a:tcPr marL="76200" marR="762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3A464C"/>
                          </a:solidFill>
                          <a:latin typeface="Calibri" pitchFamily="34" charset="0"/>
                          <a:ea typeface="Calibri" pitchFamily="34" charset="-122"/>
                          <a:cs typeface="Calibri" pitchFamily="34" charset="-120"/>
                        </a:rPr>
                        <a:t>5</a:t>
                      </a:r>
                      <a:endParaRPr lang="en-US" sz="1300" dirty="0">
                        <a:latin typeface="Calibri" charset="0"/>
                        <a:ea typeface="Calibri" charset="0"/>
                        <a:cs typeface="Calibri" charset="0"/>
                      </a:endParaRPr>
                    </a:p>
                  </a:txBody>
                  <a:tcPr marL="76200" marR="762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3A464C"/>
                          </a:solidFill>
                          <a:latin typeface="Calibri" pitchFamily="34" charset="0"/>
                          <a:ea typeface="Calibri" pitchFamily="34" charset="-122"/>
                          <a:cs typeface="Calibri" pitchFamily="34" charset="-120"/>
                        </a:rPr>
                        <a:t>5</a:t>
                      </a:r>
                      <a:endParaRPr lang="en-US" sz="1300" dirty="0">
                        <a:latin typeface="Calibri" charset="0"/>
                        <a:ea typeface="Calibri" charset="0"/>
                        <a:cs typeface="Calibri" charset="0"/>
                      </a:endParaRPr>
                    </a:p>
                  </a:txBody>
                  <a:tcPr marL="76200" marR="762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3A464C"/>
                          </a:solidFill>
                          <a:latin typeface="Calibri" pitchFamily="34" charset="0"/>
                          <a:ea typeface="Calibri" pitchFamily="34" charset="-122"/>
                          <a:cs typeface="Calibri" pitchFamily="34" charset="-120"/>
                        </a:rPr>
                        <a:t>3</a:t>
                      </a:r>
                      <a:endParaRPr lang="en-US" sz="1300" dirty="0">
                        <a:latin typeface="Calibri" charset="0"/>
                        <a:ea typeface="Calibri" charset="0"/>
                        <a:cs typeface="Calibri" charset="0"/>
                      </a:endParaRPr>
                    </a:p>
                  </a:txBody>
                  <a:tcPr marL="76200" marR="762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r>
            </a:tbl>
          </a:graphicData>
        </a:graphic>
      </p:graphicFrame>
      <p:sp>
        <p:nvSpPr>
          <p:cNvPr id="7" name="Shape 4"/>
          <p:cNvSpPr/>
          <p:nvPr/>
        </p:nvSpPr>
        <p:spPr>
          <a:xfrm>
            <a:off x="548640" y="3657600"/>
            <a:ext cx="3383280" cy="2606040"/>
          </a:xfrm>
          <a:prstGeom prst="roundRect">
            <a:avLst>
              <a:gd name="adj" fmla="val 2105"/>
            </a:avLst>
          </a:prstGeom>
          <a:solidFill>
            <a:srgbClr val="F2F2F2"/>
          </a:solidFill>
          <a:ln/>
          <a:effectLst>
            <a:outerShdw sx="100000" sy="100000" kx="0" ky="0" algn="bl" rotWithShape="0" blurRad="101600" dist="25400" dir="5400000">
              <a:srgbClr val="000000">
                <a:alpha val="12000"/>
              </a:srgbClr>
            </a:outerShdw>
          </a:effectLst>
        </p:spPr>
        <p:txBody>
          <a:bodyPr/>
          <a:p/>
        </p:txBody>
      </p:sp>
      <p:sp>
        <p:nvSpPr>
          <p:cNvPr id="8" name="Text 5"/>
          <p:cNvSpPr txBox="1"/>
          <p:nvPr/>
        </p:nvSpPr>
        <p:spPr>
          <a:xfrm>
            <a:off x="777240" y="3840480"/>
            <a:ext cx="2926080" cy="384048"/>
          </a:xfrm>
          <a:prstGeom prst="rect">
            <a:avLst/>
          </a:prstGeom>
          <a:noFill/>
          <a:ln/>
        </p:spPr>
        <p:txBody>
          <a:bodyPr wrap="square" lIns="0" tIns="0" rIns="0" bIns="0" rtlCol="0" anchor="ctr"/>
          <a:lstStyle/>
          <a:p>
            <a:pPr indent="0" marL="0">
              <a:buNone/>
            </a:pPr>
            <a:r>
              <a:rPr lang="en-US" sz="1500" b="1" dirty="0">
                <a:solidFill>
                  <a:srgbClr val="028090"/>
                </a:solidFill>
                <a:latin typeface="Cambria" pitchFamily="34" charset="0"/>
                <a:ea typeface="Cambria" pitchFamily="34" charset="-122"/>
                <a:cs typeface="Cambria" pitchFamily="34" charset="-120"/>
              </a:rPr>
              <a:t>Read the chart</a:t>
            </a:r>
            <a:endParaRPr lang="en-US" sz="1500" dirty="0"/>
          </a:p>
        </p:txBody>
      </p:sp>
      <p:sp>
        <p:nvSpPr>
          <p:cNvPr id="9" name="Text 6"/>
          <p:cNvSpPr txBox="1"/>
          <p:nvPr/>
        </p:nvSpPr>
        <p:spPr>
          <a:xfrm>
            <a:off x="777240" y="4297680"/>
            <a:ext cx="2926080" cy="1828800"/>
          </a:xfrm>
          <a:prstGeom prst="rect">
            <a:avLst/>
          </a:prstGeom>
          <a:noFill/>
          <a:ln/>
        </p:spPr>
        <p:txBody>
          <a:bodyPr wrap="square" lIns="0" tIns="0" rIns="0" bIns="0" rtlCol="0" anchor="t"/>
          <a:lstStyle/>
          <a:p>
            <a:pPr marL="228600" indent="-228600">
              <a:spcAft>
                <a:spcPts val="400"/>
              </a:spcAft>
              <a:buSzPct val="100000"/>
              <a:buChar char="•"/>
            </a:pPr>
            <a:r>
              <a:rPr lang="en-US" sz="1250" dirty="0">
                <a:solidFill>
                  <a:srgbClr val="3A464C"/>
                </a:solidFill>
                <a:latin typeface="Calibri" pitchFamily="34" charset="0"/>
                <a:ea typeface="Calibri" pitchFamily="34" charset="-122"/>
                <a:cs typeface="Calibri" pitchFamily="34" charset="-120"/>
              </a:rPr>
              <a:t>SRTF t = 3: P3 (2) &lt; P2's remaining 3 → preempt.</a:t>
            </a:r>
            <a:endParaRPr lang="en-US" sz="1250" dirty="0"/>
          </a:p>
          <a:p>
            <a:pPr marL="228600" indent="-228600">
              <a:spcAft>
                <a:spcPts val="400"/>
              </a:spcAft>
              <a:buSzPct val="100000"/>
              <a:buChar char="•"/>
            </a:pPr>
            <a:r>
              <a:rPr lang="en-US" sz="1250" dirty="0">
                <a:solidFill>
                  <a:srgbClr val="3A464C"/>
                </a:solidFill>
                <a:latin typeface="Calibri" pitchFamily="34" charset="0"/>
                <a:ea typeface="Calibri" pitchFamily="34" charset="-122"/>
                <a:cs typeface="Calibri" pitchFamily="34" charset="-120"/>
              </a:rPr>
              <a:t>SRTF t = 8: P1 and P4 both need 5 → earlier arrival P1.</a:t>
            </a:r>
            <a:endParaRPr lang="en-US" sz="1250" dirty="0"/>
          </a:p>
          <a:p>
            <a:pPr marL="228600" indent="-228600">
              <a:spcAft>
                <a:spcPts val="400"/>
              </a:spcAft>
              <a:buSzPct val="100000"/>
              <a:buChar char="•"/>
            </a:pPr>
            <a:r>
              <a:rPr lang="en-US" sz="1250" dirty="0">
                <a:solidFill>
                  <a:srgbClr val="3A464C"/>
                </a:solidFill>
                <a:latin typeface="Calibri" pitchFamily="34" charset="0"/>
                <a:ea typeface="Calibri" pitchFamily="34" charset="-122"/>
                <a:cs typeface="Calibri" pitchFamily="34" charset="-120"/>
              </a:rPr>
              <a:t>RR t = 3: P3 arrives as P1's quantum ends → P3 first.</a:t>
            </a:r>
            <a:endParaRPr lang="en-US" sz="1250" dirty="0"/>
          </a:p>
        </p:txBody>
      </p:sp>
      <p:sp>
        <p:nvSpPr>
          <p:cNvPr id="10" name="Text 7"/>
          <p:cNvSpPr txBox="1"/>
          <p:nvPr/>
        </p:nvSpPr>
        <p:spPr>
          <a:xfrm>
            <a:off x="4160520" y="1600200"/>
            <a:ext cx="1508760" cy="457200"/>
          </a:xfrm>
          <a:prstGeom prst="rect">
            <a:avLst/>
          </a:prstGeom>
          <a:noFill/>
          <a:ln/>
        </p:spPr>
        <p:txBody>
          <a:bodyPr wrap="square" lIns="0" tIns="0" rIns="0" bIns="0" rtlCol="0" anchor="ctr"/>
          <a:lstStyle/>
          <a:p>
            <a:pPr indent="0" marL="0">
              <a:buNone/>
            </a:pPr>
            <a:r>
              <a:rPr lang="en-US" sz="1300" b="1" dirty="0">
                <a:solidFill>
                  <a:srgbClr val="36454F"/>
                </a:solidFill>
                <a:latin typeface="Calibri" pitchFamily="34" charset="0"/>
                <a:ea typeface="Calibri" pitchFamily="34" charset="-122"/>
                <a:cs typeface="Calibri" pitchFamily="34" charset="-120"/>
              </a:rPr>
              <a:t>FCFS</a:t>
            </a:r>
            <a:endParaRPr lang="en-US" sz="1300" dirty="0"/>
          </a:p>
        </p:txBody>
      </p:sp>
      <p:sp>
        <p:nvSpPr>
          <p:cNvPr id="11" name="Shape 8"/>
          <p:cNvSpPr/>
          <p:nvPr/>
        </p:nvSpPr>
        <p:spPr>
          <a:xfrm>
            <a:off x="5769864" y="1600200"/>
            <a:ext cx="2275332" cy="457200"/>
          </a:xfrm>
          <a:prstGeom prst="roundRect">
            <a:avLst>
              <a:gd name="adj" fmla="val 10000"/>
            </a:avLst>
          </a:prstGeom>
          <a:solidFill>
            <a:srgbClr val="02C39A"/>
          </a:solidFill>
          <a:ln/>
        </p:spPr>
        <p:txBody>
          <a:bodyPr/>
          <a:p/>
        </p:txBody>
      </p:sp>
      <p:sp>
        <p:nvSpPr>
          <p:cNvPr id="12" name="Text 9"/>
          <p:cNvSpPr txBox="1"/>
          <p:nvPr/>
        </p:nvSpPr>
        <p:spPr>
          <a:xfrm>
            <a:off x="5769864" y="1600200"/>
            <a:ext cx="2275332" cy="457200"/>
          </a:xfrm>
          <a:prstGeom prst="rect">
            <a:avLst/>
          </a:prstGeom>
          <a:noFill/>
          <a:ln/>
        </p:spPr>
        <p:txBody>
          <a:bodyPr wrap="square" lIns="38100" tIns="38100" rIns="38100" bIns="38100" rtlCol="0" anchor="ctr"/>
          <a:lstStyle/>
          <a:p>
            <a:pPr algn="ctr" indent="0" marL="0">
              <a:buNone/>
            </a:pPr>
            <a:r>
              <a:rPr lang="en-US" sz="1200" b="1" dirty="0">
                <a:solidFill>
                  <a:srgbClr val="212121"/>
                </a:solidFill>
                <a:latin typeface="Calibri" pitchFamily="34" charset="0"/>
                <a:ea typeface="Calibri" pitchFamily="34" charset="-122"/>
                <a:cs typeface="Calibri" pitchFamily="34" charset="-120"/>
              </a:rPr>
              <a:t>P1</a:t>
            </a:r>
            <a:endParaRPr lang="en-US" sz="1200" dirty="0"/>
          </a:p>
        </p:txBody>
      </p:sp>
      <p:sp>
        <p:nvSpPr>
          <p:cNvPr id="13" name="Shape 10"/>
          <p:cNvSpPr/>
          <p:nvPr/>
        </p:nvSpPr>
        <p:spPr>
          <a:xfrm>
            <a:off x="8063484" y="1600200"/>
            <a:ext cx="1292352" cy="457200"/>
          </a:xfrm>
          <a:prstGeom prst="roundRect">
            <a:avLst>
              <a:gd name="adj" fmla="val 10000"/>
            </a:avLst>
          </a:prstGeom>
          <a:solidFill>
            <a:srgbClr val="50808E"/>
          </a:solidFill>
          <a:ln/>
        </p:spPr>
        <p:txBody>
          <a:bodyPr/>
          <a:p/>
        </p:txBody>
      </p:sp>
      <p:sp>
        <p:nvSpPr>
          <p:cNvPr id="14" name="Text 11"/>
          <p:cNvSpPr txBox="1"/>
          <p:nvPr/>
        </p:nvSpPr>
        <p:spPr>
          <a:xfrm>
            <a:off x="8063484" y="1600200"/>
            <a:ext cx="1292352" cy="457200"/>
          </a:xfrm>
          <a:prstGeom prst="rect">
            <a:avLst/>
          </a:prstGeom>
          <a:noFill/>
          <a:ln/>
        </p:spPr>
        <p:txBody>
          <a:bodyPr wrap="square" lIns="38100" tIns="38100" rIns="38100" bIns="3810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P2</a:t>
            </a:r>
            <a:endParaRPr lang="en-US" sz="1200" dirty="0"/>
          </a:p>
        </p:txBody>
      </p:sp>
      <p:sp>
        <p:nvSpPr>
          <p:cNvPr id="15" name="Shape 12"/>
          <p:cNvSpPr/>
          <p:nvPr/>
        </p:nvSpPr>
        <p:spPr>
          <a:xfrm>
            <a:off x="9374124" y="1600200"/>
            <a:ext cx="637032" cy="457200"/>
          </a:xfrm>
          <a:prstGeom prst="roundRect">
            <a:avLst>
              <a:gd name="adj" fmla="val 10000"/>
            </a:avLst>
          </a:prstGeom>
          <a:solidFill>
            <a:srgbClr val="C98A1B"/>
          </a:solidFill>
          <a:ln/>
        </p:spPr>
        <p:txBody>
          <a:bodyPr/>
          <a:p/>
        </p:txBody>
      </p:sp>
      <p:sp>
        <p:nvSpPr>
          <p:cNvPr id="16" name="Text 13"/>
          <p:cNvSpPr txBox="1"/>
          <p:nvPr/>
        </p:nvSpPr>
        <p:spPr>
          <a:xfrm>
            <a:off x="9374124" y="1600200"/>
            <a:ext cx="637032" cy="457200"/>
          </a:xfrm>
          <a:prstGeom prst="rect">
            <a:avLst/>
          </a:prstGeom>
          <a:noFill/>
          <a:ln/>
        </p:spPr>
        <p:txBody>
          <a:bodyPr wrap="square" lIns="38100" tIns="38100" rIns="38100" bIns="3810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P3</a:t>
            </a:r>
            <a:endParaRPr lang="en-US" sz="1200" dirty="0"/>
          </a:p>
        </p:txBody>
      </p:sp>
      <p:sp>
        <p:nvSpPr>
          <p:cNvPr id="17" name="Shape 14"/>
          <p:cNvSpPr/>
          <p:nvPr/>
        </p:nvSpPr>
        <p:spPr>
          <a:xfrm>
            <a:off x="10029444" y="1600200"/>
            <a:ext cx="1620012" cy="457200"/>
          </a:xfrm>
          <a:prstGeom prst="roundRect">
            <a:avLst>
              <a:gd name="adj" fmla="val 10000"/>
            </a:avLst>
          </a:prstGeom>
          <a:solidFill>
            <a:srgbClr val="36454F"/>
          </a:solidFill>
          <a:ln/>
        </p:spPr>
        <p:txBody>
          <a:bodyPr/>
          <a:p/>
        </p:txBody>
      </p:sp>
      <p:sp>
        <p:nvSpPr>
          <p:cNvPr id="18" name="Text 15"/>
          <p:cNvSpPr txBox="1"/>
          <p:nvPr/>
        </p:nvSpPr>
        <p:spPr>
          <a:xfrm>
            <a:off x="10029444" y="1600200"/>
            <a:ext cx="1620012" cy="457200"/>
          </a:xfrm>
          <a:prstGeom prst="rect">
            <a:avLst/>
          </a:prstGeom>
          <a:noFill/>
          <a:ln/>
        </p:spPr>
        <p:txBody>
          <a:bodyPr wrap="square" lIns="38100" tIns="38100" rIns="38100" bIns="3810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P4</a:t>
            </a:r>
            <a:endParaRPr lang="en-US" sz="1200" dirty="0"/>
          </a:p>
        </p:txBody>
      </p:sp>
      <p:sp>
        <p:nvSpPr>
          <p:cNvPr id="19" name="Shape 16"/>
          <p:cNvSpPr/>
          <p:nvPr/>
        </p:nvSpPr>
        <p:spPr>
          <a:xfrm>
            <a:off x="5760720" y="2057400"/>
            <a:ext cx="91" cy="64008"/>
          </a:xfrm>
          <a:prstGeom prst="line">
            <a:avLst/>
          </a:prstGeom>
          <a:noFill/>
          <a:ln w="12700">
            <a:solidFill>
              <a:srgbClr val="6B7679"/>
            </a:solidFill>
            <a:prstDash val="solid"/>
          </a:ln>
        </p:spPr>
        <p:txBody>
          <a:bodyPr/>
          <a:p/>
        </p:txBody>
      </p:sp>
      <p:sp>
        <p:nvSpPr>
          <p:cNvPr id="20" name="Text 17"/>
          <p:cNvSpPr txBox="1"/>
          <p:nvPr/>
        </p:nvSpPr>
        <p:spPr>
          <a:xfrm>
            <a:off x="5532120" y="2112264"/>
            <a:ext cx="457200" cy="219456"/>
          </a:xfrm>
          <a:prstGeom prst="rect">
            <a:avLst/>
          </a:prstGeom>
          <a:noFill/>
          <a:ln/>
        </p:spPr>
        <p:txBody>
          <a:bodyPr wrap="square" lIns="0" tIns="0" rIns="0" bIns="0" rtlCol="0" anchor="t"/>
          <a:lstStyle/>
          <a:p>
            <a:pPr algn="ctr" indent="0" marL="0">
              <a:buNone/>
            </a:pPr>
            <a:r>
              <a:rPr lang="en-US" sz="1050" dirty="0">
                <a:solidFill>
                  <a:srgbClr val="6B7679"/>
                </a:solidFill>
                <a:latin typeface="Calibri" pitchFamily="34" charset="0"/>
                <a:ea typeface="Calibri" pitchFamily="34" charset="-122"/>
                <a:cs typeface="Calibri" pitchFamily="34" charset="-120"/>
              </a:rPr>
              <a:t>0</a:t>
            </a:r>
            <a:endParaRPr lang="en-US" sz="1050" dirty="0"/>
          </a:p>
        </p:txBody>
      </p:sp>
      <p:sp>
        <p:nvSpPr>
          <p:cNvPr id="21" name="Shape 18"/>
          <p:cNvSpPr/>
          <p:nvPr/>
        </p:nvSpPr>
        <p:spPr>
          <a:xfrm>
            <a:off x="8054340" y="2057400"/>
            <a:ext cx="91" cy="64008"/>
          </a:xfrm>
          <a:prstGeom prst="line">
            <a:avLst/>
          </a:prstGeom>
          <a:noFill/>
          <a:ln w="12700">
            <a:solidFill>
              <a:srgbClr val="6B7679"/>
            </a:solidFill>
            <a:prstDash val="solid"/>
          </a:ln>
        </p:spPr>
        <p:txBody>
          <a:bodyPr/>
          <a:p/>
        </p:txBody>
      </p:sp>
      <p:sp>
        <p:nvSpPr>
          <p:cNvPr id="22" name="Text 19"/>
          <p:cNvSpPr txBox="1"/>
          <p:nvPr/>
        </p:nvSpPr>
        <p:spPr>
          <a:xfrm>
            <a:off x="7825740" y="2112264"/>
            <a:ext cx="457200" cy="219456"/>
          </a:xfrm>
          <a:prstGeom prst="rect">
            <a:avLst/>
          </a:prstGeom>
          <a:noFill/>
          <a:ln/>
        </p:spPr>
        <p:txBody>
          <a:bodyPr wrap="square" lIns="0" tIns="0" rIns="0" bIns="0" rtlCol="0" anchor="t"/>
          <a:lstStyle/>
          <a:p>
            <a:pPr algn="ctr" indent="0" marL="0">
              <a:buNone/>
            </a:pPr>
            <a:r>
              <a:rPr lang="en-US" sz="1050" dirty="0">
                <a:solidFill>
                  <a:srgbClr val="6B7679"/>
                </a:solidFill>
                <a:latin typeface="Calibri" pitchFamily="34" charset="0"/>
                <a:ea typeface="Calibri" pitchFamily="34" charset="-122"/>
                <a:cs typeface="Calibri" pitchFamily="34" charset="-120"/>
              </a:rPr>
              <a:t>7</a:t>
            </a:r>
            <a:endParaRPr lang="en-US" sz="1050" dirty="0"/>
          </a:p>
        </p:txBody>
      </p:sp>
      <p:sp>
        <p:nvSpPr>
          <p:cNvPr id="23" name="Shape 20"/>
          <p:cNvSpPr/>
          <p:nvPr/>
        </p:nvSpPr>
        <p:spPr>
          <a:xfrm>
            <a:off x="9364980" y="2057400"/>
            <a:ext cx="91" cy="64008"/>
          </a:xfrm>
          <a:prstGeom prst="line">
            <a:avLst/>
          </a:prstGeom>
          <a:noFill/>
          <a:ln w="12700">
            <a:solidFill>
              <a:srgbClr val="6B7679"/>
            </a:solidFill>
            <a:prstDash val="solid"/>
          </a:ln>
        </p:spPr>
        <p:txBody>
          <a:bodyPr/>
          <a:p/>
        </p:txBody>
      </p:sp>
      <p:sp>
        <p:nvSpPr>
          <p:cNvPr id="24" name="Text 21"/>
          <p:cNvSpPr txBox="1"/>
          <p:nvPr/>
        </p:nvSpPr>
        <p:spPr>
          <a:xfrm>
            <a:off x="9136380" y="2112264"/>
            <a:ext cx="457200" cy="219456"/>
          </a:xfrm>
          <a:prstGeom prst="rect">
            <a:avLst/>
          </a:prstGeom>
          <a:noFill/>
          <a:ln/>
        </p:spPr>
        <p:txBody>
          <a:bodyPr wrap="square" lIns="0" tIns="0" rIns="0" bIns="0" rtlCol="0" anchor="t"/>
          <a:lstStyle/>
          <a:p>
            <a:pPr algn="ctr" indent="0" marL="0">
              <a:buNone/>
            </a:pPr>
            <a:r>
              <a:rPr lang="en-US" sz="1050" dirty="0">
                <a:solidFill>
                  <a:srgbClr val="6B7679"/>
                </a:solidFill>
                <a:latin typeface="Calibri" pitchFamily="34" charset="0"/>
                <a:ea typeface="Calibri" pitchFamily="34" charset="-122"/>
                <a:cs typeface="Calibri" pitchFamily="34" charset="-120"/>
              </a:rPr>
              <a:t>11</a:t>
            </a:r>
            <a:endParaRPr lang="en-US" sz="1050" dirty="0"/>
          </a:p>
        </p:txBody>
      </p:sp>
      <p:sp>
        <p:nvSpPr>
          <p:cNvPr id="25" name="Shape 22"/>
          <p:cNvSpPr/>
          <p:nvPr/>
        </p:nvSpPr>
        <p:spPr>
          <a:xfrm>
            <a:off x="10020300" y="2057400"/>
            <a:ext cx="91" cy="64008"/>
          </a:xfrm>
          <a:prstGeom prst="line">
            <a:avLst/>
          </a:prstGeom>
          <a:noFill/>
          <a:ln w="12700">
            <a:solidFill>
              <a:srgbClr val="6B7679"/>
            </a:solidFill>
            <a:prstDash val="solid"/>
          </a:ln>
        </p:spPr>
        <p:txBody>
          <a:bodyPr/>
          <a:p/>
        </p:txBody>
      </p:sp>
      <p:sp>
        <p:nvSpPr>
          <p:cNvPr id="26" name="Text 23"/>
          <p:cNvSpPr txBox="1"/>
          <p:nvPr/>
        </p:nvSpPr>
        <p:spPr>
          <a:xfrm>
            <a:off x="9791700" y="2112264"/>
            <a:ext cx="457200" cy="219456"/>
          </a:xfrm>
          <a:prstGeom prst="rect">
            <a:avLst/>
          </a:prstGeom>
          <a:noFill/>
          <a:ln/>
        </p:spPr>
        <p:txBody>
          <a:bodyPr wrap="square" lIns="0" tIns="0" rIns="0" bIns="0" rtlCol="0" anchor="t"/>
          <a:lstStyle/>
          <a:p>
            <a:pPr algn="ctr" indent="0" marL="0">
              <a:buNone/>
            </a:pPr>
            <a:r>
              <a:rPr lang="en-US" sz="1050" dirty="0">
                <a:solidFill>
                  <a:srgbClr val="6B7679"/>
                </a:solidFill>
                <a:latin typeface="Calibri" pitchFamily="34" charset="0"/>
                <a:ea typeface="Calibri" pitchFamily="34" charset="-122"/>
                <a:cs typeface="Calibri" pitchFamily="34" charset="-120"/>
              </a:rPr>
              <a:t>13</a:t>
            </a:r>
            <a:endParaRPr lang="en-US" sz="1050" dirty="0"/>
          </a:p>
        </p:txBody>
      </p:sp>
      <p:sp>
        <p:nvSpPr>
          <p:cNvPr id="27" name="Shape 24"/>
          <p:cNvSpPr/>
          <p:nvPr/>
        </p:nvSpPr>
        <p:spPr>
          <a:xfrm>
            <a:off x="11658600" y="2057400"/>
            <a:ext cx="91" cy="64008"/>
          </a:xfrm>
          <a:prstGeom prst="line">
            <a:avLst/>
          </a:prstGeom>
          <a:noFill/>
          <a:ln w="12700">
            <a:solidFill>
              <a:srgbClr val="6B7679"/>
            </a:solidFill>
            <a:prstDash val="solid"/>
          </a:ln>
        </p:spPr>
        <p:txBody>
          <a:bodyPr/>
          <a:p/>
        </p:txBody>
      </p:sp>
      <p:sp>
        <p:nvSpPr>
          <p:cNvPr id="28" name="Text 25"/>
          <p:cNvSpPr txBox="1"/>
          <p:nvPr/>
        </p:nvSpPr>
        <p:spPr>
          <a:xfrm>
            <a:off x="11430000" y="2112264"/>
            <a:ext cx="457200" cy="219456"/>
          </a:xfrm>
          <a:prstGeom prst="rect">
            <a:avLst/>
          </a:prstGeom>
          <a:noFill/>
          <a:ln/>
        </p:spPr>
        <p:txBody>
          <a:bodyPr wrap="square" lIns="0" tIns="0" rIns="0" bIns="0" rtlCol="0" anchor="t"/>
          <a:lstStyle/>
          <a:p>
            <a:pPr algn="ctr" indent="0" marL="0">
              <a:buNone/>
            </a:pPr>
            <a:r>
              <a:rPr lang="en-US" sz="1050" dirty="0">
                <a:solidFill>
                  <a:srgbClr val="6B7679"/>
                </a:solidFill>
                <a:latin typeface="Calibri" pitchFamily="34" charset="0"/>
                <a:ea typeface="Calibri" pitchFamily="34" charset="-122"/>
                <a:cs typeface="Calibri" pitchFamily="34" charset="-120"/>
              </a:rPr>
              <a:t>18</a:t>
            </a:r>
            <a:endParaRPr lang="en-US" sz="1050" dirty="0"/>
          </a:p>
        </p:txBody>
      </p:sp>
      <p:sp>
        <p:nvSpPr>
          <p:cNvPr id="29" name="Text 26"/>
          <p:cNvSpPr txBox="1"/>
          <p:nvPr/>
        </p:nvSpPr>
        <p:spPr>
          <a:xfrm>
            <a:off x="4160520" y="2532888"/>
            <a:ext cx="1508760" cy="457200"/>
          </a:xfrm>
          <a:prstGeom prst="rect">
            <a:avLst/>
          </a:prstGeom>
          <a:noFill/>
          <a:ln/>
        </p:spPr>
        <p:txBody>
          <a:bodyPr wrap="square" lIns="0" tIns="0" rIns="0" bIns="0" rtlCol="0" anchor="ctr"/>
          <a:lstStyle/>
          <a:p>
            <a:pPr indent="0" marL="0">
              <a:buNone/>
            </a:pPr>
            <a:r>
              <a:rPr lang="en-US" sz="1300" b="1" dirty="0">
                <a:solidFill>
                  <a:srgbClr val="36454F"/>
                </a:solidFill>
                <a:latin typeface="Calibri" pitchFamily="34" charset="0"/>
                <a:ea typeface="Calibri" pitchFamily="34" charset="-122"/>
                <a:cs typeface="Calibri" pitchFamily="34" charset="-120"/>
              </a:rPr>
              <a:t>SJF</a:t>
            </a:r>
            <a:endParaRPr lang="en-US" sz="1300" dirty="0"/>
          </a:p>
        </p:txBody>
      </p:sp>
      <p:sp>
        <p:nvSpPr>
          <p:cNvPr id="30" name="Shape 27"/>
          <p:cNvSpPr/>
          <p:nvPr/>
        </p:nvSpPr>
        <p:spPr>
          <a:xfrm>
            <a:off x="5769864" y="2532888"/>
            <a:ext cx="2275332" cy="457200"/>
          </a:xfrm>
          <a:prstGeom prst="roundRect">
            <a:avLst>
              <a:gd name="adj" fmla="val 10000"/>
            </a:avLst>
          </a:prstGeom>
          <a:solidFill>
            <a:srgbClr val="02C39A"/>
          </a:solidFill>
          <a:ln/>
        </p:spPr>
        <p:txBody>
          <a:bodyPr/>
          <a:p/>
        </p:txBody>
      </p:sp>
      <p:sp>
        <p:nvSpPr>
          <p:cNvPr id="31" name="Text 28"/>
          <p:cNvSpPr txBox="1"/>
          <p:nvPr/>
        </p:nvSpPr>
        <p:spPr>
          <a:xfrm>
            <a:off x="5769864" y="2532888"/>
            <a:ext cx="2275332" cy="457200"/>
          </a:xfrm>
          <a:prstGeom prst="rect">
            <a:avLst/>
          </a:prstGeom>
          <a:noFill/>
          <a:ln/>
        </p:spPr>
        <p:txBody>
          <a:bodyPr wrap="square" lIns="38100" tIns="38100" rIns="38100" bIns="38100" rtlCol="0" anchor="ctr"/>
          <a:lstStyle/>
          <a:p>
            <a:pPr algn="ctr" indent="0" marL="0">
              <a:buNone/>
            </a:pPr>
            <a:r>
              <a:rPr lang="en-US" sz="1200" b="1" dirty="0">
                <a:solidFill>
                  <a:srgbClr val="212121"/>
                </a:solidFill>
                <a:latin typeface="Calibri" pitchFamily="34" charset="0"/>
                <a:ea typeface="Calibri" pitchFamily="34" charset="-122"/>
                <a:cs typeface="Calibri" pitchFamily="34" charset="-120"/>
              </a:rPr>
              <a:t>P1</a:t>
            </a:r>
            <a:endParaRPr lang="en-US" sz="1200" dirty="0"/>
          </a:p>
        </p:txBody>
      </p:sp>
      <p:sp>
        <p:nvSpPr>
          <p:cNvPr id="32" name="Shape 29"/>
          <p:cNvSpPr/>
          <p:nvPr/>
        </p:nvSpPr>
        <p:spPr>
          <a:xfrm>
            <a:off x="8063484" y="2532888"/>
            <a:ext cx="637032" cy="457200"/>
          </a:xfrm>
          <a:prstGeom prst="roundRect">
            <a:avLst>
              <a:gd name="adj" fmla="val 10000"/>
            </a:avLst>
          </a:prstGeom>
          <a:solidFill>
            <a:srgbClr val="C98A1B"/>
          </a:solidFill>
          <a:ln/>
        </p:spPr>
        <p:txBody>
          <a:bodyPr/>
          <a:p/>
        </p:txBody>
      </p:sp>
      <p:sp>
        <p:nvSpPr>
          <p:cNvPr id="33" name="Text 30"/>
          <p:cNvSpPr txBox="1"/>
          <p:nvPr/>
        </p:nvSpPr>
        <p:spPr>
          <a:xfrm>
            <a:off x="8063484" y="2532888"/>
            <a:ext cx="637032" cy="457200"/>
          </a:xfrm>
          <a:prstGeom prst="rect">
            <a:avLst/>
          </a:prstGeom>
          <a:noFill/>
          <a:ln/>
        </p:spPr>
        <p:txBody>
          <a:bodyPr wrap="square" lIns="38100" tIns="38100" rIns="38100" bIns="3810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P3</a:t>
            </a:r>
            <a:endParaRPr lang="en-US" sz="1200" dirty="0"/>
          </a:p>
        </p:txBody>
      </p:sp>
      <p:sp>
        <p:nvSpPr>
          <p:cNvPr id="34" name="Shape 31"/>
          <p:cNvSpPr/>
          <p:nvPr/>
        </p:nvSpPr>
        <p:spPr>
          <a:xfrm>
            <a:off x="8718804" y="2532888"/>
            <a:ext cx="1292352" cy="457200"/>
          </a:xfrm>
          <a:prstGeom prst="roundRect">
            <a:avLst>
              <a:gd name="adj" fmla="val 10000"/>
            </a:avLst>
          </a:prstGeom>
          <a:solidFill>
            <a:srgbClr val="50808E"/>
          </a:solidFill>
          <a:ln/>
        </p:spPr>
        <p:txBody>
          <a:bodyPr/>
          <a:p/>
        </p:txBody>
      </p:sp>
      <p:sp>
        <p:nvSpPr>
          <p:cNvPr id="35" name="Text 32"/>
          <p:cNvSpPr txBox="1"/>
          <p:nvPr/>
        </p:nvSpPr>
        <p:spPr>
          <a:xfrm>
            <a:off x="8718804" y="2532888"/>
            <a:ext cx="1292352" cy="457200"/>
          </a:xfrm>
          <a:prstGeom prst="rect">
            <a:avLst/>
          </a:prstGeom>
          <a:noFill/>
          <a:ln/>
        </p:spPr>
        <p:txBody>
          <a:bodyPr wrap="square" lIns="38100" tIns="38100" rIns="38100" bIns="3810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P2</a:t>
            </a:r>
            <a:endParaRPr lang="en-US" sz="1200" dirty="0"/>
          </a:p>
        </p:txBody>
      </p:sp>
      <p:sp>
        <p:nvSpPr>
          <p:cNvPr id="36" name="Shape 33"/>
          <p:cNvSpPr/>
          <p:nvPr/>
        </p:nvSpPr>
        <p:spPr>
          <a:xfrm>
            <a:off x="10029444" y="2532888"/>
            <a:ext cx="1620012" cy="457200"/>
          </a:xfrm>
          <a:prstGeom prst="roundRect">
            <a:avLst>
              <a:gd name="adj" fmla="val 10000"/>
            </a:avLst>
          </a:prstGeom>
          <a:solidFill>
            <a:srgbClr val="36454F"/>
          </a:solidFill>
          <a:ln/>
        </p:spPr>
        <p:txBody>
          <a:bodyPr/>
          <a:p/>
        </p:txBody>
      </p:sp>
      <p:sp>
        <p:nvSpPr>
          <p:cNvPr id="37" name="Text 34"/>
          <p:cNvSpPr txBox="1"/>
          <p:nvPr/>
        </p:nvSpPr>
        <p:spPr>
          <a:xfrm>
            <a:off x="10029444" y="2532888"/>
            <a:ext cx="1620012" cy="457200"/>
          </a:xfrm>
          <a:prstGeom prst="rect">
            <a:avLst/>
          </a:prstGeom>
          <a:noFill/>
          <a:ln/>
        </p:spPr>
        <p:txBody>
          <a:bodyPr wrap="square" lIns="38100" tIns="38100" rIns="38100" bIns="3810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P4</a:t>
            </a:r>
            <a:endParaRPr lang="en-US" sz="1200" dirty="0"/>
          </a:p>
        </p:txBody>
      </p:sp>
      <p:sp>
        <p:nvSpPr>
          <p:cNvPr id="38" name="Shape 35"/>
          <p:cNvSpPr/>
          <p:nvPr/>
        </p:nvSpPr>
        <p:spPr>
          <a:xfrm>
            <a:off x="5760720" y="2990088"/>
            <a:ext cx="91" cy="64008"/>
          </a:xfrm>
          <a:prstGeom prst="line">
            <a:avLst/>
          </a:prstGeom>
          <a:noFill/>
          <a:ln w="12700">
            <a:solidFill>
              <a:srgbClr val="6B7679"/>
            </a:solidFill>
            <a:prstDash val="solid"/>
          </a:ln>
        </p:spPr>
        <p:txBody>
          <a:bodyPr/>
          <a:p/>
        </p:txBody>
      </p:sp>
      <p:sp>
        <p:nvSpPr>
          <p:cNvPr id="39" name="Text 36"/>
          <p:cNvSpPr txBox="1"/>
          <p:nvPr/>
        </p:nvSpPr>
        <p:spPr>
          <a:xfrm>
            <a:off x="5532120" y="3044952"/>
            <a:ext cx="457200" cy="219456"/>
          </a:xfrm>
          <a:prstGeom prst="rect">
            <a:avLst/>
          </a:prstGeom>
          <a:noFill/>
          <a:ln/>
        </p:spPr>
        <p:txBody>
          <a:bodyPr wrap="square" lIns="0" tIns="0" rIns="0" bIns="0" rtlCol="0" anchor="t"/>
          <a:lstStyle/>
          <a:p>
            <a:pPr algn="ctr" indent="0" marL="0">
              <a:buNone/>
            </a:pPr>
            <a:r>
              <a:rPr lang="en-US" sz="1050" dirty="0">
                <a:solidFill>
                  <a:srgbClr val="6B7679"/>
                </a:solidFill>
                <a:latin typeface="Calibri" pitchFamily="34" charset="0"/>
                <a:ea typeface="Calibri" pitchFamily="34" charset="-122"/>
                <a:cs typeface="Calibri" pitchFamily="34" charset="-120"/>
              </a:rPr>
              <a:t>0</a:t>
            </a:r>
            <a:endParaRPr lang="en-US" sz="1050" dirty="0"/>
          </a:p>
        </p:txBody>
      </p:sp>
      <p:sp>
        <p:nvSpPr>
          <p:cNvPr id="40" name="Shape 37"/>
          <p:cNvSpPr/>
          <p:nvPr/>
        </p:nvSpPr>
        <p:spPr>
          <a:xfrm>
            <a:off x="8054340" y="2990088"/>
            <a:ext cx="91" cy="64008"/>
          </a:xfrm>
          <a:prstGeom prst="line">
            <a:avLst/>
          </a:prstGeom>
          <a:noFill/>
          <a:ln w="12700">
            <a:solidFill>
              <a:srgbClr val="6B7679"/>
            </a:solidFill>
            <a:prstDash val="solid"/>
          </a:ln>
        </p:spPr>
        <p:txBody>
          <a:bodyPr/>
          <a:p/>
        </p:txBody>
      </p:sp>
      <p:sp>
        <p:nvSpPr>
          <p:cNvPr id="41" name="Text 38"/>
          <p:cNvSpPr txBox="1"/>
          <p:nvPr/>
        </p:nvSpPr>
        <p:spPr>
          <a:xfrm>
            <a:off x="7825740" y="3044952"/>
            <a:ext cx="457200" cy="219456"/>
          </a:xfrm>
          <a:prstGeom prst="rect">
            <a:avLst/>
          </a:prstGeom>
          <a:noFill/>
          <a:ln/>
        </p:spPr>
        <p:txBody>
          <a:bodyPr wrap="square" lIns="0" tIns="0" rIns="0" bIns="0" rtlCol="0" anchor="t"/>
          <a:lstStyle/>
          <a:p>
            <a:pPr algn="ctr" indent="0" marL="0">
              <a:buNone/>
            </a:pPr>
            <a:r>
              <a:rPr lang="en-US" sz="1050" dirty="0">
                <a:solidFill>
                  <a:srgbClr val="6B7679"/>
                </a:solidFill>
                <a:latin typeface="Calibri" pitchFamily="34" charset="0"/>
                <a:ea typeface="Calibri" pitchFamily="34" charset="-122"/>
                <a:cs typeface="Calibri" pitchFamily="34" charset="-120"/>
              </a:rPr>
              <a:t>7</a:t>
            </a:r>
            <a:endParaRPr lang="en-US" sz="1050" dirty="0"/>
          </a:p>
        </p:txBody>
      </p:sp>
      <p:sp>
        <p:nvSpPr>
          <p:cNvPr id="42" name="Shape 39"/>
          <p:cNvSpPr/>
          <p:nvPr/>
        </p:nvSpPr>
        <p:spPr>
          <a:xfrm>
            <a:off x="8709660" y="2990088"/>
            <a:ext cx="91" cy="64008"/>
          </a:xfrm>
          <a:prstGeom prst="line">
            <a:avLst/>
          </a:prstGeom>
          <a:noFill/>
          <a:ln w="12700">
            <a:solidFill>
              <a:srgbClr val="6B7679"/>
            </a:solidFill>
            <a:prstDash val="solid"/>
          </a:ln>
        </p:spPr>
        <p:txBody>
          <a:bodyPr/>
          <a:p/>
        </p:txBody>
      </p:sp>
      <p:sp>
        <p:nvSpPr>
          <p:cNvPr id="43" name="Text 40"/>
          <p:cNvSpPr txBox="1"/>
          <p:nvPr/>
        </p:nvSpPr>
        <p:spPr>
          <a:xfrm>
            <a:off x="8481060" y="3044952"/>
            <a:ext cx="457200" cy="219456"/>
          </a:xfrm>
          <a:prstGeom prst="rect">
            <a:avLst/>
          </a:prstGeom>
          <a:noFill/>
          <a:ln/>
        </p:spPr>
        <p:txBody>
          <a:bodyPr wrap="square" lIns="0" tIns="0" rIns="0" bIns="0" rtlCol="0" anchor="t"/>
          <a:lstStyle/>
          <a:p>
            <a:pPr algn="ctr" indent="0" marL="0">
              <a:buNone/>
            </a:pPr>
            <a:r>
              <a:rPr lang="en-US" sz="1050" dirty="0">
                <a:solidFill>
                  <a:srgbClr val="6B7679"/>
                </a:solidFill>
                <a:latin typeface="Calibri" pitchFamily="34" charset="0"/>
                <a:ea typeface="Calibri" pitchFamily="34" charset="-122"/>
                <a:cs typeface="Calibri" pitchFamily="34" charset="-120"/>
              </a:rPr>
              <a:t>9</a:t>
            </a:r>
            <a:endParaRPr lang="en-US" sz="1050" dirty="0"/>
          </a:p>
        </p:txBody>
      </p:sp>
      <p:sp>
        <p:nvSpPr>
          <p:cNvPr id="44" name="Shape 41"/>
          <p:cNvSpPr/>
          <p:nvPr/>
        </p:nvSpPr>
        <p:spPr>
          <a:xfrm>
            <a:off x="10020300" y="2990088"/>
            <a:ext cx="91" cy="64008"/>
          </a:xfrm>
          <a:prstGeom prst="line">
            <a:avLst/>
          </a:prstGeom>
          <a:noFill/>
          <a:ln w="12700">
            <a:solidFill>
              <a:srgbClr val="6B7679"/>
            </a:solidFill>
            <a:prstDash val="solid"/>
          </a:ln>
        </p:spPr>
        <p:txBody>
          <a:bodyPr/>
          <a:p/>
        </p:txBody>
      </p:sp>
      <p:sp>
        <p:nvSpPr>
          <p:cNvPr id="45" name="Text 42"/>
          <p:cNvSpPr txBox="1"/>
          <p:nvPr/>
        </p:nvSpPr>
        <p:spPr>
          <a:xfrm>
            <a:off x="9791700" y="3044952"/>
            <a:ext cx="457200" cy="219456"/>
          </a:xfrm>
          <a:prstGeom prst="rect">
            <a:avLst/>
          </a:prstGeom>
          <a:noFill/>
          <a:ln/>
        </p:spPr>
        <p:txBody>
          <a:bodyPr wrap="square" lIns="0" tIns="0" rIns="0" bIns="0" rtlCol="0" anchor="t"/>
          <a:lstStyle/>
          <a:p>
            <a:pPr algn="ctr" indent="0" marL="0">
              <a:buNone/>
            </a:pPr>
            <a:r>
              <a:rPr lang="en-US" sz="1050" dirty="0">
                <a:solidFill>
                  <a:srgbClr val="6B7679"/>
                </a:solidFill>
                <a:latin typeface="Calibri" pitchFamily="34" charset="0"/>
                <a:ea typeface="Calibri" pitchFamily="34" charset="-122"/>
                <a:cs typeface="Calibri" pitchFamily="34" charset="-120"/>
              </a:rPr>
              <a:t>13</a:t>
            </a:r>
            <a:endParaRPr lang="en-US" sz="1050" dirty="0"/>
          </a:p>
        </p:txBody>
      </p:sp>
      <p:sp>
        <p:nvSpPr>
          <p:cNvPr id="46" name="Shape 43"/>
          <p:cNvSpPr/>
          <p:nvPr/>
        </p:nvSpPr>
        <p:spPr>
          <a:xfrm>
            <a:off x="11658600" y="2990088"/>
            <a:ext cx="91" cy="64008"/>
          </a:xfrm>
          <a:prstGeom prst="line">
            <a:avLst/>
          </a:prstGeom>
          <a:noFill/>
          <a:ln w="12700">
            <a:solidFill>
              <a:srgbClr val="6B7679"/>
            </a:solidFill>
            <a:prstDash val="solid"/>
          </a:ln>
        </p:spPr>
        <p:txBody>
          <a:bodyPr/>
          <a:p/>
        </p:txBody>
      </p:sp>
      <p:sp>
        <p:nvSpPr>
          <p:cNvPr id="47" name="Text 44"/>
          <p:cNvSpPr txBox="1"/>
          <p:nvPr/>
        </p:nvSpPr>
        <p:spPr>
          <a:xfrm>
            <a:off x="11430000" y="3044952"/>
            <a:ext cx="457200" cy="219456"/>
          </a:xfrm>
          <a:prstGeom prst="rect">
            <a:avLst/>
          </a:prstGeom>
          <a:noFill/>
          <a:ln/>
        </p:spPr>
        <p:txBody>
          <a:bodyPr wrap="square" lIns="0" tIns="0" rIns="0" bIns="0" rtlCol="0" anchor="t"/>
          <a:lstStyle/>
          <a:p>
            <a:pPr algn="ctr" indent="0" marL="0">
              <a:buNone/>
            </a:pPr>
            <a:r>
              <a:rPr lang="en-US" sz="1050" dirty="0">
                <a:solidFill>
                  <a:srgbClr val="6B7679"/>
                </a:solidFill>
                <a:latin typeface="Calibri" pitchFamily="34" charset="0"/>
                <a:ea typeface="Calibri" pitchFamily="34" charset="-122"/>
                <a:cs typeface="Calibri" pitchFamily="34" charset="-120"/>
              </a:rPr>
              <a:t>18</a:t>
            </a:r>
            <a:endParaRPr lang="en-US" sz="1050" dirty="0"/>
          </a:p>
        </p:txBody>
      </p:sp>
      <p:sp>
        <p:nvSpPr>
          <p:cNvPr id="48" name="Text 45"/>
          <p:cNvSpPr txBox="1"/>
          <p:nvPr/>
        </p:nvSpPr>
        <p:spPr>
          <a:xfrm>
            <a:off x="4160520" y="3465576"/>
            <a:ext cx="1508760" cy="457200"/>
          </a:xfrm>
          <a:prstGeom prst="rect">
            <a:avLst/>
          </a:prstGeom>
          <a:noFill/>
          <a:ln/>
        </p:spPr>
        <p:txBody>
          <a:bodyPr wrap="square" lIns="0" tIns="0" rIns="0" bIns="0" rtlCol="0" anchor="ctr"/>
          <a:lstStyle/>
          <a:p>
            <a:pPr indent="0" marL="0">
              <a:buNone/>
            </a:pPr>
            <a:r>
              <a:rPr lang="en-US" sz="1300" b="1" dirty="0">
                <a:solidFill>
                  <a:srgbClr val="36454F"/>
                </a:solidFill>
                <a:latin typeface="Calibri" pitchFamily="34" charset="0"/>
                <a:ea typeface="Calibri" pitchFamily="34" charset="-122"/>
                <a:cs typeface="Calibri" pitchFamily="34" charset="-120"/>
              </a:rPr>
              <a:t>SRTF</a:t>
            </a:r>
            <a:endParaRPr lang="en-US" sz="1300" dirty="0"/>
          </a:p>
        </p:txBody>
      </p:sp>
      <p:sp>
        <p:nvSpPr>
          <p:cNvPr id="49" name="Shape 46"/>
          <p:cNvSpPr/>
          <p:nvPr/>
        </p:nvSpPr>
        <p:spPr>
          <a:xfrm>
            <a:off x="5769864" y="3465576"/>
            <a:ext cx="637032" cy="457200"/>
          </a:xfrm>
          <a:prstGeom prst="roundRect">
            <a:avLst>
              <a:gd name="adj" fmla="val 10000"/>
            </a:avLst>
          </a:prstGeom>
          <a:solidFill>
            <a:srgbClr val="02C39A"/>
          </a:solidFill>
          <a:ln/>
        </p:spPr>
        <p:txBody>
          <a:bodyPr/>
          <a:p/>
        </p:txBody>
      </p:sp>
      <p:sp>
        <p:nvSpPr>
          <p:cNvPr id="50" name="Text 47"/>
          <p:cNvSpPr txBox="1"/>
          <p:nvPr/>
        </p:nvSpPr>
        <p:spPr>
          <a:xfrm>
            <a:off x="5769864" y="3465576"/>
            <a:ext cx="637032" cy="457200"/>
          </a:xfrm>
          <a:prstGeom prst="rect">
            <a:avLst/>
          </a:prstGeom>
          <a:noFill/>
          <a:ln/>
        </p:spPr>
        <p:txBody>
          <a:bodyPr wrap="square" lIns="38100" tIns="38100" rIns="38100" bIns="38100" rtlCol="0" anchor="ctr"/>
          <a:lstStyle/>
          <a:p>
            <a:pPr algn="ctr" indent="0" marL="0">
              <a:buNone/>
            </a:pPr>
            <a:r>
              <a:rPr lang="en-US" sz="1200" b="1" dirty="0">
                <a:solidFill>
                  <a:srgbClr val="212121"/>
                </a:solidFill>
                <a:latin typeface="Calibri" pitchFamily="34" charset="0"/>
                <a:ea typeface="Calibri" pitchFamily="34" charset="-122"/>
                <a:cs typeface="Calibri" pitchFamily="34" charset="-120"/>
              </a:rPr>
              <a:t>P1</a:t>
            </a:r>
            <a:endParaRPr lang="en-US" sz="1200" dirty="0"/>
          </a:p>
        </p:txBody>
      </p:sp>
      <p:sp>
        <p:nvSpPr>
          <p:cNvPr id="51" name="Shape 48"/>
          <p:cNvSpPr/>
          <p:nvPr/>
        </p:nvSpPr>
        <p:spPr>
          <a:xfrm>
            <a:off x="6425184" y="3465576"/>
            <a:ext cx="309372" cy="457200"/>
          </a:xfrm>
          <a:prstGeom prst="roundRect">
            <a:avLst>
              <a:gd name="adj" fmla="val 14778"/>
            </a:avLst>
          </a:prstGeom>
          <a:solidFill>
            <a:srgbClr val="50808E"/>
          </a:solidFill>
          <a:ln/>
        </p:spPr>
        <p:txBody>
          <a:bodyPr/>
          <a:p/>
        </p:txBody>
      </p:sp>
      <p:sp>
        <p:nvSpPr>
          <p:cNvPr id="52" name="Text 49"/>
          <p:cNvSpPr txBox="1"/>
          <p:nvPr/>
        </p:nvSpPr>
        <p:spPr>
          <a:xfrm>
            <a:off x="6425184" y="3465576"/>
            <a:ext cx="309372" cy="457200"/>
          </a:xfrm>
          <a:prstGeom prst="rect">
            <a:avLst/>
          </a:prstGeom>
          <a:noFill/>
          <a:ln/>
        </p:spPr>
        <p:txBody>
          <a:bodyPr wrap="square" lIns="38100" tIns="38100" rIns="38100" bIns="3810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P2</a:t>
            </a:r>
            <a:endParaRPr lang="en-US" sz="1200" dirty="0"/>
          </a:p>
        </p:txBody>
      </p:sp>
      <p:sp>
        <p:nvSpPr>
          <p:cNvPr id="53" name="Shape 50"/>
          <p:cNvSpPr/>
          <p:nvPr/>
        </p:nvSpPr>
        <p:spPr>
          <a:xfrm>
            <a:off x="6752844" y="3465576"/>
            <a:ext cx="637032" cy="457200"/>
          </a:xfrm>
          <a:prstGeom prst="roundRect">
            <a:avLst>
              <a:gd name="adj" fmla="val 10000"/>
            </a:avLst>
          </a:prstGeom>
          <a:solidFill>
            <a:srgbClr val="C98A1B"/>
          </a:solidFill>
          <a:ln/>
        </p:spPr>
        <p:txBody>
          <a:bodyPr/>
          <a:p/>
        </p:txBody>
      </p:sp>
      <p:sp>
        <p:nvSpPr>
          <p:cNvPr id="54" name="Text 51"/>
          <p:cNvSpPr txBox="1"/>
          <p:nvPr/>
        </p:nvSpPr>
        <p:spPr>
          <a:xfrm>
            <a:off x="6752844" y="3465576"/>
            <a:ext cx="637032" cy="457200"/>
          </a:xfrm>
          <a:prstGeom prst="rect">
            <a:avLst/>
          </a:prstGeom>
          <a:noFill/>
          <a:ln/>
        </p:spPr>
        <p:txBody>
          <a:bodyPr wrap="square" lIns="38100" tIns="38100" rIns="38100" bIns="3810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P3</a:t>
            </a:r>
            <a:endParaRPr lang="en-US" sz="1200" dirty="0"/>
          </a:p>
        </p:txBody>
      </p:sp>
      <p:sp>
        <p:nvSpPr>
          <p:cNvPr id="55" name="Shape 52"/>
          <p:cNvSpPr/>
          <p:nvPr/>
        </p:nvSpPr>
        <p:spPr>
          <a:xfrm>
            <a:off x="7408164" y="3465576"/>
            <a:ext cx="964692" cy="457200"/>
          </a:xfrm>
          <a:prstGeom prst="roundRect">
            <a:avLst>
              <a:gd name="adj" fmla="val 10000"/>
            </a:avLst>
          </a:prstGeom>
          <a:solidFill>
            <a:srgbClr val="50808E"/>
          </a:solidFill>
          <a:ln/>
        </p:spPr>
        <p:txBody>
          <a:bodyPr/>
          <a:p/>
        </p:txBody>
      </p:sp>
      <p:sp>
        <p:nvSpPr>
          <p:cNvPr id="56" name="Text 53"/>
          <p:cNvSpPr txBox="1"/>
          <p:nvPr/>
        </p:nvSpPr>
        <p:spPr>
          <a:xfrm>
            <a:off x="7408164" y="3465576"/>
            <a:ext cx="964692" cy="457200"/>
          </a:xfrm>
          <a:prstGeom prst="rect">
            <a:avLst/>
          </a:prstGeom>
          <a:noFill/>
          <a:ln/>
        </p:spPr>
        <p:txBody>
          <a:bodyPr wrap="square" lIns="38100" tIns="38100" rIns="38100" bIns="3810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P2</a:t>
            </a:r>
            <a:endParaRPr lang="en-US" sz="1200" dirty="0"/>
          </a:p>
        </p:txBody>
      </p:sp>
      <p:sp>
        <p:nvSpPr>
          <p:cNvPr id="57" name="Shape 54"/>
          <p:cNvSpPr/>
          <p:nvPr/>
        </p:nvSpPr>
        <p:spPr>
          <a:xfrm>
            <a:off x="8391144" y="3465576"/>
            <a:ext cx="1620012" cy="457200"/>
          </a:xfrm>
          <a:prstGeom prst="roundRect">
            <a:avLst>
              <a:gd name="adj" fmla="val 10000"/>
            </a:avLst>
          </a:prstGeom>
          <a:solidFill>
            <a:srgbClr val="02C39A"/>
          </a:solidFill>
          <a:ln/>
        </p:spPr>
        <p:txBody>
          <a:bodyPr/>
          <a:p/>
        </p:txBody>
      </p:sp>
      <p:sp>
        <p:nvSpPr>
          <p:cNvPr id="58" name="Text 55"/>
          <p:cNvSpPr txBox="1"/>
          <p:nvPr/>
        </p:nvSpPr>
        <p:spPr>
          <a:xfrm>
            <a:off x="8391144" y="3465576"/>
            <a:ext cx="1620012" cy="457200"/>
          </a:xfrm>
          <a:prstGeom prst="rect">
            <a:avLst/>
          </a:prstGeom>
          <a:noFill/>
          <a:ln/>
        </p:spPr>
        <p:txBody>
          <a:bodyPr wrap="square" lIns="38100" tIns="38100" rIns="38100" bIns="38100" rtlCol="0" anchor="ctr"/>
          <a:lstStyle/>
          <a:p>
            <a:pPr algn="ctr" indent="0" marL="0">
              <a:buNone/>
            </a:pPr>
            <a:r>
              <a:rPr lang="en-US" sz="1200" b="1" dirty="0">
                <a:solidFill>
                  <a:srgbClr val="212121"/>
                </a:solidFill>
                <a:latin typeface="Calibri" pitchFamily="34" charset="0"/>
                <a:ea typeface="Calibri" pitchFamily="34" charset="-122"/>
                <a:cs typeface="Calibri" pitchFamily="34" charset="-120"/>
              </a:rPr>
              <a:t>P1</a:t>
            </a:r>
            <a:endParaRPr lang="en-US" sz="1200" dirty="0"/>
          </a:p>
        </p:txBody>
      </p:sp>
      <p:sp>
        <p:nvSpPr>
          <p:cNvPr id="59" name="Shape 56"/>
          <p:cNvSpPr/>
          <p:nvPr/>
        </p:nvSpPr>
        <p:spPr>
          <a:xfrm>
            <a:off x="10029444" y="3465576"/>
            <a:ext cx="1620012" cy="457200"/>
          </a:xfrm>
          <a:prstGeom prst="roundRect">
            <a:avLst>
              <a:gd name="adj" fmla="val 10000"/>
            </a:avLst>
          </a:prstGeom>
          <a:solidFill>
            <a:srgbClr val="36454F"/>
          </a:solidFill>
          <a:ln/>
        </p:spPr>
        <p:txBody>
          <a:bodyPr/>
          <a:p/>
        </p:txBody>
      </p:sp>
      <p:sp>
        <p:nvSpPr>
          <p:cNvPr id="60" name="Text 57"/>
          <p:cNvSpPr txBox="1"/>
          <p:nvPr/>
        </p:nvSpPr>
        <p:spPr>
          <a:xfrm>
            <a:off x="10029444" y="3465576"/>
            <a:ext cx="1620012" cy="457200"/>
          </a:xfrm>
          <a:prstGeom prst="rect">
            <a:avLst/>
          </a:prstGeom>
          <a:noFill/>
          <a:ln/>
        </p:spPr>
        <p:txBody>
          <a:bodyPr wrap="square" lIns="38100" tIns="38100" rIns="38100" bIns="3810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P4</a:t>
            </a:r>
            <a:endParaRPr lang="en-US" sz="1200" dirty="0"/>
          </a:p>
        </p:txBody>
      </p:sp>
      <p:sp>
        <p:nvSpPr>
          <p:cNvPr id="61" name="Shape 58"/>
          <p:cNvSpPr/>
          <p:nvPr/>
        </p:nvSpPr>
        <p:spPr>
          <a:xfrm>
            <a:off x="5760720" y="3922776"/>
            <a:ext cx="91" cy="64008"/>
          </a:xfrm>
          <a:prstGeom prst="line">
            <a:avLst/>
          </a:prstGeom>
          <a:noFill/>
          <a:ln w="12700">
            <a:solidFill>
              <a:srgbClr val="6B7679"/>
            </a:solidFill>
            <a:prstDash val="solid"/>
          </a:ln>
        </p:spPr>
        <p:txBody>
          <a:bodyPr/>
          <a:p/>
        </p:txBody>
      </p:sp>
      <p:sp>
        <p:nvSpPr>
          <p:cNvPr id="62" name="Text 59"/>
          <p:cNvSpPr txBox="1"/>
          <p:nvPr/>
        </p:nvSpPr>
        <p:spPr>
          <a:xfrm>
            <a:off x="5532120" y="3977640"/>
            <a:ext cx="457200" cy="219456"/>
          </a:xfrm>
          <a:prstGeom prst="rect">
            <a:avLst/>
          </a:prstGeom>
          <a:noFill/>
          <a:ln/>
        </p:spPr>
        <p:txBody>
          <a:bodyPr wrap="square" lIns="0" tIns="0" rIns="0" bIns="0" rtlCol="0" anchor="t"/>
          <a:lstStyle/>
          <a:p>
            <a:pPr algn="ctr" indent="0" marL="0">
              <a:buNone/>
            </a:pPr>
            <a:r>
              <a:rPr lang="en-US" sz="1050" dirty="0">
                <a:solidFill>
                  <a:srgbClr val="6B7679"/>
                </a:solidFill>
                <a:latin typeface="Calibri" pitchFamily="34" charset="0"/>
                <a:ea typeface="Calibri" pitchFamily="34" charset="-122"/>
                <a:cs typeface="Calibri" pitchFamily="34" charset="-120"/>
              </a:rPr>
              <a:t>0</a:t>
            </a:r>
            <a:endParaRPr lang="en-US" sz="1050" dirty="0"/>
          </a:p>
        </p:txBody>
      </p:sp>
      <p:sp>
        <p:nvSpPr>
          <p:cNvPr id="63" name="Shape 60"/>
          <p:cNvSpPr/>
          <p:nvPr/>
        </p:nvSpPr>
        <p:spPr>
          <a:xfrm>
            <a:off x="6416040" y="3922776"/>
            <a:ext cx="91" cy="64008"/>
          </a:xfrm>
          <a:prstGeom prst="line">
            <a:avLst/>
          </a:prstGeom>
          <a:noFill/>
          <a:ln w="12700">
            <a:solidFill>
              <a:srgbClr val="6B7679"/>
            </a:solidFill>
            <a:prstDash val="solid"/>
          </a:ln>
        </p:spPr>
        <p:txBody>
          <a:bodyPr/>
          <a:p/>
        </p:txBody>
      </p:sp>
      <p:sp>
        <p:nvSpPr>
          <p:cNvPr id="64" name="Text 61"/>
          <p:cNvSpPr txBox="1"/>
          <p:nvPr/>
        </p:nvSpPr>
        <p:spPr>
          <a:xfrm>
            <a:off x="6187440" y="3977640"/>
            <a:ext cx="457200" cy="219456"/>
          </a:xfrm>
          <a:prstGeom prst="rect">
            <a:avLst/>
          </a:prstGeom>
          <a:noFill/>
          <a:ln/>
        </p:spPr>
        <p:txBody>
          <a:bodyPr wrap="square" lIns="0" tIns="0" rIns="0" bIns="0" rtlCol="0" anchor="t"/>
          <a:lstStyle/>
          <a:p>
            <a:pPr algn="ctr" indent="0" marL="0">
              <a:buNone/>
            </a:pPr>
            <a:r>
              <a:rPr lang="en-US" sz="1050" dirty="0">
                <a:solidFill>
                  <a:srgbClr val="6B7679"/>
                </a:solidFill>
                <a:latin typeface="Calibri" pitchFamily="34" charset="0"/>
                <a:ea typeface="Calibri" pitchFamily="34" charset="-122"/>
                <a:cs typeface="Calibri" pitchFamily="34" charset="-120"/>
              </a:rPr>
              <a:t>2</a:t>
            </a:r>
            <a:endParaRPr lang="en-US" sz="1050" dirty="0"/>
          </a:p>
        </p:txBody>
      </p:sp>
      <p:sp>
        <p:nvSpPr>
          <p:cNvPr id="65" name="Shape 62"/>
          <p:cNvSpPr/>
          <p:nvPr/>
        </p:nvSpPr>
        <p:spPr>
          <a:xfrm>
            <a:off x="6743700" y="3922776"/>
            <a:ext cx="91" cy="64008"/>
          </a:xfrm>
          <a:prstGeom prst="line">
            <a:avLst/>
          </a:prstGeom>
          <a:noFill/>
          <a:ln w="12700">
            <a:solidFill>
              <a:srgbClr val="6B7679"/>
            </a:solidFill>
            <a:prstDash val="solid"/>
          </a:ln>
        </p:spPr>
        <p:txBody>
          <a:bodyPr/>
          <a:p/>
        </p:txBody>
      </p:sp>
      <p:sp>
        <p:nvSpPr>
          <p:cNvPr id="66" name="Text 63"/>
          <p:cNvSpPr txBox="1"/>
          <p:nvPr/>
        </p:nvSpPr>
        <p:spPr>
          <a:xfrm>
            <a:off x="6515100" y="3977640"/>
            <a:ext cx="457200" cy="219456"/>
          </a:xfrm>
          <a:prstGeom prst="rect">
            <a:avLst/>
          </a:prstGeom>
          <a:noFill/>
          <a:ln/>
        </p:spPr>
        <p:txBody>
          <a:bodyPr wrap="square" lIns="0" tIns="0" rIns="0" bIns="0" rtlCol="0" anchor="t"/>
          <a:lstStyle/>
          <a:p>
            <a:pPr algn="ctr" indent="0" marL="0">
              <a:buNone/>
            </a:pPr>
            <a:r>
              <a:rPr lang="en-US" sz="1050" dirty="0">
                <a:solidFill>
                  <a:srgbClr val="6B7679"/>
                </a:solidFill>
                <a:latin typeface="Calibri" pitchFamily="34" charset="0"/>
                <a:ea typeface="Calibri" pitchFamily="34" charset="-122"/>
                <a:cs typeface="Calibri" pitchFamily="34" charset="-120"/>
              </a:rPr>
              <a:t>3</a:t>
            </a:r>
            <a:endParaRPr lang="en-US" sz="1050" dirty="0"/>
          </a:p>
        </p:txBody>
      </p:sp>
      <p:sp>
        <p:nvSpPr>
          <p:cNvPr id="67" name="Shape 64"/>
          <p:cNvSpPr/>
          <p:nvPr/>
        </p:nvSpPr>
        <p:spPr>
          <a:xfrm>
            <a:off x="7399020" y="3922776"/>
            <a:ext cx="91" cy="64008"/>
          </a:xfrm>
          <a:prstGeom prst="line">
            <a:avLst/>
          </a:prstGeom>
          <a:noFill/>
          <a:ln w="12700">
            <a:solidFill>
              <a:srgbClr val="6B7679"/>
            </a:solidFill>
            <a:prstDash val="solid"/>
          </a:ln>
        </p:spPr>
        <p:txBody>
          <a:bodyPr/>
          <a:p/>
        </p:txBody>
      </p:sp>
      <p:sp>
        <p:nvSpPr>
          <p:cNvPr id="68" name="Text 65"/>
          <p:cNvSpPr txBox="1"/>
          <p:nvPr/>
        </p:nvSpPr>
        <p:spPr>
          <a:xfrm>
            <a:off x="7170420" y="3977640"/>
            <a:ext cx="457200" cy="219456"/>
          </a:xfrm>
          <a:prstGeom prst="rect">
            <a:avLst/>
          </a:prstGeom>
          <a:noFill/>
          <a:ln/>
        </p:spPr>
        <p:txBody>
          <a:bodyPr wrap="square" lIns="0" tIns="0" rIns="0" bIns="0" rtlCol="0" anchor="t"/>
          <a:lstStyle/>
          <a:p>
            <a:pPr algn="ctr" indent="0" marL="0">
              <a:buNone/>
            </a:pPr>
            <a:r>
              <a:rPr lang="en-US" sz="1050" dirty="0">
                <a:solidFill>
                  <a:srgbClr val="6B7679"/>
                </a:solidFill>
                <a:latin typeface="Calibri" pitchFamily="34" charset="0"/>
                <a:ea typeface="Calibri" pitchFamily="34" charset="-122"/>
                <a:cs typeface="Calibri" pitchFamily="34" charset="-120"/>
              </a:rPr>
              <a:t>5</a:t>
            </a:r>
            <a:endParaRPr lang="en-US" sz="1050" dirty="0"/>
          </a:p>
        </p:txBody>
      </p:sp>
      <p:sp>
        <p:nvSpPr>
          <p:cNvPr id="69" name="Shape 66"/>
          <p:cNvSpPr/>
          <p:nvPr/>
        </p:nvSpPr>
        <p:spPr>
          <a:xfrm>
            <a:off x="8382000" y="3922776"/>
            <a:ext cx="91" cy="64008"/>
          </a:xfrm>
          <a:prstGeom prst="line">
            <a:avLst/>
          </a:prstGeom>
          <a:noFill/>
          <a:ln w="12700">
            <a:solidFill>
              <a:srgbClr val="6B7679"/>
            </a:solidFill>
            <a:prstDash val="solid"/>
          </a:ln>
        </p:spPr>
        <p:txBody>
          <a:bodyPr/>
          <a:p/>
        </p:txBody>
      </p:sp>
      <p:sp>
        <p:nvSpPr>
          <p:cNvPr id="70" name="Text 67"/>
          <p:cNvSpPr txBox="1"/>
          <p:nvPr/>
        </p:nvSpPr>
        <p:spPr>
          <a:xfrm>
            <a:off x="8153400" y="3977640"/>
            <a:ext cx="457200" cy="219456"/>
          </a:xfrm>
          <a:prstGeom prst="rect">
            <a:avLst/>
          </a:prstGeom>
          <a:noFill/>
          <a:ln/>
        </p:spPr>
        <p:txBody>
          <a:bodyPr wrap="square" lIns="0" tIns="0" rIns="0" bIns="0" rtlCol="0" anchor="t"/>
          <a:lstStyle/>
          <a:p>
            <a:pPr algn="ctr" indent="0" marL="0">
              <a:buNone/>
            </a:pPr>
            <a:r>
              <a:rPr lang="en-US" sz="1050" dirty="0">
                <a:solidFill>
                  <a:srgbClr val="6B7679"/>
                </a:solidFill>
                <a:latin typeface="Calibri" pitchFamily="34" charset="0"/>
                <a:ea typeface="Calibri" pitchFamily="34" charset="-122"/>
                <a:cs typeface="Calibri" pitchFamily="34" charset="-120"/>
              </a:rPr>
              <a:t>8</a:t>
            </a:r>
            <a:endParaRPr lang="en-US" sz="1050" dirty="0"/>
          </a:p>
        </p:txBody>
      </p:sp>
      <p:sp>
        <p:nvSpPr>
          <p:cNvPr id="71" name="Shape 68"/>
          <p:cNvSpPr/>
          <p:nvPr/>
        </p:nvSpPr>
        <p:spPr>
          <a:xfrm>
            <a:off x="10020300" y="3922776"/>
            <a:ext cx="91" cy="64008"/>
          </a:xfrm>
          <a:prstGeom prst="line">
            <a:avLst/>
          </a:prstGeom>
          <a:noFill/>
          <a:ln w="12700">
            <a:solidFill>
              <a:srgbClr val="6B7679"/>
            </a:solidFill>
            <a:prstDash val="solid"/>
          </a:ln>
        </p:spPr>
        <p:txBody>
          <a:bodyPr/>
          <a:p/>
        </p:txBody>
      </p:sp>
      <p:sp>
        <p:nvSpPr>
          <p:cNvPr id="72" name="Text 69"/>
          <p:cNvSpPr txBox="1"/>
          <p:nvPr/>
        </p:nvSpPr>
        <p:spPr>
          <a:xfrm>
            <a:off x="9791700" y="3977640"/>
            <a:ext cx="457200" cy="219456"/>
          </a:xfrm>
          <a:prstGeom prst="rect">
            <a:avLst/>
          </a:prstGeom>
          <a:noFill/>
          <a:ln/>
        </p:spPr>
        <p:txBody>
          <a:bodyPr wrap="square" lIns="0" tIns="0" rIns="0" bIns="0" rtlCol="0" anchor="t"/>
          <a:lstStyle/>
          <a:p>
            <a:pPr algn="ctr" indent="0" marL="0">
              <a:buNone/>
            </a:pPr>
            <a:r>
              <a:rPr lang="en-US" sz="1050" dirty="0">
                <a:solidFill>
                  <a:srgbClr val="6B7679"/>
                </a:solidFill>
                <a:latin typeface="Calibri" pitchFamily="34" charset="0"/>
                <a:ea typeface="Calibri" pitchFamily="34" charset="-122"/>
                <a:cs typeface="Calibri" pitchFamily="34" charset="-120"/>
              </a:rPr>
              <a:t>13</a:t>
            </a:r>
            <a:endParaRPr lang="en-US" sz="1050" dirty="0"/>
          </a:p>
        </p:txBody>
      </p:sp>
      <p:sp>
        <p:nvSpPr>
          <p:cNvPr id="73" name="Shape 70"/>
          <p:cNvSpPr/>
          <p:nvPr/>
        </p:nvSpPr>
        <p:spPr>
          <a:xfrm>
            <a:off x="11658600" y="3922776"/>
            <a:ext cx="91" cy="64008"/>
          </a:xfrm>
          <a:prstGeom prst="line">
            <a:avLst/>
          </a:prstGeom>
          <a:noFill/>
          <a:ln w="12700">
            <a:solidFill>
              <a:srgbClr val="6B7679"/>
            </a:solidFill>
            <a:prstDash val="solid"/>
          </a:ln>
        </p:spPr>
        <p:txBody>
          <a:bodyPr/>
          <a:p/>
        </p:txBody>
      </p:sp>
      <p:sp>
        <p:nvSpPr>
          <p:cNvPr id="74" name="Text 71"/>
          <p:cNvSpPr txBox="1"/>
          <p:nvPr/>
        </p:nvSpPr>
        <p:spPr>
          <a:xfrm>
            <a:off x="11430000" y="3977640"/>
            <a:ext cx="457200" cy="219456"/>
          </a:xfrm>
          <a:prstGeom prst="rect">
            <a:avLst/>
          </a:prstGeom>
          <a:noFill/>
          <a:ln/>
        </p:spPr>
        <p:txBody>
          <a:bodyPr wrap="square" lIns="0" tIns="0" rIns="0" bIns="0" rtlCol="0" anchor="t"/>
          <a:lstStyle/>
          <a:p>
            <a:pPr algn="ctr" indent="0" marL="0">
              <a:buNone/>
            </a:pPr>
            <a:r>
              <a:rPr lang="en-US" sz="1050" dirty="0">
                <a:solidFill>
                  <a:srgbClr val="6B7679"/>
                </a:solidFill>
                <a:latin typeface="Calibri" pitchFamily="34" charset="0"/>
                <a:ea typeface="Calibri" pitchFamily="34" charset="-122"/>
                <a:cs typeface="Calibri" pitchFamily="34" charset="-120"/>
              </a:rPr>
              <a:t>18</a:t>
            </a:r>
            <a:endParaRPr lang="en-US" sz="1050" dirty="0"/>
          </a:p>
        </p:txBody>
      </p:sp>
      <p:sp>
        <p:nvSpPr>
          <p:cNvPr id="75" name="Text 72"/>
          <p:cNvSpPr txBox="1"/>
          <p:nvPr/>
        </p:nvSpPr>
        <p:spPr>
          <a:xfrm>
            <a:off x="4160520" y="4398264"/>
            <a:ext cx="1508760" cy="457200"/>
          </a:xfrm>
          <a:prstGeom prst="rect">
            <a:avLst/>
          </a:prstGeom>
          <a:noFill/>
          <a:ln/>
        </p:spPr>
        <p:txBody>
          <a:bodyPr wrap="square" lIns="0" tIns="0" rIns="0" bIns="0" rtlCol="0" anchor="ctr"/>
          <a:lstStyle/>
          <a:p>
            <a:pPr indent="0" marL="0">
              <a:buNone/>
            </a:pPr>
            <a:r>
              <a:rPr lang="en-US" sz="1300" b="1" dirty="0">
                <a:solidFill>
                  <a:srgbClr val="36454F"/>
                </a:solidFill>
                <a:latin typeface="Calibri" pitchFamily="34" charset="0"/>
                <a:ea typeface="Calibri" pitchFamily="34" charset="-122"/>
                <a:cs typeface="Calibri" pitchFamily="34" charset="-120"/>
              </a:rPr>
              <a:t>Priority (pre.)</a:t>
            </a:r>
            <a:endParaRPr lang="en-US" sz="1300" dirty="0"/>
          </a:p>
        </p:txBody>
      </p:sp>
      <p:sp>
        <p:nvSpPr>
          <p:cNvPr id="76" name="Shape 73"/>
          <p:cNvSpPr/>
          <p:nvPr/>
        </p:nvSpPr>
        <p:spPr>
          <a:xfrm>
            <a:off x="5769864" y="4398264"/>
            <a:ext cx="637032" cy="457200"/>
          </a:xfrm>
          <a:prstGeom prst="roundRect">
            <a:avLst>
              <a:gd name="adj" fmla="val 10000"/>
            </a:avLst>
          </a:prstGeom>
          <a:solidFill>
            <a:srgbClr val="02C39A"/>
          </a:solidFill>
          <a:ln/>
        </p:spPr>
        <p:txBody>
          <a:bodyPr/>
          <a:p/>
        </p:txBody>
      </p:sp>
      <p:sp>
        <p:nvSpPr>
          <p:cNvPr id="77" name="Text 74"/>
          <p:cNvSpPr txBox="1"/>
          <p:nvPr/>
        </p:nvSpPr>
        <p:spPr>
          <a:xfrm>
            <a:off x="5769864" y="4398264"/>
            <a:ext cx="637032" cy="457200"/>
          </a:xfrm>
          <a:prstGeom prst="rect">
            <a:avLst/>
          </a:prstGeom>
          <a:noFill/>
          <a:ln/>
        </p:spPr>
        <p:txBody>
          <a:bodyPr wrap="square" lIns="38100" tIns="38100" rIns="38100" bIns="38100" rtlCol="0" anchor="ctr"/>
          <a:lstStyle/>
          <a:p>
            <a:pPr algn="ctr" indent="0" marL="0">
              <a:buNone/>
            </a:pPr>
            <a:r>
              <a:rPr lang="en-US" sz="1200" b="1" dirty="0">
                <a:solidFill>
                  <a:srgbClr val="212121"/>
                </a:solidFill>
                <a:latin typeface="Calibri" pitchFamily="34" charset="0"/>
                <a:ea typeface="Calibri" pitchFamily="34" charset="-122"/>
                <a:cs typeface="Calibri" pitchFamily="34" charset="-120"/>
              </a:rPr>
              <a:t>P1</a:t>
            </a:r>
            <a:endParaRPr lang="en-US" sz="1200" dirty="0"/>
          </a:p>
        </p:txBody>
      </p:sp>
      <p:sp>
        <p:nvSpPr>
          <p:cNvPr id="78" name="Shape 75"/>
          <p:cNvSpPr/>
          <p:nvPr/>
        </p:nvSpPr>
        <p:spPr>
          <a:xfrm>
            <a:off x="6425184" y="4398264"/>
            <a:ext cx="1292352" cy="457200"/>
          </a:xfrm>
          <a:prstGeom prst="roundRect">
            <a:avLst>
              <a:gd name="adj" fmla="val 10000"/>
            </a:avLst>
          </a:prstGeom>
          <a:solidFill>
            <a:srgbClr val="50808E"/>
          </a:solidFill>
          <a:ln/>
        </p:spPr>
        <p:txBody>
          <a:bodyPr/>
          <a:p/>
        </p:txBody>
      </p:sp>
      <p:sp>
        <p:nvSpPr>
          <p:cNvPr id="79" name="Text 76"/>
          <p:cNvSpPr txBox="1"/>
          <p:nvPr/>
        </p:nvSpPr>
        <p:spPr>
          <a:xfrm>
            <a:off x="6425184" y="4398264"/>
            <a:ext cx="1292352" cy="457200"/>
          </a:xfrm>
          <a:prstGeom prst="rect">
            <a:avLst/>
          </a:prstGeom>
          <a:noFill/>
          <a:ln/>
        </p:spPr>
        <p:txBody>
          <a:bodyPr wrap="square" lIns="38100" tIns="38100" rIns="38100" bIns="3810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P2</a:t>
            </a:r>
            <a:endParaRPr lang="en-US" sz="1200" dirty="0"/>
          </a:p>
        </p:txBody>
      </p:sp>
      <p:sp>
        <p:nvSpPr>
          <p:cNvPr id="80" name="Shape 77"/>
          <p:cNvSpPr/>
          <p:nvPr/>
        </p:nvSpPr>
        <p:spPr>
          <a:xfrm>
            <a:off x="7735824" y="4398264"/>
            <a:ext cx="1620012" cy="457200"/>
          </a:xfrm>
          <a:prstGeom prst="roundRect">
            <a:avLst>
              <a:gd name="adj" fmla="val 10000"/>
            </a:avLst>
          </a:prstGeom>
          <a:solidFill>
            <a:srgbClr val="02C39A"/>
          </a:solidFill>
          <a:ln/>
        </p:spPr>
        <p:txBody>
          <a:bodyPr/>
          <a:p/>
        </p:txBody>
      </p:sp>
      <p:sp>
        <p:nvSpPr>
          <p:cNvPr id="81" name="Text 78"/>
          <p:cNvSpPr txBox="1"/>
          <p:nvPr/>
        </p:nvSpPr>
        <p:spPr>
          <a:xfrm>
            <a:off x="7735824" y="4398264"/>
            <a:ext cx="1620012" cy="457200"/>
          </a:xfrm>
          <a:prstGeom prst="rect">
            <a:avLst/>
          </a:prstGeom>
          <a:noFill/>
          <a:ln/>
        </p:spPr>
        <p:txBody>
          <a:bodyPr wrap="square" lIns="38100" tIns="38100" rIns="38100" bIns="38100" rtlCol="0" anchor="ctr"/>
          <a:lstStyle/>
          <a:p>
            <a:pPr algn="ctr" indent="0" marL="0">
              <a:buNone/>
            </a:pPr>
            <a:r>
              <a:rPr lang="en-US" sz="1200" b="1" dirty="0">
                <a:solidFill>
                  <a:srgbClr val="212121"/>
                </a:solidFill>
                <a:latin typeface="Calibri" pitchFamily="34" charset="0"/>
                <a:ea typeface="Calibri" pitchFamily="34" charset="-122"/>
                <a:cs typeface="Calibri" pitchFamily="34" charset="-120"/>
              </a:rPr>
              <a:t>P1</a:t>
            </a:r>
            <a:endParaRPr lang="en-US" sz="1200" dirty="0"/>
          </a:p>
        </p:txBody>
      </p:sp>
      <p:sp>
        <p:nvSpPr>
          <p:cNvPr id="82" name="Shape 79"/>
          <p:cNvSpPr/>
          <p:nvPr/>
        </p:nvSpPr>
        <p:spPr>
          <a:xfrm>
            <a:off x="9374124" y="4398264"/>
            <a:ext cx="1620012" cy="457200"/>
          </a:xfrm>
          <a:prstGeom prst="roundRect">
            <a:avLst>
              <a:gd name="adj" fmla="val 10000"/>
            </a:avLst>
          </a:prstGeom>
          <a:solidFill>
            <a:srgbClr val="36454F"/>
          </a:solidFill>
          <a:ln/>
        </p:spPr>
        <p:txBody>
          <a:bodyPr/>
          <a:p/>
        </p:txBody>
      </p:sp>
      <p:sp>
        <p:nvSpPr>
          <p:cNvPr id="83" name="Text 80"/>
          <p:cNvSpPr txBox="1"/>
          <p:nvPr/>
        </p:nvSpPr>
        <p:spPr>
          <a:xfrm>
            <a:off x="9374124" y="4398264"/>
            <a:ext cx="1620012" cy="457200"/>
          </a:xfrm>
          <a:prstGeom prst="rect">
            <a:avLst/>
          </a:prstGeom>
          <a:noFill/>
          <a:ln/>
        </p:spPr>
        <p:txBody>
          <a:bodyPr wrap="square" lIns="38100" tIns="38100" rIns="38100" bIns="3810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P4</a:t>
            </a:r>
            <a:endParaRPr lang="en-US" sz="1200" dirty="0"/>
          </a:p>
        </p:txBody>
      </p:sp>
      <p:sp>
        <p:nvSpPr>
          <p:cNvPr id="84" name="Shape 81"/>
          <p:cNvSpPr/>
          <p:nvPr/>
        </p:nvSpPr>
        <p:spPr>
          <a:xfrm>
            <a:off x="11012424" y="4398264"/>
            <a:ext cx="637032" cy="457200"/>
          </a:xfrm>
          <a:prstGeom prst="roundRect">
            <a:avLst>
              <a:gd name="adj" fmla="val 10000"/>
            </a:avLst>
          </a:prstGeom>
          <a:solidFill>
            <a:srgbClr val="C98A1B"/>
          </a:solidFill>
          <a:ln/>
        </p:spPr>
        <p:txBody>
          <a:bodyPr/>
          <a:p/>
        </p:txBody>
      </p:sp>
      <p:sp>
        <p:nvSpPr>
          <p:cNvPr id="85" name="Text 82"/>
          <p:cNvSpPr txBox="1"/>
          <p:nvPr/>
        </p:nvSpPr>
        <p:spPr>
          <a:xfrm>
            <a:off x="11012424" y="4398264"/>
            <a:ext cx="637032" cy="457200"/>
          </a:xfrm>
          <a:prstGeom prst="rect">
            <a:avLst/>
          </a:prstGeom>
          <a:noFill/>
          <a:ln/>
        </p:spPr>
        <p:txBody>
          <a:bodyPr wrap="square" lIns="38100" tIns="38100" rIns="38100" bIns="3810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P3</a:t>
            </a:r>
            <a:endParaRPr lang="en-US" sz="1200" dirty="0"/>
          </a:p>
        </p:txBody>
      </p:sp>
      <p:sp>
        <p:nvSpPr>
          <p:cNvPr id="86" name="Shape 83"/>
          <p:cNvSpPr/>
          <p:nvPr/>
        </p:nvSpPr>
        <p:spPr>
          <a:xfrm>
            <a:off x="5760720" y="4855464"/>
            <a:ext cx="91" cy="64008"/>
          </a:xfrm>
          <a:prstGeom prst="line">
            <a:avLst/>
          </a:prstGeom>
          <a:noFill/>
          <a:ln w="12700">
            <a:solidFill>
              <a:srgbClr val="6B7679"/>
            </a:solidFill>
            <a:prstDash val="solid"/>
          </a:ln>
        </p:spPr>
        <p:txBody>
          <a:bodyPr/>
          <a:p/>
        </p:txBody>
      </p:sp>
      <p:sp>
        <p:nvSpPr>
          <p:cNvPr id="87" name="Text 84"/>
          <p:cNvSpPr txBox="1"/>
          <p:nvPr/>
        </p:nvSpPr>
        <p:spPr>
          <a:xfrm>
            <a:off x="5532120" y="4910328"/>
            <a:ext cx="457200" cy="219456"/>
          </a:xfrm>
          <a:prstGeom prst="rect">
            <a:avLst/>
          </a:prstGeom>
          <a:noFill/>
          <a:ln/>
        </p:spPr>
        <p:txBody>
          <a:bodyPr wrap="square" lIns="0" tIns="0" rIns="0" bIns="0" rtlCol="0" anchor="t"/>
          <a:lstStyle/>
          <a:p>
            <a:pPr algn="ctr" indent="0" marL="0">
              <a:buNone/>
            </a:pPr>
            <a:r>
              <a:rPr lang="en-US" sz="1050" dirty="0">
                <a:solidFill>
                  <a:srgbClr val="6B7679"/>
                </a:solidFill>
                <a:latin typeface="Calibri" pitchFamily="34" charset="0"/>
                <a:ea typeface="Calibri" pitchFamily="34" charset="-122"/>
                <a:cs typeface="Calibri" pitchFamily="34" charset="-120"/>
              </a:rPr>
              <a:t>0</a:t>
            </a:r>
            <a:endParaRPr lang="en-US" sz="1050" dirty="0"/>
          </a:p>
        </p:txBody>
      </p:sp>
      <p:sp>
        <p:nvSpPr>
          <p:cNvPr id="88" name="Shape 85"/>
          <p:cNvSpPr/>
          <p:nvPr/>
        </p:nvSpPr>
        <p:spPr>
          <a:xfrm>
            <a:off x="6416040" y="4855464"/>
            <a:ext cx="91" cy="64008"/>
          </a:xfrm>
          <a:prstGeom prst="line">
            <a:avLst/>
          </a:prstGeom>
          <a:noFill/>
          <a:ln w="12700">
            <a:solidFill>
              <a:srgbClr val="6B7679"/>
            </a:solidFill>
            <a:prstDash val="solid"/>
          </a:ln>
        </p:spPr>
        <p:txBody>
          <a:bodyPr/>
          <a:p/>
        </p:txBody>
      </p:sp>
      <p:sp>
        <p:nvSpPr>
          <p:cNvPr id="89" name="Text 86"/>
          <p:cNvSpPr txBox="1"/>
          <p:nvPr/>
        </p:nvSpPr>
        <p:spPr>
          <a:xfrm>
            <a:off x="6187440" y="4910328"/>
            <a:ext cx="457200" cy="219456"/>
          </a:xfrm>
          <a:prstGeom prst="rect">
            <a:avLst/>
          </a:prstGeom>
          <a:noFill/>
          <a:ln/>
        </p:spPr>
        <p:txBody>
          <a:bodyPr wrap="square" lIns="0" tIns="0" rIns="0" bIns="0" rtlCol="0" anchor="t"/>
          <a:lstStyle/>
          <a:p>
            <a:pPr algn="ctr" indent="0" marL="0">
              <a:buNone/>
            </a:pPr>
            <a:r>
              <a:rPr lang="en-US" sz="1050" dirty="0">
                <a:solidFill>
                  <a:srgbClr val="6B7679"/>
                </a:solidFill>
                <a:latin typeface="Calibri" pitchFamily="34" charset="0"/>
                <a:ea typeface="Calibri" pitchFamily="34" charset="-122"/>
                <a:cs typeface="Calibri" pitchFamily="34" charset="-120"/>
              </a:rPr>
              <a:t>2</a:t>
            </a:r>
            <a:endParaRPr lang="en-US" sz="1050" dirty="0"/>
          </a:p>
        </p:txBody>
      </p:sp>
      <p:sp>
        <p:nvSpPr>
          <p:cNvPr id="90" name="Shape 87"/>
          <p:cNvSpPr/>
          <p:nvPr/>
        </p:nvSpPr>
        <p:spPr>
          <a:xfrm>
            <a:off x="7726680" y="4855464"/>
            <a:ext cx="91" cy="64008"/>
          </a:xfrm>
          <a:prstGeom prst="line">
            <a:avLst/>
          </a:prstGeom>
          <a:noFill/>
          <a:ln w="12700">
            <a:solidFill>
              <a:srgbClr val="6B7679"/>
            </a:solidFill>
            <a:prstDash val="solid"/>
          </a:ln>
        </p:spPr>
        <p:txBody>
          <a:bodyPr/>
          <a:p/>
        </p:txBody>
      </p:sp>
      <p:sp>
        <p:nvSpPr>
          <p:cNvPr id="91" name="Text 88"/>
          <p:cNvSpPr txBox="1"/>
          <p:nvPr/>
        </p:nvSpPr>
        <p:spPr>
          <a:xfrm>
            <a:off x="7498080" y="4910328"/>
            <a:ext cx="457200" cy="219456"/>
          </a:xfrm>
          <a:prstGeom prst="rect">
            <a:avLst/>
          </a:prstGeom>
          <a:noFill/>
          <a:ln/>
        </p:spPr>
        <p:txBody>
          <a:bodyPr wrap="square" lIns="0" tIns="0" rIns="0" bIns="0" rtlCol="0" anchor="t"/>
          <a:lstStyle/>
          <a:p>
            <a:pPr algn="ctr" indent="0" marL="0">
              <a:buNone/>
            </a:pPr>
            <a:r>
              <a:rPr lang="en-US" sz="1050" dirty="0">
                <a:solidFill>
                  <a:srgbClr val="6B7679"/>
                </a:solidFill>
                <a:latin typeface="Calibri" pitchFamily="34" charset="0"/>
                <a:ea typeface="Calibri" pitchFamily="34" charset="-122"/>
                <a:cs typeface="Calibri" pitchFamily="34" charset="-120"/>
              </a:rPr>
              <a:t>6</a:t>
            </a:r>
            <a:endParaRPr lang="en-US" sz="1050" dirty="0"/>
          </a:p>
        </p:txBody>
      </p:sp>
      <p:sp>
        <p:nvSpPr>
          <p:cNvPr id="92" name="Shape 89"/>
          <p:cNvSpPr/>
          <p:nvPr/>
        </p:nvSpPr>
        <p:spPr>
          <a:xfrm>
            <a:off x="9364980" y="4855464"/>
            <a:ext cx="91" cy="64008"/>
          </a:xfrm>
          <a:prstGeom prst="line">
            <a:avLst/>
          </a:prstGeom>
          <a:noFill/>
          <a:ln w="12700">
            <a:solidFill>
              <a:srgbClr val="6B7679"/>
            </a:solidFill>
            <a:prstDash val="solid"/>
          </a:ln>
        </p:spPr>
        <p:txBody>
          <a:bodyPr/>
          <a:p/>
        </p:txBody>
      </p:sp>
      <p:sp>
        <p:nvSpPr>
          <p:cNvPr id="93" name="Text 90"/>
          <p:cNvSpPr txBox="1"/>
          <p:nvPr/>
        </p:nvSpPr>
        <p:spPr>
          <a:xfrm>
            <a:off x="9136380" y="4910328"/>
            <a:ext cx="457200" cy="219456"/>
          </a:xfrm>
          <a:prstGeom prst="rect">
            <a:avLst/>
          </a:prstGeom>
          <a:noFill/>
          <a:ln/>
        </p:spPr>
        <p:txBody>
          <a:bodyPr wrap="square" lIns="0" tIns="0" rIns="0" bIns="0" rtlCol="0" anchor="t"/>
          <a:lstStyle/>
          <a:p>
            <a:pPr algn="ctr" indent="0" marL="0">
              <a:buNone/>
            </a:pPr>
            <a:r>
              <a:rPr lang="en-US" sz="1050" dirty="0">
                <a:solidFill>
                  <a:srgbClr val="6B7679"/>
                </a:solidFill>
                <a:latin typeface="Calibri" pitchFamily="34" charset="0"/>
                <a:ea typeface="Calibri" pitchFamily="34" charset="-122"/>
                <a:cs typeface="Calibri" pitchFamily="34" charset="-120"/>
              </a:rPr>
              <a:t>11</a:t>
            </a:r>
            <a:endParaRPr lang="en-US" sz="1050" dirty="0"/>
          </a:p>
        </p:txBody>
      </p:sp>
      <p:sp>
        <p:nvSpPr>
          <p:cNvPr id="94" name="Shape 91"/>
          <p:cNvSpPr/>
          <p:nvPr/>
        </p:nvSpPr>
        <p:spPr>
          <a:xfrm>
            <a:off x="11003280" y="4855464"/>
            <a:ext cx="91" cy="64008"/>
          </a:xfrm>
          <a:prstGeom prst="line">
            <a:avLst/>
          </a:prstGeom>
          <a:noFill/>
          <a:ln w="12700">
            <a:solidFill>
              <a:srgbClr val="6B7679"/>
            </a:solidFill>
            <a:prstDash val="solid"/>
          </a:ln>
        </p:spPr>
        <p:txBody>
          <a:bodyPr/>
          <a:p/>
        </p:txBody>
      </p:sp>
      <p:sp>
        <p:nvSpPr>
          <p:cNvPr id="95" name="Text 92"/>
          <p:cNvSpPr txBox="1"/>
          <p:nvPr/>
        </p:nvSpPr>
        <p:spPr>
          <a:xfrm>
            <a:off x="10774680" y="4910328"/>
            <a:ext cx="457200" cy="219456"/>
          </a:xfrm>
          <a:prstGeom prst="rect">
            <a:avLst/>
          </a:prstGeom>
          <a:noFill/>
          <a:ln/>
        </p:spPr>
        <p:txBody>
          <a:bodyPr wrap="square" lIns="0" tIns="0" rIns="0" bIns="0" rtlCol="0" anchor="t"/>
          <a:lstStyle/>
          <a:p>
            <a:pPr algn="ctr" indent="0" marL="0">
              <a:buNone/>
            </a:pPr>
            <a:r>
              <a:rPr lang="en-US" sz="1050" dirty="0">
                <a:solidFill>
                  <a:srgbClr val="6B7679"/>
                </a:solidFill>
                <a:latin typeface="Calibri" pitchFamily="34" charset="0"/>
                <a:ea typeface="Calibri" pitchFamily="34" charset="-122"/>
                <a:cs typeface="Calibri" pitchFamily="34" charset="-120"/>
              </a:rPr>
              <a:t>16</a:t>
            </a:r>
            <a:endParaRPr lang="en-US" sz="1050" dirty="0"/>
          </a:p>
        </p:txBody>
      </p:sp>
      <p:sp>
        <p:nvSpPr>
          <p:cNvPr id="96" name="Shape 93"/>
          <p:cNvSpPr/>
          <p:nvPr/>
        </p:nvSpPr>
        <p:spPr>
          <a:xfrm>
            <a:off x="11658600" y="4855464"/>
            <a:ext cx="91" cy="64008"/>
          </a:xfrm>
          <a:prstGeom prst="line">
            <a:avLst/>
          </a:prstGeom>
          <a:noFill/>
          <a:ln w="12700">
            <a:solidFill>
              <a:srgbClr val="6B7679"/>
            </a:solidFill>
            <a:prstDash val="solid"/>
          </a:ln>
        </p:spPr>
        <p:txBody>
          <a:bodyPr/>
          <a:p/>
        </p:txBody>
      </p:sp>
      <p:sp>
        <p:nvSpPr>
          <p:cNvPr id="97" name="Text 94"/>
          <p:cNvSpPr txBox="1"/>
          <p:nvPr/>
        </p:nvSpPr>
        <p:spPr>
          <a:xfrm>
            <a:off x="11430000" y="4910328"/>
            <a:ext cx="457200" cy="219456"/>
          </a:xfrm>
          <a:prstGeom prst="rect">
            <a:avLst/>
          </a:prstGeom>
          <a:noFill/>
          <a:ln/>
        </p:spPr>
        <p:txBody>
          <a:bodyPr wrap="square" lIns="0" tIns="0" rIns="0" bIns="0" rtlCol="0" anchor="t"/>
          <a:lstStyle/>
          <a:p>
            <a:pPr algn="ctr" indent="0" marL="0">
              <a:buNone/>
            </a:pPr>
            <a:r>
              <a:rPr lang="en-US" sz="1050" dirty="0">
                <a:solidFill>
                  <a:srgbClr val="6B7679"/>
                </a:solidFill>
                <a:latin typeface="Calibri" pitchFamily="34" charset="0"/>
                <a:ea typeface="Calibri" pitchFamily="34" charset="-122"/>
                <a:cs typeface="Calibri" pitchFamily="34" charset="-120"/>
              </a:rPr>
              <a:t>18</a:t>
            </a:r>
            <a:endParaRPr lang="en-US" sz="1050" dirty="0"/>
          </a:p>
        </p:txBody>
      </p:sp>
      <p:sp>
        <p:nvSpPr>
          <p:cNvPr id="98" name="Text 95"/>
          <p:cNvSpPr txBox="1"/>
          <p:nvPr/>
        </p:nvSpPr>
        <p:spPr>
          <a:xfrm>
            <a:off x="4160520" y="5330952"/>
            <a:ext cx="1508760" cy="457200"/>
          </a:xfrm>
          <a:prstGeom prst="rect">
            <a:avLst/>
          </a:prstGeom>
          <a:noFill/>
          <a:ln/>
        </p:spPr>
        <p:txBody>
          <a:bodyPr wrap="square" lIns="0" tIns="0" rIns="0" bIns="0" rtlCol="0" anchor="ctr"/>
          <a:lstStyle/>
          <a:p>
            <a:pPr indent="0" marL="0">
              <a:buNone/>
            </a:pPr>
            <a:r>
              <a:rPr lang="en-US" sz="1300" b="1" dirty="0">
                <a:solidFill>
                  <a:srgbClr val="36454F"/>
                </a:solidFill>
                <a:latin typeface="Calibri" pitchFamily="34" charset="0"/>
                <a:ea typeface="Calibri" pitchFamily="34" charset="-122"/>
                <a:cs typeface="Calibri" pitchFamily="34" charset="-120"/>
              </a:rPr>
              <a:t>RR, q = 3</a:t>
            </a:r>
            <a:endParaRPr lang="en-US" sz="1300" dirty="0"/>
          </a:p>
        </p:txBody>
      </p:sp>
      <p:sp>
        <p:nvSpPr>
          <p:cNvPr id="99" name="Shape 96"/>
          <p:cNvSpPr/>
          <p:nvPr/>
        </p:nvSpPr>
        <p:spPr>
          <a:xfrm>
            <a:off x="5769864" y="5330952"/>
            <a:ext cx="964692" cy="457200"/>
          </a:xfrm>
          <a:prstGeom prst="roundRect">
            <a:avLst>
              <a:gd name="adj" fmla="val 10000"/>
            </a:avLst>
          </a:prstGeom>
          <a:solidFill>
            <a:srgbClr val="02C39A"/>
          </a:solidFill>
          <a:ln/>
        </p:spPr>
        <p:txBody>
          <a:bodyPr/>
          <a:p/>
        </p:txBody>
      </p:sp>
      <p:sp>
        <p:nvSpPr>
          <p:cNvPr id="100" name="Text 97"/>
          <p:cNvSpPr txBox="1"/>
          <p:nvPr/>
        </p:nvSpPr>
        <p:spPr>
          <a:xfrm>
            <a:off x="5769864" y="5330952"/>
            <a:ext cx="964692" cy="457200"/>
          </a:xfrm>
          <a:prstGeom prst="rect">
            <a:avLst/>
          </a:prstGeom>
          <a:noFill/>
          <a:ln/>
        </p:spPr>
        <p:txBody>
          <a:bodyPr wrap="square" lIns="38100" tIns="38100" rIns="38100" bIns="38100" rtlCol="0" anchor="ctr"/>
          <a:lstStyle/>
          <a:p>
            <a:pPr algn="ctr" indent="0" marL="0">
              <a:buNone/>
            </a:pPr>
            <a:r>
              <a:rPr lang="en-US" sz="1200" b="1" dirty="0">
                <a:solidFill>
                  <a:srgbClr val="212121"/>
                </a:solidFill>
                <a:latin typeface="Calibri" pitchFamily="34" charset="0"/>
                <a:ea typeface="Calibri" pitchFamily="34" charset="-122"/>
                <a:cs typeface="Calibri" pitchFamily="34" charset="-120"/>
              </a:rPr>
              <a:t>P1</a:t>
            </a:r>
            <a:endParaRPr lang="en-US" sz="1200" dirty="0"/>
          </a:p>
        </p:txBody>
      </p:sp>
      <p:sp>
        <p:nvSpPr>
          <p:cNvPr id="101" name="Shape 98"/>
          <p:cNvSpPr/>
          <p:nvPr/>
        </p:nvSpPr>
        <p:spPr>
          <a:xfrm>
            <a:off x="6752844" y="5330952"/>
            <a:ext cx="964692" cy="457200"/>
          </a:xfrm>
          <a:prstGeom prst="roundRect">
            <a:avLst>
              <a:gd name="adj" fmla="val 10000"/>
            </a:avLst>
          </a:prstGeom>
          <a:solidFill>
            <a:srgbClr val="50808E"/>
          </a:solidFill>
          <a:ln/>
        </p:spPr>
        <p:txBody>
          <a:bodyPr/>
          <a:p/>
        </p:txBody>
      </p:sp>
      <p:sp>
        <p:nvSpPr>
          <p:cNvPr id="102" name="Text 99"/>
          <p:cNvSpPr txBox="1"/>
          <p:nvPr/>
        </p:nvSpPr>
        <p:spPr>
          <a:xfrm>
            <a:off x="6752844" y="5330952"/>
            <a:ext cx="964692" cy="457200"/>
          </a:xfrm>
          <a:prstGeom prst="rect">
            <a:avLst/>
          </a:prstGeom>
          <a:noFill/>
          <a:ln/>
        </p:spPr>
        <p:txBody>
          <a:bodyPr wrap="square" lIns="38100" tIns="38100" rIns="38100" bIns="3810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P2</a:t>
            </a:r>
            <a:endParaRPr lang="en-US" sz="1200" dirty="0"/>
          </a:p>
        </p:txBody>
      </p:sp>
      <p:sp>
        <p:nvSpPr>
          <p:cNvPr id="103" name="Shape 100"/>
          <p:cNvSpPr/>
          <p:nvPr/>
        </p:nvSpPr>
        <p:spPr>
          <a:xfrm>
            <a:off x="7735824" y="5330952"/>
            <a:ext cx="637032" cy="457200"/>
          </a:xfrm>
          <a:prstGeom prst="roundRect">
            <a:avLst>
              <a:gd name="adj" fmla="val 10000"/>
            </a:avLst>
          </a:prstGeom>
          <a:solidFill>
            <a:srgbClr val="C98A1B"/>
          </a:solidFill>
          <a:ln/>
        </p:spPr>
        <p:txBody>
          <a:bodyPr/>
          <a:p/>
        </p:txBody>
      </p:sp>
      <p:sp>
        <p:nvSpPr>
          <p:cNvPr id="104" name="Text 101"/>
          <p:cNvSpPr txBox="1"/>
          <p:nvPr/>
        </p:nvSpPr>
        <p:spPr>
          <a:xfrm>
            <a:off x="7735824" y="5330952"/>
            <a:ext cx="637032" cy="457200"/>
          </a:xfrm>
          <a:prstGeom prst="rect">
            <a:avLst/>
          </a:prstGeom>
          <a:noFill/>
          <a:ln/>
        </p:spPr>
        <p:txBody>
          <a:bodyPr wrap="square" lIns="38100" tIns="38100" rIns="38100" bIns="3810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P3</a:t>
            </a:r>
            <a:endParaRPr lang="en-US" sz="1200" dirty="0"/>
          </a:p>
        </p:txBody>
      </p:sp>
      <p:sp>
        <p:nvSpPr>
          <p:cNvPr id="105" name="Shape 102"/>
          <p:cNvSpPr/>
          <p:nvPr/>
        </p:nvSpPr>
        <p:spPr>
          <a:xfrm>
            <a:off x="8391144" y="5330952"/>
            <a:ext cx="964692" cy="457200"/>
          </a:xfrm>
          <a:prstGeom prst="roundRect">
            <a:avLst>
              <a:gd name="adj" fmla="val 10000"/>
            </a:avLst>
          </a:prstGeom>
          <a:solidFill>
            <a:srgbClr val="02C39A"/>
          </a:solidFill>
          <a:ln/>
        </p:spPr>
        <p:txBody>
          <a:bodyPr/>
          <a:p/>
        </p:txBody>
      </p:sp>
      <p:sp>
        <p:nvSpPr>
          <p:cNvPr id="106" name="Text 103"/>
          <p:cNvSpPr txBox="1"/>
          <p:nvPr/>
        </p:nvSpPr>
        <p:spPr>
          <a:xfrm>
            <a:off x="8391144" y="5330952"/>
            <a:ext cx="964692" cy="457200"/>
          </a:xfrm>
          <a:prstGeom prst="rect">
            <a:avLst/>
          </a:prstGeom>
          <a:noFill/>
          <a:ln/>
        </p:spPr>
        <p:txBody>
          <a:bodyPr wrap="square" lIns="38100" tIns="38100" rIns="38100" bIns="38100" rtlCol="0" anchor="ctr"/>
          <a:lstStyle/>
          <a:p>
            <a:pPr algn="ctr" indent="0" marL="0">
              <a:buNone/>
            </a:pPr>
            <a:r>
              <a:rPr lang="en-US" sz="1200" b="1" dirty="0">
                <a:solidFill>
                  <a:srgbClr val="212121"/>
                </a:solidFill>
                <a:latin typeface="Calibri" pitchFamily="34" charset="0"/>
                <a:ea typeface="Calibri" pitchFamily="34" charset="-122"/>
                <a:cs typeface="Calibri" pitchFamily="34" charset="-120"/>
              </a:rPr>
              <a:t>P1</a:t>
            </a:r>
            <a:endParaRPr lang="en-US" sz="1200" dirty="0"/>
          </a:p>
        </p:txBody>
      </p:sp>
      <p:sp>
        <p:nvSpPr>
          <p:cNvPr id="107" name="Shape 104"/>
          <p:cNvSpPr/>
          <p:nvPr/>
        </p:nvSpPr>
        <p:spPr>
          <a:xfrm>
            <a:off x="9374124" y="5330952"/>
            <a:ext cx="964692" cy="457200"/>
          </a:xfrm>
          <a:prstGeom prst="roundRect">
            <a:avLst>
              <a:gd name="adj" fmla="val 10000"/>
            </a:avLst>
          </a:prstGeom>
          <a:solidFill>
            <a:srgbClr val="36454F"/>
          </a:solidFill>
          <a:ln/>
        </p:spPr>
        <p:txBody>
          <a:bodyPr/>
          <a:p/>
        </p:txBody>
      </p:sp>
      <p:sp>
        <p:nvSpPr>
          <p:cNvPr id="108" name="Text 105"/>
          <p:cNvSpPr txBox="1"/>
          <p:nvPr/>
        </p:nvSpPr>
        <p:spPr>
          <a:xfrm>
            <a:off x="9374124" y="5330952"/>
            <a:ext cx="964692" cy="457200"/>
          </a:xfrm>
          <a:prstGeom prst="rect">
            <a:avLst/>
          </a:prstGeom>
          <a:noFill/>
          <a:ln/>
        </p:spPr>
        <p:txBody>
          <a:bodyPr wrap="square" lIns="38100" tIns="38100" rIns="38100" bIns="3810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P4</a:t>
            </a:r>
            <a:endParaRPr lang="en-US" sz="1200" dirty="0"/>
          </a:p>
        </p:txBody>
      </p:sp>
      <p:sp>
        <p:nvSpPr>
          <p:cNvPr id="109" name="Shape 106"/>
          <p:cNvSpPr/>
          <p:nvPr/>
        </p:nvSpPr>
        <p:spPr>
          <a:xfrm>
            <a:off x="10357104" y="5330952"/>
            <a:ext cx="309372" cy="457200"/>
          </a:xfrm>
          <a:prstGeom prst="roundRect">
            <a:avLst>
              <a:gd name="adj" fmla="val 14778"/>
            </a:avLst>
          </a:prstGeom>
          <a:solidFill>
            <a:srgbClr val="50808E"/>
          </a:solidFill>
          <a:ln/>
        </p:spPr>
        <p:txBody>
          <a:bodyPr/>
          <a:p/>
        </p:txBody>
      </p:sp>
      <p:sp>
        <p:nvSpPr>
          <p:cNvPr id="110" name="Text 107"/>
          <p:cNvSpPr txBox="1"/>
          <p:nvPr/>
        </p:nvSpPr>
        <p:spPr>
          <a:xfrm>
            <a:off x="10357104" y="5330952"/>
            <a:ext cx="309372" cy="457200"/>
          </a:xfrm>
          <a:prstGeom prst="rect">
            <a:avLst/>
          </a:prstGeom>
          <a:noFill/>
          <a:ln/>
        </p:spPr>
        <p:txBody>
          <a:bodyPr wrap="square" lIns="38100" tIns="38100" rIns="38100" bIns="3810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P2</a:t>
            </a:r>
            <a:endParaRPr lang="en-US" sz="1200" dirty="0"/>
          </a:p>
        </p:txBody>
      </p:sp>
      <p:sp>
        <p:nvSpPr>
          <p:cNvPr id="111" name="Shape 108"/>
          <p:cNvSpPr/>
          <p:nvPr/>
        </p:nvSpPr>
        <p:spPr>
          <a:xfrm>
            <a:off x="10684764" y="5330952"/>
            <a:ext cx="309372" cy="457200"/>
          </a:xfrm>
          <a:prstGeom prst="roundRect">
            <a:avLst>
              <a:gd name="adj" fmla="val 14778"/>
            </a:avLst>
          </a:prstGeom>
          <a:solidFill>
            <a:srgbClr val="02C39A"/>
          </a:solidFill>
          <a:ln/>
        </p:spPr>
        <p:txBody>
          <a:bodyPr/>
          <a:p/>
        </p:txBody>
      </p:sp>
      <p:sp>
        <p:nvSpPr>
          <p:cNvPr id="112" name="Text 109"/>
          <p:cNvSpPr txBox="1"/>
          <p:nvPr/>
        </p:nvSpPr>
        <p:spPr>
          <a:xfrm>
            <a:off x="10684764" y="5330952"/>
            <a:ext cx="309372" cy="457200"/>
          </a:xfrm>
          <a:prstGeom prst="rect">
            <a:avLst/>
          </a:prstGeom>
          <a:noFill/>
          <a:ln/>
        </p:spPr>
        <p:txBody>
          <a:bodyPr wrap="square" lIns="38100" tIns="38100" rIns="38100" bIns="38100" rtlCol="0" anchor="ctr"/>
          <a:lstStyle/>
          <a:p>
            <a:pPr algn="ctr" indent="0" marL="0">
              <a:buNone/>
            </a:pPr>
            <a:r>
              <a:rPr lang="en-US" sz="1200" b="1" dirty="0">
                <a:solidFill>
                  <a:srgbClr val="212121"/>
                </a:solidFill>
                <a:latin typeface="Calibri" pitchFamily="34" charset="0"/>
                <a:ea typeface="Calibri" pitchFamily="34" charset="-122"/>
                <a:cs typeface="Calibri" pitchFamily="34" charset="-120"/>
              </a:rPr>
              <a:t>P1</a:t>
            </a:r>
            <a:endParaRPr lang="en-US" sz="1200" dirty="0"/>
          </a:p>
        </p:txBody>
      </p:sp>
      <p:sp>
        <p:nvSpPr>
          <p:cNvPr id="113" name="Shape 110"/>
          <p:cNvSpPr/>
          <p:nvPr/>
        </p:nvSpPr>
        <p:spPr>
          <a:xfrm>
            <a:off x="11012424" y="5330952"/>
            <a:ext cx="637032" cy="457200"/>
          </a:xfrm>
          <a:prstGeom prst="roundRect">
            <a:avLst>
              <a:gd name="adj" fmla="val 10000"/>
            </a:avLst>
          </a:prstGeom>
          <a:solidFill>
            <a:srgbClr val="36454F"/>
          </a:solidFill>
          <a:ln/>
        </p:spPr>
        <p:txBody>
          <a:bodyPr/>
          <a:p/>
        </p:txBody>
      </p:sp>
      <p:sp>
        <p:nvSpPr>
          <p:cNvPr id="114" name="Text 111"/>
          <p:cNvSpPr txBox="1"/>
          <p:nvPr/>
        </p:nvSpPr>
        <p:spPr>
          <a:xfrm>
            <a:off x="11012424" y="5330952"/>
            <a:ext cx="637032" cy="457200"/>
          </a:xfrm>
          <a:prstGeom prst="rect">
            <a:avLst/>
          </a:prstGeom>
          <a:noFill/>
          <a:ln/>
        </p:spPr>
        <p:txBody>
          <a:bodyPr wrap="square" lIns="38100" tIns="38100" rIns="38100" bIns="3810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P4</a:t>
            </a:r>
            <a:endParaRPr lang="en-US" sz="1200" dirty="0"/>
          </a:p>
        </p:txBody>
      </p:sp>
      <p:sp>
        <p:nvSpPr>
          <p:cNvPr id="115" name="Shape 112"/>
          <p:cNvSpPr/>
          <p:nvPr/>
        </p:nvSpPr>
        <p:spPr>
          <a:xfrm>
            <a:off x="5760720" y="5788152"/>
            <a:ext cx="91" cy="64008"/>
          </a:xfrm>
          <a:prstGeom prst="line">
            <a:avLst/>
          </a:prstGeom>
          <a:noFill/>
          <a:ln w="12700">
            <a:solidFill>
              <a:srgbClr val="6B7679"/>
            </a:solidFill>
            <a:prstDash val="solid"/>
          </a:ln>
        </p:spPr>
        <p:txBody>
          <a:bodyPr/>
          <a:p/>
        </p:txBody>
      </p:sp>
      <p:sp>
        <p:nvSpPr>
          <p:cNvPr id="116" name="Text 113"/>
          <p:cNvSpPr txBox="1"/>
          <p:nvPr/>
        </p:nvSpPr>
        <p:spPr>
          <a:xfrm>
            <a:off x="5532120" y="5843016"/>
            <a:ext cx="457200" cy="219456"/>
          </a:xfrm>
          <a:prstGeom prst="rect">
            <a:avLst/>
          </a:prstGeom>
          <a:noFill/>
          <a:ln/>
        </p:spPr>
        <p:txBody>
          <a:bodyPr wrap="square" lIns="0" tIns="0" rIns="0" bIns="0" rtlCol="0" anchor="t"/>
          <a:lstStyle/>
          <a:p>
            <a:pPr algn="ctr" indent="0" marL="0">
              <a:buNone/>
            </a:pPr>
            <a:r>
              <a:rPr lang="en-US" sz="1050" dirty="0">
                <a:solidFill>
                  <a:srgbClr val="6B7679"/>
                </a:solidFill>
                <a:latin typeface="Calibri" pitchFamily="34" charset="0"/>
                <a:ea typeface="Calibri" pitchFamily="34" charset="-122"/>
                <a:cs typeface="Calibri" pitchFamily="34" charset="-120"/>
              </a:rPr>
              <a:t>0</a:t>
            </a:r>
            <a:endParaRPr lang="en-US" sz="1050" dirty="0"/>
          </a:p>
        </p:txBody>
      </p:sp>
      <p:sp>
        <p:nvSpPr>
          <p:cNvPr id="117" name="Shape 114"/>
          <p:cNvSpPr/>
          <p:nvPr/>
        </p:nvSpPr>
        <p:spPr>
          <a:xfrm>
            <a:off x="6743700" y="5788152"/>
            <a:ext cx="91" cy="64008"/>
          </a:xfrm>
          <a:prstGeom prst="line">
            <a:avLst/>
          </a:prstGeom>
          <a:noFill/>
          <a:ln w="12700">
            <a:solidFill>
              <a:srgbClr val="6B7679"/>
            </a:solidFill>
            <a:prstDash val="solid"/>
          </a:ln>
        </p:spPr>
        <p:txBody>
          <a:bodyPr/>
          <a:p/>
        </p:txBody>
      </p:sp>
      <p:sp>
        <p:nvSpPr>
          <p:cNvPr id="118" name="Text 115"/>
          <p:cNvSpPr txBox="1"/>
          <p:nvPr/>
        </p:nvSpPr>
        <p:spPr>
          <a:xfrm>
            <a:off x="6515100" y="5843016"/>
            <a:ext cx="457200" cy="219456"/>
          </a:xfrm>
          <a:prstGeom prst="rect">
            <a:avLst/>
          </a:prstGeom>
          <a:noFill/>
          <a:ln/>
        </p:spPr>
        <p:txBody>
          <a:bodyPr wrap="square" lIns="0" tIns="0" rIns="0" bIns="0" rtlCol="0" anchor="t"/>
          <a:lstStyle/>
          <a:p>
            <a:pPr algn="ctr" indent="0" marL="0">
              <a:buNone/>
            </a:pPr>
            <a:r>
              <a:rPr lang="en-US" sz="1050" dirty="0">
                <a:solidFill>
                  <a:srgbClr val="6B7679"/>
                </a:solidFill>
                <a:latin typeface="Calibri" pitchFamily="34" charset="0"/>
                <a:ea typeface="Calibri" pitchFamily="34" charset="-122"/>
                <a:cs typeface="Calibri" pitchFamily="34" charset="-120"/>
              </a:rPr>
              <a:t>3</a:t>
            </a:r>
            <a:endParaRPr lang="en-US" sz="1050" dirty="0"/>
          </a:p>
        </p:txBody>
      </p:sp>
      <p:sp>
        <p:nvSpPr>
          <p:cNvPr id="119" name="Shape 116"/>
          <p:cNvSpPr/>
          <p:nvPr/>
        </p:nvSpPr>
        <p:spPr>
          <a:xfrm>
            <a:off x="7726680" y="5788152"/>
            <a:ext cx="91" cy="64008"/>
          </a:xfrm>
          <a:prstGeom prst="line">
            <a:avLst/>
          </a:prstGeom>
          <a:noFill/>
          <a:ln w="12700">
            <a:solidFill>
              <a:srgbClr val="6B7679"/>
            </a:solidFill>
            <a:prstDash val="solid"/>
          </a:ln>
        </p:spPr>
        <p:txBody>
          <a:bodyPr/>
          <a:p/>
        </p:txBody>
      </p:sp>
      <p:sp>
        <p:nvSpPr>
          <p:cNvPr id="120" name="Text 117"/>
          <p:cNvSpPr txBox="1"/>
          <p:nvPr/>
        </p:nvSpPr>
        <p:spPr>
          <a:xfrm>
            <a:off x="7498080" y="5843016"/>
            <a:ext cx="457200" cy="219456"/>
          </a:xfrm>
          <a:prstGeom prst="rect">
            <a:avLst/>
          </a:prstGeom>
          <a:noFill/>
          <a:ln/>
        </p:spPr>
        <p:txBody>
          <a:bodyPr wrap="square" lIns="0" tIns="0" rIns="0" bIns="0" rtlCol="0" anchor="t"/>
          <a:lstStyle/>
          <a:p>
            <a:pPr algn="ctr" indent="0" marL="0">
              <a:buNone/>
            </a:pPr>
            <a:r>
              <a:rPr lang="en-US" sz="1050" dirty="0">
                <a:solidFill>
                  <a:srgbClr val="6B7679"/>
                </a:solidFill>
                <a:latin typeface="Calibri" pitchFamily="34" charset="0"/>
                <a:ea typeface="Calibri" pitchFamily="34" charset="-122"/>
                <a:cs typeface="Calibri" pitchFamily="34" charset="-120"/>
              </a:rPr>
              <a:t>6</a:t>
            </a:r>
            <a:endParaRPr lang="en-US" sz="1050" dirty="0"/>
          </a:p>
        </p:txBody>
      </p:sp>
      <p:sp>
        <p:nvSpPr>
          <p:cNvPr id="121" name="Shape 118"/>
          <p:cNvSpPr/>
          <p:nvPr/>
        </p:nvSpPr>
        <p:spPr>
          <a:xfrm>
            <a:off x="8382000" y="5788152"/>
            <a:ext cx="91" cy="64008"/>
          </a:xfrm>
          <a:prstGeom prst="line">
            <a:avLst/>
          </a:prstGeom>
          <a:noFill/>
          <a:ln w="12700">
            <a:solidFill>
              <a:srgbClr val="6B7679"/>
            </a:solidFill>
            <a:prstDash val="solid"/>
          </a:ln>
        </p:spPr>
        <p:txBody>
          <a:bodyPr/>
          <a:p/>
        </p:txBody>
      </p:sp>
      <p:sp>
        <p:nvSpPr>
          <p:cNvPr id="122" name="Text 119"/>
          <p:cNvSpPr txBox="1"/>
          <p:nvPr/>
        </p:nvSpPr>
        <p:spPr>
          <a:xfrm>
            <a:off x="8153400" y="5843016"/>
            <a:ext cx="457200" cy="219456"/>
          </a:xfrm>
          <a:prstGeom prst="rect">
            <a:avLst/>
          </a:prstGeom>
          <a:noFill/>
          <a:ln/>
        </p:spPr>
        <p:txBody>
          <a:bodyPr wrap="square" lIns="0" tIns="0" rIns="0" bIns="0" rtlCol="0" anchor="t"/>
          <a:lstStyle/>
          <a:p>
            <a:pPr algn="ctr" indent="0" marL="0">
              <a:buNone/>
            </a:pPr>
            <a:r>
              <a:rPr lang="en-US" sz="1050" dirty="0">
                <a:solidFill>
                  <a:srgbClr val="6B7679"/>
                </a:solidFill>
                <a:latin typeface="Calibri" pitchFamily="34" charset="0"/>
                <a:ea typeface="Calibri" pitchFamily="34" charset="-122"/>
                <a:cs typeface="Calibri" pitchFamily="34" charset="-120"/>
              </a:rPr>
              <a:t>8</a:t>
            </a:r>
            <a:endParaRPr lang="en-US" sz="1050" dirty="0"/>
          </a:p>
        </p:txBody>
      </p:sp>
      <p:sp>
        <p:nvSpPr>
          <p:cNvPr id="123" name="Shape 120"/>
          <p:cNvSpPr/>
          <p:nvPr/>
        </p:nvSpPr>
        <p:spPr>
          <a:xfrm>
            <a:off x="9364980" y="5788152"/>
            <a:ext cx="91" cy="64008"/>
          </a:xfrm>
          <a:prstGeom prst="line">
            <a:avLst/>
          </a:prstGeom>
          <a:noFill/>
          <a:ln w="12700">
            <a:solidFill>
              <a:srgbClr val="6B7679"/>
            </a:solidFill>
            <a:prstDash val="solid"/>
          </a:ln>
        </p:spPr>
        <p:txBody>
          <a:bodyPr/>
          <a:p/>
        </p:txBody>
      </p:sp>
      <p:sp>
        <p:nvSpPr>
          <p:cNvPr id="124" name="Text 121"/>
          <p:cNvSpPr txBox="1"/>
          <p:nvPr/>
        </p:nvSpPr>
        <p:spPr>
          <a:xfrm>
            <a:off x="9136380" y="5843016"/>
            <a:ext cx="457200" cy="219456"/>
          </a:xfrm>
          <a:prstGeom prst="rect">
            <a:avLst/>
          </a:prstGeom>
          <a:noFill/>
          <a:ln/>
        </p:spPr>
        <p:txBody>
          <a:bodyPr wrap="square" lIns="0" tIns="0" rIns="0" bIns="0" rtlCol="0" anchor="t"/>
          <a:lstStyle/>
          <a:p>
            <a:pPr algn="ctr" indent="0" marL="0">
              <a:buNone/>
            </a:pPr>
            <a:r>
              <a:rPr lang="en-US" sz="1050" dirty="0">
                <a:solidFill>
                  <a:srgbClr val="6B7679"/>
                </a:solidFill>
                <a:latin typeface="Calibri" pitchFamily="34" charset="0"/>
                <a:ea typeface="Calibri" pitchFamily="34" charset="-122"/>
                <a:cs typeface="Calibri" pitchFamily="34" charset="-120"/>
              </a:rPr>
              <a:t>11</a:t>
            </a:r>
            <a:endParaRPr lang="en-US" sz="1050" dirty="0"/>
          </a:p>
        </p:txBody>
      </p:sp>
      <p:sp>
        <p:nvSpPr>
          <p:cNvPr id="125" name="Shape 122"/>
          <p:cNvSpPr/>
          <p:nvPr/>
        </p:nvSpPr>
        <p:spPr>
          <a:xfrm>
            <a:off x="10347960" y="5788152"/>
            <a:ext cx="91" cy="64008"/>
          </a:xfrm>
          <a:prstGeom prst="line">
            <a:avLst/>
          </a:prstGeom>
          <a:noFill/>
          <a:ln w="12700">
            <a:solidFill>
              <a:srgbClr val="6B7679"/>
            </a:solidFill>
            <a:prstDash val="solid"/>
          </a:ln>
        </p:spPr>
        <p:txBody>
          <a:bodyPr/>
          <a:p/>
        </p:txBody>
      </p:sp>
      <p:sp>
        <p:nvSpPr>
          <p:cNvPr id="126" name="Text 123"/>
          <p:cNvSpPr txBox="1"/>
          <p:nvPr/>
        </p:nvSpPr>
        <p:spPr>
          <a:xfrm>
            <a:off x="10119360" y="5843016"/>
            <a:ext cx="457200" cy="219456"/>
          </a:xfrm>
          <a:prstGeom prst="rect">
            <a:avLst/>
          </a:prstGeom>
          <a:noFill/>
          <a:ln/>
        </p:spPr>
        <p:txBody>
          <a:bodyPr wrap="square" lIns="0" tIns="0" rIns="0" bIns="0" rtlCol="0" anchor="t"/>
          <a:lstStyle/>
          <a:p>
            <a:pPr algn="ctr" indent="0" marL="0">
              <a:buNone/>
            </a:pPr>
            <a:r>
              <a:rPr lang="en-US" sz="1050" dirty="0">
                <a:solidFill>
                  <a:srgbClr val="6B7679"/>
                </a:solidFill>
                <a:latin typeface="Calibri" pitchFamily="34" charset="0"/>
                <a:ea typeface="Calibri" pitchFamily="34" charset="-122"/>
                <a:cs typeface="Calibri" pitchFamily="34" charset="-120"/>
              </a:rPr>
              <a:t>14</a:t>
            </a:r>
            <a:endParaRPr lang="en-US" sz="1050" dirty="0"/>
          </a:p>
        </p:txBody>
      </p:sp>
      <p:sp>
        <p:nvSpPr>
          <p:cNvPr id="127" name="Shape 124"/>
          <p:cNvSpPr/>
          <p:nvPr/>
        </p:nvSpPr>
        <p:spPr>
          <a:xfrm>
            <a:off x="10675620" y="5788152"/>
            <a:ext cx="91" cy="64008"/>
          </a:xfrm>
          <a:prstGeom prst="line">
            <a:avLst/>
          </a:prstGeom>
          <a:noFill/>
          <a:ln w="12700">
            <a:solidFill>
              <a:srgbClr val="6B7679"/>
            </a:solidFill>
            <a:prstDash val="solid"/>
          </a:ln>
        </p:spPr>
        <p:txBody>
          <a:bodyPr/>
          <a:p/>
        </p:txBody>
      </p:sp>
      <p:sp>
        <p:nvSpPr>
          <p:cNvPr id="128" name="Text 125"/>
          <p:cNvSpPr txBox="1"/>
          <p:nvPr/>
        </p:nvSpPr>
        <p:spPr>
          <a:xfrm>
            <a:off x="10447020" y="5843016"/>
            <a:ext cx="457200" cy="219456"/>
          </a:xfrm>
          <a:prstGeom prst="rect">
            <a:avLst/>
          </a:prstGeom>
          <a:noFill/>
          <a:ln/>
        </p:spPr>
        <p:txBody>
          <a:bodyPr wrap="square" lIns="0" tIns="0" rIns="0" bIns="0" rtlCol="0" anchor="t"/>
          <a:lstStyle/>
          <a:p>
            <a:pPr algn="ctr" indent="0" marL="0">
              <a:buNone/>
            </a:pPr>
            <a:r>
              <a:rPr lang="en-US" sz="1050" dirty="0">
                <a:solidFill>
                  <a:srgbClr val="6B7679"/>
                </a:solidFill>
                <a:latin typeface="Calibri" pitchFamily="34" charset="0"/>
                <a:ea typeface="Calibri" pitchFamily="34" charset="-122"/>
                <a:cs typeface="Calibri" pitchFamily="34" charset="-120"/>
              </a:rPr>
              <a:t>15</a:t>
            </a:r>
            <a:endParaRPr lang="en-US" sz="1050" dirty="0"/>
          </a:p>
        </p:txBody>
      </p:sp>
      <p:sp>
        <p:nvSpPr>
          <p:cNvPr id="129" name="Shape 126"/>
          <p:cNvSpPr/>
          <p:nvPr/>
        </p:nvSpPr>
        <p:spPr>
          <a:xfrm>
            <a:off x="11003280" y="5788152"/>
            <a:ext cx="91" cy="64008"/>
          </a:xfrm>
          <a:prstGeom prst="line">
            <a:avLst/>
          </a:prstGeom>
          <a:noFill/>
          <a:ln w="12700">
            <a:solidFill>
              <a:srgbClr val="6B7679"/>
            </a:solidFill>
            <a:prstDash val="solid"/>
          </a:ln>
        </p:spPr>
        <p:txBody>
          <a:bodyPr/>
          <a:p/>
        </p:txBody>
      </p:sp>
      <p:sp>
        <p:nvSpPr>
          <p:cNvPr id="130" name="Text 127"/>
          <p:cNvSpPr txBox="1"/>
          <p:nvPr/>
        </p:nvSpPr>
        <p:spPr>
          <a:xfrm>
            <a:off x="10774680" y="5843016"/>
            <a:ext cx="457200" cy="219456"/>
          </a:xfrm>
          <a:prstGeom prst="rect">
            <a:avLst/>
          </a:prstGeom>
          <a:noFill/>
          <a:ln/>
        </p:spPr>
        <p:txBody>
          <a:bodyPr wrap="square" lIns="0" tIns="0" rIns="0" bIns="0" rtlCol="0" anchor="t"/>
          <a:lstStyle/>
          <a:p>
            <a:pPr algn="ctr" indent="0" marL="0">
              <a:buNone/>
            </a:pPr>
            <a:r>
              <a:rPr lang="en-US" sz="1050" dirty="0">
                <a:solidFill>
                  <a:srgbClr val="6B7679"/>
                </a:solidFill>
                <a:latin typeface="Calibri" pitchFamily="34" charset="0"/>
                <a:ea typeface="Calibri" pitchFamily="34" charset="-122"/>
                <a:cs typeface="Calibri" pitchFamily="34" charset="-120"/>
              </a:rPr>
              <a:t>16</a:t>
            </a:r>
            <a:endParaRPr lang="en-US" sz="1050" dirty="0"/>
          </a:p>
        </p:txBody>
      </p:sp>
      <p:sp>
        <p:nvSpPr>
          <p:cNvPr id="131" name="Shape 128"/>
          <p:cNvSpPr/>
          <p:nvPr/>
        </p:nvSpPr>
        <p:spPr>
          <a:xfrm>
            <a:off x="11658600" y="5788152"/>
            <a:ext cx="91" cy="64008"/>
          </a:xfrm>
          <a:prstGeom prst="line">
            <a:avLst/>
          </a:prstGeom>
          <a:noFill/>
          <a:ln w="12700">
            <a:solidFill>
              <a:srgbClr val="6B7679"/>
            </a:solidFill>
            <a:prstDash val="solid"/>
          </a:ln>
        </p:spPr>
        <p:txBody>
          <a:bodyPr/>
          <a:p/>
        </p:txBody>
      </p:sp>
      <p:sp>
        <p:nvSpPr>
          <p:cNvPr id="132" name="Text 129"/>
          <p:cNvSpPr txBox="1"/>
          <p:nvPr/>
        </p:nvSpPr>
        <p:spPr>
          <a:xfrm>
            <a:off x="11430000" y="5843016"/>
            <a:ext cx="457200" cy="219456"/>
          </a:xfrm>
          <a:prstGeom prst="rect">
            <a:avLst/>
          </a:prstGeom>
          <a:noFill/>
          <a:ln/>
        </p:spPr>
        <p:txBody>
          <a:bodyPr wrap="square" lIns="0" tIns="0" rIns="0" bIns="0" rtlCol="0" anchor="t"/>
          <a:lstStyle/>
          <a:p>
            <a:pPr algn="ctr" indent="0" marL="0">
              <a:buNone/>
            </a:pPr>
            <a:r>
              <a:rPr lang="en-US" sz="1050" dirty="0">
                <a:solidFill>
                  <a:srgbClr val="6B7679"/>
                </a:solidFill>
                <a:latin typeface="Calibri" pitchFamily="34" charset="0"/>
                <a:ea typeface="Calibri" pitchFamily="34" charset="-122"/>
                <a:cs typeface="Calibri" pitchFamily="34" charset="-120"/>
              </a:rPr>
              <a:t>18</a:t>
            </a:r>
            <a:endParaRPr lang="en-US" sz="10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en-US" sz="1200" b="1" spc="200" kern="0" dirty="0">
                <a:solidFill>
                  <a:srgbClr val="02C39A"/>
                </a:solidFill>
                <a:latin typeface="Calibri" pitchFamily="34" charset="0"/>
                <a:ea typeface="Calibri" pitchFamily="34" charset="-122"/>
                <a:cs typeface="Calibri" pitchFamily="34" charset="-120"/>
              </a:rPr>
              <a:t>PROBLEM 2 · WEEK 5</a:t>
            </a:r>
            <a:endParaRPr lang="en-US"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en-US" sz="3000" b="1" dirty="0">
                <a:solidFill>
                  <a:srgbClr val="36454F"/>
                </a:solidFill>
                <a:latin typeface="Cambria" pitchFamily="34" charset="0"/>
                <a:ea typeface="Cambria" pitchFamily="34" charset="-122"/>
                <a:cs typeface="Cambria" pitchFamily="34" charset="-120"/>
              </a:rPr>
              <a:t>Results: Averages and Context Switches</a:t>
            </a:r>
            <a:endParaRPr lang="en-US" sz="3000" dirty="0"/>
          </a:p>
        </p:txBody>
      </p:sp>
      <p:sp>
        <p:nvSpPr>
          <p:cNvPr id="4" name="Text 2"/>
          <p:cNvSpPr txBox="1"/>
          <p:nvPr/>
        </p:nvSpPr>
        <p:spPr>
          <a:xfrm>
            <a:off x="548640" y="6528816"/>
            <a:ext cx="6400800" cy="274320"/>
          </a:xfrm>
          <a:prstGeom prst="rect">
            <a:avLst/>
          </a:prstGeom>
          <a:noFill/>
          <a:ln/>
        </p:spPr>
        <p:txBody>
          <a:bodyPr wrap="square" lIns="0" tIns="0" rIns="0" bIns="0" rtlCol="0" anchor="ctr"/>
          <a:lstStyle/>
          <a:p>
            <a:pPr indent="0" marL="0">
              <a:buNone/>
            </a:pPr>
            <a:r>
              <a:rPr lang="en-US" sz="900" dirty="0">
                <a:solidFill>
                  <a:srgbClr val="6B7679"/>
                </a:solidFill>
                <a:latin typeface="Calibri" pitchFamily="34" charset="0"/>
                <a:ea typeface="Calibri" pitchFamily="34" charset="-122"/>
                <a:cs typeface="Calibri" pitchFamily="34" charset="-120"/>
              </a:rPr>
              <a:t>MCMP117 — Fundamentals of Operating Systems</a:t>
            </a:r>
            <a:endParaRPr lang="en-US" sz="900" dirty="0"/>
          </a:p>
        </p:txBody>
      </p:sp>
      <p:sp>
        <p:nvSpPr>
          <p:cNvPr id="5" name="Text 3"/>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en-US" sz="900" dirty="0">
                <a:solidFill>
                  <a:srgbClr val="6B7679"/>
                </a:solidFill>
                <a:latin typeface="Calibri" pitchFamily="34" charset="0"/>
                <a:ea typeface="Calibri" pitchFamily="34" charset="-122"/>
                <a:cs typeface="Calibri" pitchFamily="34" charset="-120"/>
              </a:rPr>
              <a:t>Week 8  ·  25</a:t>
            </a:r>
            <a:endParaRPr lang="en-US" sz="900" dirty="0"/>
          </a:p>
        </p:txBody>
      </p:sp>
      <p:graphicFrame>
        <p:nvGraphicFramePr>
          <p:cNvPr id="26" name="Table 0"/>
          <p:cNvGraphicFramePr>
            <a:graphicFrameLocks noGrp="1"/>
          </p:cNvGraphicFramePr>
          <p:nvPr>
            <p:extLst>
              <p:ext uri="{D42A27DB-BD31-4B8C-83A1-F6EECF244321}">
                <p14:modId xmlns:p14="http://schemas.microsoft.com/office/powerpoint/2010/main" val="1579011935"/>
              </p:ext>
            </p:extLst>
          </p:nvPr>
        </p:nvGraphicFramePr>
        <p:xfrm>
          <a:off x="548640" y="1554480"/>
          <a:ext cx="6675120" cy="914400"/>
        </p:xfrm>
        <a:graphic>
          <a:graphicData uri="http://schemas.openxmlformats.org/drawingml/2006/table">
            <a:tbl>
              <a:tblPr/>
              <a:tblGrid>
                <a:gridCol w="1325880"/>
                <a:gridCol w="1051560"/>
                <a:gridCol w="1051560"/>
                <a:gridCol w="1234440"/>
                <a:gridCol w="1097280"/>
                <a:gridCol w="914400"/>
              </a:tblGrid>
              <a:tr h="0">
                <a:tc>
                  <a:txBody>
                    <a:bodyPr/>
                    <a:lstStyle/>
                    <a:p>
                      <a:pPr algn="l" indent="0" marL="0">
                        <a:buNone/>
                      </a:pPr>
                      <a:r>
                        <a:rPr lang="en-US" sz="1300" b="1" dirty="0">
                          <a:solidFill>
                            <a:srgbClr val="FFFFFF"/>
                          </a:solidFill>
                          <a:latin typeface="Cambria" pitchFamily="34" charset="0"/>
                          <a:ea typeface="Cambria" pitchFamily="34" charset="-122"/>
                          <a:cs typeface="Cambria" pitchFamily="34" charset="-120"/>
                        </a:rPr>
                        <a:t>Algorithm</a:t>
                      </a:r>
                      <a:endParaRPr lang="en-US" sz="1300" dirty="0">
                        <a:latin typeface="Cambria" charset="0"/>
                        <a:ea typeface="Cambria" charset="0"/>
                        <a:cs typeface="Cambria" charset="0"/>
                      </a:endParaRPr>
                    </a:p>
                  </a:txBody>
                  <a:tcPr marL="76200" marR="762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36454F"/>
                    </a:solidFill>
                  </a:tcPr>
                </a:tc>
                <a:tc>
                  <a:txBody>
                    <a:bodyPr/>
                    <a:lstStyle/>
                    <a:p>
                      <a:pPr algn="ctr" indent="0" marL="0">
                        <a:buNone/>
                      </a:pPr>
                      <a:r>
                        <a:rPr lang="en-US" sz="1300" b="1" dirty="0">
                          <a:solidFill>
                            <a:srgbClr val="FFFFFF"/>
                          </a:solidFill>
                          <a:latin typeface="Cambria" pitchFamily="34" charset="0"/>
                          <a:ea typeface="Cambria" pitchFamily="34" charset="-122"/>
                          <a:cs typeface="Cambria" pitchFamily="34" charset="-120"/>
                        </a:rPr>
                        <a:t>Preemptive</a:t>
                      </a:r>
                      <a:endParaRPr lang="en-US" sz="1300" dirty="0">
                        <a:latin typeface="Cambria" charset="0"/>
                        <a:ea typeface="Cambria" charset="0"/>
                        <a:cs typeface="Cambria" charset="0"/>
                      </a:endParaRPr>
                    </a:p>
                  </a:txBody>
                  <a:tcPr marL="76200" marR="762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36454F"/>
                    </a:solidFill>
                  </a:tcPr>
                </a:tc>
                <a:tc>
                  <a:txBody>
                    <a:bodyPr/>
                    <a:lstStyle/>
                    <a:p>
                      <a:pPr algn="ctr" indent="0" marL="0">
                        <a:buNone/>
                      </a:pPr>
                      <a:r>
                        <a:rPr lang="en-US" sz="1300" b="1" dirty="0">
                          <a:solidFill>
                            <a:srgbClr val="FFFFFF"/>
                          </a:solidFill>
                          <a:latin typeface="Cambria" pitchFamily="34" charset="0"/>
                          <a:ea typeface="Cambria" pitchFamily="34" charset="-122"/>
                          <a:cs typeface="Cambria" pitchFamily="34" charset="-120"/>
                        </a:rPr>
                        <a:t>Avg waiting</a:t>
                      </a:r>
                      <a:endParaRPr lang="en-US" sz="1300" dirty="0">
                        <a:latin typeface="Cambria" charset="0"/>
                        <a:ea typeface="Cambria" charset="0"/>
                        <a:cs typeface="Cambria" charset="0"/>
                      </a:endParaRPr>
                    </a:p>
                  </a:txBody>
                  <a:tcPr marL="76200" marR="762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36454F"/>
                    </a:solidFill>
                  </a:tcPr>
                </a:tc>
                <a:tc>
                  <a:txBody>
                    <a:bodyPr/>
                    <a:lstStyle/>
                    <a:p>
                      <a:pPr algn="ctr" indent="0" marL="0">
                        <a:buNone/>
                      </a:pPr>
                      <a:r>
                        <a:rPr lang="en-US" sz="1300" b="1" dirty="0">
                          <a:solidFill>
                            <a:srgbClr val="FFFFFF"/>
                          </a:solidFill>
                          <a:latin typeface="Cambria" pitchFamily="34" charset="0"/>
                          <a:ea typeface="Cambria" pitchFamily="34" charset="-122"/>
                          <a:cs typeface="Cambria" pitchFamily="34" charset="-120"/>
                        </a:rPr>
                        <a:t>Avg turnaround</a:t>
                      </a:r>
                      <a:endParaRPr lang="en-US" sz="1300" dirty="0">
                        <a:latin typeface="Cambria" charset="0"/>
                        <a:ea typeface="Cambria" charset="0"/>
                        <a:cs typeface="Cambria" charset="0"/>
                      </a:endParaRPr>
                    </a:p>
                  </a:txBody>
                  <a:tcPr marL="76200" marR="762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36454F"/>
                    </a:solidFill>
                  </a:tcPr>
                </a:tc>
                <a:tc>
                  <a:txBody>
                    <a:bodyPr/>
                    <a:lstStyle/>
                    <a:p>
                      <a:pPr algn="ctr" indent="0" marL="0">
                        <a:buNone/>
                      </a:pPr>
                      <a:r>
                        <a:rPr lang="en-US" sz="1300" b="1" dirty="0">
                          <a:solidFill>
                            <a:srgbClr val="FFFFFF"/>
                          </a:solidFill>
                          <a:latin typeface="Cambria" pitchFamily="34" charset="0"/>
                          <a:ea typeface="Cambria" pitchFamily="34" charset="-122"/>
                          <a:cs typeface="Cambria" pitchFamily="34" charset="-120"/>
                        </a:rPr>
                        <a:t>Avg response</a:t>
                      </a:r>
                      <a:endParaRPr lang="en-US" sz="1300" dirty="0">
                        <a:latin typeface="Cambria" charset="0"/>
                        <a:ea typeface="Cambria" charset="0"/>
                        <a:cs typeface="Cambria" charset="0"/>
                      </a:endParaRPr>
                    </a:p>
                  </a:txBody>
                  <a:tcPr marL="76200" marR="762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36454F"/>
                    </a:solidFill>
                  </a:tcPr>
                </a:tc>
                <a:tc>
                  <a:txBody>
                    <a:bodyPr/>
                    <a:lstStyle/>
                    <a:p>
                      <a:pPr algn="ctr" indent="0" marL="0">
                        <a:buNone/>
                      </a:pPr>
                      <a:r>
                        <a:rPr lang="en-US" sz="1300" b="1" dirty="0">
                          <a:solidFill>
                            <a:srgbClr val="FFFFFF"/>
                          </a:solidFill>
                          <a:latin typeface="Cambria" pitchFamily="34" charset="0"/>
                          <a:ea typeface="Cambria" pitchFamily="34" charset="-122"/>
                          <a:cs typeface="Cambria" pitchFamily="34" charset="-120"/>
                        </a:rPr>
                        <a:t>Switches</a:t>
                      </a:r>
                      <a:endParaRPr lang="en-US" sz="1300" dirty="0">
                        <a:latin typeface="Cambria" charset="0"/>
                        <a:ea typeface="Cambria" charset="0"/>
                        <a:cs typeface="Cambria" charset="0"/>
                      </a:endParaRPr>
                    </a:p>
                  </a:txBody>
                  <a:tcPr marL="76200" marR="762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36454F"/>
                    </a:solidFill>
                  </a:tcPr>
                </a:tc>
              </a:tr>
              <a:tr h="0">
                <a:tc>
                  <a:txBody>
                    <a:bodyPr/>
                    <a:lstStyle/>
                    <a:p>
                      <a:pPr algn="l" indent="0" marL="0">
                        <a:buNone/>
                      </a:pPr>
                      <a:r>
                        <a:rPr lang="en-US" sz="1300" b="1" dirty="0">
                          <a:solidFill>
                            <a:srgbClr val="3A464C"/>
                          </a:solidFill>
                          <a:latin typeface="Calibri" pitchFamily="34" charset="0"/>
                          <a:ea typeface="Calibri" pitchFamily="34" charset="-122"/>
                          <a:cs typeface="Calibri" pitchFamily="34" charset="-120"/>
                        </a:rPr>
                        <a:t>FCFS</a:t>
                      </a:r>
                      <a:endParaRPr lang="en-US" sz="1300" dirty="0">
                        <a:latin typeface="Calibri" charset="0"/>
                        <a:ea typeface="Calibri" charset="0"/>
                        <a:cs typeface="Calibri" charset="0"/>
                      </a:endParaRPr>
                    </a:p>
                  </a:txBody>
                  <a:tcPr marL="76200" marR="762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algn="ctr" indent="0" marL="0">
                        <a:buNone/>
                      </a:pPr>
                      <a:r>
                        <a:rPr lang="en-US" sz="1300" dirty="0">
                          <a:solidFill>
                            <a:srgbClr val="3A464C"/>
                          </a:solidFill>
                          <a:latin typeface="Calibri" pitchFamily="34" charset="0"/>
                          <a:ea typeface="Calibri" pitchFamily="34" charset="-122"/>
                          <a:cs typeface="Calibri" pitchFamily="34" charset="-120"/>
                        </a:rPr>
                        <a:t>no</a:t>
                      </a:r>
                      <a:endParaRPr lang="en-US" sz="1300" dirty="0">
                        <a:latin typeface="Calibri" charset="0"/>
                        <a:ea typeface="Calibri" charset="0"/>
                        <a:cs typeface="Calibri" charset="0"/>
                      </a:endParaRPr>
                    </a:p>
                  </a:txBody>
                  <a:tcPr marL="76200" marR="762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algn="ctr" indent="0" marL="0">
                        <a:buNone/>
                      </a:pPr>
                      <a:r>
                        <a:rPr lang="en-US" sz="1300" dirty="0">
                          <a:solidFill>
                            <a:srgbClr val="3A464C"/>
                          </a:solidFill>
                          <a:latin typeface="Calibri" pitchFamily="34" charset="0"/>
                          <a:ea typeface="Calibri" pitchFamily="34" charset="-122"/>
                          <a:cs typeface="Calibri" pitchFamily="34" charset="-120"/>
                        </a:rPr>
                        <a:t>5.25</a:t>
                      </a:r>
                      <a:endParaRPr lang="en-US" sz="1300" dirty="0">
                        <a:latin typeface="Calibri" charset="0"/>
                        <a:ea typeface="Calibri" charset="0"/>
                        <a:cs typeface="Calibri" charset="0"/>
                      </a:endParaRPr>
                    </a:p>
                  </a:txBody>
                  <a:tcPr marL="76200" marR="762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algn="ctr" indent="0" marL="0">
                        <a:buNone/>
                      </a:pPr>
                      <a:r>
                        <a:rPr lang="en-US" sz="1300" dirty="0">
                          <a:solidFill>
                            <a:srgbClr val="3A464C"/>
                          </a:solidFill>
                          <a:latin typeface="Calibri" pitchFamily="34" charset="0"/>
                          <a:ea typeface="Calibri" pitchFamily="34" charset="-122"/>
                          <a:cs typeface="Calibri" pitchFamily="34" charset="-120"/>
                        </a:rPr>
                        <a:t>9.75</a:t>
                      </a:r>
                      <a:endParaRPr lang="en-US" sz="1300" dirty="0">
                        <a:latin typeface="Calibri" charset="0"/>
                        <a:ea typeface="Calibri" charset="0"/>
                        <a:cs typeface="Calibri" charset="0"/>
                      </a:endParaRPr>
                    </a:p>
                  </a:txBody>
                  <a:tcPr marL="76200" marR="762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algn="ctr" indent="0" marL="0">
                        <a:buNone/>
                      </a:pPr>
                      <a:r>
                        <a:rPr lang="en-US" sz="1300" dirty="0">
                          <a:solidFill>
                            <a:srgbClr val="3A464C"/>
                          </a:solidFill>
                          <a:latin typeface="Calibri" pitchFamily="34" charset="0"/>
                          <a:ea typeface="Calibri" pitchFamily="34" charset="-122"/>
                          <a:cs typeface="Calibri" pitchFamily="34" charset="-120"/>
                        </a:rPr>
                        <a:t>5.25</a:t>
                      </a:r>
                      <a:endParaRPr lang="en-US" sz="1300" dirty="0">
                        <a:latin typeface="Calibri" charset="0"/>
                        <a:ea typeface="Calibri" charset="0"/>
                        <a:cs typeface="Calibri" charset="0"/>
                      </a:endParaRPr>
                    </a:p>
                  </a:txBody>
                  <a:tcPr marL="76200" marR="762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algn="ctr" indent="0" marL="0">
                        <a:buNone/>
                      </a:pPr>
                      <a:r>
                        <a:rPr lang="en-US" sz="1300" dirty="0">
                          <a:solidFill>
                            <a:srgbClr val="3A464C"/>
                          </a:solidFill>
                          <a:latin typeface="Calibri" pitchFamily="34" charset="0"/>
                          <a:ea typeface="Calibri" pitchFamily="34" charset="-122"/>
                          <a:cs typeface="Calibri" pitchFamily="34" charset="-120"/>
                        </a:rPr>
                        <a:t>3</a:t>
                      </a:r>
                      <a:endParaRPr lang="en-US" sz="1300" dirty="0">
                        <a:latin typeface="Calibri" charset="0"/>
                        <a:ea typeface="Calibri" charset="0"/>
                        <a:cs typeface="Calibri" charset="0"/>
                      </a:endParaRPr>
                    </a:p>
                  </a:txBody>
                  <a:tcPr marL="76200" marR="762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r>
              <a:tr h="0">
                <a:tc>
                  <a:txBody>
                    <a:bodyPr/>
                    <a:lstStyle/>
                    <a:p>
                      <a:pPr algn="l" indent="0" marL="0">
                        <a:buNone/>
                      </a:pPr>
                      <a:r>
                        <a:rPr lang="en-US" sz="1300" b="1" dirty="0">
                          <a:solidFill>
                            <a:srgbClr val="3A464C"/>
                          </a:solidFill>
                          <a:latin typeface="Calibri" pitchFamily="34" charset="0"/>
                          <a:ea typeface="Calibri" pitchFamily="34" charset="-122"/>
                          <a:cs typeface="Calibri" pitchFamily="34" charset="-120"/>
                        </a:rPr>
                        <a:t>SJF</a:t>
                      </a:r>
                      <a:endParaRPr lang="en-US" sz="1300" dirty="0">
                        <a:latin typeface="Calibri" charset="0"/>
                        <a:ea typeface="Calibri" charset="0"/>
                        <a:cs typeface="Calibri" charset="0"/>
                      </a:endParaRPr>
                    </a:p>
                  </a:txBody>
                  <a:tcPr marL="76200" marR="762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3A464C"/>
                          </a:solidFill>
                          <a:latin typeface="Calibri" pitchFamily="34" charset="0"/>
                          <a:ea typeface="Calibri" pitchFamily="34" charset="-122"/>
                          <a:cs typeface="Calibri" pitchFamily="34" charset="-120"/>
                        </a:rPr>
                        <a:t>no</a:t>
                      </a:r>
                      <a:endParaRPr lang="en-US" sz="1300" dirty="0">
                        <a:latin typeface="Calibri" charset="0"/>
                        <a:ea typeface="Calibri" charset="0"/>
                        <a:cs typeface="Calibri" charset="0"/>
                      </a:endParaRPr>
                    </a:p>
                  </a:txBody>
                  <a:tcPr marL="76200" marR="762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3A464C"/>
                          </a:solidFill>
                          <a:latin typeface="Calibri" pitchFamily="34" charset="0"/>
                          <a:ea typeface="Calibri" pitchFamily="34" charset="-122"/>
                          <a:cs typeface="Calibri" pitchFamily="34" charset="-120"/>
                        </a:rPr>
                        <a:t>4.75</a:t>
                      </a:r>
                      <a:endParaRPr lang="en-US" sz="1300" dirty="0">
                        <a:latin typeface="Calibri" charset="0"/>
                        <a:ea typeface="Calibri" charset="0"/>
                        <a:cs typeface="Calibri" charset="0"/>
                      </a:endParaRPr>
                    </a:p>
                  </a:txBody>
                  <a:tcPr marL="76200" marR="762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3A464C"/>
                          </a:solidFill>
                          <a:latin typeface="Calibri" pitchFamily="34" charset="0"/>
                          <a:ea typeface="Calibri" pitchFamily="34" charset="-122"/>
                          <a:cs typeface="Calibri" pitchFamily="34" charset="-120"/>
                        </a:rPr>
                        <a:t>9.25</a:t>
                      </a:r>
                      <a:endParaRPr lang="en-US" sz="1300" dirty="0">
                        <a:latin typeface="Calibri" charset="0"/>
                        <a:ea typeface="Calibri" charset="0"/>
                        <a:cs typeface="Calibri" charset="0"/>
                      </a:endParaRPr>
                    </a:p>
                  </a:txBody>
                  <a:tcPr marL="76200" marR="762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3A464C"/>
                          </a:solidFill>
                          <a:latin typeface="Calibri" pitchFamily="34" charset="0"/>
                          <a:ea typeface="Calibri" pitchFamily="34" charset="-122"/>
                          <a:cs typeface="Calibri" pitchFamily="34" charset="-120"/>
                        </a:rPr>
                        <a:t>4.75</a:t>
                      </a:r>
                      <a:endParaRPr lang="en-US" sz="1300" dirty="0">
                        <a:latin typeface="Calibri" charset="0"/>
                        <a:ea typeface="Calibri" charset="0"/>
                        <a:cs typeface="Calibri" charset="0"/>
                      </a:endParaRPr>
                    </a:p>
                  </a:txBody>
                  <a:tcPr marL="76200" marR="762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3A464C"/>
                          </a:solidFill>
                          <a:latin typeface="Calibri" pitchFamily="34" charset="0"/>
                          <a:ea typeface="Calibri" pitchFamily="34" charset="-122"/>
                          <a:cs typeface="Calibri" pitchFamily="34" charset="-120"/>
                        </a:rPr>
                        <a:t>3</a:t>
                      </a:r>
                      <a:endParaRPr lang="en-US" sz="1300" dirty="0">
                        <a:latin typeface="Calibri" charset="0"/>
                        <a:ea typeface="Calibri" charset="0"/>
                        <a:cs typeface="Calibri" charset="0"/>
                      </a:endParaRPr>
                    </a:p>
                  </a:txBody>
                  <a:tcPr marL="76200" marR="762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r>
              <a:tr h="0">
                <a:tc>
                  <a:txBody>
                    <a:bodyPr/>
                    <a:lstStyle/>
                    <a:p>
                      <a:pPr algn="l" indent="0" marL="0">
                        <a:buNone/>
                      </a:pPr>
                      <a:r>
                        <a:rPr lang="en-US" sz="1300" b="1" dirty="0">
                          <a:solidFill>
                            <a:srgbClr val="3A464C"/>
                          </a:solidFill>
                          <a:latin typeface="Calibri" pitchFamily="34" charset="0"/>
                          <a:ea typeface="Calibri" pitchFamily="34" charset="-122"/>
                          <a:cs typeface="Calibri" pitchFamily="34" charset="-120"/>
                        </a:rPr>
                        <a:t>SRTF</a:t>
                      </a:r>
                      <a:endParaRPr lang="en-US" sz="1300" dirty="0">
                        <a:latin typeface="Calibri" charset="0"/>
                        <a:ea typeface="Calibri" charset="0"/>
                        <a:cs typeface="Calibri" charset="0"/>
                      </a:endParaRPr>
                    </a:p>
                  </a:txBody>
                  <a:tcPr marL="76200" marR="762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algn="ctr" indent="0" marL="0">
                        <a:buNone/>
                      </a:pPr>
                      <a:r>
                        <a:rPr lang="en-US" sz="1300" dirty="0">
                          <a:solidFill>
                            <a:srgbClr val="3A464C"/>
                          </a:solidFill>
                          <a:latin typeface="Calibri" pitchFamily="34" charset="0"/>
                          <a:ea typeface="Calibri" pitchFamily="34" charset="-122"/>
                          <a:cs typeface="Calibri" pitchFamily="34" charset="-120"/>
                        </a:rPr>
                        <a:t>yes</a:t>
                      </a:r>
                      <a:endParaRPr lang="en-US" sz="1300" dirty="0">
                        <a:latin typeface="Calibri" charset="0"/>
                        <a:ea typeface="Calibri" charset="0"/>
                        <a:cs typeface="Calibri" charset="0"/>
                      </a:endParaRPr>
                    </a:p>
                  </a:txBody>
                  <a:tcPr marL="76200" marR="762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algn="ctr" indent="0" marL="0">
                        <a:buNone/>
                      </a:pPr>
                      <a:r>
                        <a:rPr lang="en-US" sz="1300" dirty="0">
                          <a:solidFill>
                            <a:srgbClr val="3A464C"/>
                          </a:solidFill>
                          <a:latin typeface="Calibri" pitchFamily="34" charset="0"/>
                          <a:ea typeface="Calibri" pitchFamily="34" charset="-122"/>
                          <a:cs typeface="Calibri" pitchFamily="34" charset="-120"/>
                        </a:rPr>
                        <a:t>4</a:t>
                      </a:r>
                      <a:endParaRPr lang="en-US" sz="1300" dirty="0">
                        <a:latin typeface="Calibri" charset="0"/>
                        <a:ea typeface="Calibri" charset="0"/>
                        <a:cs typeface="Calibri" charset="0"/>
                      </a:endParaRPr>
                    </a:p>
                  </a:txBody>
                  <a:tcPr marL="76200" marR="762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algn="ctr" indent="0" marL="0">
                        <a:buNone/>
                      </a:pPr>
                      <a:r>
                        <a:rPr lang="en-US" sz="1300" dirty="0">
                          <a:solidFill>
                            <a:srgbClr val="3A464C"/>
                          </a:solidFill>
                          <a:latin typeface="Calibri" pitchFamily="34" charset="0"/>
                          <a:ea typeface="Calibri" pitchFamily="34" charset="-122"/>
                          <a:cs typeface="Calibri" pitchFamily="34" charset="-120"/>
                        </a:rPr>
                        <a:t>8.5</a:t>
                      </a:r>
                      <a:endParaRPr lang="en-US" sz="1300" dirty="0">
                        <a:latin typeface="Calibri" charset="0"/>
                        <a:ea typeface="Calibri" charset="0"/>
                        <a:cs typeface="Calibri" charset="0"/>
                      </a:endParaRPr>
                    </a:p>
                  </a:txBody>
                  <a:tcPr marL="76200" marR="762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algn="ctr" indent="0" marL="0">
                        <a:buNone/>
                      </a:pPr>
                      <a:r>
                        <a:rPr lang="en-US" sz="1300" dirty="0">
                          <a:solidFill>
                            <a:srgbClr val="3A464C"/>
                          </a:solidFill>
                          <a:latin typeface="Calibri" pitchFamily="34" charset="0"/>
                          <a:ea typeface="Calibri" pitchFamily="34" charset="-122"/>
                          <a:cs typeface="Calibri" pitchFamily="34" charset="-120"/>
                        </a:rPr>
                        <a:t>2</a:t>
                      </a:r>
                      <a:endParaRPr lang="en-US" sz="1300" dirty="0">
                        <a:latin typeface="Calibri" charset="0"/>
                        <a:ea typeface="Calibri" charset="0"/>
                        <a:cs typeface="Calibri" charset="0"/>
                      </a:endParaRPr>
                    </a:p>
                  </a:txBody>
                  <a:tcPr marL="76200" marR="762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algn="ctr" indent="0" marL="0">
                        <a:buNone/>
                      </a:pPr>
                      <a:r>
                        <a:rPr lang="en-US" sz="1300" dirty="0">
                          <a:solidFill>
                            <a:srgbClr val="3A464C"/>
                          </a:solidFill>
                          <a:latin typeface="Calibri" pitchFamily="34" charset="0"/>
                          <a:ea typeface="Calibri" pitchFamily="34" charset="-122"/>
                          <a:cs typeface="Calibri" pitchFamily="34" charset="-120"/>
                        </a:rPr>
                        <a:t>5</a:t>
                      </a:r>
                      <a:endParaRPr lang="en-US" sz="1300" dirty="0">
                        <a:latin typeface="Calibri" charset="0"/>
                        <a:ea typeface="Calibri" charset="0"/>
                        <a:cs typeface="Calibri" charset="0"/>
                      </a:endParaRPr>
                    </a:p>
                  </a:txBody>
                  <a:tcPr marL="76200" marR="762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r>
              <a:tr h="0">
                <a:tc>
                  <a:txBody>
                    <a:bodyPr/>
                    <a:lstStyle/>
                    <a:p>
                      <a:pPr algn="l" indent="0" marL="0">
                        <a:buNone/>
                      </a:pPr>
                      <a:r>
                        <a:rPr lang="en-US" sz="1300" b="1" dirty="0">
                          <a:solidFill>
                            <a:srgbClr val="3A464C"/>
                          </a:solidFill>
                          <a:latin typeface="Calibri" pitchFamily="34" charset="0"/>
                          <a:ea typeface="Calibri" pitchFamily="34" charset="-122"/>
                          <a:cs typeface="Calibri" pitchFamily="34" charset="-120"/>
                        </a:rPr>
                        <a:t>Priority</a:t>
                      </a:r>
                      <a:endParaRPr lang="en-US" sz="1300" dirty="0">
                        <a:latin typeface="Calibri" charset="0"/>
                        <a:ea typeface="Calibri" charset="0"/>
                        <a:cs typeface="Calibri" charset="0"/>
                      </a:endParaRPr>
                    </a:p>
                  </a:txBody>
                  <a:tcPr marL="76200" marR="762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3A464C"/>
                          </a:solidFill>
                          <a:latin typeface="Calibri" pitchFamily="34" charset="0"/>
                          <a:ea typeface="Calibri" pitchFamily="34" charset="-122"/>
                          <a:cs typeface="Calibri" pitchFamily="34" charset="-120"/>
                        </a:rPr>
                        <a:t>yes</a:t>
                      </a:r>
                      <a:endParaRPr lang="en-US" sz="1300" dirty="0">
                        <a:latin typeface="Calibri" charset="0"/>
                        <a:ea typeface="Calibri" charset="0"/>
                        <a:cs typeface="Calibri" charset="0"/>
                      </a:endParaRPr>
                    </a:p>
                  </a:txBody>
                  <a:tcPr marL="76200" marR="762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3A464C"/>
                          </a:solidFill>
                          <a:latin typeface="Calibri" pitchFamily="34" charset="0"/>
                          <a:ea typeface="Calibri" pitchFamily="34" charset="-122"/>
                          <a:cs typeface="Calibri" pitchFamily="34" charset="-120"/>
                        </a:rPr>
                        <a:t>5.75</a:t>
                      </a:r>
                      <a:endParaRPr lang="en-US" sz="1300" dirty="0">
                        <a:latin typeface="Calibri" charset="0"/>
                        <a:ea typeface="Calibri" charset="0"/>
                        <a:cs typeface="Calibri" charset="0"/>
                      </a:endParaRPr>
                    </a:p>
                  </a:txBody>
                  <a:tcPr marL="76200" marR="762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3A464C"/>
                          </a:solidFill>
                          <a:latin typeface="Calibri" pitchFamily="34" charset="0"/>
                          <a:ea typeface="Calibri" pitchFamily="34" charset="-122"/>
                          <a:cs typeface="Calibri" pitchFamily="34" charset="-120"/>
                        </a:rPr>
                        <a:t>10.25</a:t>
                      </a:r>
                      <a:endParaRPr lang="en-US" sz="1300" dirty="0">
                        <a:latin typeface="Calibri" charset="0"/>
                        <a:ea typeface="Calibri" charset="0"/>
                        <a:cs typeface="Calibri" charset="0"/>
                      </a:endParaRPr>
                    </a:p>
                  </a:txBody>
                  <a:tcPr marL="76200" marR="762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3A464C"/>
                          </a:solidFill>
                          <a:latin typeface="Calibri" pitchFamily="34" charset="0"/>
                          <a:ea typeface="Calibri" pitchFamily="34" charset="-122"/>
                          <a:cs typeface="Calibri" pitchFamily="34" charset="-120"/>
                        </a:rPr>
                        <a:t>4.75</a:t>
                      </a:r>
                      <a:endParaRPr lang="en-US" sz="1300" dirty="0">
                        <a:latin typeface="Calibri" charset="0"/>
                        <a:ea typeface="Calibri" charset="0"/>
                        <a:cs typeface="Calibri" charset="0"/>
                      </a:endParaRPr>
                    </a:p>
                  </a:txBody>
                  <a:tcPr marL="76200" marR="762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3A464C"/>
                          </a:solidFill>
                          <a:latin typeface="Calibri" pitchFamily="34" charset="0"/>
                          <a:ea typeface="Calibri" pitchFamily="34" charset="-122"/>
                          <a:cs typeface="Calibri" pitchFamily="34" charset="-120"/>
                        </a:rPr>
                        <a:t>4</a:t>
                      </a:r>
                      <a:endParaRPr lang="en-US" sz="1300" dirty="0">
                        <a:latin typeface="Calibri" charset="0"/>
                        <a:ea typeface="Calibri" charset="0"/>
                        <a:cs typeface="Calibri" charset="0"/>
                      </a:endParaRPr>
                    </a:p>
                  </a:txBody>
                  <a:tcPr marL="76200" marR="762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r>
              <a:tr h="0">
                <a:tc>
                  <a:txBody>
                    <a:bodyPr/>
                    <a:lstStyle/>
                    <a:p>
                      <a:pPr algn="l" indent="0" marL="0">
                        <a:buNone/>
                      </a:pPr>
                      <a:r>
                        <a:rPr lang="en-US" sz="1300" b="1" dirty="0">
                          <a:solidFill>
                            <a:srgbClr val="3A464C"/>
                          </a:solidFill>
                          <a:latin typeface="Calibri" pitchFamily="34" charset="0"/>
                          <a:ea typeface="Calibri" pitchFamily="34" charset="-122"/>
                          <a:cs typeface="Calibri" pitchFamily="34" charset="-120"/>
                        </a:rPr>
                        <a:t>RR, q = 3</a:t>
                      </a:r>
                      <a:endParaRPr lang="en-US" sz="1300" dirty="0">
                        <a:latin typeface="Calibri" charset="0"/>
                        <a:ea typeface="Calibri" charset="0"/>
                        <a:cs typeface="Calibri" charset="0"/>
                      </a:endParaRPr>
                    </a:p>
                  </a:txBody>
                  <a:tcPr marL="76200" marR="762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algn="ctr" indent="0" marL="0">
                        <a:buNone/>
                      </a:pPr>
                      <a:r>
                        <a:rPr lang="en-US" sz="1300" dirty="0">
                          <a:solidFill>
                            <a:srgbClr val="3A464C"/>
                          </a:solidFill>
                          <a:latin typeface="Calibri" pitchFamily="34" charset="0"/>
                          <a:ea typeface="Calibri" pitchFamily="34" charset="-122"/>
                          <a:cs typeface="Calibri" pitchFamily="34" charset="-120"/>
                        </a:rPr>
                        <a:t>yes</a:t>
                      </a:r>
                      <a:endParaRPr lang="en-US" sz="1300" dirty="0">
                        <a:latin typeface="Calibri" charset="0"/>
                        <a:ea typeface="Calibri" charset="0"/>
                        <a:cs typeface="Calibri" charset="0"/>
                      </a:endParaRPr>
                    </a:p>
                  </a:txBody>
                  <a:tcPr marL="76200" marR="762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algn="ctr" indent="0" marL="0">
                        <a:buNone/>
                      </a:pPr>
                      <a:r>
                        <a:rPr lang="en-US" sz="1300" dirty="0">
                          <a:solidFill>
                            <a:srgbClr val="3A464C"/>
                          </a:solidFill>
                          <a:latin typeface="Calibri" pitchFamily="34" charset="0"/>
                          <a:ea typeface="Calibri" pitchFamily="34" charset="-122"/>
                          <a:cs typeface="Calibri" pitchFamily="34" charset="-120"/>
                        </a:rPr>
                        <a:t>7.25</a:t>
                      </a:r>
                      <a:endParaRPr lang="en-US" sz="1300" dirty="0">
                        <a:latin typeface="Calibri" charset="0"/>
                        <a:ea typeface="Calibri" charset="0"/>
                        <a:cs typeface="Calibri" charset="0"/>
                      </a:endParaRPr>
                    </a:p>
                  </a:txBody>
                  <a:tcPr marL="76200" marR="762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algn="ctr" indent="0" marL="0">
                        <a:buNone/>
                      </a:pPr>
                      <a:r>
                        <a:rPr lang="en-US" sz="1300" dirty="0">
                          <a:solidFill>
                            <a:srgbClr val="3A464C"/>
                          </a:solidFill>
                          <a:latin typeface="Calibri" pitchFamily="34" charset="0"/>
                          <a:ea typeface="Calibri" pitchFamily="34" charset="-122"/>
                          <a:cs typeface="Calibri" pitchFamily="34" charset="-120"/>
                        </a:rPr>
                        <a:t>11.75</a:t>
                      </a:r>
                      <a:endParaRPr lang="en-US" sz="1300" dirty="0">
                        <a:latin typeface="Calibri" charset="0"/>
                        <a:ea typeface="Calibri" charset="0"/>
                        <a:cs typeface="Calibri" charset="0"/>
                      </a:endParaRPr>
                    </a:p>
                  </a:txBody>
                  <a:tcPr marL="76200" marR="762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algn="ctr" indent="0" marL="0">
                        <a:buNone/>
                      </a:pPr>
                      <a:r>
                        <a:rPr lang="en-US" sz="1300" dirty="0">
                          <a:solidFill>
                            <a:srgbClr val="3A464C"/>
                          </a:solidFill>
                          <a:latin typeface="Calibri" pitchFamily="34" charset="0"/>
                          <a:ea typeface="Calibri" pitchFamily="34" charset="-122"/>
                          <a:cs typeface="Calibri" pitchFamily="34" charset="-120"/>
                        </a:rPr>
                        <a:t>2.5</a:t>
                      </a:r>
                      <a:endParaRPr lang="en-US" sz="1300" dirty="0">
                        <a:latin typeface="Calibri" charset="0"/>
                        <a:ea typeface="Calibri" charset="0"/>
                        <a:cs typeface="Calibri" charset="0"/>
                      </a:endParaRPr>
                    </a:p>
                  </a:txBody>
                  <a:tcPr marL="76200" marR="762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algn="ctr" indent="0" marL="0">
                        <a:buNone/>
                      </a:pPr>
                      <a:r>
                        <a:rPr lang="en-US" sz="1300" dirty="0">
                          <a:solidFill>
                            <a:srgbClr val="3A464C"/>
                          </a:solidFill>
                          <a:latin typeface="Calibri" pitchFamily="34" charset="0"/>
                          <a:ea typeface="Calibri" pitchFamily="34" charset="-122"/>
                          <a:cs typeface="Calibri" pitchFamily="34" charset="-120"/>
                        </a:rPr>
                        <a:t>7</a:t>
                      </a:r>
                      <a:endParaRPr lang="en-US" sz="1300" dirty="0">
                        <a:latin typeface="Calibri" charset="0"/>
                        <a:ea typeface="Calibri" charset="0"/>
                        <a:cs typeface="Calibri" charset="0"/>
                      </a:endParaRPr>
                    </a:p>
                  </a:txBody>
                  <a:tcPr marL="76200" marR="762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r>
            </a:tbl>
          </a:graphicData>
        </a:graphic>
      </p:graphicFrame>
      <p:sp>
        <p:nvSpPr>
          <p:cNvPr id="7" name="Shape 4"/>
          <p:cNvSpPr/>
          <p:nvPr/>
        </p:nvSpPr>
        <p:spPr>
          <a:xfrm>
            <a:off x="7452360" y="1554480"/>
            <a:ext cx="4206240" cy="2788920"/>
          </a:xfrm>
          <a:prstGeom prst="roundRect">
            <a:avLst>
              <a:gd name="adj" fmla="val 1639"/>
            </a:avLst>
          </a:prstGeom>
          <a:solidFill>
            <a:srgbClr val="212121"/>
          </a:solidFill>
          <a:ln/>
        </p:spPr>
        <p:txBody>
          <a:bodyPr/>
          <a:p/>
        </p:txBody>
      </p:sp>
      <p:sp>
        <p:nvSpPr>
          <p:cNvPr id="8" name="Text 5"/>
          <p:cNvSpPr txBox="1"/>
          <p:nvPr/>
        </p:nvSpPr>
        <p:spPr>
          <a:xfrm>
            <a:off x="7635240" y="1664208"/>
            <a:ext cx="3840480" cy="2569464"/>
          </a:xfrm>
          <a:prstGeom prst="rect">
            <a:avLst/>
          </a:prstGeom>
          <a:noFill/>
          <a:ln/>
        </p:spPr>
        <p:txBody>
          <a:bodyPr wrap="square" lIns="0" tIns="0" rIns="0" bIns="0" rtlCol="0" anchor="t"/>
          <a:lstStyle/>
          <a:p>
            <a:pPr indent="0" marL="0">
              <a:lnSpc>
                <a:spcPct val="105000"/>
              </a:lnSpc>
              <a:buNone/>
            </a:pPr>
            <a:r>
              <a:rPr lang="en-US" sz="1250" dirty="0">
                <a:solidFill>
                  <a:srgbClr val="8A9AA0"/>
                </a:solidFill>
                <a:latin typeface="Consolas" pitchFamily="34" charset="0"/>
                <a:ea typeface="Consolas" pitchFamily="34" charset="-122"/>
                <a:cs typeface="Consolas" pitchFamily="34" charset="-120"/>
              </a:rPr>
              <a:t># SRTF, from the formulas</a:t>
            </a:r>
            <a:endParaRPr lang="en-US" sz="1250" dirty="0"/>
          </a:p>
          <a:p>
            <a:pPr indent="0" marL="0">
              <a:lnSpc>
                <a:spcPct val="105000"/>
              </a:lnSpc>
              <a:buNone/>
            </a:pPr>
            <a:r>
              <a:rPr lang="en-US" sz="1250" dirty="0">
                <a:solidFill>
                  <a:srgbClr val="F2F2F2"/>
                </a:solidFill>
                <a:latin typeface="Consolas" pitchFamily="34" charset="0"/>
                <a:ea typeface="Consolas" pitchFamily="34" charset="-122"/>
                <a:cs typeface="Consolas" pitchFamily="34" charset="-120"/>
              </a:rPr>
              <a:t>P1: TAT 13 − 0 = 13, wait 13 − 7 = 6</a:t>
            </a:r>
            <a:endParaRPr lang="en-US" sz="1250" dirty="0"/>
          </a:p>
          <a:p>
            <a:pPr indent="0" marL="0">
              <a:lnSpc>
                <a:spcPct val="105000"/>
              </a:lnSpc>
              <a:buNone/>
            </a:pPr>
            <a:r>
              <a:rPr lang="en-US" sz="1250" dirty="0">
                <a:solidFill>
                  <a:srgbClr val="F2F2F2"/>
                </a:solidFill>
                <a:latin typeface="Consolas" pitchFamily="34" charset="0"/>
                <a:ea typeface="Consolas" pitchFamily="34" charset="-122"/>
                <a:cs typeface="Consolas" pitchFamily="34" charset="-120"/>
              </a:rPr>
              <a:t>P2: TAT  8 − 2 = 6, wait 6 − 4 = 2</a:t>
            </a:r>
            <a:endParaRPr lang="en-US" sz="1250" dirty="0"/>
          </a:p>
          <a:p>
            <a:pPr indent="0" marL="0">
              <a:lnSpc>
                <a:spcPct val="105000"/>
              </a:lnSpc>
              <a:buNone/>
            </a:pPr>
            <a:r>
              <a:rPr lang="en-US" sz="1250" dirty="0">
                <a:solidFill>
                  <a:srgbClr val="F2F2F2"/>
                </a:solidFill>
                <a:latin typeface="Consolas" pitchFamily="34" charset="0"/>
                <a:ea typeface="Consolas" pitchFamily="34" charset="-122"/>
                <a:cs typeface="Consolas" pitchFamily="34" charset="-120"/>
              </a:rPr>
              <a:t>P3: TAT  5 − 3 = 2, wait 2 − 2 = 0</a:t>
            </a:r>
            <a:endParaRPr lang="en-US" sz="1250" dirty="0"/>
          </a:p>
          <a:p>
            <a:pPr indent="0" marL="0">
              <a:lnSpc>
                <a:spcPct val="105000"/>
              </a:lnSpc>
              <a:buNone/>
            </a:pPr>
            <a:r>
              <a:rPr lang="en-US" sz="1250" dirty="0">
                <a:solidFill>
                  <a:srgbClr val="F2F2F2"/>
                </a:solidFill>
                <a:latin typeface="Consolas" pitchFamily="34" charset="0"/>
                <a:ea typeface="Consolas" pitchFamily="34" charset="-122"/>
                <a:cs typeface="Consolas" pitchFamily="34" charset="-120"/>
              </a:rPr>
              <a:t>P4: TAT 18 − 5 = 13, wait 13 − 5 = 8</a:t>
            </a:r>
            <a:endParaRPr lang="en-US" sz="1250" dirty="0"/>
          </a:p>
          <a:p>
            <a:pPr indent="0" marL="0">
              <a:lnSpc>
                <a:spcPct val="105000"/>
              </a:lnSpc>
              <a:buNone/>
            </a:pPr>
            <a:r>
              <a:rPr lang="en-US" sz="1250" dirty="0">
                <a:solidFill>
                  <a:srgbClr val="F2F2F2"/>
                </a:solidFill>
                <a:latin typeface="Consolas" pitchFamily="34" charset="0"/>
                <a:ea typeface="Consolas" pitchFamily="34" charset="-122"/>
                <a:cs typeface="Consolas" pitchFamily="34" charset="-120"/>
              </a:rPr>
              <a:t>average waiting = 16/4 = 4 ms</a:t>
            </a:r>
            <a:endParaRPr lang="en-US" sz="1250" dirty="0"/>
          </a:p>
        </p:txBody>
      </p:sp>
      <p:sp>
        <p:nvSpPr>
          <p:cNvPr id="9" name="Shape 6"/>
          <p:cNvSpPr/>
          <p:nvPr/>
        </p:nvSpPr>
        <p:spPr>
          <a:xfrm>
            <a:off x="548640" y="4526280"/>
            <a:ext cx="11109960" cy="1737360"/>
          </a:xfrm>
          <a:prstGeom prst="roundRect">
            <a:avLst>
              <a:gd name="adj" fmla="val 3158"/>
            </a:avLst>
          </a:prstGeom>
          <a:solidFill>
            <a:srgbClr val="F2F2F2"/>
          </a:solidFill>
          <a:ln/>
          <a:effectLst>
            <a:outerShdw sx="100000" sy="100000" kx="0" ky="0" algn="bl" rotWithShape="0" blurRad="101600" dist="25400" dir="5400000">
              <a:srgbClr val="000000">
                <a:alpha val="12000"/>
              </a:srgbClr>
            </a:outerShdw>
          </a:effectLst>
        </p:spPr>
        <p:txBody>
          <a:bodyPr/>
          <a:p/>
        </p:txBody>
      </p:sp>
      <p:sp>
        <p:nvSpPr>
          <p:cNvPr id="10" name="Text 7"/>
          <p:cNvSpPr txBox="1"/>
          <p:nvPr/>
        </p:nvSpPr>
        <p:spPr>
          <a:xfrm>
            <a:off x="777240" y="4709160"/>
            <a:ext cx="10652760" cy="384048"/>
          </a:xfrm>
          <a:prstGeom prst="rect">
            <a:avLst/>
          </a:prstGeom>
          <a:noFill/>
          <a:ln/>
        </p:spPr>
        <p:txBody>
          <a:bodyPr wrap="square" lIns="0" tIns="0" rIns="0" bIns="0" rtlCol="0" anchor="ctr"/>
          <a:lstStyle/>
          <a:p>
            <a:pPr indent="0" marL="0">
              <a:buNone/>
            </a:pPr>
            <a:r>
              <a:rPr lang="en-US" sz="1500" b="1" dirty="0">
                <a:solidFill>
                  <a:srgbClr val="028090"/>
                </a:solidFill>
                <a:latin typeface="Cambria" pitchFamily="34" charset="0"/>
                <a:ea typeface="Cambria" pitchFamily="34" charset="-122"/>
                <a:cs typeface="Cambria" pitchFamily="34" charset="-120"/>
              </a:rPr>
              <a:t>What the numbers say</a:t>
            </a:r>
            <a:endParaRPr lang="en-US" sz="1500" dirty="0"/>
          </a:p>
        </p:txBody>
      </p:sp>
      <p:sp>
        <p:nvSpPr>
          <p:cNvPr id="11" name="Text 8"/>
          <p:cNvSpPr txBox="1"/>
          <p:nvPr/>
        </p:nvSpPr>
        <p:spPr>
          <a:xfrm>
            <a:off x="777240" y="5166360"/>
            <a:ext cx="10652760" cy="960120"/>
          </a:xfrm>
          <a:prstGeom prst="rect">
            <a:avLst/>
          </a:prstGeom>
          <a:noFill/>
          <a:ln/>
        </p:spPr>
        <p:txBody>
          <a:bodyPr wrap="square" lIns="0" tIns="0" rIns="0" bIns="0" rtlCol="0" anchor="t"/>
          <a:lstStyle/>
          <a:p>
            <a:pPr marL="228600" indent="-228600">
              <a:spcAft>
                <a:spcPts val="400"/>
              </a:spcAft>
              <a:buSzPct val="100000"/>
              <a:buChar char="•"/>
            </a:pPr>
            <a:r>
              <a:rPr lang="en-US" sz="1350" dirty="0">
                <a:solidFill>
                  <a:srgbClr val="3A464C"/>
                </a:solidFill>
                <a:latin typeface="Calibri" pitchFamily="34" charset="0"/>
                <a:ea typeface="Calibri" pitchFamily="34" charset="-122"/>
                <a:cs typeface="Calibri" pitchFamily="34" charset="-120"/>
              </a:rPr>
              <a:t>SRTF has the smallest average waiting time (4 ms) — as the theory promises — but the most context switches after RR.</a:t>
            </a:r>
            <a:endParaRPr lang="en-US" sz="1350" dirty="0"/>
          </a:p>
          <a:p>
            <a:pPr marL="228600" indent="-228600">
              <a:spcAft>
                <a:spcPts val="400"/>
              </a:spcAft>
              <a:buSzPct val="100000"/>
              <a:buChar char="•"/>
            </a:pPr>
            <a:r>
              <a:rPr lang="en-US" sz="1350" dirty="0">
                <a:solidFill>
                  <a:srgbClr val="3A464C"/>
                </a:solidFill>
                <a:latin typeface="Calibri" pitchFamily="34" charset="0"/>
                <a:ea typeface="Calibri" pitchFamily="34" charset="-122"/>
                <a:cs typeface="Calibri" pitchFamily="34" charset="-120"/>
              </a:rPr>
              <a:t>Priority serves importance, not averages: low-priority P3 waits 13 ms. RR has the worst average waiting time (7.25 ms) but a good response time (2.5 ms).</a:t>
            </a:r>
            <a:endParaRPr lang="en-US" sz="13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en-US" sz="1200" b="1" spc="200" kern="0" dirty="0">
                <a:solidFill>
                  <a:srgbClr val="02C39A"/>
                </a:solidFill>
                <a:latin typeface="Calibri" pitchFamily="34" charset="0"/>
                <a:ea typeface="Calibri" pitchFamily="34" charset="-122"/>
                <a:cs typeface="Calibri" pitchFamily="34" charset="-120"/>
              </a:rPr>
              <a:t>PROBLEM 3 · WEEK 5</a:t>
            </a:r>
            <a:endParaRPr lang="en-US"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en-US" sz="3000" b="1" dirty="0">
                <a:solidFill>
                  <a:srgbClr val="36454F"/>
                </a:solidFill>
                <a:latin typeface="Cambria" pitchFamily="34" charset="0"/>
                <a:ea typeface="Cambria" pitchFamily="34" charset="-122"/>
                <a:cs typeface="Cambria" pitchFamily="34" charset="-120"/>
              </a:rPr>
              <a:t>A Race and a Semaphore, Step by Step</a:t>
            </a:r>
            <a:endParaRPr lang="en-US" sz="3000" dirty="0"/>
          </a:p>
        </p:txBody>
      </p:sp>
      <p:sp>
        <p:nvSpPr>
          <p:cNvPr id="4" name="Text 2"/>
          <p:cNvSpPr txBox="1"/>
          <p:nvPr/>
        </p:nvSpPr>
        <p:spPr>
          <a:xfrm>
            <a:off x="548640" y="6528816"/>
            <a:ext cx="6400800" cy="274320"/>
          </a:xfrm>
          <a:prstGeom prst="rect">
            <a:avLst/>
          </a:prstGeom>
          <a:noFill/>
          <a:ln/>
        </p:spPr>
        <p:txBody>
          <a:bodyPr wrap="square" lIns="0" tIns="0" rIns="0" bIns="0" rtlCol="0" anchor="ctr"/>
          <a:lstStyle/>
          <a:p>
            <a:pPr indent="0" marL="0">
              <a:buNone/>
            </a:pPr>
            <a:r>
              <a:rPr lang="en-US" sz="900" dirty="0">
                <a:solidFill>
                  <a:srgbClr val="6B7679"/>
                </a:solidFill>
                <a:latin typeface="Calibri" pitchFamily="34" charset="0"/>
                <a:ea typeface="Calibri" pitchFamily="34" charset="-122"/>
                <a:cs typeface="Calibri" pitchFamily="34" charset="-120"/>
              </a:rPr>
              <a:t>MCMP117 — Fundamentals of Operating Systems</a:t>
            </a:r>
            <a:endParaRPr lang="en-US" sz="900" dirty="0"/>
          </a:p>
        </p:txBody>
      </p:sp>
      <p:sp>
        <p:nvSpPr>
          <p:cNvPr id="5" name="Text 3"/>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en-US" sz="900" dirty="0">
                <a:solidFill>
                  <a:srgbClr val="6B7679"/>
                </a:solidFill>
                <a:latin typeface="Calibri" pitchFamily="34" charset="0"/>
                <a:ea typeface="Calibri" pitchFamily="34" charset="-122"/>
                <a:cs typeface="Calibri" pitchFamily="34" charset="-120"/>
              </a:rPr>
              <a:t>Week 8  ·  26</a:t>
            </a:r>
            <a:endParaRPr lang="en-US" sz="900" dirty="0"/>
          </a:p>
        </p:txBody>
      </p:sp>
      <p:graphicFrame>
        <p:nvGraphicFramePr>
          <p:cNvPr id="27" name="Table 0"/>
          <p:cNvGraphicFramePr>
            <a:graphicFrameLocks noGrp="1"/>
          </p:cNvGraphicFramePr>
          <p:nvPr>
            <p:extLst>
              <p:ext uri="{D42A27DB-BD31-4B8C-83A1-F6EECF244321}">
                <p14:modId xmlns:p14="http://schemas.microsoft.com/office/powerpoint/2010/main" val="1579011935"/>
              </p:ext>
            </p:extLst>
          </p:nvPr>
        </p:nvGraphicFramePr>
        <p:xfrm>
          <a:off x="548640" y="1554480"/>
          <a:ext cx="5852160" cy="914400"/>
        </p:xfrm>
        <a:graphic>
          <a:graphicData uri="http://schemas.openxmlformats.org/drawingml/2006/table">
            <a:tbl>
              <a:tblPr/>
              <a:tblGrid>
                <a:gridCol w="685800"/>
                <a:gridCol w="1874520"/>
                <a:gridCol w="1874520"/>
                <a:gridCol w="1417320"/>
              </a:tblGrid>
              <a:tr h="0">
                <a:tc>
                  <a:txBody>
                    <a:bodyPr/>
                    <a:lstStyle/>
                    <a:p>
                      <a:pPr algn="ctr" indent="0" marL="0">
                        <a:buNone/>
                      </a:pPr>
                      <a:r>
                        <a:rPr lang="en-US" sz="1250" b="1" dirty="0">
                          <a:solidFill>
                            <a:srgbClr val="FFFFFF"/>
                          </a:solidFill>
                          <a:latin typeface="Cambria" pitchFamily="34" charset="0"/>
                          <a:ea typeface="Cambria" pitchFamily="34" charset="-122"/>
                          <a:cs typeface="Cambria" pitchFamily="34" charset="-120"/>
                        </a:rPr>
                        <a:t>Step</a:t>
                      </a:r>
                      <a:endParaRPr lang="en-US" sz="1250" dirty="0">
                        <a:latin typeface="Cambria" charset="0"/>
                        <a:ea typeface="Cambria" charset="0"/>
                        <a:cs typeface="Cambria" charset="0"/>
                      </a:endParaRPr>
                    </a:p>
                  </a:txBody>
                  <a:tcPr marL="76200" marR="762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36454F"/>
                    </a:solidFill>
                  </a:tcPr>
                </a:tc>
                <a:tc>
                  <a:txBody>
                    <a:bodyPr/>
                    <a:lstStyle/>
                    <a:p>
                      <a:pPr algn="l" indent="0" marL="0">
                        <a:buNone/>
                      </a:pPr>
                      <a:r>
                        <a:rPr lang="en-US" sz="1250" b="1" dirty="0">
                          <a:solidFill>
                            <a:srgbClr val="FFFFFF"/>
                          </a:solidFill>
                          <a:latin typeface="Cambria" pitchFamily="34" charset="0"/>
                          <a:ea typeface="Cambria" pitchFamily="34" charset="-122"/>
                          <a:cs typeface="Cambria" pitchFamily="34" charset="-120"/>
                        </a:rPr>
                        <a:t>Thread A (counter++)</a:t>
                      </a:r>
                      <a:endParaRPr lang="en-US" sz="1250" dirty="0">
                        <a:latin typeface="Cambria" charset="0"/>
                        <a:ea typeface="Cambria" charset="0"/>
                        <a:cs typeface="Cambria" charset="0"/>
                      </a:endParaRPr>
                    </a:p>
                  </a:txBody>
                  <a:tcPr marL="76200" marR="762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36454F"/>
                    </a:solidFill>
                  </a:tcPr>
                </a:tc>
                <a:tc>
                  <a:txBody>
                    <a:bodyPr/>
                    <a:lstStyle/>
                    <a:p>
                      <a:pPr algn="l" indent="0" marL="0">
                        <a:buNone/>
                      </a:pPr>
                      <a:r>
                        <a:rPr lang="en-US" sz="1250" b="1" dirty="0">
                          <a:solidFill>
                            <a:srgbClr val="FFFFFF"/>
                          </a:solidFill>
                          <a:latin typeface="Cambria" pitchFamily="34" charset="0"/>
                          <a:ea typeface="Cambria" pitchFamily="34" charset="-122"/>
                          <a:cs typeface="Cambria" pitchFamily="34" charset="-120"/>
                        </a:rPr>
                        <a:t>Thread B (counter--)</a:t>
                      </a:r>
                      <a:endParaRPr lang="en-US" sz="1250" dirty="0">
                        <a:latin typeface="Cambria" charset="0"/>
                        <a:ea typeface="Cambria" charset="0"/>
                        <a:cs typeface="Cambria" charset="0"/>
                      </a:endParaRPr>
                    </a:p>
                  </a:txBody>
                  <a:tcPr marL="76200" marR="762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36454F"/>
                    </a:solidFill>
                  </a:tcPr>
                </a:tc>
                <a:tc>
                  <a:txBody>
                    <a:bodyPr/>
                    <a:lstStyle/>
                    <a:p>
                      <a:pPr algn="ctr" indent="0" marL="0">
                        <a:buNone/>
                      </a:pPr>
                      <a:r>
                        <a:rPr lang="en-US" sz="1250" b="1" dirty="0">
                          <a:solidFill>
                            <a:srgbClr val="FFFFFF"/>
                          </a:solidFill>
                          <a:latin typeface="Cambria" pitchFamily="34" charset="0"/>
                          <a:ea typeface="Cambria" pitchFamily="34" charset="-122"/>
                          <a:cs typeface="Cambria" pitchFamily="34" charset="-120"/>
                        </a:rPr>
                        <a:t>counter</a:t>
                      </a:r>
                      <a:endParaRPr lang="en-US" sz="1250" dirty="0">
                        <a:latin typeface="Cambria" charset="0"/>
                        <a:ea typeface="Cambria" charset="0"/>
                        <a:cs typeface="Cambria" charset="0"/>
                      </a:endParaRPr>
                    </a:p>
                  </a:txBody>
                  <a:tcPr marL="76200" marR="762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36454F"/>
                    </a:solidFill>
                  </a:tcPr>
                </a:tc>
              </a:tr>
              <a:tr h="0">
                <a:tc>
                  <a:txBody>
                    <a:bodyPr/>
                    <a:lstStyle/>
                    <a:p>
                      <a:pPr algn="ctr" indent="0" marL="0">
                        <a:buNone/>
                      </a:pPr>
                      <a:r>
                        <a:rPr lang="en-US" sz="1250" b="1" dirty="0">
                          <a:solidFill>
                            <a:srgbClr val="3A464C"/>
                          </a:solidFill>
                          <a:latin typeface="Calibri" pitchFamily="34" charset="0"/>
                          <a:ea typeface="Calibri" pitchFamily="34" charset="-122"/>
                          <a:cs typeface="Calibri" pitchFamily="34" charset="-120"/>
                        </a:rPr>
                        <a:t>1</a:t>
                      </a:r>
                      <a:endParaRPr lang="en-US" sz="1250" dirty="0">
                        <a:latin typeface="Calibri" charset="0"/>
                        <a:ea typeface="Calibri" charset="0"/>
                        <a:cs typeface="Calibri" charset="0"/>
                      </a:endParaRPr>
                    </a:p>
                  </a:txBody>
                  <a:tcPr marL="76200" marR="762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algn="l" indent="0" marL="0">
                        <a:buNone/>
                      </a:pPr>
                      <a:r>
                        <a:rPr lang="en-US" sz="1250" dirty="0">
                          <a:solidFill>
                            <a:srgbClr val="3A464C"/>
                          </a:solidFill>
                          <a:latin typeface="Calibri" pitchFamily="34" charset="0"/>
                          <a:ea typeface="Calibri" pitchFamily="34" charset="-122"/>
                          <a:cs typeface="Calibri" pitchFamily="34" charset="-120"/>
                        </a:rPr>
                        <a:t>load (rax = 10)</a:t>
                      </a:r>
                      <a:endParaRPr lang="en-US" sz="1250" dirty="0">
                        <a:latin typeface="Calibri" charset="0"/>
                        <a:ea typeface="Calibri" charset="0"/>
                        <a:cs typeface="Calibri" charset="0"/>
                      </a:endParaRPr>
                    </a:p>
                  </a:txBody>
                  <a:tcPr marL="76200" marR="762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algn="l" indent="0" marL="0">
                        <a:buNone/>
                      </a:pPr>
                      <a:endParaRPr lang="en-US" sz="1250" dirty="0">
                        <a:latin typeface="Calibri" charset="0"/>
                        <a:ea typeface="Calibri" charset="0"/>
                        <a:cs typeface="Calibri" charset="0"/>
                      </a:endParaRPr>
                    </a:p>
                  </a:txBody>
                  <a:tcPr marL="76200" marR="762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algn="ctr" indent="0" marL="0">
                        <a:buNone/>
                      </a:pPr>
                      <a:r>
                        <a:rPr lang="en-US" sz="1250" dirty="0">
                          <a:solidFill>
                            <a:srgbClr val="3A464C"/>
                          </a:solidFill>
                          <a:latin typeface="Calibri" pitchFamily="34" charset="0"/>
                          <a:ea typeface="Calibri" pitchFamily="34" charset="-122"/>
                          <a:cs typeface="Calibri" pitchFamily="34" charset="-120"/>
                        </a:rPr>
                        <a:t>10</a:t>
                      </a:r>
                      <a:endParaRPr lang="en-US" sz="1250" dirty="0">
                        <a:latin typeface="Calibri" charset="0"/>
                        <a:ea typeface="Calibri" charset="0"/>
                        <a:cs typeface="Calibri" charset="0"/>
                      </a:endParaRPr>
                    </a:p>
                  </a:txBody>
                  <a:tcPr marL="76200" marR="762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r>
              <a:tr h="0">
                <a:tc>
                  <a:txBody>
                    <a:bodyPr/>
                    <a:lstStyle/>
                    <a:p>
                      <a:pPr algn="ctr" indent="0" marL="0">
                        <a:buNone/>
                      </a:pPr>
                      <a:r>
                        <a:rPr lang="en-US" sz="1250" b="1" dirty="0">
                          <a:solidFill>
                            <a:srgbClr val="3A464C"/>
                          </a:solidFill>
                          <a:latin typeface="Calibri" pitchFamily="34" charset="0"/>
                          <a:ea typeface="Calibri" pitchFamily="34" charset="-122"/>
                          <a:cs typeface="Calibri" pitchFamily="34" charset="-120"/>
                        </a:rPr>
                        <a:t>2</a:t>
                      </a:r>
                      <a:endParaRPr lang="en-US" sz="1250" dirty="0">
                        <a:latin typeface="Calibri" charset="0"/>
                        <a:ea typeface="Calibri" charset="0"/>
                        <a:cs typeface="Calibri" charset="0"/>
                      </a:endParaRPr>
                    </a:p>
                  </a:txBody>
                  <a:tcPr marL="76200" marR="762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algn="l" indent="0" marL="0">
                        <a:buNone/>
                      </a:pPr>
                      <a:endParaRPr lang="en-US" sz="1250" dirty="0">
                        <a:latin typeface="Calibri" charset="0"/>
                        <a:ea typeface="Calibri" charset="0"/>
                        <a:cs typeface="Calibri" charset="0"/>
                      </a:endParaRPr>
                    </a:p>
                  </a:txBody>
                  <a:tcPr marL="76200" marR="762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algn="l" indent="0" marL="0">
                        <a:buNone/>
                      </a:pPr>
                      <a:r>
                        <a:rPr lang="en-US" sz="1250" dirty="0">
                          <a:solidFill>
                            <a:srgbClr val="3A464C"/>
                          </a:solidFill>
                          <a:latin typeface="Calibri" pitchFamily="34" charset="0"/>
                          <a:ea typeface="Calibri" pitchFamily="34" charset="-122"/>
                          <a:cs typeface="Calibri" pitchFamily="34" charset="-120"/>
                        </a:rPr>
                        <a:t>load (rax = 10)</a:t>
                      </a:r>
                      <a:endParaRPr lang="en-US" sz="1250" dirty="0">
                        <a:latin typeface="Calibri" charset="0"/>
                        <a:ea typeface="Calibri" charset="0"/>
                        <a:cs typeface="Calibri" charset="0"/>
                      </a:endParaRPr>
                    </a:p>
                  </a:txBody>
                  <a:tcPr marL="76200" marR="762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3A464C"/>
                          </a:solidFill>
                          <a:latin typeface="Calibri" pitchFamily="34" charset="0"/>
                          <a:ea typeface="Calibri" pitchFamily="34" charset="-122"/>
                          <a:cs typeface="Calibri" pitchFamily="34" charset="-120"/>
                        </a:rPr>
                        <a:t>10</a:t>
                      </a:r>
                      <a:endParaRPr lang="en-US" sz="1250" dirty="0">
                        <a:latin typeface="Calibri" charset="0"/>
                        <a:ea typeface="Calibri" charset="0"/>
                        <a:cs typeface="Calibri" charset="0"/>
                      </a:endParaRPr>
                    </a:p>
                  </a:txBody>
                  <a:tcPr marL="76200" marR="762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r>
              <a:tr h="0">
                <a:tc>
                  <a:txBody>
                    <a:bodyPr/>
                    <a:lstStyle/>
                    <a:p>
                      <a:pPr algn="ctr" indent="0" marL="0">
                        <a:buNone/>
                      </a:pPr>
                      <a:r>
                        <a:rPr lang="en-US" sz="1250" b="1" dirty="0">
                          <a:solidFill>
                            <a:srgbClr val="3A464C"/>
                          </a:solidFill>
                          <a:latin typeface="Calibri" pitchFamily="34" charset="0"/>
                          <a:ea typeface="Calibri" pitchFamily="34" charset="-122"/>
                          <a:cs typeface="Calibri" pitchFamily="34" charset="-120"/>
                        </a:rPr>
                        <a:t>3</a:t>
                      </a:r>
                      <a:endParaRPr lang="en-US" sz="1250" dirty="0">
                        <a:latin typeface="Calibri" charset="0"/>
                        <a:ea typeface="Calibri" charset="0"/>
                        <a:cs typeface="Calibri" charset="0"/>
                      </a:endParaRPr>
                    </a:p>
                  </a:txBody>
                  <a:tcPr marL="76200" marR="762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algn="l" indent="0" marL="0">
                        <a:buNone/>
                      </a:pPr>
                      <a:r>
                        <a:rPr lang="en-US" sz="1250" dirty="0">
                          <a:solidFill>
                            <a:srgbClr val="3A464C"/>
                          </a:solidFill>
                          <a:latin typeface="Calibri" pitchFamily="34" charset="0"/>
                          <a:ea typeface="Calibri" pitchFamily="34" charset="-122"/>
                          <a:cs typeface="Calibri" pitchFamily="34" charset="-120"/>
                        </a:rPr>
                        <a:t>add 1 (rax = 11)</a:t>
                      </a:r>
                      <a:endParaRPr lang="en-US" sz="1250" dirty="0">
                        <a:latin typeface="Calibri" charset="0"/>
                        <a:ea typeface="Calibri" charset="0"/>
                        <a:cs typeface="Calibri" charset="0"/>
                      </a:endParaRPr>
                    </a:p>
                  </a:txBody>
                  <a:tcPr marL="76200" marR="762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algn="l" indent="0" marL="0">
                        <a:buNone/>
                      </a:pPr>
                      <a:endParaRPr lang="en-US" sz="1250" dirty="0">
                        <a:latin typeface="Calibri" charset="0"/>
                        <a:ea typeface="Calibri" charset="0"/>
                        <a:cs typeface="Calibri" charset="0"/>
                      </a:endParaRPr>
                    </a:p>
                  </a:txBody>
                  <a:tcPr marL="76200" marR="762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algn="ctr" indent="0" marL="0">
                        <a:buNone/>
                      </a:pPr>
                      <a:r>
                        <a:rPr lang="en-US" sz="1250" dirty="0">
                          <a:solidFill>
                            <a:srgbClr val="3A464C"/>
                          </a:solidFill>
                          <a:latin typeface="Calibri" pitchFamily="34" charset="0"/>
                          <a:ea typeface="Calibri" pitchFamily="34" charset="-122"/>
                          <a:cs typeface="Calibri" pitchFamily="34" charset="-120"/>
                        </a:rPr>
                        <a:t>10</a:t>
                      </a:r>
                      <a:endParaRPr lang="en-US" sz="1250" dirty="0">
                        <a:latin typeface="Calibri" charset="0"/>
                        <a:ea typeface="Calibri" charset="0"/>
                        <a:cs typeface="Calibri" charset="0"/>
                      </a:endParaRPr>
                    </a:p>
                  </a:txBody>
                  <a:tcPr marL="76200" marR="762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r>
              <a:tr h="0">
                <a:tc>
                  <a:txBody>
                    <a:bodyPr/>
                    <a:lstStyle/>
                    <a:p>
                      <a:pPr algn="ctr" indent="0" marL="0">
                        <a:buNone/>
                      </a:pPr>
                      <a:r>
                        <a:rPr lang="en-US" sz="1250" b="1" dirty="0">
                          <a:solidFill>
                            <a:srgbClr val="3A464C"/>
                          </a:solidFill>
                          <a:latin typeface="Calibri" pitchFamily="34" charset="0"/>
                          <a:ea typeface="Calibri" pitchFamily="34" charset="-122"/>
                          <a:cs typeface="Calibri" pitchFamily="34" charset="-120"/>
                        </a:rPr>
                        <a:t>4</a:t>
                      </a:r>
                      <a:endParaRPr lang="en-US" sz="1250" dirty="0">
                        <a:latin typeface="Calibri" charset="0"/>
                        <a:ea typeface="Calibri" charset="0"/>
                        <a:cs typeface="Calibri" charset="0"/>
                      </a:endParaRPr>
                    </a:p>
                  </a:txBody>
                  <a:tcPr marL="76200" marR="762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algn="l" indent="0" marL="0">
                        <a:buNone/>
                      </a:pPr>
                      <a:endParaRPr lang="en-US" sz="1250" dirty="0">
                        <a:latin typeface="Calibri" charset="0"/>
                        <a:ea typeface="Calibri" charset="0"/>
                        <a:cs typeface="Calibri" charset="0"/>
                      </a:endParaRPr>
                    </a:p>
                  </a:txBody>
                  <a:tcPr marL="76200" marR="762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algn="l" indent="0" marL="0">
                        <a:buNone/>
                      </a:pPr>
                      <a:r>
                        <a:rPr lang="en-US" sz="1250" dirty="0">
                          <a:solidFill>
                            <a:srgbClr val="3A464C"/>
                          </a:solidFill>
                          <a:latin typeface="Calibri" pitchFamily="34" charset="0"/>
                          <a:ea typeface="Calibri" pitchFamily="34" charset="-122"/>
                          <a:cs typeface="Calibri" pitchFamily="34" charset="-120"/>
                        </a:rPr>
                        <a:t>add −1 (rax = 9)</a:t>
                      </a:r>
                      <a:endParaRPr lang="en-US" sz="1250" dirty="0">
                        <a:latin typeface="Calibri" charset="0"/>
                        <a:ea typeface="Calibri" charset="0"/>
                        <a:cs typeface="Calibri" charset="0"/>
                      </a:endParaRPr>
                    </a:p>
                  </a:txBody>
                  <a:tcPr marL="76200" marR="762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3A464C"/>
                          </a:solidFill>
                          <a:latin typeface="Calibri" pitchFamily="34" charset="0"/>
                          <a:ea typeface="Calibri" pitchFamily="34" charset="-122"/>
                          <a:cs typeface="Calibri" pitchFamily="34" charset="-120"/>
                        </a:rPr>
                        <a:t>10</a:t>
                      </a:r>
                      <a:endParaRPr lang="en-US" sz="1250" dirty="0">
                        <a:latin typeface="Calibri" charset="0"/>
                        <a:ea typeface="Calibri" charset="0"/>
                        <a:cs typeface="Calibri" charset="0"/>
                      </a:endParaRPr>
                    </a:p>
                  </a:txBody>
                  <a:tcPr marL="76200" marR="762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r>
              <a:tr h="0">
                <a:tc>
                  <a:txBody>
                    <a:bodyPr/>
                    <a:lstStyle/>
                    <a:p>
                      <a:pPr algn="ctr" indent="0" marL="0">
                        <a:buNone/>
                      </a:pPr>
                      <a:r>
                        <a:rPr lang="en-US" sz="1250" b="1" dirty="0">
                          <a:solidFill>
                            <a:srgbClr val="3A464C"/>
                          </a:solidFill>
                          <a:latin typeface="Calibri" pitchFamily="34" charset="0"/>
                          <a:ea typeface="Calibri" pitchFamily="34" charset="-122"/>
                          <a:cs typeface="Calibri" pitchFamily="34" charset="-120"/>
                        </a:rPr>
                        <a:t>5</a:t>
                      </a:r>
                      <a:endParaRPr lang="en-US" sz="1250" dirty="0">
                        <a:latin typeface="Calibri" charset="0"/>
                        <a:ea typeface="Calibri" charset="0"/>
                        <a:cs typeface="Calibri" charset="0"/>
                      </a:endParaRPr>
                    </a:p>
                  </a:txBody>
                  <a:tcPr marL="76200" marR="762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algn="l" indent="0" marL="0">
                        <a:buNone/>
                      </a:pPr>
                      <a:r>
                        <a:rPr lang="en-US" sz="1250" dirty="0">
                          <a:solidFill>
                            <a:srgbClr val="3A464C"/>
                          </a:solidFill>
                          <a:latin typeface="Calibri" pitchFamily="34" charset="0"/>
                          <a:ea typeface="Calibri" pitchFamily="34" charset="-122"/>
                          <a:cs typeface="Calibri" pitchFamily="34" charset="-120"/>
                        </a:rPr>
                        <a:t>store</a:t>
                      </a:r>
                      <a:endParaRPr lang="en-US" sz="1250" dirty="0">
                        <a:latin typeface="Calibri" charset="0"/>
                        <a:ea typeface="Calibri" charset="0"/>
                        <a:cs typeface="Calibri" charset="0"/>
                      </a:endParaRPr>
                    </a:p>
                  </a:txBody>
                  <a:tcPr marL="76200" marR="762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algn="l" indent="0" marL="0">
                        <a:buNone/>
                      </a:pPr>
                      <a:endParaRPr lang="en-US" sz="1250" dirty="0">
                        <a:latin typeface="Calibri" charset="0"/>
                        <a:ea typeface="Calibri" charset="0"/>
                        <a:cs typeface="Calibri" charset="0"/>
                      </a:endParaRPr>
                    </a:p>
                  </a:txBody>
                  <a:tcPr marL="76200" marR="762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algn="ctr" indent="0" marL="0">
                        <a:buNone/>
                      </a:pPr>
                      <a:r>
                        <a:rPr lang="en-US" sz="1250" dirty="0">
                          <a:solidFill>
                            <a:srgbClr val="3A464C"/>
                          </a:solidFill>
                          <a:latin typeface="Calibri" pitchFamily="34" charset="0"/>
                          <a:ea typeface="Calibri" pitchFamily="34" charset="-122"/>
                          <a:cs typeface="Calibri" pitchFamily="34" charset="-120"/>
                        </a:rPr>
                        <a:t>11</a:t>
                      </a:r>
                      <a:endParaRPr lang="en-US" sz="1250" dirty="0">
                        <a:latin typeface="Calibri" charset="0"/>
                        <a:ea typeface="Calibri" charset="0"/>
                        <a:cs typeface="Calibri" charset="0"/>
                      </a:endParaRPr>
                    </a:p>
                  </a:txBody>
                  <a:tcPr marL="76200" marR="762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r>
              <a:tr h="0">
                <a:tc>
                  <a:txBody>
                    <a:bodyPr/>
                    <a:lstStyle/>
                    <a:p>
                      <a:pPr algn="ctr" indent="0" marL="0">
                        <a:buNone/>
                      </a:pPr>
                      <a:r>
                        <a:rPr lang="en-US" sz="1250" b="1" dirty="0">
                          <a:solidFill>
                            <a:srgbClr val="3A464C"/>
                          </a:solidFill>
                          <a:latin typeface="Calibri" pitchFamily="34" charset="0"/>
                          <a:ea typeface="Calibri" pitchFamily="34" charset="-122"/>
                          <a:cs typeface="Calibri" pitchFamily="34" charset="-120"/>
                        </a:rPr>
                        <a:t>6</a:t>
                      </a:r>
                      <a:endParaRPr lang="en-US" sz="1250" dirty="0">
                        <a:latin typeface="Calibri" charset="0"/>
                        <a:ea typeface="Calibri" charset="0"/>
                        <a:cs typeface="Calibri" charset="0"/>
                      </a:endParaRPr>
                    </a:p>
                  </a:txBody>
                  <a:tcPr marL="76200" marR="762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algn="l" indent="0" marL="0">
                        <a:buNone/>
                      </a:pPr>
                      <a:endParaRPr lang="en-US" sz="1250" dirty="0">
                        <a:latin typeface="Calibri" charset="0"/>
                        <a:ea typeface="Calibri" charset="0"/>
                        <a:cs typeface="Calibri" charset="0"/>
                      </a:endParaRPr>
                    </a:p>
                  </a:txBody>
                  <a:tcPr marL="76200" marR="762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algn="l" indent="0" marL="0">
                        <a:buNone/>
                      </a:pPr>
                      <a:r>
                        <a:rPr lang="en-US" sz="1250" dirty="0">
                          <a:solidFill>
                            <a:srgbClr val="3A464C"/>
                          </a:solidFill>
                          <a:latin typeface="Calibri" pitchFamily="34" charset="0"/>
                          <a:ea typeface="Calibri" pitchFamily="34" charset="-122"/>
                          <a:cs typeface="Calibri" pitchFamily="34" charset="-120"/>
                        </a:rPr>
                        <a:t>store</a:t>
                      </a:r>
                      <a:endParaRPr lang="en-US" sz="1250" dirty="0">
                        <a:latin typeface="Calibri" charset="0"/>
                        <a:ea typeface="Calibri" charset="0"/>
                        <a:cs typeface="Calibri" charset="0"/>
                      </a:endParaRPr>
                    </a:p>
                  </a:txBody>
                  <a:tcPr marL="76200" marR="762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3A464C"/>
                          </a:solidFill>
                          <a:latin typeface="Calibri" pitchFamily="34" charset="0"/>
                          <a:ea typeface="Calibri" pitchFamily="34" charset="-122"/>
                          <a:cs typeface="Calibri" pitchFamily="34" charset="-120"/>
                        </a:rPr>
                        <a:t>9  (should be 10)</a:t>
                      </a:r>
                      <a:endParaRPr lang="en-US" sz="1250" dirty="0">
                        <a:latin typeface="Calibri" charset="0"/>
                        <a:ea typeface="Calibri" charset="0"/>
                        <a:cs typeface="Calibri" charset="0"/>
                      </a:endParaRPr>
                    </a:p>
                  </a:txBody>
                  <a:tcPr marL="76200" marR="762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r>
            </a:tbl>
          </a:graphicData>
        </a:graphic>
      </p:graphicFrame>
      <p:sp>
        <p:nvSpPr>
          <p:cNvPr id="7" name="Shape 4"/>
          <p:cNvSpPr/>
          <p:nvPr/>
        </p:nvSpPr>
        <p:spPr>
          <a:xfrm>
            <a:off x="548640" y="4572000"/>
            <a:ext cx="5852160" cy="1691640"/>
          </a:xfrm>
          <a:prstGeom prst="roundRect">
            <a:avLst>
              <a:gd name="adj" fmla="val 3243"/>
            </a:avLst>
          </a:prstGeom>
          <a:solidFill>
            <a:srgbClr val="36454F"/>
          </a:solidFill>
          <a:ln/>
          <a:effectLst>
            <a:outerShdw sx="100000" sy="100000" kx="0" ky="0" algn="bl" rotWithShape="0" blurRad="101600" dist="25400" dir="5400000">
              <a:srgbClr val="000000">
                <a:alpha val="12000"/>
              </a:srgbClr>
            </a:outerShdw>
          </a:effectLst>
        </p:spPr>
        <p:txBody>
          <a:bodyPr/>
          <a:p/>
        </p:txBody>
      </p:sp>
      <p:sp>
        <p:nvSpPr>
          <p:cNvPr id="8" name="Text 5"/>
          <p:cNvSpPr txBox="1"/>
          <p:nvPr/>
        </p:nvSpPr>
        <p:spPr>
          <a:xfrm>
            <a:off x="777240" y="4572000"/>
            <a:ext cx="5394960" cy="1691640"/>
          </a:xfrm>
          <a:prstGeom prst="rect">
            <a:avLst/>
          </a:prstGeom>
          <a:noFill/>
          <a:ln/>
        </p:spPr>
        <p:txBody>
          <a:bodyPr wrap="square" lIns="0" tIns="0" rIns="0" bIns="0" rtlCol="0" anchor="ctr"/>
          <a:lstStyle/>
          <a:p>
            <a:pPr indent="0" marL="0">
              <a:buNone/>
            </a:pPr>
            <a:r>
              <a:rPr lang="en-US" sz="1400" dirty="0">
                <a:solidFill>
                  <a:srgbClr val="F2F2F2"/>
                </a:solidFill>
                <a:latin typeface="Calibri" pitchFamily="34" charset="0"/>
                <a:ea typeface="Calibri" pitchFamily="34" charset="-122"/>
                <a:cs typeface="Calibri" pitchFamily="34" charset="-120"/>
              </a:rPr>
              <a:t>All 20 interleavings of the six steps, checked: counter ends at 9 (9 orders), 10 (2 orders) or 11 (9 orders). Only 2 of 20 orders are correct!</a:t>
            </a:r>
            <a:endParaRPr lang="en-US" sz="1400" dirty="0"/>
          </a:p>
        </p:txBody>
      </p:sp>
      <p:graphicFrame>
        <p:nvGraphicFramePr>
          <p:cNvPr id="53" name="Table 1"/>
          <p:cNvGraphicFramePr>
            <a:graphicFrameLocks noGrp="1"/>
          </p:cNvGraphicFramePr>
          <p:nvPr>
            <p:extLst>
              <p:ext uri="{D42A27DB-BD31-4B8C-83A1-F6EECF244321}">
                <p14:modId xmlns:p14="http://schemas.microsoft.com/office/powerpoint/2010/main" val="1579011935"/>
              </p:ext>
            </p:extLst>
          </p:nvPr>
        </p:nvGraphicFramePr>
        <p:xfrm>
          <a:off x="6629400" y="1554480"/>
          <a:ext cx="5029200" cy="914400"/>
        </p:xfrm>
        <a:graphic>
          <a:graphicData uri="http://schemas.openxmlformats.org/drawingml/2006/table">
            <a:tbl>
              <a:tblPr/>
              <a:tblGrid>
                <a:gridCol w="1783080"/>
                <a:gridCol w="960120"/>
                <a:gridCol w="2286000"/>
              </a:tblGrid>
              <a:tr h="0">
                <a:tc>
                  <a:txBody>
                    <a:bodyPr/>
                    <a:lstStyle/>
                    <a:p>
                      <a:pPr algn="l" indent="0" marL="0">
                        <a:buNone/>
                      </a:pPr>
                      <a:r>
                        <a:rPr lang="en-US" sz="1250" b="1" dirty="0">
                          <a:solidFill>
                            <a:srgbClr val="FFFFFF"/>
                          </a:solidFill>
                          <a:latin typeface="Cambria" pitchFamily="34" charset="0"/>
                          <a:ea typeface="Cambria" pitchFamily="34" charset="-122"/>
                          <a:cs typeface="Cambria" pitchFamily="34" charset="-120"/>
                        </a:rPr>
                        <a:t>Event</a:t>
                      </a:r>
                      <a:endParaRPr lang="en-US" sz="1250" dirty="0">
                        <a:latin typeface="Cambria" charset="0"/>
                        <a:ea typeface="Cambria" charset="0"/>
                        <a:cs typeface="Cambria" charset="0"/>
                      </a:endParaRPr>
                    </a:p>
                  </a:txBody>
                  <a:tcPr marL="76200" marR="762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36454F"/>
                    </a:solidFill>
                  </a:tcPr>
                </a:tc>
                <a:tc>
                  <a:txBody>
                    <a:bodyPr/>
                    <a:lstStyle/>
                    <a:p>
                      <a:pPr algn="ctr" indent="0" marL="0">
                        <a:buNone/>
                      </a:pPr>
                      <a:r>
                        <a:rPr lang="en-US" sz="1250" b="1" dirty="0">
                          <a:solidFill>
                            <a:srgbClr val="FFFFFF"/>
                          </a:solidFill>
                          <a:latin typeface="Cambria" pitchFamily="34" charset="0"/>
                          <a:ea typeface="Cambria" pitchFamily="34" charset="-122"/>
                          <a:cs typeface="Cambria" pitchFamily="34" charset="-120"/>
                        </a:rPr>
                        <a:t>S</a:t>
                      </a:r>
                      <a:endParaRPr lang="en-US" sz="1250" dirty="0">
                        <a:latin typeface="Cambria" charset="0"/>
                        <a:ea typeface="Cambria" charset="0"/>
                        <a:cs typeface="Cambria" charset="0"/>
                      </a:endParaRPr>
                    </a:p>
                  </a:txBody>
                  <a:tcPr marL="76200" marR="762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36454F"/>
                    </a:solidFill>
                  </a:tcPr>
                </a:tc>
                <a:tc>
                  <a:txBody>
                    <a:bodyPr/>
                    <a:lstStyle/>
                    <a:p>
                      <a:pPr algn="l" indent="0" marL="0">
                        <a:buNone/>
                      </a:pPr>
                      <a:r>
                        <a:rPr lang="en-US" sz="1250" b="1" dirty="0">
                          <a:solidFill>
                            <a:srgbClr val="FFFFFF"/>
                          </a:solidFill>
                          <a:latin typeface="Cambria" pitchFamily="34" charset="0"/>
                          <a:ea typeface="Cambria" pitchFamily="34" charset="-122"/>
                          <a:cs typeface="Cambria" pitchFamily="34" charset="-120"/>
                        </a:rPr>
                        <a:t>Result</a:t>
                      </a:r>
                      <a:endParaRPr lang="en-US" sz="1250" dirty="0">
                        <a:latin typeface="Cambria" charset="0"/>
                        <a:ea typeface="Cambria" charset="0"/>
                        <a:cs typeface="Cambria" charset="0"/>
                      </a:endParaRPr>
                    </a:p>
                  </a:txBody>
                  <a:tcPr marL="76200" marR="762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36454F"/>
                    </a:solidFill>
                  </a:tcPr>
                </a:tc>
              </a:tr>
              <a:tr h="0">
                <a:tc>
                  <a:txBody>
                    <a:bodyPr/>
                    <a:lstStyle/>
                    <a:p>
                      <a:pPr algn="l" indent="0" marL="0">
                        <a:buNone/>
                      </a:pPr>
                      <a:r>
                        <a:rPr lang="en-US" sz="1250" b="1" dirty="0">
                          <a:solidFill>
                            <a:srgbClr val="3A464C"/>
                          </a:solidFill>
                          <a:latin typeface="Calibri" pitchFamily="34" charset="0"/>
                          <a:ea typeface="Calibri" pitchFamily="34" charset="-122"/>
                          <a:cs typeface="Calibri" pitchFamily="34" charset="-120"/>
                        </a:rPr>
                        <a:t>start (2 printers)</a:t>
                      </a:r>
                      <a:endParaRPr lang="en-US" sz="1250" dirty="0">
                        <a:latin typeface="Calibri" charset="0"/>
                        <a:ea typeface="Calibri" charset="0"/>
                        <a:cs typeface="Calibri" charset="0"/>
                      </a:endParaRPr>
                    </a:p>
                  </a:txBody>
                  <a:tcPr marL="76200" marR="762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algn="ctr" indent="0" marL="0">
                        <a:buNone/>
                      </a:pPr>
                      <a:r>
                        <a:rPr lang="en-US" sz="1250" dirty="0">
                          <a:solidFill>
                            <a:srgbClr val="3A464C"/>
                          </a:solidFill>
                          <a:latin typeface="Calibri" pitchFamily="34" charset="0"/>
                          <a:ea typeface="Calibri" pitchFamily="34" charset="-122"/>
                          <a:cs typeface="Calibri" pitchFamily="34" charset="-120"/>
                        </a:rPr>
                        <a:t>2</a:t>
                      </a:r>
                      <a:endParaRPr lang="en-US" sz="1250" dirty="0">
                        <a:latin typeface="Calibri" charset="0"/>
                        <a:ea typeface="Calibri" charset="0"/>
                        <a:cs typeface="Calibri" charset="0"/>
                      </a:endParaRPr>
                    </a:p>
                  </a:txBody>
                  <a:tcPr marL="76200" marR="762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algn="l" indent="0" marL="0">
                        <a:buNone/>
                      </a:pPr>
                      <a:endParaRPr lang="en-US" sz="1250" dirty="0">
                        <a:latin typeface="Calibri" charset="0"/>
                        <a:ea typeface="Calibri" charset="0"/>
                        <a:cs typeface="Calibri" charset="0"/>
                      </a:endParaRPr>
                    </a:p>
                  </a:txBody>
                  <a:tcPr marL="76200" marR="762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r>
              <a:tr h="0">
                <a:tc>
                  <a:txBody>
                    <a:bodyPr/>
                    <a:lstStyle/>
                    <a:p>
                      <a:pPr algn="l" indent="0" marL="0">
                        <a:buNone/>
                      </a:pPr>
                      <a:r>
                        <a:rPr lang="en-US" sz="1250" b="1" dirty="0">
                          <a:solidFill>
                            <a:srgbClr val="3A464C"/>
                          </a:solidFill>
                          <a:latin typeface="Calibri" pitchFamily="34" charset="0"/>
                          <a:ea typeface="Calibri" pitchFamily="34" charset="-122"/>
                          <a:cs typeface="Calibri" pitchFamily="34" charset="-120"/>
                        </a:rPr>
                        <a:t>T1 wait</a:t>
                      </a:r>
                      <a:endParaRPr lang="en-US" sz="1250" dirty="0">
                        <a:latin typeface="Calibri" charset="0"/>
                        <a:ea typeface="Calibri" charset="0"/>
                        <a:cs typeface="Calibri" charset="0"/>
                      </a:endParaRPr>
                    </a:p>
                  </a:txBody>
                  <a:tcPr marL="76200" marR="762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3A464C"/>
                          </a:solidFill>
                          <a:latin typeface="Calibri" pitchFamily="34" charset="0"/>
                          <a:ea typeface="Calibri" pitchFamily="34" charset="-122"/>
                          <a:cs typeface="Calibri" pitchFamily="34" charset="-120"/>
                        </a:rPr>
                        <a:t>1</a:t>
                      </a:r>
                      <a:endParaRPr lang="en-US" sz="1250" dirty="0">
                        <a:latin typeface="Calibri" charset="0"/>
                        <a:ea typeface="Calibri" charset="0"/>
                        <a:cs typeface="Calibri" charset="0"/>
                      </a:endParaRPr>
                    </a:p>
                  </a:txBody>
                  <a:tcPr marL="76200" marR="762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algn="l" indent="0" marL="0">
                        <a:buNone/>
                      </a:pPr>
                      <a:r>
                        <a:rPr lang="en-US" sz="1250" dirty="0">
                          <a:solidFill>
                            <a:srgbClr val="3A464C"/>
                          </a:solidFill>
                          <a:latin typeface="Calibri" pitchFamily="34" charset="0"/>
                          <a:ea typeface="Calibri" pitchFamily="34" charset="-122"/>
                          <a:cs typeface="Calibri" pitchFamily="34" charset="-120"/>
                        </a:rPr>
                        <a:t>T1 enters</a:t>
                      </a:r>
                      <a:endParaRPr lang="en-US" sz="1250" dirty="0">
                        <a:latin typeface="Calibri" charset="0"/>
                        <a:ea typeface="Calibri" charset="0"/>
                        <a:cs typeface="Calibri" charset="0"/>
                      </a:endParaRPr>
                    </a:p>
                  </a:txBody>
                  <a:tcPr marL="76200" marR="762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r>
              <a:tr h="0">
                <a:tc>
                  <a:txBody>
                    <a:bodyPr/>
                    <a:lstStyle/>
                    <a:p>
                      <a:pPr algn="l" indent="0" marL="0">
                        <a:buNone/>
                      </a:pPr>
                      <a:r>
                        <a:rPr lang="en-US" sz="1250" b="1" dirty="0">
                          <a:solidFill>
                            <a:srgbClr val="3A464C"/>
                          </a:solidFill>
                          <a:latin typeface="Calibri" pitchFamily="34" charset="0"/>
                          <a:ea typeface="Calibri" pitchFamily="34" charset="-122"/>
                          <a:cs typeface="Calibri" pitchFamily="34" charset="-120"/>
                        </a:rPr>
                        <a:t>T2 wait</a:t>
                      </a:r>
                      <a:endParaRPr lang="en-US" sz="1250" dirty="0">
                        <a:latin typeface="Calibri" charset="0"/>
                        <a:ea typeface="Calibri" charset="0"/>
                        <a:cs typeface="Calibri" charset="0"/>
                      </a:endParaRPr>
                    </a:p>
                  </a:txBody>
                  <a:tcPr marL="76200" marR="762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algn="ctr" indent="0" marL="0">
                        <a:buNone/>
                      </a:pPr>
                      <a:r>
                        <a:rPr lang="en-US" sz="1250" dirty="0">
                          <a:solidFill>
                            <a:srgbClr val="3A464C"/>
                          </a:solidFill>
                          <a:latin typeface="Calibri" pitchFamily="34" charset="0"/>
                          <a:ea typeface="Calibri" pitchFamily="34" charset="-122"/>
                          <a:cs typeface="Calibri" pitchFamily="34" charset="-120"/>
                        </a:rPr>
                        <a:t>0</a:t>
                      </a:r>
                      <a:endParaRPr lang="en-US" sz="1250" dirty="0">
                        <a:latin typeface="Calibri" charset="0"/>
                        <a:ea typeface="Calibri" charset="0"/>
                        <a:cs typeface="Calibri" charset="0"/>
                      </a:endParaRPr>
                    </a:p>
                  </a:txBody>
                  <a:tcPr marL="76200" marR="762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algn="l" indent="0" marL="0">
                        <a:buNone/>
                      </a:pPr>
                      <a:r>
                        <a:rPr lang="en-US" sz="1250" dirty="0">
                          <a:solidFill>
                            <a:srgbClr val="3A464C"/>
                          </a:solidFill>
                          <a:latin typeface="Calibri" pitchFamily="34" charset="0"/>
                          <a:ea typeface="Calibri" pitchFamily="34" charset="-122"/>
                          <a:cs typeface="Calibri" pitchFamily="34" charset="-120"/>
                        </a:rPr>
                        <a:t>T2 enters</a:t>
                      </a:r>
                      <a:endParaRPr lang="en-US" sz="1250" dirty="0">
                        <a:latin typeface="Calibri" charset="0"/>
                        <a:ea typeface="Calibri" charset="0"/>
                        <a:cs typeface="Calibri" charset="0"/>
                      </a:endParaRPr>
                    </a:p>
                  </a:txBody>
                  <a:tcPr marL="76200" marR="762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r>
              <a:tr h="0">
                <a:tc>
                  <a:txBody>
                    <a:bodyPr/>
                    <a:lstStyle/>
                    <a:p>
                      <a:pPr algn="l" indent="0" marL="0">
                        <a:buNone/>
                      </a:pPr>
                      <a:r>
                        <a:rPr lang="en-US" sz="1250" b="1" dirty="0">
                          <a:solidFill>
                            <a:srgbClr val="3A464C"/>
                          </a:solidFill>
                          <a:latin typeface="Calibri" pitchFamily="34" charset="0"/>
                          <a:ea typeface="Calibri" pitchFamily="34" charset="-122"/>
                          <a:cs typeface="Calibri" pitchFamily="34" charset="-120"/>
                        </a:rPr>
                        <a:t>T3 wait</a:t>
                      </a:r>
                      <a:endParaRPr lang="en-US" sz="1250" dirty="0">
                        <a:latin typeface="Calibri" charset="0"/>
                        <a:ea typeface="Calibri" charset="0"/>
                        <a:cs typeface="Calibri" charset="0"/>
                      </a:endParaRPr>
                    </a:p>
                  </a:txBody>
                  <a:tcPr marL="76200" marR="762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3A464C"/>
                          </a:solidFill>
                          <a:latin typeface="Calibri" pitchFamily="34" charset="0"/>
                          <a:ea typeface="Calibri" pitchFamily="34" charset="-122"/>
                          <a:cs typeface="Calibri" pitchFamily="34" charset="-120"/>
                        </a:rPr>
                        <a:t>0</a:t>
                      </a:r>
                      <a:endParaRPr lang="en-US" sz="1250" dirty="0">
                        <a:latin typeface="Calibri" charset="0"/>
                        <a:ea typeface="Calibri" charset="0"/>
                        <a:cs typeface="Calibri" charset="0"/>
                      </a:endParaRPr>
                    </a:p>
                  </a:txBody>
                  <a:tcPr marL="76200" marR="762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algn="l" indent="0" marL="0">
                        <a:buNone/>
                      </a:pPr>
                      <a:r>
                        <a:rPr lang="en-US" sz="1250" dirty="0">
                          <a:solidFill>
                            <a:srgbClr val="3A464C"/>
                          </a:solidFill>
                          <a:latin typeface="Calibri" pitchFamily="34" charset="0"/>
                          <a:ea typeface="Calibri" pitchFamily="34" charset="-122"/>
                          <a:cs typeface="Calibri" pitchFamily="34" charset="-120"/>
                        </a:rPr>
                        <a:t>T3 blocks</a:t>
                      </a:r>
                      <a:endParaRPr lang="en-US" sz="1250" dirty="0">
                        <a:latin typeface="Calibri" charset="0"/>
                        <a:ea typeface="Calibri" charset="0"/>
                        <a:cs typeface="Calibri" charset="0"/>
                      </a:endParaRPr>
                    </a:p>
                  </a:txBody>
                  <a:tcPr marL="76200" marR="762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r>
              <a:tr h="0">
                <a:tc>
                  <a:txBody>
                    <a:bodyPr/>
                    <a:lstStyle/>
                    <a:p>
                      <a:pPr algn="l" indent="0" marL="0">
                        <a:buNone/>
                      </a:pPr>
                      <a:r>
                        <a:rPr lang="en-US" sz="1250" b="1" dirty="0">
                          <a:solidFill>
                            <a:srgbClr val="3A464C"/>
                          </a:solidFill>
                          <a:latin typeface="Calibri" pitchFamily="34" charset="0"/>
                          <a:ea typeface="Calibri" pitchFamily="34" charset="-122"/>
                          <a:cs typeface="Calibri" pitchFamily="34" charset="-120"/>
                        </a:rPr>
                        <a:t>T1 signal</a:t>
                      </a:r>
                      <a:endParaRPr lang="en-US" sz="1250" dirty="0">
                        <a:latin typeface="Calibri" charset="0"/>
                        <a:ea typeface="Calibri" charset="0"/>
                        <a:cs typeface="Calibri" charset="0"/>
                      </a:endParaRPr>
                    </a:p>
                  </a:txBody>
                  <a:tcPr marL="76200" marR="762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algn="ctr" indent="0" marL="0">
                        <a:buNone/>
                      </a:pPr>
                      <a:r>
                        <a:rPr lang="en-US" sz="1250" dirty="0">
                          <a:solidFill>
                            <a:srgbClr val="3A464C"/>
                          </a:solidFill>
                          <a:latin typeface="Calibri" pitchFamily="34" charset="0"/>
                          <a:ea typeface="Calibri" pitchFamily="34" charset="-122"/>
                          <a:cs typeface="Calibri" pitchFamily="34" charset="-120"/>
                        </a:rPr>
                        <a:t>1 → 0</a:t>
                      </a:r>
                      <a:endParaRPr lang="en-US" sz="1250" dirty="0">
                        <a:latin typeface="Calibri" charset="0"/>
                        <a:ea typeface="Calibri" charset="0"/>
                        <a:cs typeface="Calibri" charset="0"/>
                      </a:endParaRPr>
                    </a:p>
                  </a:txBody>
                  <a:tcPr marL="76200" marR="762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algn="l" indent="0" marL="0">
                        <a:buNone/>
                      </a:pPr>
                      <a:r>
                        <a:rPr lang="en-US" sz="1250" dirty="0">
                          <a:solidFill>
                            <a:srgbClr val="3A464C"/>
                          </a:solidFill>
                          <a:latin typeface="Calibri" pitchFamily="34" charset="0"/>
                          <a:ea typeface="Calibri" pitchFamily="34" charset="-122"/>
                          <a:cs typeface="Calibri" pitchFamily="34" charset="-120"/>
                        </a:rPr>
                        <a:t>T3 enters</a:t>
                      </a:r>
                      <a:endParaRPr lang="en-US" sz="1250" dirty="0">
                        <a:latin typeface="Calibri" charset="0"/>
                        <a:ea typeface="Calibri" charset="0"/>
                        <a:cs typeface="Calibri" charset="0"/>
                      </a:endParaRPr>
                    </a:p>
                  </a:txBody>
                  <a:tcPr marL="76200" marR="762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r>
              <a:tr h="0">
                <a:tc>
                  <a:txBody>
                    <a:bodyPr/>
                    <a:lstStyle/>
                    <a:p>
                      <a:pPr algn="l" indent="0" marL="0">
                        <a:buNone/>
                      </a:pPr>
                      <a:r>
                        <a:rPr lang="en-US" sz="1250" b="1" dirty="0">
                          <a:solidFill>
                            <a:srgbClr val="3A464C"/>
                          </a:solidFill>
                          <a:latin typeface="Calibri" pitchFamily="34" charset="0"/>
                          <a:ea typeface="Calibri" pitchFamily="34" charset="-122"/>
                          <a:cs typeface="Calibri" pitchFamily="34" charset="-120"/>
                        </a:rPr>
                        <a:t>T2 signal</a:t>
                      </a:r>
                      <a:endParaRPr lang="en-US" sz="1250" dirty="0">
                        <a:latin typeface="Calibri" charset="0"/>
                        <a:ea typeface="Calibri" charset="0"/>
                        <a:cs typeface="Calibri" charset="0"/>
                      </a:endParaRPr>
                    </a:p>
                  </a:txBody>
                  <a:tcPr marL="76200" marR="762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3A464C"/>
                          </a:solidFill>
                          <a:latin typeface="Calibri" pitchFamily="34" charset="0"/>
                          <a:ea typeface="Calibri" pitchFamily="34" charset="-122"/>
                          <a:cs typeface="Calibri" pitchFamily="34" charset="-120"/>
                        </a:rPr>
                        <a:t>1</a:t>
                      </a:r>
                      <a:endParaRPr lang="en-US" sz="1250" dirty="0">
                        <a:latin typeface="Calibri" charset="0"/>
                        <a:ea typeface="Calibri" charset="0"/>
                        <a:cs typeface="Calibri" charset="0"/>
                      </a:endParaRPr>
                    </a:p>
                  </a:txBody>
                  <a:tcPr marL="76200" marR="762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algn="l" indent="0" marL="0">
                        <a:buNone/>
                      </a:pPr>
                      <a:endParaRPr lang="en-US" sz="1250" dirty="0">
                        <a:latin typeface="Calibri" charset="0"/>
                        <a:ea typeface="Calibri" charset="0"/>
                        <a:cs typeface="Calibri" charset="0"/>
                      </a:endParaRPr>
                    </a:p>
                  </a:txBody>
                  <a:tcPr marL="76200" marR="762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r>
              <a:tr h="0">
                <a:tc>
                  <a:txBody>
                    <a:bodyPr/>
                    <a:lstStyle/>
                    <a:p>
                      <a:pPr algn="l" indent="0" marL="0">
                        <a:buNone/>
                      </a:pPr>
                      <a:r>
                        <a:rPr lang="en-US" sz="1250" b="1" dirty="0">
                          <a:solidFill>
                            <a:srgbClr val="3A464C"/>
                          </a:solidFill>
                          <a:latin typeface="Calibri" pitchFamily="34" charset="0"/>
                          <a:ea typeface="Calibri" pitchFamily="34" charset="-122"/>
                          <a:cs typeface="Calibri" pitchFamily="34" charset="-120"/>
                        </a:rPr>
                        <a:t>T3 signal</a:t>
                      </a:r>
                      <a:endParaRPr lang="en-US" sz="1250" dirty="0">
                        <a:latin typeface="Calibri" charset="0"/>
                        <a:ea typeface="Calibri" charset="0"/>
                        <a:cs typeface="Calibri" charset="0"/>
                      </a:endParaRPr>
                    </a:p>
                  </a:txBody>
                  <a:tcPr marL="76200" marR="762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algn="ctr" indent="0" marL="0">
                        <a:buNone/>
                      </a:pPr>
                      <a:r>
                        <a:rPr lang="en-US" sz="1250" dirty="0">
                          <a:solidFill>
                            <a:srgbClr val="3A464C"/>
                          </a:solidFill>
                          <a:latin typeface="Calibri" pitchFamily="34" charset="0"/>
                          <a:ea typeface="Calibri" pitchFamily="34" charset="-122"/>
                          <a:cs typeface="Calibri" pitchFamily="34" charset="-120"/>
                        </a:rPr>
                        <a:t>2</a:t>
                      </a:r>
                      <a:endParaRPr lang="en-US" sz="1250" dirty="0">
                        <a:latin typeface="Calibri" charset="0"/>
                        <a:ea typeface="Calibri" charset="0"/>
                        <a:cs typeface="Calibri" charset="0"/>
                      </a:endParaRPr>
                    </a:p>
                  </a:txBody>
                  <a:tcPr marL="76200" marR="762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algn="l" indent="0" marL="0">
                        <a:buNone/>
                      </a:pPr>
                      <a:r>
                        <a:rPr lang="en-US" sz="1250" dirty="0">
                          <a:solidFill>
                            <a:srgbClr val="3A464C"/>
                          </a:solidFill>
                          <a:latin typeface="Calibri" pitchFamily="34" charset="0"/>
                          <a:ea typeface="Calibri" pitchFamily="34" charset="-122"/>
                          <a:cs typeface="Calibri" pitchFamily="34" charset="-120"/>
                        </a:rPr>
                        <a:t>all done</a:t>
                      </a:r>
                      <a:endParaRPr lang="en-US" sz="1250" dirty="0">
                        <a:latin typeface="Calibri" charset="0"/>
                        <a:ea typeface="Calibri" charset="0"/>
                        <a:cs typeface="Calibri" charset="0"/>
                      </a:endParaRPr>
                    </a:p>
                  </a:txBody>
                  <a:tcPr marL="76200" marR="762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r>
            </a:tbl>
          </a:graphicData>
        </a:graphic>
      </p:graphicFrame>
      <p:sp>
        <p:nvSpPr>
          <p:cNvPr id="10" name="Text 6"/>
          <p:cNvSpPr txBox="1"/>
          <p:nvPr/>
        </p:nvSpPr>
        <p:spPr>
          <a:xfrm>
            <a:off x="6629400" y="4937760"/>
            <a:ext cx="5029200" cy="548640"/>
          </a:xfrm>
          <a:prstGeom prst="rect">
            <a:avLst/>
          </a:prstGeom>
          <a:noFill/>
          <a:ln/>
        </p:spPr>
        <p:txBody>
          <a:bodyPr wrap="square" lIns="0" tIns="0" rIns="0" bIns="0" rtlCol="0" anchor="t"/>
          <a:lstStyle/>
          <a:p>
            <a:pPr indent="0" marL="0">
              <a:buNone/>
            </a:pPr>
            <a:r>
              <a:rPr lang="en-US" sz="1300" i="1" dirty="0">
                <a:solidFill>
                  <a:srgbClr val="6B7679"/>
                </a:solidFill>
                <a:latin typeface="Calibri" pitchFamily="34" charset="0"/>
                <a:ea typeface="Calibri" pitchFamily="34" charset="-122"/>
                <a:cs typeface="Calibri" pitchFamily="34" charset="-120"/>
              </a:rPr>
              <a:t>Counting semaphore S = 2: at most two threads use a printer at once.</a:t>
            </a:r>
            <a:endParaRPr lang="en-US" sz="13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en-US" sz="1200" b="1" spc="200" kern="0" dirty="0">
                <a:solidFill>
                  <a:srgbClr val="02C39A"/>
                </a:solidFill>
                <a:latin typeface="Calibri" pitchFamily="34" charset="0"/>
                <a:ea typeface="Calibri" pitchFamily="34" charset="-122"/>
                <a:cs typeface="Calibri" pitchFamily="34" charset="-120"/>
              </a:rPr>
              <a:t>PROBLEM 4 · WEEK 6</a:t>
            </a:r>
            <a:endParaRPr lang="en-US"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en-US" sz="3000" b="1" dirty="0">
                <a:solidFill>
                  <a:srgbClr val="36454F"/>
                </a:solidFill>
                <a:latin typeface="Cambria" pitchFamily="34" charset="0"/>
                <a:ea typeface="Cambria" pitchFamily="34" charset="-122"/>
                <a:cs typeface="Cambria" pitchFamily="34" charset="-120"/>
              </a:rPr>
              <a:t>First-Fit, Best-Fit, Worst-Fit</a:t>
            </a:r>
            <a:endParaRPr lang="en-US" sz="3000" dirty="0"/>
          </a:p>
        </p:txBody>
      </p:sp>
      <p:sp>
        <p:nvSpPr>
          <p:cNvPr id="4" name="Text 2"/>
          <p:cNvSpPr txBox="1"/>
          <p:nvPr/>
        </p:nvSpPr>
        <p:spPr>
          <a:xfrm>
            <a:off x="548640" y="6528816"/>
            <a:ext cx="6400800" cy="274320"/>
          </a:xfrm>
          <a:prstGeom prst="rect">
            <a:avLst/>
          </a:prstGeom>
          <a:noFill/>
          <a:ln/>
        </p:spPr>
        <p:txBody>
          <a:bodyPr wrap="square" lIns="0" tIns="0" rIns="0" bIns="0" rtlCol="0" anchor="ctr"/>
          <a:lstStyle/>
          <a:p>
            <a:pPr indent="0" marL="0">
              <a:buNone/>
            </a:pPr>
            <a:r>
              <a:rPr lang="en-US" sz="900" dirty="0">
                <a:solidFill>
                  <a:srgbClr val="6B7679"/>
                </a:solidFill>
                <a:latin typeface="Calibri" pitchFamily="34" charset="0"/>
                <a:ea typeface="Calibri" pitchFamily="34" charset="-122"/>
                <a:cs typeface="Calibri" pitchFamily="34" charset="-120"/>
              </a:rPr>
              <a:t>MCMP117 — Fundamentals of Operating Systems</a:t>
            </a:r>
            <a:endParaRPr lang="en-US" sz="900" dirty="0"/>
          </a:p>
        </p:txBody>
      </p:sp>
      <p:sp>
        <p:nvSpPr>
          <p:cNvPr id="5" name="Text 3"/>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en-US" sz="900" dirty="0">
                <a:solidFill>
                  <a:srgbClr val="6B7679"/>
                </a:solidFill>
                <a:latin typeface="Calibri" pitchFamily="34" charset="0"/>
                <a:ea typeface="Calibri" pitchFamily="34" charset="-122"/>
                <a:cs typeface="Calibri" pitchFamily="34" charset="-120"/>
              </a:rPr>
              <a:t>Week 8  ·  27</a:t>
            </a:r>
            <a:endParaRPr lang="en-US" sz="900" dirty="0"/>
          </a:p>
        </p:txBody>
      </p:sp>
      <p:sp>
        <p:nvSpPr>
          <p:cNvPr id="6" name="Shape 4"/>
          <p:cNvSpPr/>
          <p:nvPr/>
        </p:nvSpPr>
        <p:spPr>
          <a:xfrm>
            <a:off x="548640" y="1783080"/>
            <a:ext cx="11109960" cy="502920"/>
          </a:xfrm>
          <a:prstGeom prst="rect">
            <a:avLst/>
          </a:prstGeom>
          <a:solidFill>
            <a:srgbClr val="E4E8E9"/>
          </a:solidFill>
          <a:ln/>
        </p:spPr>
        <p:txBody>
          <a:bodyPr/>
          <a:p/>
        </p:txBody>
      </p:sp>
      <p:sp>
        <p:nvSpPr>
          <p:cNvPr id="7" name="Shape 5"/>
          <p:cNvSpPr/>
          <p:nvPr/>
        </p:nvSpPr>
        <p:spPr>
          <a:xfrm>
            <a:off x="952639" y="1783080"/>
            <a:ext cx="1211996" cy="502920"/>
          </a:xfrm>
          <a:prstGeom prst="roundRect">
            <a:avLst>
              <a:gd name="adj" fmla="val 9091"/>
            </a:avLst>
          </a:prstGeom>
          <a:solidFill>
            <a:srgbClr val="02C39A"/>
          </a:solidFill>
          <a:ln/>
        </p:spPr>
        <p:txBody>
          <a:bodyPr/>
          <a:p/>
        </p:txBody>
      </p:sp>
      <p:sp>
        <p:nvSpPr>
          <p:cNvPr id="8" name="Text 6"/>
          <p:cNvSpPr txBox="1"/>
          <p:nvPr/>
        </p:nvSpPr>
        <p:spPr>
          <a:xfrm>
            <a:off x="952639" y="1783080"/>
            <a:ext cx="1211996" cy="502920"/>
          </a:xfrm>
          <a:prstGeom prst="rect">
            <a:avLst/>
          </a:prstGeom>
          <a:noFill/>
          <a:ln/>
        </p:spPr>
        <p:txBody>
          <a:bodyPr wrap="square" lIns="38100" tIns="38100" rIns="38100" bIns="38100" rtlCol="0" anchor="ctr"/>
          <a:lstStyle/>
          <a:p>
            <a:pPr algn="ctr" indent="0" marL="0">
              <a:buNone/>
            </a:pPr>
            <a:r>
              <a:rPr lang="en-US" sz="1300" b="1" dirty="0">
                <a:solidFill>
                  <a:srgbClr val="212121"/>
                </a:solidFill>
                <a:latin typeface="Calibri" pitchFamily="34" charset="0"/>
                <a:ea typeface="Calibri" pitchFamily="34" charset="-122"/>
                <a:cs typeface="Calibri" pitchFamily="34" charset="-120"/>
              </a:rPr>
              <a:t>300</a:t>
            </a:r>
            <a:endParaRPr lang="en-US" sz="1300" dirty="0"/>
          </a:p>
        </p:txBody>
      </p:sp>
      <p:sp>
        <p:nvSpPr>
          <p:cNvPr id="9" name="Text 7"/>
          <p:cNvSpPr txBox="1"/>
          <p:nvPr/>
        </p:nvSpPr>
        <p:spPr>
          <a:xfrm>
            <a:off x="678319" y="2304288"/>
            <a:ext cx="548640" cy="228600"/>
          </a:xfrm>
          <a:prstGeom prst="rect">
            <a:avLst/>
          </a:prstGeom>
          <a:noFill/>
          <a:ln/>
        </p:spPr>
        <p:txBody>
          <a:bodyPr wrap="square" lIns="0" tIns="0" rIns="0" bIns="0" rtlCol="0" anchor="t"/>
          <a:lstStyle/>
          <a:p>
            <a:pPr algn="ctr" indent="0" marL="0">
              <a:buNone/>
            </a:pPr>
            <a:r>
              <a:rPr lang="en-US" sz="1000" dirty="0">
                <a:solidFill>
                  <a:srgbClr val="6B7679"/>
                </a:solidFill>
                <a:latin typeface="Calibri" pitchFamily="34" charset="0"/>
                <a:ea typeface="Calibri" pitchFamily="34" charset="-122"/>
                <a:cs typeface="Calibri" pitchFamily="34" charset="-120"/>
              </a:rPr>
              <a:t>100</a:t>
            </a:r>
            <a:endParaRPr lang="en-US" sz="1000" dirty="0"/>
          </a:p>
        </p:txBody>
      </p:sp>
      <p:sp>
        <p:nvSpPr>
          <p:cNvPr id="10" name="Shape 8"/>
          <p:cNvSpPr/>
          <p:nvPr/>
        </p:nvSpPr>
        <p:spPr>
          <a:xfrm>
            <a:off x="2568633" y="1783080"/>
            <a:ext cx="2423991" cy="502920"/>
          </a:xfrm>
          <a:prstGeom prst="roundRect">
            <a:avLst>
              <a:gd name="adj" fmla="val 9091"/>
            </a:avLst>
          </a:prstGeom>
          <a:solidFill>
            <a:srgbClr val="02C39A"/>
          </a:solidFill>
          <a:ln/>
        </p:spPr>
        <p:txBody>
          <a:bodyPr/>
          <a:p/>
        </p:txBody>
      </p:sp>
      <p:sp>
        <p:nvSpPr>
          <p:cNvPr id="11" name="Text 9"/>
          <p:cNvSpPr txBox="1"/>
          <p:nvPr/>
        </p:nvSpPr>
        <p:spPr>
          <a:xfrm>
            <a:off x="2568633" y="1783080"/>
            <a:ext cx="2423991" cy="502920"/>
          </a:xfrm>
          <a:prstGeom prst="rect">
            <a:avLst/>
          </a:prstGeom>
          <a:noFill/>
          <a:ln/>
        </p:spPr>
        <p:txBody>
          <a:bodyPr wrap="square" lIns="38100" tIns="38100" rIns="38100" bIns="38100" rtlCol="0" anchor="ctr"/>
          <a:lstStyle/>
          <a:p>
            <a:pPr algn="ctr" indent="0" marL="0">
              <a:buNone/>
            </a:pPr>
            <a:r>
              <a:rPr lang="en-US" sz="1300" b="1" dirty="0">
                <a:solidFill>
                  <a:srgbClr val="212121"/>
                </a:solidFill>
                <a:latin typeface="Calibri" pitchFamily="34" charset="0"/>
                <a:ea typeface="Calibri" pitchFamily="34" charset="-122"/>
                <a:cs typeface="Calibri" pitchFamily="34" charset="-120"/>
              </a:rPr>
              <a:t>600</a:t>
            </a:r>
            <a:endParaRPr lang="en-US" sz="1300" dirty="0"/>
          </a:p>
        </p:txBody>
      </p:sp>
      <p:sp>
        <p:nvSpPr>
          <p:cNvPr id="12" name="Text 10"/>
          <p:cNvSpPr txBox="1"/>
          <p:nvPr/>
        </p:nvSpPr>
        <p:spPr>
          <a:xfrm>
            <a:off x="2294313" y="2304288"/>
            <a:ext cx="548640" cy="228600"/>
          </a:xfrm>
          <a:prstGeom prst="rect">
            <a:avLst/>
          </a:prstGeom>
          <a:noFill/>
          <a:ln/>
        </p:spPr>
        <p:txBody>
          <a:bodyPr wrap="square" lIns="0" tIns="0" rIns="0" bIns="0" rtlCol="0" anchor="t"/>
          <a:lstStyle/>
          <a:p>
            <a:pPr algn="ctr" indent="0" marL="0">
              <a:buNone/>
            </a:pPr>
            <a:r>
              <a:rPr lang="en-US" sz="1000" dirty="0">
                <a:solidFill>
                  <a:srgbClr val="6B7679"/>
                </a:solidFill>
                <a:latin typeface="Calibri" pitchFamily="34" charset="0"/>
                <a:ea typeface="Calibri" pitchFamily="34" charset="-122"/>
                <a:cs typeface="Calibri" pitchFamily="34" charset="-120"/>
              </a:rPr>
              <a:t>500</a:t>
            </a:r>
            <a:endParaRPr lang="en-US" sz="1000" dirty="0"/>
          </a:p>
        </p:txBody>
      </p:sp>
      <p:sp>
        <p:nvSpPr>
          <p:cNvPr id="13" name="Shape 11"/>
          <p:cNvSpPr/>
          <p:nvPr/>
        </p:nvSpPr>
        <p:spPr>
          <a:xfrm>
            <a:off x="5800621" y="1783080"/>
            <a:ext cx="807997" cy="502920"/>
          </a:xfrm>
          <a:prstGeom prst="roundRect">
            <a:avLst>
              <a:gd name="adj" fmla="val 9091"/>
            </a:avLst>
          </a:prstGeom>
          <a:solidFill>
            <a:srgbClr val="02C39A"/>
          </a:solidFill>
          <a:ln/>
        </p:spPr>
        <p:txBody>
          <a:bodyPr/>
          <a:p/>
        </p:txBody>
      </p:sp>
      <p:sp>
        <p:nvSpPr>
          <p:cNvPr id="14" name="Text 12"/>
          <p:cNvSpPr txBox="1"/>
          <p:nvPr/>
        </p:nvSpPr>
        <p:spPr>
          <a:xfrm>
            <a:off x="5800621" y="1783080"/>
            <a:ext cx="807997" cy="502920"/>
          </a:xfrm>
          <a:prstGeom prst="rect">
            <a:avLst/>
          </a:prstGeom>
          <a:noFill/>
          <a:ln/>
        </p:spPr>
        <p:txBody>
          <a:bodyPr wrap="square" lIns="38100" tIns="38100" rIns="38100" bIns="38100" rtlCol="0" anchor="ctr"/>
          <a:lstStyle/>
          <a:p>
            <a:pPr algn="ctr" indent="0" marL="0">
              <a:buNone/>
            </a:pPr>
            <a:r>
              <a:rPr lang="en-US" sz="1300" b="1" dirty="0">
                <a:solidFill>
                  <a:srgbClr val="212121"/>
                </a:solidFill>
                <a:latin typeface="Calibri" pitchFamily="34" charset="0"/>
                <a:ea typeface="Calibri" pitchFamily="34" charset="-122"/>
                <a:cs typeface="Calibri" pitchFamily="34" charset="-120"/>
              </a:rPr>
              <a:t>200</a:t>
            </a:r>
            <a:endParaRPr lang="en-US" sz="1300" dirty="0"/>
          </a:p>
        </p:txBody>
      </p:sp>
      <p:sp>
        <p:nvSpPr>
          <p:cNvPr id="15" name="Text 13"/>
          <p:cNvSpPr txBox="1"/>
          <p:nvPr/>
        </p:nvSpPr>
        <p:spPr>
          <a:xfrm>
            <a:off x="5526301" y="2304288"/>
            <a:ext cx="548640" cy="228600"/>
          </a:xfrm>
          <a:prstGeom prst="rect">
            <a:avLst/>
          </a:prstGeom>
          <a:noFill/>
          <a:ln/>
        </p:spPr>
        <p:txBody>
          <a:bodyPr wrap="square" lIns="0" tIns="0" rIns="0" bIns="0" rtlCol="0" anchor="t"/>
          <a:lstStyle/>
          <a:p>
            <a:pPr algn="ctr" indent="0" marL="0">
              <a:buNone/>
            </a:pPr>
            <a:r>
              <a:rPr lang="en-US" sz="1000" dirty="0">
                <a:solidFill>
                  <a:srgbClr val="6B7679"/>
                </a:solidFill>
                <a:latin typeface="Calibri" pitchFamily="34" charset="0"/>
                <a:ea typeface="Calibri" pitchFamily="34" charset="-122"/>
                <a:cs typeface="Calibri" pitchFamily="34" charset="-120"/>
              </a:rPr>
              <a:t>1300</a:t>
            </a:r>
            <a:endParaRPr lang="en-US" sz="1000" dirty="0"/>
          </a:p>
        </p:txBody>
      </p:sp>
      <p:sp>
        <p:nvSpPr>
          <p:cNvPr id="16" name="Shape 14"/>
          <p:cNvSpPr/>
          <p:nvPr/>
        </p:nvSpPr>
        <p:spPr>
          <a:xfrm>
            <a:off x="7416615" y="1783080"/>
            <a:ext cx="1817993" cy="502920"/>
          </a:xfrm>
          <a:prstGeom prst="roundRect">
            <a:avLst>
              <a:gd name="adj" fmla="val 9091"/>
            </a:avLst>
          </a:prstGeom>
          <a:solidFill>
            <a:srgbClr val="02C39A"/>
          </a:solidFill>
          <a:ln/>
        </p:spPr>
        <p:txBody>
          <a:bodyPr/>
          <a:p/>
        </p:txBody>
      </p:sp>
      <p:sp>
        <p:nvSpPr>
          <p:cNvPr id="17" name="Text 15"/>
          <p:cNvSpPr txBox="1"/>
          <p:nvPr/>
        </p:nvSpPr>
        <p:spPr>
          <a:xfrm>
            <a:off x="7416615" y="1783080"/>
            <a:ext cx="1817993" cy="502920"/>
          </a:xfrm>
          <a:prstGeom prst="rect">
            <a:avLst/>
          </a:prstGeom>
          <a:noFill/>
          <a:ln/>
        </p:spPr>
        <p:txBody>
          <a:bodyPr wrap="square" lIns="38100" tIns="38100" rIns="38100" bIns="38100" rtlCol="0" anchor="ctr"/>
          <a:lstStyle/>
          <a:p>
            <a:pPr algn="ctr" indent="0" marL="0">
              <a:buNone/>
            </a:pPr>
            <a:r>
              <a:rPr lang="en-US" sz="1300" b="1" dirty="0">
                <a:solidFill>
                  <a:srgbClr val="212121"/>
                </a:solidFill>
                <a:latin typeface="Calibri" pitchFamily="34" charset="0"/>
                <a:ea typeface="Calibri" pitchFamily="34" charset="-122"/>
                <a:cs typeface="Calibri" pitchFamily="34" charset="-120"/>
              </a:rPr>
              <a:t>450</a:t>
            </a:r>
            <a:endParaRPr lang="en-US" sz="1300" dirty="0"/>
          </a:p>
        </p:txBody>
      </p:sp>
      <p:sp>
        <p:nvSpPr>
          <p:cNvPr id="18" name="Text 16"/>
          <p:cNvSpPr txBox="1"/>
          <p:nvPr/>
        </p:nvSpPr>
        <p:spPr>
          <a:xfrm>
            <a:off x="7142295" y="2304288"/>
            <a:ext cx="548640" cy="228600"/>
          </a:xfrm>
          <a:prstGeom prst="rect">
            <a:avLst/>
          </a:prstGeom>
          <a:noFill/>
          <a:ln/>
        </p:spPr>
        <p:txBody>
          <a:bodyPr wrap="square" lIns="0" tIns="0" rIns="0" bIns="0" rtlCol="0" anchor="t"/>
          <a:lstStyle/>
          <a:p>
            <a:pPr algn="ctr" indent="0" marL="0">
              <a:buNone/>
            </a:pPr>
            <a:r>
              <a:rPr lang="en-US" sz="1000" dirty="0">
                <a:solidFill>
                  <a:srgbClr val="6B7679"/>
                </a:solidFill>
                <a:latin typeface="Calibri" pitchFamily="34" charset="0"/>
                <a:ea typeface="Calibri" pitchFamily="34" charset="-122"/>
                <a:cs typeface="Calibri" pitchFamily="34" charset="-120"/>
              </a:rPr>
              <a:t>1700</a:t>
            </a:r>
            <a:endParaRPr lang="en-US" sz="1000" dirty="0"/>
          </a:p>
        </p:txBody>
      </p:sp>
      <p:sp>
        <p:nvSpPr>
          <p:cNvPr id="19" name="Shape 17"/>
          <p:cNvSpPr/>
          <p:nvPr/>
        </p:nvSpPr>
        <p:spPr>
          <a:xfrm>
            <a:off x="10244605" y="1783080"/>
            <a:ext cx="1413995" cy="502920"/>
          </a:xfrm>
          <a:prstGeom prst="roundRect">
            <a:avLst>
              <a:gd name="adj" fmla="val 9091"/>
            </a:avLst>
          </a:prstGeom>
          <a:solidFill>
            <a:srgbClr val="02C39A"/>
          </a:solidFill>
          <a:ln/>
        </p:spPr>
        <p:txBody>
          <a:bodyPr/>
          <a:p/>
        </p:txBody>
      </p:sp>
      <p:sp>
        <p:nvSpPr>
          <p:cNvPr id="20" name="Text 18"/>
          <p:cNvSpPr txBox="1"/>
          <p:nvPr/>
        </p:nvSpPr>
        <p:spPr>
          <a:xfrm>
            <a:off x="10244605" y="1783080"/>
            <a:ext cx="1413995" cy="502920"/>
          </a:xfrm>
          <a:prstGeom prst="rect">
            <a:avLst/>
          </a:prstGeom>
          <a:noFill/>
          <a:ln/>
        </p:spPr>
        <p:txBody>
          <a:bodyPr wrap="square" lIns="38100" tIns="38100" rIns="38100" bIns="38100" rtlCol="0" anchor="ctr"/>
          <a:lstStyle/>
          <a:p>
            <a:pPr algn="ctr" indent="0" marL="0">
              <a:buNone/>
            </a:pPr>
            <a:r>
              <a:rPr lang="en-US" sz="1300" b="1" dirty="0">
                <a:solidFill>
                  <a:srgbClr val="212121"/>
                </a:solidFill>
                <a:latin typeface="Calibri" pitchFamily="34" charset="0"/>
                <a:ea typeface="Calibri" pitchFamily="34" charset="-122"/>
                <a:cs typeface="Calibri" pitchFamily="34" charset="-120"/>
              </a:rPr>
              <a:t>350</a:t>
            </a:r>
            <a:endParaRPr lang="en-US" sz="1300" dirty="0"/>
          </a:p>
        </p:txBody>
      </p:sp>
      <p:sp>
        <p:nvSpPr>
          <p:cNvPr id="21" name="Text 19"/>
          <p:cNvSpPr txBox="1"/>
          <p:nvPr/>
        </p:nvSpPr>
        <p:spPr>
          <a:xfrm>
            <a:off x="9970285" y="2304288"/>
            <a:ext cx="548640" cy="228600"/>
          </a:xfrm>
          <a:prstGeom prst="rect">
            <a:avLst/>
          </a:prstGeom>
          <a:noFill/>
          <a:ln/>
        </p:spPr>
        <p:txBody>
          <a:bodyPr wrap="square" lIns="0" tIns="0" rIns="0" bIns="0" rtlCol="0" anchor="t"/>
          <a:lstStyle/>
          <a:p>
            <a:pPr algn="ctr" indent="0" marL="0">
              <a:buNone/>
            </a:pPr>
            <a:r>
              <a:rPr lang="en-US" sz="1000" dirty="0">
                <a:solidFill>
                  <a:srgbClr val="6B7679"/>
                </a:solidFill>
                <a:latin typeface="Calibri" pitchFamily="34" charset="0"/>
                <a:ea typeface="Calibri" pitchFamily="34" charset="-122"/>
                <a:cs typeface="Calibri" pitchFamily="34" charset="-120"/>
              </a:rPr>
              <a:t>2400</a:t>
            </a:r>
            <a:endParaRPr lang="en-US" sz="1000" dirty="0"/>
          </a:p>
        </p:txBody>
      </p:sp>
      <p:sp>
        <p:nvSpPr>
          <p:cNvPr id="22" name="Text 20"/>
          <p:cNvSpPr txBox="1"/>
          <p:nvPr/>
        </p:nvSpPr>
        <p:spPr>
          <a:xfrm>
            <a:off x="548640" y="1463040"/>
            <a:ext cx="11109960" cy="292608"/>
          </a:xfrm>
          <a:prstGeom prst="rect">
            <a:avLst/>
          </a:prstGeom>
          <a:noFill/>
          <a:ln/>
        </p:spPr>
        <p:txBody>
          <a:bodyPr wrap="square" lIns="0" tIns="0" rIns="0" bIns="0" rtlCol="0" anchor="t"/>
          <a:lstStyle/>
          <a:p>
            <a:pPr indent="0" marL="0">
              <a:buNone/>
            </a:pPr>
            <a:r>
              <a:rPr lang="en-US" sz="1300" i="1" dirty="0">
                <a:solidFill>
                  <a:srgbClr val="6B7679"/>
                </a:solidFill>
                <a:latin typeface="Calibri" pitchFamily="34" charset="0"/>
                <a:ea typeface="Calibri" pitchFamily="34" charset="-122"/>
                <a:cs typeface="Calibri" pitchFamily="34" charset="-120"/>
              </a:rPr>
              <a:t>Holes (mint, size in KB) in address order; grey = in use. Requests in order: A = 340, B = 180, C = 420, D = 500 KB.</a:t>
            </a:r>
            <a:endParaRPr lang="en-US" sz="1300" dirty="0"/>
          </a:p>
        </p:txBody>
      </p:sp>
      <p:graphicFrame>
        <p:nvGraphicFramePr>
          <p:cNvPr id="28" name="Table 0"/>
          <p:cNvGraphicFramePr>
            <a:graphicFrameLocks noGrp="1"/>
          </p:cNvGraphicFramePr>
          <p:nvPr>
            <p:extLst>
              <p:ext uri="{D42A27DB-BD31-4B8C-83A1-F6EECF244321}">
                <p14:modId xmlns:p14="http://schemas.microsoft.com/office/powerpoint/2010/main" val="1579011935"/>
              </p:ext>
            </p:extLst>
          </p:nvPr>
        </p:nvGraphicFramePr>
        <p:xfrm>
          <a:off x="548640" y="2788920"/>
          <a:ext cx="11109960" cy="914400"/>
        </p:xfrm>
        <a:graphic>
          <a:graphicData uri="http://schemas.openxmlformats.org/drawingml/2006/table">
            <a:tbl>
              <a:tblPr/>
              <a:tblGrid>
                <a:gridCol w="1508760"/>
                <a:gridCol w="3200400"/>
                <a:gridCol w="3200400"/>
                <a:gridCol w="3200400"/>
              </a:tblGrid>
              <a:tr h="0">
                <a:tc>
                  <a:txBody>
                    <a:bodyPr/>
                    <a:lstStyle/>
                    <a:p>
                      <a:pPr indent="0" marL="0">
                        <a:buNone/>
                      </a:pPr>
                      <a:r>
                        <a:rPr lang="en-US" sz="1400" b="1" dirty="0">
                          <a:solidFill>
                            <a:srgbClr val="FFFFFF"/>
                          </a:solidFill>
                          <a:latin typeface="Cambria" pitchFamily="34" charset="0"/>
                          <a:ea typeface="Cambria" pitchFamily="34" charset="-122"/>
                          <a:cs typeface="Cambria" pitchFamily="34" charset="-120"/>
                        </a:rPr>
                        <a:t>Request</a:t>
                      </a:r>
                      <a:endParaRPr lang="en-US" sz="1400" dirty="0">
                        <a:latin typeface="Cambria" charset="0"/>
                        <a:ea typeface="Cambria" charset="0"/>
                        <a:cs typeface="Cambria" charset="0"/>
                      </a:endParaRPr>
                    </a:p>
                  </a:txBody>
                  <a:tcPr marL="76200" marR="762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36454F"/>
                    </a:solidFill>
                  </a:tcPr>
                </a:tc>
                <a:tc>
                  <a:txBody>
                    <a:bodyPr/>
                    <a:lstStyle/>
                    <a:p>
                      <a:pPr indent="0" marL="0">
                        <a:buNone/>
                      </a:pPr>
                      <a:r>
                        <a:rPr lang="en-US" sz="1400" b="1" dirty="0">
                          <a:solidFill>
                            <a:srgbClr val="FFFFFF"/>
                          </a:solidFill>
                          <a:latin typeface="Cambria" pitchFamily="34" charset="0"/>
                          <a:ea typeface="Cambria" pitchFamily="34" charset="-122"/>
                          <a:cs typeface="Cambria" pitchFamily="34" charset="-120"/>
                        </a:rPr>
                        <a:t>First-fit</a:t>
                      </a:r>
                      <a:endParaRPr lang="en-US" sz="1400" dirty="0">
                        <a:latin typeface="Cambria" charset="0"/>
                        <a:ea typeface="Cambria" charset="0"/>
                        <a:cs typeface="Cambria" charset="0"/>
                      </a:endParaRPr>
                    </a:p>
                  </a:txBody>
                  <a:tcPr marL="76200" marR="762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36454F"/>
                    </a:solidFill>
                  </a:tcPr>
                </a:tc>
                <a:tc>
                  <a:txBody>
                    <a:bodyPr/>
                    <a:lstStyle/>
                    <a:p>
                      <a:pPr indent="0" marL="0">
                        <a:buNone/>
                      </a:pPr>
                      <a:r>
                        <a:rPr lang="en-US" sz="1400" b="1" dirty="0">
                          <a:solidFill>
                            <a:srgbClr val="FFFFFF"/>
                          </a:solidFill>
                          <a:latin typeface="Cambria" pitchFamily="34" charset="0"/>
                          <a:ea typeface="Cambria" pitchFamily="34" charset="-122"/>
                          <a:cs typeface="Cambria" pitchFamily="34" charset="-120"/>
                        </a:rPr>
                        <a:t>Best-fit</a:t>
                      </a:r>
                      <a:endParaRPr lang="en-US" sz="1400" dirty="0">
                        <a:latin typeface="Cambria" charset="0"/>
                        <a:ea typeface="Cambria" charset="0"/>
                        <a:cs typeface="Cambria" charset="0"/>
                      </a:endParaRPr>
                    </a:p>
                  </a:txBody>
                  <a:tcPr marL="76200" marR="762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36454F"/>
                    </a:solidFill>
                  </a:tcPr>
                </a:tc>
                <a:tc>
                  <a:txBody>
                    <a:bodyPr/>
                    <a:lstStyle/>
                    <a:p>
                      <a:pPr indent="0" marL="0">
                        <a:buNone/>
                      </a:pPr>
                      <a:r>
                        <a:rPr lang="en-US" sz="1400" b="1" dirty="0">
                          <a:solidFill>
                            <a:srgbClr val="FFFFFF"/>
                          </a:solidFill>
                          <a:latin typeface="Cambria" pitchFamily="34" charset="0"/>
                          <a:ea typeface="Cambria" pitchFamily="34" charset="-122"/>
                          <a:cs typeface="Cambria" pitchFamily="34" charset="-120"/>
                        </a:rPr>
                        <a:t>Worst-fit</a:t>
                      </a:r>
                      <a:endParaRPr lang="en-US" sz="1400" dirty="0">
                        <a:latin typeface="Cambria" charset="0"/>
                        <a:ea typeface="Cambria" charset="0"/>
                        <a:cs typeface="Cambria" charset="0"/>
                      </a:endParaRPr>
                    </a:p>
                  </a:txBody>
                  <a:tcPr marL="76200" marR="762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36454F"/>
                    </a:solidFill>
                  </a:tcPr>
                </a:tc>
              </a:tr>
              <a:tr h="0">
                <a:tc>
                  <a:txBody>
                    <a:bodyPr/>
                    <a:lstStyle/>
                    <a:p>
                      <a:pPr indent="0" marL="0">
                        <a:buNone/>
                      </a:pPr>
                      <a:r>
                        <a:rPr lang="en-US" sz="1400" b="1" dirty="0">
                          <a:solidFill>
                            <a:srgbClr val="3A464C"/>
                          </a:solidFill>
                          <a:latin typeface="Calibri" pitchFamily="34" charset="0"/>
                          <a:ea typeface="Calibri" pitchFamily="34" charset="-122"/>
                          <a:cs typeface="Calibri" pitchFamily="34" charset="-120"/>
                        </a:rPr>
                        <a:t>A = 340</a:t>
                      </a:r>
                      <a:endParaRPr lang="en-US" sz="1400" dirty="0">
                        <a:latin typeface="Calibri" charset="0"/>
                        <a:ea typeface="Calibri" charset="0"/>
                        <a:cs typeface="Calibri" charset="0"/>
                      </a:endParaRPr>
                    </a:p>
                  </a:txBody>
                  <a:tcPr marL="76200" marR="762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en-US" sz="1400" dirty="0">
                          <a:solidFill>
                            <a:srgbClr val="3A464C"/>
                          </a:solidFill>
                          <a:latin typeface="Calibri" pitchFamily="34" charset="0"/>
                          <a:ea typeface="Calibri" pitchFamily="34" charset="-122"/>
                          <a:cs typeface="Calibri" pitchFamily="34" charset="-120"/>
                        </a:rPr>
                        <a:t>600@500 → leaves 260</a:t>
                      </a:r>
                      <a:endParaRPr lang="en-US" sz="1400" dirty="0">
                        <a:latin typeface="Calibri" charset="0"/>
                        <a:ea typeface="Calibri" charset="0"/>
                        <a:cs typeface="Calibri" charset="0"/>
                      </a:endParaRPr>
                    </a:p>
                  </a:txBody>
                  <a:tcPr marL="76200" marR="762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en-US" sz="1400" dirty="0">
                          <a:solidFill>
                            <a:srgbClr val="3A464C"/>
                          </a:solidFill>
                          <a:latin typeface="Calibri" pitchFamily="34" charset="0"/>
                          <a:ea typeface="Calibri" pitchFamily="34" charset="-122"/>
                          <a:cs typeface="Calibri" pitchFamily="34" charset="-120"/>
                        </a:rPr>
                        <a:t>350@2400 → leaves 10</a:t>
                      </a:r>
                      <a:endParaRPr lang="en-US" sz="1400" dirty="0">
                        <a:latin typeface="Calibri" charset="0"/>
                        <a:ea typeface="Calibri" charset="0"/>
                        <a:cs typeface="Calibri" charset="0"/>
                      </a:endParaRPr>
                    </a:p>
                  </a:txBody>
                  <a:tcPr marL="76200" marR="762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en-US" sz="1400" dirty="0">
                          <a:solidFill>
                            <a:srgbClr val="3A464C"/>
                          </a:solidFill>
                          <a:latin typeface="Calibri" pitchFamily="34" charset="0"/>
                          <a:ea typeface="Calibri" pitchFamily="34" charset="-122"/>
                          <a:cs typeface="Calibri" pitchFamily="34" charset="-120"/>
                        </a:rPr>
                        <a:t>600@500 → leaves 260</a:t>
                      </a:r>
                      <a:endParaRPr lang="en-US" sz="1400" dirty="0">
                        <a:latin typeface="Calibri" charset="0"/>
                        <a:ea typeface="Calibri" charset="0"/>
                        <a:cs typeface="Calibri" charset="0"/>
                      </a:endParaRPr>
                    </a:p>
                  </a:txBody>
                  <a:tcPr marL="76200" marR="762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r>
              <a:tr h="0">
                <a:tc>
                  <a:txBody>
                    <a:bodyPr/>
                    <a:lstStyle/>
                    <a:p>
                      <a:pPr indent="0" marL="0">
                        <a:buNone/>
                      </a:pPr>
                      <a:r>
                        <a:rPr lang="en-US" sz="1400" b="1" dirty="0">
                          <a:solidFill>
                            <a:srgbClr val="3A464C"/>
                          </a:solidFill>
                          <a:latin typeface="Calibri" pitchFamily="34" charset="0"/>
                          <a:ea typeface="Calibri" pitchFamily="34" charset="-122"/>
                          <a:cs typeface="Calibri" pitchFamily="34" charset="-120"/>
                        </a:rPr>
                        <a:t>B = 180</a:t>
                      </a:r>
                      <a:endParaRPr lang="en-US" sz="1400" dirty="0">
                        <a:latin typeface="Calibri" charset="0"/>
                        <a:ea typeface="Calibri" charset="0"/>
                        <a:cs typeface="Calibri" charset="0"/>
                      </a:endParaRPr>
                    </a:p>
                  </a:txBody>
                  <a:tcPr marL="76200" marR="762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en-US" sz="1400" dirty="0">
                          <a:solidFill>
                            <a:srgbClr val="3A464C"/>
                          </a:solidFill>
                          <a:latin typeface="Calibri" pitchFamily="34" charset="0"/>
                          <a:ea typeface="Calibri" pitchFamily="34" charset="-122"/>
                          <a:cs typeface="Calibri" pitchFamily="34" charset="-120"/>
                        </a:rPr>
                        <a:t>300@100 → leaves 120</a:t>
                      </a:r>
                      <a:endParaRPr lang="en-US" sz="1400" dirty="0">
                        <a:latin typeface="Calibri" charset="0"/>
                        <a:ea typeface="Calibri" charset="0"/>
                        <a:cs typeface="Calibri" charset="0"/>
                      </a:endParaRPr>
                    </a:p>
                  </a:txBody>
                  <a:tcPr marL="76200" marR="762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en-US" sz="1400" dirty="0">
                          <a:solidFill>
                            <a:srgbClr val="3A464C"/>
                          </a:solidFill>
                          <a:latin typeface="Calibri" pitchFamily="34" charset="0"/>
                          <a:ea typeface="Calibri" pitchFamily="34" charset="-122"/>
                          <a:cs typeface="Calibri" pitchFamily="34" charset="-120"/>
                        </a:rPr>
                        <a:t>200@1300 → leaves 20</a:t>
                      </a:r>
                      <a:endParaRPr lang="en-US" sz="1400" dirty="0">
                        <a:latin typeface="Calibri" charset="0"/>
                        <a:ea typeface="Calibri" charset="0"/>
                        <a:cs typeface="Calibri" charset="0"/>
                      </a:endParaRPr>
                    </a:p>
                  </a:txBody>
                  <a:tcPr marL="76200" marR="762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en-US" sz="1400" dirty="0">
                          <a:solidFill>
                            <a:srgbClr val="3A464C"/>
                          </a:solidFill>
                          <a:latin typeface="Calibri" pitchFamily="34" charset="0"/>
                          <a:ea typeface="Calibri" pitchFamily="34" charset="-122"/>
                          <a:cs typeface="Calibri" pitchFamily="34" charset="-120"/>
                        </a:rPr>
                        <a:t>450@1700 → leaves 270</a:t>
                      </a:r>
                      <a:endParaRPr lang="en-US" sz="1400" dirty="0">
                        <a:latin typeface="Calibri" charset="0"/>
                        <a:ea typeface="Calibri" charset="0"/>
                        <a:cs typeface="Calibri" charset="0"/>
                      </a:endParaRPr>
                    </a:p>
                  </a:txBody>
                  <a:tcPr marL="76200" marR="762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r>
              <a:tr h="0">
                <a:tc>
                  <a:txBody>
                    <a:bodyPr/>
                    <a:lstStyle/>
                    <a:p>
                      <a:pPr indent="0" marL="0">
                        <a:buNone/>
                      </a:pPr>
                      <a:r>
                        <a:rPr lang="en-US" sz="1400" b="1" dirty="0">
                          <a:solidFill>
                            <a:srgbClr val="3A464C"/>
                          </a:solidFill>
                          <a:latin typeface="Calibri" pitchFamily="34" charset="0"/>
                          <a:ea typeface="Calibri" pitchFamily="34" charset="-122"/>
                          <a:cs typeface="Calibri" pitchFamily="34" charset="-120"/>
                        </a:rPr>
                        <a:t>C = 420</a:t>
                      </a:r>
                      <a:endParaRPr lang="en-US" sz="1400" dirty="0">
                        <a:latin typeface="Calibri" charset="0"/>
                        <a:ea typeface="Calibri" charset="0"/>
                        <a:cs typeface="Calibri" charset="0"/>
                      </a:endParaRPr>
                    </a:p>
                  </a:txBody>
                  <a:tcPr marL="76200" marR="762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en-US" sz="1400" dirty="0">
                          <a:solidFill>
                            <a:srgbClr val="3A464C"/>
                          </a:solidFill>
                          <a:latin typeface="Calibri" pitchFamily="34" charset="0"/>
                          <a:ea typeface="Calibri" pitchFamily="34" charset="-122"/>
                          <a:cs typeface="Calibri" pitchFamily="34" charset="-120"/>
                        </a:rPr>
                        <a:t>450@1700 → leaves 30</a:t>
                      </a:r>
                      <a:endParaRPr lang="en-US" sz="1400" dirty="0">
                        <a:latin typeface="Calibri" charset="0"/>
                        <a:ea typeface="Calibri" charset="0"/>
                        <a:cs typeface="Calibri" charset="0"/>
                      </a:endParaRPr>
                    </a:p>
                  </a:txBody>
                  <a:tcPr marL="76200" marR="762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en-US" sz="1400" dirty="0">
                          <a:solidFill>
                            <a:srgbClr val="3A464C"/>
                          </a:solidFill>
                          <a:latin typeface="Calibri" pitchFamily="34" charset="0"/>
                          <a:ea typeface="Calibri" pitchFamily="34" charset="-122"/>
                          <a:cs typeface="Calibri" pitchFamily="34" charset="-120"/>
                        </a:rPr>
                        <a:t>450@1700 → leaves 30</a:t>
                      </a:r>
                      <a:endParaRPr lang="en-US" sz="1400" dirty="0">
                        <a:latin typeface="Calibri" charset="0"/>
                        <a:ea typeface="Calibri" charset="0"/>
                        <a:cs typeface="Calibri" charset="0"/>
                      </a:endParaRPr>
                    </a:p>
                  </a:txBody>
                  <a:tcPr marL="76200" marR="762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en-US" sz="1400" dirty="0">
                          <a:solidFill>
                            <a:srgbClr val="3A464C"/>
                          </a:solidFill>
                          <a:latin typeface="Calibri" pitchFamily="34" charset="0"/>
                          <a:ea typeface="Calibri" pitchFamily="34" charset="-122"/>
                          <a:cs typeface="Calibri" pitchFamily="34" charset="-120"/>
                        </a:rPr>
                        <a:t>must wait</a:t>
                      </a:r>
                      <a:endParaRPr lang="en-US" sz="1400" dirty="0">
                        <a:latin typeface="Calibri" charset="0"/>
                        <a:ea typeface="Calibri" charset="0"/>
                        <a:cs typeface="Calibri" charset="0"/>
                      </a:endParaRPr>
                    </a:p>
                  </a:txBody>
                  <a:tcPr marL="76200" marR="762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r>
              <a:tr h="0">
                <a:tc>
                  <a:txBody>
                    <a:bodyPr/>
                    <a:lstStyle/>
                    <a:p>
                      <a:pPr indent="0" marL="0">
                        <a:buNone/>
                      </a:pPr>
                      <a:r>
                        <a:rPr lang="en-US" sz="1400" b="1" dirty="0">
                          <a:solidFill>
                            <a:srgbClr val="3A464C"/>
                          </a:solidFill>
                          <a:latin typeface="Calibri" pitchFamily="34" charset="0"/>
                          <a:ea typeface="Calibri" pitchFamily="34" charset="-122"/>
                          <a:cs typeface="Calibri" pitchFamily="34" charset="-120"/>
                        </a:rPr>
                        <a:t>D = 500</a:t>
                      </a:r>
                      <a:endParaRPr lang="en-US" sz="1400" dirty="0">
                        <a:latin typeface="Calibri" charset="0"/>
                        <a:ea typeface="Calibri" charset="0"/>
                        <a:cs typeface="Calibri" charset="0"/>
                      </a:endParaRPr>
                    </a:p>
                  </a:txBody>
                  <a:tcPr marL="76200" marR="762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en-US" sz="1400" dirty="0">
                          <a:solidFill>
                            <a:srgbClr val="3A464C"/>
                          </a:solidFill>
                          <a:latin typeface="Calibri" pitchFamily="34" charset="0"/>
                          <a:ea typeface="Calibri" pitchFamily="34" charset="-122"/>
                          <a:cs typeface="Calibri" pitchFamily="34" charset="-120"/>
                        </a:rPr>
                        <a:t>must wait</a:t>
                      </a:r>
                      <a:endParaRPr lang="en-US" sz="1400" dirty="0">
                        <a:latin typeface="Calibri" charset="0"/>
                        <a:ea typeface="Calibri" charset="0"/>
                        <a:cs typeface="Calibri" charset="0"/>
                      </a:endParaRPr>
                    </a:p>
                  </a:txBody>
                  <a:tcPr marL="76200" marR="762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en-US" sz="1400" dirty="0">
                          <a:solidFill>
                            <a:srgbClr val="3A464C"/>
                          </a:solidFill>
                          <a:latin typeface="Calibri" pitchFamily="34" charset="0"/>
                          <a:ea typeface="Calibri" pitchFamily="34" charset="-122"/>
                          <a:cs typeface="Calibri" pitchFamily="34" charset="-120"/>
                        </a:rPr>
                        <a:t>600@500 → leaves 100</a:t>
                      </a:r>
                      <a:endParaRPr lang="en-US" sz="1400" dirty="0">
                        <a:latin typeface="Calibri" charset="0"/>
                        <a:ea typeface="Calibri" charset="0"/>
                        <a:cs typeface="Calibri" charset="0"/>
                      </a:endParaRPr>
                    </a:p>
                  </a:txBody>
                  <a:tcPr marL="76200" marR="762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en-US" sz="1400" dirty="0">
                          <a:solidFill>
                            <a:srgbClr val="3A464C"/>
                          </a:solidFill>
                          <a:latin typeface="Calibri" pitchFamily="34" charset="0"/>
                          <a:ea typeface="Calibri" pitchFamily="34" charset="-122"/>
                          <a:cs typeface="Calibri" pitchFamily="34" charset="-120"/>
                        </a:rPr>
                        <a:t>must wait</a:t>
                      </a:r>
                      <a:endParaRPr lang="en-US" sz="1400" dirty="0">
                        <a:latin typeface="Calibri" charset="0"/>
                        <a:ea typeface="Calibri" charset="0"/>
                        <a:cs typeface="Calibri" charset="0"/>
                      </a:endParaRPr>
                    </a:p>
                  </a:txBody>
                  <a:tcPr marL="76200" marR="762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r>
            </a:tbl>
          </a:graphicData>
        </a:graphic>
      </p:graphicFrame>
      <p:sp>
        <p:nvSpPr>
          <p:cNvPr id="24" name="Shape 21"/>
          <p:cNvSpPr/>
          <p:nvPr/>
        </p:nvSpPr>
        <p:spPr>
          <a:xfrm>
            <a:off x="548640" y="5074920"/>
            <a:ext cx="11109960" cy="1188720"/>
          </a:xfrm>
          <a:prstGeom prst="roundRect">
            <a:avLst>
              <a:gd name="adj" fmla="val 4615"/>
            </a:avLst>
          </a:prstGeom>
          <a:solidFill>
            <a:srgbClr val="36454F"/>
          </a:solidFill>
          <a:ln/>
          <a:effectLst>
            <a:outerShdw sx="100000" sy="100000" kx="0" ky="0" algn="bl" rotWithShape="0" blurRad="101600" dist="25400" dir="5400000">
              <a:srgbClr val="000000">
                <a:alpha val="12000"/>
              </a:srgbClr>
            </a:outerShdw>
          </a:effectLst>
        </p:spPr>
        <p:txBody>
          <a:bodyPr/>
          <a:p/>
        </p:txBody>
      </p:sp>
      <p:sp>
        <p:nvSpPr>
          <p:cNvPr id="25" name="Text 22"/>
          <p:cNvSpPr txBox="1"/>
          <p:nvPr/>
        </p:nvSpPr>
        <p:spPr>
          <a:xfrm>
            <a:off x="777240" y="5074920"/>
            <a:ext cx="10652760" cy="1188720"/>
          </a:xfrm>
          <a:prstGeom prst="rect">
            <a:avLst/>
          </a:prstGeom>
          <a:noFill/>
          <a:ln/>
        </p:spPr>
        <p:txBody>
          <a:bodyPr wrap="square" lIns="0" tIns="0" rIns="0" bIns="0" rtlCol="0" anchor="ctr"/>
          <a:lstStyle/>
          <a:p>
            <a:pPr indent="0" marL="0">
              <a:buNone/>
            </a:pPr>
            <a:r>
              <a:rPr lang="en-US" sz="1400" dirty="0">
                <a:solidFill>
                  <a:srgbClr val="F2F2F2"/>
                </a:solidFill>
                <a:latin typeface="Calibri" pitchFamily="34" charset="0"/>
                <a:ea typeface="Calibri" pitchFamily="34" charset="-122"/>
                <a:cs typeface="Calibri" pitchFamily="34" charset="-120"/>
              </a:rPr>
              <a:t>First-fit: D waits although 960 KB are free (largest hole 350 KB) — external fragmentation. Best-fit places all four. Worst-fit fails twice: 1380 KB free, largest hole 350 KB. One example proves nothing in general.</a:t>
            </a:r>
            <a:endParaRPr lang="en-US" sz="14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en-US" sz="1200" b="1" spc="200" kern="0" dirty="0">
                <a:solidFill>
                  <a:srgbClr val="02C39A"/>
                </a:solidFill>
                <a:latin typeface="Calibri" pitchFamily="34" charset="0"/>
                <a:ea typeface="Calibri" pitchFamily="34" charset="-122"/>
                <a:cs typeface="Calibri" pitchFamily="34" charset="-120"/>
              </a:rPr>
              <a:t>PROBLEM 5 · WEEK 6</a:t>
            </a:r>
            <a:endParaRPr lang="en-US"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en-US" sz="3000" b="1" dirty="0">
                <a:solidFill>
                  <a:srgbClr val="36454F"/>
                </a:solidFill>
                <a:latin typeface="Cambria" pitchFamily="34" charset="0"/>
                <a:ea typeface="Cambria" pitchFamily="34" charset="-122"/>
                <a:cs typeface="Cambria" pitchFamily="34" charset="-120"/>
              </a:rPr>
              <a:t>Address Translation and the TLB</a:t>
            </a:r>
            <a:endParaRPr lang="en-US" sz="3000" dirty="0"/>
          </a:p>
        </p:txBody>
      </p:sp>
      <p:sp>
        <p:nvSpPr>
          <p:cNvPr id="4" name="Text 2"/>
          <p:cNvSpPr txBox="1"/>
          <p:nvPr/>
        </p:nvSpPr>
        <p:spPr>
          <a:xfrm>
            <a:off x="548640" y="6528816"/>
            <a:ext cx="6400800" cy="274320"/>
          </a:xfrm>
          <a:prstGeom prst="rect">
            <a:avLst/>
          </a:prstGeom>
          <a:noFill/>
          <a:ln/>
        </p:spPr>
        <p:txBody>
          <a:bodyPr wrap="square" lIns="0" tIns="0" rIns="0" bIns="0" rtlCol="0" anchor="ctr"/>
          <a:lstStyle/>
          <a:p>
            <a:pPr indent="0" marL="0">
              <a:buNone/>
            </a:pPr>
            <a:r>
              <a:rPr lang="en-US" sz="900" dirty="0">
                <a:solidFill>
                  <a:srgbClr val="6B7679"/>
                </a:solidFill>
                <a:latin typeface="Calibri" pitchFamily="34" charset="0"/>
                <a:ea typeface="Calibri" pitchFamily="34" charset="-122"/>
                <a:cs typeface="Calibri" pitchFamily="34" charset="-120"/>
              </a:rPr>
              <a:t>MCMP117 — Fundamentals of Operating Systems</a:t>
            </a:r>
            <a:endParaRPr lang="en-US" sz="900" dirty="0"/>
          </a:p>
        </p:txBody>
      </p:sp>
      <p:sp>
        <p:nvSpPr>
          <p:cNvPr id="5" name="Text 3"/>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en-US" sz="900" dirty="0">
                <a:solidFill>
                  <a:srgbClr val="6B7679"/>
                </a:solidFill>
                <a:latin typeface="Calibri" pitchFamily="34" charset="0"/>
                <a:ea typeface="Calibri" pitchFamily="34" charset="-122"/>
                <a:cs typeface="Calibri" pitchFamily="34" charset="-120"/>
              </a:rPr>
              <a:t>Week 8  ·  28</a:t>
            </a:r>
            <a:endParaRPr lang="en-US" sz="900" dirty="0"/>
          </a:p>
        </p:txBody>
      </p:sp>
      <p:graphicFrame>
        <p:nvGraphicFramePr>
          <p:cNvPr id="29" name="Table 0"/>
          <p:cNvGraphicFramePr>
            <a:graphicFrameLocks noGrp="1"/>
          </p:cNvGraphicFramePr>
          <p:nvPr>
            <p:extLst>
              <p:ext uri="{D42A27DB-BD31-4B8C-83A1-F6EECF244321}">
                <p14:modId xmlns:p14="http://schemas.microsoft.com/office/powerpoint/2010/main" val="1579011935"/>
              </p:ext>
            </p:extLst>
          </p:nvPr>
        </p:nvGraphicFramePr>
        <p:xfrm>
          <a:off x="548640" y="1554480"/>
          <a:ext cx="2651760" cy="914400"/>
        </p:xfrm>
        <a:graphic>
          <a:graphicData uri="http://schemas.openxmlformats.org/drawingml/2006/table">
            <a:tbl>
              <a:tblPr/>
              <a:tblGrid>
                <a:gridCol w="731520"/>
                <a:gridCol w="1188720"/>
                <a:gridCol w="731520"/>
              </a:tblGrid>
              <a:tr h="0">
                <a:tc>
                  <a:txBody>
                    <a:bodyPr/>
                    <a:lstStyle/>
                    <a:p>
                      <a:pPr algn="ctr" indent="0" marL="0">
                        <a:buNone/>
                      </a:pPr>
                      <a:r>
                        <a:rPr lang="en-US" sz="1300" b="1" dirty="0">
                          <a:solidFill>
                            <a:srgbClr val="FFFFFF"/>
                          </a:solidFill>
                          <a:latin typeface="Cambria" pitchFamily="34" charset="0"/>
                          <a:ea typeface="Cambria" pitchFamily="34" charset="-122"/>
                          <a:cs typeface="Cambria" pitchFamily="34" charset="-120"/>
                        </a:rPr>
                        <a:t>Page</a:t>
                      </a:r>
                      <a:endParaRPr lang="en-US" sz="1300" dirty="0">
                        <a:latin typeface="Cambria" charset="0"/>
                        <a:ea typeface="Cambria" charset="0"/>
                        <a:cs typeface="Cambria" charset="0"/>
                      </a:endParaRPr>
                    </a:p>
                  </a:txBody>
                  <a:tcPr marL="76200" marR="762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36454F"/>
                    </a:solidFill>
                  </a:tcPr>
                </a:tc>
                <a:tc>
                  <a:txBody>
                    <a:bodyPr/>
                    <a:lstStyle/>
                    <a:p>
                      <a:pPr algn="ctr" indent="0" marL="0">
                        <a:buNone/>
                      </a:pPr>
                      <a:r>
                        <a:rPr lang="en-US" sz="1300" b="1" dirty="0">
                          <a:solidFill>
                            <a:srgbClr val="FFFFFF"/>
                          </a:solidFill>
                          <a:latin typeface="Cambria" pitchFamily="34" charset="0"/>
                          <a:ea typeface="Cambria" pitchFamily="34" charset="-122"/>
                          <a:cs typeface="Cambria" pitchFamily="34" charset="-120"/>
                        </a:rPr>
                        <a:t>Frame</a:t>
                      </a:r>
                      <a:endParaRPr lang="en-US" sz="1300" dirty="0">
                        <a:latin typeface="Cambria" charset="0"/>
                        <a:ea typeface="Cambria" charset="0"/>
                        <a:cs typeface="Cambria" charset="0"/>
                      </a:endParaRPr>
                    </a:p>
                  </a:txBody>
                  <a:tcPr marL="76200" marR="762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36454F"/>
                    </a:solidFill>
                  </a:tcPr>
                </a:tc>
                <a:tc>
                  <a:txBody>
                    <a:bodyPr/>
                    <a:lstStyle/>
                    <a:p>
                      <a:pPr algn="ctr" indent="0" marL="0">
                        <a:buNone/>
                      </a:pPr>
                      <a:r>
                        <a:rPr lang="en-US" sz="1300" b="1" dirty="0">
                          <a:solidFill>
                            <a:srgbClr val="FFFFFF"/>
                          </a:solidFill>
                          <a:latin typeface="Cambria" pitchFamily="34" charset="0"/>
                          <a:ea typeface="Cambria" pitchFamily="34" charset="-122"/>
                          <a:cs typeface="Cambria" pitchFamily="34" charset="-120"/>
                        </a:rPr>
                        <a:t>Valid</a:t>
                      </a:r>
                      <a:endParaRPr lang="en-US" sz="1300" dirty="0">
                        <a:latin typeface="Cambria" charset="0"/>
                        <a:ea typeface="Cambria" charset="0"/>
                        <a:cs typeface="Cambria" charset="0"/>
                      </a:endParaRPr>
                    </a:p>
                  </a:txBody>
                  <a:tcPr marL="76200" marR="762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36454F"/>
                    </a:solidFill>
                  </a:tcPr>
                </a:tc>
              </a:tr>
              <a:tr h="0">
                <a:tc>
                  <a:txBody>
                    <a:bodyPr/>
                    <a:lstStyle/>
                    <a:p>
                      <a:pPr algn="ctr" indent="0" marL="0">
                        <a:buNone/>
                      </a:pPr>
                      <a:r>
                        <a:rPr lang="en-US" sz="1300" b="1" dirty="0">
                          <a:solidFill>
                            <a:srgbClr val="3A464C"/>
                          </a:solidFill>
                          <a:latin typeface="Calibri" pitchFamily="34" charset="0"/>
                          <a:ea typeface="Calibri" pitchFamily="34" charset="-122"/>
                          <a:cs typeface="Calibri" pitchFamily="34" charset="-120"/>
                        </a:rPr>
                        <a:t>0</a:t>
                      </a:r>
                      <a:endParaRPr lang="en-US" sz="1300" dirty="0">
                        <a:latin typeface="Calibri" charset="0"/>
                        <a:ea typeface="Calibri" charset="0"/>
                        <a:cs typeface="Calibri" charset="0"/>
                      </a:endParaRPr>
                    </a:p>
                  </a:txBody>
                  <a:tcPr marL="76200" marR="762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algn="ctr" indent="0" marL="0">
                        <a:buNone/>
                      </a:pPr>
                      <a:r>
                        <a:rPr lang="en-US" sz="1300" dirty="0">
                          <a:solidFill>
                            <a:srgbClr val="3A464C"/>
                          </a:solidFill>
                          <a:latin typeface="Calibri" pitchFamily="34" charset="0"/>
                          <a:ea typeface="Calibri" pitchFamily="34" charset="-122"/>
                          <a:cs typeface="Calibri" pitchFamily="34" charset="-120"/>
                        </a:rPr>
                        <a:t>3</a:t>
                      </a:r>
                      <a:endParaRPr lang="en-US" sz="1300" dirty="0">
                        <a:latin typeface="Calibri" charset="0"/>
                        <a:ea typeface="Calibri" charset="0"/>
                        <a:cs typeface="Calibri" charset="0"/>
                      </a:endParaRPr>
                    </a:p>
                  </a:txBody>
                  <a:tcPr marL="76200" marR="762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algn="ctr" indent="0" marL="0">
                        <a:buNone/>
                      </a:pPr>
                      <a:r>
                        <a:rPr lang="en-US" sz="1300" dirty="0">
                          <a:solidFill>
                            <a:srgbClr val="3A464C"/>
                          </a:solidFill>
                          <a:latin typeface="Calibri" pitchFamily="34" charset="0"/>
                          <a:ea typeface="Calibri" pitchFamily="34" charset="-122"/>
                          <a:cs typeface="Calibri" pitchFamily="34" charset="-120"/>
                        </a:rPr>
                        <a:t>v</a:t>
                      </a:r>
                      <a:endParaRPr lang="en-US" sz="1300" dirty="0">
                        <a:latin typeface="Calibri" charset="0"/>
                        <a:ea typeface="Calibri" charset="0"/>
                        <a:cs typeface="Calibri" charset="0"/>
                      </a:endParaRPr>
                    </a:p>
                  </a:txBody>
                  <a:tcPr marL="76200" marR="762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r>
              <a:tr h="0">
                <a:tc>
                  <a:txBody>
                    <a:bodyPr/>
                    <a:lstStyle/>
                    <a:p>
                      <a:pPr algn="ctr" indent="0" marL="0">
                        <a:buNone/>
                      </a:pPr>
                      <a:r>
                        <a:rPr lang="en-US" sz="1300" b="1" dirty="0">
                          <a:solidFill>
                            <a:srgbClr val="3A464C"/>
                          </a:solidFill>
                          <a:latin typeface="Calibri" pitchFamily="34" charset="0"/>
                          <a:ea typeface="Calibri" pitchFamily="34" charset="-122"/>
                          <a:cs typeface="Calibri" pitchFamily="34" charset="-120"/>
                        </a:rPr>
                        <a:t>1</a:t>
                      </a:r>
                      <a:endParaRPr lang="en-US" sz="1300" dirty="0">
                        <a:latin typeface="Calibri" charset="0"/>
                        <a:ea typeface="Calibri" charset="0"/>
                        <a:cs typeface="Calibri" charset="0"/>
                      </a:endParaRPr>
                    </a:p>
                  </a:txBody>
                  <a:tcPr marL="76200" marR="762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3A464C"/>
                          </a:solidFill>
                          <a:latin typeface="Calibri" pitchFamily="34" charset="0"/>
                          <a:ea typeface="Calibri" pitchFamily="34" charset="-122"/>
                          <a:cs typeface="Calibri" pitchFamily="34" charset="-120"/>
                        </a:rPr>
                        <a:t>8</a:t>
                      </a:r>
                      <a:endParaRPr lang="en-US" sz="1300" dirty="0">
                        <a:latin typeface="Calibri" charset="0"/>
                        <a:ea typeface="Calibri" charset="0"/>
                        <a:cs typeface="Calibri" charset="0"/>
                      </a:endParaRPr>
                    </a:p>
                  </a:txBody>
                  <a:tcPr marL="76200" marR="762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3A464C"/>
                          </a:solidFill>
                          <a:latin typeface="Calibri" pitchFamily="34" charset="0"/>
                          <a:ea typeface="Calibri" pitchFamily="34" charset="-122"/>
                          <a:cs typeface="Calibri" pitchFamily="34" charset="-120"/>
                        </a:rPr>
                        <a:t>v</a:t>
                      </a:r>
                      <a:endParaRPr lang="en-US" sz="1300" dirty="0">
                        <a:latin typeface="Calibri" charset="0"/>
                        <a:ea typeface="Calibri" charset="0"/>
                        <a:cs typeface="Calibri" charset="0"/>
                      </a:endParaRPr>
                    </a:p>
                  </a:txBody>
                  <a:tcPr marL="76200" marR="762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r>
              <a:tr h="0">
                <a:tc>
                  <a:txBody>
                    <a:bodyPr/>
                    <a:lstStyle/>
                    <a:p>
                      <a:pPr algn="ctr" indent="0" marL="0">
                        <a:buNone/>
                      </a:pPr>
                      <a:r>
                        <a:rPr lang="en-US" sz="1300" b="1" dirty="0">
                          <a:solidFill>
                            <a:srgbClr val="3A464C"/>
                          </a:solidFill>
                          <a:latin typeface="Calibri" pitchFamily="34" charset="0"/>
                          <a:ea typeface="Calibri" pitchFamily="34" charset="-122"/>
                          <a:cs typeface="Calibri" pitchFamily="34" charset="-120"/>
                        </a:rPr>
                        <a:t>2</a:t>
                      </a:r>
                      <a:endParaRPr lang="en-US" sz="1300" dirty="0">
                        <a:latin typeface="Calibri" charset="0"/>
                        <a:ea typeface="Calibri" charset="0"/>
                        <a:cs typeface="Calibri" charset="0"/>
                      </a:endParaRPr>
                    </a:p>
                  </a:txBody>
                  <a:tcPr marL="76200" marR="762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algn="ctr" indent="0" marL="0">
                        <a:buNone/>
                      </a:pPr>
                      <a:r>
                        <a:rPr lang="en-US" sz="1300" dirty="0">
                          <a:solidFill>
                            <a:srgbClr val="3A464C"/>
                          </a:solidFill>
                          <a:latin typeface="Calibri" pitchFamily="34" charset="0"/>
                          <a:ea typeface="Calibri" pitchFamily="34" charset="-122"/>
                          <a:cs typeface="Calibri" pitchFamily="34" charset="-120"/>
                        </a:rPr>
                        <a:t>6</a:t>
                      </a:r>
                      <a:endParaRPr lang="en-US" sz="1300" dirty="0">
                        <a:latin typeface="Calibri" charset="0"/>
                        <a:ea typeface="Calibri" charset="0"/>
                        <a:cs typeface="Calibri" charset="0"/>
                      </a:endParaRPr>
                    </a:p>
                  </a:txBody>
                  <a:tcPr marL="76200" marR="762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algn="ctr" indent="0" marL="0">
                        <a:buNone/>
                      </a:pPr>
                      <a:r>
                        <a:rPr lang="en-US" sz="1300" dirty="0">
                          <a:solidFill>
                            <a:srgbClr val="3A464C"/>
                          </a:solidFill>
                          <a:latin typeface="Calibri" pitchFamily="34" charset="0"/>
                          <a:ea typeface="Calibri" pitchFamily="34" charset="-122"/>
                          <a:cs typeface="Calibri" pitchFamily="34" charset="-120"/>
                        </a:rPr>
                        <a:t>v</a:t>
                      </a:r>
                      <a:endParaRPr lang="en-US" sz="1300" dirty="0">
                        <a:latin typeface="Calibri" charset="0"/>
                        <a:ea typeface="Calibri" charset="0"/>
                        <a:cs typeface="Calibri" charset="0"/>
                      </a:endParaRPr>
                    </a:p>
                  </a:txBody>
                  <a:tcPr marL="76200" marR="762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r>
              <a:tr h="0">
                <a:tc>
                  <a:txBody>
                    <a:bodyPr/>
                    <a:lstStyle/>
                    <a:p>
                      <a:pPr algn="ctr" indent="0" marL="0">
                        <a:buNone/>
                      </a:pPr>
                      <a:r>
                        <a:rPr lang="en-US" sz="1300" b="1" dirty="0">
                          <a:solidFill>
                            <a:srgbClr val="3A464C"/>
                          </a:solidFill>
                          <a:latin typeface="Calibri" pitchFamily="34" charset="0"/>
                          <a:ea typeface="Calibri" pitchFamily="34" charset="-122"/>
                          <a:cs typeface="Calibri" pitchFamily="34" charset="-120"/>
                        </a:rPr>
                        <a:t>3</a:t>
                      </a:r>
                      <a:endParaRPr lang="en-US" sz="1300" dirty="0">
                        <a:latin typeface="Calibri" charset="0"/>
                        <a:ea typeface="Calibri" charset="0"/>
                        <a:cs typeface="Calibri" charset="0"/>
                      </a:endParaRPr>
                    </a:p>
                  </a:txBody>
                  <a:tcPr marL="76200" marR="762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3A464C"/>
                          </a:solidFill>
                          <a:latin typeface="Calibri" pitchFamily="34" charset="0"/>
                          <a:ea typeface="Calibri" pitchFamily="34" charset="-122"/>
                          <a:cs typeface="Calibri" pitchFamily="34" charset="-120"/>
                        </a:rPr>
                        <a:t>—</a:t>
                      </a:r>
                      <a:endParaRPr lang="en-US" sz="1300" dirty="0">
                        <a:latin typeface="Calibri" charset="0"/>
                        <a:ea typeface="Calibri" charset="0"/>
                        <a:cs typeface="Calibri" charset="0"/>
                      </a:endParaRPr>
                    </a:p>
                  </a:txBody>
                  <a:tcPr marL="76200" marR="762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3A464C"/>
                          </a:solidFill>
                          <a:latin typeface="Calibri" pitchFamily="34" charset="0"/>
                          <a:ea typeface="Calibri" pitchFamily="34" charset="-122"/>
                          <a:cs typeface="Calibri" pitchFamily="34" charset="-120"/>
                        </a:rPr>
                        <a:t>i</a:t>
                      </a:r>
                      <a:endParaRPr lang="en-US" sz="1300" dirty="0">
                        <a:latin typeface="Calibri" charset="0"/>
                        <a:ea typeface="Calibri" charset="0"/>
                        <a:cs typeface="Calibri" charset="0"/>
                      </a:endParaRPr>
                    </a:p>
                  </a:txBody>
                  <a:tcPr marL="76200" marR="762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r>
              <a:tr h="0">
                <a:tc>
                  <a:txBody>
                    <a:bodyPr/>
                    <a:lstStyle/>
                    <a:p>
                      <a:pPr algn="ctr" indent="0" marL="0">
                        <a:buNone/>
                      </a:pPr>
                      <a:r>
                        <a:rPr lang="en-US" sz="1300" b="1" dirty="0">
                          <a:solidFill>
                            <a:srgbClr val="3A464C"/>
                          </a:solidFill>
                          <a:latin typeface="Calibri" pitchFamily="34" charset="0"/>
                          <a:ea typeface="Calibri" pitchFamily="34" charset="-122"/>
                          <a:cs typeface="Calibri" pitchFamily="34" charset="-120"/>
                        </a:rPr>
                        <a:t>4</a:t>
                      </a:r>
                      <a:endParaRPr lang="en-US" sz="1300" dirty="0">
                        <a:latin typeface="Calibri" charset="0"/>
                        <a:ea typeface="Calibri" charset="0"/>
                        <a:cs typeface="Calibri" charset="0"/>
                      </a:endParaRPr>
                    </a:p>
                  </a:txBody>
                  <a:tcPr marL="76200" marR="762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algn="ctr" indent="0" marL="0">
                        <a:buNone/>
                      </a:pPr>
                      <a:r>
                        <a:rPr lang="en-US" sz="1300" dirty="0">
                          <a:solidFill>
                            <a:srgbClr val="3A464C"/>
                          </a:solidFill>
                          <a:latin typeface="Calibri" pitchFamily="34" charset="0"/>
                          <a:ea typeface="Calibri" pitchFamily="34" charset="-122"/>
                          <a:cs typeface="Calibri" pitchFamily="34" charset="-120"/>
                        </a:rPr>
                        <a:t>10 (0xA)</a:t>
                      </a:r>
                      <a:endParaRPr lang="en-US" sz="1300" dirty="0">
                        <a:latin typeface="Calibri" charset="0"/>
                        <a:ea typeface="Calibri" charset="0"/>
                        <a:cs typeface="Calibri" charset="0"/>
                      </a:endParaRPr>
                    </a:p>
                  </a:txBody>
                  <a:tcPr marL="76200" marR="762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algn="ctr" indent="0" marL="0">
                        <a:buNone/>
                      </a:pPr>
                      <a:r>
                        <a:rPr lang="en-US" sz="1300" dirty="0">
                          <a:solidFill>
                            <a:srgbClr val="3A464C"/>
                          </a:solidFill>
                          <a:latin typeface="Calibri" pitchFamily="34" charset="0"/>
                          <a:ea typeface="Calibri" pitchFamily="34" charset="-122"/>
                          <a:cs typeface="Calibri" pitchFamily="34" charset="-120"/>
                        </a:rPr>
                        <a:t>v</a:t>
                      </a:r>
                      <a:endParaRPr lang="en-US" sz="1300" dirty="0">
                        <a:latin typeface="Calibri" charset="0"/>
                        <a:ea typeface="Calibri" charset="0"/>
                        <a:cs typeface="Calibri" charset="0"/>
                      </a:endParaRPr>
                    </a:p>
                  </a:txBody>
                  <a:tcPr marL="76200" marR="762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r>
              <a:tr h="0">
                <a:tc>
                  <a:txBody>
                    <a:bodyPr/>
                    <a:lstStyle/>
                    <a:p>
                      <a:pPr algn="ctr" indent="0" marL="0">
                        <a:buNone/>
                      </a:pPr>
                      <a:r>
                        <a:rPr lang="en-US" sz="1300" b="1" dirty="0">
                          <a:solidFill>
                            <a:srgbClr val="3A464C"/>
                          </a:solidFill>
                          <a:latin typeface="Calibri" pitchFamily="34" charset="0"/>
                          <a:ea typeface="Calibri" pitchFamily="34" charset="-122"/>
                          <a:cs typeface="Calibri" pitchFamily="34" charset="-120"/>
                        </a:rPr>
                        <a:t>5</a:t>
                      </a:r>
                      <a:endParaRPr lang="en-US" sz="1300" dirty="0">
                        <a:latin typeface="Calibri" charset="0"/>
                        <a:ea typeface="Calibri" charset="0"/>
                        <a:cs typeface="Calibri" charset="0"/>
                      </a:endParaRPr>
                    </a:p>
                  </a:txBody>
                  <a:tcPr marL="76200" marR="762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3A464C"/>
                          </a:solidFill>
                          <a:latin typeface="Calibri" pitchFamily="34" charset="0"/>
                          <a:ea typeface="Calibri" pitchFamily="34" charset="-122"/>
                          <a:cs typeface="Calibri" pitchFamily="34" charset="-120"/>
                        </a:rPr>
                        <a:t>2</a:t>
                      </a:r>
                      <a:endParaRPr lang="en-US" sz="1300" dirty="0">
                        <a:latin typeface="Calibri" charset="0"/>
                        <a:ea typeface="Calibri" charset="0"/>
                        <a:cs typeface="Calibri" charset="0"/>
                      </a:endParaRPr>
                    </a:p>
                  </a:txBody>
                  <a:tcPr marL="76200" marR="762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3A464C"/>
                          </a:solidFill>
                          <a:latin typeface="Calibri" pitchFamily="34" charset="0"/>
                          <a:ea typeface="Calibri" pitchFamily="34" charset="-122"/>
                          <a:cs typeface="Calibri" pitchFamily="34" charset="-120"/>
                        </a:rPr>
                        <a:t>v</a:t>
                      </a:r>
                      <a:endParaRPr lang="en-US" sz="1300" dirty="0">
                        <a:latin typeface="Calibri" charset="0"/>
                        <a:ea typeface="Calibri" charset="0"/>
                        <a:cs typeface="Calibri" charset="0"/>
                      </a:endParaRPr>
                    </a:p>
                  </a:txBody>
                  <a:tcPr marL="76200" marR="762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r>
            </a:tbl>
          </a:graphicData>
        </a:graphic>
      </p:graphicFrame>
      <p:sp>
        <p:nvSpPr>
          <p:cNvPr id="7" name="Text 4"/>
          <p:cNvSpPr txBox="1"/>
          <p:nvPr/>
        </p:nvSpPr>
        <p:spPr>
          <a:xfrm>
            <a:off x="548640" y="4297680"/>
            <a:ext cx="2651760" cy="914400"/>
          </a:xfrm>
          <a:prstGeom prst="rect">
            <a:avLst/>
          </a:prstGeom>
          <a:noFill/>
          <a:ln/>
        </p:spPr>
        <p:txBody>
          <a:bodyPr wrap="square" lIns="0" tIns="0" rIns="0" bIns="0" rtlCol="0" anchor="t"/>
          <a:lstStyle/>
          <a:p>
            <a:pPr indent="0" marL="0">
              <a:buNone/>
            </a:pPr>
            <a:r>
              <a:rPr lang="en-US" sz="1200" i="1" dirty="0">
                <a:solidFill>
                  <a:srgbClr val="6B7679"/>
                </a:solidFill>
                <a:latin typeface="Calibri" pitchFamily="34" charset="0"/>
                <a:ea typeface="Calibri" pitchFamily="34" charset="-122"/>
                <a:cs typeface="Calibri" pitchFamily="34" charset="-120"/>
              </a:rPr>
              <a:t>16-bit addresses, 4 KB pages: p = first hex digit, d = last three.</a:t>
            </a:r>
            <a:endParaRPr lang="en-US" sz="1200" dirty="0"/>
          </a:p>
        </p:txBody>
      </p:sp>
      <p:sp>
        <p:nvSpPr>
          <p:cNvPr id="8" name="Shape 5"/>
          <p:cNvSpPr/>
          <p:nvPr/>
        </p:nvSpPr>
        <p:spPr>
          <a:xfrm>
            <a:off x="3429000" y="1554480"/>
            <a:ext cx="4206240" cy="4709160"/>
          </a:xfrm>
          <a:prstGeom prst="roundRect">
            <a:avLst>
              <a:gd name="adj" fmla="val 1087"/>
            </a:avLst>
          </a:prstGeom>
          <a:solidFill>
            <a:srgbClr val="212121"/>
          </a:solidFill>
          <a:ln/>
        </p:spPr>
        <p:txBody>
          <a:bodyPr/>
          <a:p/>
        </p:txBody>
      </p:sp>
      <p:sp>
        <p:nvSpPr>
          <p:cNvPr id="9" name="Text 6"/>
          <p:cNvSpPr txBox="1"/>
          <p:nvPr/>
        </p:nvSpPr>
        <p:spPr>
          <a:xfrm>
            <a:off x="3611880" y="1664208"/>
            <a:ext cx="3840480" cy="4489704"/>
          </a:xfrm>
          <a:prstGeom prst="rect">
            <a:avLst/>
          </a:prstGeom>
          <a:noFill/>
          <a:ln/>
        </p:spPr>
        <p:txBody>
          <a:bodyPr wrap="square" lIns="0" tIns="0" rIns="0" bIns="0" rtlCol="0" anchor="t"/>
          <a:lstStyle/>
          <a:p>
            <a:pPr indent="0" marL="0">
              <a:lnSpc>
                <a:spcPct val="105000"/>
              </a:lnSpc>
              <a:buNone/>
            </a:pPr>
            <a:r>
              <a:rPr lang="en-US" sz="1300" dirty="0">
                <a:solidFill>
                  <a:srgbClr val="F2F2F2"/>
                </a:solidFill>
                <a:latin typeface="Consolas" pitchFamily="34" charset="0"/>
                <a:ea typeface="Consolas" pitchFamily="34" charset="-122"/>
                <a:cs typeface="Consolas" pitchFamily="34" charset="-120"/>
              </a:rPr>
              <a:t>0x1C3B: p = 1, d = 0xC3B</a:t>
            </a:r>
            <a:endParaRPr lang="en-US" sz="1300" dirty="0"/>
          </a:p>
          <a:p>
            <a:pPr indent="0" marL="0">
              <a:lnSpc>
                <a:spcPct val="105000"/>
              </a:lnSpc>
              <a:buNone/>
            </a:pPr>
            <a:r>
              <a:rPr lang="en-US" sz="1300" dirty="0">
                <a:solidFill>
                  <a:srgbClr val="F2F2F2"/>
                </a:solidFill>
                <a:latin typeface="Consolas" pitchFamily="34" charset="0"/>
                <a:ea typeface="Consolas" pitchFamily="34" charset="-122"/>
                <a:cs typeface="Consolas" pitchFamily="34" charset="-120"/>
              </a:rPr>
              <a:t>  frame 8 → 0x8C3B = 35899</a:t>
            </a:r>
            <a:endParaRPr lang="en-US" sz="1300" dirty="0"/>
          </a:p>
          <a:p>
            <a:pPr indent="0" marL="0">
              <a:lnSpc>
                <a:spcPct val="105000"/>
              </a:lnSpc>
              <a:buNone/>
            </a:pPr>
            <a:r>
              <a:rPr lang="en-US" sz="1300" dirty="0">
                <a:solidFill>
                  <a:srgbClr val="F2F2F2"/>
                </a:solidFill>
                <a:latin typeface="Consolas" pitchFamily="34" charset="0"/>
                <a:ea typeface="Consolas" pitchFamily="34" charset="-122"/>
                <a:cs typeface="Consolas" pitchFamily="34" charset="-120"/>
              </a:rPr>
              <a:t>  (8 × 4096 + 3131)</a:t>
            </a:r>
            <a:endParaRPr lang="en-US" sz="1300" dirty="0"/>
          </a:p>
          <a:p>
            <a:pPr indent="0" marL="0">
              <a:lnSpc>
                <a:spcPct val="105000"/>
              </a:lnSpc>
              <a:buNone/>
            </a:pPr>
            <a:r>
              <a:rPr lang="en-US" sz="1300" dirty="0">
                <a:solidFill>
                  <a:srgbClr val="F2F2F2"/>
                </a:solidFill>
                <a:latin typeface="Consolas" pitchFamily="34" charset="0"/>
                <a:ea typeface="Consolas" pitchFamily="34" charset="-122"/>
                <a:cs typeface="Consolas" pitchFamily="34" charset="-120"/>
              </a:rPr>
              <a:t> </a:t>
            </a:r>
            <a:endParaRPr lang="en-US" sz="1300" dirty="0"/>
          </a:p>
          <a:p>
            <a:pPr indent="0" marL="0">
              <a:lnSpc>
                <a:spcPct val="105000"/>
              </a:lnSpc>
              <a:buNone/>
            </a:pPr>
            <a:r>
              <a:rPr lang="en-US" sz="1300" dirty="0">
                <a:solidFill>
                  <a:srgbClr val="F2F2F2"/>
                </a:solidFill>
                <a:latin typeface="Consolas" pitchFamily="34" charset="0"/>
                <a:ea typeface="Consolas" pitchFamily="34" charset="-122"/>
                <a:cs typeface="Consolas" pitchFamily="34" charset="-120"/>
              </a:rPr>
              <a:t>0x4F0E: p = 4, d = 0xF0E</a:t>
            </a:r>
            <a:endParaRPr lang="en-US" sz="1300" dirty="0"/>
          </a:p>
          <a:p>
            <a:pPr indent="0" marL="0">
              <a:lnSpc>
                <a:spcPct val="105000"/>
              </a:lnSpc>
              <a:buNone/>
            </a:pPr>
            <a:r>
              <a:rPr lang="en-US" sz="1300" dirty="0">
                <a:solidFill>
                  <a:srgbClr val="F2F2F2"/>
                </a:solidFill>
                <a:latin typeface="Consolas" pitchFamily="34" charset="0"/>
                <a:ea typeface="Consolas" pitchFamily="34" charset="-122"/>
                <a:cs typeface="Consolas" pitchFamily="34" charset="-120"/>
              </a:rPr>
              <a:t>  frame 10 → 0xAF0E = 44814</a:t>
            </a:r>
            <a:endParaRPr lang="en-US" sz="1300" dirty="0"/>
          </a:p>
          <a:p>
            <a:pPr indent="0" marL="0">
              <a:lnSpc>
                <a:spcPct val="105000"/>
              </a:lnSpc>
              <a:buNone/>
            </a:pPr>
            <a:r>
              <a:rPr lang="en-US" sz="1300" dirty="0">
                <a:solidFill>
                  <a:srgbClr val="F2F2F2"/>
                </a:solidFill>
                <a:latin typeface="Consolas" pitchFamily="34" charset="0"/>
                <a:ea typeface="Consolas" pitchFamily="34" charset="-122"/>
                <a:cs typeface="Consolas" pitchFamily="34" charset="-120"/>
              </a:rPr>
              <a:t> </a:t>
            </a:r>
            <a:endParaRPr lang="en-US" sz="1300" dirty="0"/>
          </a:p>
          <a:p>
            <a:pPr indent="0" marL="0">
              <a:lnSpc>
                <a:spcPct val="105000"/>
              </a:lnSpc>
              <a:buNone/>
            </a:pPr>
            <a:r>
              <a:rPr lang="en-US" sz="1300" dirty="0">
                <a:solidFill>
                  <a:srgbClr val="F2F2F2"/>
                </a:solidFill>
                <a:latin typeface="Consolas" pitchFamily="34" charset="0"/>
                <a:ea typeface="Consolas" pitchFamily="34" charset="-122"/>
                <a:cs typeface="Consolas" pitchFamily="34" charset="-120"/>
              </a:rPr>
              <a:t>0x2010: p = 2 → 0x6010 = 24592</a:t>
            </a:r>
            <a:endParaRPr lang="en-US" sz="1300" dirty="0"/>
          </a:p>
          <a:p>
            <a:pPr indent="0" marL="0">
              <a:lnSpc>
                <a:spcPct val="105000"/>
              </a:lnSpc>
              <a:buNone/>
            </a:pPr>
            <a:r>
              <a:rPr lang="en-US" sz="1300" dirty="0">
                <a:solidFill>
                  <a:srgbClr val="F2F2F2"/>
                </a:solidFill>
                <a:latin typeface="Consolas" pitchFamily="34" charset="0"/>
                <a:ea typeface="Consolas" pitchFamily="34" charset="-122"/>
                <a:cs typeface="Consolas" pitchFamily="34" charset="-120"/>
              </a:rPr>
              <a:t> </a:t>
            </a:r>
            <a:endParaRPr lang="en-US" sz="1300" dirty="0"/>
          </a:p>
          <a:p>
            <a:pPr indent="0" marL="0">
              <a:lnSpc>
                <a:spcPct val="105000"/>
              </a:lnSpc>
              <a:buNone/>
            </a:pPr>
            <a:r>
              <a:rPr lang="en-US" sz="1300" dirty="0">
                <a:solidFill>
                  <a:srgbClr val="F2F2F2"/>
                </a:solidFill>
                <a:latin typeface="Consolas" pitchFamily="34" charset="0"/>
                <a:ea typeface="Consolas" pitchFamily="34" charset="-122"/>
                <a:cs typeface="Consolas" pitchFamily="34" charset="-120"/>
              </a:rPr>
              <a:t>0x3004: p = 3 is invalid</a:t>
            </a:r>
            <a:endParaRPr lang="en-US" sz="1300" dirty="0"/>
          </a:p>
          <a:p>
            <a:pPr indent="0" marL="0">
              <a:lnSpc>
                <a:spcPct val="105000"/>
              </a:lnSpc>
              <a:buNone/>
            </a:pPr>
            <a:r>
              <a:rPr lang="en-US" sz="1300" dirty="0">
                <a:solidFill>
                  <a:srgbClr val="F2F2F2"/>
                </a:solidFill>
                <a:latin typeface="Consolas" pitchFamily="34" charset="0"/>
                <a:ea typeface="Consolas" pitchFamily="34" charset="-122"/>
                <a:cs typeface="Consolas" pitchFamily="34" charset="-120"/>
              </a:rPr>
              <a:t>  → TRAP (no translation)</a:t>
            </a:r>
            <a:endParaRPr lang="en-US" sz="1300" dirty="0"/>
          </a:p>
        </p:txBody>
      </p:sp>
      <p:sp>
        <p:nvSpPr>
          <p:cNvPr id="10" name="Shape 7"/>
          <p:cNvSpPr/>
          <p:nvPr/>
        </p:nvSpPr>
        <p:spPr>
          <a:xfrm>
            <a:off x="7863840" y="1554480"/>
            <a:ext cx="3794760" cy="3108960"/>
          </a:xfrm>
          <a:prstGeom prst="roundRect">
            <a:avLst>
              <a:gd name="adj" fmla="val 1471"/>
            </a:avLst>
          </a:prstGeom>
          <a:solidFill>
            <a:srgbClr val="212121"/>
          </a:solidFill>
          <a:ln/>
        </p:spPr>
        <p:txBody>
          <a:bodyPr/>
          <a:p/>
        </p:txBody>
      </p:sp>
      <p:sp>
        <p:nvSpPr>
          <p:cNvPr id="11" name="Text 8"/>
          <p:cNvSpPr txBox="1"/>
          <p:nvPr/>
        </p:nvSpPr>
        <p:spPr>
          <a:xfrm>
            <a:off x="8046720" y="1664208"/>
            <a:ext cx="3429000" cy="2889504"/>
          </a:xfrm>
          <a:prstGeom prst="rect">
            <a:avLst/>
          </a:prstGeom>
          <a:noFill/>
          <a:ln/>
        </p:spPr>
        <p:txBody>
          <a:bodyPr wrap="square" lIns="0" tIns="0" rIns="0" bIns="0" rtlCol="0" anchor="t"/>
          <a:lstStyle/>
          <a:p>
            <a:pPr indent="0" marL="0">
              <a:lnSpc>
                <a:spcPct val="105000"/>
              </a:lnSpc>
              <a:buNone/>
            </a:pPr>
            <a:r>
              <a:rPr lang="en-US" sz="1250" dirty="0">
                <a:solidFill>
                  <a:srgbClr val="F2F2F2"/>
                </a:solidFill>
                <a:latin typeface="Consolas" pitchFamily="34" charset="0"/>
                <a:ea typeface="Consolas" pitchFamily="34" charset="-122"/>
                <a:cs typeface="Consolas" pitchFamily="34" charset="-120"/>
              </a:rPr>
              <a:t>t_TLB = 10, t_m = 80 ns, α = 0.95</a:t>
            </a:r>
            <a:endParaRPr lang="en-US" sz="1250" dirty="0"/>
          </a:p>
          <a:p>
            <a:pPr indent="0" marL="0">
              <a:lnSpc>
                <a:spcPct val="105000"/>
              </a:lnSpc>
              <a:buNone/>
            </a:pPr>
            <a:r>
              <a:rPr lang="en-US" sz="1250" dirty="0">
                <a:solidFill>
                  <a:srgbClr val="F2F2F2"/>
                </a:solidFill>
                <a:latin typeface="Consolas" pitchFamily="34" charset="0"/>
                <a:ea typeface="Consolas" pitchFamily="34" charset="-122"/>
                <a:cs typeface="Consolas" pitchFamily="34" charset="-120"/>
              </a:rPr>
              <a:t>EAT = 0.95 × 90 + 0.05 × 170</a:t>
            </a:r>
            <a:endParaRPr lang="en-US" sz="1250" dirty="0"/>
          </a:p>
          <a:p>
            <a:pPr indent="0" marL="0">
              <a:lnSpc>
                <a:spcPct val="105000"/>
              </a:lnSpc>
              <a:buNone/>
            </a:pPr>
            <a:r>
              <a:rPr lang="en-US" sz="1250" dirty="0">
                <a:solidFill>
                  <a:srgbClr val="F2F2F2"/>
                </a:solidFill>
                <a:latin typeface="Consolas" pitchFamily="34" charset="0"/>
                <a:ea typeface="Consolas" pitchFamily="34" charset="-122"/>
                <a:cs typeface="Consolas" pitchFamily="34" charset="-120"/>
              </a:rPr>
              <a:t>    = 85.5 + 8.5 = 94 ns</a:t>
            </a:r>
            <a:endParaRPr lang="en-US" sz="1250" dirty="0"/>
          </a:p>
          <a:p>
            <a:pPr indent="0" marL="0">
              <a:lnSpc>
                <a:spcPct val="105000"/>
              </a:lnSpc>
              <a:buNone/>
            </a:pPr>
            <a:r>
              <a:rPr lang="en-US" sz="1250" dirty="0">
                <a:solidFill>
                  <a:srgbClr val="F2F2F2"/>
                </a:solidFill>
                <a:latin typeface="Consolas" pitchFamily="34" charset="0"/>
                <a:ea typeface="Consolas" pitchFamily="34" charset="-122"/>
                <a:cs typeface="Consolas" pitchFamily="34" charset="-120"/>
              </a:rPr>
              <a:t>check: 10 + 1.05 × 80 = 94</a:t>
            </a:r>
            <a:endParaRPr lang="en-US" sz="1250" dirty="0"/>
          </a:p>
          <a:p>
            <a:pPr indent="0" marL="0">
              <a:lnSpc>
                <a:spcPct val="105000"/>
              </a:lnSpc>
              <a:buNone/>
            </a:pPr>
            <a:r>
              <a:rPr lang="en-US" sz="1250" dirty="0">
                <a:solidFill>
                  <a:srgbClr val="F2F2F2"/>
                </a:solidFill>
                <a:latin typeface="Consolas" pitchFamily="34" charset="0"/>
                <a:ea typeface="Consolas" pitchFamily="34" charset="-122"/>
                <a:cs typeface="Consolas" pitchFamily="34" charset="-120"/>
              </a:rPr>
              <a:t>no TLB: 2 × 80 = 160 ns</a:t>
            </a:r>
            <a:endParaRPr lang="en-US" sz="1250" dirty="0"/>
          </a:p>
          <a:p>
            <a:pPr indent="0" marL="0">
              <a:lnSpc>
                <a:spcPct val="105000"/>
              </a:lnSpc>
              <a:buNone/>
            </a:pPr>
            <a:r>
              <a:rPr lang="en-US" sz="1250" dirty="0">
                <a:solidFill>
                  <a:srgbClr val="F2F2F2"/>
                </a:solidFill>
                <a:latin typeface="Consolas" pitchFamily="34" charset="0"/>
                <a:ea typeface="Consolas" pitchFamily="34" charset="-122"/>
                <a:cs typeface="Consolas" pitchFamily="34" charset="-120"/>
              </a:rPr>
              <a:t> </a:t>
            </a:r>
            <a:endParaRPr lang="en-US" sz="1250" dirty="0"/>
          </a:p>
          <a:p>
            <a:pPr indent="0" marL="0">
              <a:lnSpc>
                <a:spcPct val="105000"/>
              </a:lnSpc>
              <a:buNone/>
            </a:pPr>
            <a:r>
              <a:rPr lang="en-US" sz="1250" dirty="0">
                <a:solidFill>
                  <a:srgbClr val="F2F2F2"/>
                </a:solidFill>
                <a:latin typeface="Consolas" pitchFamily="34" charset="0"/>
                <a:ea typeface="Consolas" pitchFamily="34" charset="-122"/>
                <a:cs typeface="Consolas" pitchFamily="34" charset="-120"/>
              </a:rPr>
              <a:t>EAT = 100 ns → α = ?</a:t>
            </a:r>
            <a:endParaRPr lang="en-US" sz="1250" dirty="0"/>
          </a:p>
          <a:p>
            <a:pPr indent="0" marL="0">
              <a:lnSpc>
                <a:spcPct val="105000"/>
              </a:lnSpc>
              <a:buNone/>
            </a:pPr>
            <a:r>
              <a:rPr lang="en-US" sz="1250" dirty="0">
                <a:solidFill>
                  <a:srgbClr val="F2F2F2"/>
                </a:solidFill>
                <a:latin typeface="Consolas" pitchFamily="34" charset="0"/>
                <a:ea typeface="Consolas" pitchFamily="34" charset="-122"/>
                <a:cs typeface="Consolas" pitchFamily="34" charset="-120"/>
              </a:rPr>
              <a:t>10 + (2 − α) 80 = 100</a:t>
            </a:r>
            <a:endParaRPr lang="en-US" sz="1250" dirty="0"/>
          </a:p>
          <a:p>
            <a:pPr indent="0" marL="0">
              <a:lnSpc>
                <a:spcPct val="105000"/>
              </a:lnSpc>
              <a:buNone/>
            </a:pPr>
            <a:r>
              <a:rPr lang="en-US" sz="1250" dirty="0">
                <a:solidFill>
                  <a:srgbClr val="F2F2F2"/>
                </a:solidFill>
                <a:latin typeface="Consolas" pitchFamily="34" charset="0"/>
                <a:ea typeface="Consolas" pitchFamily="34" charset="-122"/>
                <a:cs typeface="Consolas" pitchFamily="34" charset="-120"/>
              </a:rPr>
              <a:t>α = 0.875</a:t>
            </a:r>
            <a:endParaRPr lang="en-US" sz="1250" dirty="0"/>
          </a:p>
        </p:txBody>
      </p:sp>
      <p:sp>
        <p:nvSpPr>
          <p:cNvPr id="12" name="Shape 9"/>
          <p:cNvSpPr/>
          <p:nvPr/>
        </p:nvSpPr>
        <p:spPr>
          <a:xfrm>
            <a:off x="7863840" y="4846320"/>
            <a:ext cx="3794760" cy="1417320"/>
          </a:xfrm>
          <a:prstGeom prst="roundRect">
            <a:avLst>
              <a:gd name="adj" fmla="val 3871"/>
            </a:avLst>
          </a:prstGeom>
          <a:solidFill>
            <a:srgbClr val="F2F2F2"/>
          </a:solidFill>
          <a:ln/>
          <a:effectLst>
            <a:outerShdw sx="100000" sy="100000" kx="0" ky="0" algn="bl" rotWithShape="0" blurRad="101600" dist="25400" dir="5400000">
              <a:srgbClr val="000000">
                <a:alpha val="12000"/>
              </a:srgbClr>
            </a:outerShdw>
          </a:effectLst>
        </p:spPr>
        <p:txBody>
          <a:bodyPr/>
          <a:p/>
        </p:txBody>
      </p:sp>
      <p:sp>
        <p:nvSpPr>
          <p:cNvPr id="13" name="Text 10"/>
          <p:cNvSpPr txBox="1"/>
          <p:nvPr/>
        </p:nvSpPr>
        <p:spPr>
          <a:xfrm>
            <a:off x="8092440" y="5029200"/>
            <a:ext cx="3337560" cy="384048"/>
          </a:xfrm>
          <a:prstGeom prst="rect">
            <a:avLst/>
          </a:prstGeom>
          <a:noFill/>
          <a:ln/>
        </p:spPr>
        <p:txBody>
          <a:bodyPr wrap="square" lIns="0" tIns="0" rIns="0" bIns="0" rtlCol="0" anchor="ctr"/>
          <a:lstStyle/>
          <a:p>
            <a:pPr indent="0" marL="0">
              <a:buNone/>
            </a:pPr>
            <a:r>
              <a:rPr lang="en-US" sz="1500" b="1" dirty="0">
                <a:solidFill>
                  <a:srgbClr val="028090"/>
                </a:solidFill>
                <a:latin typeface="Cambria" pitchFamily="34" charset="0"/>
                <a:ea typeface="Cambria" pitchFamily="34" charset="-122"/>
                <a:cs typeface="Cambria" pitchFamily="34" charset="-120"/>
              </a:rPr>
              <a:t>Simplified (t_TLB ≈ 0)</a:t>
            </a:r>
            <a:endParaRPr lang="en-US" sz="1500" dirty="0"/>
          </a:p>
        </p:txBody>
      </p:sp>
      <p:sp>
        <p:nvSpPr>
          <p:cNvPr id="14" name="Text 11"/>
          <p:cNvSpPr txBox="1"/>
          <p:nvPr/>
        </p:nvSpPr>
        <p:spPr>
          <a:xfrm>
            <a:off x="8092440" y="5486400"/>
            <a:ext cx="3337560" cy="640080"/>
          </a:xfrm>
          <a:prstGeom prst="rect">
            <a:avLst/>
          </a:prstGeom>
          <a:noFill/>
          <a:ln/>
        </p:spPr>
        <p:txBody>
          <a:bodyPr wrap="square" lIns="0" tIns="0" rIns="0" bIns="0" rtlCol="0" anchor="t"/>
          <a:lstStyle/>
          <a:p>
            <a:pPr indent="0" marL="0">
              <a:spcAft>
                <a:spcPts val="400"/>
              </a:spcAft>
              <a:buNone/>
            </a:pPr>
            <a:r>
              <a:rPr lang="en-US" sz="1300" dirty="0">
                <a:solidFill>
                  <a:srgbClr val="3A464C"/>
                </a:solidFill>
                <a:latin typeface="Calibri" pitchFamily="34" charset="0"/>
                <a:ea typeface="Calibri" pitchFamily="34" charset="-122"/>
                <a:cs typeface="Calibri" pitchFamily="34" charset="-120"/>
              </a:rPr>
              <a:t>0.95 × 80 + 0.05 × 160 = 84 ns. State your convention!</a:t>
            </a:r>
            <a:endParaRPr lang="en-US" sz="13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en-US" sz="1200" b="1" spc="200" kern="0" dirty="0">
                <a:solidFill>
                  <a:srgbClr val="02C39A"/>
                </a:solidFill>
                <a:latin typeface="Calibri" pitchFamily="34" charset="0"/>
                <a:ea typeface="Calibri" pitchFamily="34" charset="-122"/>
                <a:cs typeface="Calibri" pitchFamily="34" charset="-120"/>
              </a:rPr>
              <a:t>PROBLEM 6 · WEEK 7</a:t>
            </a:r>
            <a:endParaRPr lang="en-US"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en-US" sz="3000" b="1" dirty="0">
                <a:solidFill>
                  <a:srgbClr val="36454F"/>
                </a:solidFill>
                <a:latin typeface="Cambria" pitchFamily="34" charset="0"/>
                <a:ea typeface="Cambria" pitchFamily="34" charset="-122"/>
                <a:cs typeface="Cambria" pitchFamily="34" charset="-120"/>
              </a:rPr>
              <a:t>Page Replacement: FIFO and LRU, 3 Frames</a:t>
            </a:r>
            <a:endParaRPr lang="en-US" sz="3000" dirty="0"/>
          </a:p>
        </p:txBody>
      </p:sp>
      <p:sp>
        <p:nvSpPr>
          <p:cNvPr id="4" name="Text 2"/>
          <p:cNvSpPr txBox="1"/>
          <p:nvPr/>
        </p:nvSpPr>
        <p:spPr>
          <a:xfrm>
            <a:off x="548640" y="6528816"/>
            <a:ext cx="6400800" cy="274320"/>
          </a:xfrm>
          <a:prstGeom prst="rect">
            <a:avLst/>
          </a:prstGeom>
          <a:noFill/>
          <a:ln/>
        </p:spPr>
        <p:txBody>
          <a:bodyPr wrap="square" lIns="0" tIns="0" rIns="0" bIns="0" rtlCol="0" anchor="ctr"/>
          <a:lstStyle/>
          <a:p>
            <a:pPr indent="0" marL="0">
              <a:buNone/>
            </a:pPr>
            <a:r>
              <a:rPr lang="en-US" sz="900" dirty="0">
                <a:solidFill>
                  <a:srgbClr val="6B7679"/>
                </a:solidFill>
                <a:latin typeface="Calibri" pitchFamily="34" charset="0"/>
                <a:ea typeface="Calibri" pitchFamily="34" charset="-122"/>
                <a:cs typeface="Calibri" pitchFamily="34" charset="-120"/>
              </a:rPr>
              <a:t>MCMP117 — Fundamentals of Operating Systems</a:t>
            </a:r>
            <a:endParaRPr lang="en-US" sz="900" dirty="0"/>
          </a:p>
        </p:txBody>
      </p:sp>
      <p:sp>
        <p:nvSpPr>
          <p:cNvPr id="5" name="Text 3"/>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en-US" sz="900" dirty="0">
                <a:solidFill>
                  <a:srgbClr val="6B7679"/>
                </a:solidFill>
                <a:latin typeface="Calibri" pitchFamily="34" charset="0"/>
                <a:ea typeface="Calibri" pitchFamily="34" charset="-122"/>
                <a:cs typeface="Calibri" pitchFamily="34" charset="-120"/>
              </a:rPr>
              <a:t>Week 8  ·  29</a:t>
            </a:r>
            <a:endParaRPr lang="en-US" sz="900" dirty="0"/>
          </a:p>
        </p:txBody>
      </p:sp>
      <p:sp>
        <p:nvSpPr>
          <p:cNvPr id="6" name="Text 4"/>
          <p:cNvSpPr txBox="1"/>
          <p:nvPr/>
        </p:nvSpPr>
        <p:spPr>
          <a:xfrm>
            <a:off x="548640" y="1417320"/>
            <a:ext cx="11109960" cy="292608"/>
          </a:xfrm>
          <a:prstGeom prst="rect">
            <a:avLst/>
          </a:prstGeom>
          <a:noFill/>
          <a:ln/>
        </p:spPr>
        <p:txBody>
          <a:bodyPr wrap="square" lIns="0" tIns="0" rIns="0" bIns="0" rtlCol="0" anchor="t"/>
          <a:lstStyle/>
          <a:p>
            <a:pPr indent="0" marL="0">
              <a:buNone/>
            </a:pPr>
            <a:r>
              <a:rPr lang="en-US" sz="1300" i="1" dirty="0">
                <a:solidFill>
                  <a:srgbClr val="6B7679"/>
                </a:solidFill>
                <a:latin typeface="Calibri" pitchFamily="34" charset="0"/>
                <a:ea typeface="Calibri" pitchFamily="34" charset="-122"/>
                <a:cs typeface="Calibri" pitchFamily="34" charset="-120"/>
              </a:rPr>
              <a:t>Reference string: 1, 2, 0, 4, 2, 3, 2, 1, 2, 4, 0, 2, 0, 1   ·   3 frames, initially empty</a:t>
            </a:r>
            <a:endParaRPr lang="en-US" sz="1300" dirty="0"/>
          </a:p>
        </p:txBody>
      </p:sp>
      <p:sp>
        <p:nvSpPr>
          <p:cNvPr id="7" name="Text 5"/>
          <p:cNvSpPr txBox="1"/>
          <p:nvPr/>
        </p:nvSpPr>
        <p:spPr>
          <a:xfrm>
            <a:off x="548640" y="1737360"/>
            <a:ext cx="1828800" cy="292608"/>
          </a:xfrm>
          <a:prstGeom prst="rect">
            <a:avLst/>
          </a:prstGeom>
          <a:noFill/>
          <a:ln/>
        </p:spPr>
        <p:txBody>
          <a:bodyPr wrap="square" lIns="0" tIns="0" rIns="0" bIns="0" rtlCol="0" anchor="t"/>
          <a:lstStyle/>
          <a:p>
            <a:pPr indent="0" marL="0">
              <a:buNone/>
            </a:pPr>
            <a:r>
              <a:rPr lang="en-US" sz="1400" b="1" dirty="0">
                <a:solidFill>
                  <a:srgbClr val="028090"/>
                </a:solidFill>
                <a:latin typeface="Calibri" pitchFamily="34" charset="0"/>
                <a:ea typeface="Calibri" pitchFamily="34" charset="-122"/>
                <a:cs typeface="Calibri" pitchFamily="34" charset="-120"/>
              </a:rPr>
              <a:t>FIFO</a:t>
            </a:r>
            <a:endParaRPr lang="en-US" sz="1400" dirty="0"/>
          </a:p>
        </p:txBody>
      </p:sp>
      <p:sp>
        <p:nvSpPr>
          <p:cNvPr id="8" name="Text 6"/>
          <p:cNvSpPr txBox="1"/>
          <p:nvPr/>
        </p:nvSpPr>
        <p:spPr>
          <a:xfrm>
            <a:off x="548640" y="2011680"/>
            <a:ext cx="795528" cy="329184"/>
          </a:xfrm>
          <a:prstGeom prst="rect">
            <a:avLst/>
          </a:prstGeom>
          <a:noFill/>
          <a:ln/>
        </p:spPr>
        <p:txBody>
          <a:bodyPr wrap="square" lIns="0" tIns="0" rIns="0" bIns="0" rtlCol="0" anchor="ctr"/>
          <a:lstStyle/>
          <a:p>
            <a:pPr algn="r" indent="0" marL="0">
              <a:buNone/>
            </a:pPr>
            <a:r>
              <a:rPr lang="en-US" sz="1050" i="1" dirty="0">
                <a:solidFill>
                  <a:srgbClr val="6B7679"/>
                </a:solidFill>
                <a:latin typeface="Calibri" pitchFamily="34" charset="0"/>
                <a:ea typeface="Calibri" pitchFamily="34" charset="-122"/>
                <a:cs typeface="Calibri" pitchFamily="34" charset="-120"/>
              </a:rPr>
              <a:t>reference</a:t>
            </a:r>
            <a:endParaRPr lang="en-US" sz="1050" dirty="0"/>
          </a:p>
        </p:txBody>
      </p:sp>
      <p:sp>
        <p:nvSpPr>
          <p:cNvPr id="9" name="Text 7"/>
          <p:cNvSpPr txBox="1"/>
          <p:nvPr/>
        </p:nvSpPr>
        <p:spPr>
          <a:xfrm>
            <a:off x="548640" y="2340864"/>
            <a:ext cx="795528" cy="329184"/>
          </a:xfrm>
          <a:prstGeom prst="rect">
            <a:avLst/>
          </a:prstGeom>
          <a:noFill/>
          <a:ln/>
        </p:spPr>
        <p:txBody>
          <a:bodyPr wrap="square" lIns="0" tIns="0" rIns="0" bIns="0" rtlCol="0" anchor="ctr"/>
          <a:lstStyle/>
          <a:p>
            <a:pPr algn="r" indent="0" marL="0">
              <a:buNone/>
            </a:pPr>
            <a:r>
              <a:rPr lang="en-US" sz="1050" i="1" dirty="0">
                <a:solidFill>
                  <a:srgbClr val="6B7679"/>
                </a:solidFill>
                <a:latin typeface="Calibri" pitchFamily="34" charset="0"/>
                <a:ea typeface="Calibri" pitchFamily="34" charset="-122"/>
                <a:cs typeface="Calibri" pitchFamily="34" charset="-120"/>
              </a:rPr>
              <a:t>frame 0</a:t>
            </a:r>
            <a:endParaRPr lang="en-US" sz="1050" dirty="0"/>
          </a:p>
        </p:txBody>
      </p:sp>
      <p:sp>
        <p:nvSpPr>
          <p:cNvPr id="10" name="Text 8"/>
          <p:cNvSpPr txBox="1"/>
          <p:nvPr/>
        </p:nvSpPr>
        <p:spPr>
          <a:xfrm>
            <a:off x="548640" y="2670048"/>
            <a:ext cx="795528" cy="329184"/>
          </a:xfrm>
          <a:prstGeom prst="rect">
            <a:avLst/>
          </a:prstGeom>
          <a:noFill/>
          <a:ln/>
        </p:spPr>
        <p:txBody>
          <a:bodyPr wrap="square" lIns="0" tIns="0" rIns="0" bIns="0" rtlCol="0" anchor="ctr"/>
          <a:lstStyle/>
          <a:p>
            <a:pPr algn="r" indent="0" marL="0">
              <a:buNone/>
            </a:pPr>
            <a:r>
              <a:rPr lang="en-US" sz="1050" i="1" dirty="0">
                <a:solidFill>
                  <a:srgbClr val="6B7679"/>
                </a:solidFill>
                <a:latin typeface="Calibri" pitchFamily="34" charset="0"/>
                <a:ea typeface="Calibri" pitchFamily="34" charset="-122"/>
                <a:cs typeface="Calibri" pitchFamily="34" charset="-120"/>
              </a:rPr>
              <a:t>frame 1</a:t>
            </a:r>
            <a:endParaRPr lang="en-US" sz="1050" dirty="0"/>
          </a:p>
        </p:txBody>
      </p:sp>
      <p:sp>
        <p:nvSpPr>
          <p:cNvPr id="11" name="Text 9"/>
          <p:cNvSpPr txBox="1"/>
          <p:nvPr/>
        </p:nvSpPr>
        <p:spPr>
          <a:xfrm>
            <a:off x="548640" y="2999232"/>
            <a:ext cx="795528" cy="329184"/>
          </a:xfrm>
          <a:prstGeom prst="rect">
            <a:avLst/>
          </a:prstGeom>
          <a:noFill/>
          <a:ln/>
        </p:spPr>
        <p:txBody>
          <a:bodyPr wrap="square" lIns="0" tIns="0" rIns="0" bIns="0" rtlCol="0" anchor="ctr"/>
          <a:lstStyle/>
          <a:p>
            <a:pPr algn="r" indent="0" marL="0">
              <a:buNone/>
            </a:pPr>
            <a:r>
              <a:rPr lang="en-US" sz="1050" i="1" dirty="0">
                <a:solidFill>
                  <a:srgbClr val="6B7679"/>
                </a:solidFill>
                <a:latin typeface="Calibri" pitchFamily="34" charset="0"/>
                <a:ea typeface="Calibri" pitchFamily="34" charset="-122"/>
                <a:cs typeface="Calibri" pitchFamily="34" charset="-120"/>
              </a:rPr>
              <a:t>frame 2</a:t>
            </a:r>
            <a:endParaRPr lang="en-US" sz="1050" dirty="0"/>
          </a:p>
        </p:txBody>
      </p:sp>
      <p:sp>
        <p:nvSpPr>
          <p:cNvPr id="12" name="Text 10"/>
          <p:cNvSpPr txBox="1"/>
          <p:nvPr/>
        </p:nvSpPr>
        <p:spPr>
          <a:xfrm>
            <a:off x="548640" y="3328416"/>
            <a:ext cx="795528" cy="329184"/>
          </a:xfrm>
          <a:prstGeom prst="rect">
            <a:avLst/>
          </a:prstGeom>
          <a:noFill/>
          <a:ln/>
        </p:spPr>
        <p:txBody>
          <a:bodyPr wrap="square" lIns="0" tIns="0" rIns="0" bIns="0" rtlCol="0" anchor="ctr"/>
          <a:lstStyle/>
          <a:p>
            <a:pPr algn="r" indent="0" marL="0">
              <a:buNone/>
            </a:pPr>
            <a:r>
              <a:rPr lang="en-US" sz="1050" i="1" dirty="0">
                <a:solidFill>
                  <a:srgbClr val="6B7679"/>
                </a:solidFill>
                <a:latin typeface="Calibri" pitchFamily="34" charset="0"/>
                <a:ea typeface="Calibri" pitchFamily="34" charset="-122"/>
                <a:cs typeface="Calibri" pitchFamily="34" charset="-120"/>
              </a:rPr>
              <a:t>fault?</a:t>
            </a:r>
            <a:endParaRPr lang="en-US" sz="1050" dirty="0"/>
          </a:p>
        </p:txBody>
      </p:sp>
      <p:sp>
        <p:nvSpPr>
          <p:cNvPr id="13" name="Shape 11"/>
          <p:cNvSpPr/>
          <p:nvPr/>
        </p:nvSpPr>
        <p:spPr>
          <a:xfrm>
            <a:off x="1435608" y="2029968"/>
            <a:ext cx="528393" cy="292608"/>
          </a:xfrm>
          <a:prstGeom prst="roundRect">
            <a:avLst>
              <a:gd name="adj" fmla="val 15625"/>
            </a:avLst>
          </a:prstGeom>
          <a:solidFill>
            <a:srgbClr val="36454F"/>
          </a:solidFill>
          <a:ln/>
        </p:spPr>
        <p:txBody>
          <a:bodyPr/>
          <a:p/>
        </p:txBody>
      </p:sp>
      <p:sp>
        <p:nvSpPr>
          <p:cNvPr id="14" name="Text 12"/>
          <p:cNvSpPr txBox="1"/>
          <p:nvPr/>
        </p:nvSpPr>
        <p:spPr>
          <a:xfrm>
            <a:off x="1435608" y="2029968"/>
            <a:ext cx="528393" cy="292608"/>
          </a:xfrm>
          <a:prstGeom prst="rect">
            <a:avLst/>
          </a:prstGeom>
          <a:noFill/>
          <a:ln/>
        </p:spPr>
        <p:txBody>
          <a:bodyPr wrap="square" lIns="38100" tIns="38100" rIns="38100" bIns="3810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15" name="Shape 13"/>
          <p:cNvSpPr/>
          <p:nvPr/>
        </p:nvSpPr>
        <p:spPr>
          <a:xfrm>
            <a:off x="1435608" y="2359152"/>
            <a:ext cx="528393" cy="292608"/>
          </a:xfrm>
          <a:prstGeom prst="roundRect">
            <a:avLst>
              <a:gd name="adj" fmla="val 15625"/>
            </a:avLst>
          </a:prstGeom>
          <a:solidFill>
            <a:srgbClr val="02C39A"/>
          </a:solidFill>
          <a:ln/>
        </p:spPr>
        <p:txBody>
          <a:bodyPr/>
          <a:p/>
        </p:txBody>
      </p:sp>
      <p:sp>
        <p:nvSpPr>
          <p:cNvPr id="16" name="Text 14"/>
          <p:cNvSpPr txBox="1"/>
          <p:nvPr/>
        </p:nvSpPr>
        <p:spPr>
          <a:xfrm>
            <a:off x="1435608" y="2359152"/>
            <a:ext cx="528393" cy="292608"/>
          </a:xfrm>
          <a:prstGeom prst="rect">
            <a:avLst/>
          </a:prstGeom>
          <a:noFill/>
          <a:ln/>
        </p:spPr>
        <p:txBody>
          <a:bodyPr wrap="square" lIns="38100" tIns="38100" rIns="38100" bIns="38100" rtlCol="0" anchor="ctr"/>
          <a:lstStyle/>
          <a:p>
            <a:pPr algn="ctr" indent="0" marL="0">
              <a:buNone/>
            </a:pPr>
            <a:r>
              <a:rPr lang="en-US" sz="1300" b="1" dirty="0">
                <a:solidFill>
                  <a:srgbClr val="212121"/>
                </a:solidFill>
                <a:latin typeface="Calibri" pitchFamily="34" charset="0"/>
                <a:ea typeface="Calibri" pitchFamily="34" charset="-122"/>
                <a:cs typeface="Calibri" pitchFamily="34" charset="-120"/>
              </a:rPr>
              <a:t>1</a:t>
            </a:r>
            <a:endParaRPr lang="en-US" sz="1300" dirty="0"/>
          </a:p>
        </p:txBody>
      </p:sp>
      <p:sp>
        <p:nvSpPr>
          <p:cNvPr id="17" name="Shape 15"/>
          <p:cNvSpPr/>
          <p:nvPr/>
        </p:nvSpPr>
        <p:spPr>
          <a:xfrm>
            <a:off x="1435608" y="2688336"/>
            <a:ext cx="528393" cy="292608"/>
          </a:xfrm>
          <a:prstGeom prst="roundRect">
            <a:avLst>
              <a:gd name="adj" fmla="val 15625"/>
            </a:avLst>
          </a:prstGeom>
          <a:solidFill>
            <a:srgbClr val="D7E9E6"/>
          </a:solidFill>
          <a:ln/>
        </p:spPr>
        <p:txBody>
          <a:bodyPr/>
          <a:p/>
        </p:txBody>
      </p:sp>
      <p:sp>
        <p:nvSpPr>
          <p:cNvPr id="18" name="Text 16"/>
          <p:cNvSpPr txBox="1"/>
          <p:nvPr/>
        </p:nvSpPr>
        <p:spPr>
          <a:xfrm>
            <a:off x="1435608" y="2688336"/>
            <a:ext cx="528393" cy="292608"/>
          </a:xfrm>
          <a:prstGeom prst="rect">
            <a:avLst/>
          </a:prstGeom>
          <a:noFill/>
          <a:ln/>
        </p:spPr>
        <p:txBody>
          <a:bodyPr wrap="square" lIns="38100" tIns="38100" rIns="38100" bIns="38100" rtlCol="0" anchor="ctr"/>
          <a:lstStyle/>
          <a:p>
            <a:pPr algn="ctr" indent="0" marL="0">
              <a:buNone/>
            </a:pPr>
            <a:endParaRPr lang="en-US" sz="1300" dirty="0"/>
          </a:p>
        </p:txBody>
      </p:sp>
      <p:sp>
        <p:nvSpPr>
          <p:cNvPr id="19" name="Shape 17"/>
          <p:cNvSpPr/>
          <p:nvPr/>
        </p:nvSpPr>
        <p:spPr>
          <a:xfrm>
            <a:off x="1435608" y="3017520"/>
            <a:ext cx="528393" cy="292608"/>
          </a:xfrm>
          <a:prstGeom prst="roundRect">
            <a:avLst>
              <a:gd name="adj" fmla="val 15625"/>
            </a:avLst>
          </a:prstGeom>
          <a:solidFill>
            <a:srgbClr val="D7E9E6"/>
          </a:solidFill>
          <a:ln/>
        </p:spPr>
        <p:txBody>
          <a:bodyPr/>
          <a:p/>
        </p:txBody>
      </p:sp>
      <p:sp>
        <p:nvSpPr>
          <p:cNvPr id="20" name="Text 18"/>
          <p:cNvSpPr txBox="1"/>
          <p:nvPr/>
        </p:nvSpPr>
        <p:spPr>
          <a:xfrm>
            <a:off x="1435608" y="3017520"/>
            <a:ext cx="528393" cy="292608"/>
          </a:xfrm>
          <a:prstGeom prst="rect">
            <a:avLst/>
          </a:prstGeom>
          <a:noFill/>
          <a:ln/>
        </p:spPr>
        <p:txBody>
          <a:bodyPr wrap="square" lIns="38100" tIns="38100" rIns="38100" bIns="38100" rtlCol="0" anchor="ctr"/>
          <a:lstStyle/>
          <a:p>
            <a:pPr algn="ctr" indent="0" marL="0">
              <a:buNone/>
            </a:pPr>
            <a:endParaRPr lang="en-US" sz="1300" dirty="0"/>
          </a:p>
        </p:txBody>
      </p:sp>
      <p:sp>
        <p:nvSpPr>
          <p:cNvPr id="21" name="Text 19"/>
          <p:cNvSpPr txBox="1"/>
          <p:nvPr/>
        </p:nvSpPr>
        <p:spPr>
          <a:xfrm>
            <a:off x="1417320" y="3328416"/>
            <a:ext cx="564969" cy="329184"/>
          </a:xfrm>
          <a:prstGeom prst="rect">
            <a:avLst/>
          </a:prstGeom>
          <a:noFill/>
          <a:ln/>
        </p:spPr>
        <p:txBody>
          <a:bodyPr wrap="square" lIns="0" tIns="0" rIns="0" bIns="0" rtlCol="0" anchor="ctr"/>
          <a:lstStyle/>
          <a:p>
            <a:pPr algn="ctr" indent="0" marL="0">
              <a:buNone/>
            </a:pPr>
            <a:r>
              <a:rPr lang="en-US" sz="1300" b="1" dirty="0">
                <a:solidFill>
                  <a:srgbClr val="B5453A"/>
                </a:solidFill>
                <a:latin typeface="Calibri" pitchFamily="34" charset="0"/>
                <a:ea typeface="Calibri" pitchFamily="34" charset="-122"/>
                <a:cs typeface="Calibri" pitchFamily="34" charset="-120"/>
              </a:rPr>
              <a:t>F</a:t>
            </a:r>
            <a:endParaRPr lang="en-US" sz="1300" dirty="0"/>
          </a:p>
        </p:txBody>
      </p:sp>
      <p:sp>
        <p:nvSpPr>
          <p:cNvPr id="22" name="Shape 20"/>
          <p:cNvSpPr/>
          <p:nvPr/>
        </p:nvSpPr>
        <p:spPr>
          <a:xfrm>
            <a:off x="2000577" y="2029968"/>
            <a:ext cx="528393" cy="292608"/>
          </a:xfrm>
          <a:prstGeom prst="roundRect">
            <a:avLst>
              <a:gd name="adj" fmla="val 15625"/>
            </a:avLst>
          </a:prstGeom>
          <a:solidFill>
            <a:srgbClr val="36454F"/>
          </a:solidFill>
          <a:ln/>
        </p:spPr>
        <p:txBody>
          <a:bodyPr/>
          <a:p/>
        </p:txBody>
      </p:sp>
      <p:sp>
        <p:nvSpPr>
          <p:cNvPr id="23" name="Text 21"/>
          <p:cNvSpPr txBox="1"/>
          <p:nvPr/>
        </p:nvSpPr>
        <p:spPr>
          <a:xfrm>
            <a:off x="2000577" y="2029968"/>
            <a:ext cx="528393" cy="292608"/>
          </a:xfrm>
          <a:prstGeom prst="rect">
            <a:avLst/>
          </a:prstGeom>
          <a:noFill/>
          <a:ln/>
        </p:spPr>
        <p:txBody>
          <a:bodyPr wrap="square" lIns="38100" tIns="38100" rIns="38100" bIns="3810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24" name="Shape 22"/>
          <p:cNvSpPr/>
          <p:nvPr/>
        </p:nvSpPr>
        <p:spPr>
          <a:xfrm>
            <a:off x="2000577" y="2359152"/>
            <a:ext cx="528393" cy="292608"/>
          </a:xfrm>
          <a:prstGeom prst="roundRect">
            <a:avLst>
              <a:gd name="adj" fmla="val 15625"/>
            </a:avLst>
          </a:prstGeom>
          <a:solidFill>
            <a:srgbClr val="D7E9E6"/>
          </a:solidFill>
          <a:ln/>
        </p:spPr>
        <p:txBody>
          <a:bodyPr/>
          <a:p/>
        </p:txBody>
      </p:sp>
      <p:sp>
        <p:nvSpPr>
          <p:cNvPr id="25" name="Text 23"/>
          <p:cNvSpPr txBox="1"/>
          <p:nvPr/>
        </p:nvSpPr>
        <p:spPr>
          <a:xfrm>
            <a:off x="2000577" y="2359152"/>
            <a:ext cx="528393" cy="292608"/>
          </a:xfrm>
          <a:prstGeom prst="rect">
            <a:avLst/>
          </a:prstGeom>
          <a:noFill/>
          <a:ln/>
        </p:spPr>
        <p:txBody>
          <a:bodyPr wrap="square" lIns="38100" tIns="38100" rIns="38100" bIns="38100" rtlCol="0" anchor="ctr"/>
          <a:lstStyle/>
          <a:p>
            <a:pPr algn="ctr" indent="0" marL="0">
              <a:buNone/>
            </a:pPr>
            <a:r>
              <a:rPr lang="en-US" sz="1300" dirty="0">
                <a:solidFill>
                  <a:srgbClr val="212121"/>
                </a:solidFill>
                <a:latin typeface="Calibri" pitchFamily="34" charset="0"/>
                <a:ea typeface="Calibri" pitchFamily="34" charset="-122"/>
                <a:cs typeface="Calibri" pitchFamily="34" charset="-120"/>
              </a:rPr>
              <a:t>1</a:t>
            </a:r>
            <a:endParaRPr lang="en-US" sz="1300" dirty="0"/>
          </a:p>
        </p:txBody>
      </p:sp>
      <p:sp>
        <p:nvSpPr>
          <p:cNvPr id="26" name="Shape 24"/>
          <p:cNvSpPr/>
          <p:nvPr/>
        </p:nvSpPr>
        <p:spPr>
          <a:xfrm>
            <a:off x="2000577" y="2688336"/>
            <a:ext cx="528393" cy="292608"/>
          </a:xfrm>
          <a:prstGeom prst="roundRect">
            <a:avLst>
              <a:gd name="adj" fmla="val 15625"/>
            </a:avLst>
          </a:prstGeom>
          <a:solidFill>
            <a:srgbClr val="02C39A"/>
          </a:solidFill>
          <a:ln/>
        </p:spPr>
        <p:txBody>
          <a:bodyPr/>
          <a:p/>
        </p:txBody>
      </p:sp>
      <p:sp>
        <p:nvSpPr>
          <p:cNvPr id="27" name="Text 25"/>
          <p:cNvSpPr txBox="1"/>
          <p:nvPr/>
        </p:nvSpPr>
        <p:spPr>
          <a:xfrm>
            <a:off x="2000577" y="2688336"/>
            <a:ext cx="528393" cy="292608"/>
          </a:xfrm>
          <a:prstGeom prst="rect">
            <a:avLst/>
          </a:prstGeom>
          <a:noFill/>
          <a:ln/>
        </p:spPr>
        <p:txBody>
          <a:bodyPr wrap="square" lIns="38100" tIns="38100" rIns="38100" bIns="38100" rtlCol="0" anchor="ctr"/>
          <a:lstStyle/>
          <a:p>
            <a:pPr algn="ctr" indent="0" marL="0">
              <a:buNone/>
            </a:pPr>
            <a:r>
              <a:rPr lang="en-US" sz="1300" b="1" dirty="0">
                <a:solidFill>
                  <a:srgbClr val="212121"/>
                </a:solidFill>
                <a:latin typeface="Calibri" pitchFamily="34" charset="0"/>
                <a:ea typeface="Calibri" pitchFamily="34" charset="-122"/>
                <a:cs typeface="Calibri" pitchFamily="34" charset="-120"/>
              </a:rPr>
              <a:t>2</a:t>
            </a:r>
            <a:endParaRPr lang="en-US" sz="1300" dirty="0"/>
          </a:p>
        </p:txBody>
      </p:sp>
      <p:sp>
        <p:nvSpPr>
          <p:cNvPr id="28" name="Shape 26"/>
          <p:cNvSpPr/>
          <p:nvPr/>
        </p:nvSpPr>
        <p:spPr>
          <a:xfrm>
            <a:off x="2000577" y="3017520"/>
            <a:ext cx="528393" cy="292608"/>
          </a:xfrm>
          <a:prstGeom prst="roundRect">
            <a:avLst>
              <a:gd name="adj" fmla="val 15625"/>
            </a:avLst>
          </a:prstGeom>
          <a:solidFill>
            <a:srgbClr val="D7E9E6"/>
          </a:solidFill>
          <a:ln/>
        </p:spPr>
        <p:txBody>
          <a:bodyPr/>
          <a:p/>
        </p:txBody>
      </p:sp>
      <p:sp>
        <p:nvSpPr>
          <p:cNvPr id="29" name="Text 27"/>
          <p:cNvSpPr txBox="1"/>
          <p:nvPr/>
        </p:nvSpPr>
        <p:spPr>
          <a:xfrm>
            <a:off x="2000577" y="3017520"/>
            <a:ext cx="528393" cy="292608"/>
          </a:xfrm>
          <a:prstGeom prst="rect">
            <a:avLst/>
          </a:prstGeom>
          <a:noFill/>
          <a:ln/>
        </p:spPr>
        <p:txBody>
          <a:bodyPr wrap="square" lIns="38100" tIns="38100" rIns="38100" bIns="38100" rtlCol="0" anchor="ctr"/>
          <a:lstStyle/>
          <a:p>
            <a:pPr algn="ctr" indent="0" marL="0">
              <a:buNone/>
            </a:pPr>
            <a:endParaRPr lang="en-US" sz="1300" dirty="0"/>
          </a:p>
        </p:txBody>
      </p:sp>
      <p:sp>
        <p:nvSpPr>
          <p:cNvPr id="30" name="Text 28"/>
          <p:cNvSpPr txBox="1"/>
          <p:nvPr/>
        </p:nvSpPr>
        <p:spPr>
          <a:xfrm>
            <a:off x="1982289" y="3328416"/>
            <a:ext cx="564969" cy="329184"/>
          </a:xfrm>
          <a:prstGeom prst="rect">
            <a:avLst/>
          </a:prstGeom>
          <a:noFill/>
          <a:ln/>
        </p:spPr>
        <p:txBody>
          <a:bodyPr wrap="square" lIns="0" tIns="0" rIns="0" bIns="0" rtlCol="0" anchor="ctr"/>
          <a:lstStyle/>
          <a:p>
            <a:pPr algn="ctr" indent="0" marL="0">
              <a:buNone/>
            </a:pPr>
            <a:r>
              <a:rPr lang="en-US" sz="1300" b="1" dirty="0">
                <a:solidFill>
                  <a:srgbClr val="B5453A"/>
                </a:solidFill>
                <a:latin typeface="Calibri" pitchFamily="34" charset="0"/>
                <a:ea typeface="Calibri" pitchFamily="34" charset="-122"/>
                <a:cs typeface="Calibri" pitchFamily="34" charset="-120"/>
              </a:rPr>
              <a:t>F</a:t>
            </a:r>
            <a:endParaRPr lang="en-US" sz="1300" dirty="0"/>
          </a:p>
        </p:txBody>
      </p:sp>
      <p:sp>
        <p:nvSpPr>
          <p:cNvPr id="31" name="Shape 29"/>
          <p:cNvSpPr/>
          <p:nvPr/>
        </p:nvSpPr>
        <p:spPr>
          <a:xfrm>
            <a:off x="2565545" y="2029968"/>
            <a:ext cx="528393" cy="292608"/>
          </a:xfrm>
          <a:prstGeom prst="roundRect">
            <a:avLst>
              <a:gd name="adj" fmla="val 15625"/>
            </a:avLst>
          </a:prstGeom>
          <a:solidFill>
            <a:srgbClr val="36454F"/>
          </a:solidFill>
          <a:ln/>
        </p:spPr>
        <p:txBody>
          <a:bodyPr/>
          <a:p/>
        </p:txBody>
      </p:sp>
      <p:sp>
        <p:nvSpPr>
          <p:cNvPr id="32" name="Text 30"/>
          <p:cNvSpPr txBox="1"/>
          <p:nvPr/>
        </p:nvSpPr>
        <p:spPr>
          <a:xfrm>
            <a:off x="2565545" y="2029968"/>
            <a:ext cx="528393" cy="292608"/>
          </a:xfrm>
          <a:prstGeom prst="rect">
            <a:avLst/>
          </a:prstGeom>
          <a:noFill/>
          <a:ln/>
        </p:spPr>
        <p:txBody>
          <a:bodyPr wrap="square" lIns="38100" tIns="38100" rIns="38100" bIns="3810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a:t>
            </a:r>
            <a:endParaRPr lang="en-US" sz="1300" dirty="0"/>
          </a:p>
        </p:txBody>
      </p:sp>
      <p:sp>
        <p:nvSpPr>
          <p:cNvPr id="33" name="Shape 31"/>
          <p:cNvSpPr/>
          <p:nvPr/>
        </p:nvSpPr>
        <p:spPr>
          <a:xfrm>
            <a:off x="2565545" y="2359152"/>
            <a:ext cx="528393" cy="292608"/>
          </a:xfrm>
          <a:prstGeom prst="roundRect">
            <a:avLst>
              <a:gd name="adj" fmla="val 15625"/>
            </a:avLst>
          </a:prstGeom>
          <a:solidFill>
            <a:srgbClr val="D7E9E6"/>
          </a:solidFill>
          <a:ln/>
        </p:spPr>
        <p:txBody>
          <a:bodyPr/>
          <a:p/>
        </p:txBody>
      </p:sp>
      <p:sp>
        <p:nvSpPr>
          <p:cNvPr id="34" name="Text 32"/>
          <p:cNvSpPr txBox="1"/>
          <p:nvPr/>
        </p:nvSpPr>
        <p:spPr>
          <a:xfrm>
            <a:off x="2565545" y="2359152"/>
            <a:ext cx="528393" cy="292608"/>
          </a:xfrm>
          <a:prstGeom prst="rect">
            <a:avLst/>
          </a:prstGeom>
          <a:noFill/>
          <a:ln/>
        </p:spPr>
        <p:txBody>
          <a:bodyPr wrap="square" lIns="38100" tIns="38100" rIns="38100" bIns="38100" rtlCol="0" anchor="ctr"/>
          <a:lstStyle/>
          <a:p>
            <a:pPr algn="ctr" indent="0" marL="0">
              <a:buNone/>
            </a:pPr>
            <a:r>
              <a:rPr lang="en-US" sz="1300" dirty="0">
                <a:solidFill>
                  <a:srgbClr val="212121"/>
                </a:solidFill>
                <a:latin typeface="Calibri" pitchFamily="34" charset="0"/>
                <a:ea typeface="Calibri" pitchFamily="34" charset="-122"/>
                <a:cs typeface="Calibri" pitchFamily="34" charset="-120"/>
              </a:rPr>
              <a:t>1</a:t>
            </a:r>
            <a:endParaRPr lang="en-US" sz="1300" dirty="0"/>
          </a:p>
        </p:txBody>
      </p:sp>
      <p:sp>
        <p:nvSpPr>
          <p:cNvPr id="35" name="Shape 33"/>
          <p:cNvSpPr/>
          <p:nvPr/>
        </p:nvSpPr>
        <p:spPr>
          <a:xfrm>
            <a:off x="2565545" y="2688336"/>
            <a:ext cx="528393" cy="292608"/>
          </a:xfrm>
          <a:prstGeom prst="roundRect">
            <a:avLst>
              <a:gd name="adj" fmla="val 15625"/>
            </a:avLst>
          </a:prstGeom>
          <a:solidFill>
            <a:srgbClr val="D7E9E6"/>
          </a:solidFill>
          <a:ln/>
        </p:spPr>
        <p:txBody>
          <a:bodyPr/>
          <a:p/>
        </p:txBody>
      </p:sp>
      <p:sp>
        <p:nvSpPr>
          <p:cNvPr id="36" name="Text 34"/>
          <p:cNvSpPr txBox="1"/>
          <p:nvPr/>
        </p:nvSpPr>
        <p:spPr>
          <a:xfrm>
            <a:off x="2565545" y="2688336"/>
            <a:ext cx="528393" cy="292608"/>
          </a:xfrm>
          <a:prstGeom prst="rect">
            <a:avLst/>
          </a:prstGeom>
          <a:noFill/>
          <a:ln/>
        </p:spPr>
        <p:txBody>
          <a:bodyPr wrap="square" lIns="38100" tIns="38100" rIns="38100" bIns="38100" rtlCol="0" anchor="ctr"/>
          <a:lstStyle/>
          <a:p>
            <a:pPr algn="ctr" indent="0" marL="0">
              <a:buNone/>
            </a:pPr>
            <a:r>
              <a:rPr lang="en-US" sz="1300" dirty="0">
                <a:solidFill>
                  <a:srgbClr val="212121"/>
                </a:solidFill>
                <a:latin typeface="Calibri" pitchFamily="34" charset="0"/>
                <a:ea typeface="Calibri" pitchFamily="34" charset="-122"/>
                <a:cs typeface="Calibri" pitchFamily="34" charset="-120"/>
              </a:rPr>
              <a:t>2</a:t>
            </a:r>
            <a:endParaRPr lang="en-US" sz="1300" dirty="0"/>
          </a:p>
        </p:txBody>
      </p:sp>
      <p:sp>
        <p:nvSpPr>
          <p:cNvPr id="37" name="Shape 35"/>
          <p:cNvSpPr/>
          <p:nvPr/>
        </p:nvSpPr>
        <p:spPr>
          <a:xfrm>
            <a:off x="2565545" y="3017520"/>
            <a:ext cx="528393" cy="292608"/>
          </a:xfrm>
          <a:prstGeom prst="roundRect">
            <a:avLst>
              <a:gd name="adj" fmla="val 15625"/>
            </a:avLst>
          </a:prstGeom>
          <a:solidFill>
            <a:srgbClr val="02C39A"/>
          </a:solidFill>
          <a:ln/>
        </p:spPr>
        <p:txBody>
          <a:bodyPr/>
          <a:p/>
        </p:txBody>
      </p:sp>
      <p:sp>
        <p:nvSpPr>
          <p:cNvPr id="38" name="Text 36"/>
          <p:cNvSpPr txBox="1"/>
          <p:nvPr/>
        </p:nvSpPr>
        <p:spPr>
          <a:xfrm>
            <a:off x="2565545" y="3017520"/>
            <a:ext cx="528393" cy="292608"/>
          </a:xfrm>
          <a:prstGeom prst="rect">
            <a:avLst/>
          </a:prstGeom>
          <a:noFill/>
          <a:ln/>
        </p:spPr>
        <p:txBody>
          <a:bodyPr wrap="square" lIns="38100" tIns="38100" rIns="38100" bIns="38100" rtlCol="0" anchor="ctr"/>
          <a:lstStyle/>
          <a:p>
            <a:pPr algn="ctr" indent="0" marL="0">
              <a:buNone/>
            </a:pPr>
            <a:r>
              <a:rPr lang="en-US" sz="1300" b="1" dirty="0">
                <a:solidFill>
                  <a:srgbClr val="212121"/>
                </a:solidFill>
                <a:latin typeface="Calibri" pitchFamily="34" charset="0"/>
                <a:ea typeface="Calibri" pitchFamily="34" charset="-122"/>
                <a:cs typeface="Calibri" pitchFamily="34" charset="-120"/>
              </a:rPr>
              <a:t>0</a:t>
            </a:r>
            <a:endParaRPr lang="en-US" sz="1300" dirty="0"/>
          </a:p>
        </p:txBody>
      </p:sp>
      <p:sp>
        <p:nvSpPr>
          <p:cNvPr id="39" name="Text 37"/>
          <p:cNvSpPr txBox="1"/>
          <p:nvPr/>
        </p:nvSpPr>
        <p:spPr>
          <a:xfrm>
            <a:off x="2547257" y="3328416"/>
            <a:ext cx="564969" cy="329184"/>
          </a:xfrm>
          <a:prstGeom prst="rect">
            <a:avLst/>
          </a:prstGeom>
          <a:noFill/>
          <a:ln/>
        </p:spPr>
        <p:txBody>
          <a:bodyPr wrap="square" lIns="0" tIns="0" rIns="0" bIns="0" rtlCol="0" anchor="ctr"/>
          <a:lstStyle/>
          <a:p>
            <a:pPr algn="ctr" indent="0" marL="0">
              <a:buNone/>
            </a:pPr>
            <a:r>
              <a:rPr lang="en-US" sz="1300" b="1" dirty="0">
                <a:solidFill>
                  <a:srgbClr val="B5453A"/>
                </a:solidFill>
                <a:latin typeface="Calibri" pitchFamily="34" charset="0"/>
                <a:ea typeface="Calibri" pitchFamily="34" charset="-122"/>
                <a:cs typeface="Calibri" pitchFamily="34" charset="-120"/>
              </a:rPr>
              <a:t>F</a:t>
            </a:r>
            <a:endParaRPr lang="en-US" sz="1300" dirty="0"/>
          </a:p>
        </p:txBody>
      </p:sp>
      <p:sp>
        <p:nvSpPr>
          <p:cNvPr id="40" name="Shape 38"/>
          <p:cNvSpPr/>
          <p:nvPr/>
        </p:nvSpPr>
        <p:spPr>
          <a:xfrm>
            <a:off x="3130514" y="2029968"/>
            <a:ext cx="528393" cy="292608"/>
          </a:xfrm>
          <a:prstGeom prst="roundRect">
            <a:avLst>
              <a:gd name="adj" fmla="val 15625"/>
            </a:avLst>
          </a:prstGeom>
          <a:solidFill>
            <a:srgbClr val="36454F"/>
          </a:solidFill>
          <a:ln/>
        </p:spPr>
        <p:txBody>
          <a:bodyPr/>
          <a:p/>
        </p:txBody>
      </p:sp>
      <p:sp>
        <p:nvSpPr>
          <p:cNvPr id="41" name="Text 39"/>
          <p:cNvSpPr txBox="1"/>
          <p:nvPr/>
        </p:nvSpPr>
        <p:spPr>
          <a:xfrm>
            <a:off x="3130514" y="2029968"/>
            <a:ext cx="528393" cy="292608"/>
          </a:xfrm>
          <a:prstGeom prst="rect">
            <a:avLst/>
          </a:prstGeom>
          <a:noFill/>
          <a:ln/>
        </p:spPr>
        <p:txBody>
          <a:bodyPr wrap="square" lIns="38100" tIns="38100" rIns="38100" bIns="3810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42" name="Shape 40"/>
          <p:cNvSpPr/>
          <p:nvPr/>
        </p:nvSpPr>
        <p:spPr>
          <a:xfrm>
            <a:off x="3130514" y="2359152"/>
            <a:ext cx="528393" cy="292608"/>
          </a:xfrm>
          <a:prstGeom prst="roundRect">
            <a:avLst>
              <a:gd name="adj" fmla="val 15625"/>
            </a:avLst>
          </a:prstGeom>
          <a:solidFill>
            <a:srgbClr val="02C39A"/>
          </a:solidFill>
          <a:ln/>
        </p:spPr>
        <p:txBody>
          <a:bodyPr/>
          <a:p/>
        </p:txBody>
      </p:sp>
      <p:sp>
        <p:nvSpPr>
          <p:cNvPr id="43" name="Text 41"/>
          <p:cNvSpPr txBox="1"/>
          <p:nvPr/>
        </p:nvSpPr>
        <p:spPr>
          <a:xfrm>
            <a:off x="3130514" y="2359152"/>
            <a:ext cx="528393" cy="292608"/>
          </a:xfrm>
          <a:prstGeom prst="rect">
            <a:avLst/>
          </a:prstGeom>
          <a:noFill/>
          <a:ln/>
        </p:spPr>
        <p:txBody>
          <a:bodyPr wrap="square" lIns="38100" tIns="38100" rIns="38100" bIns="38100" rtlCol="0" anchor="ctr"/>
          <a:lstStyle/>
          <a:p>
            <a:pPr algn="ctr" indent="0" marL="0">
              <a:buNone/>
            </a:pPr>
            <a:r>
              <a:rPr lang="en-US" sz="1300" b="1" dirty="0">
                <a:solidFill>
                  <a:srgbClr val="212121"/>
                </a:solidFill>
                <a:latin typeface="Calibri" pitchFamily="34" charset="0"/>
                <a:ea typeface="Calibri" pitchFamily="34" charset="-122"/>
                <a:cs typeface="Calibri" pitchFamily="34" charset="-120"/>
              </a:rPr>
              <a:t>4</a:t>
            </a:r>
            <a:endParaRPr lang="en-US" sz="1300" dirty="0"/>
          </a:p>
        </p:txBody>
      </p:sp>
      <p:sp>
        <p:nvSpPr>
          <p:cNvPr id="44" name="Shape 42"/>
          <p:cNvSpPr/>
          <p:nvPr/>
        </p:nvSpPr>
        <p:spPr>
          <a:xfrm>
            <a:off x="3130514" y="2688336"/>
            <a:ext cx="528393" cy="292608"/>
          </a:xfrm>
          <a:prstGeom prst="roundRect">
            <a:avLst>
              <a:gd name="adj" fmla="val 15625"/>
            </a:avLst>
          </a:prstGeom>
          <a:solidFill>
            <a:srgbClr val="D7E9E6"/>
          </a:solidFill>
          <a:ln/>
        </p:spPr>
        <p:txBody>
          <a:bodyPr/>
          <a:p/>
        </p:txBody>
      </p:sp>
      <p:sp>
        <p:nvSpPr>
          <p:cNvPr id="45" name="Text 43"/>
          <p:cNvSpPr txBox="1"/>
          <p:nvPr/>
        </p:nvSpPr>
        <p:spPr>
          <a:xfrm>
            <a:off x="3130514" y="2688336"/>
            <a:ext cx="528393" cy="292608"/>
          </a:xfrm>
          <a:prstGeom prst="rect">
            <a:avLst/>
          </a:prstGeom>
          <a:noFill/>
          <a:ln/>
        </p:spPr>
        <p:txBody>
          <a:bodyPr wrap="square" lIns="38100" tIns="38100" rIns="38100" bIns="38100" rtlCol="0" anchor="ctr"/>
          <a:lstStyle/>
          <a:p>
            <a:pPr algn="ctr" indent="0" marL="0">
              <a:buNone/>
            </a:pPr>
            <a:r>
              <a:rPr lang="en-US" sz="1300" dirty="0">
                <a:solidFill>
                  <a:srgbClr val="212121"/>
                </a:solidFill>
                <a:latin typeface="Calibri" pitchFamily="34" charset="0"/>
                <a:ea typeface="Calibri" pitchFamily="34" charset="-122"/>
                <a:cs typeface="Calibri" pitchFamily="34" charset="-120"/>
              </a:rPr>
              <a:t>2</a:t>
            </a:r>
            <a:endParaRPr lang="en-US" sz="1300" dirty="0"/>
          </a:p>
        </p:txBody>
      </p:sp>
      <p:sp>
        <p:nvSpPr>
          <p:cNvPr id="46" name="Shape 44"/>
          <p:cNvSpPr/>
          <p:nvPr/>
        </p:nvSpPr>
        <p:spPr>
          <a:xfrm>
            <a:off x="3130514" y="3017520"/>
            <a:ext cx="528393" cy="292608"/>
          </a:xfrm>
          <a:prstGeom prst="roundRect">
            <a:avLst>
              <a:gd name="adj" fmla="val 15625"/>
            </a:avLst>
          </a:prstGeom>
          <a:solidFill>
            <a:srgbClr val="D7E9E6"/>
          </a:solidFill>
          <a:ln/>
        </p:spPr>
        <p:txBody>
          <a:bodyPr/>
          <a:p/>
        </p:txBody>
      </p:sp>
      <p:sp>
        <p:nvSpPr>
          <p:cNvPr id="47" name="Text 45"/>
          <p:cNvSpPr txBox="1"/>
          <p:nvPr/>
        </p:nvSpPr>
        <p:spPr>
          <a:xfrm>
            <a:off x="3130514" y="3017520"/>
            <a:ext cx="528393" cy="292608"/>
          </a:xfrm>
          <a:prstGeom prst="rect">
            <a:avLst/>
          </a:prstGeom>
          <a:noFill/>
          <a:ln/>
        </p:spPr>
        <p:txBody>
          <a:bodyPr wrap="square" lIns="38100" tIns="38100" rIns="38100" bIns="38100" rtlCol="0" anchor="ctr"/>
          <a:lstStyle/>
          <a:p>
            <a:pPr algn="ctr" indent="0" marL="0">
              <a:buNone/>
            </a:pPr>
            <a:r>
              <a:rPr lang="en-US" sz="1300" dirty="0">
                <a:solidFill>
                  <a:srgbClr val="212121"/>
                </a:solidFill>
                <a:latin typeface="Calibri" pitchFamily="34" charset="0"/>
                <a:ea typeface="Calibri" pitchFamily="34" charset="-122"/>
                <a:cs typeface="Calibri" pitchFamily="34" charset="-120"/>
              </a:rPr>
              <a:t>0</a:t>
            </a:r>
            <a:endParaRPr lang="en-US" sz="1300" dirty="0"/>
          </a:p>
        </p:txBody>
      </p:sp>
      <p:sp>
        <p:nvSpPr>
          <p:cNvPr id="48" name="Text 46"/>
          <p:cNvSpPr txBox="1"/>
          <p:nvPr/>
        </p:nvSpPr>
        <p:spPr>
          <a:xfrm>
            <a:off x="3112226" y="3328416"/>
            <a:ext cx="564969" cy="329184"/>
          </a:xfrm>
          <a:prstGeom prst="rect">
            <a:avLst/>
          </a:prstGeom>
          <a:noFill/>
          <a:ln/>
        </p:spPr>
        <p:txBody>
          <a:bodyPr wrap="square" lIns="0" tIns="0" rIns="0" bIns="0" rtlCol="0" anchor="ctr"/>
          <a:lstStyle/>
          <a:p>
            <a:pPr algn="ctr" indent="0" marL="0">
              <a:buNone/>
            </a:pPr>
            <a:r>
              <a:rPr lang="en-US" sz="1300" b="1" dirty="0">
                <a:solidFill>
                  <a:srgbClr val="B5453A"/>
                </a:solidFill>
                <a:latin typeface="Calibri" pitchFamily="34" charset="0"/>
                <a:ea typeface="Calibri" pitchFamily="34" charset="-122"/>
                <a:cs typeface="Calibri" pitchFamily="34" charset="-120"/>
              </a:rPr>
              <a:t>F</a:t>
            </a:r>
            <a:endParaRPr lang="en-US" sz="1300" dirty="0"/>
          </a:p>
        </p:txBody>
      </p:sp>
      <p:sp>
        <p:nvSpPr>
          <p:cNvPr id="49" name="Shape 47"/>
          <p:cNvSpPr/>
          <p:nvPr/>
        </p:nvSpPr>
        <p:spPr>
          <a:xfrm>
            <a:off x="3695482" y="2029968"/>
            <a:ext cx="528393" cy="292608"/>
          </a:xfrm>
          <a:prstGeom prst="roundRect">
            <a:avLst>
              <a:gd name="adj" fmla="val 15625"/>
            </a:avLst>
          </a:prstGeom>
          <a:solidFill>
            <a:srgbClr val="36454F"/>
          </a:solidFill>
          <a:ln/>
        </p:spPr>
        <p:txBody>
          <a:bodyPr/>
          <a:p/>
        </p:txBody>
      </p:sp>
      <p:sp>
        <p:nvSpPr>
          <p:cNvPr id="50" name="Text 48"/>
          <p:cNvSpPr txBox="1"/>
          <p:nvPr/>
        </p:nvSpPr>
        <p:spPr>
          <a:xfrm>
            <a:off x="3695482" y="2029968"/>
            <a:ext cx="528393" cy="292608"/>
          </a:xfrm>
          <a:prstGeom prst="rect">
            <a:avLst/>
          </a:prstGeom>
          <a:noFill/>
          <a:ln/>
        </p:spPr>
        <p:txBody>
          <a:bodyPr wrap="square" lIns="38100" tIns="38100" rIns="38100" bIns="3810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51" name="Shape 49"/>
          <p:cNvSpPr/>
          <p:nvPr/>
        </p:nvSpPr>
        <p:spPr>
          <a:xfrm>
            <a:off x="3695482" y="2359152"/>
            <a:ext cx="528393" cy="292608"/>
          </a:xfrm>
          <a:prstGeom prst="roundRect">
            <a:avLst>
              <a:gd name="adj" fmla="val 15625"/>
            </a:avLst>
          </a:prstGeom>
          <a:solidFill>
            <a:srgbClr val="F2F2F2"/>
          </a:solidFill>
          <a:ln/>
        </p:spPr>
        <p:txBody>
          <a:bodyPr/>
          <a:p/>
        </p:txBody>
      </p:sp>
      <p:sp>
        <p:nvSpPr>
          <p:cNvPr id="52" name="Text 50"/>
          <p:cNvSpPr txBox="1"/>
          <p:nvPr/>
        </p:nvSpPr>
        <p:spPr>
          <a:xfrm>
            <a:off x="3695482" y="2359152"/>
            <a:ext cx="528393" cy="292608"/>
          </a:xfrm>
          <a:prstGeom prst="rect">
            <a:avLst/>
          </a:prstGeom>
          <a:noFill/>
          <a:ln/>
        </p:spPr>
        <p:txBody>
          <a:bodyPr wrap="square" lIns="38100" tIns="38100" rIns="38100" bIns="38100" rtlCol="0" anchor="ctr"/>
          <a:lstStyle/>
          <a:p>
            <a:pPr algn="ctr" indent="0" marL="0">
              <a:buNone/>
            </a:pPr>
            <a:r>
              <a:rPr lang="en-US" sz="1300" dirty="0">
                <a:solidFill>
                  <a:srgbClr val="9AA5A8"/>
                </a:solidFill>
                <a:latin typeface="Calibri" pitchFamily="34" charset="0"/>
                <a:ea typeface="Calibri" pitchFamily="34" charset="-122"/>
                <a:cs typeface="Calibri" pitchFamily="34" charset="-120"/>
              </a:rPr>
              <a:t>4</a:t>
            </a:r>
            <a:endParaRPr lang="en-US" sz="1300" dirty="0"/>
          </a:p>
        </p:txBody>
      </p:sp>
      <p:sp>
        <p:nvSpPr>
          <p:cNvPr id="53" name="Shape 51"/>
          <p:cNvSpPr/>
          <p:nvPr/>
        </p:nvSpPr>
        <p:spPr>
          <a:xfrm>
            <a:off x="3695482" y="2688336"/>
            <a:ext cx="528393" cy="292608"/>
          </a:xfrm>
          <a:prstGeom prst="roundRect">
            <a:avLst>
              <a:gd name="adj" fmla="val 15625"/>
            </a:avLst>
          </a:prstGeom>
          <a:solidFill>
            <a:srgbClr val="F2F2F2"/>
          </a:solidFill>
          <a:ln/>
        </p:spPr>
        <p:txBody>
          <a:bodyPr/>
          <a:p/>
        </p:txBody>
      </p:sp>
      <p:sp>
        <p:nvSpPr>
          <p:cNvPr id="54" name="Text 52"/>
          <p:cNvSpPr txBox="1"/>
          <p:nvPr/>
        </p:nvSpPr>
        <p:spPr>
          <a:xfrm>
            <a:off x="3695482" y="2688336"/>
            <a:ext cx="528393" cy="292608"/>
          </a:xfrm>
          <a:prstGeom prst="rect">
            <a:avLst/>
          </a:prstGeom>
          <a:noFill/>
          <a:ln/>
        </p:spPr>
        <p:txBody>
          <a:bodyPr wrap="square" lIns="38100" tIns="38100" rIns="38100" bIns="38100" rtlCol="0" anchor="ctr"/>
          <a:lstStyle/>
          <a:p>
            <a:pPr algn="ctr" indent="0" marL="0">
              <a:buNone/>
            </a:pPr>
            <a:r>
              <a:rPr lang="en-US" sz="1300" dirty="0">
                <a:solidFill>
                  <a:srgbClr val="9AA5A8"/>
                </a:solidFill>
                <a:latin typeface="Calibri" pitchFamily="34" charset="0"/>
                <a:ea typeface="Calibri" pitchFamily="34" charset="-122"/>
                <a:cs typeface="Calibri" pitchFamily="34" charset="-120"/>
              </a:rPr>
              <a:t>2</a:t>
            </a:r>
            <a:endParaRPr lang="en-US" sz="1300" dirty="0"/>
          </a:p>
        </p:txBody>
      </p:sp>
      <p:sp>
        <p:nvSpPr>
          <p:cNvPr id="55" name="Shape 53"/>
          <p:cNvSpPr/>
          <p:nvPr/>
        </p:nvSpPr>
        <p:spPr>
          <a:xfrm>
            <a:off x="3695482" y="3017520"/>
            <a:ext cx="528393" cy="292608"/>
          </a:xfrm>
          <a:prstGeom prst="roundRect">
            <a:avLst>
              <a:gd name="adj" fmla="val 15625"/>
            </a:avLst>
          </a:prstGeom>
          <a:solidFill>
            <a:srgbClr val="F2F2F2"/>
          </a:solidFill>
          <a:ln/>
        </p:spPr>
        <p:txBody>
          <a:bodyPr/>
          <a:p/>
        </p:txBody>
      </p:sp>
      <p:sp>
        <p:nvSpPr>
          <p:cNvPr id="56" name="Text 54"/>
          <p:cNvSpPr txBox="1"/>
          <p:nvPr/>
        </p:nvSpPr>
        <p:spPr>
          <a:xfrm>
            <a:off x="3695482" y="3017520"/>
            <a:ext cx="528393" cy="292608"/>
          </a:xfrm>
          <a:prstGeom prst="rect">
            <a:avLst/>
          </a:prstGeom>
          <a:noFill/>
          <a:ln/>
        </p:spPr>
        <p:txBody>
          <a:bodyPr wrap="square" lIns="38100" tIns="38100" rIns="38100" bIns="38100" rtlCol="0" anchor="ctr"/>
          <a:lstStyle/>
          <a:p>
            <a:pPr algn="ctr" indent="0" marL="0">
              <a:buNone/>
            </a:pPr>
            <a:r>
              <a:rPr lang="en-US" sz="1300" dirty="0">
                <a:solidFill>
                  <a:srgbClr val="9AA5A8"/>
                </a:solidFill>
                <a:latin typeface="Calibri" pitchFamily="34" charset="0"/>
                <a:ea typeface="Calibri" pitchFamily="34" charset="-122"/>
                <a:cs typeface="Calibri" pitchFamily="34" charset="-120"/>
              </a:rPr>
              <a:t>0</a:t>
            </a:r>
            <a:endParaRPr lang="en-US" sz="1300" dirty="0"/>
          </a:p>
        </p:txBody>
      </p:sp>
      <p:sp>
        <p:nvSpPr>
          <p:cNvPr id="57" name="Text 55"/>
          <p:cNvSpPr txBox="1"/>
          <p:nvPr/>
        </p:nvSpPr>
        <p:spPr>
          <a:xfrm>
            <a:off x="3677194" y="3328416"/>
            <a:ext cx="564969" cy="329184"/>
          </a:xfrm>
          <a:prstGeom prst="rect">
            <a:avLst/>
          </a:prstGeom>
          <a:noFill/>
          <a:ln/>
        </p:spPr>
        <p:txBody>
          <a:bodyPr wrap="square" lIns="0" tIns="0" rIns="0" bIns="0" rtlCol="0" anchor="ctr"/>
          <a:lstStyle/>
          <a:p>
            <a:pPr algn="ctr" indent="0" marL="0">
              <a:buNone/>
            </a:pPr>
            <a:endParaRPr lang="en-US" sz="1300" dirty="0"/>
          </a:p>
        </p:txBody>
      </p:sp>
      <p:sp>
        <p:nvSpPr>
          <p:cNvPr id="58" name="Shape 56"/>
          <p:cNvSpPr/>
          <p:nvPr/>
        </p:nvSpPr>
        <p:spPr>
          <a:xfrm>
            <a:off x="4260451" y="2029968"/>
            <a:ext cx="528393" cy="292608"/>
          </a:xfrm>
          <a:prstGeom prst="roundRect">
            <a:avLst>
              <a:gd name="adj" fmla="val 15625"/>
            </a:avLst>
          </a:prstGeom>
          <a:solidFill>
            <a:srgbClr val="36454F"/>
          </a:solidFill>
          <a:ln/>
        </p:spPr>
        <p:txBody>
          <a:bodyPr/>
          <a:p/>
        </p:txBody>
      </p:sp>
      <p:sp>
        <p:nvSpPr>
          <p:cNvPr id="59" name="Text 57"/>
          <p:cNvSpPr txBox="1"/>
          <p:nvPr/>
        </p:nvSpPr>
        <p:spPr>
          <a:xfrm>
            <a:off x="4260451" y="2029968"/>
            <a:ext cx="528393" cy="292608"/>
          </a:xfrm>
          <a:prstGeom prst="rect">
            <a:avLst/>
          </a:prstGeom>
          <a:noFill/>
          <a:ln/>
        </p:spPr>
        <p:txBody>
          <a:bodyPr wrap="square" lIns="38100" tIns="38100" rIns="38100" bIns="3810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60" name="Shape 58"/>
          <p:cNvSpPr/>
          <p:nvPr/>
        </p:nvSpPr>
        <p:spPr>
          <a:xfrm>
            <a:off x="4260451" y="2359152"/>
            <a:ext cx="528393" cy="292608"/>
          </a:xfrm>
          <a:prstGeom prst="roundRect">
            <a:avLst>
              <a:gd name="adj" fmla="val 15625"/>
            </a:avLst>
          </a:prstGeom>
          <a:solidFill>
            <a:srgbClr val="D7E9E6"/>
          </a:solidFill>
          <a:ln/>
        </p:spPr>
        <p:txBody>
          <a:bodyPr/>
          <a:p/>
        </p:txBody>
      </p:sp>
      <p:sp>
        <p:nvSpPr>
          <p:cNvPr id="61" name="Text 59"/>
          <p:cNvSpPr txBox="1"/>
          <p:nvPr/>
        </p:nvSpPr>
        <p:spPr>
          <a:xfrm>
            <a:off x="4260451" y="2359152"/>
            <a:ext cx="528393" cy="292608"/>
          </a:xfrm>
          <a:prstGeom prst="rect">
            <a:avLst/>
          </a:prstGeom>
          <a:noFill/>
          <a:ln/>
        </p:spPr>
        <p:txBody>
          <a:bodyPr wrap="square" lIns="38100" tIns="38100" rIns="38100" bIns="38100" rtlCol="0" anchor="ctr"/>
          <a:lstStyle/>
          <a:p>
            <a:pPr algn="ctr" indent="0" marL="0">
              <a:buNone/>
            </a:pPr>
            <a:r>
              <a:rPr lang="en-US" sz="1300" dirty="0">
                <a:solidFill>
                  <a:srgbClr val="212121"/>
                </a:solidFill>
                <a:latin typeface="Calibri" pitchFamily="34" charset="0"/>
                <a:ea typeface="Calibri" pitchFamily="34" charset="-122"/>
                <a:cs typeface="Calibri" pitchFamily="34" charset="-120"/>
              </a:rPr>
              <a:t>4</a:t>
            </a:r>
            <a:endParaRPr lang="en-US" sz="1300" dirty="0"/>
          </a:p>
        </p:txBody>
      </p:sp>
      <p:sp>
        <p:nvSpPr>
          <p:cNvPr id="62" name="Shape 60"/>
          <p:cNvSpPr/>
          <p:nvPr/>
        </p:nvSpPr>
        <p:spPr>
          <a:xfrm>
            <a:off x="4260451" y="2688336"/>
            <a:ext cx="528393" cy="292608"/>
          </a:xfrm>
          <a:prstGeom prst="roundRect">
            <a:avLst>
              <a:gd name="adj" fmla="val 15625"/>
            </a:avLst>
          </a:prstGeom>
          <a:solidFill>
            <a:srgbClr val="02C39A"/>
          </a:solidFill>
          <a:ln/>
        </p:spPr>
        <p:txBody>
          <a:bodyPr/>
          <a:p/>
        </p:txBody>
      </p:sp>
      <p:sp>
        <p:nvSpPr>
          <p:cNvPr id="63" name="Text 61"/>
          <p:cNvSpPr txBox="1"/>
          <p:nvPr/>
        </p:nvSpPr>
        <p:spPr>
          <a:xfrm>
            <a:off x="4260451" y="2688336"/>
            <a:ext cx="528393" cy="292608"/>
          </a:xfrm>
          <a:prstGeom prst="rect">
            <a:avLst/>
          </a:prstGeom>
          <a:noFill/>
          <a:ln/>
        </p:spPr>
        <p:txBody>
          <a:bodyPr wrap="square" lIns="38100" tIns="38100" rIns="38100" bIns="38100" rtlCol="0" anchor="ctr"/>
          <a:lstStyle/>
          <a:p>
            <a:pPr algn="ctr" indent="0" marL="0">
              <a:buNone/>
            </a:pPr>
            <a:r>
              <a:rPr lang="en-US" sz="1300" b="1" dirty="0">
                <a:solidFill>
                  <a:srgbClr val="212121"/>
                </a:solidFill>
                <a:latin typeface="Calibri" pitchFamily="34" charset="0"/>
                <a:ea typeface="Calibri" pitchFamily="34" charset="-122"/>
                <a:cs typeface="Calibri" pitchFamily="34" charset="-120"/>
              </a:rPr>
              <a:t>3</a:t>
            </a:r>
            <a:endParaRPr lang="en-US" sz="1300" dirty="0"/>
          </a:p>
        </p:txBody>
      </p:sp>
      <p:sp>
        <p:nvSpPr>
          <p:cNvPr id="64" name="Shape 62"/>
          <p:cNvSpPr/>
          <p:nvPr/>
        </p:nvSpPr>
        <p:spPr>
          <a:xfrm>
            <a:off x="4260451" y="3017520"/>
            <a:ext cx="528393" cy="292608"/>
          </a:xfrm>
          <a:prstGeom prst="roundRect">
            <a:avLst>
              <a:gd name="adj" fmla="val 15625"/>
            </a:avLst>
          </a:prstGeom>
          <a:solidFill>
            <a:srgbClr val="D7E9E6"/>
          </a:solidFill>
          <a:ln/>
        </p:spPr>
        <p:txBody>
          <a:bodyPr/>
          <a:p/>
        </p:txBody>
      </p:sp>
      <p:sp>
        <p:nvSpPr>
          <p:cNvPr id="65" name="Text 63"/>
          <p:cNvSpPr txBox="1"/>
          <p:nvPr/>
        </p:nvSpPr>
        <p:spPr>
          <a:xfrm>
            <a:off x="4260451" y="3017520"/>
            <a:ext cx="528393" cy="292608"/>
          </a:xfrm>
          <a:prstGeom prst="rect">
            <a:avLst/>
          </a:prstGeom>
          <a:noFill/>
          <a:ln/>
        </p:spPr>
        <p:txBody>
          <a:bodyPr wrap="square" lIns="38100" tIns="38100" rIns="38100" bIns="38100" rtlCol="0" anchor="ctr"/>
          <a:lstStyle/>
          <a:p>
            <a:pPr algn="ctr" indent="0" marL="0">
              <a:buNone/>
            </a:pPr>
            <a:r>
              <a:rPr lang="en-US" sz="1300" dirty="0">
                <a:solidFill>
                  <a:srgbClr val="212121"/>
                </a:solidFill>
                <a:latin typeface="Calibri" pitchFamily="34" charset="0"/>
                <a:ea typeface="Calibri" pitchFamily="34" charset="-122"/>
                <a:cs typeface="Calibri" pitchFamily="34" charset="-120"/>
              </a:rPr>
              <a:t>0</a:t>
            </a:r>
            <a:endParaRPr lang="en-US" sz="1300" dirty="0"/>
          </a:p>
        </p:txBody>
      </p:sp>
      <p:sp>
        <p:nvSpPr>
          <p:cNvPr id="66" name="Text 64"/>
          <p:cNvSpPr txBox="1"/>
          <p:nvPr/>
        </p:nvSpPr>
        <p:spPr>
          <a:xfrm>
            <a:off x="4242163" y="3328416"/>
            <a:ext cx="564969" cy="329184"/>
          </a:xfrm>
          <a:prstGeom prst="rect">
            <a:avLst/>
          </a:prstGeom>
          <a:noFill/>
          <a:ln/>
        </p:spPr>
        <p:txBody>
          <a:bodyPr wrap="square" lIns="0" tIns="0" rIns="0" bIns="0" rtlCol="0" anchor="ctr"/>
          <a:lstStyle/>
          <a:p>
            <a:pPr algn="ctr" indent="0" marL="0">
              <a:buNone/>
            </a:pPr>
            <a:r>
              <a:rPr lang="en-US" sz="1300" b="1" dirty="0">
                <a:solidFill>
                  <a:srgbClr val="B5453A"/>
                </a:solidFill>
                <a:latin typeface="Calibri" pitchFamily="34" charset="0"/>
                <a:ea typeface="Calibri" pitchFamily="34" charset="-122"/>
                <a:cs typeface="Calibri" pitchFamily="34" charset="-120"/>
              </a:rPr>
              <a:t>F</a:t>
            </a:r>
            <a:endParaRPr lang="en-US" sz="1300" dirty="0"/>
          </a:p>
        </p:txBody>
      </p:sp>
      <p:sp>
        <p:nvSpPr>
          <p:cNvPr id="67" name="Shape 65"/>
          <p:cNvSpPr/>
          <p:nvPr/>
        </p:nvSpPr>
        <p:spPr>
          <a:xfrm>
            <a:off x="4825419" y="2029968"/>
            <a:ext cx="528393" cy="292608"/>
          </a:xfrm>
          <a:prstGeom prst="roundRect">
            <a:avLst>
              <a:gd name="adj" fmla="val 15625"/>
            </a:avLst>
          </a:prstGeom>
          <a:solidFill>
            <a:srgbClr val="36454F"/>
          </a:solidFill>
          <a:ln/>
        </p:spPr>
        <p:txBody>
          <a:bodyPr/>
          <a:p/>
        </p:txBody>
      </p:sp>
      <p:sp>
        <p:nvSpPr>
          <p:cNvPr id="68" name="Text 66"/>
          <p:cNvSpPr txBox="1"/>
          <p:nvPr/>
        </p:nvSpPr>
        <p:spPr>
          <a:xfrm>
            <a:off x="4825419" y="2029968"/>
            <a:ext cx="528393" cy="292608"/>
          </a:xfrm>
          <a:prstGeom prst="rect">
            <a:avLst/>
          </a:prstGeom>
          <a:noFill/>
          <a:ln/>
        </p:spPr>
        <p:txBody>
          <a:bodyPr wrap="square" lIns="38100" tIns="38100" rIns="38100" bIns="3810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69" name="Shape 67"/>
          <p:cNvSpPr/>
          <p:nvPr/>
        </p:nvSpPr>
        <p:spPr>
          <a:xfrm>
            <a:off x="4825419" y="2359152"/>
            <a:ext cx="528393" cy="292608"/>
          </a:xfrm>
          <a:prstGeom prst="roundRect">
            <a:avLst>
              <a:gd name="adj" fmla="val 15625"/>
            </a:avLst>
          </a:prstGeom>
          <a:solidFill>
            <a:srgbClr val="D7E9E6"/>
          </a:solidFill>
          <a:ln/>
        </p:spPr>
        <p:txBody>
          <a:bodyPr/>
          <a:p/>
        </p:txBody>
      </p:sp>
      <p:sp>
        <p:nvSpPr>
          <p:cNvPr id="70" name="Text 68"/>
          <p:cNvSpPr txBox="1"/>
          <p:nvPr/>
        </p:nvSpPr>
        <p:spPr>
          <a:xfrm>
            <a:off x="4825419" y="2359152"/>
            <a:ext cx="528393" cy="292608"/>
          </a:xfrm>
          <a:prstGeom prst="rect">
            <a:avLst/>
          </a:prstGeom>
          <a:noFill/>
          <a:ln/>
        </p:spPr>
        <p:txBody>
          <a:bodyPr wrap="square" lIns="38100" tIns="38100" rIns="38100" bIns="38100" rtlCol="0" anchor="ctr"/>
          <a:lstStyle/>
          <a:p>
            <a:pPr algn="ctr" indent="0" marL="0">
              <a:buNone/>
            </a:pPr>
            <a:r>
              <a:rPr lang="en-US" sz="1300" dirty="0">
                <a:solidFill>
                  <a:srgbClr val="212121"/>
                </a:solidFill>
                <a:latin typeface="Calibri" pitchFamily="34" charset="0"/>
                <a:ea typeface="Calibri" pitchFamily="34" charset="-122"/>
                <a:cs typeface="Calibri" pitchFamily="34" charset="-120"/>
              </a:rPr>
              <a:t>4</a:t>
            </a:r>
            <a:endParaRPr lang="en-US" sz="1300" dirty="0"/>
          </a:p>
        </p:txBody>
      </p:sp>
      <p:sp>
        <p:nvSpPr>
          <p:cNvPr id="71" name="Shape 69"/>
          <p:cNvSpPr/>
          <p:nvPr/>
        </p:nvSpPr>
        <p:spPr>
          <a:xfrm>
            <a:off x="4825419" y="2688336"/>
            <a:ext cx="528393" cy="292608"/>
          </a:xfrm>
          <a:prstGeom prst="roundRect">
            <a:avLst>
              <a:gd name="adj" fmla="val 15625"/>
            </a:avLst>
          </a:prstGeom>
          <a:solidFill>
            <a:srgbClr val="D7E9E6"/>
          </a:solidFill>
          <a:ln/>
        </p:spPr>
        <p:txBody>
          <a:bodyPr/>
          <a:p/>
        </p:txBody>
      </p:sp>
      <p:sp>
        <p:nvSpPr>
          <p:cNvPr id="72" name="Text 70"/>
          <p:cNvSpPr txBox="1"/>
          <p:nvPr/>
        </p:nvSpPr>
        <p:spPr>
          <a:xfrm>
            <a:off x="4825419" y="2688336"/>
            <a:ext cx="528393" cy="292608"/>
          </a:xfrm>
          <a:prstGeom prst="rect">
            <a:avLst/>
          </a:prstGeom>
          <a:noFill/>
          <a:ln/>
        </p:spPr>
        <p:txBody>
          <a:bodyPr wrap="square" lIns="38100" tIns="38100" rIns="38100" bIns="38100" rtlCol="0" anchor="ctr"/>
          <a:lstStyle/>
          <a:p>
            <a:pPr algn="ctr" indent="0" marL="0">
              <a:buNone/>
            </a:pPr>
            <a:r>
              <a:rPr lang="en-US" sz="1300" dirty="0">
                <a:solidFill>
                  <a:srgbClr val="212121"/>
                </a:solidFill>
                <a:latin typeface="Calibri" pitchFamily="34" charset="0"/>
                <a:ea typeface="Calibri" pitchFamily="34" charset="-122"/>
                <a:cs typeface="Calibri" pitchFamily="34" charset="-120"/>
              </a:rPr>
              <a:t>3</a:t>
            </a:r>
            <a:endParaRPr lang="en-US" sz="1300" dirty="0"/>
          </a:p>
        </p:txBody>
      </p:sp>
      <p:sp>
        <p:nvSpPr>
          <p:cNvPr id="73" name="Shape 71"/>
          <p:cNvSpPr/>
          <p:nvPr/>
        </p:nvSpPr>
        <p:spPr>
          <a:xfrm>
            <a:off x="4825419" y="3017520"/>
            <a:ext cx="528393" cy="292608"/>
          </a:xfrm>
          <a:prstGeom prst="roundRect">
            <a:avLst>
              <a:gd name="adj" fmla="val 15625"/>
            </a:avLst>
          </a:prstGeom>
          <a:solidFill>
            <a:srgbClr val="02C39A"/>
          </a:solidFill>
          <a:ln/>
        </p:spPr>
        <p:txBody>
          <a:bodyPr/>
          <a:p/>
        </p:txBody>
      </p:sp>
      <p:sp>
        <p:nvSpPr>
          <p:cNvPr id="74" name="Text 72"/>
          <p:cNvSpPr txBox="1"/>
          <p:nvPr/>
        </p:nvSpPr>
        <p:spPr>
          <a:xfrm>
            <a:off x="4825419" y="3017520"/>
            <a:ext cx="528393" cy="292608"/>
          </a:xfrm>
          <a:prstGeom prst="rect">
            <a:avLst/>
          </a:prstGeom>
          <a:noFill/>
          <a:ln/>
        </p:spPr>
        <p:txBody>
          <a:bodyPr wrap="square" lIns="38100" tIns="38100" rIns="38100" bIns="38100" rtlCol="0" anchor="ctr"/>
          <a:lstStyle/>
          <a:p>
            <a:pPr algn="ctr" indent="0" marL="0">
              <a:buNone/>
            </a:pPr>
            <a:r>
              <a:rPr lang="en-US" sz="1300" b="1" dirty="0">
                <a:solidFill>
                  <a:srgbClr val="212121"/>
                </a:solidFill>
                <a:latin typeface="Calibri" pitchFamily="34" charset="0"/>
                <a:ea typeface="Calibri" pitchFamily="34" charset="-122"/>
                <a:cs typeface="Calibri" pitchFamily="34" charset="-120"/>
              </a:rPr>
              <a:t>2</a:t>
            </a:r>
            <a:endParaRPr lang="en-US" sz="1300" dirty="0"/>
          </a:p>
        </p:txBody>
      </p:sp>
      <p:sp>
        <p:nvSpPr>
          <p:cNvPr id="75" name="Text 73"/>
          <p:cNvSpPr txBox="1"/>
          <p:nvPr/>
        </p:nvSpPr>
        <p:spPr>
          <a:xfrm>
            <a:off x="4807131" y="3328416"/>
            <a:ext cx="564969" cy="329184"/>
          </a:xfrm>
          <a:prstGeom prst="rect">
            <a:avLst/>
          </a:prstGeom>
          <a:noFill/>
          <a:ln/>
        </p:spPr>
        <p:txBody>
          <a:bodyPr wrap="square" lIns="0" tIns="0" rIns="0" bIns="0" rtlCol="0" anchor="ctr"/>
          <a:lstStyle/>
          <a:p>
            <a:pPr algn="ctr" indent="0" marL="0">
              <a:buNone/>
            </a:pPr>
            <a:r>
              <a:rPr lang="en-US" sz="1300" b="1" dirty="0">
                <a:solidFill>
                  <a:srgbClr val="B5453A"/>
                </a:solidFill>
                <a:latin typeface="Calibri" pitchFamily="34" charset="0"/>
                <a:ea typeface="Calibri" pitchFamily="34" charset="-122"/>
                <a:cs typeface="Calibri" pitchFamily="34" charset="-120"/>
              </a:rPr>
              <a:t>F</a:t>
            </a:r>
            <a:endParaRPr lang="en-US" sz="1300" dirty="0"/>
          </a:p>
        </p:txBody>
      </p:sp>
      <p:sp>
        <p:nvSpPr>
          <p:cNvPr id="76" name="Shape 74"/>
          <p:cNvSpPr/>
          <p:nvPr/>
        </p:nvSpPr>
        <p:spPr>
          <a:xfrm>
            <a:off x="5390388" y="2029968"/>
            <a:ext cx="528393" cy="292608"/>
          </a:xfrm>
          <a:prstGeom prst="roundRect">
            <a:avLst>
              <a:gd name="adj" fmla="val 15625"/>
            </a:avLst>
          </a:prstGeom>
          <a:solidFill>
            <a:srgbClr val="36454F"/>
          </a:solidFill>
          <a:ln/>
        </p:spPr>
        <p:txBody>
          <a:bodyPr/>
          <a:p/>
        </p:txBody>
      </p:sp>
      <p:sp>
        <p:nvSpPr>
          <p:cNvPr id="77" name="Text 75"/>
          <p:cNvSpPr txBox="1"/>
          <p:nvPr/>
        </p:nvSpPr>
        <p:spPr>
          <a:xfrm>
            <a:off x="5390388" y="2029968"/>
            <a:ext cx="528393" cy="292608"/>
          </a:xfrm>
          <a:prstGeom prst="rect">
            <a:avLst/>
          </a:prstGeom>
          <a:noFill/>
          <a:ln/>
        </p:spPr>
        <p:txBody>
          <a:bodyPr wrap="square" lIns="38100" tIns="38100" rIns="38100" bIns="3810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78" name="Shape 76"/>
          <p:cNvSpPr/>
          <p:nvPr/>
        </p:nvSpPr>
        <p:spPr>
          <a:xfrm>
            <a:off x="5390388" y="2359152"/>
            <a:ext cx="528393" cy="292608"/>
          </a:xfrm>
          <a:prstGeom prst="roundRect">
            <a:avLst>
              <a:gd name="adj" fmla="val 15625"/>
            </a:avLst>
          </a:prstGeom>
          <a:solidFill>
            <a:srgbClr val="02C39A"/>
          </a:solidFill>
          <a:ln/>
        </p:spPr>
        <p:txBody>
          <a:bodyPr/>
          <a:p/>
        </p:txBody>
      </p:sp>
      <p:sp>
        <p:nvSpPr>
          <p:cNvPr id="79" name="Text 77"/>
          <p:cNvSpPr txBox="1"/>
          <p:nvPr/>
        </p:nvSpPr>
        <p:spPr>
          <a:xfrm>
            <a:off x="5390388" y="2359152"/>
            <a:ext cx="528393" cy="292608"/>
          </a:xfrm>
          <a:prstGeom prst="rect">
            <a:avLst/>
          </a:prstGeom>
          <a:noFill/>
          <a:ln/>
        </p:spPr>
        <p:txBody>
          <a:bodyPr wrap="square" lIns="38100" tIns="38100" rIns="38100" bIns="38100" rtlCol="0" anchor="ctr"/>
          <a:lstStyle/>
          <a:p>
            <a:pPr algn="ctr" indent="0" marL="0">
              <a:buNone/>
            </a:pPr>
            <a:r>
              <a:rPr lang="en-US" sz="1300" b="1" dirty="0">
                <a:solidFill>
                  <a:srgbClr val="212121"/>
                </a:solidFill>
                <a:latin typeface="Calibri" pitchFamily="34" charset="0"/>
                <a:ea typeface="Calibri" pitchFamily="34" charset="-122"/>
                <a:cs typeface="Calibri" pitchFamily="34" charset="-120"/>
              </a:rPr>
              <a:t>1</a:t>
            </a:r>
            <a:endParaRPr lang="en-US" sz="1300" dirty="0"/>
          </a:p>
        </p:txBody>
      </p:sp>
      <p:sp>
        <p:nvSpPr>
          <p:cNvPr id="80" name="Shape 78"/>
          <p:cNvSpPr/>
          <p:nvPr/>
        </p:nvSpPr>
        <p:spPr>
          <a:xfrm>
            <a:off x="5390388" y="2688336"/>
            <a:ext cx="528393" cy="292608"/>
          </a:xfrm>
          <a:prstGeom prst="roundRect">
            <a:avLst>
              <a:gd name="adj" fmla="val 15625"/>
            </a:avLst>
          </a:prstGeom>
          <a:solidFill>
            <a:srgbClr val="D7E9E6"/>
          </a:solidFill>
          <a:ln/>
        </p:spPr>
        <p:txBody>
          <a:bodyPr/>
          <a:p/>
        </p:txBody>
      </p:sp>
      <p:sp>
        <p:nvSpPr>
          <p:cNvPr id="81" name="Text 79"/>
          <p:cNvSpPr txBox="1"/>
          <p:nvPr/>
        </p:nvSpPr>
        <p:spPr>
          <a:xfrm>
            <a:off x="5390388" y="2688336"/>
            <a:ext cx="528393" cy="292608"/>
          </a:xfrm>
          <a:prstGeom prst="rect">
            <a:avLst/>
          </a:prstGeom>
          <a:noFill/>
          <a:ln/>
        </p:spPr>
        <p:txBody>
          <a:bodyPr wrap="square" lIns="38100" tIns="38100" rIns="38100" bIns="38100" rtlCol="0" anchor="ctr"/>
          <a:lstStyle/>
          <a:p>
            <a:pPr algn="ctr" indent="0" marL="0">
              <a:buNone/>
            </a:pPr>
            <a:r>
              <a:rPr lang="en-US" sz="1300" dirty="0">
                <a:solidFill>
                  <a:srgbClr val="212121"/>
                </a:solidFill>
                <a:latin typeface="Calibri" pitchFamily="34" charset="0"/>
                <a:ea typeface="Calibri" pitchFamily="34" charset="-122"/>
                <a:cs typeface="Calibri" pitchFamily="34" charset="-120"/>
              </a:rPr>
              <a:t>3</a:t>
            </a:r>
            <a:endParaRPr lang="en-US" sz="1300" dirty="0"/>
          </a:p>
        </p:txBody>
      </p:sp>
      <p:sp>
        <p:nvSpPr>
          <p:cNvPr id="82" name="Shape 80"/>
          <p:cNvSpPr/>
          <p:nvPr/>
        </p:nvSpPr>
        <p:spPr>
          <a:xfrm>
            <a:off x="5390388" y="3017520"/>
            <a:ext cx="528393" cy="292608"/>
          </a:xfrm>
          <a:prstGeom prst="roundRect">
            <a:avLst>
              <a:gd name="adj" fmla="val 15625"/>
            </a:avLst>
          </a:prstGeom>
          <a:solidFill>
            <a:srgbClr val="D7E9E6"/>
          </a:solidFill>
          <a:ln/>
        </p:spPr>
        <p:txBody>
          <a:bodyPr/>
          <a:p/>
        </p:txBody>
      </p:sp>
      <p:sp>
        <p:nvSpPr>
          <p:cNvPr id="83" name="Text 81"/>
          <p:cNvSpPr txBox="1"/>
          <p:nvPr/>
        </p:nvSpPr>
        <p:spPr>
          <a:xfrm>
            <a:off x="5390388" y="3017520"/>
            <a:ext cx="528393" cy="292608"/>
          </a:xfrm>
          <a:prstGeom prst="rect">
            <a:avLst/>
          </a:prstGeom>
          <a:noFill/>
          <a:ln/>
        </p:spPr>
        <p:txBody>
          <a:bodyPr wrap="square" lIns="38100" tIns="38100" rIns="38100" bIns="38100" rtlCol="0" anchor="ctr"/>
          <a:lstStyle/>
          <a:p>
            <a:pPr algn="ctr" indent="0" marL="0">
              <a:buNone/>
            </a:pPr>
            <a:r>
              <a:rPr lang="en-US" sz="1300" dirty="0">
                <a:solidFill>
                  <a:srgbClr val="212121"/>
                </a:solidFill>
                <a:latin typeface="Calibri" pitchFamily="34" charset="0"/>
                <a:ea typeface="Calibri" pitchFamily="34" charset="-122"/>
                <a:cs typeface="Calibri" pitchFamily="34" charset="-120"/>
              </a:rPr>
              <a:t>2</a:t>
            </a:r>
            <a:endParaRPr lang="en-US" sz="1300" dirty="0"/>
          </a:p>
        </p:txBody>
      </p:sp>
      <p:sp>
        <p:nvSpPr>
          <p:cNvPr id="84" name="Text 82"/>
          <p:cNvSpPr txBox="1"/>
          <p:nvPr/>
        </p:nvSpPr>
        <p:spPr>
          <a:xfrm>
            <a:off x="5372100" y="3328416"/>
            <a:ext cx="564969" cy="329184"/>
          </a:xfrm>
          <a:prstGeom prst="rect">
            <a:avLst/>
          </a:prstGeom>
          <a:noFill/>
          <a:ln/>
        </p:spPr>
        <p:txBody>
          <a:bodyPr wrap="square" lIns="0" tIns="0" rIns="0" bIns="0" rtlCol="0" anchor="ctr"/>
          <a:lstStyle/>
          <a:p>
            <a:pPr algn="ctr" indent="0" marL="0">
              <a:buNone/>
            </a:pPr>
            <a:r>
              <a:rPr lang="en-US" sz="1300" b="1" dirty="0">
                <a:solidFill>
                  <a:srgbClr val="B5453A"/>
                </a:solidFill>
                <a:latin typeface="Calibri" pitchFamily="34" charset="0"/>
                <a:ea typeface="Calibri" pitchFamily="34" charset="-122"/>
                <a:cs typeface="Calibri" pitchFamily="34" charset="-120"/>
              </a:rPr>
              <a:t>F</a:t>
            </a:r>
            <a:endParaRPr lang="en-US" sz="1300" dirty="0"/>
          </a:p>
        </p:txBody>
      </p:sp>
      <p:sp>
        <p:nvSpPr>
          <p:cNvPr id="85" name="Shape 83"/>
          <p:cNvSpPr/>
          <p:nvPr/>
        </p:nvSpPr>
        <p:spPr>
          <a:xfrm>
            <a:off x="5955357" y="2029968"/>
            <a:ext cx="528393" cy="292608"/>
          </a:xfrm>
          <a:prstGeom prst="roundRect">
            <a:avLst>
              <a:gd name="adj" fmla="val 15625"/>
            </a:avLst>
          </a:prstGeom>
          <a:solidFill>
            <a:srgbClr val="36454F"/>
          </a:solidFill>
          <a:ln/>
        </p:spPr>
        <p:txBody>
          <a:bodyPr/>
          <a:p/>
        </p:txBody>
      </p:sp>
      <p:sp>
        <p:nvSpPr>
          <p:cNvPr id="86" name="Text 84"/>
          <p:cNvSpPr txBox="1"/>
          <p:nvPr/>
        </p:nvSpPr>
        <p:spPr>
          <a:xfrm>
            <a:off x="5955357" y="2029968"/>
            <a:ext cx="528393" cy="292608"/>
          </a:xfrm>
          <a:prstGeom prst="rect">
            <a:avLst/>
          </a:prstGeom>
          <a:noFill/>
          <a:ln/>
        </p:spPr>
        <p:txBody>
          <a:bodyPr wrap="square" lIns="38100" tIns="38100" rIns="38100" bIns="3810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87" name="Shape 85"/>
          <p:cNvSpPr/>
          <p:nvPr/>
        </p:nvSpPr>
        <p:spPr>
          <a:xfrm>
            <a:off x="5955357" y="2359152"/>
            <a:ext cx="528393" cy="292608"/>
          </a:xfrm>
          <a:prstGeom prst="roundRect">
            <a:avLst>
              <a:gd name="adj" fmla="val 15625"/>
            </a:avLst>
          </a:prstGeom>
          <a:solidFill>
            <a:srgbClr val="F2F2F2"/>
          </a:solidFill>
          <a:ln/>
        </p:spPr>
        <p:txBody>
          <a:bodyPr/>
          <a:p/>
        </p:txBody>
      </p:sp>
      <p:sp>
        <p:nvSpPr>
          <p:cNvPr id="88" name="Text 86"/>
          <p:cNvSpPr txBox="1"/>
          <p:nvPr/>
        </p:nvSpPr>
        <p:spPr>
          <a:xfrm>
            <a:off x="5955357" y="2359152"/>
            <a:ext cx="528393" cy="292608"/>
          </a:xfrm>
          <a:prstGeom prst="rect">
            <a:avLst/>
          </a:prstGeom>
          <a:noFill/>
          <a:ln/>
        </p:spPr>
        <p:txBody>
          <a:bodyPr wrap="square" lIns="38100" tIns="38100" rIns="38100" bIns="38100" rtlCol="0" anchor="ctr"/>
          <a:lstStyle/>
          <a:p>
            <a:pPr algn="ctr" indent="0" marL="0">
              <a:buNone/>
            </a:pPr>
            <a:r>
              <a:rPr lang="en-US" sz="1300" dirty="0">
                <a:solidFill>
                  <a:srgbClr val="9AA5A8"/>
                </a:solidFill>
                <a:latin typeface="Calibri" pitchFamily="34" charset="0"/>
                <a:ea typeface="Calibri" pitchFamily="34" charset="-122"/>
                <a:cs typeface="Calibri" pitchFamily="34" charset="-120"/>
              </a:rPr>
              <a:t>1</a:t>
            </a:r>
            <a:endParaRPr lang="en-US" sz="1300" dirty="0"/>
          </a:p>
        </p:txBody>
      </p:sp>
      <p:sp>
        <p:nvSpPr>
          <p:cNvPr id="89" name="Shape 87"/>
          <p:cNvSpPr/>
          <p:nvPr/>
        </p:nvSpPr>
        <p:spPr>
          <a:xfrm>
            <a:off x="5955357" y="2688336"/>
            <a:ext cx="528393" cy="292608"/>
          </a:xfrm>
          <a:prstGeom prst="roundRect">
            <a:avLst>
              <a:gd name="adj" fmla="val 15625"/>
            </a:avLst>
          </a:prstGeom>
          <a:solidFill>
            <a:srgbClr val="F2F2F2"/>
          </a:solidFill>
          <a:ln/>
        </p:spPr>
        <p:txBody>
          <a:bodyPr/>
          <a:p/>
        </p:txBody>
      </p:sp>
      <p:sp>
        <p:nvSpPr>
          <p:cNvPr id="90" name="Text 88"/>
          <p:cNvSpPr txBox="1"/>
          <p:nvPr/>
        </p:nvSpPr>
        <p:spPr>
          <a:xfrm>
            <a:off x="5955357" y="2688336"/>
            <a:ext cx="528393" cy="292608"/>
          </a:xfrm>
          <a:prstGeom prst="rect">
            <a:avLst/>
          </a:prstGeom>
          <a:noFill/>
          <a:ln/>
        </p:spPr>
        <p:txBody>
          <a:bodyPr wrap="square" lIns="38100" tIns="38100" rIns="38100" bIns="38100" rtlCol="0" anchor="ctr"/>
          <a:lstStyle/>
          <a:p>
            <a:pPr algn="ctr" indent="0" marL="0">
              <a:buNone/>
            </a:pPr>
            <a:r>
              <a:rPr lang="en-US" sz="1300" dirty="0">
                <a:solidFill>
                  <a:srgbClr val="9AA5A8"/>
                </a:solidFill>
                <a:latin typeface="Calibri" pitchFamily="34" charset="0"/>
                <a:ea typeface="Calibri" pitchFamily="34" charset="-122"/>
                <a:cs typeface="Calibri" pitchFamily="34" charset="-120"/>
              </a:rPr>
              <a:t>3</a:t>
            </a:r>
            <a:endParaRPr lang="en-US" sz="1300" dirty="0"/>
          </a:p>
        </p:txBody>
      </p:sp>
      <p:sp>
        <p:nvSpPr>
          <p:cNvPr id="91" name="Shape 89"/>
          <p:cNvSpPr/>
          <p:nvPr/>
        </p:nvSpPr>
        <p:spPr>
          <a:xfrm>
            <a:off x="5955357" y="3017520"/>
            <a:ext cx="528393" cy="292608"/>
          </a:xfrm>
          <a:prstGeom prst="roundRect">
            <a:avLst>
              <a:gd name="adj" fmla="val 15625"/>
            </a:avLst>
          </a:prstGeom>
          <a:solidFill>
            <a:srgbClr val="F2F2F2"/>
          </a:solidFill>
          <a:ln/>
        </p:spPr>
        <p:txBody>
          <a:bodyPr/>
          <a:p/>
        </p:txBody>
      </p:sp>
      <p:sp>
        <p:nvSpPr>
          <p:cNvPr id="92" name="Text 90"/>
          <p:cNvSpPr txBox="1"/>
          <p:nvPr/>
        </p:nvSpPr>
        <p:spPr>
          <a:xfrm>
            <a:off x="5955357" y="3017520"/>
            <a:ext cx="528393" cy="292608"/>
          </a:xfrm>
          <a:prstGeom prst="rect">
            <a:avLst/>
          </a:prstGeom>
          <a:noFill/>
          <a:ln/>
        </p:spPr>
        <p:txBody>
          <a:bodyPr wrap="square" lIns="38100" tIns="38100" rIns="38100" bIns="38100" rtlCol="0" anchor="ctr"/>
          <a:lstStyle/>
          <a:p>
            <a:pPr algn="ctr" indent="0" marL="0">
              <a:buNone/>
            </a:pPr>
            <a:r>
              <a:rPr lang="en-US" sz="1300" dirty="0">
                <a:solidFill>
                  <a:srgbClr val="9AA5A8"/>
                </a:solidFill>
                <a:latin typeface="Calibri" pitchFamily="34" charset="0"/>
                <a:ea typeface="Calibri" pitchFamily="34" charset="-122"/>
                <a:cs typeface="Calibri" pitchFamily="34" charset="-120"/>
              </a:rPr>
              <a:t>2</a:t>
            </a:r>
            <a:endParaRPr lang="en-US" sz="1300" dirty="0"/>
          </a:p>
        </p:txBody>
      </p:sp>
      <p:sp>
        <p:nvSpPr>
          <p:cNvPr id="93" name="Text 91"/>
          <p:cNvSpPr txBox="1"/>
          <p:nvPr/>
        </p:nvSpPr>
        <p:spPr>
          <a:xfrm>
            <a:off x="5937069" y="3328416"/>
            <a:ext cx="564969" cy="329184"/>
          </a:xfrm>
          <a:prstGeom prst="rect">
            <a:avLst/>
          </a:prstGeom>
          <a:noFill/>
          <a:ln/>
        </p:spPr>
        <p:txBody>
          <a:bodyPr wrap="square" lIns="0" tIns="0" rIns="0" bIns="0" rtlCol="0" anchor="ctr"/>
          <a:lstStyle/>
          <a:p>
            <a:pPr algn="ctr" indent="0" marL="0">
              <a:buNone/>
            </a:pPr>
            <a:endParaRPr lang="en-US" sz="1300" dirty="0"/>
          </a:p>
        </p:txBody>
      </p:sp>
      <p:sp>
        <p:nvSpPr>
          <p:cNvPr id="94" name="Shape 92"/>
          <p:cNvSpPr/>
          <p:nvPr/>
        </p:nvSpPr>
        <p:spPr>
          <a:xfrm>
            <a:off x="6520325" y="2029968"/>
            <a:ext cx="528393" cy="292608"/>
          </a:xfrm>
          <a:prstGeom prst="roundRect">
            <a:avLst>
              <a:gd name="adj" fmla="val 15625"/>
            </a:avLst>
          </a:prstGeom>
          <a:solidFill>
            <a:srgbClr val="36454F"/>
          </a:solidFill>
          <a:ln/>
        </p:spPr>
        <p:txBody>
          <a:bodyPr/>
          <a:p/>
        </p:txBody>
      </p:sp>
      <p:sp>
        <p:nvSpPr>
          <p:cNvPr id="95" name="Text 93"/>
          <p:cNvSpPr txBox="1"/>
          <p:nvPr/>
        </p:nvSpPr>
        <p:spPr>
          <a:xfrm>
            <a:off x="6520325" y="2029968"/>
            <a:ext cx="528393" cy="292608"/>
          </a:xfrm>
          <a:prstGeom prst="rect">
            <a:avLst/>
          </a:prstGeom>
          <a:noFill/>
          <a:ln/>
        </p:spPr>
        <p:txBody>
          <a:bodyPr wrap="square" lIns="38100" tIns="38100" rIns="38100" bIns="3810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96" name="Shape 94"/>
          <p:cNvSpPr/>
          <p:nvPr/>
        </p:nvSpPr>
        <p:spPr>
          <a:xfrm>
            <a:off x="6520325" y="2359152"/>
            <a:ext cx="528393" cy="292608"/>
          </a:xfrm>
          <a:prstGeom prst="roundRect">
            <a:avLst>
              <a:gd name="adj" fmla="val 15625"/>
            </a:avLst>
          </a:prstGeom>
          <a:solidFill>
            <a:srgbClr val="D7E9E6"/>
          </a:solidFill>
          <a:ln/>
        </p:spPr>
        <p:txBody>
          <a:bodyPr/>
          <a:p/>
        </p:txBody>
      </p:sp>
      <p:sp>
        <p:nvSpPr>
          <p:cNvPr id="97" name="Text 95"/>
          <p:cNvSpPr txBox="1"/>
          <p:nvPr/>
        </p:nvSpPr>
        <p:spPr>
          <a:xfrm>
            <a:off x="6520325" y="2359152"/>
            <a:ext cx="528393" cy="292608"/>
          </a:xfrm>
          <a:prstGeom prst="rect">
            <a:avLst/>
          </a:prstGeom>
          <a:noFill/>
          <a:ln/>
        </p:spPr>
        <p:txBody>
          <a:bodyPr wrap="square" lIns="38100" tIns="38100" rIns="38100" bIns="38100" rtlCol="0" anchor="ctr"/>
          <a:lstStyle/>
          <a:p>
            <a:pPr algn="ctr" indent="0" marL="0">
              <a:buNone/>
            </a:pPr>
            <a:r>
              <a:rPr lang="en-US" sz="1300" dirty="0">
                <a:solidFill>
                  <a:srgbClr val="212121"/>
                </a:solidFill>
                <a:latin typeface="Calibri" pitchFamily="34" charset="0"/>
                <a:ea typeface="Calibri" pitchFamily="34" charset="-122"/>
                <a:cs typeface="Calibri" pitchFamily="34" charset="-120"/>
              </a:rPr>
              <a:t>1</a:t>
            </a:r>
            <a:endParaRPr lang="en-US" sz="1300" dirty="0"/>
          </a:p>
        </p:txBody>
      </p:sp>
      <p:sp>
        <p:nvSpPr>
          <p:cNvPr id="98" name="Shape 96"/>
          <p:cNvSpPr/>
          <p:nvPr/>
        </p:nvSpPr>
        <p:spPr>
          <a:xfrm>
            <a:off x="6520325" y="2688336"/>
            <a:ext cx="528393" cy="292608"/>
          </a:xfrm>
          <a:prstGeom prst="roundRect">
            <a:avLst>
              <a:gd name="adj" fmla="val 15625"/>
            </a:avLst>
          </a:prstGeom>
          <a:solidFill>
            <a:srgbClr val="02C39A"/>
          </a:solidFill>
          <a:ln/>
        </p:spPr>
        <p:txBody>
          <a:bodyPr/>
          <a:p/>
        </p:txBody>
      </p:sp>
      <p:sp>
        <p:nvSpPr>
          <p:cNvPr id="99" name="Text 97"/>
          <p:cNvSpPr txBox="1"/>
          <p:nvPr/>
        </p:nvSpPr>
        <p:spPr>
          <a:xfrm>
            <a:off x="6520325" y="2688336"/>
            <a:ext cx="528393" cy="292608"/>
          </a:xfrm>
          <a:prstGeom prst="rect">
            <a:avLst/>
          </a:prstGeom>
          <a:noFill/>
          <a:ln/>
        </p:spPr>
        <p:txBody>
          <a:bodyPr wrap="square" lIns="38100" tIns="38100" rIns="38100" bIns="38100" rtlCol="0" anchor="ctr"/>
          <a:lstStyle/>
          <a:p>
            <a:pPr algn="ctr" indent="0" marL="0">
              <a:buNone/>
            </a:pPr>
            <a:r>
              <a:rPr lang="en-US" sz="1300" b="1" dirty="0">
                <a:solidFill>
                  <a:srgbClr val="212121"/>
                </a:solidFill>
                <a:latin typeface="Calibri" pitchFamily="34" charset="0"/>
                <a:ea typeface="Calibri" pitchFamily="34" charset="-122"/>
                <a:cs typeface="Calibri" pitchFamily="34" charset="-120"/>
              </a:rPr>
              <a:t>4</a:t>
            </a:r>
            <a:endParaRPr lang="en-US" sz="1300" dirty="0"/>
          </a:p>
        </p:txBody>
      </p:sp>
      <p:sp>
        <p:nvSpPr>
          <p:cNvPr id="100" name="Shape 98"/>
          <p:cNvSpPr/>
          <p:nvPr/>
        </p:nvSpPr>
        <p:spPr>
          <a:xfrm>
            <a:off x="6520325" y="3017520"/>
            <a:ext cx="528393" cy="292608"/>
          </a:xfrm>
          <a:prstGeom prst="roundRect">
            <a:avLst>
              <a:gd name="adj" fmla="val 15625"/>
            </a:avLst>
          </a:prstGeom>
          <a:solidFill>
            <a:srgbClr val="D7E9E6"/>
          </a:solidFill>
          <a:ln/>
        </p:spPr>
        <p:txBody>
          <a:bodyPr/>
          <a:p/>
        </p:txBody>
      </p:sp>
      <p:sp>
        <p:nvSpPr>
          <p:cNvPr id="101" name="Text 99"/>
          <p:cNvSpPr txBox="1"/>
          <p:nvPr/>
        </p:nvSpPr>
        <p:spPr>
          <a:xfrm>
            <a:off x="6520325" y="3017520"/>
            <a:ext cx="528393" cy="292608"/>
          </a:xfrm>
          <a:prstGeom prst="rect">
            <a:avLst/>
          </a:prstGeom>
          <a:noFill/>
          <a:ln/>
        </p:spPr>
        <p:txBody>
          <a:bodyPr wrap="square" lIns="38100" tIns="38100" rIns="38100" bIns="38100" rtlCol="0" anchor="ctr"/>
          <a:lstStyle/>
          <a:p>
            <a:pPr algn="ctr" indent="0" marL="0">
              <a:buNone/>
            </a:pPr>
            <a:r>
              <a:rPr lang="en-US" sz="1300" dirty="0">
                <a:solidFill>
                  <a:srgbClr val="212121"/>
                </a:solidFill>
                <a:latin typeface="Calibri" pitchFamily="34" charset="0"/>
                <a:ea typeface="Calibri" pitchFamily="34" charset="-122"/>
                <a:cs typeface="Calibri" pitchFamily="34" charset="-120"/>
              </a:rPr>
              <a:t>2</a:t>
            </a:r>
            <a:endParaRPr lang="en-US" sz="1300" dirty="0"/>
          </a:p>
        </p:txBody>
      </p:sp>
      <p:sp>
        <p:nvSpPr>
          <p:cNvPr id="102" name="Text 100"/>
          <p:cNvSpPr txBox="1"/>
          <p:nvPr/>
        </p:nvSpPr>
        <p:spPr>
          <a:xfrm>
            <a:off x="6502037" y="3328416"/>
            <a:ext cx="564969" cy="329184"/>
          </a:xfrm>
          <a:prstGeom prst="rect">
            <a:avLst/>
          </a:prstGeom>
          <a:noFill/>
          <a:ln/>
        </p:spPr>
        <p:txBody>
          <a:bodyPr wrap="square" lIns="0" tIns="0" rIns="0" bIns="0" rtlCol="0" anchor="ctr"/>
          <a:lstStyle/>
          <a:p>
            <a:pPr algn="ctr" indent="0" marL="0">
              <a:buNone/>
            </a:pPr>
            <a:r>
              <a:rPr lang="en-US" sz="1300" b="1" dirty="0">
                <a:solidFill>
                  <a:srgbClr val="B5453A"/>
                </a:solidFill>
                <a:latin typeface="Calibri" pitchFamily="34" charset="0"/>
                <a:ea typeface="Calibri" pitchFamily="34" charset="-122"/>
                <a:cs typeface="Calibri" pitchFamily="34" charset="-120"/>
              </a:rPr>
              <a:t>F</a:t>
            </a:r>
            <a:endParaRPr lang="en-US" sz="1300" dirty="0"/>
          </a:p>
        </p:txBody>
      </p:sp>
      <p:sp>
        <p:nvSpPr>
          <p:cNvPr id="103" name="Shape 101"/>
          <p:cNvSpPr/>
          <p:nvPr/>
        </p:nvSpPr>
        <p:spPr>
          <a:xfrm>
            <a:off x="7085294" y="2029968"/>
            <a:ext cx="528393" cy="292608"/>
          </a:xfrm>
          <a:prstGeom prst="roundRect">
            <a:avLst>
              <a:gd name="adj" fmla="val 15625"/>
            </a:avLst>
          </a:prstGeom>
          <a:solidFill>
            <a:srgbClr val="36454F"/>
          </a:solidFill>
          <a:ln/>
        </p:spPr>
        <p:txBody>
          <a:bodyPr/>
          <a:p/>
        </p:txBody>
      </p:sp>
      <p:sp>
        <p:nvSpPr>
          <p:cNvPr id="104" name="Text 102"/>
          <p:cNvSpPr txBox="1"/>
          <p:nvPr/>
        </p:nvSpPr>
        <p:spPr>
          <a:xfrm>
            <a:off x="7085294" y="2029968"/>
            <a:ext cx="528393" cy="292608"/>
          </a:xfrm>
          <a:prstGeom prst="rect">
            <a:avLst/>
          </a:prstGeom>
          <a:noFill/>
          <a:ln/>
        </p:spPr>
        <p:txBody>
          <a:bodyPr wrap="square" lIns="38100" tIns="38100" rIns="38100" bIns="3810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a:t>
            </a:r>
            <a:endParaRPr lang="en-US" sz="1300" dirty="0"/>
          </a:p>
        </p:txBody>
      </p:sp>
      <p:sp>
        <p:nvSpPr>
          <p:cNvPr id="105" name="Shape 103"/>
          <p:cNvSpPr/>
          <p:nvPr/>
        </p:nvSpPr>
        <p:spPr>
          <a:xfrm>
            <a:off x="7085294" y="2359152"/>
            <a:ext cx="528393" cy="292608"/>
          </a:xfrm>
          <a:prstGeom prst="roundRect">
            <a:avLst>
              <a:gd name="adj" fmla="val 15625"/>
            </a:avLst>
          </a:prstGeom>
          <a:solidFill>
            <a:srgbClr val="D7E9E6"/>
          </a:solidFill>
          <a:ln/>
        </p:spPr>
        <p:txBody>
          <a:bodyPr/>
          <a:p/>
        </p:txBody>
      </p:sp>
      <p:sp>
        <p:nvSpPr>
          <p:cNvPr id="106" name="Text 104"/>
          <p:cNvSpPr txBox="1"/>
          <p:nvPr/>
        </p:nvSpPr>
        <p:spPr>
          <a:xfrm>
            <a:off x="7085294" y="2359152"/>
            <a:ext cx="528393" cy="292608"/>
          </a:xfrm>
          <a:prstGeom prst="rect">
            <a:avLst/>
          </a:prstGeom>
          <a:noFill/>
          <a:ln/>
        </p:spPr>
        <p:txBody>
          <a:bodyPr wrap="square" lIns="38100" tIns="38100" rIns="38100" bIns="38100" rtlCol="0" anchor="ctr"/>
          <a:lstStyle/>
          <a:p>
            <a:pPr algn="ctr" indent="0" marL="0">
              <a:buNone/>
            </a:pPr>
            <a:r>
              <a:rPr lang="en-US" sz="1300" dirty="0">
                <a:solidFill>
                  <a:srgbClr val="212121"/>
                </a:solidFill>
                <a:latin typeface="Calibri" pitchFamily="34" charset="0"/>
                <a:ea typeface="Calibri" pitchFamily="34" charset="-122"/>
                <a:cs typeface="Calibri" pitchFamily="34" charset="-120"/>
              </a:rPr>
              <a:t>1</a:t>
            </a:r>
            <a:endParaRPr lang="en-US" sz="1300" dirty="0"/>
          </a:p>
        </p:txBody>
      </p:sp>
      <p:sp>
        <p:nvSpPr>
          <p:cNvPr id="107" name="Shape 105"/>
          <p:cNvSpPr/>
          <p:nvPr/>
        </p:nvSpPr>
        <p:spPr>
          <a:xfrm>
            <a:off x="7085294" y="2688336"/>
            <a:ext cx="528393" cy="292608"/>
          </a:xfrm>
          <a:prstGeom prst="roundRect">
            <a:avLst>
              <a:gd name="adj" fmla="val 15625"/>
            </a:avLst>
          </a:prstGeom>
          <a:solidFill>
            <a:srgbClr val="D7E9E6"/>
          </a:solidFill>
          <a:ln/>
        </p:spPr>
        <p:txBody>
          <a:bodyPr/>
          <a:p/>
        </p:txBody>
      </p:sp>
      <p:sp>
        <p:nvSpPr>
          <p:cNvPr id="108" name="Text 106"/>
          <p:cNvSpPr txBox="1"/>
          <p:nvPr/>
        </p:nvSpPr>
        <p:spPr>
          <a:xfrm>
            <a:off x="7085294" y="2688336"/>
            <a:ext cx="528393" cy="292608"/>
          </a:xfrm>
          <a:prstGeom prst="rect">
            <a:avLst/>
          </a:prstGeom>
          <a:noFill/>
          <a:ln/>
        </p:spPr>
        <p:txBody>
          <a:bodyPr wrap="square" lIns="38100" tIns="38100" rIns="38100" bIns="38100" rtlCol="0" anchor="ctr"/>
          <a:lstStyle/>
          <a:p>
            <a:pPr algn="ctr" indent="0" marL="0">
              <a:buNone/>
            </a:pPr>
            <a:r>
              <a:rPr lang="en-US" sz="1300" dirty="0">
                <a:solidFill>
                  <a:srgbClr val="212121"/>
                </a:solidFill>
                <a:latin typeface="Calibri" pitchFamily="34" charset="0"/>
                <a:ea typeface="Calibri" pitchFamily="34" charset="-122"/>
                <a:cs typeface="Calibri" pitchFamily="34" charset="-120"/>
              </a:rPr>
              <a:t>4</a:t>
            </a:r>
            <a:endParaRPr lang="en-US" sz="1300" dirty="0"/>
          </a:p>
        </p:txBody>
      </p:sp>
      <p:sp>
        <p:nvSpPr>
          <p:cNvPr id="109" name="Shape 107"/>
          <p:cNvSpPr/>
          <p:nvPr/>
        </p:nvSpPr>
        <p:spPr>
          <a:xfrm>
            <a:off x="7085294" y="3017520"/>
            <a:ext cx="528393" cy="292608"/>
          </a:xfrm>
          <a:prstGeom prst="roundRect">
            <a:avLst>
              <a:gd name="adj" fmla="val 15625"/>
            </a:avLst>
          </a:prstGeom>
          <a:solidFill>
            <a:srgbClr val="02C39A"/>
          </a:solidFill>
          <a:ln/>
        </p:spPr>
        <p:txBody>
          <a:bodyPr/>
          <a:p/>
        </p:txBody>
      </p:sp>
      <p:sp>
        <p:nvSpPr>
          <p:cNvPr id="110" name="Text 108"/>
          <p:cNvSpPr txBox="1"/>
          <p:nvPr/>
        </p:nvSpPr>
        <p:spPr>
          <a:xfrm>
            <a:off x="7085294" y="3017520"/>
            <a:ext cx="528393" cy="292608"/>
          </a:xfrm>
          <a:prstGeom prst="rect">
            <a:avLst/>
          </a:prstGeom>
          <a:noFill/>
          <a:ln/>
        </p:spPr>
        <p:txBody>
          <a:bodyPr wrap="square" lIns="38100" tIns="38100" rIns="38100" bIns="38100" rtlCol="0" anchor="ctr"/>
          <a:lstStyle/>
          <a:p>
            <a:pPr algn="ctr" indent="0" marL="0">
              <a:buNone/>
            </a:pPr>
            <a:r>
              <a:rPr lang="en-US" sz="1300" b="1" dirty="0">
                <a:solidFill>
                  <a:srgbClr val="212121"/>
                </a:solidFill>
                <a:latin typeface="Calibri" pitchFamily="34" charset="0"/>
                <a:ea typeface="Calibri" pitchFamily="34" charset="-122"/>
                <a:cs typeface="Calibri" pitchFamily="34" charset="-120"/>
              </a:rPr>
              <a:t>0</a:t>
            </a:r>
            <a:endParaRPr lang="en-US" sz="1300" dirty="0"/>
          </a:p>
        </p:txBody>
      </p:sp>
      <p:sp>
        <p:nvSpPr>
          <p:cNvPr id="111" name="Text 109"/>
          <p:cNvSpPr txBox="1"/>
          <p:nvPr/>
        </p:nvSpPr>
        <p:spPr>
          <a:xfrm>
            <a:off x="7067006" y="3328416"/>
            <a:ext cx="564969" cy="329184"/>
          </a:xfrm>
          <a:prstGeom prst="rect">
            <a:avLst/>
          </a:prstGeom>
          <a:noFill/>
          <a:ln/>
        </p:spPr>
        <p:txBody>
          <a:bodyPr wrap="square" lIns="0" tIns="0" rIns="0" bIns="0" rtlCol="0" anchor="ctr"/>
          <a:lstStyle/>
          <a:p>
            <a:pPr algn="ctr" indent="0" marL="0">
              <a:buNone/>
            </a:pPr>
            <a:r>
              <a:rPr lang="en-US" sz="1300" b="1" dirty="0">
                <a:solidFill>
                  <a:srgbClr val="B5453A"/>
                </a:solidFill>
                <a:latin typeface="Calibri" pitchFamily="34" charset="0"/>
                <a:ea typeface="Calibri" pitchFamily="34" charset="-122"/>
                <a:cs typeface="Calibri" pitchFamily="34" charset="-120"/>
              </a:rPr>
              <a:t>F</a:t>
            </a:r>
            <a:endParaRPr lang="en-US" sz="1300" dirty="0"/>
          </a:p>
        </p:txBody>
      </p:sp>
      <p:sp>
        <p:nvSpPr>
          <p:cNvPr id="112" name="Shape 110"/>
          <p:cNvSpPr/>
          <p:nvPr/>
        </p:nvSpPr>
        <p:spPr>
          <a:xfrm>
            <a:off x="7650262" y="2029968"/>
            <a:ext cx="528393" cy="292608"/>
          </a:xfrm>
          <a:prstGeom prst="roundRect">
            <a:avLst>
              <a:gd name="adj" fmla="val 15625"/>
            </a:avLst>
          </a:prstGeom>
          <a:solidFill>
            <a:srgbClr val="36454F"/>
          </a:solidFill>
          <a:ln/>
        </p:spPr>
        <p:txBody>
          <a:bodyPr/>
          <a:p/>
        </p:txBody>
      </p:sp>
      <p:sp>
        <p:nvSpPr>
          <p:cNvPr id="113" name="Text 111"/>
          <p:cNvSpPr txBox="1"/>
          <p:nvPr/>
        </p:nvSpPr>
        <p:spPr>
          <a:xfrm>
            <a:off x="7650262" y="2029968"/>
            <a:ext cx="528393" cy="292608"/>
          </a:xfrm>
          <a:prstGeom prst="rect">
            <a:avLst/>
          </a:prstGeom>
          <a:noFill/>
          <a:ln/>
        </p:spPr>
        <p:txBody>
          <a:bodyPr wrap="square" lIns="38100" tIns="38100" rIns="38100" bIns="3810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14" name="Shape 112"/>
          <p:cNvSpPr/>
          <p:nvPr/>
        </p:nvSpPr>
        <p:spPr>
          <a:xfrm>
            <a:off x="7650262" y="2359152"/>
            <a:ext cx="528393" cy="292608"/>
          </a:xfrm>
          <a:prstGeom prst="roundRect">
            <a:avLst>
              <a:gd name="adj" fmla="val 15625"/>
            </a:avLst>
          </a:prstGeom>
          <a:solidFill>
            <a:srgbClr val="02C39A"/>
          </a:solidFill>
          <a:ln/>
        </p:spPr>
        <p:txBody>
          <a:bodyPr/>
          <a:p/>
        </p:txBody>
      </p:sp>
      <p:sp>
        <p:nvSpPr>
          <p:cNvPr id="115" name="Text 113"/>
          <p:cNvSpPr txBox="1"/>
          <p:nvPr/>
        </p:nvSpPr>
        <p:spPr>
          <a:xfrm>
            <a:off x="7650262" y="2359152"/>
            <a:ext cx="528393" cy="292608"/>
          </a:xfrm>
          <a:prstGeom prst="rect">
            <a:avLst/>
          </a:prstGeom>
          <a:noFill/>
          <a:ln/>
        </p:spPr>
        <p:txBody>
          <a:bodyPr wrap="square" lIns="38100" tIns="38100" rIns="38100" bIns="38100" rtlCol="0" anchor="ctr"/>
          <a:lstStyle/>
          <a:p>
            <a:pPr algn="ctr" indent="0" marL="0">
              <a:buNone/>
            </a:pPr>
            <a:r>
              <a:rPr lang="en-US" sz="1300" b="1" dirty="0">
                <a:solidFill>
                  <a:srgbClr val="212121"/>
                </a:solidFill>
                <a:latin typeface="Calibri" pitchFamily="34" charset="0"/>
                <a:ea typeface="Calibri" pitchFamily="34" charset="-122"/>
                <a:cs typeface="Calibri" pitchFamily="34" charset="-120"/>
              </a:rPr>
              <a:t>2</a:t>
            </a:r>
            <a:endParaRPr lang="en-US" sz="1300" dirty="0"/>
          </a:p>
        </p:txBody>
      </p:sp>
      <p:sp>
        <p:nvSpPr>
          <p:cNvPr id="116" name="Shape 114"/>
          <p:cNvSpPr/>
          <p:nvPr/>
        </p:nvSpPr>
        <p:spPr>
          <a:xfrm>
            <a:off x="7650262" y="2688336"/>
            <a:ext cx="528393" cy="292608"/>
          </a:xfrm>
          <a:prstGeom prst="roundRect">
            <a:avLst>
              <a:gd name="adj" fmla="val 15625"/>
            </a:avLst>
          </a:prstGeom>
          <a:solidFill>
            <a:srgbClr val="D7E9E6"/>
          </a:solidFill>
          <a:ln/>
        </p:spPr>
        <p:txBody>
          <a:bodyPr/>
          <a:p/>
        </p:txBody>
      </p:sp>
      <p:sp>
        <p:nvSpPr>
          <p:cNvPr id="117" name="Text 115"/>
          <p:cNvSpPr txBox="1"/>
          <p:nvPr/>
        </p:nvSpPr>
        <p:spPr>
          <a:xfrm>
            <a:off x="7650262" y="2688336"/>
            <a:ext cx="528393" cy="292608"/>
          </a:xfrm>
          <a:prstGeom prst="rect">
            <a:avLst/>
          </a:prstGeom>
          <a:noFill/>
          <a:ln/>
        </p:spPr>
        <p:txBody>
          <a:bodyPr wrap="square" lIns="38100" tIns="38100" rIns="38100" bIns="38100" rtlCol="0" anchor="ctr"/>
          <a:lstStyle/>
          <a:p>
            <a:pPr algn="ctr" indent="0" marL="0">
              <a:buNone/>
            </a:pPr>
            <a:r>
              <a:rPr lang="en-US" sz="1300" dirty="0">
                <a:solidFill>
                  <a:srgbClr val="212121"/>
                </a:solidFill>
                <a:latin typeface="Calibri" pitchFamily="34" charset="0"/>
                <a:ea typeface="Calibri" pitchFamily="34" charset="-122"/>
                <a:cs typeface="Calibri" pitchFamily="34" charset="-120"/>
              </a:rPr>
              <a:t>4</a:t>
            </a:r>
            <a:endParaRPr lang="en-US" sz="1300" dirty="0"/>
          </a:p>
        </p:txBody>
      </p:sp>
      <p:sp>
        <p:nvSpPr>
          <p:cNvPr id="118" name="Shape 116"/>
          <p:cNvSpPr/>
          <p:nvPr/>
        </p:nvSpPr>
        <p:spPr>
          <a:xfrm>
            <a:off x="7650262" y="3017520"/>
            <a:ext cx="528393" cy="292608"/>
          </a:xfrm>
          <a:prstGeom prst="roundRect">
            <a:avLst>
              <a:gd name="adj" fmla="val 15625"/>
            </a:avLst>
          </a:prstGeom>
          <a:solidFill>
            <a:srgbClr val="D7E9E6"/>
          </a:solidFill>
          <a:ln/>
        </p:spPr>
        <p:txBody>
          <a:bodyPr/>
          <a:p/>
        </p:txBody>
      </p:sp>
      <p:sp>
        <p:nvSpPr>
          <p:cNvPr id="119" name="Text 117"/>
          <p:cNvSpPr txBox="1"/>
          <p:nvPr/>
        </p:nvSpPr>
        <p:spPr>
          <a:xfrm>
            <a:off x="7650262" y="3017520"/>
            <a:ext cx="528393" cy="292608"/>
          </a:xfrm>
          <a:prstGeom prst="rect">
            <a:avLst/>
          </a:prstGeom>
          <a:noFill/>
          <a:ln/>
        </p:spPr>
        <p:txBody>
          <a:bodyPr wrap="square" lIns="38100" tIns="38100" rIns="38100" bIns="38100" rtlCol="0" anchor="ctr"/>
          <a:lstStyle/>
          <a:p>
            <a:pPr algn="ctr" indent="0" marL="0">
              <a:buNone/>
            </a:pPr>
            <a:r>
              <a:rPr lang="en-US" sz="1300" dirty="0">
                <a:solidFill>
                  <a:srgbClr val="212121"/>
                </a:solidFill>
                <a:latin typeface="Calibri" pitchFamily="34" charset="0"/>
                <a:ea typeface="Calibri" pitchFamily="34" charset="-122"/>
                <a:cs typeface="Calibri" pitchFamily="34" charset="-120"/>
              </a:rPr>
              <a:t>0</a:t>
            </a:r>
            <a:endParaRPr lang="en-US" sz="1300" dirty="0"/>
          </a:p>
        </p:txBody>
      </p:sp>
      <p:sp>
        <p:nvSpPr>
          <p:cNvPr id="120" name="Text 118"/>
          <p:cNvSpPr txBox="1"/>
          <p:nvPr/>
        </p:nvSpPr>
        <p:spPr>
          <a:xfrm>
            <a:off x="7631974" y="3328416"/>
            <a:ext cx="564969" cy="329184"/>
          </a:xfrm>
          <a:prstGeom prst="rect">
            <a:avLst/>
          </a:prstGeom>
          <a:noFill/>
          <a:ln/>
        </p:spPr>
        <p:txBody>
          <a:bodyPr wrap="square" lIns="0" tIns="0" rIns="0" bIns="0" rtlCol="0" anchor="ctr"/>
          <a:lstStyle/>
          <a:p>
            <a:pPr algn="ctr" indent="0" marL="0">
              <a:buNone/>
            </a:pPr>
            <a:r>
              <a:rPr lang="en-US" sz="1300" b="1" dirty="0">
                <a:solidFill>
                  <a:srgbClr val="B5453A"/>
                </a:solidFill>
                <a:latin typeface="Calibri" pitchFamily="34" charset="0"/>
                <a:ea typeface="Calibri" pitchFamily="34" charset="-122"/>
                <a:cs typeface="Calibri" pitchFamily="34" charset="-120"/>
              </a:rPr>
              <a:t>F</a:t>
            </a:r>
            <a:endParaRPr lang="en-US" sz="1300" dirty="0"/>
          </a:p>
        </p:txBody>
      </p:sp>
      <p:sp>
        <p:nvSpPr>
          <p:cNvPr id="121" name="Shape 119"/>
          <p:cNvSpPr/>
          <p:nvPr/>
        </p:nvSpPr>
        <p:spPr>
          <a:xfrm>
            <a:off x="8215231" y="2029968"/>
            <a:ext cx="528393" cy="292608"/>
          </a:xfrm>
          <a:prstGeom prst="roundRect">
            <a:avLst>
              <a:gd name="adj" fmla="val 15625"/>
            </a:avLst>
          </a:prstGeom>
          <a:solidFill>
            <a:srgbClr val="36454F"/>
          </a:solidFill>
          <a:ln/>
        </p:spPr>
        <p:txBody>
          <a:bodyPr/>
          <a:p/>
        </p:txBody>
      </p:sp>
      <p:sp>
        <p:nvSpPr>
          <p:cNvPr id="122" name="Text 120"/>
          <p:cNvSpPr txBox="1"/>
          <p:nvPr/>
        </p:nvSpPr>
        <p:spPr>
          <a:xfrm>
            <a:off x="8215231" y="2029968"/>
            <a:ext cx="528393" cy="292608"/>
          </a:xfrm>
          <a:prstGeom prst="rect">
            <a:avLst/>
          </a:prstGeom>
          <a:noFill/>
          <a:ln/>
        </p:spPr>
        <p:txBody>
          <a:bodyPr wrap="square" lIns="38100" tIns="38100" rIns="38100" bIns="3810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a:t>
            </a:r>
            <a:endParaRPr lang="en-US" sz="1300" dirty="0"/>
          </a:p>
        </p:txBody>
      </p:sp>
      <p:sp>
        <p:nvSpPr>
          <p:cNvPr id="123" name="Shape 121"/>
          <p:cNvSpPr/>
          <p:nvPr/>
        </p:nvSpPr>
        <p:spPr>
          <a:xfrm>
            <a:off x="8215231" y="2359152"/>
            <a:ext cx="528393" cy="292608"/>
          </a:xfrm>
          <a:prstGeom prst="roundRect">
            <a:avLst>
              <a:gd name="adj" fmla="val 15625"/>
            </a:avLst>
          </a:prstGeom>
          <a:solidFill>
            <a:srgbClr val="F2F2F2"/>
          </a:solidFill>
          <a:ln/>
        </p:spPr>
        <p:txBody>
          <a:bodyPr/>
          <a:p/>
        </p:txBody>
      </p:sp>
      <p:sp>
        <p:nvSpPr>
          <p:cNvPr id="124" name="Text 122"/>
          <p:cNvSpPr txBox="1"/>
          <p:nvPr/>
        </p:nvSpPr>
        <p:spPr>
          <a:xfrm>
            <a:off x="8215231" y="2359152"/>
            <a:ext cx="528393" cy="292608"/>
          </a:xfrm>
          <a:prstGeom prst="rect">
            <a:avLst/>
          </a:prstGeom>
          <a:noFill/>
          <a:ln/>
        </p:spPr>
        <p:txBody>
          <a:bodyPr wrap="square" lIns="38100" tIns="38100" rIns="38100" bIns="38100" rtlCol="0" anchor="ctr"/>
          <a:lstStyle/>
          <a:p>
            <a:pPr algn="ctr" indent="0" marL="0">
              <a:buNone/>
            </a:pPr>
            <a:r>
              <a:rPr lang="en-US" sz="1300" dirty="0">
                <a:solidFill>
                  <a:srgbClr val="9AA5A8"/>
                </a:solidFill>
                <a:latin typeface="Calibri" pitchFamily="34" charset="0"/>
                <a:ea typeface="Calibri" pitchFamily="34" charset="-122"/>
                <a:cs typeface="Calibri" pitchFamily="34" charset="-120"/>
              </a:rPr>
              <a:t>2</a:t>
            </a:r>
            <a:endParaRPr lang="en-US" sz="1300" dirty="0"/>
          </a:p>
        </p:txBody>
      </p:sp>
      <p:sp>
        <p:nvSpPr>
          <p:cNvPr id="125" name="Shape 123"/>
          <p:cNvSpPr/>
          <p:nvPr/>
        </p:nvSpPr>
        <p:spPr>
          <a:xfrm>
            <a:off x="8215231" y="2688336"/>
            <a:ext cx="528393" cy="292608"/>
          </a:xfrm>
          <a:prstGeom prst="roundRect">
            <a:avLst>
              <a:gd name="adj" fmla="val 15625"/>
            </a:avLst>
          </a:prstGeom>
          <a:solidFill>
            <a:srgbClr val="F2F2F2"/>
          </a:solidFill>
          <a:ln/>
        </p:spPr>
        <p:txBody>
          <a:bodyPr/>
          <a:p/>
        </p:txBody>
      </p:sp>
      <p:sp>
        <p:nvSpPr>
          <p:cNvPr id="126" name="Text 124"/>
          <p:cNvSpPr txBox="1"/>
          <p:nvPr/>
        </p:nvSpPr>
        <p:spPr>
          <a:xfrm>
            <a:off x="8215231" y="2688336"/>
            <a:ext cx="528393" cy="292608"/>
          </a:xfrm>
          <a:prstGeom prst="rect">
            <a:avLst/>
          </a:prstGeom>
          <a:noFill/>
          <a:ln/>
        </p:spPr>
        <p:txBody>
          <a:bodyPr wrap="square" lIns="38100" tIns="38100" rIns="38100" bIns="38100" rtlCol="0" anchor="ctr"/>
          <a:lstStyle/>
          <a:p>
            <a:pPr algn="ctr" indent="0" marL="0">
              <a:buNone/>
            </a:pPr>
            <a:r>
              <a:rPr lang="en-US" sz="1300" dirty="0">
                <a:solidFill>
                  <a:srgbClr val="9AA5A8"/>
                </a:solidFill>
                <a:latin typeface="Calibri" pitchFamily="34" charset="0"/>
                <a:ea typeface="Calibri" pitchFamily="34" charset="-122"/>
                <a:cs typeface="Calibri" pitchFamily="34" charset="-120"/>
              </a:rPr>
              <a:t>4</a:t>
            </a:r>
            <a:endParaRPr lang="en-US" sz="1300" dirty="0"/>
          </a:p>
        </p:txBody>
      </p:sp>
      <p:sp>
        <p:nvSpPr>
          <p:cNvPr id="127" name="Shape 125"/>
          <p:cNvSpPr/>
          <p:nvPr/>
        </p:nvSpPr>
        <p:spPr>
          <a:xfrm>
            <a:off x="8215231" y="3017520"/>
            <a:ext cx="528393" cy="292608"/>
          </a:xfrm>
          <a:prstGeom prst="roundRect">
            <a:avLst>
              <a:gd name="adj" fmla="val 15625"/>
            </a:avLst>
          </a:prstGeom>
          <a:solidFill>
            <a:srgbClr val="F2F2F2"/>
          </a:solidFill>
          <a:ln/>
        </p:spPr>
        <p:txBody>
          <a:bodyPr/>
          <a:p/>
        </p:txBody>
      </p:sp>
      <p:sp>
        <p:nvSpPr>
          <p:cNvPr id="128" name="Text 126"/>
          <p:cNvSpPr txBox="1"/>
          <p:nvPr/>
        </p:nvSpPr>
        <p:spPr>
          <a:xfrm>
            <a:off x="8215231" y="3017520"/>
            <a:ext cx="528393" cy="292608"/>
          </a:xfrm>
          <a:prstGeom prst="rect">
            <a:avLst/>
          </a:prstGeom>
          <a:noFill/>
          <a:ln/>
        </p:spPr>
        <p:txBody>
          <a:bodyPr wrap="square" lIns="38100" tIns="38100" rIns="38100" bIns="38100" rtlCol="0" anchor="ctr"/>
          <a:lstStyle/>
          <a:p>
            <a:pPr algn="ctr" indent="0" marL="0">
              <a:buNone/>
            </a:pPr>
            <a:r>
              <a:rPr lang="en-US" sz="1300" dirty="0">
                <a:solidFill>
                  <a:srgbClr val="9AA5A8"/>
                </a:solidFill>
                <a:latin typeface="Calibri" pitchFamily="34" charset="0"/>
                <a:ea typeface="Calibri" pitchFamily="34" charset="-122"/>
                <a:cs typeface="Calibri" pitchFamily="34" charset="-120"/>
              </a:rPr>
              <a:t>0</a:t>
            </a:r>
            <a:endParaRPr lang="en-US" sz="1300" dirty="0"/>
          </a:p>
        </p:txBody>
      </p:sp>
      <p:sp>
        <p:nvSpPr>
          <p:cNvPr id="129" name="Text 127"/>
          <p:cNvSpPr txBox="1"/>
          <p:nvPr/>
        </p:nvSpPr>
        <p:spPr>
          <a:xfrm>
            <a:off x="8196943" y="3328416"/>
            <a:ext cx="564969" cy="329184"/>
          </a:xfrm>
          <a:prstGeom prst="rect">
            <a:avLst/>
          </a:prstGeom>
          <a:noFill/>
          <a:ln/>
        </p:spPr>
        <p:txBody>
          <a:bodyPr wrap="square" lIns="0" tIns="0" rIns="0" bIns="0" rtlCol="0" anchor="ctr"/>
          <a:lstStyle/>
          <a:p>
            <a:pPr algn="ctr" indent="0" marL="0">
              <a:buNone/>
            </a:pPr>
            <a:endParaRPr lang="en-US" sz="1300" dirty="0"/>
          </a:p>
        </p:txBody>
      </p:sp>
      <p:sp>
        <p:nvSpPr>
          <p:cNvPr id="130" name="Shape 128"/>
          <p:cNvSpPr/>
          <p:nvPr/>
        </p:nvSpPr>
        <p:spPr>
          <a:xfrm>
            <a:off x="8780199" y="2029968"/>
            <a:ext cx="528393" cy="292608"/>
          </a:xfrm>
          <a:prstGeom prst="roundRect">
            <a:avLst>
              <a:gd name="adj" fmla="val 15625"/>
            </a:avLst>
          </a:prstGeom>
          <a:solidFill>
            <a:srgbClr val="36454F"/>
          </a:solidFill>
          <a:ln/>
        </p:spPr>
        <p:txBody>
          <a:bodyPr/>
          <a:p/>
        </p:txBody>
      </p:sp>
      <p:sp>
        <p:nvSpPr>
          <p:cNvPr id="131" name="Text 129"/>
          <p:cNvSpPr txBox="1"/>
          <p:nvPr/>
        </p:nvSpPr>
        <p:spPr>
          <a:xfrm>
            <a:off x="8780199" y="2029968"/>
            <a:ext cx="528393" cy="292608"/>
          </a:xfrm>
          <a:prstGeom prst="rect">
            <a:avLst/>
          </a:prstGeom>
          <a:noFill/>
          <a:ln/>
        </p:spPr>
        <p:txBody>
          <a:bodyPr wrap="square" lIns="38100" tIns="38100" rIns="38100" bIns="3810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132" name="Shape 130"/>
          <p:cNvSpPr/>
          <p:nvPr/>
        </p:nvSpPr>
        <p:spPr>
          <a:xfrm>
            <a:off x="8780199" y="2359152"/>
            <a:ext cx="528393" cy="292608"/>
          </a:xfrm>
          <a:prstGeom prst="roundRect">
            <a:avLst>
              <a:gd name="adj" fmla="val 15625"/>
            </a:avLst>
          </a:prstGeom>
          <a:solidFill>
            <a:srgbClr val="D7E9E6"/>
          </a:solidFill>
          <a:ln/>
        </p:spPr>
        <p:txBody>
          <a:bodyPr/>
          <a:p/>
        </p:txBody>
      </p:sp>
      <p:sp>
        <p:nvSpPr>
          <p:cNvPr id="133" name="Text 131"/>
          <p:cNvSpPr txBox="1"/>
          <p:nvPr/>
        </p:nvSpPr>
        <p:spPr>
          <a:xfrm>
            <a:off x="8780199" y="2359152"/>
            <a:ext cx="528393" cy="292608"/>
          </a:xfrm>
          <a:prstGeom prst="rect">
            <a:avLst/>
          </a:prstGeom>
          <a:noFill/>
          <a:ln/>
        </p:spPr>
        <p:txBody>
          <a:bodyPr wrap="square" lIns="38100" tIns="38100" rIns="38100" bIns="38100" rtlCol="0" anchor="ctr"/>
          <a:lstStyle/>
          <a:p>
            <a:pPr algn="ctr" indent="0" marL="0">
              <a:buNone/>
            </a:pPr>
            <a:r>
              <a:rPr lang="en-US" sz="1300" dirty="0">
                <a:solidFill>
                  <a:srgbClr val="212121"/>
                </a:solidFill>
                <a:latin typeface="Calibri" pitchFamily="34" charset="0"/>
                <a:ea typeface="Calibri" pitchFamily="34" charset="-122"/>
                <a:cs typeface="Calibri" pitchFamily="34" charset="-120"/>
              </a:rPr>
              <a:t>2</a:t>
            </a:r>
            <a:endParaRPr lang="en-US" sz="1300" dirty="0"/>
          </a:p>
        </p:txBody>
      </p:sp>
      <p:sp>
        <p:nvSpPr>
          <p:cNvPr id="134" name="Shape 132"/>
          <p:cNvSpPr/>
          <p:nvPr/>
        </p:nvSpPr>
        <p:spPr>
          <a:xfrm>
            <a:off x="8780199" y="2688336"/>
            <a:ext cx="528393" cy="292608"/>
          </a:xfrm>
          <a:prstGeom prst="roundRect">
            <a:avLst>
              <a:gd name="adj" fmla="val 15625"/>
            </a:avLst>
          </a:prstGeom>
          <a:solidFill>
            <a:srgbClr val="02C39A"/>
          </a:solidFill>
          <a:ln/>
        </p:spPr>
        <p:txBody>
          <a:bodyPr/>
          <a:p/>
        </p:txBody>
      </p:sp>
      <p:sp>
        <p:nvSpPr>
          <p:cNvPr id="135" name="Text 133"/>
          <p:cNvSpPr txBox="1"/>
          <p:nvPr/>
        </p:nvSpPr>
        <p:spPr>
          <a:xfrm>
            <a:off x="8780199" y="2688336"/>
            <a:ext cx="528393" cy="292608"/>
          </a:xfrm>
          <a:prstGeom prst="rect">
            <a:avLst/>
          </a:prstGeom>
          <a:noFill/>
          <a:ln/>
        </p:spPr>
        <p:txBody>
          <a:bodyPr wrap="square" lIns="38100" tIns="38100" rIns="38100" bIns="38100" rtlCol="0" anchor="ctr"/>
          <a:lstStyle/>
          <a:p>
            <a:pPr algn="ctr" indent="0" marL="0">
              <a:buNone/>
            </a:pPr>
            <a:r>
              <a:rPr lang="en-US" sz="1300" b="1" dirty="0">
                <a:solidFill>
                  <a:srgbClr val="212121"/>
                </a:solidFill>
                <a:latin typeface="Calibri" pitchFamily="34" charset="0"/>
                <a:ea typeface="Calibri" pitchFamily="34" charset="-122"/>
                <a:cs typeface="Calibri" pitchFamily="34" charset="-120"/>
              </a:rPr>
              <a:t>1</a:t>
            </a:r>
            <a:endParaRPr lang="en-US" sz="1300" dirty="0"/>
          </a:p>
        </p:txBody>
      </p:sp>
      <p:sp>
        <p:nvSpPr>
          <p:cNvPr id="136" name="Shape 134"/>
          <p:cNvSpPr/>
          <p:nvPr/>
        </p:nvSpPr>
        <p:spPr>
          <a:xfrm>
            <a:off x="8780199" y="3017520"/>
            <a:ext cx="528393" cy="292608"/>
          </a:xfrm>
          <a:prstGeom prst="roundRect">
            <a:avLst>
              <a:gd name="adj" fmla="val 15625"/>
            </a:avLst>
          </a:prstGeom>
          <a:solidFill>
            <a:srgbClr val="D7E9E6"/>
          </a:solidFill>
          <a:ln/>
        </p:spPr>
        <p:txBody>
          <a:bodyPr/>
          <a:p/>
        </p:txBody>
      </p:sp>
      <p:sp>
        <p:nvSpPr>
          <p:cNvPr id="137" name="Text 135"/>
          <p:cNvSpPr txBox="1"/>
          <p:nvPr/>
        </p:nvSpPr>
        <p:spPr>
          <a:xfrm>
            <a:off x="8780199" y="3017520"/>
            <a:ext cx="528393" cy="292608"/>
          </a:xfrm>
          <a:prstGeom prst="rect">
            <a:avLst/>
          </a:prstGeom>
          <a:noFill/>
          <a:ln/>
        </p:spPr>
        <p:txBody>
          <a:bodyPr wrap="square" lIns="38100" tIns="38100" rIns="38100" bIns="38100" rtlCol="0" anchor="ctr"/>
          <a:lstStyle/>
          <a:p>
            <a:pPr algn="ctr" indent="0" marL="0">
              <a:buNone/>
            </a:pPr>
            <a:r>
              <a:rPr lang="en-US" sz="1300" dirty="0">
                <a:solidFill>
                  <a:srgbClr val="212121"/>
                </a:solidFill>
                <a:latin typeface="Calibri" pitchFamily="34" charset="0"/>
                <a:ea typeface="Calibri" pitchFamily="34" charset="-122"/>
                <a:cs typeface="Calibri" pitchFamily="34" charset="-120"/>
              </a:rPr>
              <a:t>0</a:t>
            </a:r>
            <a:endParaRPr lang="en-US" sz="1300" dirty="0"/>
          </a:p>
        </p:txBody>
      </p:sp>
      <p:sp>
        <p:nvSpPr>
          <p:cNvPr id="138" name="Text 136"/>
          <p:cNvSpPr txBox="1"/>
          <p:nvPr/>
        </p:nvSpPr>
        <p:spPr>
          <a:xfrm>
            <a:off x="8761911" y="3328416"/>
            <a:ext cx="564969" cy="329184"/>
          </a:xfrm>
          <a:prstGeom prst="rect">
            <a:avLst/>
          </a:prstGeom>
          <a:noFill/>
          <a:ln/>
        </p:spPr>
        <p:txBody>
          <a:bodyPr wrap="square" lIns="0" tIns="0" rIns="0" bIns="0" rtlCol="0" anchor="ctr"/>
          <a:lstStyle/>
          <a:p>
            <a:pPr algn="ctr" indent="0" marL="0">
              <a:buNone/>
            </a:pPr>
            <a:r>
              <a:rPr lang="en-US" sz="1300" b="1" dirty="0">
                <a:solidFill>
                  <a:srgbClr val="B5453A"/>
                </a:solidFill>
                <a:latin typeface="Calibri" pitchFamily="34" charset="0"/>
                <a:ea typeface="Calibri" pitchFamily="34" charset="-122"/>
                <a:cs typeface="Calibri" pitchFamily="34" charset="-120"/>
              </a:rPr>
              <a:t>F</a:t>
            </a:r>
            <a:endParaRPr lang="en-US" sz="1300" dirty="0"/>
          </a:p>
        </p:txBody>
      </p:sp>
      <p:sp>
        <p:nvSpPr>
          <p:cNvPr id="139" name="Text 137"/>
          <p:cNvSpPr txBox="1"/>
          <p:nvPr/>
        </p:nvSpPr>
        <p:spPr>
          <a:xfrm>
            <a:off x="548640" y="4023360"/>
            <a:ext cx="1828800" cy="292608"/>
          </a:xfrm>
          <a:prstGeom prst="rect">
            <a:avLst/>
          </a:prstGeom>
          <a:noFill/>
          <a:ln/>
        </p:spPr>
        <p:txBody>
          <a:bodyPr wrap="square" lIns="0" tIns="0" rIns="0" bIns="0" rtlCol="0" anchor="t"/>
          <a:lstStyle/>
          <a:p>
            <a:pPr indent="0" marL="0">
              <a:buNone/>
            </a:pPr>
            <a:r>
              <a:rPr lang="en-US" sz="1400" b="1" dirty="0">
                <a:solidFill>
                  <a:srgbClr val="028090"/>
                </a:solidFill>
                <a:latin typeface="Calibri" pitchFamily="34" charset="0"/>
                <a:ea typeface="Calibri" pitchFamily="34" charset="-122"/>
                <a:cs typeface="Calibri" pitchFamily="34" charset="-120"/>
              </a:rPr>
              <a:t>LRU</a:t>
            </a:r>
            <a:endParaRPr lang="en-US" sz="1400" dirty="0"/>
          </a:p>
        </p:txBody>
      </p:sp>
      <p:sp>
        <p:nvSpPr>
          <p:cNvPr id="140" name="Text 138"/>
          <p:cNvSpPr txBox="1"/>
          <p:nvPr/>
        </p:nvSpPr>
        <p:spPr>
          <a:xfrm>
            <a:off x="548640" y="4297680"/>
            <a:ext cx="795528" cy="329184"/>
          </a:xfrm>
          <a:prstGeom prst="rect">
            <a:avLst/>
          </a:prstGeom>
          <a:noFill/>
          <a:ln/>
        </p:spPr>
        <p:txBody>
          <a:bodyPr wrap="square" lIns="0" tIns="0" rIns="0" bIns="0" rtlCol="0" anchor="ctr"/>
          <a:lstStyle/>
          <a:p>
            <a:pPr algn="r" indent="0" marL="0">
              <a:buNone/>
            </a:pPr>
            <a:r>
              <a:rPr lang="en-US" sz="1050" i="1" dirty="0">
                <a:solidFill>
                  <a:srgbClr val="6B7679"/>
                </a:solidFill>
                <a:latin typeface="Calibri" pitchFamily="34" charset="0"/>
                <a:ea typeface="Calibri" pitchFamily="34" charset="-122"/>
                <a:cs typeface="Calibri" pitchFamily="34" charset="-120"/>
              </a:rPr>
              <a:t>reference</a:t>
            </a:r>
            <a:endParaRPr lang="en-US" sz="1050" dirty="0"/>
          </a:p>
        </p:txBody>
      </p:sp>
      <p:sp>
        <p:nvSpPr>
          <p:cNvPr id="141" name="Text 139"/>
          <p:cNvSpPr txBox="1"/>
          <p:nvPr/>
        </p:nvSpPr>
        <p:spPr>
          <a:xfrm>
            <a:off x="548640" y="4626864"/>
            <a:ext cx="795528" cy="329184"/>
          </a:xfrm>
          <a:prstGeom prst="rect">
            <a:avLst/>
          </a:prstGeom>
          <a:noFill/>
          <a:ln/>
        </p:spPr>
        <p:txBody>
          <a:bodyPr wrap="square" lIns="0" tIns="0" rIns="0" bIns="0" rtlCol="0" anchor="ctr"/>
          <a:lstStyle/>
          <a:p>
            <a:pPr algn="r" indent="0" marL="0">
              <a:buNone/>
            </a:pPr>
            <a:r>
              <a:rPr lang="en-US" sz="1050" i="1" dirty="0">
                <a:solidFill>
                  <a:srgbClr val="6B7679"/>
                </a:solidFill>
                <a:latin typeface="Calibri" pitchFamily="34" charset="0"/>
                <a:ea typeface="Calibri" pitchFamily="34" charset="-122"/>
                <a:cs typeface="Calibri" pitchFamily="34" charset="-120"/>
              </a:rPr>
              <a:t>frame 0</a:t>
            </a:r>
            <a:endParaRPr lang="en-US" sz="1050" dirty="0"/>
          </a:p>
        </p:txBody>
      </p:sp>
      <p:sp>
        <p:nvSpPr>
          <p:cNvPr id="142" name="Text 140"/>
          <p:cNvSpPr txBox="1"/>
          <p:nvPr/>
        </p:nvSpPr>
        <p:spPr>
          <a:xfrm>
            <a:off x="548640" y="4956048"/>
            <a:ext cx="795528" cy="329184"/>
          </a:xfrm>
          <a:prstGeom prst="rect">
            <a:avLst/>
          </a:prstGeom>
          <a:noFill/>
          <a:ln/>
        </p:spPr>
        <p:txBody>
          <a:bodyPr wrap="square" lIns="0" tIns="0" rIns="0" bIns="0" rtlCol="0" anchor="ctr"/>
          <a:lstStyle/>
          <a:p>
            <a:pPr algn="r" indent="0" marL="0">
              <a:buNone/>
            </a:pPr>
            <a:r>
              <a:rPr lang="en-US" sz="1050" i="1" dirty="0">
                <a:solidFill>
                  <a:srgbClr val="6B7679"/>
                </a:solidFill>
                <a:latin typeface="Calibri" pitchFamily="34" charset="0"/>
                <a:ea typeface="Calibri" pitchFamily="34" charset="-122"/>
                <a:cs typeface="Calibri" pitchFamily="34" charset="-120"/>
              </a:rPr>
              <a:t>frame 1</a:t>
            </a:r>
            <a:endParaRPr lang="en-US" sz="1050" dirty="0"/>
          </a:p>
        </p:txBody>
      </p:sp>
      <p:sp>
        <p:nvSpPr>
          <p:cNvPr id="143" name="Text 141"/>
          <p:cNvSpPr txBox="1"/>
          <p:nvPr/>
        </p:nvSpPr>
        <p:spPr>
          <a:xfrm>
            <a:off x="548640" y="5285232"/>
            <a:ext cx="795528" cy="329184"/>
          </a:xfrm>
          <a:prstGeom prst="rect">
            <a:avLst/>
          </a:prstGeom>
          <a:noFill/>
          <a:ln/>
        </p:spPr>
        <p:txBody>
          <a:bodyPr wrap="square" lIns="0" tIns="0" rIns="0" bIns="0" rtlCol="0" anchor="ctr"/>
          <a:lstStyle/>
          <a:p>
            <a:pPr algn="r" indent="0" marL="0">
              <a:buNone/>
            </a:pPr>
            <a:r>
              <a:rPr lang="en-US" sz="1050" i="1" dirty="0">
                <a:solidFill>
                  <a:srgbClr val="6B7679"/>
                </a:solidFill>
                <a:latin typeface="Calibri" pitchFamily="34" charset="0"/>
                <a:ea typeface="Calibri" pitchFamily="34" charset="-122"/>
                <a:cs typeface="Calibri" pitchFamily="34" charset="-120"/>
              </a:rPr>
              <a:t>frame 2</a:t>
            </a:r>
            <a:endParaRPr lang="en-US" sz="1050" dirty="0"/>
          </a:p>
        </p:txBody>
      </p:sp>
      <p:sp>
        <p:nvSpPr>
          <p:cNvPr id="144" name="Text 142"/>
          <p:cNvSpPr txBox="1"/>
          <p:nvPr/>
        </p:nvSpPr>
        <p:spPr>
          <a:xfrm>
            <a:off x="548640" y="5614416"/>
            <a:ext cx="795528" cy="329184"/>
          </a:xfrm>
          <a:prstGeom prst="rect">
            <a:avLst/>
          </a:prstGeom>
          <a:noFill/>
          <a:ln/>
        </p:spPr>
        <p:txBody>
          <a:bodyPr wrap="square" lIns="0" tIns="0" rIns="0" bIns="0" rtlCol="0" anchor="ctr"/>
          <a:lstStyle/>
          <a:p>
            <a:pPr algn="r" indent="0" marL="0">
              <a:buNone/>
            </a:pPr>
            <a:r>
              <a:rPr lang="en-US" sz="1050" i="1" dirty="0">
                <a:solidFill>
                  <a:srgbClr val="6B7679"/>
                </a:solidFill>
                <a:latin typeface="Calibri" pitchFamily="34" charset="0"/>
                <a:ea typeface="Calibri" pitchFamily="34" charset="-122"/>
                <a:cs typeface="Calibri" pitchFamily="34" charset="-120"/>
              </a:rPr>
              <a:t>fault?</a:t>
            </a:r>
            <a:endParaRPr lang="en-US" sz="1050" dirty="0"/>
          </a:p>
        </p:txBody>
      </p:sp>
      <p:sp>
        <p:nvSpPr>
          <p:cNvPr id="145" name="Shape 143"/>
          <p:cNvSpPr/>
          <p:nvPr/>
        </p:nvSpPr>
        <p:spPr>
          <a:xfrm>
            <a:off x="1435608" y="4315968"/>
            <a:ext cx="528393" cy="292608"/>
          </a:xfrm>
          <a:prstGeom prst="roundRect">
            <a:avLst>
              <a:gd name="adj" fmla="val 15625"/>
            </a:avLst>
          </a:prstGeom>
          <a:solidFill>
            <a:srgbClr val="36454F"/>
          </a:solidFill>
          <a:ln/>
        </p:spPr>
        <p:txBody>
          <a:bodyPr/>
          <a:p/>
        </p:txBody>
      </p:sp>
      <p:sp>
        <p:nvSpPr>
          <p:cNvPr id="146" name="Text 144"/>
          <p:cNvSpPr txBox="1"/>
          <p:nvPr/>
        </p:nvSpPr>
        <p:spPr>
          <a:xfrm>
            <a:off x="1435608" y="4315968"/>
            <a:ext cx="528393" cy="292608"/>
          </a:xfrm>
          <a:prstGeom prst="rect">
            <a:avLst/>
          </a:prstGeom>
          <a:noFill/>
          <a:ln/>
        </p:spPr>
        <p:txBody>
          <a:bodyPr wrap="square" lIns="38100" tIns="38100" rIns="38100" bIns="3810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147" name="Shape 145"/>
          <p:cNvSpPr/>
          <p:nvPr/>
        </p:nvSpPr>
        <p:spPr>
          <a:xfrm>
            <a:off x="1435608" y="4645152"/>
            <a:ext cx="528393" cy="292608"/>
          </a:xfrm>
          <a:prstGeom prst="roundRect">
            <a:avLst>
              <a:gd name="adj" fmla="val 15625"/>
            </a:avLst>
          </a:prstGeom>
          <a:solidFill>
            <a:srgbClr val="02C39A"/>
          </a:solidFill>
          <a:ln/>
        </p:spPr>
        <p:txBody>
          <a:bodyPr/>
          <a:p/>
        </p:txBody>
      </p:sp>
      <p:sp>
        <p:nvSpPr>
          <p:cNvPr id="148" name="Text 146"/>
          <p:cNvSpPr txBox="1"/>
          <p:nvPr/>
        </p:nvSpPr>
        <p:spPr>
          <a:xfrm>
            <a:off x="1435608" y="4645152"/>
            <a:ext cx="528393" cy="292608"/>
          </a:xfrm>
          <a:prstGeom prst="rect">
            <a:avLst/>
          </a:prstGeom>
          <a:noFill/>
          <a:ln/>
        </p:spPr>
        <p:txBody>
          <a:bodyPr wrap="square" lIns="38100" tIns="38100" rIns="38100" bIns="38100" rtlCol="0" anchor="ctr"/>
          <a:lstStyle/>
          <a:p>
            <a:pPr algn="ctr" indent="0" marL="0">
              <a:buNone/>
            </a:pPr>
            <a:r>
              <a:rPr lang="en-US" sz="1300" b="1" dirty="0">
                <a:solidFill>
                  <a:srgbClr val="212121"/>
                </a:solidFill>
                <a:latin typeface="Calibri" pitchFamily="34" charset="0"/>
                <a:ea typeface="Calibri" pitchFamily="34" charset="-122"/>
                <a:cs typeface="Calibri" pitchFamily="34" charset="-120"/>
              </a:rPr>
              <a:t>1</a:t>
            </a:r>
            <a:endParaRPr lang="en-US" sz="1300" dirty="0"/>
          </a:p>
        </p:txBody>
      </p:sp>
      <p:sp>
        <p:nvSpPr>
          <p:cNvPr id="149" name="Shape 147"/>
          <p:cNvSpPr/>
          <p:nvPr/>
        </p:nvSpPr>
        <p:spPr>
          <a:xfrm>
            <a:off x="1435608" y="4974336"/>
            <a:ext cx="528393" cy="292608"/>
          </a:xfrm>
          <a:prstGeom prst="roundRect">
            <a:avLst>
              <a:gd name="adj" fmla="val 15625"/>
            </a:avLst>
          </a:prstGeom>
          <a:solidFill>
            <a:srgbClr val="D7E9E6"/>
          </a:solidFill>
          <a:ln/>
        </p:spPr>
        <p:txBody>
          <a:bodyPr/>
          <a:p/>
        </p:txBody>
      </p:sp>
      <p:sp>
        <p:nvSpPr>
          <p:cNvPr id="150" name="Text 148"/>
          <p:cNvSpPr txBox="1"/>
          <p:nvPr/>
        </p:nvSpPr>
        <p:spPr>
          <a:xfrm>
            <a:off x="1435608" y="4974336"/>
            <a:ext cx="528393" cy="292608"/>
          </a:xfrm>
          <a:prstGeom prst="rect">
            <a:avLst/>
          </a:prstGeom>
          <a:noFill/>
          <a:ln/>
        </p:spPr>
        <p:txBody>
          <a:bodyPr wrap="square" lIns="38100" tIns="38100" rIns="38100" bIns="38100" rtlCol="0" anchor="ctr"/>
          <a:lstStyle/>
          <a:p>
            <a:pPr algn="ctr" indent="0" marL="0">
              <a:buNone/>
            </a:pPr>
            <a:endParaRPr lang="en-US" sz="1300" dirty="0"/>
          </a:p>
        </p:txBody>
      </p:sp>
      <p:sp>
        <p:nvSpPr>
          <p:cNvPr id="151" name="Shape 149"/>
          <p:cNvSpPr/>
          <p:nvPr/>
        </p:nvSpPr>
        <p:spPr>
          <a:xfrm>
            <a:off x="1435608" y="5303520"/>
            <a:ext cx="528393" cy="292608"/>
          </a:xfrm>
          <a:prstGeom prst="roundRect">
            <a:avLst>
              <a:gd name="adj" fmla="val 15625"/>
            </a:avLst>
          </a:prstGeom>
          <a:solidFill>
            <a:srgbClr val="D7E9E6"/>
          </a:solidFill>
          <a:ln/>
        </p:spPr>
        <p:txBody>
          <a:bodyPr/>
          <a:p/>
        </p:txBody>
      </p:sp>
      <p:sp>
        <p:nvSpPr>
          <p:cNvPr id="152" name="Text 150"/>
          <p:cNvSpPr txBox="1"/>
          <p:nvPr/>
        </p:nvSpPr>
        <p:spPr>
          <a:xfrm>
            <a:off x="1435608" y="5303520"/>
            <a:ext cx="528393" cy="292608"/>
          </a:xfrm>
          <a:prstGeom prst="rect">
            <a:avLst/>
          </a:prstGeom>
          <a:noFill/>
          <a:ln/>
        </p:spPr>
        <p:txBody>
          <a:bodyPr wrap="square" lIns="38100" tIns="38100" rIns="38100" bIns="38100" rtlCol="0" anchor="ctr"/>
          <a:lstStyle/>
          <a:p>
            <a:pPr algn="ctr" indent="0" marL="0">
              <a:buNone/>
            </a:pPr>
            <a:endParaRPr lang="en-US" sz="1300" dirty="0"/>
          </a:p>
        </p:txBody>
      </p:sp>
      <p:sp>
        <p:nvSpPr>
          <p:cNvPr id="153" name="Text 151"/>
          <p:cNvSpPr txBox="1"/>
          <p:nvPr/>
        </p:nvSpPr>
        <p:spPr>
          <a:xfrm>
            <a:off x="1417320" y="5614416"/>
            <a:ext cx="564969" cy="329184"/>
          </a:xfrm>
          <a:prstGeom prst="rect">
            <a:avLst/>
          </a:prstGeom>
          <a:noFill/>
          <a:ln/>
        </p:spPr>
        <p:txBody>
          <a:bodyPr wrap="square" lIns="0" tIns="0" rIns="0" bIns="0" rtlCol="0" anchor="ctr"/>
          <a:lstStyle/>
          <a:p>
            <a:pPr algn="ctr" indent="0" marL="0">
              <a:buNone/>
            </a:pPr>
            <a:r>
              <a:rPr lang="en-US" sz="1300" b="1" dirty="0">
                <a:solidFill>
                  <a:srgbClr val="B5453A"/>
                </a:solidFill>
                <a:latin typeface="Calibri" pitchFamily="34" charset="0"/>
                <a:ea typeface="Calibri" pitchFamily="34" charset="-122"/>
                <a:cs typeface="Calibri" pitchFamily="34" charset="-120"/>
              </a:rPr>
              <a:t>F</a:t>
            </a:r>
            <a:endParaRPr lang="en-US" sz="1300" dirty="0"/>
          </a:p>
        </p:txBody>
      </p:sp>
      <p:sp>
        <p:nvSpPr>
          <p:cNvPr id="154" name="Shape 152"/>
          <p:cNvSpPr/>
          <p:nvPr/>
        </p:nvSpPr>
        <p:spPr>
          <a:xfrm>
            <a:off x="2000577" y="4315968"/>
            <a:ext cx="528393" cy="292608"/>
          </a:xfrm>
          <a:prstGeom prst="roundRect">
            <a:avLst>
              <a:gd name="adj" fmla="val 15625"/>
            </a:avLst>
          </a:prstGeom>
          <a:solidFill>
            <a:srgbClr val="36454F"/>
          </a:solidFill>
          <a:ln/>
        </p:spPr>
        <p:txBody>
          <a:bodyPr/>
          <a:p/>
        </p:txBody>
      </p:sp>
      <p:sp>
        <p:nvSpPr>
          <p:cNvPr id="155" name="Text 153"/>
          <p:cNvSpPr txBox="1"/>
          <p:nvPr/>
        </p:nvSpPr>
        <p:spPr>
          <a:xfrm>
            <a:off x="2000577" y="4315968"/>
            <a:ext cx="528393" cy="292608"/>
          </a:xfrm>
          <a:prstGeom prst="rect">
            <a:avLst/>
          </a:prstGeom>
          <a:noFill/>
          <a:ln/>
        </p:spPr>
        <p:txBody>
          <a:bodyPr wrap="square" lIns="38100" tIns="38100" rIns="38100" bIns="3810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56" name="Shape 154"/>
          <p:cNvSpPr/>
          <p:nvPr/>
        </p:nvSpPr>
        <p:spPr>
          <a:xfrm>
            <a:off x="2000577" y="4645152"/>
            <a:ext cx="528393" cy="292608"/>
          </a:xfrm>
          <a:prstGeom prst="roundRect">
            <a:avLst>
              <a:gd name="adj" fmla="val 15625"/>
            </a:avLst>
          </a:prstGeom>
          <a:solidFill>
            <a:srgbClr val="D7E9E6"/>
          </a:solidFill>
          <a:ln/>
        </p:spPr>
        <p:txBody>
          <a:bodyPr/>
          <a:p/>
        </p:txBody>
      </p:sp>
      <p:sp>
        <p:nvSpPr>
          <p:cNvPr id="157" name="Text 155"/>
          <p:cNvSpPr txBox="1"/>
          <p:nvPr/>
        </p:nvSpPr>
        <p:spPr>
          <a:xfrm>
            <a:off x="2000577" y="4645152"/>
            <a:ext cx="528393" cy="292608"/>
          </a:xfrm>
          <a:prstGeom prst="rect">
            <a:avLst/>
          </a:prstGeom>
          <a:noFill/>
          <a:ln/>
        </p:spPr>
        <p:txBody>
          <a:bodyPr wrap="square" lIns="38100" tIns="38100" rIns="38100" bIns="38100" rtlCol="0" anchor="ctr"/>
          <a:lstStyle/>
          <a:p>
            <a:pPr algn="ctr" indent="0" marL="0">
              <a:buNone/>
            </a:pPr>
            <a:r>
              <a:rPr lang="en-US" sz="1300" dirty="0">
                <a:solidFill>
                  <a:srgbClr val="212121"/>
                </a:solidFill>
                <a:latin typeface="Calibri" pitchFamily="34" charset="0"/>
                <a:ea typeface="Calibri" pitchFamily="34" charset="-122"/>
                <a:cs typeface="Calibri" pitchFamily="34" charset="-120"/>
              </a:rPr>
              <a:t>1</a:t>
            </a:r>
            <a:endParaRPr lang="en-US" sz="1300" dirty="0"/>
          </a:p>
        </p:txBody>
      </p:sp>
      <p:sp>
        <p:nvSpPr>
          <p:cNvPr id="158" name="Shape 156"/>
          <p:cNvSpPr/>
          <p:nvPr/>
        </p:nvSpPr>
        <p:spPr>
          <a:xfrm>
            <a:off x="2000577" y="4974336"/>
            <a:ext cx="528393" cy="292608"/>
          </a:xfrm>
          <a:prstGeom prst="roundRect">
            <a:avLst>
              <a:gd name="adj" fmla="val 15625"/>
            </a:avLst>
          </a:prstGeom>
          <a:solidFill>
            <a:srgbClr val="02C39A"/>
          </a:solidFill>
          <a:ln/>
        </p:spPr>
        <p:txBody>
          <a:bodyPr/>
          <a:p/>
        </p:txBody>
      </p:sp>
      <p:sp>
        <p:nvSpPr>
          <p:cNvPr id="159" name="Text 157"/>
          <p:cNvSpPr txBox="1"/>
          <p:nvPr/>
        </p:nvSpPr>
        <p:spPr>
          <a:xfrm>
            <a:off x="2000577" y="4974336"/>
            <a:ext cx="528393" cy="292608"/>
          </a:xfrm>
          <a:prstGeom prst="rect">
            <a:avLst/>
          </a:prstGeom>
          <a:noFill/>
          <a:ln/>
        </p:spPr>
        <p:txBody>
          <a:bodyPr wrap="square" lIns="38100" tIns="38100" rIns="38100" bIns="38100" rtlCol="0" anchor="ctr"/>
          <a:lstStyle/>
          <a:p>
            <a:pPr algn="ctr" indent="0" marL="0">
              <a:buNone/>
            </a:pPr>
            <a:r>
              <a:rPr lang="en-US" sz="1300" b="1" dirty="0">
                <a:solidFill>
                  <a:srgbClr val="212121"/>
                </a:solidFill>
                <a:latin typeface="Calibri" pitchFamily="34" charset="0"/>
                <a:ea typeface="Calibri" pitchFamily="34" charset="-122"/>
                <a:cs typeface="Calibri" pitchFamily="34" charset="-120"/>
              </a:rPr>
              <a:t>2</a:t>
            </a:r>
            <a:endParaRPr lang="en-US" sz="1300" dirty="0"/>
          </a:p>
        </p:txBody>
      </p:sp>
      <p:sp>
        <p:nvSpPr>
          <p:cNvPr id="160" name="Shape 158"/>
          <p:cNvSpPr/>
          <p:nvPr/>
        </p:nvSpPr>
        <p:spPr>
          <a:xfrm>
            <a:off x="2000577" y="5303520"/>
            <a:ext cx="528393" cy="292608"/>
          </a:xfrm>
          <a:prstGeom prst="roundRect">
            <a:avLst>
              <a:gd name="adj" fmla="val 15625"/>
            </a:avLst>
          </a:prstGeom>
          <a:solidFill>
            <a:srgbClr val="D7E9E6"/>
          </a:solidFill>
          <a:ln/>
        </p:spPr>
        <p:txBody>
          <a:bodyPr/>
          <a:p/>
        </p:txBody>
      </p:sp>
      <p:sp>
        <p:nvSpPr>
          <p:cNvPr id="161" name="Text 159"/>
          <p:cNvSpPr txBox="1"/>
          <p:nvPr/>
        </p:nvSpPr>
        <p:spPr>
          <a:xfrm>
            <a:off x="2000577" y="5303520"/>
            <a:ext cx="528393" cy="292608"/>
          </a:xfrm>
          <a:prstGeom prst="rect">
            <a:avLst/>
          </a:prstGeom>
          <a:noFill/>
          <a:ln/>
        </p:spPr>
        <p:txBody>
          <a:bodyPr wrap="square" lIns="38100" tIns="38100" rIns="38100" bIns="38100" rtlCol="0" anchor="ctr"/>
          <a:lstStyle/>
          <a:p>
            <a:pPr algn="ctr" indent="0" marL="0">
              <a:buNone/>
            </a:pPr>
            <a:endParaRPr lang="en-US" sz="1300" dirty="0"/>
          </a:p>
        </p:txBody>
      </p:sp>
      <p:sp>
        <p:nvSpPr>
          <p:cNvPr id="162" name="Text 160"/>
          <p:cNvSpPr txBox="1"/>
          <p:nvPr/>
        </p:nvSpPr>
        <p:spPr>
          <a:xfrm>
            <a:off x="1982289" y="5614416"/>
            <a:ext cx="564969" cy="329184"/>
          </a:xfrm>
          <a:prstGeom prst="rect">
            <a:avLst/>
          </a:prstGeom>
          <a:noFill/>
          <a:ln/>
        </p:spPr>
        <p:txBody>
          <a:bodyPr wrap="square" lIns="0" tIns="0" rIns="0" bIns="0" rtlCol="0" anchor="ctr"/>
          <a:lstStyle/>
          <a:p>
            <a:pPr algn="ctr" indent="0" marL="0">
              <a:buNone/>
            </a:pPr>
            <a:r>
              <a:rPr lang="en-US" sz="1300" b="1" dirty="0">
                <a:solidFill>
                  <a:srgbClr val="B5453A"/>
                </a:solidFill>
                <a:latin typeface="Calibri" pitchFamily="34" charset="0"/>
                <a:ea typeface="Calibri" pitchFamily="34" charset="-122"/>
                <a:cs typeface="Calibri" pitchFamily="34" charset="-120"/>
              </a:rPr>
              <a:t>F</a:t>
            </a:r>
            <a:endParaRPr lang="en-US" sz="1300" dirty="0"/>
          </a:p>
        </p:txBody>
      </p:sp>
      <p:sp>
        <p:nvSpPr>
          <p:cNvPr id="163" name="Shape 161"/>
          <p:cNvSpPr/>
          <p:nvPr/>
        </p:nvSpPr>
        <p:spPr>
          <a:xfrm>
            <a:off x="2565545" y="4315968"/>
            <a:ext cx="528393" cy="292608"/>
          </a:xfrm>
          <a:prstGeom prst="roundRect">
            <a:avLst>
              <a:gd name="adj" fmla="val 15625"/>
            </a:avLst>
          </a:prstGeom>
          <a:solidFill>
            <a:srgbClr val="36454F"/>
          </a:solidFill>
          <a:ln/>
        </p:spPr>
        <p:txBody>
          <a:bodyPr/>
          <a:p/>
        </p:txBody>
      </p:sp>
      <p:sp>
        <p:nvSpPr>
          <p:cNvPr id="164" name="Text 162"/>
          <p:cNvSpPr txBox="1"/>
          <p:nvPr/>
        </p:nvSpPr>
        <p:spPr>
          <a:xfrm>
            <a:off x="2565545" y="4315968"/>
            <a:ext cx="528393" cy="292608"/>
          </a:xfrm>
          <a:prstGeom prst="rect">
            <a:avLst/>
          </a:prstGeom>
          <a:noFill/>
          <a:ln/>
        </p:spPr>
        <p:txBody>
          <a:bodyPr wrap="square" lIns="38100" tIns="38100" rIns="38100" bIns="3810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a:t>
            </a:r>
            <a:endParaRPr lang="en-US" sz="1300" dirty="0"/>
          </a:p>
        </p:txBody>
      </p:sp>
      <p:sp>
        <p:nvSpPr>
          <p:cNvPr id="165" name="Shape 163"/>
          <p:cNvSpPr/>
          <p:nvPr/>
        </p:nvSpPr>
        <p:spPr>
          <a:xfrm>
            <a:off x="2565545" y="4645152"/>
            <a:ext cx="528393" cy="292608"/>
          </a:xfrm>
          <a:prstGeom prst="roundRect">
            <a:avLst>
              <a:gd name="adj" fmla="val 15625"/>
            </a:avLst>
          </a:prstGeom>
          <a:solidFill>
            <a:srgbClr val="D7E9E6"/>
          </a:solidFill>
          <a:ln/>
        </p:spPr>
        <p:txBody>
          <a:bodyPr/>
          <a:p/>
        </p:txBody>
      </p:sp>
      <p:sp>
        <p:nvSpPr>
          <p:cNvPr id="166" name="Text 164"/>
          <p:cNvSpPr txBox="1"/>
          <p:nvPr/>
        </p:nvSpPr>
        <p:spPr>
          <a:xfrm>
            <a:off x="2565545" y="4645152"/>
            <a:ext cx="528393" cy="292608"/>
          </a:xfrm>
          <a:prstGeom prst="rect">
            <a:avLst/>
          </a:prstGeom>
          <a:noFill/>
          <a:ln/>
        </p:spPr>
        <p:txBody>
          <a:bodyPr wrap="square" lIns="38100" tIns="38100" rIns="38100" bIns="38100" rtlCol="0" anchor="ctr"/>
          <a:lstStyle/>
          <a:p>
            <a:pPr algn="ctr" indent="0" marL="0">
              <a:buNone/>
            </a:pPr>
            <a:r>
              <a:rPr lang="en-US" sz="1300" dirty="0">
                <a:solidFill>
                  <a:srgbClr val="212121"/>
                </a:solidFill>
                <a:latin typeface="Calibri" pitchFamily="34" charset="0"/>
                <a:ea typeface="Calibri" pitchFamily="34" charset="-122"/>
                <a:cs typeface="Calibri" pitchFamily="34" charset="-120"/>
              </a:rPr>
              <a:t>1</a:t>
            </a:r>
            <a:endParaRPr lang="en-US" sz="1300" dirty="0"/>
          </a:p>
        </p:txBody>
      </p:sp>
      <p:sp>
        <p:nvSpPr>
          <p:cNvPr id="167" name="Shape 165"/>
          <p:cNvSpPr/>
          <p:nvPr/>
        </p:nvSpPr>
        <p:spPr>
          <a:xfrm>
            <a:off x="2565545" y="4974336"/>
            <a:ext cx="528393" cy="292608"/>
          </a:xfrm>
          <a:prstGeom prst="roundRect">
            <a:avLst>
              <a:gd name="adj" fmla="val 15625"/>
            </a:avLst>
          </a:prstGeom>
          <a:solidFill>
            <a:srgbClr val="D7E9E6"/>
          </a:solidFill>
          <a:ln/>
        </p:spPr>
        <p:txBody>
          <a:bodyPr/>
          <a:p/>
        </p:txBody>
      </p:sp>
      <p:sp>
        <p:nvSpPr>
          <p:cNvPr id="168" name="Text 166"/>
          <p:cNvSpPr txBox="1"/>
          <p:nvPr/>
        </p:nvSpPr>
        <p:spPr>
          <a:xfrm>
            <a:off x="2565545" y="4974336"/>
            <a:ext cx="528393" cy="292608"/>
          </a:xfrm>
          <a:prstGeom prst="rect">
            <a:avLst/>
          </a:prstGeom>
          <a:noFill/>
          <a:ln/>
        </p:spPr>
        <p:txBody>
          <a:bodyPr wrap="square" lIns="38100" tIns="38100" rIns="38100" bIns="38100" rtlCol="0" anchor="ctr"/>
          <a:lstStyle/>
          <a:p>
            <a:pPr algn="ctr" indent="0" marL="0">
              <a:buNone/>
            </a:pPr>
            <a:r>
              <a:rPr lang="en-US" sz="1300" dirty="0">
                <a:solidFill>
                  <a:srgbClr val="212121"/>
                </a:solidFill>
                <a:latin typeface="Calibri" pitchFamily="34" charset="0"/>
                <a:ea typeface="Calibri" pitchFamily="34" charset="-122"/>
                <a:cs typeface="Calibri" pitchFamily="34" charset="-120"/>
              </a:rPr>
              <a:t>2</a:t>
            </a:r>
            <a:endParaRPr lang="en-US" sz="1300" dirty="0"/>
          </a:p>
        </p:txBody>
      </p:sp>
      <p:sp>
        <p:nvSpPr>
          <p:cNvPr id="169" name="Shape 167"/>
          <p:cNvSpPr/>
          <p:nvPr/>
        </p:nvSpPr>
        <p:spPr>
          <a:xfrm>
            <a:off x="2565545" y="5303520"/>
            <a:ext cx="528393" cy="292608"/>
          </a:xfrm>
          <a:prstGeom prst="roundRect">
            <a:avLst>
              <a:gd name="adj" fmla="val 15625"/>
            </a:avLst>
          </a:prstGeom>
          <a:solidFill>
            <a:srgbClr val="02C39A"/>
          </a:solidFill>
          <a:ln/>
        </p:spPr>
        <p:txBody>
          <a:bodyPr/>
          <a:p/>
        </p:txBody>
      </p:sp>
      <p:sp>
        <p:nvSpPr>
          <p:cNvPr id="170" name="Text 168"/>
          <p:cNvSpPr txBox="1"/>
          <p:nvPr/>
        </p:nvSpPr>
        <p:spPr>
          <a:xfrm>
            <a:off x="2565545" y="5303520"/>
            <a:ext cx="528393" cy="292608"/>
          </a:xfrm>
          <a:prstGeom prst="rect">
            <a:avLst/>
          </a:prstGeom>
          <a:noFill/>
          <a:ln/>
        </p:spPr>
        <p:txBody>
          <a:bodyPr wrap="square" lIns="38100" tIns="38100" rIns="38100" bIns="38100" rtlCol="0" anchor="ctr"/>
          <a:lstStyle/>
          <a:p>
            <a:pPr algn="ctr" indent="0" marL="0">
              <a:buNone/>
            </a:pPr>
            <a:r>
              <a:rPr lang="en-US" sz="1300" b="1" dirty="0">
                <a:solidFill>
                  <a:srgbClr val="212121"/>
                </a:solidFill>
                <a:latin typeface="Calibri" pitchFamily="34" charset="0"/>
                <a:ea typeface="Calibri" pitchFamily="34" charset="-122"/>
                <a:cs typeface="Calibri" pitchFamily="34" charset="-120"/>
              </a:rPr>
              <a:t>0</a:t>
            </a:r>
            <a:endParaRPr lang="en-US" sz="1300" dirty="0"/>
          </a:p>
        </p:txBody>
      </p:sp>
      <p:sp>
        <p:nvSpPr>
          <p:cNvPr id="171" name="Text 169"/>
          <p:cNvSpPr txBox="1"/>
          <p:nvPr/>
        </p:nvSpPr>
        <p:spPr>
          <a:xfrm>
            <a:off x="2547257" y="5614416"/>
            <a:ext cx="564969" cy="329184"/>
          </a:xfrm>
          <a:prstGeom prst="rect">
            <a:avLst/>
          </a:prstGeom>
          <a:noFill/>
          <a:ln/>
        </p:spPr>
        <p:txBody>
          <a:bodyPr wrap="square" lIns="0" tIns="0" rIns="0" bIns="0" rtlCol="0" anchor="ctr"/>
          <a:lstStyle/>
          <a:p>
            <a:pPr algn="ctr" indent="0" marL="0">
              <a:buNone/>
            </a:pPr>
            <a:r>
              <a:rPr lang="en-US" sz="1300" b="1" dirty="0">
                <a:solidFill>
                  <a:srgbClr val="B5453A"/>
                </a:solidFill>
                <a:latin typeface="Calibri" pitchFamily="34" charset="0"/>
                <a:ea typeface="Calibri" pitchFamily="34" charset="-122"/>
                <a:cs typeface="Calibri" pitchFamily="34" charset="-120"/>
              </a:rPr>
              <a:t>F</a:t>
            </a:r>
            <a:endParaRPr lang="en-US" sz="1300" dirty="0"/>
          </a:p>
        </p:txBody>
      </p:sp>
      <p:sp>
        <p:nvSpPr>
          <p:cNvPr id="172" name="Shape 170"/>
          <p:cNvSpPr/>
          <p:nvPr/>
        </p:nvSpPr>
        <p:spPr>
          <a:xfrm>
            <a:off x="3130514" y="4315968"/>
            <a:ext cx="528393" cy="292608"/>
          </a:xfrm>
          <a:prstGeom prst="roundRect">
            <a:avLst>
              <a:gd name="adj" fmla="val 15625"/>
            </a:avLst>
          </a:prstGeom>
          <a:solidFill>
            <a:srgbClr val="36454F"/>
          </a:solidFill>
          <a:ln/>
        </p:spPr>
        <p:txBody>
          <a:bodyPr/>
          <a:p/>
        </p:txBody>
      </p:sp>
      <p:sp>
        <p:nvSpPr>
          <p:cNvPr id="173" name="Text 171"/>
          <p:cNvSpPr txBox="1"/>
          <p:nvPr/>
        </p:nvSpPr>
        <p:spPr>
          <a:xfrm>
            <a:off x="3130514" y="4315968"/>
            <a:ext cx="528393" cy="292608"/>
          </a:xfrm>
          <a:prstGeom prst="rect">
            <a:avLst/>
          </a:prstGeom>
          <a:noFill/>
          <a:ln/>
        </p:spPr>
        <p:txBody>
          <a:bodyPr wrap="square" lIns="38100" tIns="38100" rIns="38100" bIns="3810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174" name="Shape 172"/>
          <p:cNvSpPr/>
          <p:nvPr/>
        </p:nvSpPr>
        <p:spPr>
          <a:xfrm>
            <a:off x="3130514" y="4645152"/>
            <a:ext cx="528393" cy="292608"/>
          </a:xfrm>
          <a:prstGeom prst="roundRect">
            <a:avLst>
              <a:gd name="adj" fmla="val 15625"/>
            </a:avLst>
          </a:prstGeom>
          <a:solidFill>
            <a:srgbClr val="02C39A"/>
          </a:solidFill>
          <a:ln/>
        </p:spPr>
        <p:txBody>
          <a:bodyPr/>
          <a:p/>
        </p:txBody>
      </p:sp>
      <p:sp>
        <p:nvSpPr>
          <p:cNvPr id="175" name="Text 173"/>
          <p:cNvSpPr txBox="1"/>
          <p:nvPr/>
        </p:nvSpPr>
        <p:spPr>
          <a:xfrm>
            <a:off x="3130514" y="4645152"/>
            <a:ext cx="528393" cy="292608"/>
          </a:xfrm>
          <a:prstGeom prst="rect">
            <a:avLst/>
          </a:prstGeom>
          <a:noFill/>
          <a:ln/>
        </p:spPr>
        <p:txBody>
          <a:bodyPr wrap="square" lIns="38100" tIns="38100" rIns="38100" bIns="38100" rtlCol="0" anchor="ctr"/>
          <a:lstStyle/>
          <a:p>
            <a:pPr algn="ctr" indent="0" marL="0">
              <a:buNone/>
            </a:pPr>
            <a:r>
              <a:rPr lang="en-US" sz="1300" b="1" dirty="0">
                <a:solidFill>
                  <a:srgbClr val="212121"/>
                </a:solidFill>
                <a:latin typeface="Calibri" pitchFamily="34" charset="0"/>
                <a:ea typeface="Calibri" pitchFamily="34" charset="-122"/>
                <a:cs typeface="Calibri" pitchFamily="34" charset="-120"/>
              </a:rPr>
              <a:t>4</a:t>
            </a:r>
            <a:endParaRPr lang="en-US" sz="1300" dirty="0"/>
          </a:p>
        </p:txBody>
      </p:sp>
      <p:sp>
        <p:nvSpPr>
          <p:cNvPr id="176" name="Shape 174"/>
          <p:cNvSpPr/>
          <p:nvPr/>
        </p:nvSpPr>
        <p:spPr>
          <a:xfrm>
            <a:off x="3130514" y="4974336"/>
            <a:ext cx="528393" cy="292608"/>
          </a:xfrm>
          <a:prstGeom prst="roundRect">
            <a:avLst>
              <a:gd name="adj" fmla="val 15625"/>
            </a:avLst>
          </a:prstGeom>
          <a:solidFill>
            <a:srgbClr val="D7E9E6"/>
          </a:solidFill>
          <a:ln/>
        </p:spPr>
        <p:txBody>
          <a:bodyPr/>
          <a:p/>
        </p:txBody>
      </p:sp>
      <p:sp>
        <p:nvSpPr>
          <p:cNvPr id="177" name="Text 175"/>
          <p:cNvSpPr txBox="1"/>
          <p:nvPr/>
        </p:nvSpPr>
        <p:spPr>
          <a:xfrm>
            <a:off x="3130514" y="4974336"/>
            <a:ext cx="528393" cy="292608"/>
          </a:xfrm>
          <a:prstGeom prst="rect">
            <a:avLst/>
          </a:prstGeom>
          <a:noFill/>
          <a:ln/>
        </p:spPr>
        <p:txBody>
          <a:bodyPr wrap="square" lIns="38100" tIns="38100" rIns="38100" bIns="38100" rtlCol="0" anchor="ctr"/>
          <a:lstStyle/>
          <a:p>
            <a:pPr algn="ctr" indent="0" marL="0">
              <a:buNone/>
            </a:pPr>
            <a:r>
              <a:rPr lang="en-US" sz="1300" dirty="0">
                <a:solidFill>
                  <a:srgbClr val="212121"/>
                </a:solidFill>
                <a:latin typeface="Calibri" pitchFamily="34" charset="0"/>
                <a:ea typeface="Calibri" pitchFamily="34" charset="-122"/>
                <a:cs typeface="Calibri" pitchFamily="34" charset="-120"/>
              </a:rPr>
              <a:t>2</a:t>
            </a:r>
            <a:endParaRPr lang="en-US" sz="1300" dirty="0"/>
          </a:p>
        </p:txBody>
      </p:sp>
      <p:sp>
        <p:nvSpPr>
          <p:cNvPr id="178" name="Shape 176"/>
          <p:cNvSpPr/>
          <p:nvPr/>
        </p:nvSpPr>
        <p:spPr>
          <a:xfrm>
            <a:off x="3130514" y="5303520"/>
            <a:ext cx="528393" cy="292608"/>
          </a:xfrm>
          <a:prstGeom prst="roundRect">
            <a:avLst>
              <a:gd name="adj" fmla="val 15625"/>
            </a:avLst>
          </a:prstGeom>
          <a:solidFill>
            <a:srgbClr val="D7E9E6"/>
          </a:solidFill>
          <a:ln/>
        </p:spPr>
        <p:txBody>
          <a:bodyPr/>
          <a:p/>
        </p:txBody>
      </p:sp>
      <p:sp>
        <p:nvSpPr>
          <p:cNvPr id="179" name="Text 177"/>
          <p:cNvSpPr txBox="1"/>
          <p:nvPr/>
        </p:nvSpPr>
        <p:spPr>
          <a:xfrm>
            <a:off x="3130514" y="5303520"/>
            <a:ext cx="528393" cy="292608"/>
          </a:xfrm>
          <a:prstGeom prst="rect">
            <a:avLst/>
          </a:prstGeom>
          <a:noFill/>
          <a:ln/>
        </p:spPr>
        <p:txBody>
          <a:bodyPr wrap="square" lIns="38100" tIns="38100" rIns="38100" bIns="38100" rtlCol="0" anchor="ctr"/>
          <a:lstStyle/>
          <a:p>
            <a:pPr algn="ctr" indent="0" marL="0">
              <a:buNone/>
            </a:pPr>
            <a:r>
              <a:rPr lang="en-US" sz="1300" dirty="0">
                <a:solidFill>
                  <a:srgbClr val="212121"/>
                </a:solidFill>
                <a:latin typeface="Calibri" pitchFamily="34" charset="0"/>
                <a:ea typeface="Calibri" pitchFamily="34" charset="-122"/>
                <a:cs typeface="Calibri" pitchFamily="34" charset="-120"/>
              </a:rPr>
              <a:t>0</a:t>
            </a:r>
            <a:endParaRPr lang="en-US" sz="1300" dirty="0"/>
          </a:p>
        </p:txBody>
      </p:sp>
      <p:sp>
        <p:nvSpPr>
          <p:cNvPr id="180" name="Text 178"/>
          <p:cNvSpPr txBox="1"/>
          <p:nvPr/>
        </p:nvSpPr>
        <p:spPr>
          <a:xfrm>
            <a:off x="3112226" y="5614416"/>
            <a:ext cx="564969" cy="329184"/>
          </a:xfrm>
          <a:prstGeom prst="rect">
            <a:avLst/>
          </a:prstGeom>
          <a:noFill/>
          <a:ln/>
        </p:spPr>
        <p:txBody>
          <a:bodyPr wrap="square" lIns="0" tIns="0" rIns="0" bIns="0" rtlCol="0" anchor="ctr"/>
          <a:lstStyle/>
          <a:p>
            <a:pPr algn="ctr" indent="0" marL="0">
              <a:buNone/>
            </a:pPr>
            <a:r>
              <a:rPr lang="en-US" sz="1300" b="1" dirty="0">
                <a:solidFill>
                  <a:srgbClr val="B5453A"/>
                </a:solidFill>
                <a:latin typeface="Calibri" pitchFamily="34" charset="0"/>
                <a:ea typeface="Calibri" pitchFamily="34" charset="-122"/>
                <a:cs typeface="Calibri" pitchFamily="34" charset="-120"/>
              </a:rPr>
              <a:t>F</a:t>
            </a:r>
            <a:endParaRPr lang="en-US" sz="1300" dirty="0"/>
          </a:p>
        </p:txBody>
      </p:sp>
      <p:sp>
        <p:nvSpPr>
          <p:cNvPr id="181" name="Shape 179"/>
          <p:cNvSpPr/>
          <p:nvPr/>
        </p:nvSpPr>
        <p:spPr>
          <a:xfrm>
            <a:off x="3695482" y="4315968"/>
            <a:ext cx="528393" cy="292608"/>
          </a:xfrm>
          <a:prstGeom prst="roundRect">
            <a:avLst>
              <a:gd name="adj" fmla="val 15625"/>
            </a:avLst>
          </a:prstGeom>
          <a:solidFill>
            <a:srgbClr val="36454F"/>
          </a:solidFill>
          <a:ln/>
        </p:spPr>
        <p:txBody>
          <a:bodyPr/>
          <a:p/>
        </p:txBody>
      </p:sp>
      <p:sp>
        <p:nvSpPr>
          <p:cNvPr id="182" name="Text 180"/>
          <p:cNvSpPr txBox="1"/>
          <p:nvPr/>
        </p:nvSpPr>
        <p:spPr>
          <a:xfrm>
            <a:off x="3695482" y="4315968"/>
            <a:ext cx="528393" cy="292608"/>
          </a:xfrm>
          <a:prstGeom prst="rect">
            <a:avLst/>
          </a:prstGeom>
          <a:noFill/>
          <a:ln/>
        </p:spPr>
        <p:txBody>
          <a:bodyPr wrap="square" lIns="38100" tIns="38100" rIns="38100" bIns="3810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83" name="Shape 181"/>
          <p:cNvSpPr/>
          <p:nvPr/>
        </p:nvSpPr>
        <p:spPr>
          <a:xfrm>
            <a:off x="3695482" y="4645152"/>
            <a:ext cx="528393" cy="292608"/>
          </a:xfrm>
          <a:prstGeom prst="roundRect">
            <a:avLst>
              <a:gd name="adj" fmla="val 15625"/>
            </a:avLst>
          </a:prstGeom>
          <a:solidFill>
            <a:srgbClr val="F2F2F2"/>
          </a:solidFill>
          <a:ln/>
        </p:spPr>
        <p:txBody>
          <a:bodyPr/>
          <a:p/>
        </p:txBody>
      </p:sp>
      <p:sp>
        <p:nvSpPr>
          <p:cNvPr id="184" name="Text 182"/>
          <p:cNvSpPr txBox="1"/>
          <p:nvPr/>
        </p:nvSpPr>
        <p:spPr>
          <a:xfrm>
            <a:off x="3695482" y="4645152"/>
            <a:ext cx="528393" cy="292608"/>
          </a:xfrm>
          <a:prstGeom prst="rect">
            <a:avLst/>
          </a:prstGeom>
          <a:noFill/>
          <a:ln/>
        </p:spPr>
        <p:txBody>
          <a:bodyPr wrap="square" lIns="38100" tIns="38100" rIns="38100" bIns="38100" rtlCol="0" anchor="ctr"/>
          <a:lstStyle/>
          <a:p>
            <a:pPr algn="ctr" indent="0" marL="0">
              <a:buNone/>
            </a:pPr>
            <a:r>
              <a:rPr lang="en-US" sz="1300" dirty="0">
                <a:solidFill>
                  <a:srgbClr val="9AA5A8"/>
                </a:solidFill>
                <a:latin typeface="Calibri" pitchFamily="34" charset="0"/>
                <a:ea typeface="Calibri" pitchFamily="34" charset="-122"/>
                <a:cs typeface="Calibri" pitchFamily="34" charset="-120"/>
              </a:rPr>
              <a:t>4</a:t>
            </a:r>
            <a:endParaRPr lang="en-US" sz="1300" dirty="0"/>
          </a:p>
        </p:txBody>
      </p:sp>
      <p:sp>
        <p:nvSpPr>
          <p:cNvPr id="185" name="Shape 183"/>
          <p:cNvSpPr/>
          <p:nvPr/>
        </p:nvSpPr>
        <p:spPr>
          <a:xfrm>
            <a:off x="3695482" y="4974336"/>
            <a:ext cx="528393" cy="292608"/>
          </a:xfrm>
          <a:prstGeom prst="roundRect">
            <a:avLst>
              <a:gd name="adj" fmla="val 15625"/>
            </a:avLst>
          </a:prstGeom>
          <a:solidFill>
            <a:srgbClr val="F2F2F2"/>
          </a:solidFill>
          <a:ln/>
        </p:spPr>
        <p:txBody>
          <a:bodyPr/>
          <a:p/>
        </p:txBody>
      </p:sp>
      <p:sp>
        <p:nvSpPr>
          <p:cNvPr id="186" name="Text 184"/>
          <p:cNvSpPr txBox="1"/>
          <p:nvPr/>
        </p:nvSpPr>
        <p:spPr>
          <a:xfrm>
            <a:off x="3695482" y="4974336"/>
            <a:ext cx="528393" cy="292608"/>
          </a:xfrm>
          <a:prstGeom prst="rect">
            <a:avLst/>
          </a:prstGeom>
          <a:noFill/>
          <a:ln/>
        </p:spPr>
        <p:txBody>
          <a:bodyPr wrap="square" lIns="38100" tIns="38100" rIns="38100" bIns="38100" rtlCol="0" anchor="ctr"/>
          <a:lstStyle/>
          <a:p>
            <a:pPr algn="ctr" indent="0" marL="0">
              <a:buNone/>
            </a:pPr>
            <a:r>
              <a:rPr lang="en-US" sz="1300" dirty="0">
                <a:solidFill>
                  <a:srgbClr val="9AA5A8"/>
                </a:solidFill>
                <a:latin typeface="Calibri" pitchFamily="34" charset="0"/>
                <a:ea typeface="Calibri" pitchFamily="34" charset="-122"/>
                <a:cs typeface="Calibri" pitchFamily="34" charset="-120"/>
              </a:rPr>
              <a:t>2</a:t>
            </a:r>
            <a:endParaRPr lang="en-US" sz="1300" dirty="0"/>
          </a:p>
        </p:txBody>
      </p:sp>
      <p:sp>
        <p:nvSpPr>
          <p:cNvPr id="187" name="Shape 185"/>
          <p:cNvSpPr/>
          <p:nvPr/>
        </p:nvSpPr>
        <p:spPr>
          <a:xfrm>
            <a:off x="3695482" y="5303520"/>
            <a:ext cx="528393" cy="292608"/>
          </a:xfrm>
          <a:prstGeom prst="roundRect">
            <a:avLst>
              <a:gd name="adj" fmla="val 15625"/>
            </a:avLst>
          </a:prstGeom>
          <a:solidFill>
            <a:srgbClr val="F2F2F2"/>
          </a:solidFill>
          <a:ln/>
        </p:spPr>
        <p:txBody>
          <a:bodyPr/>
          <a:p/>
        </p:txBody>
      </p:sp>
      <p:sp>
        <p:nvSpPr>
          <p:cNvPr id="188" name="Text 186"/>
          <p:cNvSpPr txBox="1"/>
          <p:nvPr/>
        </p:nvSpPr>
        <p:spPr>
          <a:xfrm>
            <a:off x="3695482" y="5303520"/>
            <a:ext cx="528393" cy="292608"/>
          </a:xfrm>
          <a:prstGeom prst="rect">
            <a:avLst/>
          </a:prstGeom>
          <a:noFill/>
          <a:ln/>
        </p:spPr>
        <p:txBody>
          <a:bodyPr wrap="square" lIns="38100" tIns="38100" rIns="38100" bIns="38100" rtlCol="0" anchor="ctr"/>
          <a:lstStyle/>
          <a:p>
            <a:pPr algn="ctr" indent="0" marL="0">
              <a:buNone/>
            </a:pPr>
            <a:r>
              <a:rPr lang="en-US" sz="1300" dirty="0">
                <a:solidFill>
                  <a:srgbClr val="9AA5A8"/>
                </a:solidFill>
                <a:latin typeface="Calibri" pitchFamily="34" charset="0"/>
                <a:ea typeface="Calibri" pitchFamily="34" charset="-122"/>
                <a:cs typeface="Calibri" pitchFamily="34" charset="-120"/>
              </a:rPr>
              <a:t>0</a:t>
            </a:r>
            <a:endParaRPr lang="en-US" sz="1300" dirty="0"/>
          </a:p>
        </p:txBody>
      </p:sp>
      <p:sp>
        <p:nvSpPr>
          <p:cNvPr id="189" name="Text 187"/>
          <p:cNvSpPr txBox="1"/>
          <p:nvPr/>
        </p:nvSpPr>
        <p:spPr>
          <a:xfrm>
            <a:off x="3677194" y="5614416"/>
            <a:ext cx="564969" cy="329184"/>
          </a:xfrm>
          <a:prstGeom prst="rect">
            <a:avLst/>
          </a:prstGeom>
          <a:noFill/>
          <a:ln/>
        </p:spPr>
        <p:txBody>
          <a:bodyPr wrap="square" lIns="0" tIns="0" rIns="0" bIns="0" rtlCol="0" anchor="ctr"/>
          <a:lstStyle/>
          <a:p>
            <a:pPr algn="ctr" indent="0" marL="0">
              <a:buNone/>
            </a:pPr>
            <a:endParaRPr lang="en-US" sz="1300" dirty="0"/>
          </a:p>
        </p:txBody>
      </p:sp>
      <p:sp>
        <p:nvSpPr>
          <p:cNvPr id="190" name="Shape 188"/>
          <p:cNvSpPr/>
          <p:nvPr/>
        </p:nvSpPr>
        <p:spPr>
          <a:xfrm>
            <a:off x="4260451" y="4315968"/>
            <a:ext cx="528393" cy="292608"/>
          </a:xfrm>
          <a:prstGeom prst="roundRect">
            <a:avLst>
              <a:gd name="adj" fmla="val 15625"/>
            </a:avLst>
          </a:prstGeom>
          <a:solidFill>
            <a:srgbClr val="36454F"/>
          </a:solidFill>
          <a:ln/>
        </p:spPr>
        <p:txBody>
          <a:bodyPr/>
          <a:p/>
        </p:txBody>
      </p:sp>
      <p:sp>
        <p:nvSpPr>
          <p:cNvPr id="191" name="Text 189"/>
          <p:cNvSpPr txBox="1"/>
          <p:nvPr/>
        </p:nvSpPr>
        <p:spPr>
          <a:xfrm>
            <a:off x="4260451" y="4315968"/>
            <a:ext cx="528393" cy="292608"/>
          </a:xfrm>
          <a:prstGeom prst="rect">
            <a:avLst/>
          </a:prstGeom>
          <a:noFill/>
          <a:ln/>
        </p:spPr>
        <p:txBody>
          <a:bodyPr wrap="square" lIns="38100" tIns="38100" rIns="38100" bIns="3810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92" name="Shape 190"/>
          <p:cNvSpPr/>
          <p:nvPr/>
        </p:nvSpPr>
        <p:spPr>
          <a:xfrm>
            <a:off x="4260451" y="4645152"/>
            <a:ext cx="528393" cy="292608"/>
          </a:xfrm>
          <a:prstGeom prst="roundRect">
            <a:avLst>
              <a:gd name="adj" fmla="val 15625"/>
            </a:avLst>
          </a:prstGeom>
          <a:solidFill>
            <a:srgbClr val="D7E9E6"/>
          </a:solidFill>
          <a:ln/>
        </p:spPr>
        <p:txBody>
          <a:bodyPr/>
          <a:p/>
        </p:txBody>
      </p:sp>
      <p:sp>
        <p:nvSpPr>
          <p:cNvPr id="193" name="Text 191"/>
          <p:cNvSpPr txBox="1"/>
          <p:nvPr/>
        </p:nvSpPr>
        <p:spPr>
          <a:xfrm>
            <a:off x="4260451" y="4645152"/>
            <a:ext cx="528393" cy="292608"/>
          </a:xfrm>
          <a:prstGeom prst="rect">
            <a:avLst/>
          </a:prstGeom>
          <a:noFill/>
          <a:ln/>
        </p:spPr>
        <p:txBody>
          <a:bodyPr wrap="square" lIns="38100" tIns="38100" rIns="38100" bIns="38100" rtlCol="0" anchor="ctr"/>
          <a:lstStyle/>
          <a:p>
            <a:pPr algn="ctr" indent="0" marL="0">
              <a:buNone/>
            </a:pPr>
            <a:r>
              <a:rPr lang="en-US" sz="1300" dirty="0">
                <a:solidFill>
                  <a:srgbClr val="212121"/>
                </a:solidFill>
                <a:latin typeface="Calibri" pitchFamily="34" charset="0"/>
                <a:ea typeface="Calibri" pitchFamily="34" charset="-122"/>
                <a:cs typeface="Calibri" pitchFamily="34" charset="-120"/>
              </a:rPr>
              <a:t>4</a:t>
            </a:r>
            <a:endParaRPr lang="en-US" sz="1300" dirty="0"/>
          </a:p>
        </p:txBody>
      </p:sp>
      <p:sp>
        <p:nvSpPr>
          <p:cNvPr id="194" name="Shape 192"/>
          <p:cNvSpPr/>
          <p:nvPr/>
        </p:nvSpPr>
        <p:spPr>
          <a:xfrm>
            <a:off x="4260451" y="4974336"/>
            <a:ext cx="528393" cy="292608"/>
          </a:xfrm>
          <a:prstGeom prst="roundRect">
            <a:avLst>
              <a:gd name="adj" fmla="val 15625"/>
            </a:avLst>
          </a:prstGeom>
          <a:solidFill>
            <a:srgbClr val="D7E9E6"/>
          </a:solidFill>
          <a:ln/>
        </p:spPr>
        <p:txBody>
          <a:bodyPr/>
          <a:p/>
        </p:txBody>
      </p:sp>
      <p:sp>
        <p:nvSpPr>
          <p:cNvPr id="195" name="Text 193"/>
          <p:cNvSpPr txBox="1"/>
          <p:nvPr/>
        </p:nvSpPr>
        <p:spPr>
          <a:xfrm>
            <a:off x="4260451" y="4974336"/>
            <a:ext cx="528393" cy="292608"/>
          </a:xfrm>
          <a:prstGeom prst="rect">
            <a:avLst/>
          </a:prstGeom>
          <a:noFill/>
          <a:ln/>
        </p:spPr>
        <p:txBody>
          <a:bodyPr wrap="square" lIns="38100" tIns="38100" rIns="38100" bIns="38100" rtlCol="0" anchor="ctr"/>
          <a:lstStyle/>
          <a:p>
            <a:pPr algn="ctr" indent="0" marL="0">
              <a:buNone/>
            </a:pPr>
            <a:r>
              <a:rPr lang="en-US" sz="1300" dirty="0">
                <a:solidFill>
                  <a:srgbClr val="212121"/>
                </a:solidFill>
                <a:latin typeface="Calibri" pitchFamily="34" charset="0"/>
                <a:ea typeface="Calibri" pitchFamily="34" charset="-122"/>
                <a:cs typeface="Calibri" pitchFamily="34" charset="-120"/>
              </a:rPr>
              <a:t>2</a:t>
            </a:r>
            <a:endParaRPr lang="en-US" sz="1300" dirty="0"/>
          </a:p>
        </p:txBody>
      </p:sp>
      <p:sp>
        <p:nvSpPr>
          <p:cNvPr id="196" name="Shape 194"/>
          <p:cNvSpPr/>
          <p:nvPr/>
        </p:nvSpPr>
        <p:spPr>
          <a:xfrm>
            <a:off x="4260451" y="5303520"/>
            <a:ext cx="528393" cy="292608"/>
          </a:xfrm>
          <a:prstGeom prst="roundRect">
            <a:avLst>
              <a:gd name="adj" fmla="val 15625"/>
            </a:avLst>
          </a:prstGeom>
          <a:solidFill>
            <a:srgbClr val="02C39A"/>
          </a:solidFill>
          <a:ln/>
        </p:spPr>
        <p:txBody>
          <a:bodyPr/>
          <a:p/>
        </p:txBody>
      </p:sp>
      <p:sp>
        <p:nvSpPr>
          <p:cNvPr id="197" name="Text 195"/>
          <p:cNvSpPr txBox="1"/>
          <p:nvPr/>
        </p:nvSpPr>
        <p:spPr>
          <a:xfrm>
            <a:off x="4260451" y="5303520"/>
            <a:ext cx="528393" cy="292608"/>
          </a:xfrm>
          <a:prstGeom prst="rect">
            <a:avLst/>
          </a:prstGeom>
          <a:noFill/>
          <a:ln/>
        </p:spPr>
        <p:txBody>
          <a:bodyPr wrap="square" lIns="38100" tIns="38100" rIns="38100" bIns="38100" rtlCol="0" anchor="ctr"/>
          <a:lstStyle/>
          <a:p>
            <a:pPr algn="ctr" indent="0" marL="0">
              <a:buNone/>
            </a:pPr>
            <a:r>
              <a:rPr lang="en-US" sz="1300" b="1" dirty="0">
                <a:solidFill>
                  <a:srgbClr val="212121"/>
                </a:solidFill>
                <a:latin typeface="Calibri" pitchFamily="34" charset="0"/>
                <a:ea typeface="Calibri" pitchFamily="34" charset="-122"/>
                <a:cs typeface="Calibri" pitchFamily="34" charset="-120"/>
              </a:rPr>
              <a:t>3</a:t>
            </a:r>
            <a:endParaRPr lang="en-US" sz="1300" dirty="0"/>
          </a:p>
        </p:txBody>
      </p:sp>
      <p:sp>
        <p:nvSpPr>
          <p:cNvPr id="198" name="Text 196"/>
          <p:cNvSpPr txBox="1"/>
          <p:nvPr/>
        </p:nvSpPr>
        <p:spPr>
          <a:xfrm>
            <a:off x="4242163" y="5614416"/>
            <a:ext cx="564969" cy="329184"/>
          </a:xfrm>
          <a:prstGeom prst="rect">
            <a:avLst/>
          </a:prstGeom>
          <a:noFill/>
          <a:ln/>
        </p:spPr>
        <p:txBody>
          <a:bodyPr wrap="square" lIns="0" tIns="0" rIns="0" bIns="0" rtlCol="0" anchor="ctr"/>
          <a:lstStyle/>
          <a:p>
            <a:pPr algn="ctr" indent="0" marL="0">
              <a:buNone/>
            </a:pPr>
            <a:r>
              <a:rPr lang="en-US" sz="1300" b="1" dirty="0">
                <a:solidFill>
                  <a:srgbClr val="B5453A"/>
                </a:solidFill>
                <a:latin typeface="Calibri" pitchFamily="34" charset="0"/>
                <a:ea typeface="Calibri" pitchFamily="34" charset="-122"/>
                <a:cs typeface="Calibri" pitchFamily="34" charset="-120"/>
              </a:rPr>
              <a:t>F</a:t>
            </a:r>
            <a:endParaRPr lang="en-US" sz="1300" dirty="0"/>
          </a:p>
        </p:txBody>
      </p:sp>
      <p:sp>
        <p:nvSpPr>
          <p:cNvPr id="199" name="Shape 197"/>
          <p:cNvSpPr/>
          <p:nvPr/>
        </p:nvSpPr>
        <p:spPr>
          <a:xfrm>
            <a:off x="4825419" y="4315968"/>
            <a:ext cx="528393" cy="292608"/>
          </a:xfrm>
          <a:prstGeom prst="roundRect">
            <a:avLst>
              <a:gd name="adj" fmla="val 15625"/>
            </a:avLst>
          </a:prstGeom>
          <a:solidFill>
            <a:srgbClr val="36454F"/>
          </a:solidFill>
          <a:ln/>
        </p:spPr>
        <p:txBody>
          <a:bodyPr/>
          <a:p/>
        </p:txBody>
      </p:sp>
      <p:sp>
        <p:nvSpPr>
          <p:cNvPr id="200" name="Text 198"/>
          <p:cNvSpPr txBox="1"/>
          <p:nvPr/>
        </p:nvSpPr>
        <p:spPr>
          <a:xfrm>
            <a:off x="4825419" y="4315968"/>
            <a:ext cx="528393" cy="292608"/>
          </a:xfrm>
          <a:prstGeom prst="rect">
            <a:avLst/>
          </a:prstGeom>
          <a:noFill/>
          <a:ln/>
        </p:spPr>
        <p:txBody>
          <a:bodyPr wrap="square" lIns="38100" tIns="38100" rIns="38100" bIns="3810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201" name="Shape 199"/>
          <p:cNvSpPr/>
          <p:nvPr/>
        </p:nvSpPr>
        <p:spPr>
          <a:xfrm>
            <a:off x="4825419" y="4645152"/>
            <a:ext cx="528393" cy="292608"/>
          </a:xfrm>
          <a:prstGeom prst="roundRect">
            <a:avLst>
              <a:gd name="adj" fmla="val 15625"/>
            </a:avLst>
          </a:prstGeom>
          <a:solidFill>
            <a:srgbClr val="F2F2F2"/>
          </a:solidFill>
          <a:ln/>
        </p:spPr>
        <p:txBody>
          <a:bodyPr/>
          <a:p/>
        </p:txBody>
      </p:sp>
      <p:sp>
        <p:nvSpPr>
          <p:cNvPr id="202" name="Text 200"/>
          <p:cNvSpPr txBox="1"/>
          <p:nvPr/>
        </p:nvSpPr>
        <p:spPr>
          <a:xfrm>
            <a:off x="4825419" y="4645152"/>
            <a:ext cx="528393" cy="292608"/>
          </a:xfrm>
          <a:prstGeom prst="rect">
            <a:avLst/>
          </a:prstGeom>
          <a:noFill/>
          <a:ln/>
        </p:spPr>
        <p:txBody>
          <a:bodyPr wrap="square" lIns="38100" tIns="38100" rIns="38100" bIns="38100" rtlCol="0" anchor="ctr"/>
          <a:lstStyle/>
          <a:p>
            <a:pPr algn="ctr" indent="0" marL="0">
              <a:buNone/>
            </a:pPr>
            <a:r>
              <a:rPr lang="en-US" sz="1300" dirty="0">
                <a:solidFill>
                  <a:srgbClr val="9AA5A8"/>
                </a:solidFill>
                <a:latin typeface="Calibri" pitchFamily="34" charset="0"/>
                <a:ea typeface="Calibri" pitchFamily="34" charset="-122"/>
                <a:cs typeface="Calibri" pitchFamily="34" charset="-120"/>
              </a:rPr>
              <a:t>4</a:t>
            </a:r>
            <a:endParaRPr lang="en-US" sz="1300" dirty="0"/>
          </a:p>
        </p:txBody>
      </p:sp>
      <p:sp>
        <p:nvSpPr>
          <p:cNvPr id="203" name="Shape 201"/>
          <p:cNvSpPr/>
          <p:nvPr/>
        </p:nvSpPr>
        <p:spPr>
          <a:xfrm>
            <a:off x="4825419" y="4974336"/>
            <a:ext cx="528393" cy="292608"/>
          </a:xfrm>
          <a:prstGeom prst="roundRect">
            <a:avLst>
              <a:gd name="adj" fmla="val 15625"/>
            </a:avLst>
          </a:prstGeom>
          <a:solidFill>
            <a:srgbClr val="F2F2F2"/>
          </a:solidFill>
          <a:ln/>
        </p:spPr>
        <p:txBody>
          <a:bodyPr/>
          <a:p/>
        </p:txBody>
      </p:sp>
      <p:sp>
        <p:nvSpPr>
          <p:cNvPr id="204" name="Text 202"/>
          <p:cNvSpPr txBox="1"/>
          <p:nvPr/>
        </p:nvSpPr>
        <p:spPr>
          <a:xfrm>
            <a:off x="4825419" y="4974336"/>
            <a:ext cx="528393" cy="292608"/>
          </a:xfrm>
          <a:prstGeom prst="rect">
            <a:avLst/>
          </a:prstGeom>
          <a:noFill/>
          <a:ln/>
        </p:spPr>
        <p:txBody>
          <a:bodyPr wrap="square" lIns="38100" tIns="38100" rIns="38100" bIns="38100" rtlCol="0" anchor="ctr"/>
          <a:lstStyle/>
          <a:p>
            <a:pPr algn="ctr" indent="0" marL="0">
              <a:buNone/>
            </a:pPr>
            <a:r>
              <a:rPr lang="en-US" sz="1300" dirty="0">
                <a:solidFill>
                  <a:srgbClr val="9AA5A8"/>
                </a:solidFill>
                <a:latin typeface="Calibri" pitchFamily="34" charset="0"/>
                <a:ea typeface="Calibri" pitchFamily="34" charset="-122"/>
                <a:cs typeface="Calibri" pitchFamily="34" charset="-120"/>
              </a:rPr>
              <a:t>2</a:t>
            </a:r>
            <a:endParaRPr lang="en-US" sz="1300" dirty="0"/>
          </a:p>
        </p:txBody>
      </p:sp>
      <p:sp>
        <p:nvSpPr>
          <p:cNvPr id="205" name="Shape 203"/>
          <p:cNvSpPr/>
          <p:nvPr/>
        </p:nvSpPr>
        <p:spPr>
          <a:xfrm>
            <a:off x="4825419" y="5303520"/>
            <a:ext cx="528393" cy="292608"/>
          </a:xfrm>
          <a:prstGeom prst="roundRect">
            <a:avLst>
              <a:gd name="adj" fmla="val 15625"/>
            </a:avLst>
          </a:prstGeom>
          <a:solidFill>
            <a:srgbClr val="F2F2F2"/>
          </a:solidFill>
          <a:ln/>
        </p:spPr>
        <p:txBody>
          <a:bodyPr/>
          <a:p/>
        </p:txBody>
      </p:sp>
      <p:sp>
        <p:nvSpPr>
          <p:cNvPr id="206" name="Text 204"/>
          <p:cNvSpPr txBox="1"/>
          <p:nvPr/>
        </p:nvSpPr>
        <p:spPr>
          <a:xfrm>
            <a:off x="4825419" y="5303520"/>
            <a:ext cx="528393" cy="292608"/>
          </a:xfrm>
          <a:prstGeom prst="rect">
            <a:avLst/>
          </a:prstGeom>
          <a:noFill/>
          <a:ln/>
        </p:spPr>
        <p:txBody>
          <a:bodyPr wrap="square" lIns="38100" tIns="38100" rIns="38100" bIns="38100" rtlCol="0" anchor="ctr"/>
          <a:lstStyle/>
          <a:p>
            <a:pPr algn="ctr" indent="0" marL="0">
              <a:buNone/>
            </a:pPr>
            <a:r>
              <a:rPr lang="en-US" sz="1300" dirty="0">
                <a:solidFill>
                  <a:srgbClr val="9AA5A8"/>
                </a:solidFill>
                <a:latin typeface="Calibri" pitchFamily="34" charset="0"/>
                <a:ea typeface="Calibri" pitchFamily="34" charset="-122"/>
                <a:cs typeface="Calibri" pitchFamily="34" charset="-120"/>
              </a:rPr>
              <a:t>3</a:t>
            </a:r>
            <a:endParaRPr lang="en-US" sz="1300" dirty="0"/>
          </a:p>
        </p:txBody>
      </p:sp>
      <p:sp>
        <p:nvSpPr>
          <p:cNvPr id="207" name="Text 205"/>
          <p:cNvSpPr txBox="1"/>
          <p:nvPr/>
        </p:nvSpPr>
        <p:spPr>
          <a:xfrm>
            <a:off x="4807131" y="5614416"/>
            <a:ext cx="564969" cy="329184"/>
          </a:xfrm>
          <a:prstGeom prst="rect">
            <a:avLst/>
          </a:prstGeom>
          <a:noFill/>
          <a:ln/>
        </p:spPr>
        <p:txBody>
          <a:bodyPr wrap="square" lIns="0" tIns="0" rIns="0" bIns="0" rtlCol="0" anchor="ctr"/>
          <a:lstStyle/>
          <a:p>
            <a:pPr algn="ctr" indent="0" marL="0">
              <a:buNone/>
            </a:pPr>
            <a:endParaRPr lang="en-US" sz="1300" dirty="0"/>
          </a:p>
        </p:txBody>
      </p:sp>
      <p:sp>
        <p:nvSpPr>
          <p:cNvPr id="208" name="Shape 206"/>
          <p:cNvSpPr/>
          <p:nvPr/>
        </p:nvSpPr>
        <p:spPr>
          <a:xfrm>
            <a:off x="5390388" y="4315968"/>
            <a:ext cx="528393" cy="292608"/>
          </a:xfrm>
          <a:prstGeom prst="roundRect">
            <a:avLst>
              <a:gd name="adj" fmla="val 15625"/>
            </a:avLst>
          </a:prstGeom>
          <a:solidFill>
            <a:srgbClr val="36454F"/>
          </a:solidFill>
          <a:ln/>
        </p:spPr>
        <p:txBody>
          <a:bodyPr/>
          <a:p/>
        </p:txBody>
      </p:sp>
      <p:sp>
        <p:nvSpPr>
          <p:cNvPr id="209" name="Text 207"/>
          <p:cNvSpPr txBox="1"/>
          <p:nvPr/>
        </p:nvSpPr>
        <p:spPr>
          <a:xfrm>
            <a:off x="5390388" y="4315968"/>
            <a:ext cx="528393" cy="292608"/>
          </a:xfrm>
          <a:prstGeom prst="rect">
            <a:avLst/>
          </a:prstGeom>
          <a:noFill/>
          <a:ln/>
        </p:spPr>
        <p:txBody>
          <a:bodyPr wrap="square" lIns="38100" tIns="38100" rIns="38100" bIns="3810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210" name="Shape 208"/>
          <p:cNvSpPr/>
          <p:nvPr/>
        </p:nvSpPr>
        <p:spPr>
          <a:xfrm>
            <a:off x="5390388" y="4645152"/>
            <a:ext cx="528393" cy="292608"/>
          </a:xfrm>
          <a:prstGeom prst="roundRect">
            <a:avLst>
              <a:gd name="adj" fmla="val 15625"/>
            </a:avLst>
          </a:prstGeom>
          <a:solidFill>
            <a:srgbClr val="02C39A"/>
          </a:solidFill>
          <a:ln/>
        </p:spPr>
        <p:txBody>
          <a:bodyPr/>
          <a:p/>
        </p:txBody>
      </p:sp>
      <p:sp>
        <p:nvSpPr>
          <p:cNvPr id="211" name="Text 209"/>
          <p:cNvSpPr txBox="1"/>
          <p:nvPr/>
        </p:nvSpPr>
        <p:spPr>
          <a:xfrm>
            <a:off x="5390388" y="4645152"/>
            <a:ext cx="528393" cy="292608"/>
          </a:xfrm>
          <a:prstGeom prst="rect">
            <a:avLst/>
          </a:prstGeom>
          <a:noFill/>
          <a:ln/>
        </p:spPr>
        <p:txBody>
          <a:bodyPr wrap="square" lIns="38100" tIns="38100" rIns="38100" bIns="38100" rtlCol="0" anchor="ctr"/>
          <a:lstStyle/>
          <a:p>
            <a:pPr algn="ctr" indent="0" marL="0">
              <a:buNone/>
            </a:pPr>
            <a:r>
              <a:rPr lang="en-US" sz="1300" b="1" dirty="0">
                <a:solidFill>
                  <a:srgbClr val="212121"/>
                </a:solidFill>
                <a:latin typeface="Calibri" pitchFamily="34" charset="0"/>
                <a:ea typeface="Calibri" pitchFamily="34" charset="-122"/>
                <a:cs typeface="Calibri" pitchFamily="34" charset="-120"/>
              </a:rPr>
              <a:t>1</a:t>
            </a:r>
            <a:endParaRPr lang="en-US" sz="1300" dirty="0"/>
          </a:p>
        </p:txBody>
      </p:sp>
      <p:sp>
        <p:nvSpPr>
          <p:cNvPr id="212" name="Shape 210"/>
          <p:cNvSpPr/>
          <p:nvPr/>
        </p:nvSpPr>
        <p:spPr>
          <a:xfrm>
            <a:off x="5390388" y="4974336"/>
            <a:ext cx="528393" cy="292608"/>
          </a:xfrm>
          <a:prstGeom prst="roundRect">
            <a:avLst>
              <a:gd name="adj" fmla="val 15625"/>
            </a:avLst>
          </a:prstGeom>
          <a:solidFill>
            <a:srgbClr val="D7E9E6"/>
          </a:solidFill>
          <a:ln/>
        </p:spPr>
        <p:txBody>
          <a:bodyPr/>
          <a:p/>
        </p:txBody>
      </p:sp>
      <p:sp>
        <p:nvSpPr>
          <p:cNvPr id="213" name="Text 211"/>
          <p:cNvSpPr txBox="1"/>
          <p:nvPr/>
        </p:nvSpPr>
        <p:spPr>
          <a:xfrm>
            <a:off x="5390388" y="4974336"/>
            <a:ext cx="528393" cy="292608"/>
          </a:xfrm>
          <a:prstGeom prst="rect">
            <a:avLst/>
          </a:prstGeom>
          <a:noFill/>
          <a:ln/>
        </p:spPr>
        <p:txBody>
          <a:bodyPr wrap="square" lIns="38100" tIns="38100" rIns="38100" bIns="38100" rtlCol="0" anchor="ctr"/>
          <a:lstStyle/>
          <a:p>
            <a:pPr algn="ctr" indent="0" marL="0">
              <a:buNone/>
            </a:pPr>
            <a:r>
              <a:rPr lang="en-US" sz="1300" dirty="0">
                <a:solidFill>
                  <a:srgbClr val="212121"/>
                </a:solidFill>
                <a:latin typeface="Calibri" pitchFamily="34" charset="0"/>
                <a:ea typeface="Calibri" pitchFamily="34" charset="-122"/>
                <a:cs typeface="Calibri" pitchFamily="34" charset="-120"/>
              </a:rPr>
              <a:t>2</a:t>
            </a:r>
            <a:endParaRPr lang="en-US" sz="1300" dirty="0"/>
          </a:p>
        </p:txBody>
      </p:sp>
      <p:sp>
        <p:nvSpPr>
          <p:cNvPr id="214" name="Shape 212"/>
          <p:cNvSpPr/>
          <p:nvPr/>
        </p:nvSpPr>
        <p:spPr>
          <a:xfrm>
            <a:off x="5390388" y="5303520"/>
            <a:ext cx="528393" cy="292608"/>
          </a:xfrm>
          <a:prstGeom prst="roundRect">
            <a:avLst>
              <a:gd name="adj" fmla="val 15625"/>
            </a:avLst>
          </a:prstGeom>
          <a:solidFill>
            <a:srgbClr val="D7E9E6"/>
          </a:solidFill>
          <a:ln/>
        </p:spPr>
        <p:txBody>
          <a:bodyPr/>
          <a:p/>
        </p:txBody>
      </p:sp>
      <p:sp>
        <p:nvSpPr>
          <p:cNvPr id="215" name="Text 213"/>
          <p:cNvSpPr txBox="1"/>
          <p:nvPr/>
        </p:nvSpPr>
        <p:spPr>
          <a:xfrm>
            <a:off x="5390388" y="5303520"/>
            <a:ext cx="528393" cy="292608"/>
          </a:xfrm>
          <a:prstGeom prst="rect">
            <a:avLst/>
          </a:prstGeom>
          <a:noFill/>
          <a:ln/>
        </p:spPr>
        <p:txBody>
          <a:bodyPr wrap="square" lIns="38100" tIns="38100" rIns="38100" bIns="38100" rtlCol="0" anchor="ctr"/>
          <a:lstStyle/>
          <a:p>
            <a:pPr algn="ctr" indent="0" marL="0">
              <a:buNone/>
            </a:pPr>
            <a:r>
              <a:rPr lang="en-US" sz="1300" dirty="0">
                <a:solidFill>
                  <a:srgbClr val="212121"/>
                </a:solidFill>
                <a:latin typeface="Calibri" pitchFamily="34" charset="0"/>
                <a:ea typeface="Calibri" pitchFamily="34" charset="-122"/>
                <a:cs typeface="Calibri" pitchFamily="34" charset="-120"/>
              </a:rPr>
              <a:t>3</a:t>
            </a:r>
            <a:endParaRPr lang="en-US" sz="1300" dirty="0"/>
          </a:p>
        </p:txBody>
      </p:sp>
      <p:sp>
        <p:nvSpPr>
          <p:cNvPr id="216" name="Text 214"/>
          <p:cNvSpPr txBox="1"/>
          <p:nvPr/>
        </p:nvSpPr>
        <p:spPr>
          <a:xfrm>
            <a:off x="5372100" y="5614416"/>
            <a:ext cx="564969" cy="329184"/>
          </a:xfrm>
          <a:prstGeom prst="rect">
            <a:avLst/>
          </a:prstGeom>
          <a:noFill/>
          <a:ln/>
        </p:spPr>
        <p:txBody>
          <a:bodyPr wrap="square" lIns="0" tIns="0" rIns="0" bIns="0" rtlCol="0" anchor="ctr"/>
          <a:lstStyle/>
          <a:p>
            <a:pPr algn="ctr" indent="0" marL="0">
              <a:buNone/>
            </a:pPr>
            <a:r>
              <a:rPr lang="en-US" sz="1300" b="1" dirty="0">
                <a:solidFill>
                  <a:srgbClr val="B5453A"/>
                </a:solidFill>
                <a:latin typeface="Calibri" pitchFamily="34" charset="0"/>
                <a:ea typeface="Calibri" pitchFamily="34" charset="-122"/>
                <a:cs typeface="Calibri" pitchFamily="34" charset="-120"/>
              </a:rPr>
              <a:t>F</a:t>
            </a:r>
            <a:endParaRPr lang="en-US" sz="1300" dirty="0"/>
          </a:p>
        </p:txBody>
      </p:sp>
      <p:sp>
        <p:nvSpPr>
          <p:cNvPr id="217" name="Shape 215"/>
          <p:cNvSpPr/>
          <p:nvPr/>
        </p:nvSpPr>
        <p:spPr>
          <a:xfrm>
            <a:off x="5955357" y="4315968"/>
            <a:ext cx="528393" cy="292608"/>
          </a:xfrm>
          <a:prstGeom prst="roundRect">
            <a:avLst>
              <a:gd name="adj" fmla="val 15625"/>
            </a:avLst>
          </a:prstGeom>
          <a:solidFill>
            <a:srgbClr val="36454F"/>
          </a:solidFill>
          <a:ln/>
        </p:spPr>
        <p:txBody>
          <a:bodyPr/>
          <a:p/>
        </p:txBody>
      </p:sp>
      <p:sp>
        <p:nvSpPr>
          <p:cNvPr id="218" name="Text 216"/>
          <p:cNvSpPr txBox="1"/>
          <p:nvPr/>
        </p:nvSpPr>
        <p:spPr>
          <a:xfrm>
            <a:off x="5955357" y="4315968"/>
            <a:ext cx="528393" cy="292608"/>
          </a:xfrm>
          <a:prstGeom prst="rect">
            <a:avLst/>
          </a:prstGeom>
          <a:noFill/>
          <a:ln/>
        </p:spPr>
        <p:txBody>
          <a:bodyPr wrap="square" lIns="38100" tIns="38100" rIns="38100" bIns="3810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219" name="Shape 217"/>
          <p:cNvSpPr/>
          <p:nvPr/>
        </p:nvSpPr>
        <p:spPr>
          <a:xfrm>
            <a:off x="5955357" y="4645152"/>
            <a:ext cx="528393" cy="292608"/>
          </a:xfrm>
          <a:prstGeom prst="roundRect">
            <a:avLst>
              <a:gd name="adj" fmla="val 15625"/>
            </a:avLst>
          </a:prstGeom>
          <a:solidFill>
            <a:srgbClr val="F2F2F2"/>
          </a:solidFill>
          <a:ln/>
        </p:spPr>
        <p:txBody>
          <a:bodyPr/>
          <a:p/>
        </p:txBody>
      </p:sp>
      <p:sp>
        <p:nvSpPr>
          <p:cNvPr id="220" name="Text 218"/>
          <p:cNvSpPr txBox="1"/>
          <p:nvPr/>
        </p:nvSpPr>
        <p:spPr>
          <a:xfrm>
            <a:off x="5955357" y="4645152"/>
            <a:ext cx="528393" cy="292608"/>
          </a:xfrm>
          <a:prstGeom prst="rect">
            <a:avLst/>
          </a:prstGeom>
          <a:noFill/>
          <a:ln/>
        </p:spPr>
        <p:txBody>
          <a:bodyPr wrap="square" lIns="38100" tIns="38100" rIns="38100" bIns="38100" rtlCol="0" anchor="ctr"/>
          <a:lstStyle/>
          <a:p>
            <a:pPr algn="ctr" indent="0" marL="0">
              <a:buNone/>
            </a:pPr>
            <a:r>
              <a:rPr lang="en-US" sz="1300" dirty="0">
                <a:solidFill>
                  <a:srgbClr val="9AA5A8"/>
                </a:solidFill>
                <a:latin typeface="Calibri" pitchFamily="34" charset="0"/>
                <a:ea typeface="Calibri" pitchFamily="34" charset="-122"/>
                <a:cs typeface="Calibri" pitchFamily="34" charset="-120"/>
              </a:rPr>
              <a:t>1</a:t>
            </a:r>
            <a:endParaRPr lang="en-US" sz="1300" dirty="0"/>
          </a:p>
        </p:txBody>
      </p:sp>
      <p:sp>
        <p:nvSpPr>
          <p:cNvPr id="221" name="Shape 219"/>
          <p:cNvSpPr/>
          <p:nvPr/>
        </p:nvSpPr>
        <p:spPr>
          <a:xfrm>
            <a:off x="5955357" y="4974336"/>
            <a:ext cx="528393" cy="292608"/>
          </a:xfrm>
          <a:prstGeom prst="roundRect">
            <a:avLst>
              <a:gd name="adj" fmla="val 15625"/>
            </a:avLst>
          </a:prstGeom>
          <a:solidFill>
            <a:srgbClr val="F2F2F2"/>
          </a:solidFill>
          <a:ln/>
        </p:spPr>
        <p:txBody>
          <a:bodyPr/>
          <a:p/>
        </p:txBody>
      </p:sp>
      <p:sp>
        <p:nvSpPr>
          <p:cNvPr id="222" name="Text 220"/>
          <p:cNvSpPr txBox="1"/>
          <p:nvPr/>
        </p:nvSpPr>
        <p:spPr>
          <a:xfrm>
            <a:off x="5955357" y="4974336"/>
            <a:ext cx="528393" cy="292608"/>
          </a:xfrm>
          <a:prstGeom prst="rect">
            <a:avLst/>
          </a:prstGeom>
          <a:noFill/>
          <a:ln/>
        </p:spPr>
        <p:txBody>
          <a:bodyPr wrap="square" lIns="38100" tIns="38100" rIns="38100" bIns="38100" rtlCol="0" anchor="ctr"/>
          <a:lstStyle/>
          <a:p>
            <a:pPr algn="ctr" indent="0" marL="0">
              <a:buNone/>
            </a:pPr>
            <a:r>
              <a:rPr lang="en-US" sz="1300" dirty="0">
                <a:solidFill>
                  <a:srgbClr val="9AA5A8"/>
                </a:solidFill>
                <a:latin typeface="Calibri" pitchFamily="34" charset="0"/>
                <a:ea typeface="Calibri" pitchFamily="34" charset="-122"/>
                <a:cs typeface="Calibri" pitchFamily="34" charset="-120"/>
              </a:rPr>
              <a:t>2</a:t>
            </a:r>
            <a:endParaRPr lang="en-US" sz="1300" dirty="0"/>
          </a:p>
        </p:txBody>
      </p:sp>
      <p:sp>
        <p:nvSpPr>
          <p:cNvPr id="223" name="Shape 221"/>
          <p:cNvSpPr/>
          <p:nvPr/>
        </p:nvSpPr>
        <p:spPr>
          <a:xfrm>
            <a:off x="5955357" y="5303520"/>
            <a:ext cx="528393" cy="292608"/>
          </a:xfrm>
          <a:prstGeom prst="roundRect">
            <a:avLst>
              <a:gd name="adj" fmla="val 15625"/>
            </a:avLst>
          </a:prstGeom>
          <a:solidFill>
            <a:srgbClr val="F2F2F2"/>
          </a:solidFill>
          <a:ln/>
        </p:spPr>
        <p:txBody>
          <a:bodyPr/>
          <a:p/>
        </p:txBody>
      </p:sp>
      <p:sp>
        <p:nvSpPr>
          <p:cNvPr id="224" name="Text 222"/>
          <p:cNvSpPr txBox="1"/>
          <p:nvPr/>
        </p:nvSpPr>
        <p:spPr>
          <a:xfrm>
            <a:off x="5955357" y="5303520"/>
            <a:ext cx="528393" cy="292608"/>
          </a:xfrm>
          <a:prstGeom prst="rect">
            <a:avLst/>
          </a:prstGeom>
          <a:noFill/>
          <a:ln/>
        </p:spPr>
        <p:txBody>
          <a:bodyPr wrap="square" lIns="38100" tIns="38100" rIns="38100" bIns="38100" rtlCol="0" anchor="ctr"/>
          <a:lstStyle/>
          <a:p>
            <a:pPr algn="ctr" indent="0" marL="0">
              <a:buNone/>
            </a:pPr>
            <a:r>
              <a:rPr lang="en-US" sz="1300" dirty="0">
                <a:solidFill>
                  <a:srgbClr val="9AA5A8"/>
                </a:solidFill>
                <a:latin typeface="Calibri" pitchFamily="34" charset="0"/>
                <a:ea typeface="Calibri" pitchFamily="34" charset="-122"/>
                <a:cs typeface="Calibri" pitchFamily="34" charset="-120"/>
              </a:rPr>
              <a:t>3</a:t>
            </a:r>
            <a:endParaRPr lang="en-US" sz="1300" dirty="0"/>
          </a:p>
        </p:txBody>
      </p:sp>
      <p:sp>
        <p:nvSpPr>
          <p:cNvPr id="225" name="Text 223"/>
          <p:cNvSpPr txBox="1"/>
          <p:nvPr/>
        </p:nvSpPr>
        <p:spPr>
          <a:xfrm>
            <a:off x="5937069" y="5614416"/>
            <a:ext cx="564969" cy="329184"/>
          </a:xfrm>
          <a:prstGeom prst="rect">
            <a:avLst/>
          </a:prstGeom>
          <a:noFill/>
          <a:ln/>
        </p:spPr>
        <p:txBody>
          <a:bodyPr wrap="square" lIns="0" tIns="0" rIns="0" bIns="0" rtlCol="0" anchor="ctr"/>
          <a:lstStyle/>
          <a:p>
            <a:pPr algn="ctr" indent="0" marL="0">
              <a:buNone/>
            </a:pPr>
            <a:endParaRPr lang="en-US" sz="1300" dirty="0"/>
          </a:p>
        </p:txBody>
      </p:sp>
      <p:sp>
        <p:nvSpPr>
          <p:cNvPr id="226" name="Shape 224"/>
          <p:cNvSpPr/>
          <p:nvPr/>
        </p:nvSpPr>
        <p:spPr>
          <a:xfrm>
            <a:off x="6520325" y="4315968"/>
            <a:ext cx="528393" cy="292608"/>
          </a:xfrm>
          <a:prstGeom prst="roundRect">
            <a:avLst>
              <a:gd name="adj" fmla="val 15625"/>
            </a:avLst>
          </a:prstGeom>
          <a:solidFill>
            <a:srgbClr val="36454F"/>
          </a:solidFill>
          <a:ln/>
        </p:spPr>
        <p:txBody>
          <a:bodyPr/>
          <a:p/>
        </p:txBody>
      </p:sp>
      <p:sp>
        <p:nvSpPr>
          <p:cNvPr id="227" name="Text 225"/>
          <p:cNvSpPr txBox="1"/>
          <p:nvPr/>
        </p:nvSpPr>
        <p:spPr>
          <a:xfrm>
            <a:off x="6520325" y="4315968"/>
            <a:ext cx="528393" cy="292608"/>
          </a:xfrm>
          <a:prstGeom prst="rect">
            <a:avLst/>
          </a:prstGeom>
          <a:noFill/>
          <a:ln/>
        </p:spPr>
        <p:txBody>
          <a:bodyPr wrap="square" lIns="38100" tIns="38100" rIns="38100" bIns="3810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28" name="Shape 226"/>
          <p:cNvSpPr/>
          <p:nvPr/>
        </p:nvSpPr>
        <p:spPr>
          <a:xfrm>
            <a:off x="6520325" y="4645152"/>
            <a:ext cx="528393" cy="292608"/>
          </a:xfrm>
          <a:prstGeom prst="roundRect">
            <a:avLst>
              <a:gd name="adj" fmla="val 15625"/>
            </a:avLst>
          </a:prstGeom>
          <a:solidFill>
            <a:srgbClr val="D7E9E6"/>
          </a:solidFill>
          <a:ln/>
        </p:spPr>
        <p:txBody>
          <a:bodyPr/>
          <a:p/>
        </p:txBody>
      </p:sp>
      <p:sp>
        <p:nvSpPr>
          <p:cNvPr id="229" name="Text 227"/>
          <p:cNvSpPr txBox="1"/>
          <p:nvPr/>
        </p:nvSpPr>
        <p:spPr>
          <a:xfrm>
            <a:off x="6520325" y="4645152"/>
            <a:ext cx="528393" cy="292608"/>
          </a:xfrm>
          <a:prstGeom prst="rect">
            <a:avLst/>
          </a:prstGeom>
          <a:noFill/>
          <a:ln/>
        </p:spPr>
        <p:txBody>
          <a:bodyPr wrap="square" lIns="38100" tIns="38100" rIns="38100" bIns="38100" rtlCol="0" anchor="ctr"/>
          <a:lstStyle/>
          <a:p>
            <a:pPr algn="ctr" indent="0" marL="0">
              <a:buNone/>
            </a:pPr>
            <a:r>
              <a:rPr lang="en-US" sz="1300" dirty="0">
                <a:solidFill>
                  <a:srgbClr val="212121"/>
                </a:solidFill>
                <a:latin typeface="Calibri" pitchFamily="34" charset="0"/>
                <a:ea typeface="Calibri" pitchFamily="34" charset="-122"/>
                <a:cs typeface="Calibri" pitchFamily="34" charset="-120"/>
              </a:rPr>
              <a:t>1</a:t>
            </a:r>
            <a:endParaRPr lang="en-US" sz="1300" dirty="0"/>
          </a:p>
        </p:txBody>
      </p:sp>
      <p:sp>
        <p:nvSpPr>
          <p:cNvPr id="230" name="Shape 228"/>
          <p:cNvSpPr/>
          <p:nvPr/>
        </p:nvSpPr>
        <p:spPr>
          <a:xfrm>
            <a:off x="6520325" y="4974336"/>
            <a:ext cx="528393" cy="292608"/>
          </a:xfrm>
          <a:prstGeom prst="roundRect">
            <a:avLst>
              <a:gd name="adj" fmla="val 15625"/>
            </a:avLst>
          </a:prstGeom>
          <a:solidFill>
            <a:srgbClr val="D7E9E6"/>
          </a:solidFill>
          <a:ln/>
        </p:spPr>
        <p:txBody>
          <a:bodyPr/>
          <a:p/>
        </p:txBody>
      </p:sp>
      <p:sp>
        <p:nvSpPr>
          <p:cNvPr id="231" name="Text 229"/>
          <p:cNvSpPr txBox="1"/>
          <p:nvPr/>
        </p:nvSpPr>
        <p:spPr>
          <a:xfrm>
            <a:off x="6520325" y="4974336"/>
            <a:ext cx="528393" cy="292608"/>
          </a:xfrm>
          <a:prstGeom prst="rect">
            <a:avLst/>
          </a:prstGeom>
          <a:noFill/>
          <a:ln/>
        </p:spPr>
        <p:txBody>
          <a:bodyPr wrap="square" lIns="38100" tIns="38100" rIns="38100" bIns="38100" rtlCol="0" anchor="ctr"/>
          <a:lstStyle/>
          <a:p>
            <a:pPr algn="ctr" indent="0" marL="0">
              <a:buNone/>
            </a:pPr>
            <a:r>
              <a:rPr lang="en-US" sz="1300" dirty="0">
                <a:solidFill>
                  <a:srgbClr val="212121"/>
                </a:solidFill>
                <a:latin typeface="Calibri" pitchFamily="34" charset="0"/>
                <a:ea typeface="Calibri" pitchFamily="34" charset="-122"/>
                <a:cs typeface="Calibri" pitchFamily="34" charset="-120"/>
              </a:rPr>
              <a:t>2</a:t>
            </a:r>
            <a:endParaRPr lang="en-US" sz="1300" dirty="0"/>
          </a:p>
        </p:txBody>
      </p:sp>
      <p:sp>
        <p:nvSpPr>
          <p:cNvPr id="232" name="Shape 230"/>
          <p:cNvSpPr/>
          <p:nvPr/>
        </p:nvSpPr>
        <p:spPr>
          <a:xfrm>
            <a:off x="6520325" y="5303520"/>
            <a:ext cx="528393" cy="292608"/>
          </a:xfrm>
          <a:prstGeom prst="roundRect">
            <a:avLst>
              <a:gd name="adj" fmla="val 15625"/>
            </a:avLst>
          </a:prstGeom>
          <a:solidFill>
            <a:srgbClr val="02C39A"/>
          </a:solidFill>
          <a:ln/>
        </p:spPr>
        <p:txBody>
          <a:bodyPr/>
          <a:p/>
        </p:txBody>
      </p:sp>
      <p:sp>
        <p:nvSpPr>
          <p:cNvPr id="233" name="Text 231"/>
          <p:cNvSpPr txBox="1"/>
          <p:nvPr/>
        </p:nvSpPr>
        <p:spPr>
          <a:xfrm>
            <a:off x="6520325" y="5303520"/>
            <a:ext cx="528393" cy="292608"/>
          </a:xfrm>
          <a:prstGeom prst="rect">
            <a:avLst/>
          </a:prstGeom>
          <a:noFill/>
          <a:ln/>
        </p:spPr>
        <p:txBody>
          <a:bodyPr wrap="square" lIns="38100" tIns="38100" rIns="38100" bIns="38100" rtlCol="0" anchor="ctr"/>
          <a:lstStyle/>
          <a:p>
            <a:pPr algn="ctr" indent="0" marL="0">
              <a:buNone/>
            </a:pPr>
            <a:r>
              <a:rPr lang="en-US" sz="1300" b="1" dirty="0">
                <a:solidFill>
                  <a:srgbClr val="212121"/>
                </a:solidFill>
                <a:latin typeface="Calibri" pitchFamily="34" charset="0"/>
                <a:ea typeface="Calibri" pitchFamily="34" charset="-122"/>
                <a:cs typeface="Calibri" pitchFamily="34" charset="-120"/>
              </a:rPr>
              <a:t>4</a:t>
            </a:r>
            <a:endParaRPr lang="en-US" sz="1300" dirty="0"/>
          </a:p>
        </p:txBody>
      </p:sp>
      <p:sp>
        <p:nvSpPr>
          <p:cNvPr id="234" name="Text 232"/>
          <p:cNvSpPr txBox="1"/>
          <p:nvPr/>
        </p:nvSpPr>
        <p:spPr>
          <a:xfrm>
            <a:off x="6502037" y="5614416"/>
            <a:ext cx="564969" cy="329184"/>
          </a:xfrm>
          <a:prstGeom prst="rect">
            <a:avLst/>
          </a:prstGeom>
          <a:noFill/>
          <a:ln/>
        </p:spPr>
        <p:txBody>
          <a:bodyPr wrap="square" lIns="0" tIns="0" rIns="0" bIns="0" rtlCol="0" anchor="ctr"/>
          <a:lstStyle/>
          <a:p>
            <a:pPr algn="ctr" indent="0" marL="0">
              <a:buNone/>
            </a:pPr>
            <a:r>
              <a:rPr lang="en-US" sz="1300" b="1" dirty="0">
                <a:solidFill>
                  <a:srgbClr val="B5453A"/>
                </a:solidFill>
                <a:latin typeface="Calibri" pitchFamily="34" charset="0"/>
                <a:ea typeface="Calibri" pitchFamily="34" charset="-122"/>
                <a:cs typeface="Calibri" pitchFamily="34" charset="-120"/>
              </a:rPr>
              <a:t>F</a:t>
            </a:r>
            <a:endParaRPr lang="en-US" sz="1300" dirty="0"/>
          </a:p>
        </p:txBody>
      </p:sp>
      <p:sp>
        <p:nvSpPr>
          <p:cNvPr id="235" name="Shape 233"/>
          <p:cNvSpPr/>
          <p:nvPr/>
        </p:nvSpPr>
        <p:spPr>
          <a:xfrm>
            <a:off x="7085294" y="4315968"/>
            <a:ext cx="528393" cy="292608"/>
          </a:xfrm>
          <a:prstGeom prst="roundRect">
            <a:avLst>
              <a:gd name="adj" fmla="val 15625"/>
            </a:avLst>
          </a:prstGeom>
          <a:solidFill>
            <a:srgbClr val="36454F"/>
          </a:solidFill>
          <a:ln/>
        </p:spPr>
        <p:txBody>
          <a:bodyPr/>
          <a:p/>
        </p:txBody>
      </p:sp>
      <p:sp>
        <p:nvSpPr>
          <p:cNvPr id="236" name="Text 234"/>
          <p:cNvSpPr txBox="1"/>
          <p:nvPr/>
        </p:nvSpPr>
        <p:spPr>
          <a:xfrm>
            <a:off x="7085294" y="4315968"/>
            <a:ext cx="528393" cy="292608"/>
          </a:xfrm>
          <a:prstGeom prst="rect">
            <a:avLst/>
          </a:prstGeom>
          <a:noFill/>
          <a:ln/>
        </p:spPr>
        <p:txBody>
          <a:bodyPr wrap="square" lIns="38100" tIns="38100" rIns="38100" bIns="3810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a:t>
            </a:r>
            <a:endParaRPr lang="en-US" sz="1300" dirty="0"/>
          </a:p>
        </p:txBody>
      </p:sp>
      <p:sp>
        <p:nvSpPr>
          <p:cNvPr id="237" name="Shape 235"/>
          <p:cNvSpPr/>
          <p:nvPr/>
        </p:nvSpPr>
        <p:spPr>
          <a:xfrm>
            <a:off x="7085294" y="4645152"/>
            <a:ext cx="528393" cy="292608"/>
          </a:xfrm>
          <a:prstGeom prst="roundRect">
            <a:avLst>
              <a:gd name="adj" fmla="val 15625"/>
            </a:avLst>
          </a:prstGeom>
          <a:solidFill>
            <a:srgbClr val="02C39A"/>
          </a:solidFill>
          <a:ln/>
        </p:spPr>
        <p:txBody>
          <a:bodyPr/>
          <a:p/>
        </p:txBody>
      </p:sp>
      <p:sp>
        <p:nvSpPr>
          <p:cNvPr id="238" name="Text 236"/>
          <p:cNvSpPr txBox="1"/>
          <p:nvPr/>
        </p:nvSpPr>
        <p:spPr>
          <a:xfrm>
            <a:off x="7085294" y="4645152"/>
            <a:ext cx="528393" cy="292608"/>
          </a:xfrm>
          <a:prstGeom prst="rect">
            <a:avLst/>
          </a:prstGeom>
          <a:noFill/>
          <a:ln/>
        </p:spPr>
        <p:txBody>
          <a:bodyPr wrap="square" lIns="38100" tIns="38100" rIns="38100" bIns="38100" rtlCol="0" anchor="ctr"/>
          <a:lstStyle/>
          <a:p>
            <a:pPr algn="ctr" indent="0" marL="0">
              <a:buNone/>
            </a:pPr>
            <a:r>
              <a:rPr lang="en-US" sz="1300" b="1" dirty="0">
                <a:solidFill>
                  <a:srgbClr val="212121"/>
                </a:solidFill>
                <a:latin typeface="Calibri" pitchFamily="34" charset="0"/>
                <a:ea typeface="Calibri" pitchFamily="34" charset="-122"/>
                <a:cs typeface="Calibri" pitchFamily="34" charset="-120"/>
              </a:rPr>
              <a:t>0</a:t>
            </a:r>
            <a:endParaRPr lang="en-US" sz="1300" dirty="0"/>
          </a:p>
        </p:txBody>
      </p:sp>
      <p:sp>
        <p:nvSpPr>
          <p:cNvPr id="239" name="Shape 237"/>
          <p:cNvSpPr/>
          <p:nvPr/>
        </p:nvSpPr>
        <p:spPr>
          <a:xfrm>
            <a:off x="7085294" y="4974336"/>
            <a:ext cx="528393" cy="292608"/>
          </a:xfrm>
          <a:prstGeom prst="roundRect">
            <a:avLst>
              <a:gd name="adj" fmla="val 15625"/>
            </a:avLst>
          </a:prstGeom>
          <a:solidFill>
            <a:srgbClr val="D7E9E6"/>
          </a:solidFill>
          <a:ln/>
        </p:spPr>
        <p:txBody>
          <a:bodyPr/>
          <a:p/>
        </p:txBody>
      </p:sp>
      <p:sp>
        <p:nvSpPr>
          <p:cNvPr id="240" name="Text 238"/>
          <p:cNvSpPr txBox="1"/>
          <p:nvPr/>
        </p:nvSpPr>
        <p:spPr>
          <a:xfrm>
            <a:off x="7085294" y="4974336"/>
            <a:ext cx="528393" cy="292608"/>
          </a:xfrm>
          <a:prstGeom prst="rect">
            <a:avLst/>
          </a:prstGeom>
          <a:noFill/>
          <a:ln/>
        </p:spPr>
        <p:txBody>
          <a:bodyPr wrap="square" lIns="38100" tIns="38100" rIns="38100" bIns="38100" rtlCol="0" anchor="ctr"/>
          <a:lstStyle/>
          <a:p>
            <a:pPr algn="ctr" indent="0" marL="0">
              <a:buNone/>
            </a:pPr>
            <a:r>
              <a:rPr lang="en-US" sz="1300" dirty="0">
                <a:solidFill>
                  <a:srgbClr val="212121"/>
                </a:solidFill>
                <a:latin typeface="Calibri" pitchFamily="34" charset="0"/>
                <a:ea typeface="Calibri" pitchFamily="34" charset="-122"/>
                <a:cs typeface="Calibri" pitchFamily="34" charset="-120"/>
              </a:rPr>
              <a:t>2</a:t>
            </a:r>
            <a:endParaRPr lang="en-US" sz="1300" dirty="0"/>
          </a:p>
        </p:txBody>
      </p:sp>
      <p:sp>
        <p:nvSpPr>
          <p:cNvPr id="241" name="Shape 239"/>
          <p:cNvSpPr/>
          <p:nvPr/>
        </p:nvSpPr>
        <p:spPr>
          <a:xfrm>
            <a:off x="7085294" y="5303520"/>
            <a:ext cx="528393" cy="292608"/>
          </a:xfrm>
          <a:prstGeom prst="roundRect">
            <a:avLst>
              <a:gd name="adj" fmla="val 15625"/>
            </a:avLst>
          </a:prstGeom>
          <a:solidFill>
            <a:srgbClr val="D7E9E6"/>
          </a:solidFill>
          <a:ln/>
        </p:spPr>
        <p:txBody>
          <a:bodyPr/>
          <a:p/>
        </p:txBody>
      </p:sp>
      <p:sp>
        <p:nvSpPr>
          <p:cNvPr id="242" name="Text 240"/>
          <p:cNvSpPr txBox="1"/>
          <p:nvPr/>
        </p:nvSpPr>
        <p:spPr>
          <a:xfrm>
            <a:off x="7085294" y="5303520"/>
            <a:ext cx="528393" cy="292608"/>
          </a:xfrm>
          <a:prstGeom prst="rect">
            <a:avLst/>
          </a:prstGeom>
          <a:noFill/>
          <a:ln/>
        </p:spPr>
        <p:txBody>
          <a:bodyPr wrap="square" lIns="38100" tIns="38100" rIns="38100" bIns="38100" rtlCol="0" anchor="ctr"/>
          <a:lstStyle/>
          <a:p>
            <a:pPr algn="ctr" indent="0" marL="0">
              <a:buNone/>
            </a:pPr>
            <a:r>
              <a:rPr lang="en-US" sz="1300" dirty="0">
                <a:solidFill>
                  <a:srgbClr val="212121"/>
                </a:solidFill>
                <a:latin typeface="Calibri" pitchFamily="34" charset="0"/>
                <a:ea typeface="Calibri" pitchFamily="34" charset="-122"/>
                <a:cs typeface="Calibri" pitchFamily="34" charset="-120"/>
              </a:rPr>
              <a:t>4</a:t>
            </a:r>
            <a:endParaRPr lang="en-US" sz="1300" dirty="0"/>
          </a:p>
        </p:txBody>
      </p:sp>
      <p:sp>
        <p:nvSpPr>
          <p:cNvPr id="243" name="Text 241"/>
          <p:cNvSpPr txBox="1"/>
          <p:nvPr/>
        </p:nvSpPr>
        <p:spPr>
          <a:xfrm>
            <a:off x="7067006" y="5614416"/>
            <a:ext cx="564969" cy="329184"/>
          </a:xfrm>
          <a:prstGeom prst="rect">
            <a:avLst/>
          </a:prstGeom>
          <a:noFill/>
          <a:ln/>
        </p:spPr>
        <p:txBody>
          <a:bodyPr wrap="square" lIns="0" tIns="0" rIns="0" bIns="0" rtlCol="0" anchor="ctr"/>
          <a:lstStyle/>
          <a:p>
            <a:pPr algn="ctr" indent="0" marL="0">
              <a:buNone/>
            </a:pPr>
            <a:r>
              <a:rPr lang="en-US" sz="1300" b="1" dirty="0">
                <a:solidFill>
                  <a:srgbClr val="B5453A"/>
                </a:solidFill>
                <a:latin typeface="Calibri" pitchFamily="34" charset="0"/>
                <a:ea typeface="Calibri" pitchFamily="34" charset="-122"/>
                <a:cs typeface="Calibri" pitchFamily="34" charset="-120"/>
              </a:rPr>
              <a:t>F</a:t>
            </a:r>
            <a:endParaRPr lang="en-US" sz="1300" dirty="0"/>
          </a:p>
        </p:txBody>
      </p:sp>
      <p:sp>
        <p:nvSpPr>
          <p:cNvPr id="244" name="Shape 242"/>
          <p:cNvSpPr/>
          <p:nvPr/>
        </p:nvSpPr>
        <p:spPr>
          <a:xfrm>
            <a:off x="7650262" y="4315968"/>
            <a:ext cx="528393" cy="292608"/>
          </a:xfrm>
          <a:prstGeom prst="roundRect">
            <a:avLst>
              <a:gd name="adj" fmla="val 15625"/>
            </a:avLst>
          </a:prstGeom>
          <a:solidFill>
            <a:srgbClr val="36454F"/>
          </a:solidFill>
          <a:ln/>
        </p:spPr>
        <p:txBody>
          <a:bodyPr/>
          <a:p/>
        </p:txBody>
      </p:sp>
      <p:sp>
        <p:nvSpPr>
          <p:cNvPr id="245" name="Text 243"/>
          <p:cNvSpPr txBox="1"/>
          <p:nvPr/>
        </p:nvSpPr>
        <p:spPr>
          <a:xfrm>
            <a:off x="7650262" y="4315968"/>
            <a:ext cx="528393" cy="292608"/>
          </a:xfrm>
          <a:prstGeom prst="rect">
            <a:avLst/>
          </a:prstGeom>
          <a:noFill/>
          <a:ln/>
        </p:spPr>
        <p:txBody>
          <a:bodyPr wrap="square" lIns="38100" tIns="38100" rIns="38100" bIns="3810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246" name="Shape 244"/>
          <p:cNvSpPr/>
          <p:nvPr/>
        </p:nvSpPr>
        <p:spPr>
          <a:xfrm>
            <a:off x="7650262" y="4645152"/>
            <a:ext cx="528393" cy="292608"/>
          </a:xfrm>
          <a:prstGeom prst="roundRect">
            <a:avLst>
              <a:gd name="adj" fmla="val 15625"/>
            </a:avLst>
          </a:prstGeom>
          <a:solidFill>
            <a:srgbClr val="F2F2F2"/>
          </a:solidFill>
          <a:ln/>
        </p:spPr>
        <p:txBody>
          <a:bodyPr/>
          <a:p/>
        </p:txBody>
      </p:sp>
      <p:sp>
        <p:nvSpPr>
          <p:cNvPr id="247" name="Text 245"/>
          <p:cNvSpPr txBox="1"/>
          <p:nvPr/>
        </p:nvSpPr>
        <p:spPr>
          <a:xfrm>
            <a:off x="7650262" y="4645152"/>
            <a:ext cx="528393" cy="292608"/>
          </a:xfrm>
          <a:prstGeom prst="rect">
            <a:avLst/>
          </a:prstGeom>
          <a:noFill/>
          <a:ln/>
        </p:spPr>
        <p:txBody>
          <a:bodyPr wrap="square" lIns="38100" tIns="38100" rIns="38100" bIns="38100" rtlCol="0" anchor="ctr"/>
          <a:lstStyle/>
          <a:p>
            <a:pPr algn="ctr" indent="0" marL="0">
              <a:buNone/>
            </a:pPr>
            <a:r>
              <a:rPr lang="en-US" sz="1300" dirty="0">
                <a:solidFill>
                  <a:srgbClr val="9AA5A8"/>
                </a:solidFill>
                <a:latin typeface="Calibri" pitchFamily="34" charset="0"/>
                <a:ea typeface="Calibri" pitchFamily="34" charset="-122"/>
                <a:cs typeface="Calibri" pitchFamily="34" charset="-120"/>
              </a:rPr>
              <a:t>0</a:t>
            </a:r>
            <a:endParaRPr lang="en-US" sz="1300" dirty="0"/>
          </a:p>
        </p:txBody>
      </p:sp>
      <p:sp>
        <p:nvSpPr>
          <p:cNvPr id="248" name="Shape 246"/>
          <p:cNvSpPr/>
          <p:nvPr/>
        </p:nvSpPr>
        <p:spPr>
          <a:xfrm>
            <a:off x="7650262" y="4974336"/>
            <a:ext cx="528393" cy="292608"/>
          </a:xfrm>
          <a:prstGeom prst="roundRect">
            <a:avLst>
              <a:gd name="adj" fmla="val 15625"/>
            </a:avLst>
          </a:prstGeom>
          <a:solidFill>
            <a:srgbClr val="F2F2F2"/>
          </a:solidFill>
          <a:ln/>
        </p:spPr>
        <p:txBody>
          <a:bodyPr/>
          <a:p/>
        </p:txBody>
      </p:sp>
      <p:sp>
        <p:nvSpPr>
          <p:cNvPr id="249" name="Text 247"/>
          <p:cNvSpPr txBox="1"/>
          <p:nvPr/>
        </p:nvSpPr>
        <p:spPr>
          <a:xfrm>
            <a:off x="7650262" y="4974336"/>
            <a:ext cx="528393" cy="292608"/>
          </a:xfrm>
          <a:prstGeom prst="rect">
            <a:avLst/>
          </a:prstGeom>
          <a:noFill/>
          <a:ln/>
        </p:spPr>
        <p:txBody>
          <a:bodyPr wrap="square" lIns="38100" tIns="38100" rIns="38100" bIns="38100" rtlCol="0" anchor="ctr"/>
          <a:lstStyle/>
          <a:p>
            <a:pPr algn="ctr" indent="0" marL="0">
              <a:buNone/>
            </a:pPr>
            <a:r>
              <a:rPr lang="en-US" sz="1300" dirty="0">
                <a:solidFill>
                  <a:srgbClr val="9AA5A8"/>
                </a:solidFill>
                <a:latin typeface="Calibri" pitchFamily="34" charset="0"/>
                <a:ea typeface="Calibri" pitchFamily="34" charset="-122"/>
                <a:cs typeface="Calibri" pitchFamily="34" charset="-120"/>
              </a:rPr>
              <a:t>2</a:t>
            </a:r>
            <a:endParaRPr lang="en-US" sz="1300" dirty="0"/>
          </a:p>
        </p:txBody>
      </p:sp>
      <p:sp>
        <p:nvSpPr>
          <p:cNvPr id="250" name="Shape 248"/>
          <p:cNvSpPr/>
          <p:nvPr/>
        </p:nvSpPr>
        <p:spPr>
          <a:xfrm>
            <a:off x="7650262" y="5303520"/>
            <a:ext cx="528393" cy="292608"/>
          </a:xfrm>
          <a:prstGeom prst="roundRect">
            <a:avLst>
              <a:gd name="adj" fmla="val 15625"/>
            </a:avLst>
          </a:prstGeom>
          <a:solidFill>
            <a:srgbClr val="F2F2F2"/>
          </a:solidFill>
          <a:ln/>
        </p:spPr>
        <p:txBody>
          <a:bodyPr/>
          <a:p/>
        </p:txBody>
      </p:sp>
      <p:sp>
        <p:nvSpPr>
          <p:cNvPr id="251" name="Text 249"/>
          <p:cNvSpPr txBox="1"/>
          <p:nvPr/>
        </p:nvSpPr>
        <p:spPr>
          <a:xfrm>
            <a:off x="7650262" y="5303520"/>
            <a:ext cx="528393" cy="292608"/>
          </a:xfrm>
          <a:prstGeom prst="rect">
            <a:avLst/>
          </a:prstGeom>
          <a:noFill/>
          <a:ln/>
        </p:spPr>
        <p:txBody>
          <a:bodyPr wrap="square" lIns="38100" tIns="38100" rIns="38100" bIns="38100" rtlCol="0" anchor="ctr"/>
          <a:lstStyle/>
          <a:p>
            <a:pPr algn="ctr" indent="0" marL="0">
              <a:buNone/>
            </a:pPr>
            <a:r>
              <a:rPr lang="en-US" sz="1300" dirty="0">
                <a:solidFill>
                  <a:srgbClr val="9AA5A8"/>
                </a:solidFill>
                <a:latin typeface="Calibri" pitchFamily="34" charset="0"/>
                <a:ea typeface="Calibri" pitchFamily="34" charset="-122"/>
                <a:cs typeface="Calibri" pitchFamily="34" charset="-120"/>
              </a:rPr>
              <a:t>4</a:t>
            </a:r>
            <a:endParaRPr lang="en-US" sz="1300" dirty="0"/>
          </a:p>
        </p:txBody>
      </p:sp>
      <p:sp>
        <p:nvSpPr>
          <p:cNvPr id="252" name="Text 250"/>
          <p:cNvSpPr txBox="1"/>
          <p:nvPr/>
        </p:nvSpPr>
        <p:spPr>
          <a:xfrm>
            <a:off x="7631974" y="5614416"/>
            <a:ext cx="564969" cy="329184"/>
          </a:xfrm>
          <a:prstGeom prst="rect">
            <a:avLst/>
          </a:prstGeom>
          <a:noFill/>
          <a:ln/>
        </p:spPr>
        <p:txBody>
          <a:bodyPr wrap="square" lIns="0" tIns="0" rIns="0" bIns="0" rtlCol="0" anchor="ctr"/>
          <a:lstStyle/>
          <a:p>
            <a:pPr algn="ctr" indent="0" marL="0">
              <a:buNone/>
            </a:pPr>
            <a:endParaRPr lang="en-US" sz="1300" dirty="0"/>
          </a:p>
        </p:txBody>
      </p:sp>
      <p:sp>
        <p:nvSpPr>
          <p:cNvPr id="253" name="Shape 251"/>
          <p:cNvSpPr/>
          <p:nvPr/>
        </p:nvSpPr>
        <p:spPr>
          <a:xfrm>
            <a:off x="8215231" y="4315968"/>
            <a:ext cx="528393" cy="292608"/>
          </a:xfrm>
          <a:prstGeom prst="roundRect">
            <a:avLst>
              <a:gd name="adj" fmla="val 15625"/>
            </a:avLst>
          </a:prstGeom>
          <a:solidFill>
            <a:srgbClr val="36454F"/>
          </a:solidFill>
          <a:ln/>
        </p:spPr>
        <p:txBody>
          <a:bodyPr/>
          <a:p/>
        </p:txBody>
      </p:sp>
      <p:sp>
        <p:nvSpPr>
          <p:cNvPr id="254" name="Text 252"/>
          <p:cNvSpPr txBox="1"/>
          <p:nvPr/>
        </p:nvSpPr>
        <p:spPr>
          <a:xfrm>
            <a:off x="8215231" y="4315968"/>
            <a:ext cx="528393" cy="292608"/>
          </a:xfrm>
          <a:prstGeom prst="rect">
            <a:avLst/>
          </a:prstGeom>
          <a:noFill/>
          <a:ln/>
        </p:spPr>
        <p:txBody>
          <a:bodyPr wrap="square" lIns="38100" tIns="38100" rIns="38100" bIns="3810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a:t>
            </a:r>
            <a:endParaRPr lang="en-US" sz="1300" dirty="0"/>
          </a:p>
        </p:txBody>
      </p:sp>
      <p:sp>
        <p:nvSpPr>
          <p:cNvPr id="255" name="Shape 253"/>
          <p:cNvSpPr/>
          <p:nvPr/>
        </p:nvSpPr>
        <p:spPr>
          <a:xfrm>
            <a:off x="8215231" y="4645152"/>
            <a:ext cx="528393" cy="292608"/>
          </a:xfrm>
          <a:prstGeom prst="roundRect">
            <a:avLst>
              <a:gd name="adj" fmla="val 15625"/>
            </a:avLst>
          </a:prstGeom>
          <a:solidFill>
            <a:srgbClr val="F2F2F2"/>
          </a:solidFill>
          <a:ln/>
        </p:spPr>
        <p:txBody>
          <a:bodyPr/>
          <a:p/>
        </p:txBody>
      </p:sp>
      <p:sp>
        <p:nvSpPr>
          <p:cNvPr id="256" name="Text 254"/>
          <p:cNvSpPr txBox="1"/>
          <p:nvPr/>
        </p:nvSpPr>
        <p:spPr>
          <a:xfrm>
            <a:off x="8215231" y="4645152"/>
            <a:ext cx="528393" cy="292608"/>
          </a:xfrm>
          <a:prstGeom prst="rect">
            <a:avLst/>
          </a:prstGeom>
          <a:noFill/>
          <a:ln/>
        </p:spPr>
        <p:txBody>
          <a:bodyPr wrap="square" lIns="38100" tIns="38100" rIns="38100" bIns="38100" rtlCol="0" anchor="ctr"/>
          <a:lstStyle/>
          <a:p>
            <a:pPr algn="ctr" indent="0" marL="0">
              <a:buNone/>
            </a:pPr>
            <a:r>
              <a:rPr lang="en-US" sz="1300" dirty="0">
                <a:solidFill>
                  <a:srgbClr val="9AA5A8"/>
                </a:solidFill>
                <a:latin typeface="Calibri" pitchFamily="34" charset="0"/>
                <a:ea typeface="Calibri" pitchFamily="34" charset="-122"/>
                <a:cs typeface="Calibri" pitchFamily="34" charset="-120"/>
              </a:rPr>
              <a:t>0</a:t>
            </a:r>
            <a:endParaRPr lang="en-US" sz="1300" dirty="0"/>
          </a:p>
        </p:txBody>
      </p:sp>
      <p:sp>
        <p:nvSpPr>
          <p:cNvPr id="257" name="Shape 255"/>
          <p:cNvSpPr/>
          <p:nvPr/>
        </p:nvSpPr>
        <p:spPr>
          <a:xfrm>
            <a:off x="8215231" y="4974336"/>
            <a:ext cx="528393" cy="292608"/>
          </a:xfrm>
          <a:prstGeom prst="roundRect">
            <a:avLst>
              <a:gd name="adj" fmla="val 15625"/>
            </a:avLst>
          </a:prstGeom>
          <a:solidFill>
            <a:srgbClr val="F2F2F2"/>
          </a:solidFill>
          <a:ln/>
        </p:spPr>
        <p:txBody>
          <a:bodyPr/>
          <a:p/>
        </p:txBody>
      </p:sp>
      <p:sp>
        <p:nvSpPr>
          <p:cNvPr id="258" name="Text 256"/>
          <p:cNvSpPr txBox="1"/>
          <p:nvPr/>
        </p:nvSpPr>
        <p:spPr>
          <a:xfrm>
            <a:off x="8215231" y="4974336"/>
            <a:ext cx="528393" cy="292608"/>
          </a:xfrm>
          <a:prstGeom prst="rect">
            <a:avLst/>
          </a:prstGeom>
          <a:noFill/>
          <a:ln/>
        </p:spPr>
        <p:txBody>
          <a:bodyPr wrap="square" lIns="38100" tIns="38100" rIns="38100" bIns="38100" rtlCol="0" anchor="ctr"/>
          <a:lstStyle/>
          <a:p>
            <a:pPr algn="ctr" indent="0" marL="0">
              <a:buNone/>
            </a:pPr>
            <a:r>
              <a:rPr lang="en-US" sz="1300" dirty="0">
                <a:solidFill>
                  <a:srgbClr val="9AA5A8"/>
                </a:solidFill>
                <a:latin typeface="Calibri" pitchFamily="34" charset="0"/>
                <a:ea typeface="Calibri" pitchFamily="34" charset="-122"/>
                <a:cs typeface="Calibri" pitchFamily="34" charset="-120"/>
              </a:rPr>
              <a:t>2</a:t>
            </a:r>
            <a:endParaRPr lang="en-US" sz="1300" dirty="0"/>
          </a:p>
        </p:txBody>
      </p:sp>
      <p:sp>
        <p:nvSpPr>
          <p:cNvPr id="259" name="Shape 257"/>
          <p:cNvSpPr/>
          <p:nvPr/>
        </p:nvSpPr>
        <p:spPr>
          <a:xfrm>
            <a:off x="8215231" y="5303520"/>
            <a:ext cx="528393" cy="292608"/>
          </a:xfrm>
          <a:prstGeom prst="roundRect">
            <a:avLst>
              <a:gd name="adj" fmla="val 15625"/>
            </a:avLst>
          </a:prstGeom>
          <a:solidFill>
            <a:srgbClr val="F2F2F2"/>
          </a:solidFill>
          <a:ln/>
        </p:spPr>
        <p:txBody>
          <a:bodyPr/>
          <a:p/>
        </p:txBody>
      </p:sp>
      <p:sp>
        <p:nvSpPr>
          <p:cNvPr id="260" name="Text 258"/>
          <p:cNvSpPr txBox="1"/>
          <p:nvPr/>
        </p:nvSpPr>
        <p:spPr>
          <a:xfrm>
            <a:off x="8215231" y="5303520"/>
            <a:ext cx="528393" cy="292608"/>
          </a:xfrm>
          <a:prstGeom prst="rect">
            <a:avLst/>
          </a:prstGeom>
          <a:noFill/>
          <a:ln/>
        </p:spPr>
        <p:txBody>
          <a:bodyPr wrap="square" lIns="38100" tIns="38100" rIns="38100" bIns="38100" rtlCol="0" anchor="ctr"/>
          <a:lstStyle/>
          <a:p>
            <a:pPr algn="ctr" indent="0" marL="0">
              <a:buNone/>
            </a:pPr>
            <a:r>
              <a:rPr lang="en-US" sz="1300" dirty="0">
                <a:solidFill>
                  <a:srgbClr val="9AA5A8"/>
                </a:solidFill>
                <a:latin typeface="Calibri" pitchFamily="34" charset="0"/>
                <a:ea typeface="Calibri" pitchFamily="34" charset="-122"/>
                <a:cs typeface="Calibri" pitchFamily="34" charset="-120"/>
              </a:rPr>
              <a:t>4</a:t>
            </a:r>
            <a:endParaRPr lang="en-US" sz="1300" dirty="0"/>
          </a:p>
        </p:txBody>
      </p:sp>
      <p:sp>
        <p:nvSpPr>
          <p:cNvPr id="261" name="Text 259"/>
          <p:cNvSpPr txBox="1"/>
          <p:nvPr/>
        </p:nvSpPr>
        <p:spPr>
          <a:xfrm>
            <a:off x="8196943" y="5614416"/>
            <a:ext cx="564969" cy="329184"/>
          </a:xfrm>
          <a:prstGeom prst="rect">
            <a:avLst/>
          </a:prstGeom>
          <a:noFill/>
          <a:ln/>
        </p:spPr>
        <p:txBody>
          <a:bodyPr wrap="square" lIns="0" tIns="0" rIns="0" bIns="0" rtlCol="0" anchor="ctr"/>
          <a:lstStyle/>
          <a:p>
            <a:pPr algn="ctr" indent="0" marL="0">
              <a:buNone/>
            </a:pPr>
            <a:endParaRPr lang="en-US" sz="1300" dirty="0"/>
          </a:p>
        </p:txBody>
      </p:sp>
      <p:sp>
        <p:nvSpPr>
          <p:cNvPr id="262" name="Shape 260"/>
          <p:cNvSpPr/>
          <p:nvPr/>
        </p:nvSpPr>
        <p:spPr>
          <a:xfrm>
            <a:off x="8780199" y="4315968"/>
            <a:ext cx="528393" cy="292608"/>
          </a:xfrm>
          <a:prstGeom prst="roundRect">
            <a:avLst>
              <a:gd name="adj" fmla="val 15625"/>
            </a:avLst>
          </a:prstGeom>
          <a:solidFill>
            <a:srgbClr val="36454F"/>
          </a:solidFill>
          <a:ln/>
        </p:spPr>
        <p:txBody>
          <a:bodyPr/>
          <a:p/>
        </p:txBody>
      </p:sp>
      <p:sp>
        <p:nvSpPr>
          <p:cNvPr id="263" name="Text 261"/>
          <p:cNvSpPr txBox="1"/>
          <p:nvPr/>
        </p:nvSpPr>
        <p:spPr>
          <a:xfrm>
            <a:off x="8780199" y="4315968"/>
            <a:ext cx="528393" cy="292608"/>
          </a:xfrm>
          <a:prstGeom prst="rect">
            <a:avLst/>
          </a:prstGeom>
          <a:noFill/>
          <a:ln/>
        </p:spPr>
        <p:txBody>
          <a:bodyPr wrap="square" lIns="38100" tIns="38100" rIns="38100" bIns="3810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264" name="Shape 262"/>
          <p:cNvSpPr/>
          <p:nvPr/>
        </p:nvSpPr>
        <p:spPr>
          <a:xfrm>
            <a:off x="8780199" y="4645152"/>
            <a:ext cx="528393" cy="292608"/>
          </a:xfrm>
          <a:prstGeom prst="roundRect">
            <a:avLst>
              <a:gd name="adj" fmla="val 15625"/>
            </a:avLst>
          </a:prstGeom>
          <a:solidFill>
            <a:srgbClr val="D7E9E6"/>
          </a:solidFill>
          <a:ln/>
        </p:spPr>
        <p:txBody>
          <a:bodyPr/>
          <a:p/>
        </p:txBody>
      </p:sp>
      <p:sp>
        <p:nvSpPr>
          <p:cNvPr id="265" name="Text 263"/>
          <p:cNvSpPr txBox="1"/>
          <p:nvPr/>
        </p:nvSpPr>
        <p:spPr>
          <a:xfrm>
            <a:off x="8780199" y="4645152"/>
            <a:ext cx="528393" cy="292608"/>
          </a:xfrm>
          <a:prstGeom prst="rect">
            <a:avLst/>
          </a:prstGeom>
          <a:noFill/>
          <a:ln/>
        </p:spPr>
        <p:txBody>
          <a:bodyPr wrap="square" lIns="38100" tIns="38100" rIns="38100" bIns="38100" rtlCol="0" anchor="ctr"/>
          <a:lstStyle/>
          <a:p>
            <a:pPr algn="ctr" indent="0" marL="0">
              <a:buNone/>
            </a:pPr>
            <a:r>
              <a:rPr lang="en-US" sz="1300" dirty="0">
                <a:solidFill>
                  <a:srgbClr val="212121"/>
                </a:solidFill>
                <a:latin typeface="Calibri" pitchFamily="34" charset="0"/>
                <a:ea typeface="Calibri" pitchFamily="34" charset="-122"/>
                <a:cs typeface="Calibri" pitchFamily="34" charset="-120"/>
              </a:rPr>
              <a:t>0</a:t>
            </a:r>
            <a:endParaRPr lang="en-US" sz="1300" dirty="0"/>
          </a:p>
        </p:txBody>
      </p:sp>
      <p:sp>
        <p:nvSpPr>
          <p:cNvPr id="266" name="Shape 264"/>
          <p:cNvSpPr/>
          <p:nvPr/>
        </p:nvSpPr>
        <p:spPr>
          <a:xfrm>
            <a:off x="8780199" y="4974336"/>
            <a:ext cx="528393" cy="292608"/>
          </a:xfrm>
          <a:prstGeom prst="roundRect">
            <a:avLst>
              <a:gd name="adj" fmla="val 15625"/>
            </a:avLst>
          </a:prstGeom>
          <a:solidFill>
            <a:srgbClr val="D7E9E6"/>
          </a:solidFill>
          <a:ln/>
        </p:spPr>
        <p:txBody>
          <a:bodyPr/>
          <a:p/>
        </p:txBody>
      </p:sp>
      <p:sp>
        <p:nvSpPr>
          <p:cNvPr id="267" name="Text 265"/>
          <p:cNvSpPr txBox="1"/>
          <p:nvPr/>
        </p:nvSpPr>
        <p:spPr>
          <a:xfrm>
            <a:off x="8780199" y="4974336"/>
            <a:ext cx="528393" cy="292608"/>
          </a:xfrm>
          <a:prstGeom prst="rect">
            <a:avLst/>
          </a:prstGeom>
          <a:noFill/>
          <a:ln/>
        </p:spPr>
        <p:txBody>
          <a:bodyPr wrap="square" lIns="38100" tIns="38100" rIns="38100" bIns="38100" rtlCol="0" anchor="ctr"/>
          <a:lstStyle/>
          <a:p>
            <a:pPr algn="ctr" indent="0" marL="0">
              <a:buNone/>
            </a:pPr>
            <a:r>
              <a:rPr lang="en-US" sz="1300" dirty="0">
                <a:solidFill>
                  <a:srgbClr val="212121"/>
                </a:solidFill>
                <a:latin typeface="Calibri" pitchFamily="34" charset="0"/>
                <a:ea typeface="Calibri" pitchFamily="34" charset="-122"/>
                <a:cs typeface="Calibri" pitchFamily="34" charset="-120"/>
              </a:rPr>
              <a:t>2</a:t>
            </a:r>
            <a:endParaRPr lang="en-US" sz="1300" dirty="0"/>
          </a:p>
        </p:txBody>
      </p:sp>
      <p:sp>
        <p:nvSpPr>
          <p:cNvPr id="268" name="Shape 266"/>
          <p:cNvSpPr/>
          <p:nvPr/>
        </p:nvSpPr>
        <p:spPr>
          <a:xfrm>
            <a:off x="8780199" y="5303520"/>
            <a:ext cx="528393" cy="292608"/>
          </a:xfrm>
          <a:prstGeom prst="roundRect">
            <a:avLst>
              <a:gd name="adj" fmla="val 15625"/>
            </a:avLst>
          </a:prstGeom>
          <a:solidFill>
            <a:srgbClr val="02C39A"/>
          </a:solidFill>
          <a:ln/>
        </p:spPr>
        <p:txBody>
          <a:bodyPr/>
          <a:p/>
        </p:txBody>
      </p:sp>
      <p:sp>
        <p:nvSpPr>
          <p:cNvPr id="269" name="Text 267"/>
          <p:cNvSpPr txBox="1"/>
          <p:nvPr/>
        </p:nvSpPr>
        <p:spPr>
          <a:xfrm>
            <a:off x="8780199" y="5303520"/>
            <a:ext cx="528393" cy="292608"/>
          </a:xfrm>
          <a:prstGeom prst="rect">
            <a:avLst/>
          </a:prstGeom>
          <a:noFill/>
          <a:ln/>
        </p:spPr>
        <p:txBody>
          <a:bodyPr wrap="square" lIns="38100" tIns="38100" rIns="38100" bIns="38100" rtlCol="0" anchor="ctr"/>
          <a:lstStyle/>
          <a:p>
            <a:pPr algn="ctr" indent="0" marL="0">
              <a:buNone/>
            </a:pPr>
            <a:r>
              <a:rPr lang="en-US" sz="1300" b="1" dirty="0">
                <a:solidFill>
                  <a:srgbClr val="212121"/>
                </a:solidFill>
                <a:latin typeface="Calibri" pitchFamily="34" charset="0"/>
                <a:ea typeface="Calibri" pitchFamily="34" charset="-122"/>
                <a:cs typeface="Calibri" pitchFamily="34" charset="-120"/>
              </a:rPr>
              <a:t>1</a:t>
            </a:r>
            <a:endParaRPr lang="en-US" sz="1300" dirty="0"/>
          </a:p>
        </p:txBody>
      </p:sp>
      <p:sp>
        <p:nvSpPr>
          <p:cNvPr id="270" name="Text 268"/>
          <p:cNvSpPr txBox="1"/>
          <p:nvPr/>
        </p:nvSpPr>
        <p:spPr>
          <a:xfrm>
            <a:off x="8761911" y="5614416"/>
            <a:ext cx="564969" cy="329184"/>
          </a:xfrm>
          <a:prstGeom prst="rect">
            <a:avLst/>
          </a:prstGeom>
          <a:noFill/>
          <a:ln/>
        </p:spPr>
        <p:txBody>
          <a:bodyPr wrap="square" lIns="0" tIns="0" rIns="0" bIns="0" rtlCol="0" anchor="ctr"/>
          <a:lstStyle/>
          <a:p>
            <a:pPr algn="ctr" indent="0" marL="0">
              <a:buNone/>
            </a:pPr>
            <a:r>
              <a:rPr lang="en-US" sz="1300" b="1" dirty="0">
                <a:solidFill>
                  <a:srgbClr val="B5453A"/>
                </a:solidFill>
                <a:latin typeface="Calibri" pitchFamily="34" charset="0"/>
                <a:ea typeface="Calibri" pitchFamily="34" charset="-122"/>
                <a:cs typeface="Calibri" pitchFamily="34" charset="-120"/>
              </a:rPr>
              <a:t>F</a:t>
            </a:r>
            <a:endParaRPr lang="en-US" sz="1300" dirty="0"/>
          </a:p>
        </p:txBody>
      </p:sp>
      <p:sp>
        <p:nvSpPr>
          <p:cNvPr id="271" name="Shape 269"/>
          <p:cNvSpPr/>
          <p:nvPr/>
        </p:nvSpPr>
        <p:spPr>
          <a:xfrm>
            <a:off x="9555480" y="2011680"/>
            <a:ext cx="2103120" cy="1645920"/>
          </a:xfrm>
          <a:prstGeom prst="roundRect">
            <a:avLst>
              <a:gd name="adj" fmla="val 3333"/>
            </a:avLst>
          </a:prstGeom>
          <a:solidFill>
            <a:srgbClr val="36454F"/>
          </a:solidFill>
          <a:ln/>
        </p:spPr>
        <p:txBody>
          <a:bodyPr/>
          <a:p/>
        </p:txBody>
      </p:sp>
      <p:sp>
        <p:nvSpPr>
          <p:cNvPr id="272" name="Text 270"/>
          <p:cNvSpPr txBox="1"/>
          <p:nvPr/>
        </p:nvSpPr>
        <p:spPr>
          <a:xfrm>
            <a:off x="9692640" y="2011680"/>
            <a:ext cx="1828800" cy="1645920"/>
          </a:xfrm>
          <a:prstGeom prst="rect">
            <a:avLst/>
          </a:prstGeom>
          <a:noFill/>
          <a:ln/>
        </p:spPr>
        <p:txBody>
          <a:bodyPr wrap="square" lIns="0" tIns="0" rIns="0" bIns="0" rtlCol="0" anchor="ctr"/>
          <a:lstStyle/>
          <a:p>
            <a:pPr algn="ctr" indent="0" marL="0">
              <a:buNone/>
            </a:pPr>
            <a:r>
              <a:rPr lang="en-US" sz="3400" b="1" dirty="0">
                <a:solidFill>
                  <a:srgbClr val="02C39A"/>
                </a:solidFill>
                <a:latin typeface="Cambria" pitchFamily="34" charset="0"/>
                <a:ea typeface="Cambria" pitchFamily="34" charset="-122"/>
                <a:cs typeface="Cambria" pitchFamily="34" charset="-120"/>
              </a:rPr>
              <a:t>11</a:t>
            </a:r>
            <a:endParaRPr lang="en-US" sz="1400" dirty="0"/>
          </a:p>
          <a:p>
            <a:pPr algn="ctr" indent="0" marL="0">
              <a:buNone/>
            </a:pPr>
            <a:r>
              <a:rPr lang="en-US" sz="1250" dirty="0">
                <a:solidFill>
                  <a:srgbClr val="F2F2F2"/>
                </a:solidFill>
                <a:latin typeface="Calibri" pitchFamily="34" charset="0"/>
                <a:ea typeface="Calibri" pitchFamily="34" charset="-122"/>
                <a:cs typeface="Calibri" pitchFamily="34" charset="-120"/>
              </a:rPr>
              <a:t>faults with FIFO</a:t>
            </a:r>
            <a:endParaRPr lang="en-US" sz="1400" dirty="0"/>
          </a:p>
        </p:txBody>
      </p:sp>
      <p:sp>
        <p:nvSpPr>
          <p:cNvPr id="273" name="Shape 271"/>
          <p:cNvSpPr/>
          <p:nvPr/>
        </p:nvSpPr>
        <p:spPr>
          <a:xfrm>
            <a:off x="9555480" y="4297680"/>
            <a:ext cx="2103120" cy="1645920"/>
          </a:xfrm>
          <a:prstGeom prst="roundRect">
            <a:avLst>
              <a:gd name="adj" fmla="val 3333"/>
            </a:avLst>
          </a:prstGeom>
          <a:solidFill>
            <a:srgbClr val="36454F"/>
          </a:solidFill>
          <a:ln/>
        </p:spPr>
        <p:txBody>
          <a:bodyPr/>
          <a:p/>
        </p:txBody>
      </p:sp>
      <p:sp>
        <p:nvSpPr>
          <p:cNvPr id="274" name="Text 272"/>
          <p:cNvSpPr txBox="1"/>
          <p:nvPr/>
        </p:nvSpPr>
        <p:spPr>
          <a:xfrm>
            <a:off x="9692640" y="4297680"/>
            <a:ext cx="1828800" cy="1645920"/>
          </a:xfrm>
          <a:prstGeom prst="rect">
            <a:avLst/>
          </a:prstGeom>
          <a:noFill/>
          <a:ln/>
        </p:spPr>
        <p:txBody>
          <a:bodyPr wrap="square" lIns="0" tIns="0" rIns="0" bIns="0" rtlCol="0" anchor="ctr"/>
          <a:lstStyle/>
          <a:p>
            <a:pPr algn="ctr" indent="0" marL="0">
              <a:buNone/>
            </a:pPr>
            <a:r>
              <a:rPr lang="en-US" sz="3400" b="1" dirty="0">
                <a:solidFill>
                  <a:srgbClr val="02C39A"/>
                </a:solidFill>
                <a:latin typeface="Cambria" pitchFamily="34" charset="0"/>
                <a:ea typeface="Cambria" pitchFamily="34" charset="-122"/>
                <a:cs typeface="Cambria" pitchFamily="34" charset="-120"/>
              </a:rPr>
              <a:t>9</a:t>
            </a:r>
            <a:endParaRPr lang="en-US" sz="1400" dirty="0"/>
          </a:p>
          <a:p>
            <a:pPr algn="ctr" indent="0" marL="0">
              <a:buNone/>
            </a:pPr>
            <a:r>
              <a:rPr lang="en-US" sz="1250" dirty="0">
                <a:solidFill>
                  <a:srgbClr val="F2F2F2"/>
                </a:solidFill>
                <a:latin typeface="Calibri" pitchFamily="34" charset="0"/>
                <a:ea typeface="Calibri" pitchFamily="34" charset="-122"/>
                <a:cs typeface="Calibri" pitchFamily="34" charset="-120"/>
              </a:rPr>
              <a:t>faults with LRU</a:t>
            </a:r>
            <a:endParaRPr lang="en-US" sz="14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en-US" sz="1200" b="1" spc="200" kern="0" dirty="0">
                <a:solidFill>
                  <a:srgbClr val="02C39A"/>
                </a:solidFill>
                <a:latin typeface="Calibri" pitchFamily="34" charset="0"/>
                <a:ea typeface="Calibri" pitchFamily="34" charset="-122"/>
                <a:cs typeface="Calibri" pitchFamily="34" charset="-120"/>
              </a:rPr>
              <a:t>PROBLEM 6 · WEEK 7</a:t>
            </a:r>
            <a:endParaRPr lang="en-US"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en-US" sz="3000" b="1" dirty="0">
                <a:solidFill>
                  <a:srgbClr val="36454F"/>
                </a:solidFill>
                <a:latin typeface="Cambria" pitchFamily="34" charset="0"/>
                <a:ea typeface="Cambria" pitchFamily="34" charset="-122"/>
                <a:cs typeface="Cambria" pitchFamily="34" charset="-120"/>
              </a:rPr>
              <a:t>Page Replacement: OPT and the Comparison</a:t>
            </a:r>
            <a:endParaRPr lang="en-US" sz="3000" dirty="0"/>
          </a:p>
        </p:txBody>
      </p:sp>
      <p:sp>
        <p:nvSpPr>
          <p:cNvPr id="4" name="Text 2"/>
          <p:cNvSpPr txBox="1"/>
          <p:nvPr/>
        </p:nvSpPr>
        <p:spPr>
          <a:xfrm>
            <a:off x="548640" y="6528816"/>
            <a:ext cx="6400800" cy="274320"/>
          </a:xfrm>
          <a:prstGeom prst="rect">
            <a:avLst/>
          </a:prstGeom>
          <a:noFill/>
          <a:ln/>
        </p:spPr>
        <p:txBody>
          <a:bodyPr wrap="square" lIns="0" tIns="0" rIns="0" bIns="0" rtlCol="0" anchor="ctr"/>
          <a:lstStyle/>
          <a:p>
            <a:pPr indent="0" marL="0">
              <a:buNone/>
            </a:pPr>
            <a:r>
              <a:rPr lang="en-US" sz="900" dirty="0">
                <a:solidFill>
                  <a:srgbClr val="6B7679"/>
                </a:solidFill>
                <a:latin typeface="Calibri" pitchFamily="34" charset="0"/>
                <a:ea typeface="Calibri" pitchFamily="34" charset="-122"/>
                <a:cs typeface="Calibri" pitchFamily="34" charset="-120"/>
              </a:rPr>
              <a:t>MCMP117 — Fundamentals of Operating Systems</a:t>
            </a:r>
            <a:endParaRPr lang="en-US" sz="900" dirty="0"/>
          </a:p>
        </p:txBody>
      </p:sp>
      <p:sp>
        <p:nvSpPr>
          <p:cNvPr id="5" name="Text 3"/>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en-US" sz="900" dirty="0">
                <a:solidFill>
                  <a:srgbClr val="6B7679"/>
                </a:solidFill>
                <a:latin typeface="Calibri" pitchFamily="34" charset="0"/>
                <a:ea typeface="Calibri" pitchFamily="34" charset="-122"/>
                <a:cs typeface="Calibri" pitchFamily="34" charset="-120"/>
              </a:rPr>
              <a:t>Week 8  ·  30</a:t>
            </a:r>
            <a:endParaRPr lang="en-US" sz="900" dirty="0"/>
          </a:p>
        </p:txBody>
      </p:sp>
      <p:sp>
        <p:nvSpPr>
          <p:cNvPr id="6" name="Text 4"/>
          <p:cNvSpPr txBox="1"/>
          <p:nvPr/>
        </p:nvSpPr>
        <p:spPr>
          <a:xfrm>
            <a:off x="548640" y="1463040"/>
            <a:ext cx="11109960" cy="292608"/>
          </a:xfrm>
          <a:prstGeom prst="rect">
            <a:avLst/>
          </a:prstGeom>
          <a:noFill/>
          <a:ln/>
        </p:spPr>
        <p:txBody>
          <a:bodyPr wrap="square" lIns="0" tIns="0" rIns="0" bIns="0" rtlCol="0" anchor="t"/>
          <a:lstStyle/>
          <a:p>
            <a:pPr indent="0" marL="0">
              <a:buNone/>
            </a:pPr>
            <a:r>
              <a:rPr lang="en-US" sz="1400" b="1" dirty="0">
                <a:solidFill>
                  <a:srgbClr val="028090"/>
                </a:solidFill>
                <a:latin typeface="Calibri" pitchFamily="34" charset="0"/>
                <a:ea typeface="Calibri" pitchFamily="34" charset="-122"/>
                <a:cs typeface="Calibri" pitchFamily="34" charset="-120"/>
              </a:rPr>
              <a:t>OPT (look forward: replace the page used farthest in the future)</a:t>
            </a:r>
            <a:endParaRPr lang="en-US" sz="1400" dirty="0"/>
          </a:p>
        </p:txBody>
      </p:sp>
      <p:sp>
        <p:nvSpPr>
          <p:cNvPr id="7" name="Text 5"/>
          <p:cNvSpPr txBox="1"/>
          <p:nvPr/>
        </p:nvSpPr>
        <p:spPr>
          <a:xfrm>
            <a:off x="548640" y="1783080"/>
            <a:ext cx="795528" cy="329184"/>
          </a:xfrm>
          <a:prstGeom prst="rect">
            <a:avLst/>
          </a:prstGeom>
          <a:noFill/>
          <a:ln/>
        </p:spPr>
        <p:txBody>
          <a:bodyPr wrap="square" lIns="0" tIns="0" rIns="0" bIns="0" rtlCol="0" anchor="ctr"/>
          <a:lstStyle/>
          <a:p>
            <a:pPr algn="r" indent="0" marL="0">
              <a:buNone/>
            </a:pPr>
            <a:r>
              <a:rPr lang="en-US" sz="1050" i="1" dirty="0">
                <a:solidFill>
                  <a:srgbClr val="6B7679"/>
                </a:solidFill>
                <a:latin typeface="Calibri" pitchFamily="34" charset="0"/>
                <a:ea typeface="Calibri" pitchFamily="34" charset="-122"/>
                <a:cs typeface="Calibri" pitchFamily="34" charset="-120"/>
              </a:rPr>
              <a:t>reference</a:t>
            </a:r>
            <a:endParaRPr lang="en-US" sz="1050" dirty="0"/>
          </a:p>
        </p:txBody>
      </p:sp>
      <p:sp>
        <p:nvSpPr>
          <p:cNvPr id="8" name="Text 6"/>
          <p:cNvSpPr txBox="1"/>
          <p:nvPr/>
        </p:nvSpPr>
        <p:spPr>
          <a:xfrm>
            <a:off x="548640" y="2112264"/>
            <a:ext cx="795528" cy="329184"/>
          </a:xfrm>
          <a:prstGeom prst="rect">
            <a:avLst/>
          </a:prstGeom>
          <a:noFill/>
          <a:ln/>
        </p:spPr>
        <p:txBody>
          <a:bodyPr wrap="square" lIns="0" tIns="0" rIns="0" bIns="0" rtlCol="0" anchor="ctr"/>
          <a:lstStyle/>
          <a:p>
            <a:pPr algn="r" indent="0" marL="0">
              <a:buNone/>
            </a:pPr>
            <a:r>
              <a:rPr lang="en-US" sz="1050" i="1" dirty="0">
                <a:solidFill>
                  <a:srgbClr val="6B7679"/>
                </a:solidFill>
                <a:latin typeface="Calibri" pitchFamily="34" charset="0"/>
                <a:ea typeface="Calibri" pitchFamily="34" charset="-122"/>
                <a:cs typeface="Calibri" pitchFamily="34" charset="-120"/>
              </a:rPr>
              <a:t>frame 0</a:t>
            </a:r>
            <a:endParaRPr lang="en-US" sz="1050" dirty="0"/>
          </a:p>
        </p:txBody>
      </p:sp>
      <p:sp>
        <p:nvSpPr>
          <p:cNvPr id="9" name="Text 7"/>
          <p:cNvSpPr txBox="1"/>
          <p:nvPr/>
        </p:nvSpPr>
        <p:spPr>
          <a:xfrm>
            <a:off x="548640" y="2441448"/>
            <a:ext cx="795528" cy="329184"/>
          </a:xfrm>
          <a:prstGeom prst="rect">
            <a:avLst/>
          </a:prstGeom>
          <a:noFill/>
          <a:ln/>
        </p:spPr>
        <p:txBody>
          <a:bodyPr wrap="square" lIns="0" tIns="0" rIns="0" bIns="0" rtlCol="0" anchor="ctr"/>
          <a:lstStyle/>
          <a:p>
            <a:pPr algn="r" indent="0" marL="0">
              <a:buNone/>
            </a:pPr>
            <a:r>
              <a:rPr lang="en-US" sz="1050" i="1" dirty="0">
                <a:solidFill>
                  <a:srgbClr val="6B7679"/>
                </a:solidFill>
                <a:latin typeface="Calibri" pitchFamily="34" charset="0"/>
                <a:ea typeface="Calibri" pitchFamily="34" charset="-122"/>
                <a:cs typeface="Calibri" pitchFamily="34" charset="-120"/>
              </a:rPr>
              <a:t>frame 1</a:t>
            </a:r>
            <a:endParaRPr lang="en-US" sz="1050" dirty="0"/>
          </a:p>
        </p:txBody>
      </p:sp>
      <p:sp>
        <p:nvSpPr>
          <p:cNvPr id="10" name="Text 8"/>
          <p:cNvSpPr txBox="1"/>
          <p:nvPr/>
        </p:nvSpPr>
        <p:spPr>
          <a:xfrm>
            <a:off x="548640" y="2770632"/>
            <a:ext cx="795528" cy="329184"/>
          </a:xfrm>
          <a:prstGeom prst="rect">
            <a:avLst/>
          </a:prstGeom>
          <a:noFill/>
          <a:ln/>
        </p:spPr>
        <p:txBody>
          <a:bodyPr wrap="square" lIns="0" tIns="0" rIns="0" bIns="0" rtlCol="0" anchor="ctr"/>
          <a:lstStyle/>
          <a:p>
            <a:pPr algn="r" indent="0" marL="0">
              <a:buNone/>
            </a:pPr>
            <a:r>
              <a:rPr lang="en-US" sz="1050" i="1" dirty="0">
                <a:solidFill>
                  <a:srgbClr val="6B7679"/>
                </a:solidFill>
                <a:latin typeface="Calibri" pitchFamily="34" charset="0"/>
                <a:ea typeface="Calibri" pitchFamily="34" charset="-122"/>
                <a:cs typeface="Calibri" pitchFamily="34" charset="-120"/>
              </a:rPr>
              <a:t>frame 2</a:t>
            </a:r>
            <a:endParaRPr lang="en-US" sz="1050" dirty="0"/>
          </a:p>
        </p:txBody>
      </p:sp>
      <p:sp>
        <p:nvSpPr>
          <p:cNvPr id="11" name="Text 9"/>
          <p:cNvSpPr txBox="1"/>
          <p:nvPr/>
        </p:nvSpPr>
        <p:spPr>
          <a:xfrm>
            <a:off x="548640" y="3099816"/>
            <a:ext cx="795528" cy="329184"/>
          </a:xfrm>
          <a:prstGeom prst="rect">
            <a:avLst/>
          </a:prstGeom>
          <a:noFill/>
          <a:ln/>
        </p:spPr>
        <p:txBody>
          <a:bodyPr wrap="square" lIns="0" tIns="0" rIns="0" bIns="0" rtlCol="0" anchor="ctr"/>
          <a:lstStyle/>
          <a:p>
            <a:pPr algn="r" indent="0" marL="0">
              <a:buNone/>
            </a:pPr>
            <a:r>
              <a:rPr lang="en-US" sz="1050" i="1" dirty="0">
                <a:solidFill>
                  <a:srgbClr val="6B7679"/>
                </a:solidFill>
                <a:latin typeface="Calibri" pitchFamily="34" charset="0"/>
                <a:ea typeface="Calibri" pitchFamily="34" charset="-122"/>
                <a:cs typeface="Calibri" pitchFamily="34" charset="-120"/>
              </a:rPr>
              <a:t>fault?</a:t>
            </a:r>
            <a:endParaRPr lang="en-US" sz="1050" dirty="0"/>
          </a:p>
        </p:txBody>
      </p:sp>
      <p:sp>
        <p:nvSpPr>
          <p:cNvPr id="12" name="Shape 10"/>
          <p:cNvSpPr/>
          <p:nvPr/>
        </p:nvSpPr>
        <p:spPr>
          <a:xfrm>
            <a:off x="1435608" y="1801368"/>
            <a:ext cx="528393" cy="292608"/>
          </a:xfrm>
          <a:prstGeom prst="roundRect">
            <a:avLst>
              <a:gd name="adj" fmla="val 15625"/>
            </a:avLst>
          </a:prstGeom>
          <a:solidFill>
            <a:srgbClr val="36454F"/>
          </a:solidFill>
          <a:ln/>
        </p:spPr>
        <p:txBody>
          <a:bodyPr/>
          <a:p/>
        </p:txBody>
      </p:sp>
      <p:sp>
        <p:nvSpPr>
          <p:cNvPr id="13" name="Text 11"/>
          <p:cNvSpPr txBox="1"/>
          <p:nvPr/>
        </p:nvSpPr>
        <p:spPr>
          <a:xfrm>
            <a:off x="1435608" y="1801368"/>
            <a:ext cx="528393" cy="292608"/>
          </a:xfrm>
          <a:prstGeom prst="rect">
            <a:avLst/>
          </a:prstGeom>
          <a:noFill/>
          <a:ln/>
        </p:spPr>
        <p:txBody>
          <a:bodyPr wrap="square" lIns="38100" tIns="38100" rIns="38100" bIns="3810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14" name="Shape 12"/>
          <p:cNvSpPr/>
          <p:nvPr/>
        </p:nvSpPr>
        <p:spPr>
          <a:xfrm>
            <a:off x="1435608" y="2130552"/>
            <a:ext cx="528393" cy="292608"/>
          </a:xfrm>
          <a:prstGeom prst="roundRect">
            <a:avLst>
              <a:gd name="adj" fmla="val 15625"/>
            </a:avLst>
          </a:prstGeom>
          <a:solidFill>
            <a:srgbClr val="02C39A"/>
          </a:solidFill>
          <a:ln/>
        </p:spPr>
        <p:txBody>
          <a:bodyPr/>
          <a:p/>
        </p:txBody>
      </p:sp>
      <p:sp>
        <p:nvSpPr>
          <p:cNvPr id="15" name="Text 13"/>
          <p:cNvSpPr txBox="1"/>
          <p:nvPr/>
        </p:nvSpPr>
        <p:spPr>
          <a:xfrm>
            <a:off x="1435608" y="2130552"/>
            <a:ext cx="528393" cy="292608"/>
          </a:xfrm>
          <a:prstGeom prst="rect">
            <a:avLst/>
          </a:prstGeom>
          <a:noFill/>
          <a:ln/>
        </p:spPr>
        <p:txBody>
          <a:bodyPr wrap="square" lIns="38100" tIns="38100" rIns="38100" bIns="38100" rtlCol="0" anchor="ctr"/>
          <a:lstStyle/>
          <a:p>
            <a:pPr algn="ctr" indent="0" marL="0">
              <a:buNone/>
            </a:pPr>
            <a:r>
              <a:rPr lang="en-US" sz="1300" b="1" dirty="0">
                <a:solidFill>
                  <a:srgbClr val="212121"/>
                </a:solidFill>
                <a:latin typeface="Calibri" pitchFamily="34" charset="0"/>
                <a:ea typeface="Calibri" pitchFamily="34" charset="-122"/>
                <a:cs typeface="Calibri" pitchFamily="34" charset="-120"/>
              </a:rPr>
              <a:t>1</a:t>
            </a:r>
            <a:endParaRPr lang="en-US" sz="1300" dirty="0"/>
          </a:p>
        </p:txBody>
      </p:sp>
      <p:sp>
        <p:nvSpPr>
          <p:cNvPr id="16" name="Shape 14"/>
          <p:cNvSpPr/>
          <p:nvPr/>
        </p:nvSpPr>
        <p:spPr>
          <a:xfrm>
            <a:off x="1435608" y="2459736"/>
            <a:ext cx="528393" cy="292608"/>
          </a:xfrm>
          <a:prstGeom prst="roundRect">
            <a:avLst>
              <a:gd name="adj" fmla="val 15625"/>
            </a:avLst>
          </a:prstGeom>
          <a:solidFill>
            <a:srgbClr val="D7E9E6"/>
          </a:solidFill>
          <a:ln/>
        </p:spPr>
        <p:txBody>
          <a:bodyPr/>
          <a:p/>
        </p:txBody>
      </p:sp>
      <p:sp>
        <p:nvSpPr>
          <p:cNvPr id="17" name="Text 15"/>
          <p:cNvSpPr txBox="1"/>
          <p:nvPr/>
        </p:nvSpPr>
        <p:spPr>
          <a:xfrm>
            <a:off x="1435608" y="2459736"/>
            <a:ext cx="528393" cy="292608"/>
          </a:xfrm>
          <a:prstGeom prst="rect">
            <a:avLst/>
          </a:prstGeom>
          <a:noFill/>
          <a:ln/>
        </p:spPr>
        <p:txBody>
          <a:bodyPr wrap="square" lIns="38100" tIns="38100" rIns="38100" bIns="38100" rtlCol="0" anchor="ctr"/>
          <a:lstStyle/>
          <a:p>
            <a:pPr algn="ctr" indent="0" marL="0">
              <a:buNone/>
            </a:pPr>
            <a:endParaRPr lang="en-US" sz="1300" dirty="0"/>
          </a:p>
        </p:txBody>
      </p:sp>
      <p:sp>
        <p:nvSpPr>
          <p:cNvPr id="18" name="Shape 16"/>
          <p:cNvSpPr/>
          <p:nvPr/>
        </p:nvSpPr>
        <p:spPr>
          <a:xfrm>
            <a:off x="1435608" y="2788920"/>
            <a:ext cx="528393" cy="292608"/>
          </a:xfrm>
          <a:prstGeom prst="roundRect">
            <a:avLst>
              <a:gd name="adj" fmla="val 15625"/>
            </a:avLst>
          </a:prstGeom>
          <a:solidFill>
            <a:srgbClr val="D7E9E6"/>
          </a:solidFill>
          <a:ln/>
        </p:spPr>
        <p:txBody>
          <a:bodyPr/>
          <a:p/>
        </p:txBody>
      </p:sp>
      <p:sp>
        <p:nvSpPr>
          <p:cNvPr id="19" name="Text 17"/>
          <p:cNvSpPr txBox="1"/>
          <p:nvPr/>
        </p:nvSpPr>
        <p:spPr>
          <a:xfrm>
            <a:off x="1435608" y="2788920"/>
            <a:ext cx="528393" cy="292608"/>
          </a:xfrm>
          <a:prstGeom prst="rect">
            <a:avLst/>
          </a:prstGeom>
          <a:noFill/>
          <a:ln/>
        </p:spPr>
        <p:txBody>
          <a:bodyPr wrap="square" lIns="38100" tIns="38100" rIns="38100" bIns="38100" rtlCol="0" anchor="ctr"/>
          <a:lstStyle/>
          <a:p>
            <a:pPr algn="ctr" indent="0" marL="0">
              <a:buNone/>
            </a:pPr>
            <a:endParaRPr lang="en-US" sz="1300" dirty="0"/>
          </a:p>
        </p:txBody>
      </p:sp>
      <p:sp>
        <p:nvSpPr>
          <p:cNvPr id="20" name="Text 18"/>
          <p:cNvSpPr txBox="1"/>
          <p:nvPr/>
        </p:nvSpPr>
        <p:spPr>
          <a:xfrm>
            <a:off x="1417320" y="3099816"/>
            <a:ext cx="564969" cy="329184"/>
          </a:xfrm>
          <a:prstGeom prst="rect">
            <a:avLst/>
          </a:prstGeom>
          <a:noFill/>
          <a:ln/>
        </p:spPr>
        <p:txBody>
          <a:bodyPr wrap="square" lIns="0" tIns="0" rIns="0" bIns="0" rtlCol="0" anchor="ctr"/>
          <a:lstStyle/>
          <a:p>
            <a:pPr algn="ctr" indent="0" marL="0">
              <a:buNone/>
            </a:pPr>
            <a:r>
              <a:rPr lang="en-US" sz="1300" b="1" dirty="0">
                <a:solidFill>
                  <a:srgbClr val="B5453A"/>
                </a:solidFill>
                <a:latin typeface="Calibri" pitchFamily="34" charset="0"/>
                <a:ea typeface="Calibri" pitchFamily="34" charset="-122"/>
                <a:cs typeface="Calibri" pitchFamily="34" charset="-120"/>
              </a:rPr>
              <a:t>F</a:t>
            </a:r>
            <a:endParaRPr lang="en-US" sz="1300" dirty="0"/>
          </a:p>
        </p:txBody>
      </p:sp>
      <p:sp>
        <p:nvSpPr>
          <p:cNvPr id="21" name="Shape 19"/>
          <p:cNvSpPr/>
          <p:nvPr/>
        </p:nvSpPr>
        <p:spPr>
          <a:xfrm>
            <a:off x="2000577" y="1801368"/>
            <a:ext cx="528393" cy="292608"/>
          </a:xfrm>
          <a:prstGeom prst="roundRect">
            <a:avLst>
              <a:gd name="adj" fmla="val 15625"/>
            </a:avLst>
          </a:prstGeom>
          <a:solidFill>
            <a:srgbClr val="36454F"/>
          </a:solidFill>
          <a:ln/>
        </p:spPr>
        <p:txBody>
          <a:bodyPr/>
          <a:p/>
        </p:txBody>
      </p:sp>
      <p:sp>
        <p:nvSpPr>
          <p:cNvPr id="22" name="Text 20"/>
          <p:cNvSpPr txBox="1"/>
          <p:nvPr/>
        </p:nvSpPr>
        <p:spPr>
          <a:xfrm>
            <a:off x="2000577" y="1801368"/>
            <a:ext cx="528393" cy="292608"/>
          </a:xfrm>
          <a:prstGeom prst="rect">
            <a:avLst/>
          </a:prstGeom>
          <a:noFill/>
          <a:ln/>
        </p:spPr>
        <p:txBody>
          <a:bodyPr wrap="square" lIns="38100" tIns="38100" rIns="38100" bIns="3810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23" name="Shape 21"/>
          <p:cNvSpPr/>
          <p:nvPr/>
        </p:nvSpPr>
        <p:spPr>
          <a:xfrm>
            <a:off x="2000577" y="2130552"/>
            <a:ext cx="528393" cy="292608"/>
          </a:xfrm>
          <a:prstGeom prst="roundRect">
            <a:avLst>
              <a:gd name="adj" fmla="val 15625"/>
            </a:avLst>
          </a:prstGeom>
          <a:solidFill>
            <a:srgbClr val="D7E9E6"/>
          </a:solidFill>
          <a:ln/>
        </p:spPr>
        <p:txBody>
          <a:bodyPr/>
          <a:p/>
        </p:txBody>
      </p:sp>
      <p:sp>
        <p:nvSpPr>
          <p:cNvPr id="24" name="Text 22"/>
          <p:cNvSpPr txBox="1"/>
          <p:nvPr/>
        </p:nvSpPr>
        <p:spPr>
          <a:xfrm>
            <a:off x="2000577" y="2130552"/>
            <a:ext cx="528393" cy="292608"/>
          </a:xfrm>
          <a:prstGeom prst="rect">
            <a:avLst/>
          </a:prstGeom>
          <a:noFill/>
          <a:ln/>
        </p:spPr>
        <p:txBody>
          <a:bodyPr wrap="square" lIns="38100" tIns="38100" rIns="38100" bIns="38100" rtlCol="0" anchor="ctr"/>
          <a:lstStyle/>
          <a:p>
            <a:pPr algn="ctr" indent="0" marL="0">
              <a:buNone/>
            </a:pPr>
            <a:r>
              <a:rPr lang="en-US" sz="1300" dirty="0">
                <a:solidFill>
                  <a:srgbClr val="212121"/>
                </a:solidFill>
                <a:latin typeface="Calibri" pitchFamily="34" charset="0"/>
                <a:ea typeface="Calibri" pitchFamily="34" charset="-122"/>
                <a:cs typeface="Calibri" pitchFamily="34" charset="-120"/>
              </a:rPr>
              <a:t>1</a:t>
            </a:r>
            <a:endParaRPr lang="en-US" sz="1300" dirty="0"/>
          </a:p>
        </p:txBody>
      </p:sp>
      <p:sp>
        <p:nvSpPr>
          <p:cNvPr id="25" name="Shape 23"/>
          <p:cNvSpPr/>
          <p:nvPr/>
        </p:nvSpPr>
        <p:spPr>
          <a:xfrm>
            <a:off x="2000577" y="2459736"/>
            <a:ext cx="528393" cy="292608"/>
          </a:xfrm>
          <a:prstGeom prst="roundRect">
            <a:avLst>
              <a:gd name="adj" fmla="val 15625"/>
            </a:avLst>
          </a:prstGeom>
          <a:solidFill>
            <a:srgbClr val="02C39A"/>
          </a:solidFill>
          <a:ln/>
        </p:spPr>
        <p:txBody>
          <a:bodyPr/>
          <a:p/>
        </p:txBody>
      </p:sp>
      <p:sp>
        <p:nvSpPr>
          <p:cNvPr id="26" name="Text 24"/>
          <p:cNvSpPr txBox="1"/>
          <p:nvPr/>
        </p:nvSpPr>
        <p:spPr>
          <a:xfrm>
            <a:off x="2000577" y="2459736"/>
            <a:ext cx="528393" cy="292608"/>
          </a:xfrm>
          <a:prstGeom prst="rect">
            <a:avLst/>
          </a:prstGeom>
          <a:noFill/>
          <a:ln/>
        </p:spPr>
        <p:txBody>
          <a:bodyPr wrap="square" lIns="38100" tIns="38100" rIns="38100" bIns="38100" rtlCol="0" anchor="ctr"/>
          <a:lstStyle/>
          <a:p>
            <a:pPr algn="ctr" indent="0" marL="0">
              <a:buNone/>
            </a:pPr>
            <a:r>
              <a:rPr lang="en-US" sz="1300" b="1" dirty="0">
                <a:solidFill>
                  <a:srgbClr val="212121"/>
                </a:solidFill>
                <a:latin typeface="Calibri" pitchFamily="34" charset="0"/>
                <a:ea typeface="Calibri" pitchFamily="34" charset="-122"/>
                <a:cs typeface="Calibri" pitchFamily="34" charset="-120"/>
              </a:rPr>
              <a:t>2</a:t>
            </a:r>
            <a:endParaRPr lang="en-US" sz="1300" dirty="0"/>
          </a:p>
        </p:txBody>
      </p:sp>
      <p:sp>
        <p:nvSpPr>
          <p:cNvPr id="27" name="Shape 25"/>
          <p:cNvSpPr/>
          <p:nvPr/>
        </p:nvSpPr>
        <p:spPr>
          <a:xfrm>
            <a:off x="2000577" y="2788920"/>
            <a:ext cx="528393" cy="292608"/>
          </a:xfrm>
          <a:prstGeom prst="roundRect">
            <a:avLst>
              <a:gd name="adj" fmla="val 15625"/>
            </a:avLst>
          </a:prstGeom>
          <a:solidFill>
            <a:srgbClr val="D7E9E6"/>
          </a:solidFill>
          <a:ln/>
        </p:spPr>
        <p:txBody>
          <a:bodyPr/>
          <a:p/>
        </p:txBody>
      </p:sp>
      <p:sp>
        <p:nvSpPr>
          <p:cNvPr id="28" name="Text 26"/>
          <p:cNvSpPr txBox="1"/>
          <p:nvPr/>
        </p:nvSpPr>
        <p:spPr>
          <a:xfrm>
            <a:off x="2000577" y="2788920"/>
            <a:ext cx="528393" cy="292608"/>
          </a:xfrm>
          <a:prstGeom prst="rect">
            <a:avLst/>
          </a:prstGeom>
          <a:noFill/>
          <a:ln/>
        </p:spPr>
        <p:txBody>
          <a:bodyPr wrap="square" lIns="38100" tIns="38100" rIns="38100" bIns="38100" rtlCol="0" anchor="ctr"/>
          <a:lstStyle/>
          <a:p>
            <a:pPr algn="ctr" indent="0" marL="0">
              <a:buNone/>
            </a:pPr>
            <a:endParaRPr lang="en-US" sz="1300" dirty="0"/>
          </a:p>
        </p:txBody>
      </p:sp>
      <p:sp>
        <p:nvSpPr>
          <p:cNvPr id="29" name="Text 27"/>
          <p:cNvSpPr txBox="1"/>
          <p:nvPr/>
        </p:nvSpPr>
        <p:spPr>
          <a:xfrm>
            <a:off x="1982289" y="3099816"/>
            <a:ext cx="564969" cy="329184"/>
          </a:xfrm>
          <a:prstGeom prst="rect">
            <a:avLst/>
          </a:prstGeom>
          <a:noFill/>
          <a:ln/>
        </p:spPr>
        <p:txBody>
          <a:bodyPr wrap="square" lIns="0" tIns="0" rIns="0" bIns="0" rtlCol="0" anchor="ctr"/>
          <a:lstStyle/>
          <a:p>
            <a:pPr algn="ctr" indent="0" marL="0">
              <a:buNone/>
            </a:pPr>
            <a:r>
              <a:rPr lang="en-US" sz="1300" b="1" dirty="0">
                <a:solidFill>
                  <a:srgbClr val="B5453A"/>
                </a:solidFill>
                <a:latin typeface="Calibri" pitchFamily="34" charset="0"/>
                <a:ea typeface="Calibri" pitchFamily="34" charset="-122"/>
                <a:cs typeface="Calibri" pitchFamily="34" charset="-120"/>
              </a:rPr>
              <a:t>F</a:t>
            </a:r>
            <a:endParaRPr lang="en-US" sz="1300" dirty="0"/>
          </a:p>
        </p:txBody>
      </p:sp>
      <p:sp>
        <p:nvSpPr>
          <p:cNvPr id="30" name="Shape 28"/>
          <p:cNvSpPr/>
          <p:nvPr/>
        </p:nvSpPr>
        <p:spPr>
          <a:xfrm>
            <a:off x="2565545" y="1801368"/>
            <a:ext cx="528393" cy="292608"/>
          </a:xfrm>
          <a:prstGeom prst="roundRect">
            <a:avLst>
              <a:gd name="adj" fmla="val 15625"/>
            </a:avLst>
          </a:prstGeom>
          <a:solidFill>
            <a:srgbClr val="36454F"/>
          </a:solidFill>
          <a:ln/>
        </p:spPr>
        <p:txBody>
          <a:bodyPr/>
          <a:p/>
        </p:txBody>
      </p:sp>
      <p:sp>
        <p:nvSpPr>
          <p:cNvPr id="31" name="Text 29"/>
          <p:cNvSpPr txBox="1"/>
          <p:nvPr/>
        </p:nvSpPr>
        <p:spPr>
          <a:xfrm>
            <a:off x="2565545" y="1801368"/>
            <a:ext cx="528393" cy="292608"/>
          </a:xfrm>
          <a:prstGeom prst="rect">
            <a:avLst/>
          </a:prstGeom>
          <a:noFill/>
          <a:ln/>
        </p:spPr>
        <p:txBody>
          <a:bodyPr wrap="square" lIns="38100" tIns="38100" rIns="38100" bIns="3810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a:t>
            </a:r>
            <a:endParaRPr lang="en-US" sz="1300" dirty="0"/>
          </a:p>
        </p:txBody>
      </p:sp>
      <p:sp>
        <p:nvSpPr>
          <p:cNvPr id="32" name="Shape 30"/>
          <p:cNvSpPr/>
          <p:nvPr/>
        </p:nvSpPr>
        <p:spPr>
          <a:xfrm>
            <a:off x="2565545" y="2130552"/>
            <a:ext cx="528393" cy="292608"/>
          </a:xfrm>
          <a:prstGeom prst="roundRect">
            <a:avLst>
              <a:gd name="adj" fmla="val 15625"/>
            </a:avLst>
          </a:prstGeom>
          <a:solidFill>
            <a:srgbClr val="D7E9E6"/>
          </a:solidFill>
          <a:ln/>
        </p:spPr>
        <p:txBody>
          <a:bodyPr/>
          <a:p/>
        </p:txBody>
      </p:sp>
      <p:sp>
        <p:nvSpPr>
          <p:cNvPr id="33" name="Text 31"/>
          <p:cNvSpPr txBox="1"/>
          <p:nvPr/>
        </p:nvSpPr>
        <p:spPr>
          <a:xfrm>
            <a:off x="2565545" y="2130552"/>
            <a:ext cx="528393" cy="292608"/>
          </a:xfrm>
          <a:prstGeom prst="rect">
            <a:avLst/>
          </a:prstGeom>
          <a:noFill/>
          <a:ln/>
        </p:spPr>
        <p:txBody>
          <a:bodyPr wrap="square" lIns="38100" tIns="38100" rIns="38100" bIns="38100" rtlCol="0" anchor="ctr"/>
          <a:lstStyle/>
          <a:p>
            <a:pPr algn="ctr" indent="0" marL="0">
              <a:buNone/>
            </a:pPr>
            <a:r>
              <a:rPr lang="en-US" sz="1300" dirty="0">
                <a:solidFill>
                  <a:srgbClr val="212121"/>
                </a:solidFill>
                <a:latin typeface="Calibri" pitchFamily="34" charset="0"/>
                <a:ea typeface="Calibri" pitchFamily="34" charset="-122"/>
                <a:cs typeface="Calibri" pitchFamily="34" charset="-120"/>
              </a:rPr>
              <a:t>1</a:t>
            </a:r>
            <a:endParaRPr lang="en-US" sz="1300" dirty="0"/>
          </a:p>
        </p:txBody>
      </p:sp>
      <p:sp>
        <p:nvSpPr>
          <p:cNvPr id="34" name="Shape 32"/>
          <p:cNvSpPr/>
          <p:nvPr/>
        </p:nvSpPr>
        <p:spPr>
          <a:xfrm>
            <a:off x="2565545" y="2459736"/>
            <a:ext cx="528393" cy="292608"/>
          </a:xfrm>
          <a:prstGeom prst="roundRect">
            <a:avLst>
              <a:gd name="adj" fmla="val 15625"/>
            </a:avLst>
          </a:prstGeom>
          <a:solidFill>
            <a:srgbClr val="D7E9E6"/>
          </a:solidFill>
          <a:ln/>
        </p:spPr>
        <p:txBody>
          <a:bodyPr/>
          <a:p/>
        </p:txBody>
      </p:sp>
      <p:sp>
        <p:nvSpPr>
          <p:cNvPr id="35" name="Text 33"/>
          <p:cNvSpPr txBox="1"/>
          <p:nvPr/>
        </p:nvSpPr>
        <p:spPr>
          <a:xfrm>
            <a:off x="2565545" y="2459736"/>
            <a:ext cx="528393" cy="292608"/>
          </a:xfrm>
          <a:prstGeom prst="rect">
            <a:avLst/>
          </a:prstGeom>
          <a:noFill/>
          <a:ln/>
        </p:spPr>
        <p:txBody>
          <a:bodyPr wrap="square" lIns="38100" tIns="38100" rIns="38100" bIns="38100" rtlCol="0" anchor="ctr"/>
          <a:lstStyle/>
          <a:p>
            <a:pPr algn="ctr" indent="0" marL="0">
              <a:buNone/>
            </a:pPr>
            <a:r>
              <a:rPr lang="en-US" sz="1300" dirty="0">
                <a:solidFill>
                  <a:srgbClr val="212121"/>
                </a:solidFill>
                <a:latin typeface="Calibri" pitchFamily="34" charset="0"/>
                <a:ea typeface="Calibri" pitchFamily="34" charset="-122"/>
                <a:cs typeface="Calibri" pitchFamily="34" charset="-120"/>
              </a:rPr>
              <a:t>2</a:t>
            </a:r>
            <a:endParaRPr lang="en-US" sz="1300" dirty="0"/>
          </a:p>
        </p:txBody>
      </p:sp>
      <p:sp>
        <p:nvSpPr>
          <p:cNvPr id="36" name="Shape 34"/>
          <p:cNvSpPr/>
          <p:nvPr/>
        </p:nvSpPr>
        <p:spPr>
          <a:xfrm>
            <a:off x="2565545" y="2788920"/>
            <a:ext cx="528393" cy="292608"/>
          </a:xfrm>
          <a:prstGeom prst="roundRect">
            <a:avLst>
              <a:gd name="adj" fmla="val 15625"/>
            </a:avLst>
          </a:prstGeom>
          <a:solidFill>
            <a:srgbClr val="02C39A"/>
          </a:solidFill>
          <a:ln/>
        </p:spPr>
        <p:txBody>
          <a:bodyPr/>
          <a:p/>
        </p:txBody>
      </p:sp>
      <p:sp>
        <p:nvSpPr>
          <p:cNvPr id="37" name="Text 35"/>
          <p:cNvSpPr txBox="1"/>
          <p:nvPr/>
        </p:nvSpPr>
        <p:spPr>
          <a:xfrm>
            <a:off x="2565545" y="2788920"/>
            <a:ext cx="528393" cy="292608"/>
          </a:xfrm>
          <a:prstGeom prst="rect">
            <a:avLst/>
          </a:prstGeom>
          <a:noFill/>
          <a:ln/>
        </p:spPr>
        <p:txBody>
          <a:bodyPr wrap="square" lIns="38100" tIns="38100" rIns="38100" bIns="38100" rtlCol="0" anchor="ctr"/>
          <a:lstStyle/>
          <a:p>
            <a:pPr algn="ctr" indent="0" marL="0">
              <a:buNone/>
            </a:pPr>
            <a:r>
              <a:rPr lang="en-US" sz="1300" b="1" dirty="0">
                <a:solidFill>
                  <a:srgbClr val="212121"/>
                </a:solidFill>
                <a:latin typeface="Calibri" pitchFamily="34" charset="0"/>
                <a:ea typeface="Calibri" pitchFamily="34" charset="-122"/>
                <a:cs typeface="Calibri" pitchFamily="34" charset="-120"/>
              </a:rPr>
              <a:t>0</a:t>
            </a:r>
            <a:endParaRPr lang="en-US" sz="1300" dirty="0"/>
          </a:p>
        </p:txBody>
      </p:sp>
      <p:sp>
        <p:nvSpPr>
          <p:cNvPr id="38" name="Text 36"/>
          <p:cNvSpPr txBox="1"/>
          <p:nvPr/>
        </p:nvSpPr>
        <p:spPr>
          <a:xfrm>
            <a:off x="2547257" y="3099816"/>
            <a:ext cx="564969" cy="329184"/>
          </a:xfrm>
          <a:prstGeom prst="rect">
            <a:avLst/>
          </a:prstGeom>
          <a:noFill/>
          <a:ln/>
        </p:spPr>
        <p:txBody>
          <a:bodyPr wrap="square" lIns="0" tIns="0" rIns="0" bIns="0" rtlCol="0" anchor="ctr"/>
          <a:lstStyle/>
          <a:p>
            <a:pPr algn="ctr" indent="0" marL="0">
              <a:buNone/>
            </a:pPr>
            <a:r>
              <a:rPr lang="en-US" sz="1300" b="1" dirty="0">
                <a:solidFill>
                  <a:srgbClr val="B5453A"/>
                </a:solidFill>
                <a:latin typeface="Calibri" pitchFamily="34" charset="0"/>
                <a:ea typeface="Calibri" pitchFamily="34" charset="-122"/>
                <a:cs typeface="Calibri" pitchFamily="34" charset="-120"/>
              </a:rPr>
              <a:t>F</a:t>
            </a:r>
            <a:endParaRPr lang="en-US" sz="1300" dirty="0"/>
          </a:p>
        </p:txBody>
      </p:sp>
      <p:sp>
        <p:nvSpPr>
          <p:cNvPr id="39" name="Shape 37"/>
          <p:cNvSpPr/>
          <p:nvPr/>
        </p:nvSpPr>
        <p:spPr>
          <a:xfrm>
            <a:off x="3130514" y="1801368"/>
            <a:ext cx="528393" cy="292608"/>
          </a:xfrm>
          <a:prstGeom prst="roundRect">
            <a:avLst>
              <a:gd name="adj" fmla="val 15625"/>
            </a:avLst>
          </a:prstGeom>
          <a:solidFill>
            <a:srgbClr val="36454F"/>
          </a:solidFill>
          <a:ln/>
        </p:spPr>
        <p:txBody>
          <a:bodyPr/>
          <a:p/>
        </p:txBody>
      </p:sp>
      <p:sp>
        <p:nvSpPr>
          <p:cNvPr id="40" name="Text 38"/>
          <p:cNvSpPr txBox="1"/>
          <p:nvPr/>
        </p:nvSpPr>
        <p:spPr>
          <a:xfrm>
            <a:off x="3130514" y="1801368"/>
            <a:ext cx="528393" cy="292608"/>
          </a:xfrm>
          <a:prstGeom prst="rect">
            <a:avLst/>
          </a:prstGeom>
          <a:noFill/>
          <a:ln/>
        </p:spPr>
        <p:txBody>
          <a:bodyPr wrap="square" lIns="38100" tIns="38100" rIns="38100" bIns="3810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41" name="Shape 39"/>
          <p:cNvSpPr/>
          <p:nvPr/>
        </p:nvSpPr>
        <p:spPr>
          <a:xfrm>
            <a:off x="3130514" y="2130552"/>
            <a:ext cx="528393" cy="292608"/>
          </a:xfrm>
          <a:prstGeom prst="roundRect">
            <a:avLst>
              <a:gd name="adj" fmla="val 15625"/>
            </a:avLst>
          </a:prstGeom>
          <a:solidFill>
            <a:srgbClr val="D7E9E6"/>
          </a:solidFill>
          <a:ln/>
        </p:spPr>
        <p:txBody>
          <a:bodyPr/>
          <a:p/>
        </p:txBody>
      </p:sp>
      <p:sp>
        <p:nvSpPr>
          <p:cNvPr id="42" name="Text 40"/>
          <p:cNvSpPr txBox="1"/>
          <p:nvPr/>
        </p:nvSpPr>
        <p:spPr>
          <a:xfrm>
            <a:off x="3130514" y="2130552"/>
            <a:ext cx="528393" cy="292608"/>
          </a:xfrm>
          <a:prstGeom prst="rect">
            <a:avLst/>
          </a:prstGeom>
          <a:noFill/>
          <a:ln/>
        </p:spPr>
        <p:txBody>
          <a:bodyPr wrap="square" lIns="38100" tIns="38100" rIns="38100" bIns="38100" rtlCol="0" anchor="ctr"/>
          <a:lstStyle/>
          <a:p>
            <a:pPr algn="ctr" indent="0" marL="0">
              <a:buNone/>
            </a:pPr>
            <a:r>
              <a:rPr lang="en-US" sz="1300" dirty="0">
                <a:solidFill>
                  <a:srgbClr val="212121"/>
                </a:solidFill>
                <a:latin typeface="Calibri" pitchFamily="34" charset="0"/>
                <a:ea typeface="Calibri" pitchFamily="34" charset="-122"/>
                <a:cs typeface="Calibri" pitchFamily="34" charset="-120"/>
              </a:rPr>
              <a:t>1</a:t>
            </a:r>
            <a:endParaRPr lang="en-US" sz="1300" dirty="0"/>
          </a:p>
        </p:txBody>
      </p:sp>
      <p:sp>
        <p:nvSpPr>
          <p:cNvPr id="43" name="Shape 41"/>
          <p:cNvSpPr/>
          <p:nvPr/>
        </p:nvSpPr>
        <p:spPr>
          <a:xfrm>
            <a:off x="3130514" y="2459736"/>
            <a:ext cx="528393" cy="292608"/>
          </a:xfrm>
          <a:prstGeom prst="roundRect">
            <a:avLst>
              <a:gd name="adj" fmla="val 15625"/>
            </a:avLst>
          </a:prstGeom>
          <a:solidFill>
            <a:srgbClr val="D7E9E6"/>
          </a:solidFill>
          <a:ln/>
        </p:spPr>
        <p:txBody>
          <a:bodyPr/>
          <a:p/>
        </p:txBody>
      </p:sp>
      <p:sp>
        <p:nvSpPr>
          <p:cNvPr id="44" name="Text 42"/>
          <p:cNvSpPr txBox="1"/>
          <p:nvPr/>
        </p:nvSpPr>
        <p:spPr>
          <a:xfrm>
            <a:off x="3130514" y="2459736"/>
            <a:ext cx="528393" cy="292608"/>
          </a:xfrm>
          <a:prstGeom prst="rect">
            <a:avLst/>
          </a:prstGeom>
          <a:noFill/>
          <a:ln/>
        </p:spPr>
        <p:txBody>
          <a:bodyPr wrap="square" lIns="38100" tIns="38100" rIns="38100" bIns="38100" rtlCol="0" anchor="ctr"/>
          <a:lstStyle/>
          <a:p>
            <a:pPr algn="ctr" indent="0" marL="0">
              <a:buNone/>
            </a:pPr>
            <a:r>
              <a:rPr lang="en-US" sz="1300" dirty="0">
                <a:solidFill>
                  <a:srgbClr val="212121"/>
                </a:solidFill>
                <a:latin typeface="Calibri" pitchFamily="34" charset="0"/>
                <a:ea typeface="Calibri" pitchFamily="34" charset="-122"/>
                <a:cs typeface="Calibri" pitchFamily="34" charset="-120"/>
              </a:rPr>
              <a:t>2</a:t>
            </a:r>
            <a:endParaRPr lang="en-US" sz="1300" dirty="0"/>
          </a:p>
        </p:txBody>
      </p:sp>
      <p:sp>
        <p:nvSpPr>
          <p:cNvPr id="45" name="Shape 43"/>
          <p:cNvSpPr/>
          <p:nvPr/>
        </p:nvSpPr>
        <p:spPr>
          <a:xfrm>
            <a:off x="3130514" y="2788920"/>
            <a:ext cx="528393" cy="292608"/>
          </a:xfrm>
          <a:prstGeom prst="roundRect">
            <a:avLst>
              <a:gd name="adj" fmla="val 15625"/>
            </a:avLst>
          </a:prstGeom>
          <a:solidFill>
            <a:srgbClr val="02C39A"/>
          </a:solidFill>
          <a:ln/>
        </p:spPr>
        <p:txBody>
          <a:bodyPr/>
          <a:p/>
        </p:txBody>
      </p:sp>
      <p:sp>
        <p:nvSpPr>
          <p:cNvPr id="46" name="Text 44"/>
          <p:cNvSpPr txBox="1"/>
          <p:nvPr/>
        </p:nvSpPr>
        <p:spPr>
          <a:xfrm>
            <a:off x="3130514" y="2788920"/>
            <a:ext cx="528393" cy="292608"/>
          </a:xfrm>
          <a:prstGeom prst="rect">
            <a:avLst/>
          </a:prstGeom>
          <a:noFill/>
          <a:ln/>
        </p:spPr>
        <p:txBody>
          <a:bodyPr wrap="square" lIns="38100" tIns="38100" rIns="38100" bIns="38100" rtlCol="0" anchor="ctr"/>
          <a:lstStyle/>
          <a:p>
            <a:pPr algn="ctr" indent="0" marL="0">
              <a:buNone/>
            </a:pPr>
            <a:r>
              <a:rPr lang="en-US" sz="1300" b="1" dirty="0">
                <a:solidFill>
                  <a:srgbClr val="212121"/>
                </a:solidFill>
                <a:latin typeface="Calibri" pitchFamily="34" charset="0"/>
                <a:ea typeface="Calibri" pitchFamily="34" charset="-122"/>
                <a:cs typeface="Calibri" pitchFamily="34" charset="-120"/>
              </a:rPr>
              <a:t>4</a:t>
            </a:r>
            <a:endParaRPr lang="en-US" sz="1300" dirty="0"/>
          </a:p>
        </p:txBody>
      </p:sp>
      <p:sp>
        <p:nvSpPr>
          <p:cNvPr id="47" name="Text 45"/>
          <p:cNvSpPr txBox="1"/>
          <p:nvPr/>
        </p:nvSpPr>
        <p:spPr>
          <a:xfrm>
            <a:off x="3112226" y="3099816"/>
            <a:ext cx="564969" cy="329184"/>
          </a:xfrm>
          <a:prstGeom prst="rect">
            <a:avLst/>
          </a:prstGeom>
          <a:noFill/>
          <a:ln/>
        </p:spPr>
        <p:txBody>
          <a:bodyPr wrap="square" lIns="0" tIns="0" rIns="0" bIns="0" rtlCol="0" anchor="ctr"/>
          <a:lstStyle/>
          <a:p>
            <a:pPr algn="ctr" indent="0" marL="0">
              <a:buNone/>
            </a:pPr>
            <a:r>
              <a:rPr lang="en-US" sz="1300" b="1" dirty="0">
                <a:solidFill>
                  <a:srgbClr val="B5453A"/>
                </a:solidFill>
                <a:latin typeface="Calibri" pitchFamily="34" charset="0"/>
                <a:ea typeface="Calibri" pitchFamily="34" charset="-122"/>
                <a:cs typeface="Calibri" pitchFamily="34" charset="-120"/>
              </a:rPr>
              <a:t>F</a:t>
            </a:r>
            <a:endParaRPr lang="en-US" sz="1300" dirty="0"/>
          </a:p>
        </p:txBody>
      </p:sp>
      <p:sp>
        <p:nvSpPr>
          <p:cNvPr id="48" name="Shape 46"/>
          <p:cNvSpPr/>
          <p:nvPr/>
        </p:nvSpPr>
        <p:spPr>
          <a:xfrm>
            <a:off x="3695482" y="1801368"/>
            <a:ext cx="528393" cy="292608"/>
          </a:xfrm>
          <a:prstGeom prst="roundRect">
            <a:avLst>
              <a:gd name="adj" fmla="val 15625"/>
            </a:avLst>
          </a:prstGeom>
          <a:solidFill>
            <a:srgbClr val="36454F"/>
          </a:solidFill>
          <a:ln/>
        </p:spPr>
        <p:txBody>
          <a:bodyPr/>
          <a:p/>
        </p:txBody>
      </p:sp>
      <p:sp>
        <p:nvSpPr>
          <p:cNvPr id="49" name="Text 47"/>
          <p:cNvSpPr txBox="1"/>
          <p:nvPr/>
        </p:nvSpPr>
        <p:spPr>
          <a:xfrm>
            <a:off x="3695482" y="1801368"/>
            <a:ext cx="528393" cy="292608"/>
          </a:xfrm>
          <a:prstGeom prst="rect">
            <a:avLst/>
          </a:prstGeom>
          <a:noFill/>
          <a:ln/>
        </p:spPr>
        <p:txBody>
          <a:bodyPr wrap="square" lIns="38100" tIns="38100" rIns="38100" bIns="3810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50" name="Shape 48"/>
          <p:cNvSpPr/>
          <p:nvPr/>
        </p:nvSpPr>
        <p:spPr>
          <a:xfrm>
            <a:off x="3695482" y="2130552"/>
            <a:ext cx="528393" cy="292608"/>
          </a:xfrm>
          <a:prstGeom prst="roundRect">
            <a:avLst>
              <a:gd name="adj" fmla="val 15625"/>
            </a:avLst>
          </a:prstGeom>
          <a:solidFill>
            <a:srgbClr val="F2F2F2"/>
          </a:solidFill>
          <a:ln/>
        </p:spPr>
        <p:txBody>
          <a:bodyPr/>
          <a:p/>
        </p:txBody>
      </p:sp>
      <p:sp>
        <p:nvSpPr>
          <p:cNvPr id="51" name="Text 49"/>
          <p:cNvSpPr txBox="1"/>
          <p:nvPr/>
        </p:nvSpPr>
        <p:spPr>
          <a:xfrm>
            <a:off x="3695482" y="2130552"/>
            <a:ext cx="528393" cy="292608"/>
          </a:xfrm>
          <a:prstGeom prst="rect">
            <a:avLst/>
          </a:prstGeom>
          <a:noFill/>
          <a:ln/>
        </p:spPr>
        <p:txBody>
          <a:bodyPr wrap="square" lIns="38100" tIns="38100" rIns="38100" bIns="38100" rtlCol="0" anchor="ctr"/>
          <a:lstStyle/>
          <a:p>
            <a:pPr algn="ctr" indent="0" marL="0">
              <a:buNone/>
            </a:pPr>
            <a:r>
              <a:rPr lang="en-US" sz="1300" dirty="0">
                <a:solidFill>
                  <a:srgbClr val="9AA5A8"/>
                </a:solidFill>
                <a:latin typeface="Calibri" pitchFamily="34" charset="0"/>
                <a:ea typeface="Calibri" pitchFamily="34" charset="-122"/>
                <a:cs typeface="Calibri" pitchFamily="34" charset="-120"/>
              </a:rPr>
              <a:t>1</a:t>
            </a:r>
            <a:endParaRPr lang="en-US" sz="1300" dirty="0"/>
          </a:p>
        </p:txBody>
      </p:sp>
      <p:sp>
        <p:nvSpPr>
          <p:cNvPr id="52" name="Shape 50"/>
          <p:cNvSpPr/>
          <p:nvPr/>
        </p:nvSpPr>
        <p:spPr>
          <a:xfrm>
            <a:off x="3695482" y="2459736"/>
            <a:ext cx="528393" cy="292608"/>
          </a:xfrm>
          <a:prstGeom prst="roundRect">
            <a:avLst>
              <a:gd name="adj" fmla="val 15625"/>
            </a:avLst>
          </a:prstGeom>
          <a:solidFill>
            <a:srgbClr val="F2F2F2"/>
          </a:solidFill>
          <a:ln/>
        </p:spPr>
        <p:txBody>
          <a:bodyPr/>
          <a:p/>
        </p:txBody>
      </p:sp>
      <p:sp>
        <p:nvSpPr>
          <p:cNvPr id="53" name="Text 51"/>
          <p:cNvSpPr txBox="1"/>
          <p:nvPr/>
        </p:nvSpPr>
        <p:spPr>
          <a:xfrm>
            <a:off x="3695482" y="2459736"/>
            <a:ext cx="528393" cy="292608"/>
          </a:xfrm>
          <a:prstGeom prst="rect">
            <a:avLst/>
          </a:prstGeom>
          <a:noFill/>
          <a:ln/>
        </p:spPr>
        <p:txBody>
          <a:bodyPr wrap="square" lIns="38100" tIns="38100" rIns="38100" bIns="38100" rtlCol="0" anchor="ctr"/>
          <a:lstStyle/>
          <a:p>
            <a:pPr algn="ctr" indent="0" marL="0">
              <a:buNone/>
            </a:pPr>
            <a:r>
              <a:rPr lang="en-US" sz="1300" dirty="0">
                <a:solidFill>
                  <a:srgbClr val="9AA5A8"/>
                </a:solidFill>
                <a:latin typeface="Calibri" pitchFamily="34" charset="0"/>
                <a:ea typeface="Calibri" pitchFamily="34" charset="-122"/>
                <a:cs typeface="Calibri" pitchFamily="34" charset="-120"/>
              </a:rPr>
              <a:t>2</a:t>
            </a:r>
            <a:endParaRPr lang="en-US" sz="1300" dirty="0"/>
          </a:p>
        </p:txBody>
      </p:sp>
      <p:sp>
        <p:nvSpPr>
          <p:cNvPr id="54" name="Shape 52"/>
          <p:cNvSpPr/>
          <p:nvPr/>
        </p:nvSpPr>
        <p:spPr>
          <a:xfrm>
            <a:off x="3695482" y="2788920"/>
            <a:ext cx="528393" cy="292608"/>
          </a:xfrm>
          <a:prstGeom prst="roundRect">
            <a:avLst>
              <a:gd name="adj" fmla="val 15625"/>
            </a:avLst>
          </a:prstGeom>
          <a:solidFill>
            <a:srgbClr val="F2F2F2"/>
          </a:solidFill>
          <a:ln/>
        </p:spPr>
        <p:txBody>
          <a:bodyPr/>
          <a:p/>
        </p:txBody>
      </p:sp>
      <p:sp>
        <p:nvSpPr>
          <p:cNvPr id="55" name="Text 53"/>
          <p:cNvSpPr txBox="1"/>
          <p:nvPr/>
        </p:nvSpPr>
        <p:spPr>
          <a:xfrm>
            <a:off x="3695482" y="2788920"/>
            <a:ext cx="528393" cy="292608"/>
          </a:xfrm>
          <a:prstGeom prst="rect">
            <a:avLst/>
          </a:prstGeom>
          <a:noFill/>
          <a:ln/>
        </p:spPr>
        <p:txBody>
          <a:bodyPr wrap="square" lIns="38100" tIns="38100" rIns="38100" bIns="38100" rtlCol="0" anchor="ctr"/>
          <a:lstStyle/>
          <a:p>
            <a:pPr algn="ctr" indent="0" marL="0">
              <a:buNone/>
            </a:pPr>
            <a:r>
              <a:rPr lang="en-US" sz="1300" dirty="0">
                <a:solidFill>
                  <a:srgbClr val="9AA5A8"/>
                </a:solidFill>
                <a:latin typeface="Calibri" pitchFamily="34" charset="0"/>
                <a:ea typeface="Calibri" pitchFamily="34" charset="-122"/>
                <a:cs typeface="Calibri" pitchFamily="34" charset="-120"/>
              </a:rPr>
              <a:t>4</a:t>
            </a:r>
            <a:endParaRPr lang="en-US" sz="1300" dirty="0"/>
          </a:p>
        </p:txBody>
      </p:sp>
      <p:sp>
        <p:nvSpPr>
          <p:cNvPr id="56" name="Text 54"/>
          <p:cNvSpPr txBox="1"/>
          <p:nvPr/>
        </p:nvSpPr>
        <p:spPr>
          <a:xfrm>
            <a:off x="3677194" y="3099816"/>
            <a:ext cx="564969" cy="329184"/>
          </a:xfrm>
          <a:prstGeom prst="rect">
            <a:avLst/>
          </a:prstGeom>
          <a:noFill/>
          <a:ln/>
        </p:spPr>
        <p:txBody>
          <a:bodyPr wrap="square" lIns="0" tIns="0" rIns="0" bIns="0" rtlCol="0" anchor="ctr"/>
          <a:lstStyle/>
          <a:p>
            <a:pPr algn="ctr" indent="0" marL="0">
              <a:buNone/>
            </a:pPr>
            <a:endParaRPr lang="en-US" sz="1300" dirty="0"/>
          </a:p>
        </p:txBody>
      </p:sp>
      <p:sp>
        <p:nvSpPr>
          <p:cNvPr id="57" name="Shape 55"/>
          <p:cNvSpPr/>
          <p:nvPr/>
        </p:nvSpPr>
        <p:spPr>
          <a:xfrm>
            <a:off x="4260451" y="1801368"/>
            <a:ext cx="528393" cy="292608"/>
          </a:xfrm>
          <a:prstGeom prst="roundRect">
            <a:avLst>
              <a:gd name="adj" fmla="val 15625"/>
            </a:avLst>
          </a:prstGeom>
          <a:solidFill>
            <a:srgbClr val="36454F"/>
          </a:solidFill>
          <a:ln/>
        </p:spPr>
        <p:txBody>
          <a:bodyPr/>
          <a:p/>
        </p:txBody>
      </p:sp>
      <p:sp>
        <p:nvSpPr>
          <p:cNvPr id="58" name="Text 56"/>
          <p:cNvSpPr txBox="1"/>
          <p:nvPr/>
        </p:nvSpPr>
        <p:spPr>
          <a:xfrm>
            <a:off x="4260451" y="1801368"/>
            <a:ext cx="528393" cy="292608"/>
          </a:xfrm>
          <a:prstGeom prst="rect">
            <a:avLst/>
          </a:prstGeom>
          <a:noFill/>
          <a:ln/>
        </p:spPr>
        <p:txBody>
          <a:bodyPr wrap="square" lIns="38100" tIns="38100" rIns="38100" bIns="3810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59" name="Shape 57"/>
          <p:cNvSpPr/>
          <p:nvPr/>
        </p:nvSpPr>
        <p:spPr>
          <a:xfrm>
            <a:off x="4260451" y="2130552"/>
            <a:ext cx="528393" cy="292608"/>
          </a:xfrm>
          <a:prstGeom prst="roundRect">
            <a:avLst>
              <a:gd name="adj" fmla="val 15625"/>
            </a:avLst>
          </a:prstGeom>
          <a:solidFill>
            <a:srgbClr val="D7E9E6"/>
          </a:solidFill>
          <a:ln/>
        </p:spPr>
        <p:txBody>
          <a:bodyPr/>
          <a:p/>
        </p:txBody>
      </p:sp>
      <p:sp>
        <p:nvSpPr>
          <p:cNvPr id="60" name="Text 58"/>
          <p:cNvSpPr txBox="1"/>
          <p:nvPr/>
        </p:nvSpPr>
        <p:spPr>
          <a:xfrm>
            <a:off x="4260451" y="2130552"/>
            <a:ext cx="528393" cy="292608"/>
          </a:xfrm>
          <a:prstGeom prst="rect">
            <a:avLst/>
          </a:prstGeom>
          <a:noFill/>
          <a:ln/>
        </p:spPr>
        <p:txBody>
          <a:bodyPr wrap="square" lIns="38100" tIns="38100" rIns="38100" bIns="38100" rtlCol="0" anchor="ctr"/>
          <a:lstStyle/>
          <a:p>
            <a:pPr algn="ctr" indent="0" marL="0">
              <a:buNone/>
            </a:pPr>
            <a:r>
              <a:rPr lang="en-US" sz="1300" dirty="0">
                <a:solidFill>
                  <a:srgbClr val="212121"/>
                </a:solidFill>
                <a:latin typeface="Calibri" pitchFamily="34" charset="0"/>
                <a:ea typeface="Calibri" pitchFamily="34" charset="-122"/>
                <a:cs typeface="Calibri" pitchFamily="34" charset="-120"/>
              </a:rPr>
              <a:t>1</a:t>
            </a:r>
            <a:endParaRPr lang="en-US" sz="1300" dirty="0"/>
          </a:p>
        </p:txBody>
      </p:sp>
      <p:sp>
        <p:nvSpPr>
          <p:cNvPr id="61" name="Shape 59"/>
          <p:cNvSpPr/>
          <p:nvPr/>
        </p:nvSpPr>
        <p:spPr>
          <a:xfrm>
            <a:off x="4260451" y="2459736"/>
            <a:ext cx="528393" cy="292608"/>
          </a:xfrm>
          <a:prstGeom prst="roundRect">
            <a:avLst>
              <a:gd name="adj" fmla="val 15625"/>
            </a:avLst>
          </a:prstGeom>
          <a:solidFill>
            <a:srgbClr val="D7E9E6"/>
          </a:solidFill>
          <a:ln/>
        </p:spPr>
        <p:txBody>
          <a:bodyPr/>
          <a:p/>
        </p:txBody>
      </p:sp>
      <p:sp>
        <p:nvSpPr>
          <p:cNvPr id="62" name="Text 60"/>
          <p:cNvSpPr txBox="1"/>
          <p:nvPr/>
        </p:nvSpPr>
        <p:spPr>
          <a:xfrm>
            <a:off x="4260451" y="2459736"/>
            <a:ext cx="528393" cy="292608"/>
          </a:xfrm>
          <a:prstGeom prst="rect">
            <a:avLst/>
          </a:prstGeom>
          <a:noFill/>
          <a:ln/>
        </p:spPr>
        <p:txBody>
          <a:bodyPr wrap="square" lIns="38100" tIns="38100" rIns="38100" bIns="38100" rtlCol="0" anchor="ctr"/>
          <a:lstStyle/>
          <a:p>
            <a:pPr algn="ctr" indent="0" marL="0">
              <a:buNone/>
            </a:pPr>
            <a:r>
              <a:rPr lang="en-US" sz="1300" dirty="0">
                <a:solidFill>
                  <a:srgbClr val="212121"/>
                </a:solidFill>
                <a:latin typeface="Calibri" pitchFamily="34" charset="0"/>
                <a:ea typeface="Calibri" pitchFamily="34" charset="-122"/>
                <a:cs typeface="Calibri" pitchFamily="34" charset="-120"/>
              </a:rPr>
              <a:t>2</a:t>
            </a:r>
            <a:endParaRPr lang="en-US" sz="1300" dirty="0"/>
          </a:p>
        </p:txBody>
      </p:sp>
      <p:sp>
        <p:nvSpPr>
          <p:cNvPr id="63" name="Shape 61"/>
          <p:cNvSpPr/>
          <p:nvPr/>
        </p:nvSpPr>
        <p:spPr>
          <a:xfrm>
            <a:off x="4260451" y="2788920"/>
            <a:ext cx="528393" cy="292608"/>
          </a:xfrm>
          <a:prstGeom prst="roundRect">
            <a:avLst>
              <a:gd name="adj" fmla="val 15625"/>
            </a:avLst>
          </a:prstGeom>
          <a:solidFill>
            <a:srgbClr val="02C39A"/>
          </a:solidFill>
          <a:ln/>
        </p:spPr>
        <p:txBody>
          <a:bodyPr/>
          <a:p/>
        </p:txBody>
      </p:sp>
      <p:sp>
        <p:nvSpPr>
          <p:cNvPr id="64" name="Text 62"/>
          <p:cNvSpPr txBox="1"/>
          <p:nvPr/>
        </p:nvSpPr>
        <p:spPr>
          <a:xfrm>
            <a:off x="4260451" y="2788920"/>
            <a:ext cx="528393" cy="292608"/>
          </a:xfrm>
          <a:prstGeom prst="rect">
            <a:avLst/>
          </a:prstGeom>
          <a:noFill/>
          <a:ln/>
        </p:spPr>
        <p:txBody>
          <a:bodyPr wrap="square" lIns="38100" tIns="38100" rIns="38100" bIns="38100" rtlCol="0" anchor="ctr"/>
          <a:lstStyle/>
          <a:p>
            <a:pPr algn="ctr" indent="0" marL="0">
              <a:buNone/>
            </a:pPr>
            <a:r>
              <a:rPr lang="en-US" sz="1300" b="1" dirty="0">
                <a:solidFill>
                  <a:srgbClr val="212121"/>
                </a:solidFill>
                <a:latin typeface="Calibri" pitchFamily="34" charset="0"/>
                <a:ea typeface="Calibri" pitchFamily="34" charset="-122"/>
                <a:cs typeface="Calibri" pitchFamily="34" charset="-120"/>
              </a:rPr>
              <a:t>3</a:t>
            </a:r>
            <a:endParaRPr lang="en-US" sz="1300" dirty="0"/>
          </a:p>
        </p:txBody>
      </p:sp>
      <p:sp>
        <p:nvSpPr>
          <p:cNvPr id="65" name="Text 63"/>
          <p:cNvSpPr txBox="1"/>
          <p:nvPr/>
        </p:nvSpPr>
        <p:spPr>
          <a:xfrm>
            <a:off x="4242163" y="3099816"/>
            <a:ext cx="564969" cy="329184"/>
          </a:xfrm>
          <a:prstGeom prst="rect">
            <a:avLst/>
          </a:prstGeom>
          <a:noFill/>
          <a:ln/>
        </p:spPr>
        <p:txBody>
          <a:bodyPr wrap="square" lIns="0" tIns="0" rIns="0" bIns="0" rtlCol="0" anchor="ctr"/>
          <a:lstStyle/>
          <a:p>
            <a:pPr algn="ctr" indent="0" marL="0">
              <a:buNone/>
            </a:pPr>
            <a:r>
              <a:rPr lang="en-US" sz="1300" b="1" dirty="0">
                <a:solidFill>
                  <a:srgbClr val="B5453A"/>
                </a:solidFill>
                <a:latin typeface="Calibri" pitchFamily="34" charset="0"/>
                <a:ea typeface="Calibri" pitchFamily="34" charset="-122"/>
                <a:cs typeface="Calibri" pitchFamily="34" charset="-120"/>
              </a:rPr>
              <a:t>F</a:t>
            </a:r>
            <a:endParaRPr lang="en-US" sz="1300" dirty="0"/>
          </a:p>
        </p:txBody>
      </p:sp>
      <p:sp>
        <p:nvSpPr>
          <p:cNvPr id="66" name="Shape 64"/>
          <p:cNvSpPr/>
          <p:nvPr/>
        </p:nvSpPr>
        <p:spPr>
          <a:xfrm>
            <a:off x="4825419" y="1801368"/>
            <a:ext cx="528393" cy="292608"/>
          </a:xfrm>
          <a:prstGeom prst="roundRect">
            <a:avLst>
              <a:gd name="adj" fmla="val 15625"/>
            </a:avLst>
          </a:prstGeom>
          <a:solidFill>
            <a:srgbClr val="36454F"/>
          </a:solidFill>
          <a:ln/>
        </p:spPr>
        <p:txBody>
          <a:bodyPr/>
          <a:p/>
        </p:txBody>
      </p:sp>
      <p:sp>
        <p:nvSpPr>
          <p:cNvPr id="67" name="Text 65"/>
          <p:cNvSpPr txBox="1"/>
          <p:nvPr/>
        </p:nvSpPr>
        <p:spPr>
          <a:xfrm>
            <a:off x="4825419" y="1801368"/>
            <a:ext cx="528393" cy="292608"/>
          </a:xfrm>
          <a:prstGeom prst="rect">
            <a:avLst/>
          </a:prstGeom>
          <a:noFill/>
          <a:ln/>
        </p:spPr>
        <p:txBody>
          <a:bodyPr wrap="square" lIns="38100" tIns="38100" rIns="38100" bIns="3810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68" name="Shape 66"/>
          <p:cNvSpPr/>
          <p:nvPr/>
        </p:nvSpPr>
        <p:spPr>
          <a:xfrm>
            <a:off x="4825419" y="2130552"/>
            <a:ext cx="528393" cy="292608"/>
          </a:xfrm>
          <a:prstGeom prst="roundRect">
            <a:avLst>
              <a:gd name="adj" fmla="val 15625"/>
            </a:avLst>
          </a:prstGeom>
          <a:solidFill>
            <a:srgbClr val="F2F2F2"/>
          </a:solidFill>
          <a:ln/>
        </p:spPr>
        <p:txBody>
          <a:bodyPr/>
          <a:p/>
        </p:txBody>
      </p:sp>
      <p:sp>
        <p:nvSpPr>
          <p:cNvPr id="69" name="Text 67"/>
          <p:cNvSpPr txBox="1"/>
          <p:nvPr/>
        </p:nvSpPr>
        <p:spPr>
          <a:xfrm>
            <a:off x="4825419" y="2130552"/>
            <a:ext cx="528393" cy="292608"/>
          </a:xfrm>
          <a:prstGeom prst="rect">
            <a:avLst/>
          </a:prstGeom>
          <a:noFill/>
          <a:ln/>
        </p:spPr>
        <p:txBody>
          <a:bodyPr wrap="square" lIns="38100" tIns="38100" rIns="38100" bIns="38100" rtlCol="0" anchor="ctr"/>
          <a:lstStyle/>
          <a:p>
            <a:pPr algn="ctr" indent="0" marL="0">
              <a:buNone/>
            </a:pPr>
            <a:r>
              <a:rPr lang="en-US" sz="1300" dirty="0">
                <a:solidFill>
                  <a:srgbClr val="9AA5A8"/>
                </a:solidFill>
                <a:latin typeface="Calibri" pitchFamily="34" charset="0"/>
                <a:ea typeface="Calibri" pitchFamily="34" charset="-122"/>
                <a:cs typeface="Calibri" pitchFamily="34" charset="-120"/>
              </a:rPr>
              <a:t>1</a:t>
            </a:r>
            <a:endParaRPr lang="en-US" sz="1300" dirty="0"/>
          </a:p>
        </p:txBody>
      </p:sp>
      <p:sp>
        <p:nvSpPr>
          <p:cNvPr id="70" name="Shape 68"/>
          <p:cNvSpPr/>
          <p:nvPr/>
        </p:nvSpPr>
        <p:spPr>
          <a:xfrm>
            <a:off x="4825419" y="2459736"/>
            <a:ext cx="528393" cy="292608"/>
          </a:xfrm>
          <a:prstGeom prst="roundRect">
            <a:avLst>
              <a:gd name="adj" fmla="val 15625"/>
            </a:avLst>
          </a:prstGeom>
          <a:solidFill>
            <a:srgbClr val="F2F2F2"/>
          </a:solidFill>
          <a:ln/>
        </p:spPr>
        <p:txBody>
          <a:bodyPr/>
          <a:p/>
        </p:txBody>
      </p:sp>
      <p:sp>
        <p:nvSpPr>
          <p:cNvPr id="71" name="Text 69"/>
          <p:cNvSpPr txBox="1"/>
          <p:nvPr/>
        </p:nvSpPr>
        <p:spPr>
          <a:xfrm>
            <a:off x="4825419" y="2459736"/>
            <a:ext cx="528393" cy="292608"/>
          </a:xfrm>
          <a:prstGeom prst="rect">
            <a:avLst/>
          </a:prstGeom>
          <a:noFill/>
          <a:ln/>
        </p:spPr>
        <p:txBody>
          <a:bodyPr wrap="square" lIns="38100" tIns="38100" rIns="38100" bIns="38100" rtlCol="0" anchor="ctr"/>
          <a:lstStyle/>
          <a:p>
            <a:pPr algn="ctr" indent="0" marL="0">
              <a:buNone/>
            </a:pPr>
            <a:r>
              <a:rPr lang="en-US" sz="1300" dirty="0">
                <a:solidFill>
                  <a:srgbClr val="9AA5A8"/>
                </a:solidFill>
                <a:latin typeface="Calibri" pitchFamily="34" charset="0"/>
                <a:ea typeface="Calibri" pitchFamily="34" charset="-122"/>
                <a:cs typeface="Calibri" pitchFamily="34" charset="-120"/>
              </a:rPr>
              <a:t>2</a:t>
            </a:r>
            <a:endParaRPr lang="en-US" sz="1300" dirty="0"/>
          </a:p>
        </p:txBody>
      </p:sp>
      <p:sp>
        <p:nvSpPr>
          <p:cNvPr id="72" name="Shape 70"/>
          <p:cNvSpPr/>
          <p:nvPr/>
        </p:nvSpPr>
        <p:spPr>
          <a:xfrm>
            <a:off x="4825419" y="2788920"/>
            <a:ext cx="528393" cy="292608"/>
          </a:xfrm>
          <a:prstGeom prst="roundRect">
            <a:avLst>
              <a:gd name="adj" fmla="val 15625"/>
            </a:avLst>
          </a:prstGeom>
          <a:solidFill>
            <a:srgbClr val="F2F2F2"/>
          </a:solidFill>
          <a:ln/>
        </p:spPr>
        <p:txBody>
          <a:bodyPr/>
          <a:p/>
        </p:txBody>
      </p:sp>
      <p:sp>
        <p:nvSpPr>
          <p:cNvPr id="73" name="Text 71"/>
          <p:cNvSpPr txBox="1"/>
          <p:nvPr/>
        </p:nvSpPr>
        <p:spPr>
          <a:xfrm>
            <a:off x="4825419" y="2788920"/>
            <a:ext cx="528393" cy="292608"/>
          </a:xfrm>
          <a:prstGeom prst="rect">
            <a:avLst/>
          </a:prstGeom>
          <a:noFill/>
          <a:ln/>
        </p:spPr>
        <p:txBody>
          <a:bodyPr wrap="square" lIns="38100" tIns="38100" rIns="38100" bIns="38100" rtlCol="0" anchor="ctr"/>
          <a:lstStyle/>
          <a:p>
            <a:pPr algn="ctr" indent="0" marL="0">
              <a:buNone/>
            </a:pPr>
            <a:r>
              <a:rPr lang="en-US" sz="1300" dirty="0">
                <a:solidFill>
                  <a:srgbClr val="9AA5A8"/>
                </a:solidFill>
                <a:latin typeface="Calibri" pitchFamily="34" charset="0"/>
                <a:ea typeface="Calibri" pitchFamily="34" charset="-122"/>
                <a:cs typeface="Calibri" pitchFamily="34" charset="-120"/>
              </a:rPr>
              <a:t>3</a:t>
            </a:r>
            <a:endParaRPr lang="en-US" sz="1300" dirty="0"/>
          </a:p>
        </p:txBody>
      </p:sp>
      <p:sp>
        <p:nvSpPr>
          <p:cNvPr id="74" name="Text 72"/>
          <p:cNvSpPr txBox="1"/>
          <p:nvPr/>
        </p:nvSpPr>
        <p:spPr>
          <a:xfrm>
            <a:off x="4807131" y="3099816"/>
            <a:ext cx="564969" cy="329184"/>
          </a:xfrm>
          <a:prstGeom prst="rect">
            <a:avLst/>
          </a:prstGeom>
          <a:noFill/>
          <a:ln/>
        </p:spPr>
        <p:txBody>
          <a:bodyPr wrap="square" lIns="0" tIns="0" rIns="0" bIns="0" rtlCol="0" anchor="ctr"/>
          <a:lstStyle/>
          <a:p>
            <a:pPr algn="ctr" indent="0" marL="0">
              <a:buNone/>
            </a:pPr>
            <a:endParaRPr lang="en-US" sz="1300" dirty="0"/>
          </a:p>
        </p:txBody>
      </p:sp>
      <p:sp>
        <p:nvSpPr>
          <p:cNvPr id="75" name="Shape 73"/>
          <p:cNvSpPr/>
          <p:nvPr/>
        </p:nvSpPr>
        <p:spPr>
          <a:xfrm>
            <a:off x="5390388" y="1801368"/>
            <a:ext cx="528393" cy="292608"/>
          </a:xfrm>
          <a:prstGeom prst="roundRect">
            <a:avLst>
              <a:gd name="adj" fmla="val 15625"/>
            </a:avLst>
          </a:prstGeom>
          <a:solidFill>
            <a:srgbClr val="36454F"/>
          </a:solidFill>
          <a:ln/>
        </p:spPr>
        <p:txBody>
          <a:bodyPr/>
          <a:p/>
        </p:txBody>
      </p:sp>
      <p:sp>
        <p:nvSpPr>
          <p:cNvPr id="76" name="Text 74"/>
          <p:cNvSpPr txBox="1"/>
          <p:nvPr/>
        </p:nvSpPr>
        <p:spPr>
          <a:xfrm>
            <a:off x="5390388" y="1801368"/>
            <a:ext cx="528393" cy="292608"/>
          </a:xfrm>
          <a:prstGeom prst="rect">
            <a:avLst/>
          </a:prstGeom>
          <a:noFill/>
          <a:ln/>
        </p:spPr>
        <p:txBody>
          <a:bodyPr wrap="square" lIns="38100" tIns="38100" rIns="38100" bIns="3810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77" name="Shape 75"/>
          <p:cNvSpPr/>
          <p:nvPr/>
        </p:nvSpPr>
        <p:spPr>
          <a:xfrm>
            <a:off x="5390388" y="2130552"/>
            <a:ext cx="528393" cy="292608"/>
          </a:xfrm>
          <a:prstGeom prst="roundRect">
            <a:avLst>
              <a:gd name="adj" fmla="val 15625"/>
            </a:avLst>
          </a:prstGeom>
          <a:solidFill>
            <a:srgbClr val="F2F2F2"/>
          </a:solidFill>
          <a:ln/>
        </p:spPr>
        <p:txBody>
          <a:bodyPr/>
          <a:p/>
        </p:txBody>
      </p:sp>
      <p:sp>
        <p:nvSpPr>
          <p:cNvPr id="78" name="Text 76"/>
          <p:cNvSpPr txBox="1"/>
          <p:nvPr/>
        </p:nvSpPr>
        <p:spPr>
          <a:xfrm>
            <a:off x="5390388" y="2130552"/>
            <a:ext cx="528393" cy="292608"/>
          </a:xfrm>
          <a:prstGeom prst="rect">
            <a:avLst/>
          </a:prstGeom>
          <a:noFill/>
          <a:ln/>
        </p:spPr>
        <p:txBody>
          <a:bodyPr wrap="square" lIns="38100" tIns="38100" rIns="38100" bIns="38100" rtlCol="0" anchor="ctr"/>
          <a:lstStyle/>
          <a:p>
            <a:pPr algn="ctr" indent="0" marL="0">
              <a:buNone/>
            </a:pPr>
            <a:r>
              <a:rPr lang="en-US" sz="1300" dirty="0">
                <a:solidFill>
                  <a:srgbClr val="9AA5A8"/>
                </a:solidFill>
                <a:latin typeface="Calibri" pitchFamily="34" charset="0"/>
                <a:ea typeface="Calibri" pitchFamily="34" charset="-122"/>
                <a:cs typeface="Calibri" pitchFamily="34" charset="-120"/>
              </a:rPr>
              <a:t>1</a:t>
            </a:r>
            <a:endParaRPr lang="en-US" sz="1300" dirty="0"/>
          </a:p>
        </p:txBody>
      </p:sp>
      <p:sp>
        <p:nvSpPr>
          <p:cNvPr id="79" name="Shape 77"/>
          <p:cNvSpPr/>
          <p:nvPr/>
        </p:nvSpPr>
        <p:spPr>
          <a:xfrm>
            <a:off x="5390388" y="2459736"/>
            <a:ext cx="528393" cy="292608"/>
          </a:xfrm>
          <a:prstGeom prst="roundRect">
            <a:avLst>
              <a:gd name="adj" fmla="val 15625"/>
            </a:avLst>
          </a:prstGeom>
          <a:solidFill>
            <a:srgbClr val="F2F2F2"/>
          </a:solidFill>
          <a:ln/>
        </p:spPr>
        <p:txBody>
          <a:bodyPr/>
          <a:p/>
        </p:txBody>
      </p:sp>
      <p:sp>
        <p:nvSpPr>
          <p:cNvPr id="80" name="Text 78"/>
          <p:cNvSpPr txBox="1"/>
          <p:nvPr/>
        </p:nvSpPr>
        <p:spPr>
          <a:xfrm>
            <a:off x="5390388" y="2459736"/>
            <a:ext cx="528393" cy="292608"/>
          </a:xfrm>
          <a:prstGeom prst="rect">
            <a:avLst/>
          </a:prstGeom>
          <a:noFill/>
          <a:ln/>
        </p:spPr>
        <p:txBody>
          <a:bodyPr wrap="square" lIns="38100" tIns="38100" rIns="38100" bIns="38100" rtlCol="0" anchor="ctr"/>
          <a:lstStyle/>
          <a:p>
            <a:pPr algn="ctr" indent="0" marL="0">
              <a:buNone/>
            </a:pPr>
            <a:r>
              <a:rPr lang="en-US" sz="1300" dirty="0">
                <a:solidFill>
                  <a:srgbClr val="9AA5A8"/>
                </a:solidFill>
                <a:latin typeface="Calibri" pitchFamily="34" charset="0"/>
                <a:ea typeface="Calibri" pitchFamily="34" charset="-122"/>
                <a:cs typeface="Calibri" pitchFamily="34" charset="-120"/>
              </a:rPr>
              <a:t>2</a:t>
            </a:r>
            <a:endParaRPr lang="en-US" sz="1300" dirty="0"/>
          </a:p>
        </p:txBody>
      </p:sp>
      <p:sp>
        <p:nvSpPr>
          <p:cNvPr id="81" name="Shape 79"/>
          <p:cNvSpPr/>
          <p:nvPr/>
        </p:nvSpPr>
        <p:spPr>
          <a:xfrm>
            <a:off x="5390388" y="2788920"/>
            <a:ext cx="528393" cy="292608"/>
          </a:xfrm>
          <a:prstGeom prst="roundRect">
            <a:avLst>
              <a:gd name="adj" fmla="val 15625"/>
            </a:avLst>
          </a:prstGeom>
          <a:solidFill>
            <a:srgbClr val="F2F2F2"/>
          </a:solidFill>
          <a:ln/>
        </p:spPr>
        <p:txBody>
          <a:bodyPr/>
          <a:p/>
        </p:txBody>
      </p:sp>
      <p:sp>
        <p:nvSpPr>
          <p:cNvPr id="82" name="Text 80"/>
          <p:cNvSpPr txBox="1"/>
          <p:nvPr/>
        </p:nvSpPr>
        <p:spPr>
          <a:xfrm>
            <a:off x="5390388" y="2788920"/>
            <a:ext cx="528393" cy="292608"/>
          </a:xfrm>
          <a:prstGeom prst="rect">
            <a:avLst/>
          </a:prstGeom>
          <a:noFill/>
          <a:ln/>
        </p:spPr>
        <p:txBody>
          <a:bodyPr wrap="square" lIns="38100" tIns="38100" rIns="38100" bIns="38100" rtlCol="0" anchor="ctr"/>
          <a:lstStyle/>
          <a:p>
            <a:pPr algn="ctr" indent="0" marL="0">
              <a:buNone/>
            </a:pPr>
            <a:r>
              <a:rPr lang="en-US" sz="1300" dirty="0">
                <a:solidFill>
                  <a:srgbClr val="9AA5A8"/>
                </a:solidFill>
                <a:latin typeface="Calibri" pitchFamily="34" charset="0"/>
                <a:ea typeface="Calibri" pitchFamily="34" charset="-122"/>
                <a:cs typeface="Calibri" pitchFamily="34" charset="-120"/>
              </a:rPr>
              <a:t>3</a:t>
            </a:r>
            <a:endParaRPr lang="en-US" sz="1300" dirty="0"/>
          </a:p>
        </p:txBody>
      </p:sp>
      <p:sp>
        <p:nvSpPr>
          <p:cNvPr id="83" name="Text 81"/>
          <p:cNvSpPr txBox="1"/>
          <p:nvPr/>
        </p:nvSpPr>
        <p:spPr>
          <a:xfrm>
            <a:off x="5372100" y="3099816"/>
            <a:ext cx="564969" cy="329184"/>
          </a:xfrm>
          <a:prstGeom prst="rect">
            <a:avLst/>
          </a:prstGeom>
          <a:noFill/>
          <a:ln/>
        </p:spPr>
        <p:txBody>
          <a:bodyPr wrap="square" lIns="0" tIns="0" rIns="0" bIns="0" rtlCol="0" anchor="ctr"/>
          <a:lstStyle/>
          <a:p>
            <a:pPr algn="ctr" indent="0" marL="0">
              <a:buNone/>
            </a:pPr>
            <a:endParaRPr lang="en-US" sz="1300" dirty="0"/>
          </a:p>
        </p:txBody>
      </p:sp>
      <p:sp>
        <p:nvSpPr>
          <p:cNvPr id="84" name="Shape 82"/>
          <p:cNvSpPr/>
          <p:nvPr/>
        </p:nvSpPr>
        <p:spPr>
          <a:xfrm>
            <a:off x="5955357" y="1801368"/>
            <a:ext cx="528393" cy="292608"/>
          </a:xfrm>
          <a:prstGeom prst="roundRect">
            <a:avLst>
              <a:gd name="adj" fmla="val 15625"/>
            </a:avLst>
          </a:prstGeom>
          <a:solidFill>
            <a:srgbClr val="36454F"/>
          </a:solidFill>
          <a:ln/>
        </p:spPr>
        <p:txBody>
          <a:bodyPr/>
          <a:p/>
        </p:txBody>
      </p:sp>
      <p:sp>
        <p:nvSpPr>
          <p:cNvPr id="85" name="Text 83"/>
          <p:cNvSpPr txBox="1"/>
          <p:nvPr/>
        </p:nvSpPr>
        <p:spPr>
          <a:xfrm>
            <a:off x="5955357" y="1801368"/>
            <a:ext cx="528393" cy="292608"/>
          </a:xfrm>
          <a:prstGeom prst="rect">
            <a:avLst/>
          </a:prstGeom>
          <a:noFill/>
          <a:ln/>
        </p:spPr>
        <p:txBody>
          <a:bodyPr wrap="square" lIns="38100" tIns="38100" rIns="38100" bIns="3810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86" name="Shape 84"/>
          <p:cNvSpPr/>
          <p:nvPr/>
        </p:nvSpPr>
        <p:spPr>
          <a:xfrm>
            <a:off x="5955357" y="2130552"/>
            <a:ext cx="528393" cy="292608"/>
          </a:xfrm>
          <a:prstGeom prst="roundRect">
            <a:avLst>
              <a:gd name="adj" fmla="val 15625"/>
            </a:avLst>
          </a:prstGeom>
          <a:solidFill>
            <a:srgbClr val="F2F2F2"/>
          </a:solidFill>
          <a:ln/>
        </p:spPr>
        <p:txBody>
          <a:bodyPr/>
          <a:p/>
        </p:txBody>
      </p:sp>
      <p:sp>
        <p:nvSpPr>
          <p:cNvPr id="87" name="Text 85"/>
          <p:cNvSpPr txBox="1"/>
          <p:nvPr/>
        </p:nvSpPr>
        <p:spPr>
          <a:xfrm>
            <a:off x="5955357" y="2130552"/>
            <a:ext cx="528393" cy="292608"/>
          </a:xfrm>
          <a:prstGeom prst="rect">
            <a:avLst/>
          </a:prstGeom>
          <a:noFill/>
          <a:ln/>
        </p:spPr>
        <p:txBody>
          <a:bodyPr wrap="square" lIns="38100" tIns="38100" rIns="38100" bIns="38100" rtlCol="0" anchor="ctr"/>
          <a:lstStyle/>
          <a:p>
            <a:pPr algn="ctr" indent="0" marL="0">
              <a:buNone/>
            </a:pPr>
            <a:r>
              <a:rPr lang="en-US" sz="1300" dirty="0">
                <a:solidFill>
                  <a:srgbClr val="9AA5A8"/>
                </a:solidFill>
                <a:latin typeface="Calibri" pitchFamily="34" charset="0"/>
                <a:ea typeface="Calibri" pitchFamily="34" charset="-122"/>
                <a:cs typeface="Calibri" pitchFamily="34" charset="-120"/>
              </a:rPr>
              <a:t>1</a:t>
            </a:r>
            <a:endParaRPr lang="en-US" sz="1300" dirty="0"/>
          </a:p>
        </p:txBody>
      </p:sp>
      <p:sp>
        <p:nvSpPr>
          <p:cNvPr id="88" name="Shape 86"/>
          <p:cNvSpPr/>
          <p:nvPr/>
        </p:nvSpPr>
        <p:spPr>
          <a:xfrm>
            <a:off x="5955357" y="2459736"/>
            <a:ext cx="528393" cy="292608"/>
          </a:xfrm>
          <a:prstGeom prst="roundRect">
            <a:avLst>
              <a:gd name="adj" fmla="val 15625"/>
            </a:avLst>
          </a:prstGeom>
          <a:solidFill>
            <a:srgbClr val="F2F2F2"/>
          </a:solidFill>
          <a:ln/>
        </p:spPr>
        <p:txBody>
          <a:bodyPr/>
          <a:p/>
        </p:txBody>
      </p:sp>
      <p:sp>
        <p:nvSpPr>
          <p:cNvPr id="89" name="Text 87"/>
          <p:cNvSpPr txBox="1"/>
          <p:nvPr/>
        </p:nvSpPr>
        <p:spPr>
          <a:xfrm>
            <a:off x="5955357" y="2459736"/>
            <a:ext cx="528393" cy="292608"/>
          </a:xfrm>
          <a:prstGeom prst="rect">
            <a:avLst/>
          </a:prstGeom>
          <a:noFill/>
          <a:ln/>
        </p:spPr>
        <p:txBody>
          <a:bodyPr wrap="square" lIns="38100" tIns="38100" rIns="38100" bIns="38100" rtlCol="0" anchor="ctr"/>
          <a:lstStyle/>
          <a:p>
            <a:pPr algn="ctr" indent="0" marL="0">
              <a:buNone/>
            </a:pPr>
            <a:r>
              <a:rPr lang="en-US" sz="1300" dirty="0">
                <a:solidFill>
                  <a:srgbClr val="9AA5A8"/>
                </a:solidFill>
                <a:latin typeface="Calibri" pitchFamily="34" charset="0"/>
                <a:ea typeface="Calibri" pitchFamily="34" charset="-122"/>
                <a:cs typeface="Calibri" pitchFamily="34" charset="-120"/>
              </a:rPr>
              <a:t>2</a:t>
            </a:r>
            <a:endParaRPr lang="en-US" sz="1300" dirty="0"/>
          </a:p>
        </p:txBody>
      </p:sp>
      <p:sp>
        <p:nvSpPr>
          <p:cNvPr id="90" name="Shape 88"/>
          <p:cNvSpPr/>
          <p:nvPr/>
        </p:nvSpPr>
        <p:spPr>
          <a:xfrm>
            <a:off x="5955357" y="2788920"/>
            <a:ext cx="528393" cy="292608"/>
          </a:xfrm>
          <a:prstGeom prst="roundRect">
            <a:avLst>
              <a:gd name="adj" fmla="val 15625"/>
            </a:avLst>
          </a:prstGeom>
          <a:solidFill>
            <a:srgbClr val="F2F2F2"/>
          </a:solidFill>
          <a:ln/>
        </p:spPr>
        <p:txBody>
          <a:bodyPr/>
          <a:p/>
        </p:txBody>
      </p:sp>
      <p:sp>
        <p:nvSpPr>
          <p:cNvPr id="91" name="Text 89"/>
          <p:cNvSpPr txBox="1"/>
          <p:nvPr/>
        </p:nvSpPr>
        <p:spPr>
          <a:xfrm>
            <a:off x="5955357" y="2788920"/>
            <a:ext cx="528393" cy="292608"/>
          </a:xfrm>
          <a:prstGeom prst="rect">
            <a:avLst/>
          </a:prstGeom>
          <a:noFill/>
          <a:ln/>
        </p:spPr>
        <p:txBody>
          <a:bodyPr wrap="square" lIns="38100" tIns="38100" rIns="38100" bIns="38100" rtlCol="0" anchor="ctr"/>
          <a:lstStyle/>
          <a:p>
            <a:pPr algn="ctr" indent="0" marL="0">
              <a:buNone/>
            </a:pPr>
            <a:r>
              <a:rPr lang="en-US" sz="1300" dirty="0">
                <a:solidFill>
                  <a:srgbClr val="9AA5A8"/>
                </a:solidFill>
                <a:latin typeface="Calibri" pitchFamily="34" charset="0"/>
                <a:ea typeface="Calibri" pitchFamily="34" charset="-122"/>
                <a:cs typeface="Calibri" pitchFamily="34" charset="-120"/>
              </a:rPr>
              <a:t>3</a:t>
            </a:r>
            <a:endParaRPr lang="en-US" sz="1300" dirty="0"/>
          </a:p>
        </p:txBody>
      </p:sp>
      <p:sp>
        <p:nvSpPr>
          <p:cNvPr id="92" name="Text 90"/>
          <p:cNvSpPr txBox="1"/>
          <p:nvPr/>
        </p:nvSpPr>
        <p:spPr>
          <a:xfrm>
            <a:off x="5937069" y="3099816"/>
            <a:ext cx="564969" cy="329184"/>
          </a:xfrm>
          <a:prstGeom prst="rect">
            <a:avLst/>
          </a:prstGeom>
          <a:noFill/>
          <a:ln/>
        </p:spPr>
        <p:txBody>
          <a:bodyPr wrap="square" lIns="0" tIns="0" rIns="0" bIns="0" rtlCol="0" anchor="ctr"/>
          <a:lstStyle/>
          <a:p>
            <a:pPr algn="ctr" indent="0" marL="0">
              <a:buNone/>
            </a:pPr>
            <a:endParaRPr lang="en-US" sz="1300" dirty="0"/>
          </a:p>
        </p:txBody>
      </p:sp>
      <p:sp>
        <p:nvSpPr>
          <p:cNvPr id="93" name="Shape 91"/>
          <p:cNvSpPr/>
          <p:nvPr/>
        </p:nvSpPr>
        <p:spPr>
          <a:xfrm>
            <a:off x="6520325" y="1801368"/>
            <a:ext cx="528393" cy="292608"/>
          </a:xfrm>
          <a:prstGeom prst="roundRect">
            <a:avLst>
              <a:gd name="adj" fmla="val 15625"/>
            </a:avLst>
          </a:prstGeom>
          <a:solidFill>
            <a:srgbClr val="36454F"/>
          </a:solidFill>
          <a:ln/>
        </p:spPr>
        <p:txBody>
          <a:bodyPr/>
          <a:p/>
        </p:txBody>
      </p:sp>
      <p:sp>
        <p:nvSpPr>
          <p:cNvPr id="94" name="Text 92"/>
          <p:cNvSpPr txBox="1"/>
          <p:nvPr/>
        </p:nvSpPr>
        <p:spPr>
          <a:xfrm>
            <a:off x="6520325" y="1801368"/>
            <a:ext cx="528393" cy="292608"/>
          </a:xfrm>
          <a:prstGeom prst="rect">
            <a:avLst/>
          </a:prstGeom>
          <a:noFill/>
          <a:ln/>
        </p:spPr>
        <p:txBody>
          <a:bodyPr wrap="square" lIns="38100" tIns="38100" rIns="38100" bIns="3810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95" name="Shape 93"/>
          <p:cNvSpPr/>
          <p:nvPr/>
        </p:nvSpPr>
        <p:spPr>
          <a:xfrm>
            <a:off x="6520325" y="2130552"/>
            <a:ext cx="528393" cy="292608"/>
          </a:xfrm>
          <a:prstGeom prst="roundRect">
            <a:avLst>
              <a:gd name="adj" fmla="val 15625"/>
            </a:avLst>
          </a:prstGeom>
          <a:solidFill>
            <a:srgbClr val="D7E9E6"/>
          </a:solidFill>
          <a:ln/>
        </p:spPr>
        <p:txBody>
          <a:bodyPr/>
          <a:p/>
        </p:txBody>
      </p:sp>
      <p:sp>
        <p:nvSpPr>
          <p:cNvPr id="96" name="Text 94"/>
          <p:cNvSpPr txBox="1"/>
          <p:nvPr/>
        </p:nvSpPr>
        <p:spPr>
          <a:xfrm>
            <a:off x="6520325" y="2130552"/>
            <a:ext cx="528393" cy="292608"/>
          </a:xfrm>
          <a:prstGeom prst="rect">
            <a:avLst/>
          </a:prstGeom>
          <a:noFill/>
          <a:ln/>
        </p:spPr>
        <p:txBody>
          <a:bodyPr wrap="square" lIns="38100" tIns="38100" rIns="38100" bIns="38100" rtlCol="0" anchor="ctr"/>
          <a:lstStyle/>
          <a:p>
            <a:pPr algn="ctr" indent="0" marL="0">
              <a:buNone/>
            </a:pPr>
            <a:r>
              <a:rPr lang="en-US" sz="1300" dirty="0">
                <a:solidFill>
                  <a:srgbClr val="212121"/>
                </a:solidFill>
                <a:latin typeface="Calibri" pitchFamily="34" charset="0"/>
                <a:ea typeface="Calibri" pitchFamily="34" charset="-122"/>
                <a:cs typeface="Calibri" pitchFamily="34" charset="-120"/>
              </a:rPr>
              <a:t>1</a:t>
            </a:r>
            <a:endParaRPr lang="en-US" sz="1300" dirty="0"/>
          </a:p>
        </p:txBody>
      </p:sp>
      <p:sp>
        <p:nvSpPr>
          <p:cNvPr id="97" name="Shape 95"/>
          <p:cNvSpPr/>
          <p:nvPr/>
        </p:nvSpPr>
        <p:spPr>
          <a:xfrm>
            <a:off x="6520325" y="2459736"/>
            <a:ext cx="528393" cy="292608"/>
          </a:xfrm>
          <a:prstGeom prst="roundRect">
            <a:avLst>
              <a:gd name="adj" fmla="val 15625"/>
            </a:avLst>
          </a:prstGeom>
          <a:solidFill>
            <a:srgbClr val="D7E9E6"/>
          </a:solidFill>
          <a:ln/>
        </p:spPr>
        <p:txBody>
          <a:bodyPr/>
          <a:p/>
        </p:txBody>
      </p:sp>
      <p:sp>
        <p:nvSpPr>
          <p:cNvPr id="98" name="Text 96"/>
          <p:cNvSpPr txBox="1"/>
          <p:nvPr/>
        </p:nvSpPr>
        <p:spPr>
          <a:xfrm>
            <a:off x="6520325" y="2459736"/>
            <a:ext cx="528393" cy="292608"/>
          </a:xfrm>
          <a:prstGeom prst="rect">
            <a:avLst/>
          </a:prstGeom>
          <a:noFill/>
          <a:ln/>
        </p:spPr>
        <p:txBody>
          <a:bodyPr wrap="square" lIns="38100" tIns="38100" rIns="38100" bIns="38100" rtlCol="0" anchor="ctr"/>
          <a:lstStyle/>
          <a:p>
            <a:pPr algn="ctr" indent="0" marL="0">
              <a:buNone/>
            </a:pPr>
            <a:r>
              <a:rPr lang="en-US" sz="1300" dirty="0">
                <a:solidFill>
                  <a:srgbClr val="212121"/>
                </a:solidFill>
                <a:latin typeface="Calibri" pitchFamily="34" charset="0"/>
                <a:ea typeface="Calibri" pitchFamily="34" charset="-122"/>
                <a:cs typeface="Calibri" pitchFamily="34" charset="-120"/>
              </a:rPr>
              <a:t>2</a:t>
            </a:r>
            <a:endParaRPr lang="en-US" sz="1300" dirty="0"/>
          </a:p>
        </p:txBody>
      </p:sp>
      <p:sp>
        <p:nvSpPr>
          <p:cNvPr id="99" name="Shape 97"/>
          <p:cNvSpPr/>
          <p:nvPr/>
        </p:nvSpPr>
        <p:spPr>
          <a:xfrm>
            <a:off x="6520325" y="2788920"/>
            <a:ext cx="528393" cy="292608"/>
          </a:xfrm>
          <a:prstGeom prst="roundRect">
            <a:avLst>
              <a:gd name="adj" fmla="val 15625"/>
            </a:avLst>
          </a:prstGeom>
          <a:solidFill>
            <a:srgbClr val="02C39A"/>
          </a:solidFill>
          <a:ln/>
        </p:spPr>
        <p:txBody>
          <a:bodyPr/>
          <a:p/>
        </p:txBody>
      </p:sp>
      <p:sp>
        <p:nvSpPr>
          <p:cNvPr id="100" name="Text 98"/>
          <p:cNvSpPr txBox="1"/>
          <p:nvPr/>
        </p:nvSpPr>
        <p:spPr>
          <a:xfrm>
            <a:off x="6520325" y="2788920"/>
            <a:ext cx="528393" cy="292608"/>
          </a:xfrm>
          <a:prstGeom prst="rect">
            <a:avLst/>
          </a:prstGeom>
          <a:noFill/>
          <a:ln/>
        </p:spPr>
        <p:txBody>
          <a:bodyPr wrap="square" lIns="38100" tIns="38100" rIns="38100" bIns="38100" rtlCol="0" anchor="ctr"/>
          <a:lstStyle/>
          <a:p>
            <a:pPr algn="ctr" indent="0" marL="0">
              <a:buNone/>
            </a:pPr>
            <a:r>
              <a:rPr lang="en-US" sz="1300" b="1" dirty="0">
                <a:solidFill>
                  <a:srgbClr val="212121"/>
                </a:solidFill>
                <a:latin typeface="Calibri" pitchFamily="34" charset="0"/>
                <a:ea typeface="Calibri" pitchFamily="34" charset="-122"/>
                <a:cs typeface="Calibri" pitchFamily="34" charset="-120"/>
              </a:rPr>
              <a:t>4</a:t>
            </a:r>
            <a:endParaRPr lang="en-US" sz="1300" dirty="0"/>
          </a:p>
        </p:txBody>
      </p:sp>
      <p:sp>
        <p:nvSpPr>
          <p:cNvPr id="101" name="Text 99"/>
          <p:cNvSpPr txBox="1"/>
          <p:nvPr/>
        </p:nvSpPr>
        <p:spPr>
          <a:xfrm>
            <a:off x="6502037" y="3099816"/>
            <a:ext cx="564969" cy="329184"/>
          </a:xfrm>
          <a:prstGeom prst="rect">
            <a:avLst/>
          </a:prstGeom>
          <a:noFill/>
          <a:ln/>
        </p:spPr>
        <p:txBody>
          <a:bodyPr wrap="square" lIns="0" tIns="0" rIns="0" bIns="0" rtlCol="0" anchor="ctr"/>
          <a:lstStyle/>
          <a:p>
            <a:pPr algn="ctr" indent="0" marL="0">
              <a:buNone/>
            </a:pPr>
            <a:r>
              <a:rPr lang="en-US" sz="1300" b="1" dirty="0">
                <a:solidFill>
                  <a:srgbClr val="B5453A"/>
                </a:solidFill>
                <a:latin typeface="Calibri" pitchFamily="34" charset="0"/>
                <a:ea typeface="Calibri" pitchFamily="34" charset="-122"/>
                <a:cs typeface="Calibri" pitchFamily="34" charset="-120"/>
              </a:rPr>
              <a:t>F</a:t>
            </a:r>
            <a:endParaRPr lang="en-US" sz="1300" dirty="0"/>
          </a:p>
        </p:txBody>
      </p:sp>
      <p:sp>
        <p:nvSpPr>
          <p:cNvPr id="102" name="Shape 100"/>
          <p:cNvSpPr/>
          <p:nvPr/>
        </p:nvSpPr>
        <p:spPr>
          <a:xfrm>
            <a:off x="7085294" y="1801368"/>
            <a:ext cx="528393" cy="292608"/>
          </a:xfrm>
          <a:prstGeom prst="roundRect">
            <a:avLst>
              <a:gd name="adj" fmla="val 15625"/>
            </a:avLst>
          </a:prstGeom>
          <a:solidFill>
            <a:srgbClr val="36454F"/>
          </a:solidFill>
          <a:ln/>
        </p:spPr>
        <p:txBody>
          <a:bodyPr/>
          <a:p/>
        </p:txBody>
      </p:sp>
      <p:sp>
        <p:nvSpPr>
          <p:cNvPr id="103" name="Text 101"/>
          <p:cNvSpPr txBox="1"/>
          <p:nvPr/>
        </p:nvSpPr>
        <p:spPr>
          <a:xfrm>
            <a:off x="7085294" y="1801368"/>
            <a:ext cx="528393" cy="292608"/>
          </a:xfrm>
          <a:prstGeom prst="rect">
            <a:avLst/>
          </a:prstGeom>
          <a:noFill/>
          <a:ln/>
        </p:spPr>
        <p:txBody>
          <a:bodyPr wrap="square" lIns="38100" tIns="38100" rIns="38100" bIns="3810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a:t>
            </a:r>
            <a:endParaRPr lang="en-US" sz="1300" dirty="0"/>
          </a:p>
        </p:txBody>
      </p:sp>
      <p:sp>
        <p:nvSpPr>
          <p:cNvPr id="104" name="Shape 102"/>
          <p:cNvSpPr/>
          <p:nvPr/>
        </p:nvSpPr>
        <p:spPr>
          <a:xfrm>
            <a:off x="7085294" y="2130552"/>
            <a:ext cx="528393" cy="292608"/>
          </a:xfrm>
          <a:prstGeom prst="roundRect">
            <a:avLst>
              <a:gd name="adj" fmla="val 15625"/>
            </a:avLst>
          </a:prstGeom>
          <a:solidFill>
            <a:srgbClr val="D7E9E6"/>
          </a:solidFill>
          <a:ln/>
        </p:spPr>
        <p:txBody>
          <a:bodyPr/>
          <a:p/>
        </p:txBody>
      </p:sp>
      <p:sp>
        <p:nvSpPr>
          <p:cNvPr id="105" name="Text 103"/>
          <p:cNvSpPr txBox="1"/>
          <p:nvPr/>
        </p:nvSpPr>
        <p:spPr>
          <a:xfrm>
            <a:off x="7085294" y="2130552"/>
            <a:ext cx="528393" cy="292608"/>
          </a:xfrm>
          <a:prstGeom prst="rect">
            <a:avLst/>
          </a:prstGeom>
          <a:noFill/>
          <a:ln/>
        </p:spPr>
        <p:txBody>
          <a:bodyPr wrap="square" lIns="38100" tIns="38100" rIns="38100" bIns="38100" rtlCol="0" anchor="ctr"/>
          <a:lstStyle/>
          <a:p>
            <a:pPr algn="ctr" indent="0" marL="0">
              <a:buNone/>
            </a:pPr>
            <a:r>
              <a:rPr lang="en-US" sz="1300" dirty="0">
                <a:solidFill>
                  <a:srgbClr val="212121"/>
                </a:solidFill>
                <a:latin typeface="Calibri" pitchFamily="34" charset="0"/>
                <a:ea typeface="Calibri" pitchFamily="34" charset="-122"/>
                <a:cs typeface="Calibri" pitchFamily="34" charset="-120"/>
              </a:rPr>
              <a:t>1</a:t>
            </a:r>
            <a:endParaRPr lang="en-US" sz="1300" dirty="0"/>
          </a:p>
        </p:txBody>
      </p:sp>
      <p:sp>
        <p:nvSpPr>
          <p:cNvPr id="106" name="Shape 104"/>
          <p:cNvSpPr/>
          <p:nvPr/>
        </p:nvSpPr>
        <p:spPr>
          <a:xfrm>
            <a:off x="7085294" y="2459736"/>
            <a:ext cx="528393" cy="292608"/>
          </a:xfrm>
          <a:prstGeom prst="roundRect">
            <a:avLst>
              <a:gd name="adj" fmla="val 15625"/>
            </a:avLst>
          </a:prstGeom>
          <a:solidFill>
            <a:srgbClr val="D7E9E6"/>
          </a:solidFill>
          <a:ln/>
        </p:spPr>
        <p:txBody>
          <a:bodyPr/>
          <a:p/>
        </p:txBody>
      </p:sp>
      <p:sp>
        <p:nvSpPr>
          <p:cNvPr id="107" name="Text 105"/>
          <p:cNvSpPr txBox="1"/>
          <p:nvPr/>
        </p:nvSpPr>
        <p:spPr>
          <a:xfrm>
            <a:off x="7085294" y="2459736"/>
            <a:ext cx="528393" cy="292608"/>
          </a:xfrm>
          <a:prstGeom prst="rect">
            <a:avLst/>
          </a:prstGeom>
          <a:noFill/>
          <a:ln/>
        </p:spPr>
        <p:txBody>
          <a:bodyPr wrap="square" lIns="38100" tIns="38100" rIns="38100" bIns="38100" rtlCol="0" anchor="ctr"/>
          <a:lstStyle/>
          <a:p>
            <a:pPr algn="ctr" indent="0" marL="0">
              <a:buNone/>
            </a:pPr>
            <a:r>
              <a:rPr lang="en-US" sz="1300" dirty="0">
                <a:solidFill>
                  <a:srgbClr val="212121"/>
                </a:solidFill>
                <a:latin typeface="Calibri" pitchFamily="34" charset="0"/>
                <a:ea typeface="Calibri" pitchFamily="34" charset="-122"/>
                <a:cs typeface="Calibri" pitchFamily="34" charset="-120"/>
              </a:rPr>
              <a:t>2</a:t>
            </a:r>
            <a:endParaRPr lang="en-US" sz="1300" dirty="0"/>
          </a:p>
        </p:txBody>
      </p:sp>
      <p:sp>
        <p:nvSpPr>
          <p:cNvPr id="108" name="Shape 106"/>
          <p:cNvSpPr/>
          <p:nvPr/>
        </p:nvSpPr>
        <p:spPr>
          <a:xfrm>
            <a:off x="7085294" y="2788920"/>
            <a:ext cx="528393" cy="292608"/>
          </a:xfrm>
          <a:prstGeom prst="roundRect">
            <a:avLst>
              <a:gd name="adj" fmla="val 15625"/>
            </a:avLst>
          </a:prstGeom>
          <a:solidFill>
            <a:srgbClr val="02C39A"/>
          </a:solidFill>
          <a:ln/>
        </p:spPr>
        <p:txBody>
          <a:bodyPr/>
          <a:p/>
        </p:txBody>
      </p:sp>
      <p:sp>
        <p:nvSpPr>
          <p:cNvPr id="109" name="Text 107"/>
          <p:cNvSpPr txBox="1"/>
          <p:nvPr/>
        </p:nvSpPr>
        <p:spPr>
          <a:xfrm>
            <a:off x="7085294" y="2788920"/>
            <a:ext cx="528393" cy="292608"/>
          </a:xfrm>
          <a:prstGeom prst="rect">
            <a:avLst/>
          </a:prstGeom>
          <a:noFill/>
          <a:ln/>
        </p:spPr>
        <p:txBody>
          <a:bodyPr wrap="square" lIns="38100" tIns="38100" rIns="38100" bIns="38100" rtlCol="0" anchor="ctr"/>
          <a:lstStyle/>
          <a:p>
            <a:pPr algn="ctr" indent="0" marL="0">
              <a:buNone/>
            </a:pPr>
            <a:r>
              <a:rPr lang="en-US" sz="1300" b="1" dirty="0">
                <a:solidFill>
                  <a:srgbClr val="212121"/>
                </a:solidFill>
                <a:latin typeface="Calibri" pitchFamily="34" charset="0"/>
                <a:ea typeface="Calibri" pitchFamily="34" charset="-122"/>
                <a:cs typeface="Calibri" pitchFamily="34" charset="-120"/>
              </a:rPr>
              <a:t>0</a:t>
            </a:r>
            <a:endParaRPr lang="en-US" sz="1300" dirty="0"/>
          </a:p>
        </p:txBody>
      </p:sp>
      <p:sp>
        <p:nvSpPr>
          <p:cNvPr id="110" name="Text 108"/>
          <p:cNvSpPr txBox="1"/>
          <p:nvPr/>
        </p:nvSpPr>
        <p:spPr>
          <a:xfrm>
            <a:off x="7067006" y="3099816"/>
            <a:ext cx="564969" cy="329184"/>
          </a:xfrm>
          <a:prstGeom prst="rect">
            <a:avLst/>
          </a:prstGeom>
          <a:noFill/>
          <a:ln/>
        </p:spPr>
        <p:txBody>
          <a:bodyPr wrap="square" lIns="0" tIns="0" rIns="0" bIns="0" rtlCol="0" anchor="ctr"/>
          <a:lstStyle/>
          <a:p>
            <a:pPr algn="ctr" indent="0" marL="0">
              <a:buNone/>
            </a:pPr>
            <a:r>
              <a:rPr lang="en-US" sz="1300" b="1" dirty="0">
                <a:solidFill>
                  <a:srgbClr val="B5453A"/>
                </a:solidFill>
                <a:latin typeface="Calibri" pitchFamily="34" charset="0"/>
                <a:ea typeface="Calibri" pitchFamily="34" charset="-122"/>
                <a:cs typeface="Calibri" pitchFamily="34" charset="-120"/>
              </a:rPr>
              <a:t>F</a:t>
            </a:r>
            <a:endParaRPr lang="en-US" sz="1300" dirty="0"/>
          </a:p>
        </p:txBody>
      </p:sp>
      <p:sp>
        <p:nvSpPr>
          <p:cNvPr id="111" name="Shape 109"/>
          <p:cNvSpPr/>
          <p:nvPr/>
        </p:nvSpPr>
        <p:spPr>
          <a:xfrm>
            <a:off x="7650262" y="1801368"/>
            <a:ext cx="528393" cy="292608"/>
          </a:xfrm>
          <a:prstGeom prst="roundRect">
            <a:avLst>
              <a:gd name="adj" fmla="val 15625"/>
            </a:avLst>
          </a:prstGeom>
          <a:solidFill>
            <a:srgbClr val="36454F"/>
          </a:solidFill>
          <a:ln/>
        </p:spPr>
        <p:txBody>
          <a:bodyPr/>
          <a:p/>
        </p:txBody>
      </p:sp>
      <p:sp>
        <p:nvSpPr>
          <p:cNvPr id="112" name="Text 110"/>
          <p:cNvSpPr txBox="1"/>
          <p:nvPr/>
        </p:nvSpPr>
        <p:spPr>
          <a:xfrm>
            <a:off x="7650262" y="1801368"/>
            <a:ext cx="528393" cy="292608"/>
          </a:xfrm>
          <a:prstGeom prst="rect">
            <a:avLst/>
          </a:prstGeom>
          <a:noFill/>
          <a:ln/>
        </p:spPr>
        <p:txBody>
          <a:bodyPr wrap="square" lIns="38100" tIns="38100" rIns="38100" bIns="3810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13" name="Shape 111"/>
          <p:cNvSpPr/>
          <p:nvPr/>
        </p:nvSpPr>
        <p:spPr>
          <a:xfrm>
            <a:off x="7650262" y="2130552"/>
            <a:ext cx="528393" cy="292608"/>
          </a:xfrm>
          <a:prstGeom prst="roundRect">
            <a:avLst>
              <a:gd name="adj" fmla="val 15625"/>
            </a:avLst>
          </a:prstGeom>
          <a:solidFill>
            <a:srgbClr val="F2F2F2"/>
          </a:solidFill>
          <a:ln/>
        </p:spPr>
        <p:txBody>
          <a:bodyPr/>
          <a:p/>
        </p:txBody>
      </p:sp>
      <p:sp>
        <p:nvSpPr>
          <p:cNvPr id="114" name="Text 112"/>
          <p:cNvSpPr txBox="1"/>
          <p:nvPr/>
        </p:nvSpPr>
        <p:spPr>
          <a:xfrm>
            <a:off x="7650262" y="2130552"/>
            <a:ext cx="528393" cy="292608"/>
          </a:xfrm>
          <a:prstGeom prst="rect">
            <a:avLst/>
          </a:prstGeom>
          <a:noFill/>
          <a:ln/>
        </p:spPr>
        <p:txBody>
          <a:bodyPr wrap="square" lIns="38100" tIns="38100" rIns="38100" bIns="38100" rtlCol="0" anchor="ctr"/>
          <a:lstStyle/>
          <a:p>
            <a:pPr algn="ctr" indent="0" marL="0">
              <a:buNone/>
            </a:pPr>
            <a:r>
              <a:rPr lang="en-US" sz="1300" dirty="0">
                <a:solidFill>
                  <a:srgbClr val="9AA5A8"/>
                </a:solidFill>
                <a:latin typeface="Calibri" pitchFamily="34" charset="0"/>
                <a:ea typeface="Calibri" pitchFamily="34" charset="-122"/>
                <a:cs typeface="Calibri" pitchFamily="34" charset="-120"/>
              </a:rPr>
              <a:t>1</a:t>
            </a:r>
            <a:endParaRPr lang="en-US" sz="1300" dirty="0"/>
          </a:p>
        </p:txBody>
      </p:sp>
      <p:sp>
        <p:nvSpPr>
          <p:cNvPr id="115" name="Shape 113"/>
          <p:cNvSpPr/>
          <p:nvPr/>
        </p:nvSpPr>
        <p:spPr>
          <a:xfrm>
            <a:off x="7650262" y="2459736"/>
            <a:ext cx="528393" cy="292608"/>
          </a:xfrm>
          <a:prstGeom prst="roundRect">
            <a:avLst>
              <a:gd name="adj" fmla="val 15625"/>
            </a:avLst>
          </a:prstGeom>
          <a:solidFill>
            <a:srgbClr val="F2F2F2"/>
          </a:solidFill>
          <a:ln/>
        </p:spPr>
        <p:txBody>
          <a:bodyPr/>
          <a:p/>
        </p:txBody>
      </p:sp>
      <p:sp>
        <p:nvSpPr>
          <p:cNvPr id="116" name="Text 114"/>
          <p:cNvSpPr txBox="1"/>
          <p:nvPr/>
        </p:nvSpPr>
        <p:spPr>
          <a:xfrm>
            <a:off x="7650262" y="2459736"/>
            <a:ext cx="528393" cy="292608"/>
          </a:xfrm>
          <a:prstGeom prst="rect">
            <a:avLst/>
          </a:prstGeom>
          <a:noFill/>
          <a:ln/>
        </p:spPr>
        <p:txBody>
          <a:bodyPr wrap="square" lIns="38100" tIns="38100" rIns="38100" bIns="38100" rtlCol="0" anchor="ctr"/>
          <a:lstStyle/>
          <a:p>
            <a:pPr algn="ctr" indent="0" marL="0">
              <a:buNone/>
            </a:pPr>
            <a:r>
              <a:rPr lang="en-US" sz="1300" dirty="0">
                <a:solidFill>
                  <a:srgbClr val="9AA5A8"/>
                </a:solidFill>
                <a:latin typeface="Calibri" pitchFamily="34" charset="0"/>
                <a:ea typeface="Calibri" pitchFamily="34" charset="-122"/>
                <a:cs typeface="Calibri" pitchFamily="34" charset="-120"/>
              </a:rPr>
              <a:t>2</a:t>
            </a:r>
            <a:endParaRPr lang="en-US" sz="1300" dirty="0"/>
          </a:p>
        </p:txBody>
      </p:sp>
      <p:sp>
        <p:nvSpPr>
          <p:cNvPr id="117" name="Shape 115"/>
          <p:cNvSpPr/>
          <p:nvPr/>
        </p:nvSpPr>
        <p:spPr>
          <a:xfrm>
            <a:off x="7650262" y="2788920"/>
            <a:ext cx="528393" cy="292608"/>
          </a:xfrm>
          <a:prstGeom prst="roundRect">
            <a:avLst>
              <a:gd name="adj" fmla="val 15625"/>
            </a:avLst>
          </a:prstGeom>
          <a:solidFill>
            <a:srgbClr val="F2F2F2"/>
          </a:solidFill>
          <a:ln/>
        </p:spPr>
        <p:txBody>
          <a:bodyPr/>
          <a:p/>
        </p:txBody>
      </p:sp>
      <p:sp>
        <p:nvSpPr>
          <p:cNvPr id="118" name="Text 116"/>
          <p:cNvSpPr txBox="1"/>
          <p:nvPr/>
        </p:nvSpPr>
        <p:spPr>
          <a:xfrm>
            <a:off x="7650262" y="2788920"/>
            <a:ext cx="528393" cy="292608"/>
          </a:xfrm>
          <a:prstGeom prst="rect">
            <a:avLst/>
          </a:prstGeom>
          <a:noFill/>
          <a:ln/>
        </p:spPr>
        <p:txBody>
          <a:bodyPr wrap="square" lIns="38100" tIns="38100" rIns="38100" bIns="38100" rtlCol="0" anchor="ctr"/>
          <a:lstStyle/>
          <a:p>
            <a:pPr algn="ctr" indent="0" marL="0">
              <a:buNone/>
            </a:pPr>
            <a:r>
              <a:rPr lang="en-US" sz="1300" dirty="0">
                <a:solidFill>
                  <a:srgbClr val="9AA5A8"/>
                </a:solidFill>
                <a:latin typeface="Calibri" pitchFamily="34" charset="0"/>
                <a:ea typeface="Calibri" pitchFamily="34" charset="-122"/>
                <a:cs typeface="Calibri" pitchFamily="34" charset="-120"/>
              </a:rPr>
              <a:t>0</a:t>
            </a:r>
            <a:endParaRPr lang="en-US" sz="1300" dirty="0"/>
          </a:p>
        </p:txBody>
      </p:sp>
      <p:sp>
        <p:nvSpPr>
          <p:cNvPr id="119" name="Text 117"/>
          <p:cNvSpPr txBox="1"/>
          <p:nvPr/>
        </p:nvSpPr>
        <p:spPr>
          <a:xfrm>
            <a:off x="7631974" y="3099816"/>
            <a:ext cx="564969" cy="329184"/>
          </a:xfrm>
          <a:prstGeom prst="rect">
            <a:avLst/>
          </a:prstGeom>
          <a:noFill/>
          <a:ln/>
        </p:spPr>
        <p:txBody>
          <a:bodyPr wrap="square" lIns="0" tIns="0" rIns="0" bIns="0" rtlCol="0" anchor="ctr"/>
          <a:lstStyle/>
          <a:p>
            <a:pPr algn="ctr" indent="0" marL="0">
              <a:buNone/>
            </a:pPr>
            <a:endParaRPr lang="en-US" sz="1300" dirty="0"/>
          </a:p>
        </p:txBody>
      </p:sp>
      <p:sp>
        <p:nvSpPr>
          <p:cNvPr id="120" name="Shape 118"/>
          <p:cNvSpPr/>
          <p:nvPr/>
        </p:nvSpPr>
        <p:spPr>
          <a:xfrm>
            <a:off x="8215231" y="1801368"/>
            <a:ext cx="528393" cy="292608"/>
          </a:xfrm>
          <a:prstGeom prst="roundRect">
            <a:avLst>
              <a:gd name="adj" fmla="val 15625"/>
            </a:avLst>
          </a:prstGeom>
          <a:solidFill>
            <a:srgbClr val="36454F"/>
          </a:solidFill>
          <a:ln/>
        </p:spPr>
        <p:txBody>
          <a:bodyPr/>
          <a:p/>
        </p:txBody>
      </p:sp>
      <p:sp>
        <p:nvSpPr>
          <p:cNvPr id="121" name="Text 119"/>
          <p:cNvSpPr txBox="1"/>
          <p:nvPr/>
        </p:nvSpPr>
        <p:spPr>
          <a:xfrm>
            <a:off x="8215231" y="1801368"/>
            <a:ext cx="528393" cy="292608"/>
          </a:xfrm>
          <a:prstGeom prst="rect">
            <a:avLst/>
          </a:prstGeom>
          <a:noFill/>
          <a:ln/>
        </p:spPr>
        <p:txBody>
          <a:bodyPr wrap="square" lIns="38100" tIns="38100" rIns="38100" bIns="3810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a:t>
            </a:r>
            <a:endParaRPr lang="en-US" sz="1300" dirty="0"/>
          </a:p>
        </p:txBody>
      </p:sp>
      <p:sp>
        <p:nvSpPr>
          <p:cNvPr id="122" name="Shape 120"/>
          <p:cNvSpPr/>
          <p:nvPr/>
        </p:nvSpPr>
        <p:spPr>
          <a:xfrm>
            <a:off x="8215231" y="2130552"/>
            <a:ext cx="528393" cy="292608"/>
          </a:xfrm>
          <a:prstGeom prst="roundRect">
            <a:avLst>
              <a:gd name="adj" fmla="val 15625"/>
            </a:avLst>
          </a:prstGeom>
          <a:solidFill>
            <a:srgbClr val="F2F2F2"/>
          </a:solidFill>
          <a:ln/>
        </p:spPr>
        <p:txBody>
          <a:bodyPr/>
          <a:p/>
        </p:txBody>
      </p:sp>
      <p:sp>
        <p:nvSpPr>
          <p:cNvPr id="123" name="Text 121"/>
          <p:cNvSpPr txBox="1"/>
          <p:nvPr/>
        </p:nvSpPr>
        <p:spPr>
          <a:xfrm>
            <a:off x="8215231" y="2130552"/>
            <a:ext cx="528393" cy="292608"/>
          </a:xfrm>
          <a:prstGeom prst="rect">
            <a:avLst/>
          </a:prstGeom>
          <a:noFill/>
          <a:ln/>
        </p:spPr>
        <p:txBody>
          <a:bodyPr wrap="square" lIns="38100" tIns="38100" rIns="38100" bIns="38100" rtlCol="0" anchor="ctr"/>
          <a:lstStyle/>
          <a:p>
            <a:pPr algn="ctr" indent="0" marL="0">
              <a:buNone/>
            </a:pPr>
            <a:r>
              <a:rPr lang="en-US" sz="1300" dirty="0">
                <a:solidFill>
                  <a:srgbClr val="9AA5A8"/>
                </a:solidFill>
                <a:latin typeface="Calibri" pitchFamily="34" charset="0"/>
                <a:ea typeface="Calibri" pitchFamily="34" charset="-122"/>
                <a:cs typeface="Calibri" pitchFamily="34" charset="-120"/>
              </a:rPr>
              <a:t>1</a:t>
            </a:r>
            <a:endParaRPr lang="en-US" sz="1300" dirty="0"/>
          </a:p>
        </p:txBody>
      </p:sp>
      <p:sp>
        <p:nvSpPr>
          <p:cNvPr id="124" name="Shape 122"/>
          <p:cNvSpPr/>
          <p:nvPr/>
        </p:nvSpPr>
        <p:spPr>
          <a:xfrm>
            <a:off x="8215231" y="2459736"/>
            <a:ext cx="528393" cy="292608"/>
          </a:xfrm>
          <a:prstGeom prst="roundRect">
            <a:avLst>
              <a:gd name="adj" fmla="val 15625"/>
            </a:avLst>
          </a:prstGeom>
          <a:solidFill>
            <a:srgbClr val="F2F2F2"/>
          </a:solidFill>
          <a:ln/>
        </p:spPr>
        <p:txBody>
          <a:bodyPr/>
          <a:p/>
        </p:txBody>
      </p:sp>
      <p:sp>
        <p:nvSpPr>
          <p:cNvPr id="125" name="Text 123"/>
          <p:cNvSpPr txBox="1"/>
          <p:nvPr/>
        </p:nvSpPr>
        <p:spPr>
          <a:xfrm>
            <a:off x="8215231" y="2459736"/>
            <a:ext cx="528393" cy="292608"/>
          </a:xfrm>
          <a:prstGeom prst="rect">
            <a:avLst/>
          </a:prstGeom>
          <a:noFill/>
          <a:ln/>
        </p:spPr>
        <p:txBody>
          <a:bodyPr wrap="square" lIns="38100" tIns="38100" rIns="38100" bIns="38100" rtlCol="0" anchor="ctr"/>
          <a:lstStyle/>
          <a:p>
            <a:pPr algn="ctr" indent="0" marL="0">
              <a:buNone/>
            </a:pPr>
            <a:r>
              <a:rPr lang="en-US" sz="1300" dirty="0">
                <a:solidFill>
                  <a:srgbClr val="9AA5A8"/>
                </a:solidFill>
                <a:latin typeface="Calibri" pitchFamily="34" charset="0"/>
                <a:ea typeface="Calibri" pitchFamily="34" charset="-122"/>
                <a:cs typeface="Calibri" pitchFamily="34" charset="-120"/>
              </a:rPr>
              <a:t>2</a:t>
            </a:r>
            <a:endParaRPr lang="en-US" sz="1300" dirty="0"/>
          </a:p>
        </p:txBody>
      </p:sp>
      <p:sp>
        <p:nvSpPr>
          <p:cNvPr id="126" name="Shape 124"/>
          <p:cNvSpPr/>
          <p:nvPr/>
        </p:nvSpPr>
        <p:spPr>
          <a:xfrm>
            <a:off x="8215231" y="2788920"/>
            <a:ext cx="528393" cy="292608"/>
          </a:xfrm>
          <a:prstGeom prst="roundRect">
            <a:avLst>
              <a:gd name="adj" fmla="val 15625"/>
            </a:avLst>
          </a:prstGeom>
          <a:solidFill>
            <a:srgbClr val="F2F2F2"/>
          </a:solidFill>
          <a:ln/>
        </p:spPr>
        <p:txBody>
          <a:bodyPr/>
          <a:p/>
        </p:txBody>
      </p:sp>
      <p:sp>
        <p:nvSpPr>
          <p:cNvPr id="127" name="Text 125"/>
          <p:cNvSpPr txBox="1"/>
          <p:nvPr/>
        </p:nvSpPr>
        <p:spPr>
          <a:xfrm>
            <a:off x="8215231" y="2788920"/>
            <a:ext cx="528393" cy="292608"/>
          </a:xfrm>
          <a:prstGeom prst="rect">
            <a:avLst/>
          </a:prstGeom>
          <a:noFill/>
          <a:ln/>
        </p:spPr>
        <p:txBody>
          <a:bodyPr wrap="square" lIns="38100" tIns="38100" rIns="38100" bIns="38100" rtlCol="0" anchor="ctr"/>
          <a:lstStyle/>
          <a:p>
            <a:pPr algn="ctr" indent="0" marL="0">
              <a:buNone/>
            </a:pPr>
            <a:r>
              <a:rPr lang="en-US" sz="1300" dirty="0">
                <a:solidFill>
                  <a:srgbClr val="9AA5A8"/>
                </a:solidFill>
                <a:latin typeface="Calibri" pitchFamily="34" charset="0"/>
                <a:ea typeface="Calibri" pitchFamily="34" charset="-122"/>
                <a:cs typeface="Calibri" pitchFamily="34" charset="-120"/>
              </a:rPr>
              <a:t>0</a:t>
            </a:r>
            <a:endParaRPr lang="en-US" sz="1300" dirty="0"/>
          </a:p>
        </p:txBody>
      </p:sp>
      <p:sp>
        <p:nvSpPr>
          <p:cNvPr id="128" name="Text 126"/>
          <p:cNvSpPr txBox="1"/>
          <p:nvPr/>
        </p:nvSpPr>
        <p:spPr>
          <a:xfrm>
            <a:off x="8196943" y="3099816"/>
            <a:ext cx="564969" cy="329184"/>
          </a:xfrm>
          <a:prstGeom prst="rect">
            <a:avLst/>
          </a:prstGeom>
          <a:noFill/>
          <a:ln/>
        </p:spPr>
        <p:txBody>
          <a:bodyPr wrap="square" lIns="0" tIns="0" rIns="0" bIns="0" rtlCol="0" anchor="ctr"/>
          <a:lstStyle/>
          <a:p>
            <a:pPr algn="ctr" indent="0" marL="0">
              <a:buNone/>
            </a:pPr>
            <a:endParaRPr lang="en-US" sz="1300" dirty="0"/>
          </a:p>
        </p:txBody>
      </p:sp>
      <p:sp>
        <p:nvSpPr>
          <p:cNvPr id="129" name="Shape 127"/>
          <p:cNvSpPr/>
          <p:nvPr/>
        </p:nvSpPr>
        <p:spPr>
          <a:xfrm>
            <a:off x="8780199" y="1801368"/>
            <a:ext cx="528393" cy="292608"/>
          </a:xfrm>
          <a:prstGeom prst="roundRect">
            <a:avLst>
              <a:gd name="adj" fmla="val 15625"/>
            </a:avLst>
          </a:prstGeom>
          <a:solidFill>
            <a:srgbClr val="36454F"/>
          </a:solidFill>
          <a:ln/>
        </p:spPr>
        <p:txBody>
          <a:bodyPr/>
          <a:p/>
        </p:txBody>
      </p:sp>
      <p:sp>
        <p:nvSpPr>
          <p:cNvPr id="130" name="Text 128"/>
          <p:cNvSpPr txBox="1"/>
          <p:nvPr/>
        </p:nvSpPr>
        <p:spPr>
          <a:xfrm>
            <a:off x="8780199" y="1801368"/>
            <a:ext cx="528393" cy="292608"/>
          </a:xfrm>
          <a:prstGeom prst="rect">
            <a:avLst/>
          </a:prstGeom>
          <a:noFill/>
          <a:ln/>
        </p:spPr>
        <p:txBody>
          <a:bodyPr wrap="square" lIns="38100" tIns="38100" rIns="38100" bIns="3810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131" name="Shape 129"/>
          <p:cNvSpPr/>
          <p:nvPr/>
        </p:nvSpPr>
        <p:spPr>
          <a:xfrm>
            <a:off x="8780199" y="2130552"/>
            <a:ext cx="528393" cy="292608"/>
          </a:xfrm>
          <a:prstGeom prst="roundRect">
            <a:avLst>
              <a:gd name="adj" fmla="val 15625"/>
            </a:avLst>
          </a:prstGeom>
          <a:solidFill>
            <a:srgbClr val="F2F2F2"/>
          </a:solidFill>
          <a:ln/>
        </p:spPr>
        <p:txBody>
          <a:bodyPr/>
          <a:p/>
        </p:txBody>
      </p:sp>
      <p:sp>
        <p:nvSpPr>
          <p:cNvPr id="132" name="Text 130"/>
          <p:cNvSpPr txBox="1"/>
          <p:nvPr/>
        </p:nvSpPr>
        <p:spPr>
          <a:xfrm>
            <a:off x="8780199" y="2130552"/>
            <a:ext cx="528393" cy="292608"/>
          </a:xfrm>
          <a:prstGeom prst="rect">
            <a:avLst/>
          </a:prstGeom>
          <a:noFill/>
          <a:ln/>
        </p:spPr>
        <p:txBody>
          <a:bodyPr wrap="square" lIns="38100" tIns="38100" rIns="38100" bIns="38100" rtlCol="0" anchor="ctr"/>
          <a:lstStyle/>
          <a:p>
            <a:pPr algn="ctr" indent="0" marL="0">
              <a:buNone/>
            </a:pPr>
            <a:r>
              <a:rPr lang="en-US" sz="1300" dirty="0">
                <a:solidFill>
                  <a:srgbClr val="9AA5A8"/>
                </a:solidFill>
                <a:latin typeface="Calibri" pitchFamily="34" charset="0"/>
                <a:ea typeface="Calibri" pitchFamily="34" charset="-122"/>
                <a:cs typeface="Calibri" pitchFamily="34" charset="-120"/>
              </a:rPr>
              <a:t>1</a:t>
            </a:r>
            <a:endParaRPr lang="en-US" sz="1300" dirty="0"/>
          </a:p>
        </p:txBody>
      </p:sp>
      <p:sp>
        <p:nvSpPr>
          <p:cNvPr id="133" name="Shape 131"/>
          <p:cNvSpPr/>
          <p:nvPr/>
        </p:nvSpPr>
        <p:spPr>
          <a:xfrm>
            <a:off x="8780199" y="2459736"/>
            <a:ext cx="528393" cy="292608"/>
          </a:xfrm>
          <a:prstGeom prst="roundRect">
            <a:avLst>
              <a:gd name="adj" fmla="val 15625"/>
            </a:avLst>
          </a:prstGeom>
          <a:solidFill>
            <a:srgbClr val="F2F2F2"/>
          </a:solidFill>
          <a:ln/>
        </p:spPr>
        <p:txBody>
          <a:bodyPr/>
          <a:p/>
        </p:txBody>
      </p:sp>
      <p:sp>
        <p:nvSpPr>
          <p:cNvPr id="134" name="Text 132"/>
          <p:cNvSpPr txBox="1"/>
          <p:nvPr/>
        </p:nvSpPr>
        <p:spPr>
          <a:xfrm>
            <a:off x="8780199" y="2459736"/>
            <a:ext cx="528393" cy="292608"/>
          </a:xfrm>
          <a:prstGeom prst="rect">
            <a:avLst/>
          </a:prstGeom>
          <a:noFill/>
          <a:ln/>
        </p:spPr>
        <p:txBody>
          <a:bodyPr wrap="square" lIns="38100" tIns="38100" rIns="38100" bIns="38100" rtlCol="0" anchor="ctr"/>
          <a:lstStyle/>
          <a:p>
            <a:pPr algn="ctr" indent="0" marL="0">
              <a:buNone/>
            </a:pPr>
            <a:r>
              <a:rPr lang="en-US" sz="1300" dirty="0">
                <a:solidFill>
                  <a:srgbClr val="9AA5A8"/>
                </a:solidFill>
                <a:latin typeface="Calibri" pitchFamily="34" charset="0"/>
                <a:ea typeface="Calibri" pitchFamily="34" charset="-122"/>
                <a:cs typeface="Calibri" pitchFamily="34" charset="-120"/>
              </a:rPr>
              <a:t>2</a:t>
            </a:r>
            <a:endParaRPr lang="en-US" sz="1300" dirty="0"/>
          </a:p>
        </p:txBody>
      </p:sp>
      <p:sp>
        <p:nvSpPr>
          <p:cNvPr id="135" name="Shape 133"/>
          <p:cNvSpPr/>
          <p:nvPr/>
        </p:nvSpPr>
        <p:spPr>
          <a:xfrm>
            <a:off x="8780199" y="2788920"/>
            <a:ext cx="528393" cy="292608"/>
          </a:xfrm>
          <a:prstGeom prst="roundRect">
            <a:avLst>
              <a:gd name="adj" fmla="val 15625"/>
            </a:avLst>
          </a:prstGeom>
          <a:solidFill>
            <a:srgbClr val="F2F2F2"/>
          </a:solidFill>
          <a:ln/>
        </p:spPr>
        <p:txBody>
          <a:bodyPr/>
          <a:p/>
        </p:txBody>
      </p:sp>
      <p:sp>
        <p:nvSpPr>
          <p:cNvPr id="136" name="Text 134"/>
          <p:cNvSpPr txBox="1"/>
          <p:nvPr/>
        </p:nvSpPr>
        <p:spPr>
          <a:xfrm>
            <a:off x="8780199" y="2788920"/>
            <a:ext cx="528393" cy="292608"/>
          </a:xfrm>
          <a:prstGeom prst="rect">
            <a:avLst/>
          </a:prstGeom>
          <a:noFill/>
          <a:ln/>
        </p:spPr>
        <p:txBody>
          <a:bodyPr wrap="square" lIns="38100" tIns="38100" rIns="38100" bIns="38100" rtlCol="0" anchor="ctr"/>
          <a:lstStyle/>
          <a:p>
            <a:pPr algn="ctr" indent="0" marL="0">
              <a:buNone/>
            </a:pPr>
            <a:r>
              <a:rPr lang="en-US" sz="1300" dirty="0">
                <a:solidFill>
                  <a:srgbClr val="9AA5A8"/>
                </a:solidFill>
                <a:latin typeface="Calibri" pitchFamily="34" charset="0"/>
                <a:ea typeface="Calibri" pitchFamily="34" charset="-122"/>
                <a:cs typeface="Calibri" pitchFamily="34" charset="-120"/>
              </a:rPr>
              <a:t>0</a:t>
            </a:r>
            <a:endParaRPr lang="en-US" sz="1300" dirty="0"/>
          </a:p>
        </p:txBody>
      </p:sp>
      <p:sp>
        <p:nvSpPr>
          <p:cNvPr id="137" name="Text 135"/>
          <p:cNvSpPr txBox="1"/>
          <p:nvPr/>
        </p:nvSpPr>
        <p:spPr>
          <a:xfrm>
            <a:off x="8761911" y="3099816"/>
            <a:ext cx="564969" cy="329184"/>
          </a:xfrm>
          <a:prstGeom prst="rect">
            <a:avLst/>
          </a:prstGeom>
          <a:noFill/>
          <a:ln/>
        </p:spPr>
        <p:txBody>
          <a:bodyPr wrap="square" lIns="0" tIns="0" rIns="0" bIns="0" rtlCol="0" anchor="ctr"/>
          <a:lstStyle/>
          <a:p>
            <a:pPr algn="ctr" indent="0" marL="0">
              <a:buNone/>
            </a:pPr>
            <a:endParaRPr lang="en-US" sz="1300" dirty="0"/>
          </a:p>
        </p:txBody>
      </p:sp>
      <p:sp>
        <p:nvSpPr>
          <p:cNvPr id="138" name="Shape 136"/>
          <p:cNvSpPr/>
          <p:nvPr/>
        </p:nvSpPr>
        <p:spPr>
          <a:xfrm>
            <a:off x="9555480" y="1783080"/>
            <a:ext cx="2103120" cy="1645920"/>
          </a:xfrm>
          <a:prstGeom prst="roundRect">
            <a:avLst>
              <a:gd name="adj" fmla="val 3333"/>
            </a:avLst>
          </a:prstGeom>
          <a:solidFill>
            <a:srgbClr val="36454F"/>
          </a:solidFill>
          <a:ln/>
        </p:spPr>
        <p:txBody>
          <a:bodyPr/>
          <a:p/>
        </p:txBody>
      </p:sp>
      <p:sp>
        <p:nvSpPr>
          <p:cNvPr id="139" name="Text 137"/>
          <p:cNvSpPr txBox="1"/>
          <p:nvPr/>
        </p:nvSpPr>
        <p:spPr>
          <a:xfrm>
            <a:off x="9692640" y="1783080"/>
            <a:ext cx="1828800" cy="1645920"/>
          </a:xfrm>
          <a:prstGeom prst="rect">
            <a:avLst/>
          </a:prstGeom>
          <a:noFill/>
          <a:ln/>
        </p:spPr>
        <p:txBody>
          <a:bodyPr wrap="square" lIns="0" tIns="0" rIns="0" bIns="0" rtlCol="0" anchor="ctr"/>
          <a:lstStyle/>
          <a:p>
            <a:pPr algn="ctr" indent="0" marL="0">
              <a:buNone/>
            </a:pPr>
            <a:r>
              <a:rPr lang="en-US" sz="3400" b="1" dirty="0">
                <a:solidFill>
                  <a:srgbClr val="02C39A"/>
                </a:solidFill>
                <a:latin typeface="Cambria" pitchFamily="34" charset="0"/>
                <a:ea typeface="Cambria" pitchFamily="34" charset="-122"/>
                <a:cs typeface="Cambria" pitchFamily="34" charset="-120"/>
              </a:rPr>
              <a:t>7</a:t>
            </a:r>
            <a:endParaRPr lang="en-US" sz="1400" dirty="0"/>
          </a:p>
          <a:p>
            <a:pPr algn="ctr" indent="0" marL="0">
              <a:buNone/>
            </a:pPr>
            <a:r>
              <a:rPr lang="en-US" sz="1250" dirty="0">
                <a:solidFill>
                  <a:srgbClr val="F2F2F2"/>
                </a:solidFill>
                <a:latin typeface="Calibri" pitchFamily="34" charset="0"/>
                <a:ea typeface="Calibri" pitchFamily="34" charset="-122"/>
                <a:cs typeface="Calibri" pitchFamily="34" charset="-120"/>
              </a:rPr>
              <a:t>faults with OPT (minimum)</a:t>
            </a:r>
            <a:endParaRPr lang="en-US" sz="1400" dirty="0"/>
          </a:p>
        </p:txBody>
      </p:sp>
      <p:sp>
        <p:nvSpPr>
          <p:cNvPr id="140" name="Text 138"/>
          <p:cNvSpPr txBox="1"/>
          <p:nvPr/>
        </p:nvSpPr>
        <p:spPr>
          <a:xfrm>
            <a:off x="548640" y="3931920"/>
            <a:ext cx="822960" cy="411480"/>
          </a:xfrm>
          <a:prstGeom prst="rect">
            <a:avLst/>
          </a:prstGeom>
          <a:noFill/>
          <a:ln/>
        </p:spPr>
        <p:txBody>
          <a:bodyPr wrap="square" lIns="0" tIns="0" rIns="0" bIns="0" rtlCol="0" anchor="ctr"/>
          <a:lstStyle/>
          <a:p>
            <a:pPr indent="0" marL="0">
              <a:buNone/>
            </a:pPr>
            <a:r>
              <a:rPr lang="en-US" sz="1400" b="1" dirty="0">
                <a:solidFill>
                  <a:srgbClr val="36454F"/>
                </a:solidFill>
                <a:latin typeface="Calibri" pitchFamily="34" charset="0"/>
                <a:ea typeface="Calibri" pitchFamily="34" charset="-122"/>
                <a:cs typeface="Calibri" pitchFamily="34" charset="-120"/>
              </a:rPr>
              <a:t>OPT</a:t>
            </a:r>
            <a:endParaRPr lang="en-US" sz="1400" dirty="0"/>
          </a:p>
        </p:txBody>
      </p:sp>
      <p:sp>
        <p:nvSpPr>
          <p:cNvPr id="141" name="Shape 139"/>
          <p:cNvSpPr/>
          <p:nvPr/>
        </p:nvSpPr>
        <p:spPr>
          <a:xfrm>
            <a:off x="1417320" y="3986784"/>
            <a:ext cx="2377440" cy="310896"/>
          </a:xfrm>
          <a:prstGeom prst="rect">
            <a:avLst/>
          </a:prstGeom>
          <a:solidFill>
            <a:srgbClr val="02C39A"/>
          </a:solidFill>
          <a:ln/>
        </p:spPr>
        <p:txBody>
          <a:bodyPr/>
          <a:p/>
        </p:txBody>
      </p:sp>
      <p:sp>
        <p:nvSpPr>
          <p:cNvPr id="142" name="Text 140"/>
          <p:cNvSpPr txBox="1"/>
          <p:nvPr/>
        </p:nvSpPr>
        <p:spPr>
          <a:xfrm>
            <a:off x="3886200" y="3931920"/>
            <a:ext cx="1280160" cy="411480"/>
          </a:xfrm>
          <a:prstGeom prst="rect">
            <a:avLst/>
          </a:prstGeom>
          <a:noFill/>
          <a:ln/>
        </p:spPr>
        <p:txBody>
          <a:bodyPr wrap="square" lIns="0" tIns="0" rIns="0" bIns="0" rtlCol="0" anchor="ctr"/>
          <a:lstStyle/>
          <a:p>
            <a:pPr indent="0" marL="0">
              <a:buNone/>
            </a:pPr>
            <a:r>
              <a:rPr lang="en-US" sz="1300" b="1" dirty="0">
                <a:solidFill>
                  <a:srgbClr val="36454F"/>
                </a:solidFill>
                <a:latin typeface="Calibri" pitchFamily="34" charset="0"/>
                <a:ea typeface="Calibri" pitchFamily="34" charset="-122"/>
                <a:cs typeface="Calibri" pitchFamily="34" charset="-120"/>
              </a:rPr>
              <a:t>7 faults</a:t>
            </a:r>
            <a:endParaRPr lang="en-US" sz="1300" dirty="0"/>
          </a:p>
        </p:txBody>
      </p:sp>
      <p:sp>
        <p:nvSpPr>
          <p:cNvPr id="143" name="Text 141"/>
          <p:cNvSpPr txBox="1"/>
          <p:nvPr/>
        </p:nvSpPr>
        <p:spPr>
          <a:xfrm>
            <a:off x="548640" y="4434840"/>
            <a:ext cx="822960" cy="411480"/>
          </a:xfrm>
          <a:prstGeom prst="rect">
            <a:avLst/>
          </a:prstGeom>
          <a:noFill/>
          <a:ln/>
        </p:spPr>
        <p:txBody>
          <a:bodyPr wrap="square" lIns="0" tIns="0" rIns="0" bIns="0" rtlCol="0" anchor="ctr"/>
          <a:lstStyle/>
          <a:p>
            <a:pPr indent="0" marL="0">
              <a:buNone/>
            </a:pPr>
            <a:r>
              <a:rPr lang="en-US" sz="1400" b="1" dirty="0">
                <a:solidFill>
                  <a:srgbClr val="36454F"/>
                </a:solidFill>
                <a:latin typeface="Calibri" pitchFamily="34" charset="0"/>
                <a:ea typeface="Calibri" pitchFamily="34" charset="-122"/>
                <a:cs typeface="Calibri" pitchFamily="34" charset="-120"/>
              </a:rPr>
              <a:t>LRU</a:t>
            </a:r>
            <a:endParaRPr lang="en-US" sz="1400" dirty="0"/>
          </a:p>
        </p:txBody>
      </p:sp>
      <p:sp>
        <p:nvSpPr>
          <p:cNvPr id="144" name="Shape 142"/>
          <p:cNvSpPr/>
          <p:nvPr/>
        </p:nvSpPr>
        <p:spPr>
          <a:xfrm>
            <a:off x="1417320" y="4489704"/>
            <a:ext cx="3056709" cy="310896"/>
          </a:xfrm>
          <a:prstGeom prst="rect">
            <a:avLst/>
          </a:prstGeom>
          <a:solidFill>
            <a:srgbClr val="028090"/>
          </a:solidFill>
          <a:ln/>
        </p:spPr>
        <p:txBody>
          <a:bodyPr/>
          <a:p/>
        </p:txBody>
      </p:sp>
      <p:sp>
        <p:nvSpPr>
          <p:cNvPr id="145" name="Text 143"/>
          <p:cNvSpPr txBox="1"/>
          <p:nvPr/>
        </p:nvSpPr>
        <p:spPr>
          <a:xfrm>
            <a:off x="4565469" y="4434840"/>
            <a:ext cx="1280160" cy="411480"/>
          </a:xfrm>
          <a:prstGeom prst="rect">
            <a:avLst/>
          </a:prstGeom>
          <a:noFill/>
          <a:ln/>
        </p:spPr>
        <p:txBody>
          <a:bodyPr wrap="square" lIns="0" tIns="0" rIns="0" bIns="0" rtlCol="0" anchor="ctr"/>
          <a:lstStyle/>
          <a:p>
            <a:pPr indent="0" marL="0">
              <a:buNone/>
            </a:pPr>
            <a:r>
              <a:rPr lang="en-US" sz="1300" b="1" dirty="0">
                <a:solidFill>
                  <a:srgbClr val="36454F"/>
                </a:solidFill>
                <a:latin typeface="Calibri" pitchFamily="34" charset="0"/>
                <a:ea typeface="Calibri" pitchFamily="34" charset="-122"/>
                <a:cs typeface="Calibri" pitchFamily="34" charset="-120"/>
              </a:rPr>
              <a:t>9 faults</a:t>
            </a:r>
            <a:endParaRPr lang="en-US" sz="1300" dirty="0"/>
          </a:p>
        </p:txBody>
      </p:sp>
      <p:sp>
        <p:nvSpPr>
          <p:cNvPr id="146" name="Text 144"/>
          <p:cNvSpPr txBox="1"/>
          <p:nvPr/>
        </p:nvSpPr>
        <p:spPr>
          <a:xfrm>
            <a:off x="548640" y="4937760"/>
            <a:ext cx="822960" cy="411480"/>
          </a:xfrm>
          <a:prstGeom prst="rect">
            <a:avLst/>
          </a:prstGeom>
          <a:noFill/>
          <a:ln/>
        </p:spPr>
        <p:txBody>
          <a:bodyPr wrap="square" lIns="0" tIns="0" rIns="0" bIns="0" rtlCol="0" anchor="ctr"/>
          <a:lstStyle/>
          <a:p>
            <a:pPr indent="0" marL="0">
              <a:buNone/>
            </a:pPr>
            <a:r>
              <a:rPr lang="en-US" sz="1400" b="1" dirty="0">
                <a:solidFill>
                  <a:srgbClr val="36454F"/>
                </a:solidFill>
                <a:latin typeface="Calibri" pitchFamily="34" charset="0"/>
                <a:ea typeface="Calibri" pitchFamily="34" charset="-122"/>
                <a:cs typeface="Calibri" pitchFamily="34" charset="-120"/>
              </a:rPr>
              <a:t>FIFO</a:t>
            </a:r>
            <a:endParaRPr lang="en-US" sz="1400" dirty="0"/>
          </a:p>
        </p:txBody>
      </p:sp>
      <p:sp>
        <p:nvSpPr>
          <p:cNvPr id="147" name="Shape 145"/>
          <p:cNvSpPr/>
          <p:nvPr/>
        </p:nvSpPr>
        <p:spPr>
          <a:xfrm>
            <a:off x="1417320" y="4992624"/>
            <a:ext cx="3735977" cy="310896"/>
          </a:xfrm>
          <a:prstGeom prst="rect">
            <a:avLst/>
          </a:prstGeom>
          <a:solidFill>
            <a:srgbClr val="50808E"/>
          </a:solidFill>
          <a:ln/>
        </p:spPr>
        <p:txBody>
          <a:bodyPr/>
          <a:p/>
        </p:txBody>
      </p:sp>
      <p:sp>
        <p:nvSpPr>
          <p:cNvPr id="148" name="Text 146"/>
          <p:cNvSpPr txBox="1"/>
          <p:nvPr/>
        </p:nvSpPr>
        <p:spPr>
          <a:xfrm>
            <a:off x="5244737" y="4937760"/>
            <a:ext cx="1280160" cy="411480"/>
          </a:xfrm>
          <a:prstGeom prst="rect">
            <a:avLst/>
          </a:prstGeom>
          <a:noFill/>
          <a:ln/>
        </p:spPr>
        <p:txBody>
          <a:bodyPr wrap="square" lIns="0" tIns="0" rIns="0" bIns="0" rtlCol="0" anchor="ctr"/>
          <a:lstStyle/>
          <a:p>
            <a:pPr indent="0" marL="0">
              <a:buNone/>
            </a:pPr>
            <a:r>
              <a:rPr lang="en-US" sz="1300" b="1" dirty="0">
                <a:solidFill>
                  <a:srgbClr val="36454F"/>
                </a:solidFill>
                <a:latin typeface="Calibri" pitchFamily="34" charset="0"/>
                <a:ea typeface="Calibri" pitchFamily="34" charset="-122"/>
                <a:cs typeface="Calibri" pitchFamily="34" charset="-120"/>
              </a:rPr>
              <a:t>11 faults</a:t>
            </a:r>
            <a:endParaRPr lang="en-US" sz="1300" dirty="0"/>
          </a:p>
        </p:txBody>
      </p:sp>
      <p:sp>
        <p:nvSpPr>
          <p:cNvPr id="149" name="Text 147"/>
          <p:cNvSpPr txBox="1"/>
          <p:nvPr/>
        </p:nvSpPr>
        <p:spPr>
          <a:xfrm>
            <a:off x="548640" y="5440680"/>
            <a:ext cx="4572000" cy="274320"/>
          </a:xfrm>
          <a:prstGeom prst="rect">
            <a:avLst/>
          </a:prstGeom>
          <a:noFill/>
          <a:ln/>
        </p:spPr>
        <p:txBody>
          <a:bodyPr wrap="square" lIns="0" tIns="0" rIns="0" bIns="0" rtlCol="0" anchor="t"/>
          <a:lstStyle/>
          <a:p>
            <a:pPr indent="0" marL="0">
              <a:buNone/>
            </a:pPr>
            <a:r>
              <a:rPr lang="en-US" sz="1100" i="1" dirty="0">
                <a:solidFill>
                  <a:srgbClr val="6B7679"/>
                </a:solidFill>
                <a:latin typeface="Calibri" pitchFamily="34" charset="0"/>
                <a:ea typeface="Calibri" pitchFamily="34" charset="-122"/>
                <a:cs typeface="Calibri" pitchFamily="34" charset="-120"/>
              </a:rPr>
              <a:t>out of 14 references</a:t>
            </a:r>
            <a:endParaRPr lang="en-US" sz="1100" dirty="0"/>
          </a:p>
        </p:txBody>
      </p:sp>
      <p:sp>
        <p:nvSpPr>
          <p:cNvPr id="150" name="Shape 148"/>
          <p:cNvSpPr/>
          <p:nvPr/>
        </p:nvSpPr>
        <p:spPr>
          <a:xfrm>
            <a:off x="6949440" y="3794760"/>
            <a:ext cx="4709160" cy="2468880"/>
          </a:xfrm>
          <a:prstGeom prst="roundRect">
            <a:avLst>
              <a:gd name="adj" fmla="val 2222"/>
            </a:avLst>
          </a:prstGeom>
          <a:solidFill>
            <a:srgbClr val="F2F2F2"/>
          </a:solidFill>
          <a:ln/>
          <a:effectLst>
            <a:outerShdw sx="100000" sy="100000" kx="0" ky="0" algn="bl" rotWithShape="0" blurRad="101600" dist="25400" dir="5400000">
              <a:srgbClr val="000000">
                <a:alpha val="12000"/>
              </a:srgbClr>
            </a:outerShdw>
          </a:effectLst>
        </p:spPr>
        <p:txBody>
          <a:bodyPr/>
          <a:p/>
        </p:txBody>
      </p:sp>
      <p:sp>
        <p:nvSpPr>
          <p:cNvPr id="151" name="Text 149"/>
          <p:cNvSpPr txBox="1"/>
          <p:nvPr/>
        </p:nvSpPr>
        <p:spPr>
          <a:xfrm>
            <a:off x="7178040" y="3977640"/>
            <a:ext cx="4251960" cy="384048"/>
          </a:xfrm>
          <a:prstGeom prst="rect">
            <a:avLst/>
          </a:prstGeom>
          <a:noFill/>
          <a:ln/>
        </p:spPr>
        <p:txBody>
          <a:bodyPr wrap="square" lIns="0" tIns="0" rIns="0" bIns="0" rtlCol="0" anchor="ctr"/>
          <a:lstStyle/>
          <a:p>
            <a:pPr indent="0" marL="0">
              <a:buNone/>
            </a:pPr>
            <a:r>
              <a:rPr lang="en-US" sz="1500" b="1" dirty="0">
                <a:solidFill>
                  <a:srgbClr val="028090"/>
                </a:solidFill>
                <a:latin typeface="Cambria" pitchFamily="34" charset="0"/>
                <a:ea typeface="Cambria" pitchFamily="34" charset="-122"/>
                <a:cs typeface="Cambria" pitchFamily="34" charset="-120"/>
              </a:rPr>
              <a:t>Checks you can make</a:t>
            </a:r>
            <a:endParaRPr lang="en-US" sz="1500" dirty="0"/>
          </a:p>
        </p:txBody>
      </p:sp>
      <p:sp>
        <p:nvSpPr>
          <p:cNvPr id="152" name="Text 150"/>
          <p:cNvSpPr txBox="1"/>
          <p:nvPr/>
        </p:nvSpPr>
        <p:spPr>
          <a:xfrm>
            <a:off x="7178040" y="4434840"/>
            <a:ext cx="4251960" cy="1691640"/>
          </a:xfrm>
          <a:prstGeom prst="rect">
            <a:avLst/>
          </a:prstGeom>
          <a:noFill/>
          <a:ln/>
        </p:spPr>
        <p:txBody>
          <a:bodyPr wrap="square" lIns="0" tIns="0" rIns="0" bIns="0" rtlCol="0" anchor="t"/>
          <a:lstStyle/>
          <a:p>
            <a:pPr marL="228600" indent="-228600">
              <a:spcAft>
                <a:spcPts val="400"/>
              </a:spcAft>
              <a:buSzPct val="100000"/>
              <a:buChar char="•"/>
            </a:pPr>
            <a:r>
              <a:rPr lang="en-US" sz="1300" dirty="0">
                <a:solidFill>
                  <a:srgbClr val="3A464C"/>
                </a:solidFill>
                <a:latin typeface="Calibri" pitchFamily="34" charset="0"/>
                <a:ea typeface="Calibri" pitchFamily="34" charset="-122"/>
                <a:cs typeface="Calibri" pitchFamily="34" charset="-120"/>
              </a:rPr>
              <a:t>Compulsory faults: 5 distinct pages (0, 1, 2, 3, 4) → at least 5 faults for any algorithm.</a:t>
            </a:r>
            <a:endParaRPr lang="en-US" sz="1300" dirty="0"/>
          </a:p>
          <a:p>
            <a:pPr marL="228600" indent="-228600">
              <a:spcAft>
                <a:spcPts val="400"/>
              </a:spcAft>
              <a:buSzPct val="100000"/>
              <a:buChar char="•"/>
            </a:pPr>
            <a:r>
              <a:rPr lang="en-US" sz="1300" dirty="0">
                <a:solidFill>
                  <a:srgbClr val="3A464C"/>
                </a:solidFill>
                <a:latin typeface="Calibri" pitchFamily="34" charset="0"/>
                <a:ea typeface="Calibri" pitchFamily="34" charset="-122"/>
                <a:cs typeface="Calibri" pitchFamily="34" charset="-120"/>
              </a:rPr>
              <a:t>Always OPT ≤ LRU and OPT ≤ FIFO.</a:t>
            </a:r>
            <a:endParaRPr lang="en-US" sz="1300" dirty="0"/>
          </a:p>
          <a:p>
            <a:pPr marL="228600" indent="-228600">
              <a:spcAft>
                <a:spcPts val="400"/>
              </a:spcAft>
              <a:buSzPct val="100000"/>
              <a:buChar char="•"/>
            </a:pPr>
            <a:r>
              <a:rPr lang="en-US" sz="1300" dirty="0">
                <a:solidFill>
                  <a:srgbClr val="3A464C"/>
                </a:solidFill>
                <a:latin typeface="Calibri" pitchFamily="34" charset="0"/>
                <a:ea typeface="Calibri" pitchFamily="34" charset="-122"/>
                <a:cs typeface="Calibri" pitchFamily="34" charset="-120"/>
              </a:rPr>
              <a:t>With 4 frames: FIFO 8, LRU 7, OPT 6 — no anomaly here.</a:t>
            </a:r>
            <a:endParaRPr lang="en-US" sz="13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en-US" sz="1200" b="1" spc="200" kern="0" dirty="0">
                <a:solidFill>
                  <a:srgbClr val="02C39A"/>
                </a:solidFill>
                <a:latin typeface="Calibri" pitchFamily="34" charset="0"/>
                <a:ea typeface="Calibri" pitchFamily="34" charset="-122"/>
                <a:cs typeface="Calibri" pitchFamily="34" charset="-120"/>
              </a:rPr>
              <a:t>PROBLEM 7 · WEEK 7</a:t>
            </a:r>
            <a:endParaRPr lang="en-US"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en-US" sz="3000" b="1" dirty="0">
                <a:solidFill>
                  <a:srgbClr val="36454F"/>
                </a:solidFill>
                <a:latin typeface="Cambria" pitchFamily="34" charset="0"/>
                <a:ea typeface="Cambria" pitchFamily="34" charset="-122"/>
                <a:cs typeface="Cambria" pitchFamily="34" charset="-120"/>
              </a:rPr>
              <a:t>Page-Fault EAT and Direct-Access Arithmetic</a:t>
            </a:r>
            <a:endParaRPr lang="en-US" sz="3000" dirty="0"/>
          </a:p>
        </p:txBody>
      </p:sp>
      <p:sp>
        <p:nvSpPr>
          <p:cNvPr id="4" name="Text 2"/>
          <p:cNvSpPr txBox="1"/>
          <p:nvPr/>
        </p:nvSpPr>
        <p:spPr>
          <a:xfrm>
            <a:off x="548640" y="6528816"/>
            <a:ext cx="6400800" cy="274320"/>
          </a:xfrm>
          <a:prstGeom prst="rect">
            <a:avLst/>
          </a:prstGeom>
          <a:noFill/>
          <a:ln/>
        </p:spPr>
        <p:txBody>
          <a:bodyPr wrap="square" lIns="0" tIns="0" rIns="0" bIns="0" rtlCol="0" anchor="ctr"/>
          <a:lstStyle/>
          <a:p>
            <a:pPr indent="0" marL="0">
              <a:buNone/>
            </a:pPr>
            <a:r>
              <a:rPr lang="en-US" sz="900" dirty="0">
                <a:solidFill>
                  <a:srgbClr val="6B7679"/>
                </a:solidFill>
                <a:latin typeface="Calibri" pitchFamily="34" charset="0"/>
                <a:ea typeface="Calibri" pitchFamily="34" charset="-122"/>
                <a:cs typeface="Calibri" pitchFamily="34" charset="-120"/>
              </a:rPr>
              <a:t>MCMP117 — Fundamentals of Operating Systems</a:t>
            </a:r>
            <a:endParaRPr lang="en-US" sz="900" dirty="0"/>
          </a:p>
        </p:txBody>
      </p:sp>
      <p:sp>
        <p:nvSpPr>
          <p:cNvPr id="5" name="Text 3"/>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en-US" sz="900" dirty="0">
                <a:solidFill>
                  <a:srgbClr val="6B7679"/>
                </a:solidFill>
                <a:latin typeface="Calibri" pitchFamily="34" charset="0"/>
                <a:ea typeface="Calibri" pitchFamily="34" charset="-122"/>
                <a:cs typeface="Calibri" pitchFamily="34" charset="-120"/>
              </a:rPr>
              <a:t>Week 8  ·  31</a:t>
            </a:r>
            <a:endParaRPr lang="en-US" sz="900" dirty="0"/>
          </a:p>
        </p:txBody>
      </p:sp>
      <p:sp>
        <p:nvSpPr>
          <p:cNvPr id="6" name="Text 4"/>
          <p:cNvSpPr txBox="1"/>
          <p:nvPr/>
        </p:nvSpPr>
        <p:spPr>
          <a:xfrm>
            <a:off x="548640" y="1463040"/>
            <a:ext cx="5486400" cy="320040"/>
          </a:xfrm>
          <a:prstGeom prst="rect">
            <a:avLst/>
          </a:prstGeom>
          <a:noFill/>
          <a:ln/>
        </p:spPr>
        <p:txBody>
          <a:bodyPr wrap="square" lIns="0" tIns="0" rIns="0" bIns="0" rtlCol="0" anchor="t"/>
          <a:lstStyle/>
          <a:p>
            <a:pPr indent="0" marL="0">
              <a:buNone/>
            </a:pPr>
            <a:r>
              <a:rPr lang="en-US" sz="1400" b="1" dirty="0">
                <a:solidFill>
                  <a:srgbClr val="028090"/>
                </a:solidFill>
                <a:latin typeface="Calibri" pitchFamily="34" charset="0"/>
                <a:ea typeface="Calibri" pitchFamily="34" charset="-122"/>
                <a:cs typeface="Calibri" pitchFamily="34" charset="-120"/>
              </a:rPr>
              <a:t>(a) t_m = 100 ns, t_fault = 6 ms, p = 0.0002</a:t>
            </a:r>
            <a:endParaRPr lang="en-US" sz="1400" dirty="0"/>
          </a:p>
        </p:txBody>
      </p:sp>
      <p:sp>
        <p:nvSpPr>
          <p:cNvPr id="7" name="Shape 5"/>
          <p:cNvSpPr/>
          <p:nvPr/>
        </p:nvSpPr>
        <p:spPr>
          <a:xfrm>
            <a:off x="548640" y="1828800"/>
            <a:ext cx="5486400" cy="3017520"/>
          </a:xfrm>
          <a:prstGeom prst="roundRect">
            <a:avLst>
              <a:gd name="adj" fmla="val 1515"/>
            </a:avLst>
          </a:prstGeom>
          <a:solidFill>
            <a:srgbClr val="212121"/>
          </a:solidFill>
          <a:ln/>
        </p:spPr>
        <p:txBody>
          <a:bodyPr/>
          <a:p/>
        </p:txBody>
      </p:sp>
      <p:sp>
        <p:nvSpPr>
          <p:cNvPr id="8" name="Text 6"/>
          <p:cNvSpPr txBox="1"/>
          <p:nvPr/>
        </p:nvSpPr>
        <p:spPr>
          <a:xfrm>
            <a:off x="731520" y="1938528"/>
            <a:ext cx="5120640" cy="2798064"/>
          </a:xfrm>
          <a:prstGeom prst="rect">
            <a:avLst/>
          </a:prstGeom>
          <a:noFill/>
          <a:ln/>
        </p:spPr>
        <p:txBody>
          <a:bodyPr wrap="square" lIns="0" tIns="0" rIns="0" bIns="0" rtlCol="0" anchor="t"/>
          <a:lstStyle/>
          <a:p>
            <a:pPr indent="0" marL="0">
              <a:lnSpc>
                <a:spcPct val="105000"/>
              </a:lnSpc>
              <a:buNone/>
            </a:pPr>
            <a:r>
              <a:rPr lang="en-US" sz="1300" dirty="0">
                <a:solidFill>
                  <a:srgbClr val="F2F2F2"/>
                </a:solidFill>
                <a:latin typeface="Consolas" pitchFamily="34" charset="0"/>
                <a:ea typeface="Consolas" pitchFamily="34" charset="-122"/>
                <a:cs typeface="Consolas" pitchFamily="34" charset="-120"/>
              </a:rPr>
              <a:t>t_fault = 6 ms = 6,000,000 ns</a:t>
            </a:r>
            <a:endParaRPr lang="en-US" sz="1300" dirty="0"/>
          </a:p>
          <a:p>
            <a:pPr indent="0" marL="0">
              <a:lnSpc>
                <a:spcPct val="105000"/>
              </a:lnSpc>
              <a:buNone/>
            </a:pPr>
            <a:r>
              <a:rPr lang="en-US" sz="1300" dirty="0">
                <a:solidFill>
                  <a:srgbClr val="F2F2F2"/>
                </a:solidFill>
                <a:latin typeface="Consolas" pitchFamily="34" charset="0"/>
                <a:ea typeface="Consolas" pitchFamily="34" charset="-122"/>
                <a:cs typeface="Consolas" pitchFamily="34" charset="-120"/>
              </a:rPr>
              <a:t>EAT = 0.9998 × 100 + 0.0002 × 6,000,000</a:t>
            </a:r>
            <a:endParaRPr lang="en-US" sz="1300" dirty="0"/>
          </a:p>
          <a:p>
            <a:pPr indent="0" marL="0">
              <a:lnSpc>
                <a:spcPct val="105000"/>
              </a:lnSpc>
              <a:buNone/>
            </a:pPr>
            <a:r>
              <a:rPr lang="en-US" sz="1300" dirty="0">
                <a:solidFill>
                  <a:srgbClr val="F2F2F2"/>
                </a:solidFill>
                <a:latin typeface="Consolas" pitchFamily="34" charset="0"/>
                <a:ea typeface="Consolas" pitchFamily="34" charset="-122"/>
                <a:cs typeface="Consolas" pitchFamily="34" charset="-120"/>
              </a:rPr>
              <a:t>    = 99.98 + 1,200 = 1299.98 ns</a:t>
            </a:r>
            <a:endParaRPr lang="en-US" sz="1300" dirty="0"/>
          </a:p>
          <a:p>
            <a:pPr indent="0" marL="0">
              <a:lnSpc>
                <a:spcPct val="105000"/>
              </a:lnSpc>
              <a:buNone/>
            </a:pPr>
            <a:r>
              <a:rPr lang="en-US" sz="1300" dirty="0">
                <a:solidFill>
                  <a:srgbClr val="F2F2F2"/>
                </a:solidFill>
                <a:latin typeface="Consolas" pitchFamily="34" charset="0"/>
                <a:ea typeface="Consolas" pitchFamily="34" charset="-122"/>
                <a:cs typeface="Consolas" pitchFamily="34" charset="-120"/>
              </a:rPr>
              <a:t>→ about 13 times slower than RAM</a:t>
            </a:r>
            <a:endParaRPr lang="en-US" sz="1300" dirty="0"/>
          </a:p>
          <a:p>
            <a:pPr indent="0" marL="0">
              <a:lnSpc>
                <a:spcPct val="105000"/>
              </a:lnSpc>
              <a:buNone/>
            </a:pPr>
            <a:r>
              <a:rPr lang="en-US" sz="1300" dirty="0">
                <a:solidFill>
                  <a:srgbClr val="F2F2F2"/>
                </a:solidFill>
                <a:latin typeface="Consolas" pitchFamily="34" charset="0"/>
                <a:ea typeface="Consolas" pitchFamily="34" charset="-122"/>
                <a:cs typeface="Consolas" pitchFamily="34" charset="-120"/>
              </a:rPr>
              <a:t> </a:t>
            </a:r>
            <a:endParaRPr lang="en-US" sz="1300" dirty="0"/>
          </a:p>
          <a:p>
            <a:pPr indent="0" marL="0">
              <a:lnSpc>
                <a:spcPct val="105000"/>
              </a:lnSpc>
              <a:buNone/>
            </a:pPr>
            <a:r>
              <a:rPr lang="en-US" sz="1300" dirty="0">
                <a:solidFill>
                  <a:srgbClr val="F2F2F2"/>
                </a:solidFill>
                <a:latin typeface="Consolas" pitchFamily="34" charset="0"/>
                <a:ea typeface="Consolas" pitchFamily="34" charset="-122"/>
                <a:cs typeface="Consolas" pitchFamily="34" charset="-120"/>
              </a:rPr>
              <a:t>slow-down &lt; 5 %:  EAT &lt; 105 ns</a:t>
            </a:r>
            <a:endParaRPr lang="en-US" sz="1300" dirty="0"/>
          </a:p>
          <a:p>
            <a:pPr indent="0" marL="0">
              <a:lnSpc>
                <a:spcPct val="105000"/>
              </a:lnSpc>
              <a:buNone/>
            </a:pPr>
            <a:r>
              <a:rPr lang="en-US" sz="1300" dirty="0">
                <a:solidFill>
                  <a:srgbClr val="F2F2F2"/>
                </a:solidFill>
                <a:latin typeface="Consolas" pitchFamily="34" charset="0"/>
                <a:ea typeface="Consolas" pitchFamily="34" charset="-122"/>
                <a:cs typeface="Consolas" pitchFamily="34" charset="-120"/>
              </a:rPr>
              <a:t>100 + p (6,000,000 − 100) &lt; 105</a:t>
            </a:r>
            <a:endParaRPr lang="en-US" sz="1300" dirty="0"/>
          </a:p>
          <a:p>
            <a:pPr indent="0" marL="0">
              <a:lnSpc>
                <a:spcPct val="105000"/>
              </a:lnSpc>
              <a:buNone/>
            </a:pPr>
            <a:r>
              <a:rPr lang="en-US" sz="1300" dirty="0">
                <a:solidFill>
                  <a:srgbClr val="F2F2F2"/>
                </a:solidFill>
                <a:latin typeface="Consolas" pitchFamily="34" charset="0"/>
                <a:ea typeface="Consolas" pitchFamily="34" charset="-122"/>
                <a:cs typeface="Consolas" pitchFamily="34" charset="-120"/>
              </a:rPr>
              <a:t>p &lt; 5 / 5,999,900 ≈ 8.3 × 10⁻⁷</a:t>
            </a:r>
            <a:endParaRPr lang="en-US" sz="1300" dirty="0"/>
          </a:p>
        </p:txBody>
      </p:sp>
      <p:sp>
        <p:nvSpPr>
          <p:cNvPr id="9" name="Text 7"/>
          <p:cNvSpPr txBox="1"/>
          <p:nvPr/>
        </p:nvSpPr>
        <p:spPr>
          <a:xfrm>
            <a:off x="6172200" y="1463040"/>
            <a:ext cx="5486400" cy="320040"/>
          </a:xfrm>
          <a:prstGeom prst="rect">
            <a:avLst/>
          </a:prstGeom>
          <a:noFill/>
          <a:ln/>
        </p:spPr>
        <p:txBody>
          <a:bodyPr wrap="square" lIns="0" tIns="0" rIns="0" bIns="0" rtlCol="0" anchor="t"/>
          <a:lstStyle/>
          <a:p>
            <a:pPr indent="0" marL="0">
              <a:buNone/>
            </a:pPr>
            <a:r>
              <a:rPr lang="en-US" sz="1400" b="1" dirty="0">
                <a:solidFill>
                  <a:srgbClr val="028090"/>
                </a:solidFill>
                <a:latin typeface="Calibri" pitchFamily="34" charset="0"/>
                <a:ea typeface="Calibri" pitchFamily="34" charset="-122"/>
                <a:cs typeface="Calibri" pitchFamily="34" charset="-120"/>
              </a:rPr>
              <a:t>(b) 120-byte records, 4096-byte blocks: record 750?</a:t>
            </a:r>
            <a:endParaRPr lang="en-US" sz="1400" dirty="0"/>
          </a:p>
        </p:txBody>
      </p:sp>
      <p:sp>
        <p:nvSpPr>
          <p:cNvPr id="10" name="Shape 8"/>
          <p:cNvSpPr/>
          <p:nvPr/>
        </p:nvSpPr>
        <p:spPr>
          <a:xfrm>
            <a:off x="6172200" y="1828800"/>
            <a:ext cx="5486400" cy="3017520"/>
          </a:xfrm>
          <a:prstGeom prst="roundRect">
            <a:avLst>
              <a:gd name="adj" fmla="val 1515"/>
            </a:avLst>
          </a:prstGeom>
          <a:solidFill>
            <a:srgbClr val="212121"/>
          </a:solidFill>
          <a:ln/>
        </p:spPr>
        <p:txBody>
          <a:bodyPr/>
          <a:p/>
        </p:txBody>
      </p:sp>
      <p:sp>
        <p:nvSpPr>
          <p:cNvPr id="11" name="Text 9"/>
          <p:cNvSpPr txBox="1"/>
          <p:nvPr/>
        </p:nvSpPr>
        <p:spPr>
          <a:xfrm>
            <a:off x="6355080" y="1938528"/>
            <a:ext cx="5120640" cy="2798064"/>
          </a:xfrm>
          <a:prstGeom prst="rect">
            <a:avLst/>
          </a:prstGeom>
          <a:noFill/>
          <a:ln/>
        </p:spPr>
        <p:txBody>
          <a:bodyPr wrap="square" lIns="0" tIns="0" rIns="0" bIns="0" rtlCol="0" anchor="t"/>
          <a:lstStyle/>
          <a:p>
            <a:pPr indent="0" marL="0">
              <a:lnSpc>
                <a:spcPct val="105000"/>
              </a:lnSpc>
              <a:buNone/>
            </a:pPr>
            <a:r>
              <a:rPr lang="en-US" sz="1300" dirty="0">
                <a:solidFill>
                  <a:srgbClr val="F2F2F2"/>
                </a:solidFill>
                <a:latin typeface="Consolas" pitchFamily="34" charset="0"/>
                <a:ea typeface="Consolas" pitchFamily="34" charset="-122"/>
                <a:cs typeface="Consolas" pitchFamily="34" charset="-120"/>
              </a:rPr>
              <a:t>offset = 750 × 120 = 90,000</a:t>
            </a:r>
            <a:endParaRPr lang="en-US" sz="1300" dirty="0"/>
          </a:p>
          <a:p>
            <a:pPr indent="0" marL="0">
              <a:lnSpc>
                <a:spcPct val="105000"/>
              </a:lnSpc>
              <a:buNone/>
            </a:pPr>
            <a:r>
              <a:rPr lang="en-US" sz="1300" dirty="0">
                <a:solidFill>
                  <a:srgbClr val="F2F2F2"/>
                </a:solidFill>
                <a:latin typeface="Consolas" pitchFamily="34" charset="0"/>
                <a:ea typeface="Consolas" pitchFamily="34" charset="-122"/>
                <a:cs typeface="Consolas" pitchFamily="34" charset="-120"/>
              </a:rPr>
              <a:t>block  = ⌊90,000 / 4096⌋ = 21</a:t>
            </a:r>
            <a:endParaRPr lang="en-US" sz="1300" dirty="0"/>
          </a:p>
          <a:p>
            <a:pPr indent="0" marL="0">
              <a:lnSpc>
                <a:spcPct val="105000"/>
              </a:lnSpc>
              <a:buNone/>
            </a:pPr>
            <a:r>
              <a:rPr lang="en-US" sz="1300" dirty="0">
                <a:solidFill>
                  <a:srgbClr val="F2F2F2"/>
                </a:solidFill>
                <a:latin typeface="Consolas" pitchFamily="34" charset="0"/>
                <a:ea typeface="Consolas" pitchFamily="34" charset="-122"/>
                <a:cs typeface="Consolas" pitchFamily="34" charset="-120"/>
              </a:rPr>
              <a:t>in blk = 90,000 − 21 × 4096 = 3984</a:t>
            </a:r>
            <a:endParaRPr lang="en-US" sz="1300" dirty="0"/>
          </a:p>
          <a:p>
            <a:pPr indent="0" marL="0">
              <a:lnSpc>
                <a:spcPct val="105000"/>
              </a:lnSpc>
              <a:buNone/>
            </a:pPr>
            <a:r>
              <a:rPr lang="en-US" sz="1300" dirty="0">
                <a:solidFill>
                  <a:srgbClr val="F2F2F2"/>
                </a:solidFill>
                <a:latin typeface="Consolas" pitchFamily="34" charset="0"/>
                <a:ea typeface="Consolas" pitchFamily="34" charset="-122"/>
                <a:cs typeface="Consolas" pitchFamily="34" charset="-120"/>
              </a:rPr>
              <a:t> </a:t>
            </a:r>
            <a:endParaRPr lang="en-US" sz="1300" dirty="0"/>
          </a:p>
          <a:p>
            <a:pPr indent="0" marL="0">
              <a:lnSpc>
                <a:spcPct val="105000"/>
              </a:lnSpc>
              <a:buNone/>
            </a:pPr>
            <a:r>
              <a:rPr lang="en-US" sz="1300" dirty="0">
                <a:solidFill>
                  <a:srgbClr val="F2F2F2"/>
                </a:solidFill>
                <a:latin typeface="Consolas" pitchFamily="34" charset="0"/>
                <a:ea typeface="Consolas" pitchFamily="34" charset="-122"/>
                <a:cs typeface="Consolas" pitchFamily="34" charset="-120"/>
              </a:rPr>
              <a:t>last byte = 90,000 + 119 = 90,119</a:t>
            </a:r>
            <a:endParaRPr lang="en-US" sz="1300" dirty="0"/>
          </a:p>
          <a:p>
            <a:pPr indent="0" marL="0">
              <a:lnSpc>
                <a:spcPct val="105000"/>
              </a:lnSpc>
              <a:buNone/>
            </a:pPr>
            <a:r>
              <a:rPr lang="en-US" sz="1300" dirty="0">
                <a:solidFill>
                  <a:srgbClr val="F2F2F2"/>
                </a:solidFill>
                <a:latin typeface="Consolas" pitchFamily="34" charset="0"/>
                <a:ea typeface="Consolas" pitchFamily="34" charset="-122"/>
                <a:cs typeface="Consolas" pitchFamily="34" charset="-120"/>
              </a:rPr>
              <a:t>⌊90,119 / 4096⌋ = 22  → next block!</a:t>
            </a:r>
            <a:endParaRPr lang="en-US" sz="1300" dirty="0"/>
          </a:p>
          <a:p>
            <a:pPr indent="0" marL="0">
              <a:lnSpc>
                <a:spcPct val="105000"/>
              </a:lnSpc>
              <a:buNone/>
            </a:pPr>
            <a:r>
              <a:rPr lang="en-US" sz="1300" dirty="0">
                <a:solidFill>
                  <a:srgbClr val="F2F2F2"/>
                </a:solidFill>
                <a:latin typeface="Consolas" pitchFamily="34" charset="0"/>
                <a:ea typeface="Consolas" pitchFamily="34" charset="-122"/>
                <a:cs typeface="Consolas" pitchFamily="34" charset="-120"/>
              </a:rPr>
              <a:t>→ bytes 3984…4095 of block 21</a:t>
            </a:r>
            <a:endParaRPr lang="en-US" sz="1300" dirty="0"/>
          </a:p>
          <a:p>
            <a:pPr indent="0" marL="0">
              <a:lnSpc>
                <a:spcPct val="105000"/>
              </a:lnSpc>
              <a:buNone/>
            </a:pPr>
            <a:r>
              <a:rPr lang="en-US" sz="1300" dirty="0">
                <a:solidFill>
                  <a:srgbClr val="F2F2F2"/>
                </a:solidFill>
                <a:latin typeface="Consolas" pitchFamily="34" charset="0"/>
                <a:ea typeface="Consolas" pitchFamily="34" charset="-122"/>
                <a:cs typeface="Consolas" pitchFamily="34" charset="-120"/>
              </a:rPr>
              <a:t>  and 0…7 of block 22: two reads</a:t>
            </a:r>
            <a:endParaRPr lang="en-US" sz="1300" dirty="0"/>
          </a:p>
        </p:txBody>
      </p:sp>
      <p:sp>
        <p:nvSpPr>
          <p:cNvPr id="12" name="Shape 10"/>
          <p:cNvSpPr/>
          <p:nvPr/>
        </p:nvSpPr>
        <p:spPr>
          <a:xfrm>
            <a:off x="548640" y="5074920"/>
            <a:ext cx="11109960" cy="1188720"/>
          </a:xfrm>
          <a:prstGeom prst="roundRect">
            <a:avLst>
              <a:gd name="adj" fmla="val 4615"/>
            </a:avLst>
          </a:prstGeom>
          <a:solidFill>
            <a:srgbClr val="36454F"/>
          </a:solidFill>
          <a:ln/>
          <a:effectLst>
            <a:outerShdw sx="100000" sy="100000" kx="0" ky="0" algn="bl" rotWithShape="0" blurRad="101600" dist="25400" dir="5400000">
              <a:srgbClr val="000000">
                <a:alpha val="12000"/>
              </a:srgbClr>
            </a:outerShdw>
          </a:effectLst>
        </p:spPr>
        <p:txBody>
          <a:bodyPr/>
          <a:p/>
        </p:txBody>
      </p:sp>
      <p:sp>
        <p:nvSpPr>
          <p:cNvPr id="13" name="Text 11"/>
          <p:cNvSpPr txBox="1"/>
          <p:nvPr/>
        </p:nvSpPr>
        <p:spPr>
          <a:xfrm>
            <a:off x="777240" y="5074920"/>
            <a:ext cx="10652760" cy="1188720"/>
          </a:xfrm>
          <a:prstGeom prst="rect">
            <a:avLst/>
          </a:prstGeom>
          <a:noFill/>
          <a:ln/>
        </p:spPr>
        <p:txBody>
          <a:bodyPr wrap="square" lIns="0" tIns="0" rIns="0" bIns="0" rtlCol="0" anchor="ctr"/>
          <a:lstStyle/>
          <a:p>
            <a:pPr indent="0" marL="0">
              <a:buNone/>
            </a:pPr>
            <a:r>
              <a:rPr lang="en-US" sz="1400" dirty="0">
                <a:solidFill>
                  <a:srgbClr val="F2F2F2"/>
                </a:solidFill>
                <a:latin typeface="Calibri" pitchFamily="34" charset="0"/>
                <a:ea typeface="Calibri" pitchFamily="34" charset="-122"/>
                <a:cs typeface="Calibri" pitchFamily="34" charset="-120"/>
              </a:rPr>
              <a:t>Lesson (a): convert everything to ns first; one fault in 5,000 accesses already makes memory 13 times slower. Lesson (b): always check the last byte of the record — here it crosses a block boundary.</a:t>
            </a:r>
            <a:endParaRPr lang="en-US" sz="14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en-US" sz="1200" b="1" spc="200" kern="0" dirty="0">
                <a:solidFill>
                  <a:srgbClr val="02C39A"/>
                </a:solidFill>
                <a:latin typeface="Calibri" pitchFamily="34" charset="0"/>
                <a:ea typeface="Calibri" pitchFamily="34" charset="-122"/>
                <a:cs typeface="Calibri" pitchFamily="34" charset="-120"/>
              </a:rPr>
              <a:t>EXAM TECHNIQUE</a:t>
            </a:r>
            <a:endParaRPr lang="en-US"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en-US" sz="3000" b="1" dirty="0">
                <a:solidFill>
                  <a:srgbClr val="36454F"/>
                </a:solidFill>
                <a:latin typeface="Cambria" pitchFamily="34" charset="0"/>
                <a:ea typeface="Cambria" pitchFamily="34" charset="-122"/>
                <a:cs typeface="Cambria" pitchFamily="34" charset="-120"/>
              </a:rPr>
              <a:t>Where Points Are Usually Lost</a:t>
            </a:r>
            <a:endParaRPr lang="en-US" sz="3000" dirty="0"/>
          </a:p>
        </p:txBody>
      </p:sp>
      <p:sp>
        <p:nvSpPr>
          <p:cNvPr id="4" name="Text 2"/>
          <p:cNvSpPr txBox="1"/>
          <p:nvPr/>
        </p:nvSpPr>
        <p:spPr>
          <a:xfrm>
            <a:off x="548640" y="6528816"/>
            <a:ext cx="6400800" cy="274320"/>
          </a:xfrm>
          <a:prstGeom prst="rect">
            <a:avLst/>
          </a:prstGeom>
          <a:noFill/>
          <a:ln/>
        </p:spPr>
        <p:txBody>
          <a:bodyPr wrap="square" lIns="0" tIns="0" rIns="0" bIns="0" rtlCol="0" anchor="ctr"/>
          <a:lstStyle/>
          <a:p>
            <a:pPr indent="0" marL="0">
              <a:buNone/>
            </a:pPr>
            <a:r>
              <a:rPr lang="en-US" sz="900" dirty="0">
                <a:solidFill>
                  <a:srgbClr val="6B7679"/>
                </a:solidFill>
                <a:latin typeface="Calibri" pitchFamily="34" charset="0"/>
                <a:ea typeface="Calibri" pitchFamily="34" charset="-122"/>
                <a:cs typeface="Calibri" pitchFamily="34" charset="-120"/>
              </a:rPr>
              <a:t>MCMP117 — Fundamentals of Operating Systems</a:t>
            </a:r>
            <a:endParaRPr lang="en-US" sz="900" dirty="0"/>
          </a:p>
        </p:txBody>
      </p:sp>
      <p:sp>
        <p:nvSpPr>
          <p:cNvPr id="5" name="Text 3"/>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en-US" sz="900" dirty="0">
                <a:solidFill>
                  <a:srgbClr val="6B7679"/>
                </a:solidFill>
                <a:latin typeface="Calibri" pitchFamily="34" charset="0"/>
                <a:ea typeface="Calibri" pitchFamily="34" charset="-122"/>
                <a:cs typeface="Calibri" pitchFamily="34" charset="-120"/>
              </a:rPr>
              <a:t>Week 8  ·  32</a:t>
            </a:r>
            <a:endParaRPr lang="en-US" sz="900" dirty="0"/>
          </a:p>
        </p:txBody>
      </p:sp>
      <p:sp>
        <p:nvSpPr>
          <p:cNvPr id="6" name="Shape 4"/>
          <p:cNvSpPr/>
          <p:nvPr/>
        </p:nvSpPr>
        <p:spPr>
          <a:xfrm>
            <a:off x="548640" y="1508760"/>
            <a:ext cx="3550920" cy="2263140"/>
          </a:xfrm>
          <a:prstGeom prst="roundRect">
            <a:avLst>
              <a:gd name="adj" fmla="val 2424"/>
            </a:avLst>
          </a:prstGeom>
          <a:solidFill>
            <a:srgbClr val="F2F2F2"/>
          </a:solidFill>
          <a:ln/>
          <a:effectLst>
            <a:outerShdw sx="100000" sy="100000" kx="0" ky="0" algn="bl" rotWithShape="0" blurRad="101600" dist="25400" dir="5400000">
              <a:srgbClr val="000000">
                <a:alpha val="12000"/>
              </a:srgbClr>
            </a:outerShdw>
          </a:effectLst>
        </p:spPr>
        <p:txBody>
          <a:bodyPr/>
          <a:p/>
        </p:txBody>
      </p:sp>
      <p:sp>
        <p:nvSpPr>
          <p:cNvPr id="7" name="Text 5"/>
          <p:cNvSpPr txBox="1"/>
          <p:nvPr/>
        </p:nvSpPr>
        <p:spPr>
          <a:xfrm>
            <a:off x="777240" y="1691640"/>
            <a:ext cx="3093720" cy="384048"/>
          </a:xfrm>
          <a:prstGeom prst="rect">
            <a:avLst/>
          </a:prstGeom>
          <a:noFill/>
          <a:ln/>
        </p:spPr>
        <p:txBody>
          <a:bodyPr wrap="square" lIns="0" tIns="0" rIns="0" bIns="0" rtlCol="0" anchor="ctr"/>
          <a:lstStyle/>
          <a:p>
            <a:pPr indent="0" marL="0">
              <a:buNone/>
            </a:pPr>
            <a:r>
              <a:rPr lang="en-US" sz="1600" b="1" dirty="0">
                <a:solidFill>
                  <a:srgbClr val="028090"/>
                </a:solidFill>
                <a:latin typeface="Cambria" pitchFamily="34" charset="0"/>
                <a:ea typeface="Cambria" pitchFamily="34" charset="-122"/>
                <a:cs typeface="Cambria" pitchFamily="34" charset="-120"/>
              </a:rPr>
              <a:t>Scheduling</a:t>
            </a:r>
            <a:endParaRPr lang="en-US" sz="1600" dirty="0"/>
          </a:p>
        </p:txBody>
      </p:sp>
      <p:sp>
        <p:nvSpPr>
          <p:cNvPr id="8" name="Text 6"/>
          <p:cNvSpPr txBox="1"/>
          <p:nvPr/>
        </p:nvSpPr>
        <p:spPr>
          <a:xfrm>
            <a:off x="777240" y="2148840"/>
            <a:ext cx="3093720" cy="1485900"/>
          </a:xfrm>
          <a:prstGeom prst="rect">
            <a:avLst/>
          </a:prstGeom>
          <a:noFill/>
          <a:ln/>
        </p:spPr>
        <p:txBody>
          <a:bodyPr wrap="square" lIns="0" tIns="0" rIns="0" bIns="0" rtlCol="0" anchor="t"/>
          <a:lstStyle/>
          <a:p>
            <a:pPr marL="228600" indent="-228600">
              <a:spcAft>
                <a:spcPts val="400"/>
              </a:spcAft>
              <a:buSzPct val="100000"/>
              <a:buChar char="•"/>
            </a:pPr>
            <a:r>
              <a:rPr lang="en-US" sz="1350" dirty="0">
                <a:solidFill>
                  <a:srgbClr val="3A464C"/>
                </a:solidFill>
                <a:latin typeface="Calibri" pitchFamily="34" charset="0"/>
                <a:ea typeface="Calibri" pitchFamily="34" charset="-122"/>
                <a:cs typeface="Calibri" pitchFamily="34" charset="-120"/>
              </a:rPr>
              <a:t>Waiting = turnaround − burst, not 'start time'.</a:t>
            </a:r>
            <a:endParaRPr lang="en-US" sz="1350" dirty="0"/>
          </a:p>
          <a:p>
            <a:pPr marL="228600" indent="-228600">
              <a:spcAft>
                <a:spcPts val="400"/>
              </a:spcAft>
              <a:buSzPct val="100000"/>
              <a:buChar char="•"/>
            </a:pPr>
            <a:r>
              <a:rPr lang="en-US" sz="1350" dirty="0">
                <a:solidFill>
                  <a:srgbClr val="3A464C"/>
                </a:solidFill>
                <a:latin typeface="Calibri" pitchFamily="34" charset="0"/>
                <a:ea typeface="Calibri" pitchFamily="34" charset="-122"/>
                <a:cs typeface="Calibri" pitchFamily="34" charset="-120"/>
              </a:rPr>
              <a:t>SRTF compares with the REMAINING time.</a:t>
            </a:r>
            <a:endParaRPr lang="en-US" sz="1350" dirty="0"/>
          </a:p>
          <a:p>
            <a:pPr marL="228600" indent="-228600">
              <a:spcAft>
                <a:spcPts val="400"/>
              </a:spcAft>
              <a:buSzPct val="100000"/>
              <a:buChar char="•"/>
            </a:pPr>
            <a:r>
              <a:rPr lang="en-US" sz="1350" dirty="0">
                <a:solidFill>
                  <a:srgbClr val="3A464C"/>
                </a:solidFill>
                <a:latin typeface="Calibri" pitchFamily="34" charset="0"/>
                <a:ea typeface="Calibri" pitchFamily="34" charset="-122"/>
                <a:cs typeface="Calibri" pitchFamily="34" charset="-120"/>
              </a:rPr>
              <a:t>RR: newcomer before the preempted process.</a:t>
            </a:r>
            <a:endParaRPr lang="en-US" sz="1350" dirty="0"/>
          </a:p>
        </p:txBody>
      </p:sp>
      <p:sp>
        <p:nvSpPr>
          <p:cNvPr id="9" name="Shape 7"/>
          <p:cNvSpPr/>
          <p:nvPr/>
        </p:nvSpPr>
        <p:spPr>
          <a:xfrm>
            <a:off x="4328160" y="1508760"/>
            <a:ext cx="3550920" cy="2263140"/>
          </a:xfrm>
          <a:prstGeom prst="roundRect">
            <a:avLst>
              <a:gd name="adj" fmla="val 2424"/>
            </a:avLst>
          </a:prstGeom>
          <a:solidFill>
            <a:srgbClr val="F2F2F2"/>
          </a:solidFill>
          <a:ln/>
          <a:effectLst>
            <a:outerShdw sx="100000" sy="100000" kx="0" ky="0" algn="bl" rotWithShape="0" blurRad="101600" dist="25400" dir="5400000">
              <a:srgbClr val="000000">
                <a:alpha val="12000"/>
              </a:srgbClr>
            </a:outerShdw>
          </a:effectLst>
        </p:spPr>
        <p:txBody>
          <a:bodyPr/>
          <a:p/>
        </p:txBody>
      </p:sp>
      <p:sp>
        <p:nvSpPr>
          <p:cNvPr id="10" name="Text 8"/>
          <p:cNvSpPr txBox="1"/>
          <p:nvPr/>
        </p:nvSpPr>
        <p:spPr>
          <a:xfrm>
            <a:off x="4556760" y="1691640"/>
            <a:ext cx="3093720" cy="384048"/>
          </a:xfrm>
          <a:prstGeom prst="rect">
            <a:avLst/>
          </a:prstGeom>
          <a:noFill/>
          <a:ln/>
        </p:spPr>
        <p:txBody>
          <a:bodyPr wrap="square" lIns="0" tIns="0" rIns="0" bIns="0" rtlCol="0" anchor="ctr"/>
          <a:lstStyle/>
          <a:p>
            <a:pPr indent="0" marL="0">
              <a:buNone/>
            </a:pPr>
            <a:r>
              <a:rPr lang="en-US" sz="1600" b="1" dirty="0">
                <a:solidFill>
                  <a:srgbClr val="028090"/>
                </a:solidFill>
                <a:latin typeface="Cambria" pitchFamily="34" charset="0"/>
                <a:ea typeface="Cambria" pitchFamily="34" charset="-122"/>
                <a:cs typeface="Cambria" pitchFamily="34" charset="-120"/>
              </a:rPr>
              <a:t>Units</a:t>
            </a:r>
            <a:endParaRPr lang="en-US" sz="1600" dirty="0"/>
          </a:p>
        </p:txBody>
      </p:sp>
      <p:sp>
        <p:nvSpPr>
          <p:cNvPr id="11" name="Text 9"/>
          <p:cNvSpPr txBox="1"/>
          <p:nvPr/>
        </p:nvSpPr>
        <p:spPr>
          <a:xfrm>
            <a:off x="4556760" y="2148840"/>
            <a:ext cx="3093720" cy="1485900"/>
          </a:xfrm>
          <a:prstGeom prst="rect">
            <a:avLst/>
          </a:prstGeom>
          <a:noFill/>
          <a:ln/>
        </p:spPr>
        <p:txBody>
          <a:bodyPr wrap="square" lIns="0" tIns="0" rIns="0" bIns="0" rtlCol="0" anchor="t"/>
          <a:lstStyle/>
          <a:p>
            <a:pPr marL="228600" indent="-228600">
              <a:spcAft>
                <a:spcPts val="400"/>
              </a:spcAft>
              <a:buSzPct val="100000"/>
              <a:buChar char="•"/>
            </a:pPr>
            <a:r>
              <a:rPr lang="en-US" sz="1350" dirty="0">
                <a:solidFill>
                  <a:srgbClr val="3A464C"/>
                </a:solidFill>
                <a:latin typeface="Calibri" pitchFamily="34" charset="0"/>
                <a:ea typeface="Calibri" pitchFamily="34" charset="-122"/>
                <a:cs typeface="Calibri" pitchFamily="34" charset="-120"/>
              </a:rPr>
              <a:t>8 ms = 8,000,000 ns; 2 ms = 2000 µs.</a:t>
            </a:r>
            <a:endParaRPr lang="en-US" sz="1350" dirty="0"/>
          </a:p>
          <a:p>
            <a:pPr marL="228600" indent="-228600">
              <a:spcAft>
                <a:spcPts val="400"/>
              </a:spcAft>
              <a:buSzPct val="100000"/>
              <a:buChar char="•"/>
            </a:pPr>
            <a:r>
              <a:rPr lang="en-US" sz="1350" dirty="0">
                <a:solidFill>
                  <a:srgbClr val="3A464C"/>
                </a:solidFill>
                <a:latin typeface="Calibri" pitchFamily="34" charset="0"/>
                <a:ea typeface="Calibri" pitchFamily="34" charset="-122"/>
                <a:cs typeface="Calibri" pitchFamily="34" charset="-120"/>
              </a:rPr>
              <a:t>KB = 1024 B in paging; MB/s for swap times as given.</a:t>
            </a:r>
            <a:endParaRPr lang="en-US" sz="1350" dirty="0"/>
          </a:p>
        </p:txBody>
      </p:sp>
      <p:sp>
        <p:nvSpPr>
          <p:cNvPr id="12" name="Shape 10"/>
          <p:cNvSpPr/>
          <p:nvPr/>
        </p:nvSpPr>
        <p:spPr>
          <a:xfrm>
            <a:off x="8107680" y="1508760"/>
            <a:ext cx="3550920" cy="2263140"/>
          </a:xfrm>
          <a:prstGeom prst="roundRect">
            <a:avLst>
              <a:gd name="adj" fmla="val 2424"/>
            </a:avLst>
          </a:prstGeom>
          <a:solidFill>
            <a:srgbClr val="F2F2F2"/>
          </a:solidFill>
          <a:ln/>
          <a:effectLst>
            <a:outerShdw sx="100000" sy="100000" kx="0" ky="0" algn="bl" rotWithShape="0" blurRad="101600" dist="25400" dir="5400000">
              <a:srgbClr val="000000">
                <a:alpha val="12000"/>
              </a:srgbClr>
            </a:outerShdw>
          </a:effectLst>
        </p:spPr>
        <p:txBody>
          <a:bodyPr/>
          <a:p/>
        </p:txBody>
      </p:sp>
      <p:sp>
        <p:nvSpPr>
          <p:cNvPr id="13" name="Text 11"/>
          <p:cNvSpPr txBox="1"/>
          <p:nvPr/>
        </p:nvSpPr>
        <p:spPr>
          <a:xfrm>
            <a:off x="8336280" y="1691640"/>
            <a:ext cx="3093720" cy="384048"/>
          </a:xfrm>
          <a:prstGeom prst="rect">
            <a:avLst/>
          </a:prstGeom>
          <a:noFill/>
          <a:ln/>
        </p:spPr>
        <p:txBody>
          <a:bodyPr wrap="square" lIns="0" tIns="0" rIns="0" bIns="0" rtlCol="0" anchor="ctr"/>
          <a:lstStyle/>
          <a:p>
            <a:pPr indent="0" marL="0">
              <a:buNone/>
            </a:pPr>
            <a:r>
              <a:rPr lang="en-US" sz="1600" b="1" dirty="0">
                <a:solidFill>
                  <a:srgbClr val="028090"/>
                </a:solidFill>
                <a:latin typeface="Cambria" pitchFamily="34" charset="0"/>
                <a:ea typeface="Cambria" pitchFamily="34" charset="-122"/>
                <a:cs typeface="Cambria" pitchFamily="34" charset="-120"/>
              </a:rPr>
              <a:t>Paging</a:t>
            </a:r>
            <a:endParaRPr lang="en-US" sz="1600" dirty="0"/>
          </a:p>
        </p:txBody>
      </p:sp>
      <p:sp>
        <p:nvSpPr>
          <p:cNvPr id="14" name="Text 12"/>
          <p:cNvSpPr txBox="1"/>
          <p:nvPr/>
        </p:nvSpPr>
        <p:spPr>
          <a:xfrm>
            <a:off x="8336280" y="2148840"/>
            <a:ext cx="3093720" cy="1485900"/>
          </a:xfrm>
          <a:prstGeom prst="rect">
            <a:avLst/>
          </a:prstGeom>
          <a:noFill/>
          <a:ln/>
        </p:spPr>
        <p:txBody>
          <a:bodyPr wrap="square" lIns="0" tIns="0" rIns="0" bIns="0" rtlCol="0" anchor="t"/>
          <a:lstStyle/>
          <a:p>
            <a:pPr marL="228600" indent="-228600">
              <a:spcAft>
                <a:spcPts val="400"/>
              </a:spcAft>
              <a:buSzPct val="100000"/>
              <a:buChar char="•"/>
            </a:pPr>
            <a:r>
              <a:rPr lang="en-US" sz="1350" dirty="0">
                <a:solidFill>
                  <a:srgbClr val="3A464C"/>
                </a:solidFill>
                <a:latin typeface="Calibri" pitchFamily="34" charset="0"/>
                <a:ea typeface="Calibri" pitchFamily="34" charset="-122"/>
                <a:cs typeface="Calibri" pitchFamily="34" charset="-120"/>
              </a:rPr>
              <a:t>The offset is never translated.</a:t>
            </a:r>
            <a:endParaRPr lang="en-US" sz="1350" dirty="0"/>
          </a:p>
          <a:p>
            <a:pPr marL="228600" indent="-228600">
              <a:spcAft>
                <a:spcPts val="400"/>
              </a:spcAft>
              <a:buSzPct val="100000"/>
              <a:buChar char="•"/>
            </a:pPr>
            <a:r>
              <a:rPr lang="en-US" sz="1350" dirty="0">
                <a:solidFill>
                  <a:srgbClr val="3A464C"/>
                </a:solidFill>
                <a:latin typeface="Calibri" pitchFamily="34" charset="0"/>
                <a:ea typeface="Calibri" pitchFamily="34" charset="-122"/>
                <a:cs typeface="Calibri" pitchFamily="34" charset="-120"/>
              </a:rPr>
              <a:t>Invalid page → trap, not a number.</a:t>
            </a:r>
            <a:endParaRPr lang="en-US" sz="1350" dirty="0"/>
          </a:p>
          <a:p>
            <a:pPr marL="228600" indent="-228600">
              <a:spcAft>
                <a:spcPts val="400"/>
              </a:spcAft>
              <a:buSzPct val="100000"/>
              <a:buChar char="•"/>
            </a:pPr>
            <a:r>
              <a:rPr lang="en-US" sz="1350" dirty="0">
                <a:solidFill>
                  <a:srgbClr val="3A464C"/>
                </a:solidFill>
                <a:latin typeface="Calibri" pitchFamily="34" charset="0"/>
                <a:ea typeface="Calibri" pitchFamily="34" charset="-122"/>
                <a:cs typeface="Calibri" pitchFamily="34" charset="-120"/>
              </a:rPr>
              <a:t>a = limit already traps (strict &lt;).</a:t>
            </a:r>
            <a:endParaRPr lang="en-US" sz="1350" dirty="0"/>
          </a:p>
        </p:txBody>
      </p:sp>
      <p:sp>
        <p:nvSpPr>
          <p:cNvPr id="15" name="Shape 13"/>
          <p:cNvSpPr/>
          <p:nvPr/>
        </p:nvSpPr>
        <p:spPr>
          <a:xfrm>
            <a:off x="548640" y="4000500"/>
            <a:ext cx="3550920" cy="2263140"/>
          </a:xfrm>
          <a:prstGeom prst="roundRect">
            <a:avLst>
              <a:gd name="adj" fmla="val 2424"/>
            </a:avLst>
          </a:prstGeom>
          <a:solidFill>
            <a:srgbClr val="F2F2F2"/>
          </a:solidFill>
          <a:ln/>
          <a:effectLst>
            <a:outerShdw sx="100000" sy="100000" kx="0" ky="0" algn="bl" rotWithShape="0" blurRad="101600" dist="25400" dir="5400000">
              <a:srgbClr val="000000">
                <a:alpha val="12000"/>
              </a:srgbClr>
            </a:outerShdw>
          </a:effectLst>
        </p:spPr>
        <p:txBody>
          <a:bodyPr/>
          <a:p/>
        </p:txBody>
      </p:sp>
      <p:sp>
        <p:nvSpPr>
          <p:cNvPr id="16" name="Text 14"/>
          <p:cNvSpPr txBox="1"/>
          <p:nvPr/>
        </p:nvSpPr>
        <p:spPr>
          <a:xfrm>
            <a:off x="777240" y="4183380"/>
            <a:ext cx="3093720" cy="384048"/>
          </a:xfrm>
          <a:prstGeom prst="rect">
            <a:avLst/>
          </a:prstGeom>
          <a:noFill/>
          <a:ln/>
        </p:spPr>
        <p:txBody>
          <a:bodyPr wrap="square" lIns="0" tIns="0" rIns="0" bIns="0" rtlCol="0" anchor="ctr"/>
          <a:lstStyle/>
          <a:p>
            <a:pPr indent="0" marL="0">
              <a:buNone/>
            </a:pPr>
            <a:r>
              <a:rPr lang="en-US" sz="1600" b="1" dirty="0">
                <a:solidFill>
                  <a:srgbClr val="028090"/>
                </a:solidFill>
                <a:latin typeface="Cambria" pitchFamily="34" charset="0"/>
                <a:ea typeface="Cambria" pitchFamily="34" charset="-122"/>
                <a:cs typeface="Cambria" pitchFamily="34" charset="-120"/>
              </a:rPr>
              <a:t>Frame tables</a:t>
            </a:r>
            <a:endParaRPr lang="en-US" sz="1600" dirty="0"/>
          </a:p>
        </p:txBody>
      </p:sp>
      <p:sp>
        <p:nvSpPr>
          <p:cNvPr id="17" name="Text 15"/>
          <p:cNvSpPr txBox="1"/>
          <p:nvPr/>
        </p:nvSpPr>
        <p:spPr>
          <a:xfrm>
            <a:off x="777240" y="4640580"/>
            <a:ext cx="3093720" cy="1485900"/>
          </a:xfrm>
          <a:prstGeom prst="rect">
            <a:avLst/>
          </a:prstGeom>
          <a:noFill/>
          <a:ln/>
        </p:spPr>
        <p:txBody>
          <a:bodyPr wrap="square" lIns="0" tIns="0" rIns="0" bIns="0" rtlCol="0" anchor="t"/>
          <a:lstStyle/>
          <a:p>
            <a:pPr marL="228600" indent="-228600">
              <a:spcAft>
                <a:spcPts val="400"/>
              </a:spcAft>
              <a:buSzPct val="100000"/>
              <a:buChar char="•"/>
            </a:pPr>
            <a:r>
              <a:rPr lang="en-US" sz="1350" dirty="0">
                <a:solidFill>
                  <a:srgbClr val="3A464C"/>
                </a:solidFill>
                <a:latin typeface="Calibri" pitchFamily="34" charset="0"/>
                <a:ea typeface="Calibri" pitchFamily="34" charset="-122"/>
                <a:cs typeface="Calibri" pitchFamily="34" charset="-120"/>
              </a:rPr>
              <a:t>FIFO: a hit does not change the order.</a:t>
            </a:r>
            <a:endParaRPr lang="en-US" sz="1350" dirty="0"/>
          </a:p>
          <a:p>
            <a:pPr marL="228600" indent="-228600">
              <a:spcAft>
                <a:spcPts val="400"/>
              </a:spcAft>
              <a:buSzPct val="100000"/>
              <a:buChar char="•"/>
            </a:pPr>
            <a:r>
              <a:rPr lang="en-US" sz="1350" dirty="0">
                <a:solidFill>
                  <a:srgbClr val="3A464C"/>
                </a:solidFill>
                <a:latin typeface="Calibri" pitchFamily="34" charset="0"/>
                <a:ea typeface="Calibri" pitchFamily="34" charset="-122"/>
                <a:cs typeface="Calibri" pitchFamily="34" charset="-120"/>
              </a:rPr>
              <a:t>LRU: a hit makes the page most recent.</a:t>
            </a:r>
            <a:endParaRPr lang="en-US" sz="1350" dirty="0"/>
          </a:p>
          <a:p>
            <a:pPr marL="228600" indent="-228600">
              <a:spcAft>
                <a:spcPts val="400"/>
              </a:spcAft>
              <a:buSzPct val="100000"/>
              <a:buChar char="•"/>
            </a:pPr>
            <a:r>
              <a:rPr lang="en-US" sz="1350" dirty="0">
                <a:solidFill>
                  <a:srgbClr val="3A464C"/>
                </a:solidFill>
                <a:latin typeface="Calibri" pitchFamily="34" charset="0"/>
                <a:ea typeface="Calibri" pitchFamily="34" charset="-122"/>
                <a:cs typeface="Calibri" pitchFamily="34" charset="-120"/>
              </a:rPr>
              <a:t>Count the faults twice.</a:t>
            </a:r>
            <a:endParaRPr lang="en-US" sz="1350" dirty="0"/>
          </a:p>
        </p:txBody>
      </p:sp>
      <p:sp>
        <p:nvSpPr>
          <p:cNvPr id="18" name="Shape 16"/>
          <p:cNvSpPr/>
          <p:nvPr/>
        </p:nvSpPr>
        <p:spPr>
          <a:xfrm>
            <a:off x="4328160" y="4000500"/>
            <a:ext cx="3550920" cy="2263140"/>
          </a:xfrm>
          <a:prstGeom prst="roundRect">
            <a:avLst>
              <a:gd name="adj" fmla="val 2424"/>
            </a:avLst>
          </a:prstGeom>
          <a:solidFill>
            <a:srgbClr val="F2F2F2"/>
          </a:solidFill>
          <a:ln/>
          <a:effectLst>
            <a:outerShdw sx="100000" sy="100000" kx="0" ky="0" algn="bl" rotWithShape="0" blurRad="101600" dist="25400" dir="5400000">
              <a:srgbClr val="000000">
                <a:alpha val="12000"/>
              </a:srgbClr>
            </a:outerShdw>
          </a:effectLst>
        </p:spPr>
        <p:txBody>
          <a:bodyPr/>
          <a:p/>
        </p:txBody>
      </p:sp>
      <p:sp>
        <p:nvSpPr>
          <p:cNvPr id="19" name="Text 17"/>
          <p:cNvSpPr txBox="1"/>
          <p:nvPr/>
        </p:nvSpPr>
        <p:spPr>
          <a:xfrm>
            <a:off x="4556760" y="4183380"/>
            <a:ext cx="3093720" cy="384048"/>
          </a:xfrm>
          <a:prstGeom prst="rect">
            <a:avLst/>
          </a:prstGeom>
          <a:noFill/>
          <a:ln/>
        </p:spPr>
        <p:txBody>
          <a:bodyPr wrap="square" lIns="0" tIns="0" rIns="0" bIns="0" rtlCol="0" anchor="ctr"/>
          <a:lstStyle/>
          <a:p>
            <a:pPr indent="0" marL="0">
              <a:buNone/>
            </a:pPr>
            <a:r>
              <a:rPr lang="en-US" sz="1600" b="1" dirty="0">
                <a:solidFill>
                  <a:srgbClr val="028090"/>
                </a:solidFill>
                <a:latin typeface="Cambria" pitchFamily="34" charset="0"/>
                <a:ea typeface="Cambria" pitchFamily="34" charset="-122"/>
                <a:cs typeface="Cambria" pitchFamily="34" charset="-120"/>
              </a:rPr>
              <a:t>Definitions</a:t>
            </a:r>
            <a:endParaRPr lang="en-US" sz="1600" dirty="0"/>
          </a:p>
        </p:txBody>
      </p:sp>
      <p:sp>
        <p:nvSpPr>
          <p:cNvPr id="20" name="Text 18"/>
          <p:cNvSpPr txBox="1"/>
          <p:nvPr/>
        </p:nvSpPr>
        <p:spPr>
          <a:xfrm>
            <a:off x="4556760" y="4640580"/>
            <a:ext cx="3093720" cy="1485900"/>
          </a:xfrm>
          <a:prstGeom prst="rect">
            <a:avLst/>
          </a:prstGeom>
          <a:noFill/>
          <a:ln/>
        </p:spPr>
        <p:txBody>
          <a:bodyPr wrap="square" lIns="0" tIns="0" rIns="0" bIns="0" rtlCol="0" anchor="t"/>
          <a:lstStyle/>
          <a:p>
            <a:pPr marL="228600" indent="-228600">
              <a:spcAft>
                <a:spcPts val="400"/>
              </a:spcAft>
              <a:buSzPct val="100000"/>
              <a:buChar char="•"/>
            </a:pPr>
            <a:r>
              <a:rPr lang="en-US" sz="1350" dirty="0">
                <a:solidFill>
                  <a:srgbClr val="3A464C"/>
                </a:solidFill>
                <a:latin typeface="Calibri" pitchFamily="34" charset="0"/>
                <a:ea typeface="Calibri" pitchFamily="34" charset="-122"/>
                <a:cs typeface="Calibri" pitchFamily="34" charset="-120"/>
              </a:rPr>
              <a:t>Concurrency ≠ parallelism.</a:t>
            </a:r>
            <a:endParaRPr lang="en-US" sz="1350" dirty="0"/>
          </a:p>
          <a:p>
            <a:pPr marL="228600" indent="-228600">
              <a:spcAft>
                <a:spcPts val="400"/>
              </a:spcAft>
              <a:buSzPct val="100000"/>
              <a:buChar char="•"/>
            </a:pPr>
            <a:r>
              <a:rPr lang="en-US" sz="1350" dirty="0">
                <a:solidFill>
                  <a:srgbClr val="3A464C"/>
                </a:solidFill>
                <a:latin typeface="Calibri" pitchFamily="34" charset="0"/>
                <a:ea typeface="Calibri" pitchFamily="34" charset="-122"/>
                <a:cs typeface="Calibri" pitchFamily="34" charset="-120"/>
              </a:rPr>
              <a:t>Mutual exclusion ≠ progress ≠ bounded waiting.</a:t>
            </a:r>
            <a:endParaRPr lang="en-US" sz="1350" dirty="0"/>
          </a:p>
          <a:p>
            <a:pPr marL="228600" indent="-228600">
              <a:spcAft>
                <a:spcPts val="400"/>
              </a:spcAft>
              <a:buSzPct val="100000"/>
              <a:buChar char="•"/>
            </a:pPr>
            <a:r>
              <a:rPr lang="en-US" sz="1350" dirty="0">
                <a:solidFill>
                  <a:srgbClr val="3A464C"/>
                </a:solidFill>
                <a:latin typeface="Calibri" pitchFamily="34" charset="0"/>
                <a:ea typeface="Calibri" pitchFamily="34" charset="-122"/>
                <a:cs typeface="Calibri" pitchFamily="34" charset="-120"/>
              </a:rPr>
              <a:t>Starvation ≠ deadlock.</a:t>
            </a:r>
            <a:endParaRPr lang="en-US" sz="1350" dirty="0"/>
          </a:p>
        </p:txBody>
      </p:sp>
      <p:sp>
        <p:nvSpPr>
          <p:cNvPr id="21" name="Shape 19"/>
          <p:cNvSpPr/>
          <p:nvPr/>
        </p:nvSpPr>
        <p:spPr>
          <a:xfrm>
            <a:off x="8107680" y="4000500"/>
            <a:ext cx="3550920" cy="2263140"/>
          </a:xfrm>
          <a:prstGeom prst="roundRect">
            <a:avLst>
              <a:gd name="adj" fmla="val 2424"/>
            </a:avLst>
          </a:prstGeom>
          <a:solidFill>
            <a:srgbClr val="F2F2F2"/>
          </a:solidFill>
          <a:ln/>
          <a:effectLst>
            <a:outerShdw sx="100000" sy="100000" kx="0" ky="0" algn="bl" rotWithShape="0" blurRad="101600" dist="25400" dir="5400000">
              <a:srgbClr val="000000">
                <a:alpha val="12000"/>
              </a:srgbClr>
            </a:outerShdw>
          </a:effectLst>
        </p:spPr>
        <p:txBody>
          <a:bodyPr/>
          <a:p/>
        </p:txBody>
      </p:sp>
      <p:sp>
        <p:nvSpPr>
          <p:cNvPr id="22" name="Text 20"/>
          <p:cNvSpPr txBox="1"/>
          <p:nvPr/>
        </p:nvSpPr>
        <p:spPr>
          <a:xfrm>
            <a:off x="8336280" y="4183380"/>
            <a:ext cx="3093720" cy="384048"/>
          </a:xfrm>
          <a:prstGeom prst="rect">
            <a:avLst/>
          </a:prstGeom>
          <a:noFill/>
          <a:ln/>
        </p:spPr>
        <p:txBody>
          <a:bodyPr wrap="square" lIns="0" tIns="0" rIns="0" bIns="0" rtlCol="0" anchor="ctr"/>
          <a:lstStyle/>
          <a:p>
            <a:pPr indent="0" marL="0">
              <a:buNone/>
            </a:pPr>
            <a:r>
              <a:rPr lang="en-US" sz="1600" b="1" dirty="0">
                <a:solidFill>
                  <a:srgbClr val="028090"/>
                </a:solidFill>
                <a:latin typeface="Cambria" pitchFamily="34" charset="0"/>
                <a:ea typeface="Cambria" pitchFamily="34" charset="-122"/>
                <a:cs typeface="Cambria" pitchFamily="34" charset="-120"/>
              </a:rPr>
              <a:t>Answers</a:t>
            </a:r>
            <a:endParaRPr lang="en-US" sz="1600" dirty="0"/>
          </a:p>
        </p:txBody>
      </p:sp>
      <p:sp>
        <p:nvSpPr>
          <p:cNvPr id="23" name="Text 21"/>
          <p:cNvSpPr txBox="1"/>
          <p:nvPr/>
        </p:nvSpPr>
        <p:spPr>
          <a:xfrm>
            <a:off x="8336280" y="4640580"/>
            <a:ext cx="3093720" cy="1485900"/>
          </a:xfrm>
          <a:prstGeom prst="rect">
            <a:avLst/>
          </a:prstGeom>
          <a:noFill/>
          <a:ln/>
        </p:spPr>
        <p:txBody>
          <a:bodyPr wrap="square" lIns="0" tIns="0" rIns="0" bIns="0" rtlCol="0" anchor="t"/>
          <a:lstStyle/>
          <a:p>
            <a:pPr marL="228600" indent="-228600">
              <a:spcAft>
                <a:spcPts val="400"/>
              </a:spcAft>
              <a:buSzPct val="100000"/>
              <a:buChar char="•"/>
            </a:pPr>
            <a:r>
              <a:rPr lang="en-US" sz="1350" dirty="0">
                <a:solidFill>
                  <a:srgbClr val="3A464C"/>
                </a:solidFill>
                <a:latin typeface="Calibri" pitchFamily="34" charset="0"/>
                <a:ea typeface="Calibri" pitchFamily="34" charset="-122"/>
                <a:cs typeface="Calibri" pitchFamily="34" charset="-120"/>
              </a:rPr>
              <a:t>State conventions and units.</a:t>
            </a:r>
            <a:endParaRPr lang="en-US" sz="1350" dirty="0"/>
          </a:p>
          <a:p>
            <a:pPr marL="228600" indent="-228600">
              <a:spcAft>
                <a:spcPts val="400"/>
              </a:spcAft>
              <a:buSzPct val="100000"/>
              <a:buChar char="•"/>
            </a:pPr>
            <a:r>
              <a:rPr lang="en-US" sz="1350" dirty="0">
                <a:solidFill>
                  <a:srgbClr val="3A464C"/>
                </a:solidFill>
                <a:latin typeface="Calibri" pitchFamily="34" charset="0"/>
                <a:ea typeface="Calibri" pitchFamily="34" charset="-122"/>
                <a:cs typeface="Calibri" pitchFamily="34" charset="-120"/>
              </a:rPr>
              <a:t>Show the formula before the number.</a:t>
            </a:r>
            <a:endParaRPr lang="en-US" sz="1350" dirty="0"/>
          </a:p>
          <a:p>
            <a:pPr marL="228600" indent="-228600">
              <a:spcAft>
                <a:spcPts val="400"/>
              </a:spcAft>
              <a:buSzPct val="100000"/>
              <a:buChar char="•"/>
            </a:pPr>
            <a:r>
              <a:rPr lang="en-US" sz="1350" dirty="0">
                <a:solidFill>
                  <a:srgbClr val="3A464C"/>
                </a:solidFill>
                <a:latin typeface="Calibri" pitchFamily="34" charset="0"/>
                <a:ea typeface="Calibri" pitchFamily="34" charset="-122"/>
                <a:cs typeface="Calibri" pitchFamily="34" charset="-120"/>
              </a:rPr>
              <a:t>Explain 'why' in one sentence.</a:t>
            </a:r>
            <a:endParaRPr lang="en-US" sz="13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en-US" sz="1200" b="1" spc="200" kern="0" dirty="0">
                <a:solidFill>
                  <a:srgbClr val="02C39A"/>
                </a:solidFill>
                <a:latin typeface="Calibri" pitchFamily="34" charset="0"/>
                <a:ea typeface="Calibri" pitchFamily="34" charset="-122"/>
                <a:cs typeface="Calibri" pitchFamily="34" charset="-120"/>
              </a:rPr>
              <a:t>EXAM TECHNIQUE</a:t>
            </a:r>
            <a:endParaRPr lang="en-US"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en-US" sz="3000" b="1" dirty="0">
                <a:solidFill>
                  <a:srgbClr val="36454F"/>
                </a:solidFill>
                <a:latin typeface="Cambria" pitchFamily="34" charset="0"/>
                <a:ea typeface="Cambria" pitchFamily="34" charset="-122"/>
                <a:cs typeface="Cambria" pitchFamily="34" charset="-120"/>
              </a:rPr>
              <a:t>Using 90 Minutes Well</a:t>
            </a:r>
            <a:endParaRPr lang="en-US" sz="3000" dirty="0"/>
          </a:p>
        </p:txBody>
      </p:sp>
      <p:sp>
        <p:nvSpPr>
          <p:cNvPr id="4" name="Text 2"/>
          <p:cNvSpPr txBox="1"/>
          <p:nvPr/>
        </p:nvSpPr>
        <p:spPr>
          <a:xfrm>
            <a:off x="548640" y="6528816"/>
            <a:ext cx="6400800" cy="274320"/>
          </a:xfrm>
          <a:prstGeom prst="rect">
            <a:avLst/>
          </a:prstGeom>
          <a:noFill/>
          <a:ln/>
        </p:spPr>
        <p:txBody>
          <a:bodyPr wrap="square" lIns="0" tIns="0" rIns="0" bIns="0" rtlCol="0" anchor="ctr"/>
          <a:lstStyle/>
          <a:p>
            <a:pPr indent="0" marL="0">
              <a:buNone/>
            </a:pPr>
            <a:r>
              <a:rPr lang="en-US" sz="900" dirty="0">
                <a:solidFill>
                  <a:srgbClr val="6B7679"/>
                </a:solidFill>
                <a:latin typeface="Calibri" pitchFamily="34" charset="0"/>
                <a:ea typeface="Calibri" pitchFamily="34" charset="-122"/>
                <a:cs typeface="Calibri" pitchFamily="34" charset="-120"/>
              </a:rPr>
              <a:t>MCMP117 — Fundamentals of Operating Systems</a:t>
            </a:r>
            <a:endParaRPr lang="en-US" sz="900" dirty="0"/>
          </a:p>
        </p:txBody>
      </p:sp>
      <p:sp>
        <p:nvSpPr>
          <p:cNvPr id="5" name="Text 3"/>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en-US" sz="900" dirty="0">
                <a:solidFill>
                  <a:srgbClr val="6B7679"/>
                </a:solidFill>
                <a:latin typeface="Calibri" pitchFamily="34" charset="0"/>
                <a:ea typeface="Calibri" pitchFamily="34" charset="-122"/>
                <a:cs typeface="Calibri" pitchFamily="34" charset="-120"/>
              </a:rPr>
              <a:t>Week 8  ·  33</a:t>
            </a:r>
            <a:endParaRPr lang="en-US" sz="900" dirty="0"/>
          </a:p>
        </p:txBody>
      </p:sp>
      <p:sp>
        <p:nvSpPr>
          <p:cNvPr id="6" name="Shape 4"/>
          <p:cNvSpPr/>
          <p:nvPr/>
        </p:nvSpPr>
        <p:spPr>
          <a:xfrm>
            <a:off x="566928" y="1645920"/>
            <a:ext cx="580644" cy="685800"/>
          </a:xfrm>
          <a:prstGeom prst="roundRect">
            <a:avLst>
              <a:gd name="adj" fmla="val 7874"/>
            </a:avLst>
          </a:prstGeom>
          <a:solidFill>
            <a:srgbClr val="50808E"/>
          </a:solidFill>
          <a:ln/>
        </p:spPr>
        <p:txBody>
          <a:bodyPr/>
          <a:p/>
        </p:txBody>
      </p:sp>
      <p:sp>
        <p:nvSpPr>
          <p:cNvPr id="7" name="Text 5"/>
          <p:cNvSpPr txBox="1"/>
          <p:nvPr/>
        </p:nvSpPr>
        <p:spPr>
          <a:xfrm>
            <a:off x="566928" y="1645920"/>
            <a:ext cx="580644" cy="685800"/>
          </a:xfrm>
          <a:prstGeom prst="rect">
            <a:avLst/>
          </a:prstGeom>
          <a:noFill/>
          <a:ln/>
        </p:spPr>
        <p:txBody>
          <a:bodyPr wrap="square" lIns="38100" tIns="38100" rIns="38100" bIns="3810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Read all</a:t>
            </a:r>
            <a:endParaRPr lang="en-US" sz="1300" dirty="0"/>
          </a:p>
          <a:p>
            <a:pPr algn="ctr" indent="0" marL="0">
              <a:buNone/>
            </a:pPr>
            <a:r>
              <a:rPr lang="en-US" sz="1100" dirty="0">
                <a:solidFill>
                  <a:srgbClr val="FFFFFF"/>
                </a:solidFill>
                <a:latin typeface="Calibri" pitchFamily="34" charset="0"/>
                <a:ea typeface="Calibri" pitchFamily="34" charset="-122"/>
                <a:cs typeface="Calibri" pitchFamily="34" charset="-120"/>
              </a:rPr>
              <a:t>5 min</a:t>
            </a:r>
            <a:endParaRPr lang="en-US" sz="1300" dirty="0"/>
          </a:p>
        </p:txBody>
      </p:sp>
      <p:sp>
        <p:nvSpPr>
          <p:cNvPr id="8" name="Shape 6"/>
          <p:cNvSpPr/>
          <p:nvPr/>
        </p:nvSpPr>
        <p:spPr>
          <a:xfrm>
            <a:off x="1184148" y="1645920"/>
            <a:ext cx="1815084" cy="685800"/>
          </a:xfrm>
          <a:prstGeom prst="roundRect">
            <a:avLst>
              <a:gd name="adj" fmla="val 6667"/>
            </a:avLst>
          </a:prstGeom>
          <a:solidFill>
            <a:srgbClr val="02C39A"/>
          </a:solidFill>
          <a:ln/>
        </p:spPr>
        <p:txBody>
          <a:bodyPr/>
          <a:p/>
        </p:txBody>
      </p:sp>
      <p:sp>
        <p:nvSpPr>
          <p:cNvPr id="9" name="Text 7"/>
          <p:cNvSpPr txBox="1"/>
          <p:nvPr/>
        </p:nvSpPr>
        <p:spPr>
          <a:xfrm>
            <a:off x="1184148" y="1645920"/>
            <a:ext cx="1815084" cy="685800"/>
          </a:xfrm>
          <a:prstGeom prst="rect">
            <a:avLst/>
          </a:prstGeom>
          <a:noFill/>
          <a:ln/>
        </p:spPr>
        <p:txBody>
          <a:bodyPr wrap="square" lIns="38100" tIns="38100" rIns="38100" bIns="38100" rtlCol="0" anchor="ctr"/>
          <a:lstStyle/>
          <a:p>
            <a:pPr algn="ctr" indent="0" marL="0">
              <a:buNone/>
            </a:pPr>
            <a:r>
              <a:rPr lang="en-US" sz="1300" b="1" dirty="0">
                <a:solidFill>
                  <a:srgbClr val="212121"/>
                </a:solidFill>
                <a:latin typeface="Calibri" pitchFamily="34" charset="0"/>
                <a:ea typeface="Calibri" pitchFamily="34" charset="-122"/>
                <a:cs typeface="Calibri" pitchFamily="34" charset="-120"/>
              </a:rPr>
              <a:t>Part A · 20 pts</a:t>
            </a:r>
            <a:endParaRPr lang="en-US" sz="1300" dirty="0"/>
          </a:p>
          <a:p>
            <a:pPr algn="ctr" indent="0" marL="0">
              <a:buNone/>
            </a:pPr>
            <a:r>
              <a:rPr lang="en-US" sz="1100" dirty="0">
                <a:solidFill>
                  <a:srgbClr val="212121"/>
                </a:solidFill>
                <a:latin typeface="Calibri" pitchFamily="34" charset="0"/>
                <a:ea typeface="Calibri" pitchFamily="34" charset="-122"/>
                <a:cs typeface="Calibri" pitchFamily="34" charset="-120"/>
              </a:rPr>
              <a:t>15 min</a:t>
            </a:r>
            <a:endParaRPr lang="en-US" sz="1300" dirty="0"/>
          </a:p>
        </p:txBody>
      </p:sp>
      <p:sp>
        <p:nvSpPr>
          <p:cNvPr id="10" name="Shape 8"/>
          <p:cNvSpPr/>
          <p:nvPr/>
        </p:nvSpPr>
        <p:spPr>
          <a:xfrm>
            <a:off x="3035808" y="1645920"/>
            <a:ext cx="2432304" cy="685800"/>
          </a:xfrm>
          <a:prstGeom prst="roundRect">
            <a:avLst>
              <a:gd name="adj" fmla="val 6667"/>
            </a:avLst>
          </a:prstGeom>
          <a:solidFill>
            <a:srgbClr val="028090"/>
          </a:solidFill>
          <a:ln/>
        </p:spPr>
        <p:txBody>
          <a:bodyPr/>
          <a:p/>
        </p:txBody>
      </p:sp>
      <p:sp>
        <p:nvSpPr>
          <p:cNvPr id="11" name="Text 9"/>
          <p:cNvSpPr txBox="1"/>
          <p:nvPr/>
        </p:nvSpPr>
        <p:spPr>
          <a:xfrm>
            <a:off x="3035808" y="1645920"/>
            <a:ext cx="2432304" cy="685800"/>
          </a:xfrm>
          <a:prstGeom prst="rect">
            <a:avLst/>
          </a:prstGeom>
          <a:noFill/>
          <a:ln/>
        </p:spPr>
        <p:txBody>
          <a:bodyPr wrap="square" lIns="38100" tIns="38100" rIns="38100" bIns="3810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Part B · 20 pts</a:t>
            </a:r>
            <a:endParaRPr lang="en-US" sz="1300" dirty="0"/>
          </a:p>
          <a:p>
            <a:pPr algn="ctr" indent="0" marL="0">
              <a:buNone/>
            </a:pPr>
            <a:r>
              <a:rPr lang="en-US" sz="1100" dirty="0">
                <a:solidFill>
                  <a:srgbClr val="FFFFFF"/>
                </a:solidFill>
                <a:latin typeface="Calibri" pitchFamily="34" charset="0"/>
                <a:ea typeface="Calibri" pitchFamily="34" charset="-122"/>
                <a:cs typeface="Calibri" pitchFamily="34" charset="-120"/>
              </a:rPr>
              <a:t>20 min</a:t>
            </a:r>
            <a:endParaRPr lang="en-US" sz="1300" dirty="0"/>
          </a:p>
        </p:txBody>
      </p:sp>
      <p:sp>
        <p:nvSpPr>
          <p:cNvPr id="12" name="Shape 10"/>
          <p:cNvSpPr/>
          <p:nvPr/>
        </p:nvSpPr>
        <p:spPr>
          <a:xfrm>
            <a:off x="5504688" y="1645920"/>
            <a:ext cx="5518404" cy="685800"/>
          </a:xfrm>
          <a:prstGeom prst="roundRect">
            <a:avLst>
              <a:gd name="adj" fmla="val 6667"/>
            </a:avLst>
          </a:prstGeom>
          <a:solidFill>
            <a:srgbClr val="36454F"/>
          </a:solidFill>
          <a:ln/>
        </p:spPr>
        <p:txBody>
          <a:bodyPr/>
          <a:p/>
        </p:txBody>
      </p:sp>
      <p:sp>
        <p:nvSpPr>
          <p:cNvPr id="13" name="Text 11"/>
          <p:cNvSpPr txBox="1"/>
          <p:nvPr/>
        </p:nvSpPr>
        <p:spPr>
          <a:xfrm>
            <a:off x="5504688" y="1645920"/>
            <a:ext cx="5518404" cy="685800"/>
          </a:xfrm>
          <a:prstGeom prst="rect">
            <a:avLst/>
          </a:prstGeom>
          <a:noFill/>
          <a:ln/>
        </p:spPr>
        <p:txBody>
          <a:bodyPr wrap="square" lIns="38100" tIns="38100" rIns="38100" bIns="3810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Part C · 60 pts</a:t>
            </a:r>
            <a:endParaRPr lang="en-US" sz="1300" dirty="0"/>
          </a:p>
          <a:p>
            <a:pPr algn="ctr" indent="0" marL="0">
              <a:buNone/>
            </a:pPr>
            <a:r>
              <a:rPr lang="en-US" sz="1100" dirty="0">
                <a:solidFill>
                  <a:srgbClr val="FFFFFF"/>
                </a:solidFill>
                <a:latin typeface="Calibri" pitchFamily="34" charset="0"/>
                <a:ea typeface="Calibri" pitchFamily="34" charset="-122"/>
                <a:cs typeface="Calibri" pitchFamily="34" charset="-120"/>
              </a:rPr>
              <a:t>45 min</a:t>
            </a:r>
            <a:endParaRPr lang="en-US" sz="1300" dirty="0"/>
          </a:p>
        </p:txBody>
      </p:sp>
      <p:sp>
        <p:nvSpPr>
          <p:cNvPr id="14" name="Shape 12"/>
          <p:cNvSpPr/>
          <p:nvPr/>
        </p:nvSpPr>
        <p:spPr>
          <a:xfrm>
            <a:off x="11059668" y="1645920"/>
            <a:ext cx="580644" cy="685800"/>
          </a:xfrm>
          <a:prstGeom prst="roundRect">
            <a:avLst>
              <a:gd name="adj" fmla="val 7874"/>
            </a:avLst>
          </a:prstGeom>
          <a:solidFill>
            <a:srgbClr val="C98A1B"/>
          </a:solidFill>
          <a:ln/>
        </p:spPr>
        <p:txBody>
          <a:bodyPr/>
          <a:p/>
        </p:txBody>
      </p:sp>
      <p:sp>
        <p:nvSpPr>
          <p:cNvPr id="15" name="Text 13"/>
          <p:cNvSpPr txBox="1"/>
          <p:nvPr/>
        </p:nvSpPr>
        <p:spPr>
          <a:xfrm>
            <a:off x="11059668" y="1645920"/>
            <a:ext cx="580644" cy="685800"/>
          </a:xfrm>
          <a:prstGeom prst="rect">
            <a:avLst/>
          </a:prstGeom>
          <a:noFill/>
          <a:ln/>
        </p:spPr>
        <p:txBody>
          <a:bodyPr wrap="square" lIns="38100" tIns="38100" rIns="38100" bIns="3810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Check</a:t>
            </a:r>
            <a:endParaRPr lang="en-US" sz="1300" dirty="0"/>
          </a:p>
          <a:p>
            <a:pPr algn="ctr" indent="0" marL="0">
              <a:buNone/>
            </a:pPr>
            <a:r>
              <a:rPr lang="en-US" sz="1100" dirty="0">
                <a:solidFill>
                  <a:srgbClr val="FFFFFF"/>
                </a:solidFill>
                <a:latin typeface="Calibri" pitchFamily="34" charset="0"/>
                <a:ea typeface="Calibri" pitchFamily="34" charset="-122"/>
                <a:cs typeface="Calibri" pitchFamily="34" charset="-120"/>
              </a:rPr>
              <a:t>5 min</a:t>
            </a:r>
            <a:endParaRPr lang="en-US" sz="1300" dirty="0"/>
          </a:p>
        </p:txBody>
      </p:sp>
      <p:sp>
        <p:nvSpPr>
          <p:cNvPr id="16" name="Text 14"/>
          <p:cNvSpPr txBox="1"/>
          <p:nvPr/>
        </p:nvSpPr>
        <p:spPr>
          <a:xfrm>
            <a:off x="548640" y="2423160"/>
            <a:ext cx="11109960" cy="320040"/>
          </a:xfrm>
          <a:prstGeom prst="rect">
            <a:avLst/>
          </a:prstGeom>
          <a:noFill/>
          <a:ln/>
        </p:spPr>
        <p:txBody>
          <a:bodyPr wrap="square" lIns="0" tIns="0" rIns="0" bIns="0" rtlCol="0" anchor="t"/>
          <a:lstStyle/>
          <a:p>
            <a:pPr indent="0" marL="0">
              <a:buNone/>
            </a:pPr>
            <a:r>
              <a:rPr lang="en-US" sz="1300" i="1" dirty="0">
                <a:solidFill>
                  <a:srgbClr val="6B7679"/>
                </a:solidFill>
                <a:latin typeface="Calibri" pitchFamily="34" charset="0"/>
                <a:ea typeface="Calibri" pitchFamily="34" charset="-122"/>
                <a:cs typeface="Calibri" pitchFamily="34" charset="-120"/>
              </a:rPr>
              <a:t>≈ 0.9 minutes per point: a 2-point question should not take 10 minutes. [Times assume a 90-minute exam.]</a:t>
            </a:r>
            <a:endParaRPr lang="en-US" sz="1300" dirty="0"/>
          </a:p>
        </p:txBody>
      </p:sp>
      <p:sp>
        <p:nvSpPr>
          <p:cNvPr id="17" name="Shape 15"/>
          <p:cNvSpPr/>
          <p:nvPr/>
        </p:nvSpPr>
        <p:spPr>
          <a:xfrm>
            <a:off x="548640" y="2926080"/>
            <a:ext cx="3611880" cy="3337560"/>
          </a:xfrm>
          <a:prstGeom prst="roundRect">
            <a:avLst>
              <a:gd name="adj" fmla="val 1644"/>
            </a:avLst>
          </a:prstGeom>
          <a:solidFill>
            <a:srgbClr val="F2F2F2"/>
          </a:solidFill>
          <a:ln/>
          <a:effectLst>
            <a:outerShdw sx="100000" sy="100000" kx="0" ky="0" algn="bl" rotWithShape="0" blurRad="101600" dist="25400" dir="5400000">
              <a:srgbClr val="000000">
                <a:alpha val="12000"/>
              </a:srgbClr>
            </a:outerShdw>
          </a:effectLst>
        </p:spPr>
        <p:txBody>
          <a:bodyPr/>
          <a:p/>
        </p:txBody>
      </p:sp>
      <p:sp>
        <p:nvSpPr>
          <p:cNvPr id="18" name="Text 16"/>
          <p:cNvSpPr txBox="1"/>
          <p:nvPr/>
        </p:nvSpPr>
        <p:spPr>
          <a:xfrm>
            <a:off x="777240" y="3108960"/>
            <a:ext cx="3154680" cy="384048"/>
          </a:xfrm>
          <a:prstGeom prst="rect">
            <a:avLst/>
          </a:prstGeom>
          <a:noFill/>
          <a:ln/>
        </p:spPr>
        <p:txBody>
          <a:bodyPr wrap="square" lIns="0" tIns="0" rIns="0" bIns="0" rtlCol="0" anchor="ctr"/>
          <a:lstStyle/>
          <a:p>
            <a:pPr indent="0" marL="0">
              <a:buNone/>
            </a:pPr>
            <a:r>
              <a:rPr lang="en-US" sz="1500" b="1" dirty="0">
                <a:solidFill>
                  <a:srgbClr val="028090"/>
                </a:solidFill>
                <a:latin typeface="Cambria" pitchFamily="34" charset="0"/>
                <a:ea typeface="Cambria" pitchFamily="34" charset="-122"/>
                <a:cs typeface="Cambria" pitchFamily="34" charset="-120"/>
              </a:rPr>
              <a:t>Before the exam</a:t>
            </a:r>
            <a:endParaRPr lang="en-US" sz="1500" dirty="0"/>
          </a:p>
        </p:txBody>
      </p:sp>
      <p:sp>
        <p:nvSpPr>
          <p:cNvPr id="19" name="Text 17"/>
          <p:cNvSpPr txBox="1"/>
          <p:nvPr/>
        </p:nvSpPr>
        <p:spPr>
          <a:xfrm>
            <a:off x="777240" y="3566160"/>
            <a:ext cx="3154680" cy="2560320"/>
          </a:xfrm>
          <a:prstGeom prst="rect">
            <a:avLst/>
          </a:prstGeom>
          <a:noFill/>
          <a:ln/>
        </p:spPr>
        <p:txBody>
          <a:bodyPr wrap="square" lIns="0" tIns="0" rIns="0" bIns="0" rtlCol="0" anchor="t"/>
          <a:lstStyle/>
          <a:p>
            <a:pPr marL="228600" indent="-228600">
              <a:spcAft>
                <a:spcPts val="400"/>
              </a:spcAft>
              <a:buSzPct val="100000"/>
              <a:buChar char="•"/>
            </a:pPr>
            <a:r>
              <a:rPr lang="en-US" sz="1350" dirty="0">
                <a:solidFill>
                  <a:srgbClr val="3A464C"/>
                </a:solidFill>
                <a:latin typeface="Calibri" pitchFamily="34" charset="0"/>
                <a:ea typeface="Calibri" pitchFamily="34" charset="-122"/>
                <a:cs typeface="Calibri" pitchFamily="34" charset="-120"/>
              </a:rPr>
              <a:t>Redo Problems 1–7 without looking.</a:t>
            </a:r>
            <a:endParaRPr lang="en-US" sz="1350" dirty="0"/>
          </a:p>
          <a:p>
            <a:pPr marL="228600" indent="-228600">
              <a:spcAft>
                <a:spcPts val="400"/>
              </a:spcAft>
              <a:buSzPct val="100000"/>
              <a:buChar char="•"/>
            </a:pPr>
            <a:r>
              <a:rPr lang="en-US" sz="1350" dirty="0">
                <a:solidFill>
                  <a:srgbClr val="3A464C"/>
                </a:solidFill>
                <a:latin typeface="Calibri" pitchFamily="34" charset="0"/>
                <a:ea typeface="Calibri" pitchFamily="34" charset="-122"/>
                <a:cs typeface="Calibri" pitchFamily="34" charset="-120"/>
              </a:rPr>
              <a:t>Write the practice exam in the notes in 90 minutes, then mark it.</a:t>
            </a:r>
            <a:endParaRPr lang="en-US" sz="1350" dirty="0"/>
          </a:p>
          <a:p>
            <a:pPr marL="228600" indent="-228600">
              <a:spcAft>
                <a:spcPts val="400"/>
              </a:spcAft>
              <a:buSzPct val="100000"/>
              <a:buChar char="•"/>
            </a:pPr>
            <a:r>
              <a:rPr lang="en-US" sz="1350" dirty="0">
                <a:solidFill>
                  <a:srgbClr val="3A464C"/>
                </a:solidFill>
                <a:latin typeface="Calibri" pitchFamily="34" charset="0"/>
                <a:ea typeface="Calibri" pitchFamily="34" charset="-122"/>
                <a:cs typeface="Calibri" pitchFamily="34" charset="-120"/>
              </a:rPr>
              <a:t>Run code/*.py to check your own numbers.</a:t>
            </a:r>
            <a:endParaRPr lang="en-US" sz="1350" dirty="0"/>
          </a:p>
        </p:txBody>
      </p:sp>
      <p:sp>
        <p:nvSpPr>
          <p:cNvPr id="20" name="Shape 18"/>
          <p:cNvSpPr/>
          <p:nvPr/>
        </p:nvSpPr>
        <p:spPr>
          <a:xfrm>
            <a:off x="4297680" y="2926080"/>
            <a:ext cx="3611880" cy="3337560"/>
          </a:xfrm>
          <a:prstGeom prst="roundRect">
            <a:avLst>
              <a:gd name="adj" fmla="val 1644"/>
            </a:avLst>
          </a:prstGeom>
          <a:solidFill>
            <a:srgbClr val="F2F2F2"/>
          </a:solidFill>
          <a:ln/>
          <a:effectLst>
            <a:outerShdw sx="100000" sy="100000" kx="0" ky="0" algn="bl" rotWithShape="0" blurRad="101600" dist="25400" dir="5400000">
              <a:srgbClr val="000000">
                <a:alpha val="12000"/>
              </a:srgbClr>
            </a:outerShdw>
          </a:effectLst>
        </p:spPr>
        <p:txBody>
          <a:bodyPr/>
          <a:p/>
        </p:txBody>
      </p:sp>
      <p:sp>
        <p:nvSpPr>
          <p:cNvPr id="21" name="Text 19"/>
          <p:cNvSpPr txBox="1"/>
          <p:nvPr/>
        </p:nvSpPr>
        <p:spPr>
          <a:xfrm>
            <a:off x="4526280" y="3108960"/>
            <a:ext cx="3154680" cy="384048"/>
          </a:xfrm>
          <a:prstGeom prst="rect">
            <a:avLst/>
          </a:prstGeom>
          <a:noFill/>
          <a:ln/>
        </p:spPr>
        <p:txBody>
          <a:bodyPr wrap="square" lIns="0" tIns="0" rIns="0" bIns="0" rtlCol="0" anchor="ctr"/>
          <a:lstStyle/>
          <a:p>
            <a:pPr indent="0" marL="0">
              <a:buNone/>
            </a:pPr>
            <a:r>
              <a:rPr lang="en-US" sz="1500" b="1" dirty="0">
                <a:solidFill>
                  <a:srgbClr val="028090"/>
                </a:solidFill>
                <a:latin typeface="Cambria" pitchFamily="34" charset="0"/>
                <a:ea typeface="Cambria" pitchFamily="34" charset="-122"/>
                <a:cs typeface="Cambria" pitchFamily="34" charset="-120"/>
              </a:rPr>
              <a:t>During the exam</a:t>
            </a:r>
            <a:endParaRPr lang="en-US" sz="1500" dirty="0"/>
          </a:p>
        </p:txBody>
      </p:sp>
      <p:sp>
        <p:nvSpPr>
          <p:cNvPr id="22" name="Text 20"/>
          <p:cNvSpPr txBox="1"/>
          <p:nvPr/>
        </p:nvSpPr>
        <p:spPr>
          <a:xfrm>
            <a:off x="4526280" y="3566160"/>
            <a:ext cx="3154680" cy="2560320"/>
          </a:xfrm>
          <a:prstGeom prst="rect">
            <a:avLst/>
          </a:prstGeom>
          <a:noFill/>
          <a:ln/>
        </p:spPr>
        <p:txBody>
          <a:bodyPr wrap="square" lIns="0" tIns="0" rIns="0" bIns="0" rtlCol="0" anchor="t"/>
          <a:lstStyle/>
          <a:p>
            <a:pPr marL="228600" indent="-228600">
              <a:spcAft>
                <a:spcPts val="400"/>
              </a:spcAft>
              <a:buSzPct val="100000"/>
              <a:buChar char="•"/>
            </a:pPr>
            <a:r>
              <a:rPr lang="en-US" sz="1350" dirty="0">
                <a:solidFill>
                  <a:srgbClr val="3A464C"/>
                </a:solidFill>
                <a:latin typeface="Calibri" pitchFamily="34" charset="0"/>
                <a:ea typeface="Calibri" pitchFamily="34" charset="-122"/>
                <a:cs typeface="Calibri" pitchFamily="34" charset="-120"/>
              </a:rPr>
              <a:t>Start with what you know best.</a:t>
            </a:r>
            <a:endParaRPr lang="en-US" sz="1350" dirty="0"/>
          </a:p>
          <a:p>
            <a:pPr marL="228600" indent="-228600">
              <a:spcAft>
                <a:spcPts val="400"/>
              </a:spcAft>
              <a:buSzPct val="100000"/>
              <a:buChar char="•"/>
            </a:pPr>
            <a:r>
              <a:rPr lang="en-US" sz="1350" dirty="0">
                <a:solidFill>
                  <a:srgbClr val="3A464C"/>
                </a:solidFill>
                <a:latin typeface="Calibri" pitchFamily="34" charset="0"/>
                <a:ea typeface="Calibri" pitchFamily="34" charset="-122"/>
                <a:cs typeface="Calibri" pitchFamily="34" charset="-120"/>
              </a:rPr>
              <a:t>Draw Gantt charts and frame tables neatly, with times.</a:t>
            </a:r>
            <a:endParaRPr lang="en-US" sz="1350" dirty="0"/>
          </a:p>
          <a:p>
            <a:pPr marL="228600" indent="-228600">
              <a:spcAft>
                <a:spcPts val="400"/>
              </a:spcAft>
              <a:buSzPct val="100000"/>
              <a:buChar char="•"/>
            </a:pPr>
            <a:r>
              <a:rPr lang="en-US" sz="1350" dirty="0">
                <a:solidFill>
                  <a:srgbClr val="3A464C"/>
                </a:solidFill>
                <a:latin typeface="Calibri" pitchFamily="34" charset="0"/>
                <a:ea typeface="Calibri" pitchFamily="34" charset="-122"/>
                <a:cs typeface="Calibri" pitchFamily="34" charset="-120"/>
              </a:rPr>
              <a:t>Stuck? Write the formula and move on — come back later.</a:t>
            </a:r>
            <a:endParaRPr lang="en-US" sz="1350" dirty="0"/>
          </a:p>
        </p:txBody>
      </p:sp>
      <p:sp>
        <p:nvSpPr>
          <p:cNvPr id="23" name="Shape 21"/>
          <p:cNvSpPr/>
          <p:nvPr/>
        </p:nvSpPr>
        <p:spPr>
          <a:xfrm>
            <a:off x="8046720" y="2926080"/>
            <a:ext cx="3611880" cy="3337560"/>
          </a:xfrm>
          <a:prstGeom prst="roundRect">
            <a:avLst>
              <a:gd name="adj" fmla="val 1644"/>
            </a:avLst>
          </a:prstGeom>
          <a:solidFill>
            <a:srgbClr val="F2F2F2"/>
          </a:solidFill>
          <a:ln/>
          <a:effectLst>
            <a:outerShdw sx="100000" sy="100000" kx="0" ky="0" algn="bl" rotWithShape="0" blurRad="101600" dist="25400" dir="5400000">
              <a:srgbClr val="000000">
                <a:alpha val="12000"/>
              </a:srgbClr>
            </a:outerShdw>
          </a:effectLst>
        </p:spPr>
        <p:txBody>
          <a:bodyPr/>
          <a:p/>
        </p:txBody>
      </p:sp>
      <p:sp>
        <p:nvSpPr>
          <p:cNvPr id="24" name="Text 22"/>
          <p:cNvSpPr txBox="1"/>
          <p:nvPr/>
        </p:nvSpPr>
        <p:spPr>
          <a:xfrm>
            <a:off x="8275320" y="3108960"/>
            <a:ext cx="3154680" cy="384048"/>
          </a:xfrm>
          <a:prstGeom prst="rect">
            <a:avLst/>
          </a:prstGeom>
          <a:noFill/>
          <a:ln/>
        </p:spPr>
        <p:txBody>
          <a:bodyPr wrap="square" lIns="0" tIns="0" rIns="0" bIns="0" rtlCol="0" anchor="ctr"/>
          <a:lstStyle/>
          <a:p>
            <a:pPr indent="0" marL="0">
              <a:buNone/>
            </a:pPr>
            <a:r>
              <a:rPr lang="en-US" sz="1500" b="1" dirty="0">
                <a:solidFill>
                  <a:srgbClr val="028090"/>
                </a:solidFill>
                <a:latin typeface="Cambria" pitchFamily="34" charset="0"/>
                <a:ea typeface="Cambria" pitchFamily="34" charset="-122"/>
                <a:cs typeface="Cambria" pitchFamily="34" charset="-120"/>
              </a:rPr>
              <a:t>Partial credit</a:t>
            </a:r>
            <a:endParaRPr lang="en-US" sz="1500" dirty="0"/>
          </a:p>
        </p:txBody>
      </p:sp>
      <p:sp>
        <p:nvSpPr>
          <p:cNvPr id="25" name="Text 23"/>
          <p:cNvSpPr txBox="1"/>
          <p:nvPr/>
        </p:nvSpPr>
        <p:spPr>
          <a:xfrm>
            <a:off x="8275320" y="3566160"/>
            <a:ext cx="3154680" cy="2560320"/>
          </a:xfrm>
          <a:prstGeom prst="rect">
            <a:avLst/>
          </a:prstGeom>
          <a:noFill/>
          <a:ln/>
        </p:spPr>
        <p:txBody>
          <a:bodyPr wrap="square" lIns="0" tIns="0" rIns="0" bIns="0" rtlCol="0" anchor="t"/>
          <a:lstStyle/>
          <a:p>
            <a:pPr marL="228600" indent="-228600">
              <a:spcAft>
                <a:spcPts val="400"/>
              </a:spcAft>
              <a:buSzPct val="100000"/>
              <a:buChar char="•"/>
            </a:pPr>
            <a:r>
              <a:rPr lang="en-US" sz="1350" dirty="0">
                <a:solidFill>
                  <a:srgbClr val="3A464C"/>
                </a:solidFill>
                <a:latin typeface="Calibri" pitchFamily="34" charset="0"/>
                <a:ea typeface="Calibri" pitchFamily="34" charset="-122"/>
                <a:cs typeface="Calibri" pitchFamily="34" charset="-120"/>
              </a:rPr>
              <a:t>Method counts: formula, substitution, result.</a:t>
            </a:r>
            <a:endParaRPr lang="en-US" sz="1350" dirty="0"/>
          </a:p>
          <a:p>
            <a:pPr marL="228600" indent="-228600">
              <a:spcAft>
                <a:spcPts val="400"/>
              </a:spcAft>
              <a:buSzPct val="100000"/>
              <a:buChar char="•"/>
            </a:pPr>
            <a:r>
              <a:rPr lang="en-US" sz="1350" dirty="0">
                <a:solidFill>
                  <a:srgbClr val="3A464C"/>
                </a:solidFill>
                <a:latin typeface="Calibri" pitchFamily="34" charset="0"/>
                <a:ea typeface="Calibri" pitchFamily="34" charset="-122"/>
                <a:cs typeface="Calibri" pitchFamily="34" charset="-120"/>
              </a:rPr>
              <a:t>A wrong number with a correct method still earns points.</a:t>
            </a:r>
            <a:endParaRPr lang="en-US" sz="1350" dirty="0"/>
          </a:p>
          <a:p>
            <a:pPr marL="228600" indent="-228600">
              <a:spcAft>
                <a:spcPts val="400"/>
              </a:spcAft>
              <a:buSzPct val="100000"/>
              <a:buChar char="•"/>
            </a:pPr>
            <a:r>
              <a:rPr lang="en-US" sz="1350" dirty="0">
                <a:solidFill>
                  <a:srgbClr val="3A464C"/>
                </a:solidFill>
                <a:latin typeface="Calibri" pitchFamily="34" charset="0"/>
                <a:ea typeface="Calibri" pitchFamily="34" charset="-122"/>
                <a:cs typeface="Calibri" pitchFamily="34" charset="-120"/>
              </a:rPr>
              <a:t>Write units on every answer.</a:t>
            </a:r>
            <a:endParaRPr lang="en-US" sz="13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en-US" sz="1200" b="1" spc="200" kern="0" dirty="0">
                <a:solidFill>
                  <a:srgbClr val="02C39A"/>
                </a:solidFill>
                <a:latin typeface="Calibri" pitchFamily="34" charset="0"/>
                <a:ea typeface="Calibri" pitchFamily="34" charset="-122"/>
                <a:cs typeface="Calibri" pitchFamily="34" charset="-120"/>
              </a:rPr>
              <a:t>QUICK QUIZ</a:t>
            </a:r>
            <a:endParaRPr lang="en-US"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en-US" sz="3000" b="1" dirty="0">
                <a:solidFill>
                  <a:srgbClr val="36454F"/>
                </a:solidFill>
                <a:latin typeface="Cambria" pitchFamily="34" charset="0"/>
                <a:ea typeface="Cambria" pitchFamily="34" charset="-122"/>
                <a:cs typeface="Cambria" pitchFamily="34" charset="-120"/>
              </a:rPr>
              <a:t>Check Your Understanding</a:t>
            </a:r>
            <a:endParaRPr lang="en-US" sz="3000" dirty="0"/>
          </a:p>
        </p:txBody>
      </p:sp>
      <p:sp>
        <p:nvSpPr>
          <p:cNvPr id="4" name="Text 2"/>
          <p:cNvSpPr txBox="1"/>
          <p:nvPr/>
        </p:nvSpPr>
        <p:spPr>
          <a:xfrm>
            <a:off x="548640" y="6528816"/>
            <a:ext cx="6400800" cy="274320"/>
          </a:xfrm>
          <a:prstGeom prst="rect">
            <a:avLst/>
          </a:prstGeom>
          <a:noFill/>
          <a:ln/>
        </p:spPr>
        <p:txBody>
          <a:bodyPr wrap="square" lIns="0" tIns="0" rIns="0" bIns="0" rtlCol="0" anchor="ctr"/>
          <a:lstStyle/>
          <a:p>
            <a:pPr indent="0" marL="0">
              <a:buNone/>
            </a:pPr>
            <a:r>
              <a:rPr lang="en-US" sz="900" dirty="0">
                <a:solidFill>
                  <a:srgbClr val="6B7679"/>
                </a:solidFill>
                <a:latin typeface="Calibri" pitchFamily="34" charset="0"/>
                <a:ea typeface="Calibri" pitchFamily="34" charset="-122"/>
                <a:cs typeface="Calibri" pitchFamily="34" charset="-120"/>
              </a:rPr>
              <a:t>MCMP117 — Fundamentals of Operating Systems</a:t>
            </a:r>
            <a:endParaRPr lang="en-US" sz="900" dirty="0"/>
          </a:p>
        </p:txBody>
      </p:sp>
      <p:sp>
        <p:nvSpPr>
          <p:cNvPr id="5" name="Text 3"/>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en-US" sz="900" dirty="0">
                <a:solidFill>
                  <a:srgbClr val="6B7679"/>
                </a:solidFill>
                <a:latin typeface="Calibri" pitchFamily="34" charset="0"/>
                <a:ea typeface="Calibri" pitchFamily="34" charset="-122"/>
                <a:cs typeface="Calibri" pitchFamily="34" charset="-120"/>
              </a:rPr>
              <a:t>Week 8  ·  34</a:t>
            </a:r>
            <a:endParaRPr lang="en-US" sz="900" dirty="0"/>
          </a:p>
        </p:txBody>
      </p:sp>
      <p:sp>
        <p:nvSpPr>
          <p:cNvPr id="6" name="Shape 4"/>
          <p:cNvSpPr/>
          <p:nvPr/>
        </p:nvSpPr>
        <p:spPr>
          <a:xfrm>
            <a:off x="548640" y="1508760"/>
            <a:ext cx="11109960" cy="1037844"/>
          </a:xfrm>
          <a:prstGeom prst="roundRect">
            <a:avLst>
              <a:gd name="adj" fmla="val 5286"/>
            </a:avLst>
          </a:prstGeom>
          <a:solidFill>
            <a:srgbClr val="F2F2F2"/>
          </a:solidFill>
          <a:ln/>
          <a:effectLst>
            <a:outerShdw sx="100000" sy="100000" kx="0" ky="0" algn="bl" rotWithShape="0" blurRad="101600" dist="25400" dir="5400000">
              <a:srgbClr val="000000">
                <a:alpha val="12000"/>
              </a:srgbClr>
            </a:outerShdw>
          </a:effectLst>
        </p:spPr>
        <p:txBody>
          <a:bodyPr/>
          <a:p/>
        </p:txBody>
      </p:sp>
      <p:sp>
        <p:nvSpPr>
          <p:cNvPr id="7" name="Shape 5"/>
          <p:cNvSpPr/>
          <p:nvPr/>
        </p:nvSpPr>
        <p:spPr>
          <a:xfrm>
            <a:off x="777240" y="1780794"/>
            <a:ext cx="493776" cy="493776"/>
          </a:xfrm>
          <a:prstGeom prst="ellipse">
            <a:avLst/>
          </a:prstGeom>
          <a:solidFill>
            <a:srgbClr val="02C39A"/>
          </a:solidFill>
          <a:ln/>
        </p:spPr>
        <p:txBody>
          <a:bodyPr/>
          <a:p/>
        </p:txBody>
      </p:sp>
      <p:sp>
        <p:nvSpPr>
          <p:cNvPr id="8" name="Text 6"/>
          <p:cNvSpPr txBox="1"/>
          <p:nvPr/>
        </p:nvSpPr>
        <p:spPr>
          <a:xfrm>
            <a:off x="777240" y="1780794"/>
            <a:ext cx="493776" cy="493776"/>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1</a:t>
            </a:r>
            <a:endParaRPr lang="en-US" sz="1600" dirty="0"/>
          </a:p>
        </p:txBody>
      </p:sp>
      <p:sp>
        <p:nvSpPr>
          <p:cNvPr id="9" name="Text 7"/>
          <p:cNvSpPr txBox="1"/>
          <p:nvPr/>
        </p:nvSpPr>
        <p:spPr>
          <a:xfrm>
            <a:off x="1508760" y="1508760"/>
            <a:ext cx="9921240" cy="1037844"/>
          </a:xfrm>
          <a:prstGeom prst="rect">
            <a:avLst/>
          </a:prstGeom>
          <a:noFill/>
          <a:ln/>
        </p:spPr>
        <p:txBody>
          <a:bodyPr wrap="square" lIns="0" tIns="0" rIns="0" bIns="0" rtlCol="0" anchor="ctr"/>
          <a:lstStyle/>
          <a:p>
            <a:pPr indent="0" marL="0">
              <a:buNone/>
            </a:pPr>
            <a:r>
              <a:rPr lang="en-US" sz="1600" dirty="0">
                <a:solidFill>
                  <a:srgbClr val="3A464C"/>
                </a:solidFill>
                <a:latin typeface="Calibri" pitchFamily="34" charset="0"/>
                <a:ea typeface="Calibri" pitchFamily="34" charset="-122"/>
                <a:cs typeface="Calibri" pitchFamily="34" charset="-120"/>
              </a:rPr>
              <a:t>A process arrives at t = 3, needs 4 ms of CPU and finishes at t = 15. What are its turnaround and waiting times?</a:t>
            </a:r>
            <a:endParaRPr lang="en-US" sz="1600" dirty="0"/>
          </a:p>
        </p:txBody>
      </p:sp>
      <p:sp>
        <p:nvSpPr>
          <p:cNvPr id="10" name="Shape 8"/>
          <p:cNvSpPr/>
          <p:nvPr/>
        </p:nvSpPr>
        <p:spPr>
          <a:xfrm>
            <a:off x="548640" y="2747772"/>
            <a:ext cx="11109960" cy="1037844"/>
          </a:xfrm>
          <a:prstGeom prst="roundRect">
            <a:avLst>
              <a:gd name="adj" fmla="val 5286"/>
            </a:avLst>
          </a:prstGeom>
          <a:solidFill>
            <a:srgbClr val="F2F2F2"/>
          </a:solidFill>
          <a:ln/>
          <a:effectLst>
            <a:outerShdw sx="100000" sy="100000" kx="0" ky="0" algn="bl" rotWithShape="0" blurRad="101600" dist="25400" dir="5400000">
              <a:srgbClr val="000000">
                <a:alpha val="12000"/>
              </a:srgbClr>
            </a:outerShdw>
          </a:effectLst>
        </p:spPr>
        <p:txBody>
          <a:bodyPr/>
          <a:p/>
        </p:txBody>
      </p:sp>
      <p:sp>
        <p:nvSpPr>
          <p:cNvPr id="11" name="Shape 9"/>
          <p:cNvSpPr/>
          <p:nvPr/>
        </p:nvSpPr>
        <p:spPr>
          <a:xfrm>
            <a:off x="777240" y="3019806"/>
            <a:ext cx="493776" cy="493776"/>
          </a:xfrm>
          <a:prstGeom prst="ellipse">
            <a:avLst/>
          </a:prstGeom>
          <a:solidFill>
            <a:srgbClr val="02C39A"/>
          </a:solidFill>
          <a:ln/>
        </p:spPr>
        <p:txBody>
          <a:bodyPr/>
          <a:p/>
        </p:txBody>
      </p:sp>
      <p:sp>
        <p:nvSpPr>
          <p:cNvPr id="12" name="Text 10"/>
          <p:cNvSpPr txBox="1"/>
          <p:nvPr/>
        </p:nvSpPr>
        <p:spPr>
          <a:xfrm>
            <a:off x="777240" y="3019806"/>
            <a:ext cx="493776" cy="493776"/>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2</a:t>
            </a:r>
            <a:endParaRPr lang="en-US" sz="1600" dirty="0"/>
          </a:p>
        </p:txBody>
      </p:sp>
      <p:sp>
        <p:nvSpPr>
          <p:cNvPr id="13" name="Text 11"/>
          <p:cNvSpPr txBox="1"/>
          <p:nvPr/>
        </p:nvSpPr>
        <p:spPr>
          <a:xfrm>
            <a:off x="1508760" y="2747772"/>
            <a:ext cx="9921240" cy="1037844"/>
          </a:xfrm>
          <a:prstGeom prst="rect">
            <a:avLst/>
          </a:prstGeom>
          <a:noFill/>
          <a:ln/>
        </p:spPr>
        <p:txBody>
          <a:bodyPr wrap="square" lIns="0" tIns="0" rIns="0" bIns="0" rtlCol="0" anchor="ctr"/>
          <a:lstStyle/>
          <a:p>
            <a:pPr indent="0" marL="0">
              <a:buNone/>
            </a:pPr>
            <a:r>
              <a:rPr lang="en-US" sz="1600" dirty="0">
                <a:solidFill>
                  <a:srgbClr val="3A464C"/>
                </a:solidFill>
                <a:latin typeface="Calibri" pitchFamily="34" charset="0"/>
                <a:ea typeface="Calibri" pitchFamily="34" charset="-122"/>
                <a:cs typeface="Calibri" pitchFamily="34" charset="-120"/>
              </a:rPr>
              <a:t>With the page table of Problem 5 (page 2 → frame 6), translate the logical address 0x2ABC.</a:t>
            </a:r>
            <a:endParaRPr lang="en-US" sz="1600" dirty="0"/>
          </a:p>
        </p:txBody>
      </p:sp>
      <p:sp>
        <p:nvSpPr>
          <p:cNvPr id="14" name="Shape 12"/>
          <p:cNvSpPr/>
          <p:nvPr/>
        </p:nvSpPr>
        <p:spPr>
          <a:xfrm>
            <a:off x="548640" y="3986784"/>
            <a:ext cx="11109960" cy="1037844"/>
          </a:xfrm>
          <a:prstGeom prst="roundRect">
            <a:avLst>
              <a:gd name="adj" fmla="val 5286"/>
            </a:avLst>
          </a:prstGeom>
          <a:solidFill>
            <a:srgbClr val="F2F2F2"/>
          </a:solidFill>
          <a:ln/>
          <a:effectLst>
            <a:outerShdw sx="100000" sy="100000" kx="0" ky="0" algn="bl" rotWithShape="0" blurRad="101600" dist="25400" dir="5400000">
              <a:srgbClr val="000000">
                <a:alpha val="12000"/>
              </a:srgbClr>
            </a:outerShdw>
          </a:effectLst>
        </p:spPr>
        <p:txBody>
          <a:bodyPr/>
          <a:p/>
        </p:txBody>
      </p:sp>
      <p:sp>
        <p:nvSpPr>
          <p:cNvPr id="15" name="Shape 13"/>
          <p:cNvSpPr/>
          <p:nvPr/>
        </p:nvSpPr>
        <p:spPr>
          <a:xfrm>
            <a:off x="777240" y="4258818"/>
            <a:ext cx="493776" cy="493776"/>
          </a:xfrm>
          <a:prstGeom prst="ellipse">
            <a:avLst/>
          </a:prstGeom>
          <a:solidFill>
            <a:srgbClr val="02C39A"/>
          </a:solidFill>
          <a:ln/>
        </p:spPr>
        <p:txBody>
          <a:bodyPr/>
          <a:p/>
        </p:txBody>
      </p:sp>
      <p:sp>
        <p:nvSpPr>
          <p:cNvPr id="16" name="Text 14"/>
          <p:cNvSpPr txBox="1"/>
          <p:nvPr/>
        </p:nvSpPr>
        <p:spPr>
          <a:xfrm>
            <a:off x="777240" y="4258818"/>
            <a:ext cx="493776" cy="493776"/>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3</a:t>
            </a:r>
            <a:endParaRPr lang="en-US" sz="1600" dirty="0"/>
          </a:p>
        </p:txBody>
      </p:sp>
      <p:sp>
        <p:nvSpPr>
          <p:cNvPr id="17" name="Text 15"/>
          <p:cNvSpPr txBox="1"/>
          <p:nvPr/>
        </p:nvSpPr>
        <p:spPr>
          <a:xfrm>
            <a:off x="1508760" y="3986784"/>
            <a:ext cx="9921240" cy="1037844"/>
          </a:xfrm>
          <a:prstGeom prst="rect">
            <a:avLst/>
          </a:prstGeom>
          <a:noFill/>
          <a:ln/>
        </p:spPr>
        <p:txBody>
          <a:bodyPr wrap="square" lIns="0" tIns="0" rIns="0" bIns="0" rtlCol="0" anchor="ctr"/>
          <a:lstStyle/>
          <a:p>
            <a:pPr indent="0" marL="0">
              <a:buNone/>
            </a:pPr>
            <a:r>
              <a:rPr lang="en-US" sz="1600" dirty="0">
                <a:solidFill>
                  <a:srgbClr val="3A464C"/>
                </a:solidFill>
                <a:latin typeface="Calibri" pitchFamily="34" charset="0"/>
                <a:ea typeface="Calibri" pitchFamily="34" charset="-122"/>
                <a:cs typeface="Calibri" pitchFamily="34" charset="-120"/>
              </a:rPr>
              <a:t>t_TLB = 10 ns, t_m = 100 ns, hit ratio α = 0.9. Effective access time (course convention)?</a:t>
            </a:r>
            <a:endParaRPr lang="en-US" sz="1600" dirty="0"/>
          </a:p>
        </p:txBody>
      </p:sp>
      <p:sp>
        <p:nvSpPr>
          <p:cNvPr id="18" name="Shape 16"/>
          <p:cNvSpPr/>
          <p:nvPr/>
        </p:nvSpPr>
        <p:spPr>
          <a:xfrm>
            <a:off x="548640" y="5225796"/>
            <a:ext cx="11109960" cy="1037844"/>
          </a:xfrm>
          <a:prstGeom prst="roundRect">
            <a:avLst>
              <a:gd name="adj" fmla="val 5286"/>
            </a:avLst>
          </a:prstGeom>
          <a:solidFill>
            <a:srgbClr val="F2F2F2"/>
          </a:solidFill>
          <a:ln/>
          <a:effectLst>
            <a:outerShdw sx="100000" sy="100000" kx="0" ky="0" algn="bl" rotWithShape="0" blurRad="101600" dist="25400" dir="5400000">
              <a:srgbClr val="000000">
                <a:alpha val="12000"/>
              </a:srgbClr>
            </a:outerShdw>
          </a:effectLst>
        </p:spPr>
        <p:txBody>
          <a:bodyPr/>
          <a:p/>
        </p:txBody>
      </p:sp>
      <p:sp>
        <p:nvSpPr>
          <p:cNvPr id="19" name="Shape 17"/>
          <p:cNvSpPr/>
          <p:nvPr/>
        </p:nvSpPr>
        <p:spPr>
          <a:xfrm>
            <a:off x="777240" y="5497830"/>
            <a:ext cx="493776" cy="493776"/>
          </a:xfrm>
          <a:prstGeom prst="ellipse">
            <a:avLst/>
          </a:prstGeom>
          <a:solidFill>
            <a:srgbClr val="02C39A"/>
          </a:solidFill>
          <a:ln/>
        </p:spPr>
        <p:txBody>
          <a:bodyPr/>
          <a:p/>
        </p:txBody>
      </p:sp>
      <p:sp>
        <p:nvSpPr>
          <p:cNvPr id="20" name="Text 18"/>
          <p:cNvSpPr txBox="1"/>
          <p:nvPr/>
        </p:nvSpPr>
        <p:spPr>
          <a:xfrm>
            <a:off x="777240" y="5497830"/>
            <a:ext cx="493776" cy="493776"/>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4</a:t>
            </a:r>
            <a:endParaRPr lang="en-US" sz="1600" dirty="0"/>
          </a:p>
        </p:txBody>
      </p:sp>
      <p:sp>
        <p:nvSpPr>
          <p:cNvPr id="21" name="Text 19"/>
          <p:cNvSpPr txBox="1"/>
          <p:nvPr/>
        </p:nvSpPr>
        <p:spPr>
          <a:xfrm>
            <a:off x="1508760" y="5225796"/>
            <a:ext cx="9921240" cy="1037844"/>
          </a:xfrm>
          <a:prstGeom prst="rect">
            <a:avLst/>
          </a:prstGeom>
          <a:noFill/>
          <a:ln/>
        </p:spPr>
        <p:txBody>
          <a:bodyPr wrap="square" lIns="0" tIns="0" rIns="0" bIns="0" rtlCol="0" anchor="ctr"/>
          <a:lstStyle/>
          <a:p>
            <a:pPr indent="0" marL="0">
              <a:buNone/>
            </a:pPr>
            <a:r>
              <a:rPr lang="en-US" sz="1600" dirty="0">
                <a:solidFill>
                  <a:srgbClr val="3A464C"/>
                </a:solidFill>
                <a:latin typeface="Calibri" pitchFamily="34" charset="0"/>
                <a:ea typeface="Calibri" pitchFamily="34" charset="-122"/>
                <a:cs typeface="Calibri" pitchFamily="34" charset="-120"/>
              </a:rPr>
              <a:t>ln -s a.txt b.txt, then rm a.txt. Can you still read the data through b.txt? Why?</a:t>
            </a:r>
            <a:endParaRPr lang="en-US" sz="16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en-US" sz="1200" b="1" spc="200" kern="0" dirty="0">
                <a:solidFill>
                  <a:srgbClr val="02C39A"/>
                </a:solidFill>
                <a:latin typeface="Calibri" pitchFamily="34" charset="0"/>
                <a:ea typeface="Calibri" pitchFamily="34" charset="-122"/>
                <a:cs typeface="Calibri" pitchFamily="34" charset="-120"/>
              </a:rPr>
              <a:t>WRAP-UP</a:t>
            </a:r>
            <a:endParaRPr lang="en-US"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en-US" sz="3000" b="1" dirty="0">
                <a:solidFill>
                  <a:srgbClr val="36454F"/>
                </a:solidFill>
                <a:latin typeface="Cambria" pitchFamily="34" charset="0"/>
                <a:ea typeface="Cambria" pitchFamily="34" charset="-122"/>
                <a:cs typeface="Cambria" pitchFamily="34" charset="-120"/>
              </a:rPr>
              <a:t>Week 8 — Key Takeaways</a:t>
            </a:r>
            <a:endParaRPr lang="en-US" sz="3000" dirty="0"/>
          </a:p>
        </p:txBody>
      </p:sp>
      <p:sp>
        <p:nvSpPr>
          <p:cNvPr id="4" name="Text 2"/>
          <p:cNvSpPr txBox="1"/>
          <p:nvPr/>
        </p:nvSpPr>
        <p:spPr>
          <a:xfrm>
            <a:off x="548640" y="6528816"/>
            <a:ext cx="6400800" cy="274320"/>
          </a:xfrm>
          <a:prstGeom prst="rect">
            <a:avLst/>
          </a:prstGeom>
          <a:noFill/>
          <a:ln/>
        </p:spPr>
        <p:txBody>
          <a:bodyPr wrap="square" lIns="0" tIns="0" rIns="0" bIns="0" rtlCol="0" anchor="ctr"/>
          <a:lstStyle/>
          <a:p>
            <a:pPr indent="0" marL="0">
              <a:buNone/>
            </a:pPr>
            <a:r>
              <a:rPr lang="en-US" sz="900" dirty="0">
                <a:solidFill>
                  <a:srgbClr val="6B7679"/>
                </a:solidFill>
                <a:latin typeface="Calibri" pitchFamily="34" charset="0"/>
                <a:ea typeface="Calibri" pitchFamily="34" charset="-122"/>
                <a:cs typeface="Calibri" pitchFamily="34" charset="-120"/>
              </a:rPr>
              <a:t>MCMP117 — Fundamentals of Operating Systems</a:t>
            </a:r>
            <a:endParaRPr lang="en-US" sz="900" dirty="0"/>
          </a:p>
        </p:txBody>
      </p:sp>
      <p:sp>
        <p:nvSpPr>
          <p:cNvPr id="5" name="Text 3"/>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en-US" sz="900" dirty="0">
                <a:solidFill>
                  <a:srgbClr val="6B7679"/>
                </a:solidFill>
                <a:latin typeface="Calibri" pitchFamily="34" charset="0"/>
                <a:ea typeface="Calibri" pitchFamily="34" charset="-122"/>
                <a:cs typeface="Calibri" pitchFamily="34" charset="-120"/>
              </a:rPr>
              <a:t>Week 8  ·  35</a:t>
            </a:r>
            <a:endParaRPr lang="en-US" sz="900" dirty="0"/>
          </a:p>
        </p:txBody>
      </p:sp>
      <p:sp>
        <p:nvSpPr>
          <p:cNvPr id="6" name="Text 4"/>
          <p:cNvSpPr txBox="1"/>
          <p:nvPr/>
        </p:nvSpPr>
        <p:spPr>
          <a:xfrm>
            <a:off x="548640" y="1554480"/>
            <a:ext cx="11064240" cy="4709160"/>
          </a:xfrm>
          <a:prstGeom prst="rect">
            <a:avLst/>
          </a:prstGeom>
          <a:noFill/>
          <a:ln/>
        </p:spPr>
        <p:txBody>
          <a:bodyPr wrap="square" lIns="0" tIns="0" rIns="0" bIns="0" rtlCol="0" anchor="t"/>
          <a:lstStyle/>
          <a:p>
            <a:pPr marL="228600" indent="-228600">
              <a:spcAft>
                <a:spcPts val="1400"/>
              </a:spcAft>
              <a:buSzPct val="100000"/>
              <a:buChar char="•"/>
            </a:pPr>
            <a:r>
              <a:rPr lang="en-US" sz="1900" b="1" dirty="0">
                <a:solidFill>
                  <a:srgbClr val="3A464C"/>
                </a:solidFill>
                <a:latin typeface="Calibri" pitchFamily="34" charset="0"/>
                <a:ea typeface="Calibri" pitchFamily="34" charset="-122"/>
                <a:cs typeface="Calibri" pitchFamily="34" charset="-120"/>
              </a:rPr>
              <a:t>Weeks 1–4:</a:t>
            </a:r>
            <a:r>
              <a:rPr lang="en-US" sz="1900" dirty="0">
                <a:solidFill>
                  <a:srgbClr val="3A464C"/>
                </a:solidFill>
                <a:latin typeface="Calibri" pitchFamily="34" charset="0"/>
                <a:ea typeface="Calibri" pitchFamily="34" charset="-122"/>
                <a:cs typeface="Calibri" pitchFamily="34" charset="-120"/>
              </a:rPr>
              <a:t> history and goals, dual mode and system calls, process states and PCB, threads — know the definitions and one example each.</a:t>
            </a:r>
            <a:endParaRPr lang="en-US" sz="1900" dirty="0"/>
          </a:p>
          <a:p>
            <a:pPr marL="228600" indent="-228600">
              <a:spcAft>
                <a:spcPts val="1400"/>
              </a:spcAft>
              <a:buSzPct val="100000"/>
              <a:buChar char="•"/>
            </a:pPr>
            <a:r>
              <a:rPr lang="en-US" sz="1900" b="1" dirty="0">
                <a:solidFill>
                  <a:srgbClr val="3A464C"/>
                </a:solidFill>
                <a:latin typeface="Calibri" pitchFamily="34" charset="0"/>
                <a:ea typeface="Calibri" pitchFamily="34" charset="-122"/>
                <a:cs typeface="Calibri" pitchFamily="34" charset="-120"/>
              </a:rPr>
              <a:t>Scheduling:</a:t>
            </a:r>
            <a:r>
              <a:rPr lang="en-US" sz="1900" dirty="0">
                <a:solidFill>
                  <a:srgbClr val="3A464C"/>
                </a:solidFill>
                <a:latin typeface="Calibri" pitchFamily="34" charset="0"/>
                <a:ea typeface="Calibri" pitchFamily="34" charset="-122"/>
                <a:cs typeface="Calibri" pitchFamily="34" charset="-120"/>
              </a:rPr>
              <a:t> draw the Gantt chart, then turnaround = completion − arrival and waiting = turnaround − burst; state the conventions.</a:t>
            </a:r>
            <a:endParaRPr lang="en-US" sz="1900" dirty="0"/>
          </a:p>
          <a:p>
            <a:pPr marL="228600" indent="-228600">
              <a:spcAft>
                <a:spcPts val="1400"/>
              </a:spcAft>
              <a:buSzPct val="100000"/>
              <a:buChar char="•"/>
            </a:pPr>
            <a:r>
              <a:rPr lang="en-US" sz="1900" b="1" dirty="0">
                <a:solidFill>
                  <a:srgbClr val="3A464C"/>
                </a:solidFill>
                <a:latin typeface="Calibri" pitchFamily="34" charset="0"/>
                <a:ea typeface="Calibri" pitchFamily="34" charset="-122"/>
                <a:cs typeface="Calibri" pitchFamily="34" charset="-120"/>
              </a:rPr>
              <a:t>Synchronisation:</a:t>
            </a:r>
            <a:r>
              <a:rPr lang="en-US" sz="1900" dirty="0">
                <a:solidFill>
                  <a:srgbClr val="3A464C"/>
                </a:solidFill>
                <a:latin typeface="Calibri" pitchFamily="34" charset="0"/>
                <a:ea typeface="Calibri" pitchFamily="34" charset="-122"/>
                <a:cs typeface="Calibri" pitchFamily="34" charset="-120"/>
              </a:rPr>
              <a:t> counter++ is load–add–store; three requirements; mutex and semaphores; lock order against deadlock.</a:t>
            </a:r>
            <a:endParaRPr lang="en-US" sz="1900" dirty="0"/>
          </a:p>
          <a:p>
            <a:pPr marL="228600" indent="-228600">
              <a:spcAft>
                <a:spcPts val="1400"/>
              </a:spcAft>
              <a:buSzPct val="100000"/>
              <a:buChar char="•"/>
            </a:pPr>
            <a:r>
              <a:rPr lang="en-US" sz="1900" b="1" dirty="0">
                <a:solidFill>
                  <a:srgbClr val="3A464C"/>
                </a:solidFill>
                <a:latin typeface="Calibri" pitchFamily="34" charset="0"/>
                <a:ea typeface="Calibri" pitchFamily="34" charset="-122"/>
                <a:cs typeface="Calibri" pitchFamily="34" charset="-120"/>
              </a:rPr>
              <a:t>Memory:</a:t>
            </a:r>
            <a:r>
              <a:rPr lang="en-US" sz="1900" dirty="0">
                <a:solidFill>
                  <a:srgbClr val="3A464C"/>
                </a:solidFill>
                <a:latin typeface="Calibri" pitchFamily="34" charset="0"/>
                <a:ea typeface="Calibri" pitchFamily="34" charset="-122"/>
                <a:cs typeface="Calibri" pitchFamily="34" charset="-120"/>
              </a:rPr>
              <a:t> base + limit check, fits and fragmentation, p | d split, EAT = t_TLB + (2 − α) t_m.</a:t>
            </a:r>
            <a:endParaRPr lang="en-US" sz="1900" dirty="0"/>
          </a:p>
          <a:p>
            <a:pPr marL="228600" indent="-228600">
              <a:spcAft>
                <a:spcPts val="1400"/>
              </a:spcAft>
              <a:buSzPct val="100000"/>
              <a:buChar char="•"/>
            </a:pPr>
            <a:r>
              <a:rPr lang="en-US" sz="1900" b="1" dirty="0">
                <a:solidFill>
                  <a:srgbClr val="3A464C"/>
                </a:solidFill>
                <a:latin typeface="Calibri" pitchFamily="34" charset="0"/>
                <a:ea typeface="Calibri" pitchFamily="34" charset="-122"/>
                <a:cs typeface="Calibri" pitchFamily="34" charset="-120"/>
              </a:rPr>
              <a:t>Virtual memory and files:</a:t>
            </a:r>
            <a:r>
              <a:rPr lang="en-US" sz="1900" dirty="0">
                <a:solidFill>
                  <a:srgbClr val="3A464C"/>
                </a:solidFill>
                <a:latin typeface="Calibri" pitchFamily="34" charset="0"/>
                <a:ea typeface="Calibri" pitchFamily="34" charset="-122"/>
                <a:cs typeface="Calibri" pitchFamily="34" charset="-120"/>
              </a:rPr>
              <a:t> EAT = (1 − p) t_m + p t_fault; FIFO / OPT / LRU tables; block = ⌊kR/B⌋; hard vs symbolic links.</a:t>
            </a:r>
            <a:endParaRPr lang="en-US" sz="1900" dirty="0"/>
          </a:p>
          <a:p>
            <a:pPr marL="228600" indent="-228600">
              <a:spcAft>
                <a:spcPts val="1400"/>
              </a:spcAft>
              <a:buSzPct val="100000"/>
              <a:buChar char="•"/>
            </a:pPr>
            <a:r>
              <a:rPr lang="en-US" sz="1900" b="1" dirty="0">
                <a:solidFill>
                  <a:srgbClr val="3A464C"/>
                </a:solidFill>
                <a:latin typeface="Calibri" pitchFamily="34" charset="0"/>
                <a:ea typeface="Calibri" pitchFamily="34" charset="-122"/>
                <a:cs typeface="Calibri" pitchFamily="34" charset="-120"/>
              </a:rPr>
              <a:t>Practice:</a:t>
            </a:r>
            <a:r>
              <a:rPr lang="en-US" sz="1900" dirty="0">
                <a:solidFill>
                  <a:srgbClr val="3A464C"/>
                </a:solidFill>
                <a:latin typeface="Calibri" pitchFamily="34" charset="0"/>
                <a:ea typeface="Calibri" pitchFamily="34" charset="-122"/>
                <a:cs typeface="Calibri" pitchFamily="34" charset="-120"/>
              </a:rPr>
              <a:t> the practice exam in the notes and the sample paper — with a clock.</a:t>
            </a:r>
            <a:endParaRPr lang="en-US" sz="19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212121"/>
        </a:solidFill>
      </p:bgPr>
    </p:bg>
    <p:spTree>
      <p:nvGrpSpPr>
        <p:cNvPr id="1" name=""/>
        <p:cNvGrpSpPr/>
        <p:nvPr/>
      </p:nvGrpSpPr>
      <p:grpSpPr>
        <a:xfrm>
          <a:off x="0" y="0"/>
          <a:ext cx="0" cy="0"/>
          <a:chOff x="0" y="0"/>
          <a:chExt cx="0" cy="0"/>
        </a:xfrm>
      </p:grpSpPr>
      <p:sp>
        <p:nvSpPr>
          <p:cNvPr id="2" name="Text 0"/>
          <p:cNvSpPr txBox="1"/>
          <p:nvPr/>
        </p:nvSpPr>
        <p:spPr>
          <a:xfrm>
            <a:off x="548640" y="1417320"/>
            <a:ext cx="9144000" cy="320040"/>
          </a:xfrm>
          <a:prstGeom prst="rect">
            <a:avLst/>
          </a:prstGeom>
          <a:noFill/>
          <a:ln/>
        </p:spPr>
        <p:txBody>
          <a:bodyPr wrap="square" lIns="0" tIns="0" rIns="0" bIns="0" rtlCol="0" anchor="ctr"/>
          <a:lstStyle/>
          <a:p>
            <a:pPr indent="0" marL="0">
              <a:buNone/>
            </a:pPr>
            <a:r>
              <a:rPr lang="en-US" sz="1300" b="1" spc="300" kern="0" dirty="0">
                <a:solidFill>
                  <a:srgbClr val="02C39A"/>
                </a:solidFill>
                <a:latin typeface="Calibri" pitchFamily="34" charset="0"/>
                <a:ea typeface="Calibri" pitchFamily="34" charset="-122"/>
                <a:cs typeface="Calibri" pitchFamily="34" charset="-120"/>
              </a:rPr>
              <a:t>NEXT WEEK</a:t>
            </a:r>
            <a:endParaRPr lang="en-US" sz="1300" dirty="0"/>
          </a:p>
        </p:txBody>
      </p:sp>
      <p:sp>
        <p:nvSpPr>
          <p:cNvPr id="3" name="Text 1"/>
          <p:cNvSpPr txBox="1"/>
          <p:nvPr/>
        </p:nvSpPr>
        <p:spPr>
          <a:xfrm>
            <a:off x="548640" y="1783080"/>
            <a:ext cx="10972800" cy="777240"/>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Linux Shell Basics &amp; Filesystem Navigation</a:t>
            </a:r>
            <a:endParaRPr lang="en-US" sz="3400" dirty="0"/>
          </a:p>
        </p:txBody>
      </p:sp>
      <p:sp>
        <p:nvSpPr>
          <p:cNvPr id="4" name="Shape 2"/>
          <p:cNvSpPr/>
          <p:nvPr/>
        </p:nvSpPr>
        <p:spPr>
          <a:xfrm>
            <a:off x="548640" y="2834640"/>
            <a:ext cx="7680960" cy="2926080"/>
          </a:xfrm>
          <a:prstGeom prst="roundRect">
            <a:avLst>
              <a:gd name="adj" fmla="val 1875"/>
            </a:avLst>
          </a:prstGeom>
          <a:solidFill>
            <a:srgbClr val="36454F"/>
          </a:solidFill>
          <a:ln/>
        </p:spPr>
        <p:txBody>
          <a:bodyPr/>
          <a:p/>
        </p:txBody>
      </p:sp>
      <p:sp>
        <p:nvSpPr>
          <p:cNvPr id="5" name="Text 3"/>
          <p:cNvSpPr txBox="1"/>
          <p:nvPr/>
        </p:nvSpPr>
        <p:spPr>
          <a:xfrm>
            <a:off x="868680" y="3017520"/>
            <a:ext cx="7132320" cy="365760"/>
          </a:xfrm>
          <a:prstGeom prst="rect">
            <a:avLst/>
          </a:prstGeom>
          <a:noFill/>
          <a:ln/>
        </p:spPr>
        <p:txBody>
          <a:bodyPr wrap="square" lIns="0" tIns="0" rIns="0" bIns="0" rtlCol="0" anchor="ctr"/>
          <a:lstStyle/>
          <a:p>
            <a:pPr indent="0" marL="0">
              <a:buNone/>
            </a:pPr>
            <a:r>
              <a:rPr lang="en-US" sz="1400" b="1" dirty="0">
                <a:solidFill>
                  <a:srgbClr val="02C39A"/>
                </a:solidFill>
                <a:latin typeface="Calibri" pitchFamily="34" charset="0"/>
                <a:ea typeface="Calibri" pitchFamily="34" charset="-122"/>
                <a:cs typeface="Calibri" pitchFamily="34" charset="-120"/>
              </a:rPr>
              <a:t>Week 9 will cover:</a:t>
            </a:r>
            <a:endParaRPr lang="en-US" sz="1400" dirty="0"/>
          </a:p>
        </p:txBody>
      </p:sp>
      <p:sp>
        <p:nvSpPr>
          <p:cNvPr id="6" name="Text 4"/>
          <p:cNvSpPr txBox="1"/>
          <p:nvPr/>
        </p:nvSpPr>
        <p:spPr>
          <a:xfrm>
            <a:off x="868680" y="3474720"/>
            <a:ext cx="7132320" cy="2148840"/>
          </a:xfrm>
          <a:prstGeom prst="rect">
            <a:avLst/>
          </a:prstGeom>
          <a:noFill/>
          <a:ln/>
        </p:spPr>
        <p:txBody>
          <a:bodyPr wrap="square" lIns="0" tIns="0" rIns="0" bIns="0" rtlCol="0" anchor="t"/>
          <a:lstStyle/>
          <a:p>
            <a:pPr marL="228600" indent="-228600">
              <a:spcAft>
                <a:spcPts val="600"/>
              </a:spcAft>
              <a:buSzPct val="100000"/>
              <a:buChar char="•"/>
            </a:pPr>
            <a:r>
              <a:rPr lang="en-US" sz="1500" dirty="0">
                <a:solidFill>
                  <a:srgbClr val="F2F2F2"/>
                </a:solidFill>
                <a:latin typeface="Calibri" pitchFamily="34" charset="0"/>
                <a:ea typeface="Calibri" pitchFamily="34" charset="-122"/>
                <a:cs typeface="Calibri" pitchFamily="34" charset="-120"/>
              </a:rPr>
              <a:t>Getting Linux: lab PCs, WSL (wsl --install) or an Ubuntu VM in VirtualBox</a:t>
            </a:r>
            <a:endParaRPr lang="en-US" sz="1500" dirty="0"/>
          </a:p>
          <a:p>
            <a:pPr marL="228600" indent="-228600">
              <a:spcAft>
                <a:spcPts val="600"/>
              </a:spcAft>
              <a:buSzPct val="100000"/>
              <a:buChar char="•"/>
            </a:pPr>
            <a:r>
              <a:rPr lang="en-US" sz="1500" dirty="0">
                <a:solidFill>
                  <a:srgbClr val="F2F2F2"/>
                </a:solidFill>
                <a:latin typeface="Calibri" pitchFamily="34" charset="0"/>
                <a:ea typeface="Calibri" pitchFamily="34" charset="-122"/>
                <a:cs typeface="Calibri" pitchFamily="34" charset="-120"/>
              </a:rPr>
              <a:t>Terminal vs shell vs kernel — the shell is a system program (Week 2)</a:t>
            </a:r>
            <a:endParaRPr lang="en-US" sz="1500" dirty="0"/>
          </a:p>
          <a:p>
            <a:pPr marL="228600" indent="-228600">
              <a:spcAft>
                <a:spcPts val="600"/>
              </a:spcAft>
              <a:buSzPct val="100000"/>
              <a:buChar char="•"/>
            </a:pPr>
            <a:r>
              <a:rPr lang="en-US" sz="1500" dirty="0">
                <a:solidFill>
                  <a:srgbClr val="F2F2F2"/>
                </a:solidFill>
                <a:latin typeface="Calibri" pitchFamily="34" charset="0"/>
                <a:ea typeface="Calibri" pitchFamily="34" charset="-122"/>
                <a:cs typeface="Calibri" pitchFamily="34" charset="-120"/>
              </a:rPr>
              <a:t>First commands: whoami, date, uname -a, pwd, ls, cd</a:t>
            </a:r>
            <a:endParaRPr lang="en-US" sz="1500" dirty="0"/>
          </a:p>
          <a:p>
            <a:pPr marL="228600" indent="-228600">
              <a:spcAft>
                <a:spcPts val="600"/>
              </a:spcAft>
              <a:buSzPct val="100000"/>
              <a:buChar char="•"/>
            </a:pPr>
            <a:r>
              <a:rPr lang="en-US" sz="1500" dirty="0">
                <a:solidFill>
                  <a:srgbClr val="F2F2F2"/>
                </a:solidFill>
                <a:latin typeface="Calibri" pitchFamily="34" charset="0"/>
                <a:ea typeface="Calibri" pitchFamily="34" charset="-122"/>
                <a:cs typeface="Calibri" pitchFamily="34" charset="-120"/>
              </a:rPr>
              <a:t>Absolute and relative paths in the real directory tree (Week 7)</a:t>
            </a:r>
            <a:endParaRPr lang="en-US" sz="1500" dirty="0"/>
          </a:p>
          <a:p>
            <a:pPr marL="228600" indent="-228600">
              <a:spcAft>
                <a:spcPts val="600"/>
              </a:spcAft>
              <a:buSzPct val="100000"/>
              <a:buChar char="•"/>
            </a:pPr>
            <a:r>
              <a:rPr lang="en-US" sz="1500" dirty="0">
                <a:solidFill>
                  <a:srgbClr val="F2F2F2"/>
                </a:solidFill>
                <a:latin typeface="Calibri" pitchFamily="34" charset="0"/>
                <a:ea typeface="Calibri" pitchFamily="34" charset="-122"/>
                <a:cs typeface="Calibri" pitchFamily="34" charset="-120"/>
              </a:rPr>
              <a:t>Getting help: --help, man, tab completion, history</a:t>
            </a:r>
            <a:endParaRPr lang="en-US" sz="1500" dirty="0"/>
          </a:p>
        </p:txBody>
      </p:sp>
      <p:sp>
        <p:nvSpPr>
          <p:cNvPr id="7" name="Text 5"/>
          <p:cNvSpPr txBox="1"/>
          <p:nvPr/>
        </p:nvSpPr>
        <p:spPr>
          <a:xfrm>
            <a:off x="548640" y="6528816"/>
            <a:ext cx="6400800" cy="274320"/>
          </a:xfrm>
          <a:prstGeom prst="rect">
            <a:avLst/>
          </a:prstGeom>
          <a:noFill/>
          <a:ln/>
        </p:spPr>
        <p:txBody>
          <a:bodyPr wrap="square" lIns="0" tIns="0" rIns="0" bIns="0" rtlCol="0" anchor="ctr"/>
          <a:lstStyle/>
          <a:p>
            <a:pPr indent="0" marL="0">
              <a:buNone/>
            </a:pPr>
            <a:r>
              <a:rPr lang="en-US" sz="900" dirty="0">
                <a:solidFill>
                  <a:srgbClr val="8A9AA0"/>
                </a:solidFill>
                <a:latin typeface="Calibri" pitchFamily="34" charset="0"/>
                <a:ea typeface="Calibri" pitchFamily="34" charset="-122"/>
                <a:cs typeface="Calibri" pitchFamily="34" charset="-120"/>
              </a:rPr>
              <a:t>MCMP117 — Fundamentals of Operating Systems</a:t>
            </a:r>
            <a:endParaRPr lang="en-US" sz="900" dirty="0"/>
          </a:p>
        </p:txBody>
      </p:sp>
      <p:sp>
        <p:nvSpPr>
          <p:cNvPr id="8" name="Text 6"/>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en-US" sz="900" dirty="0">
                <a:solidFill>
                  <a:srgbClr val="8A9AA0"/>
                </a:solidFill>
                <a:latin typeface="Calibri" pitchFamily="34" charset="0"/>
                <a:ea typeface="Calibri" pitchFamily="34" charset="-122"/>
                <a:cs typeface="Calibri" pitchFamily="34" charset="-120"/>
              </a:rPr>
              <a:t>Week 8  ·  36</a:t>
            </a:r>
            <a:endParaRPr lang="en-US" sz="9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212121"/>
        </a:solidFill>
      </p:bgPr>
    </p:bg>
    <p:spTree>
      <p:nvGrpSpPr>
        <p:cNvPr id="1" name=""/>
        <p:cNvGrpSpPr/>
        <p:nvPr/>
      </p:nvGrpSpPr>
      <p:grpSpPr>
        <a:xfrm>
          <a:off x="0" y="0"/>
          <a:ext cx="0" cy="0"/>
          <a:chOff x="0" y="0"/>
          <a:chExt cx="0" cy="0"/>
        </a:xfrm>
      </p:grpSpPr>
      <p:sp>
        <p:nvSpPr>
          <p:cNvPr id="2" name="Text 0"/>
          <p:cNvSpPr txBox="1"/>
          <p:nvPr/>
        </p:nvSpPr>
        <p:spPr>
          <a:xfrm>
            <a:off x="548640" y="1417320"/>
            <a:ext cx="9144000" cy="320040"/>
          </a:xfrm>
          <a:prstGeom prst="rect">
            <a:avLst/>
          </a:prstGeom>
          <a:noFill/>
          <a:ln/>
        </p:spPr>
        <p:txBody>
          <a:bodyPr wrap="square" lIns="0" tIns="0" rIns="0" bIns="0" rtlCol="0" anchor="ctr"/>
          <a:lstStyle/>
          <a:p>
            <a:pPr indent="0" marL="0">
              <a:buNone/>
            </a:pPr>
            <a:r>
              <a:rPr lang="en-US" sz="1300" b="1" spc="300" kern="0" dirty="0">
                <a:solidFill>
                  <a:srgbClr val="02C39A"/>
                </a:solidFill>
                <a:latin typeface="Calibri" pitchFamily="34" charset="0"/>
                <a:ea typeface="Calibri" pitchFamily="34" charset="-122"/>
                <a:cs typeface="Calibri" pitchFamily="34" charset="-120"/>
              </a:rPr>
              <a:t>QUESTIONS?</a:t>
            </a:r>
            <a:endParaRPr lang="en-US" sz="1300" dirty="0"/>
          </a:p>
        </p:txBody>
      </p:sp>
      <p:sp>
        <p:nvSpPr>
          <p:cNvPr id="3" name="Text 1"/>
          <p:cNvSpPr txBox="1"/>
          <p:nvPr/>
        </p:nvSpPr>
        <p:spPr>
          <a:xfrm>
            <a:off x="548640" y="1783080"/>
            <a:ext cx="9144000" cy="777240"/>
          </a:xfrm>
          <a:prstGeom prst="rect">
            <a:avLst/>
          </a:prstGeom>
          <a:noFill/>
          <a:ln/>
        </p:spPr>
        <p:txBody>
          <a:bodyPr wrap="square" lIns="0" tIns="0" rIns="0" bIns="0"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Discussion</a:t>
            </a:r>
            <a:endParaRPr lang="en-US" sz="3800" dirty="0"/>
          </a:p>
        </p:txBody>
      </p:sp>
      <p:sp>
        <p:nvSpPr>
          <p:cNvPr id="4" name="Text 2"/>
          <p:cNvSpPr txBox="1"/>
          <p:nvPr/>
        </p:nvSpPr>
        <p:spPr>
          <a:xfrm>
            <a:off x="548640" y="2697480"/>
            <a:ext cx="6858000" cy="640080"/>
          </a:xfrm>
          <a:prstGeom prst="rect">
            <a:avLst/>
          </a:prstGeom>
          <a:noFill/>
          <a:ln/>
        </p:spPr>
        <p:txBody>
          <a:bodyPr wrap="square" lIns="0" tIns="0" rIns="0" bIns="0" rtlCol="0" anchor="ctr"/>
          <a:lstStyle/>
          <a:p>
            <a:pPr indent="0" marL="0">
              <a:buNone/>
            </a:pPr>
            <a:r>
              <a:rPr lang="en-US" sz="1400" i="1" dirty="0">
                <a:solidFill>
                  <a:srgbClr val="F2F2F2"/>
                </a:solidFill>
                <a:latin typeface="Calibri" pitchFamily="34" charset="0"/>
                <a:ea typeface="Calibri" pitchFamily="34" charset="-122"/>
                <a:cs typeface="Calibri" pitchFamily="34" charset="-120"/>
              </a:rPr>
              <a:t>If you have questions after class, ask them on the course Telegram channel — everyone benefits from the answer.</a:t>
            </a:r>
            <a:endParaRPr lang="en-US" sz="1400" dirty="0"/>
          </a:p>
        </p:txBody>
      </p:sp>
      <p:sp>
        <p:nvSpPr>
          <p:cNvPr id="7" name="Text 4"/>
          <p:cNvSpPr txBox="1"/>
          <p:nvPr/>
        </p:nvSpPr>
        <p:spPr>
          <a:xfrm>
            <a:off x="548640" y="3703320"/>
            <a:ext cx="5486400" cy="1463040"/>
          </a:xfrm>
          <a:prstGeom prst="rect">
            <a:avLst/>
          </a:prstGeom>
          <a:noFill/>
          <a:ln/>
        </p:spPr>
        <p:txBody>
          <a:bodyPr wrap="square" lIns="0" tIns="0" rIns="0" bIns="0" rtlCol="0" anchor="t"/>
          <a:lstStyle/>
          <a:p>
            <a:pPr indent="0" marL="0">
              <a:spcAft>
                <a:spcPts val="400"/>
              </a:spcAft>
              <a:buNone/>
            </a:pPr>
            <a:r>
              <a:rPr lang="en-US" sz="1400" b="1" dirty="0">
                <a:solidFill>
                  <a:srgbClr val="F2F2F2"/>
                </a:solidFill>
                <a:latin typeface="Calibri" pitchFamily="34" charset="0"/>
                <a:ea typeface="Calibri" pitchFamily="34" charset="-122"/>
                <a:cs typeface="Calibri" pitchFamily="34" charset="-120"/>
              </a:rPr>
              <a:t>Asst. Prof. Dr. Hasan Oğuz</a:t>
            </a:r>
            <a:endParaRPr lang="en-US" sz="1400" dirty="0"/>
          </a:p>
        </p:txBody>
      </p:sp>
      <p:sp>
        <p:nvSpPr>
          <p:cNvPr id="8" name="Text 5"/>
          <p:cNvSpPr txBox="1"/>
          <p:nvPr/>
        </p:nvSpPr>
        <p:spPr>
          <a:xfrm>
            <a:off x="548640" y="6528816"/>
            <a:ext cx="6400800" cy="274320"/>
          </a:xfrm>
          <a:prstGeom prst="rect">
            <a:avLst/>
          </a:prstGeom>
          <a:noFill/>
          <a:ln/>
        </p:spPr>
        <p:txBody>
          <a:bodyPr wrap="square" lIns="0" tIns="0" rIns="0" bIns="0" rtlCol="0" anchor="ctr"/>
          <a:lstStyle/>
          <a:p>
            <a:pPr indent="0" marL="0">
              <a:buNone/>
            </a:pPr>
            <a:r>
              <a:rPr lang="en-US" sz="900" dirty="0">
                <a:solidFill>
                  <a:srgbClr val="8A9AA0"/>
                </a:solidFill>
                <a:latin typeface="Calibri" pitchFamily="34" charset="0"/>
                <a:ea typeface="Calibri" pitchFamily="34" charset="-122"/>
                <a:cs typeface="Calibri" pitchFamily="34" charset="-120"/>
              </a:rPr>
              <a:t>MCMP117 — Fundamentals of Operating Systems</a:t>
            </a:r>
            <a:endParaRPr lang="en-US" sz="900" dirty="0"/>
          </a:p>
        </p:txBody>
      </p:sp>
      <p:sp>
        <p:nvSpPr>
          <p:cNvPr id="9" name="Text 6"/>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en-US" sz="900" dirty="0">
                <a:solidFill>
                  <a:srgbClr val="8A9AA0"/>
                </a:solidFill>
                <a:latin typeface="Calibri" pitchFamily="34" charset="0"/>
                <a:ea typeface="Calibri" pitchFamily="34" charset="-122"/>
                <a:cs typeface="Calibri" pitchFamily="34" charset="-120"/>
              </a:rPr>
              <a:t>Week 8  ·  37</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37</Slides>
  <Notes>37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37</vt:i4>
      </vt:variant>
    </vt:vector>
  </HeadingPairs>
  <TitlesOfParts>
    <vt:vector size="4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MCMP117 Week 8</dc:title>
  <dc:subject>PptxGenJS Presentation</dc:subject>
  <dc:creator>PptxGenJS</dc:creator>
  <cp:lastModifiedBy>PptxGenJS</cp:lastModifiedBy>
  <cp:revision>1</cp:revision>
  <dcterms:created xsi:type="dcterms:W3CDTF">2026-10-12T17:50:22Z</dcterms:created>
  <dcterms:modified xsi:type="dcterms:W3CDTF">2026-10-12T17:50:22Z</dcterms:modified>
</cp:coreProperties>
</file>