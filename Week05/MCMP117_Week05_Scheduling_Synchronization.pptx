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6454F"/>
                </a:solidFill>
                <a:latin typeface="Calibri"/>
              </a:defRPr>
            </a:pPr>
            <a:r>
              <a:rPr sz="1400" b="0" i="0" u="none" strike="noStrike">
                <a:solidFill>
                  <a:srgbClr val="36454F"/>
                </a:solidFill>
                <a:latin typeface="Calibri"/>
              </a:rPr>
              <a:t>Burst length (ms) vs. burst number n</a:t>
            </a:r>
          </a:p>
        </c:rich>
      </c:tx>
      <c:layout/>
      <c:overlay val="0"/>
    </c:title>
    <c:autoTitleDeleted val="0"/>
    <c:plotArea>
      <c:layout/>
      <c:lineChart>
        <c:varyColors val="0"/>
        <c:ser>
          <c:idx val="0"/>
          <c:order val="0"/>
          <c:tx>
            <c:strRef>
              <c:f>Sheet1!$B$1</c:f>
              <c:strCache>
                <c:ptCount val="1"/>
                <c:pt idx="0">
                  <c:v>actual burst t</c:v>
                </c:pt>
              </c:strCache>
            </c:strRef>
          </c:tx>
          <c:spPr>
            <a:solidFill>
              <a:srgbClr val="36454F"/>
            </a:solidFill>
            <a:ln w="31750" cap="flat">
              <a:solidFill>
                <a:srgbClr val="3645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36454F"/>
              </a:solidFill>
              <a:ln w="9525" cap="flat">
                <a:solidFill>
                  <a:srgbClr val="36454F"/>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6</c:v>
                </c:pt>
                <c:pt idx="1">
                  <c:v>4</c:v>
                </c:pt>
                <c:pt idx="2">
                  <c:v>6</c:v>
                </c:pt>
                <c:pt idx="3">
                  <c:v>4</c:v>
                </c:pt>
                <c:pt idx="4">
                  <c:v>13</c:v>
                </c:pt>
                <c:pt idx="5">
                  <c:v>13</c:v>
                </c:pt>
                <c:pt idx="6">
                  <c:v>13</c:v>
                </c:pt>
              </c:numCache>
            </c:numRef>
          </c:val>
          <c:smooth val="0"/>
        </c:ser>
        <c:ser>
          <c:idx val="1"/>
          <c:order val="1"/>
          <c:tx>
            <c:strRef>
              <c:f>Sheet1!$C$1</c:f>
              <c:strCache>
                <c:ptCount val="1"/>
                <c:pt idx="0">
                  <c:v>predicted τ</c:v>
                </c:pt>
              </c:strCache>
            </c:strRef>
          </c:tx>
          <c:spPr>
            <a:solidFill>
              <a:srgbClr val="02C39A"/>
            </a:solidFill>
            <a:ln w="3175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2C39A"/>
              </a:solidFill>
              <a:ln w="9525" cap="flat">
                <a:solidFill>
                  <a:srgbClr val="02C39A"/>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Sheet1!$C$2:$C$8</c:f>
              <c:numCache>
                <c:formatCode>General</c:formatCode>
                <c:ptCount val="7"/>
                <c:pt idx="0">
                  <c:v>10</c:v>
                </c:pt>
                <c:pt idx="1">
                  <c:v>8</c:v>
                </c:pt>
                <c:pt idx="2">
                  <c:v>6</c:v>
                </c:pt>
                <c:pt idx="3">
                  <c:v>6</c:v>
                </c:pt>
                <c:pt idx="4">
                  <c:v>5</c:v>
                </c:pt>
                <c:pt idx="5">
                  <c:v>9</c:v>
                </c:pt>
                <c:pt idx="6">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679"/>
                    </a:solidFill>
                    <a:latin typeface="Arial"/>
                  </a:defRPr>
                </a:pPr>
                <a:r>
                  <a:rPr sz="1200" b="0" i="0" u="none" strike="noStrike">
                    <a:solidFill>
                      <a:srgbClr val="6B7679"/>
                    </a:solidFill>
                    <a:latin typeface="Arial"/>
                  </a:rPr>
                  <a:t>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79"/>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3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79"/>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First hour: the scheduling algorithms themselves — we finally answer the question 'which ready process gets the CPU next?' with numbers. After the break: what goes wrong when several threads share data, and the tools (locks, semaphores) that fix it. We finish with real C programs that show a race condition on this very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Write the three formulas on the board; we will use them on every algorithm slide today. Remind students: utilisation and throughput we maximise; turnaround, waiting and response time we minimise.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1–2 before the break, parts 3–5 after. Everything in part 1 uses ONE set of four processes, so at the end we can compare the algorithms fairly in a single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ready queue holds several processes. The scheduler picks one, the dispatcher gives it the CPU. Each algorithm below is just a different rule for 'pick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job set slowly; students should copy it. Total CPU work is 7+4+1+4 = 16 ms, so every schedule ends at t = 16 (the CPU is never idle here). The simulator file is in the course folder; students who know a little Python can change the jobs and re-run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out one row on the board: P3 arrives at 4, starts at 11, finishes at 12. Turnaround 12 − 4 = 8, waiting 8 − 1 = 7, response 11 − 4 = 7. For any non-preemptive algorithm, waiting = response, because a process runs in one piece. Average waiting 4.75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textbook example (Silberschatz). Ask the class before showing order B: can we do better without changing the jobs? Average waiting falls from 17 ms to 3 ms just by reordering. This motivates SJF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weakness of non-preemptive SJF: P1 started at t = 0 because nobody else was there, and then blocked the short P3 for a while. The preemptive version on the next slide fixes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arrival instant. P1 is split into two pieces: 0–2 and 11–16. Its waiting time is 16 − 0 − 7 = 9 ms, the largest: long jobs pay for the speed of the short ones. Average response time is only 0.5 ms because three processes start the moment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proof students can follow. In the convoy example, order B is exactly the shortest-first order, and it gave 3 ms. On our job set SRTF (3 ms) beats non-preemptive SJF (4 ms) because jobs arrive at different times. Then pose the catch: nobody tells the OS how long the next burst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formula once: tau_{n+1} = a t_n + (1-a) a t_{n-1} + (1-a)^2 a t_{n-2} + ... — older bursts count less and less (exponentially). alpha = 0 ignores the present; alpha = 1 trusts only the last burst. In the chart, bursts 6,4,6,4,13,13,13: the prediction lags behind the jump to 13 (5 → 9 → 11, and 12 next), which is the price of smoothing. All values from sched_check.py.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Preemptive trace: t=2 P2 (1) beats P1 (3) and runs 2–6; P4 (2) arrived at 5 and runs 6–10; then P1 (3) 10–15; P3 (4) last 15–16. P3 is the victim. Now imagine high-priority jobs kept arriving forever: P3 would never run.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7094 anecdote is reported in Silberschatz as a rumour; present it as folklore. Aging arithmetic: 127 steps of 1 s each = 127 s. Ask: what is the downside of aging? (Priorities become less meaningful; more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Robin is the basis of time-sharing (Week 1). The bound (n-1)q is what gives good response time. Point out the convention for simultaneous events: textbooks differ; ours follows Silberschatz. Different conventions can give slightly different Gantt charts — always state yours in an exam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queue on the board as you go. Average waiting 4.5 ms (worse than SJF) but average response 3.25 ms. 4 context switches. Note P4 waited 7 ms: it arrived just after P1 rejoined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trace for the board: t=2 [P2,P1]; t=4 [P1,P3,P2]; t=6 [P3,P2,P4,P1]; P3 done at 7; P2 done at 9; [P4,P1]; ... A smaller quantum makes the system feel more responsive, but with real switch costs it wastes more CPU time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overhead formula: each quantum of useful work q costs one switch s, so the fraction wasted is s/(q+s). s = 0.1 ms is deliberately pessimistic to make the effect visible; real switches cost a few microseconds, plus the indirect cost of cold caches. Point out the trade-off in the table: response improves with smaller q, switches explode.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only — not exam material in detail. The example is the three-queue MLFQ from Silberschatz. The point: MLFQ approximates SJF without knowing burst lengths, by observing how a process behaved last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measurement in our build container (code/cpu_hog.c, kernel 6.18 with EEVDF). The ratio 88.0/9.4 = 9.4 matches the predicted 1024/110 = 9.3 closely; the two do not add to 100 % because ps reports the average since each process started. CLS TS = 'time sharing', i.e. the normal fair class. Students can repeat this in Week 13 (processes &amp; job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computed by sched_check.py. Remind students: these are averages for ONE small job set; a different job set can reorder the middle of the table, but SRTF is always the minimum average waiting time (with zero switch cost). Ask: which algorithm would you choose for a desktop? For a batch server? For a car's brake controller (none of these — real-time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Optional: leave the comparison table on the screen during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 Part 1 the scheduler preempted processes whenever it liked. That is harmless for independent processes, but threads of one process share memory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compiler output (gcc 13, -O2, x86-64); the variable is volatile so the compiler must load and store every time. On a RISC CPU (ARM) it would be ldr / add / str — same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with two students and a number on the whiteboard: each copies the number into their notebook (load), adds one (add), writes it back (store). If both copy before either writes back, one update is lost. Other interleavings give 7: the result depends on timing, which is what makes such bugs so hard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example is from Silberschatz: the next_available_pid variable. Emphasise: only shared data that is written can race; read-only sharing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structure from Silberschatz. In race.c the critical section is a single line, counter++. In real programs it may be the update of a linked list, a bank balance,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counter-example for each: 'never let anyone in' satisfies mutual exclusion but violates progress; 'strict alternation A, B, A, B' violates progress when B does not want to enter; a lock that always prefers thread A can violate bounded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Week 2: disabling interrupts is a privileged instruction, so it is only available in kernel mode. Linux still disables interrupts locally for very short sections, but always combined with a spinlock on multiprocessors.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only. Trace the case where both set their flag: A sets turn = B, then B sets turn = A; turn ends as A, so B (the last writer) waits and A enters. Mention Gary Peterson, 1981. The memory-reordering caveat is why real systems use hardware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Atomicity is guaranteed by the hardware (the CPU locks the cache line / bus for the duration). This simple lock gives mutual exclusion and progress; bounded waiting needs a little more (e.g. a ticket lock, or the waiting[] array in Silberschatz). C11 exposes these as atomic_flag_test_and_set and atomic_compare_exchange.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Mutex = MUTual EXclusion. Rule of thumb from Silberschatz: spin if the lock will be held for less than the time of two context switches. On a single CPU, spinning is pointless: the lock holder cannot run while you spin.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busy-wait definition is the textbook one; real implementations keep a queue of blocked threads, so wait() sleeps instead of spinning. Then the value can be read as: S &gt; 0 → free resources; S = 0 → none free (implementations that allow negative values use −S = number of waiters).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semaphore use in one example: empty and full are counting semaphores (they count resources), mutex is a binary semaphore (mutual exclusion). Question for the class: what happens if the producer does wait(mutex) BEFORE wait(empty) while the buffer is full? Answer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only, by design. The bounded-buffer answer: the producer holds mutex and sleeps on empty; the consumer cannot get mutex to remove an item; nobody can proceed. Note that deadlock is different from starvation: in deadlock nobody progresses, in starvation others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runs in our build container (2 CPUs). About 28–40 % of the increments are lost, and the number changes on every run. Even pinned to ONE CPU (taskset -c 0) updates are lost: if a thread is preempted between its load and its store, its stale store later wipes out everything the other thread did during its whole time slice. Students can compile this on any Linux machine in Week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correctness first, then performance. Better design: let each thread count in a private local variable and add it to the shared counter ONCE, under the lock — then there are only two lock operations instead of 20 million. That is an exercise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program: code/prodcons.c. The sum check 210 = 20·21/2 shows that no item was lost or duplicated. Exercise: swap the two sem_wait calls in the producer and make the buffer size 1 — the program hangs (deadlock).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order 2, 5, 8 → waits 0, 2, 7 → average 3 ms. (2) 0.5·12 + 0.5·8 = 10 ms. (3) FCFS: no job ever uses up its quantum. (4) Mutual exclusion, progress, bounded waiting; it violates progress (and bounded waiting for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a checklist; every line is something students should be able to compute or explain in the midterm (Week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moves from the CPU to the second big resource: main memory. Ask students to review binary numbers and powers of two (2^10 = 1024, 2^12 = 4096) — we will need them for page sizes and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students that the Week 5 notes contain worked answers to numerical review questions, and that the simulator sched_check.py can be used to check their own Gantt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5</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5  ·  CPU Scheduling Algorithms &amp; Process Synchronisation</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Who runs next, and how do threads share data without breaking it?</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4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Threads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Several threads inside one process share code, data and open files; each has its own registers and stack.</a:t>
            </a:r>
            <a:endParaRPr lang="en-US" sz="16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CPU–I/O bursts</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A process alternates CPU bursts and I/O waits. Most CPU bursts are short; a few are long.</a:t>
            </a:r>
            <a:endParaRPr lang="en-US" sz="16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Preemptive or not</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Non-preemptive: a process keeps the CPU until it blocks or ends. Preemptive: the OS may take it away. The dispatcher does the switch.</a:t>
            </a:r>
            <a:endParaRPr lang="en-US" sz="16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Scoring a schedule</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Turnaround</a:t>
            </a:r>
            <a:r>
              <a:rPr lang="en-US" sz="1600" dirty="0">
                <a:solidFill>
                  <a:srgbClr val="3A464C"/>
                </a:solidFill>
                <a:latin typeface="Calibri" pitchFamily="34" charset="0"/>
                <a:ea typeface="Calibri" pitchFamily="34" charset="-122"/>
                <a:cs typeface="Calibri" pitchFamily="34" charset="-120"/>
              </a:rPr>
              <a:t> = completion − arrival</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Waiting</a:t>
            </a:r>
            <a:r>
              <a:rPr lang="en-US" sz="1600" dirty="0">
                <a:solidFill>
                  <a:srgbClr val="3A464C"/>
                </a:solidFill>
                <a:latin typeface="Calibri" pitchFamily="34" charset="0"/>
                <a:ea typeface="Calibri" pitchFamily="34" charset="-122"/>
                <a:cs typeface="Calibri" pitchFamily="34" charset="-120"/>
              </a:rPr>
              <a:t> = turnaround − burst</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Response</a:t>
            </a:r>
            <a:r>
              <a:rPr lang="en-US" sz="1600" dirty="0">
                <a:solidFill>
                  <a:srgbClr val="3A464C"/>
                </a:solidFill>
                <a:latin typeface="Calibri" pitchFamily="34" charset="0"/>
                <a:ea typeface="Calibri" pitchFamily="34" charset="-122"/>
                <a:cs typeface="Calibri" pitchFamily="34" charset="-120"/>
              </a:rPr>
              <a:t> = first run − arrival</a:t>
            </a:r>
            <a:endParaRPr lang="en-US"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Today: the algorithms that make the decision — and what happens when the threads we schedule share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a:t>
            </a:r>
            <a:endParaRPr lang="en-US" sz="900" dirty="0"/>
          </a:p>
        </p:txBody>
      </p:sp>
      <p:sp>
        <p:nvSpPr>
          <p:cNvPr id="6" name="Shape 4"/>
          <p:cNvSpPr/>
          <p:nvPr/>
        </p:nvSpPr>
        <p:spPr>
          <a:xfrm>
            <a:off x="548640" y="1554480"/>
            <a:ext cx="731520" cy="731520"/>
          </a:xfrm>
          <a:prstGeom prst="roundRect">
            <a:avLst>
              <a:gd name="adj" fmla="val 6250"/>
            </a:avLst>
          </a:prstGeom>
          <a:solidFill>
            <a:srgbClr val="02C39A"/>
          </a:solidFill>
          <a:ln/>
        </p:spPr>
        <p:txBody>
          <a:bodyPr/>
          <a:p/>
        </p:txBody>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463040" y="1554480"/>
            <a:ext cx="10195560" cy="731520"/>
          </a:xfrm>
          <a:prstGeom prst="roundRect">
            <a:avLst>
              <a:gd name="adj" fmla="val 6250"/>
            </a:avLst>
          </a:prstGeom>
          <a:solidFill>
            <a:srgbClr val="F2F2F2"/>
          </a:solidFill>
          <a:ln/>
        </p:spPr>
        <p:txBody>
          <a:bodyPr/>
          <a:p/>
        </p:txBody>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FCFS and SJF   </a:t>
            </a:r>
            <a:r>
              <a:rPr lang="en-US" sz="1500" dirty="0">
                <a:solidFill>
                  <a:srgbClr val="3A464C"/>
                </a:solidFill>
                <a:latin typeface="Calibri" pitchFamily="34" charset="0"/>
                <a:ea typeface="Calibri" pitchFamily="34" charset="-122"/>
                <a:cs typeface="Calibri" pitchFamily="34" charset="-120"/>
              </a:rPr>
              <a:t>First come first served, shortest job first, shortest remaining time first.</a:t>
            </a:r>
            <a:endParaRPr lang="en-US" sz="1400" dirty="0"/>
          </a:p>
        </p:txBody>
      </p:sp>
      <p:sp>
        <p:nvSpPr>
          <p:cNvPr id="10" name="Shape 8"/>
          <p:cNvSpPr/>
          <p:nvPr/>
        </p:nvSpPr>
        <p:spPr>
          <a:xfrm>
            <a:off x="548640" y="2468880"/>
            <a:ext cx="731520" cy="731520"/>
          </a:xfrm>
          <a:prstGeom prst="roundRect">
            <a:avLst>
              <a:gd name="adj" fmla="val 6250"/>
            </a:avLst>
          </a:prstGeom>
          <a:solidFill>
            <a:srgbClr val="02C39A"/>
          </a:solidFill>
          <a:ln/>
        </p:spPr>
        <p:txBody>
          <a:bodyPr/>
          <a:p/>
        </p:txBody>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txBody>
          <a:bodyPr/>
          <a:p/>
        </p:txBody>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Priority and Round Robin   </a:t>
            </a:r>
            <a:r>
              <a:rPr lang="en-US" sz="1500" dirty="0">
                <a:solidFill>
                  <a:srgbClr val="3A464C"/>
                </a:solidFill>
                <a:latin typeface="Calibri" pitchFamily="34" charset="0"/>
                <a:ea typeface="Calibri" pitchFamily="34" charset="-122"/>
                <a:cs typeface="Calibri" pitchFamily="34" charset="-120"/>
              </a:rPr>
              <a:t>Starvation and aging; time quantum; multilevel queues; what Linux does.</a:t>
            </a:r>
            <a:endParaRPr lang="en-US" sz="1400" dirty="0"/>
          </a:p>
        </p:txBody>
      </p:sp>
      <p:sp>
        <p:nvSpPr>
          <p:cNvPr id="14" name="Shape 12"/>
          <p:cNvSpPr/>
          <p:nvPr/>
        </p:nvSpPr>
        <p:spPr>
          <a:xfrm>
            <a:off x="548640" y="3383280"/>
            <a:ext cx="731520" cy="731520"/>
          </a:xfrm>
          <a:prstGeom prst="roundRect">
            <a:avLst>
              <a:gd name="adj" fmla="val 6250"/>
            </a:avLst>
          </a:prstGeom>
          <a:solidFill>
            <a:srgbClr val="02C39A"/>
          </a:solidFill>
          <a:ln/>
        </p:spPr>
        <p:txBody>
          <a:bodyPr/>
          <a:p/>
        </p:txBody>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txBody>
          <a:bodyPr/>
          <a:p/>
        </p:txBody>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Race conditions   </a:t>
            </a:r>
            <a:r>
              <a:rPr lang="en-US" sz="1500" dirty="0">
                <a:solidFill>
                  <a:srgbClr val="3A464C"/>
                </a:solidFill>
                <a:latin typeface="Calibri" pitchFamily="34" charset="0"/>
                <a:ea typeface="Calibri" pitchFamily="34" charset="-122"/>
                <a:cs typeface="Calibri" pitchFamily="34" charset="-120"/>
              </a:rPr>
              <a:t>Why counter++ can lose updates; the critical-section problem.</a:t>
            </a:r>
            <a:endParaRPr lang="en-US" sz="1400" dirty="0"/>
          </a:p>
        </p:txBody>
      </p:sp>
      <p:sp>
        <p:nvSpPr>
          <p:cNvPr id="18" name="Shape 16"/>
          <p:cNvSpPr/>
          <p:nvPr/>
        </p:nvSpPr>
        <p:spPr>
          <a:xfrm>
            <a:off x="548640" y="4297680"/>
            <a:ext cx="731520" cy="731520"/>
          </a:xfrm>
          <a:prstGeom prst="roundRect">
            <a:avLst>
              <a:gd name="adj" fmla="val 6250"/>
            </a:avLst>
          </a:prstGeom>
          <a:solidFill>
            <a:srgbClr val="02C39A"/>
          </a:solidFill>
          <a:ln/>
        </p:spPr>
        <p:txBody>
          <a:bodyPr/>
          <a:p/>
        </p:txBody>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txBody>
          <a:bodyPr/>
          <a:p/>
        </p:txBody>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Synchronisation tools   </a:t>
            </a:r>
            <a:r>
              <a:rPr lang="en-US" sz="1500" dirty="0">
                <a:solidFill>
                  <a:srgbClr val="3A464C"/>
                </a:solidFill>
                <a:latin typeface="Calibri" pitchFamily="34" charset="0"/>
                <a:ea typeface="Calibri" pitchFamily="34" charset="-122"/>
                <a:cs typeface="Calibri" pitchFamily="34" charset="-120"/>
              </a:rPr>
              <a:t>Peterson, atomic instructions, mutex locks, semaphores, producer–consumer.</a:t>
            </a:r>
            <a:endParaRPr lang="en-US" sz="1400" dirty="0"/>
          </a:p>
        </p:txBody>
      </p:sp>
      <p:sp>
        <p:nvSpPr>
          <p:cNvPr id="22" name="Shape 20"/>
          <p:cNvSpPr/>
          <p:nvPr/>
        </p:nvSpPr>
        <p:spPr>
          <a:xfrm>
            <a:off x="548640" y="5212080"/>
            <a:ext cx="731520" cy="731520"/>
          </a:xfrm>
          <a:prstGeom prst="roundRect">
            <a:avLst>
              <a:gd name="adj" fmla="val 6250"/>
            </a:avLst>
          </a:prstGeom>
          <a:solidFill>
            <a:srgbClr val="02C39A"/>
          </a:solidFill>
          <a:ln/>
        </p:spPr>
        <p:txBody>
          <a:bodyPr/>
          <a:p/>
        </p:txBody>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txBody>
          <a:bodyPr/>
          <a:p/>
        </p:txBody>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Hands-on   </a:t>
            </a:r>
            <a:r>
              <a:rPr lang="en-US" sz="1500" dirty="0">
                <a:solidFill>
                  <a:srgbClr val="3A464C"/>
                </a:solidFill>
                <a:latin typeface="Calibri" pitchFamily="34" charset="0"/>
                <a:ea typeface="Calibri" pitchFamily="34" charset="-122"/>
                <a:cs typeface="Calibri" pitchFamily="34" charset="-120"/>
              </a:rPr>
              <a:t>A real race in C with pthreads — and the fix, measured.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CPU Scheduling Algorithms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One job set, seven schedules, one comparison table.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5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OUR RUNNING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One Job Set for Every Algorithm</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Four processes. Times in milliseconds. A smaller priority number means a higher priority.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1371600"/>
                <a:gridCol w="1645920"/>
                <a:gridCol w="1508760"/>
                <a:gridCol w="1508760"/>
              </a:tblGrid>
              <a:tr h="457200">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Process</a:t>
                      </a:r>
                      <a:endParaRPr lang="en-US"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Arrival time</a:t>
                      </a:r>
                      <a:endParaRPr lang="en-US"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CPU burst</a:t>
                      </a:r>
                      <a:endParaRPr lang="en-US"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Priority</a:t>
                      </a:r>
                      <a:endParaRPr lang="en-US"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57200">
                <a:tc>
                  <a:txBody>
                    <a:bodyPr/>
                    <a:lstStyle/>
                    <a:p>
                      <a:pPr algn="ctr" indent="0" marL="0">
                        <a:buNone/>
                      </a:pPr>
                      <a:r>
                        <a:rPr lang="en-US" sz="1600" b="1" dirty="0">
                          <a:solidFill>
                            <a:srgbClr val="028090"/>
                          </a:solidFill>
                          <a:latin typeface="Calibri" pitchFamily="34" charset="0"/>
                          <a:ea typeface="Calibri" pitchFamily="34" charset="-122"/>
                          <a:cs typeface="Calibri" pitchFamily="34" charset="-120"/>
                        </a:rPr>
                        <a:t>P1</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algn="ctr" indent="0" marL="0">
                        <a:buNone/>
                      </a:pPr>
                      <a:r>
                        <a:rPr lang="en-US" sz="1600" b="1" dirty="0">
                          <a:solidFill>
                            <a:srgbClr val="50808E"/>
                          </a:solidFill>
                          <a:latin typeface="Calibri" pitchFamily="34" charset="0"/>
                          <a:ea typeface="Calibri" pitchFamily="34" charset="-122"/>
                          <a:cs typeface="Calibri" pitchFamily="34" charset="-120"/>
                        </a:rPr>
                        <a:t>P2</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C98A1B"/>
                          </a:solidFill>
                          <a:latin typeface="Calibri" pitchFamily="34" charset="0"/>
                          <a:ea typeface="Calibri" pitchFamily="34" charset="-122"/>
                          <a:cs typeface="Calibri" pitchFamily="34" charset="-120"/>
                        </a:rPr>
                        <a:t>P3</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algn="ctr" indent="0" marL="0">
                        <a:buNone/>
                      </a:pPr>
                      <a:r>
                        <a:rPr lang="en-US" sz="1600" b="1" dirty="0">
                          <a:solidFill>
                            <a:srgbClr val="36454F"/>
                          </a:solidFill>
                          <a:latin typeface="Calibri" pitchFamily="34" charset="0"/>
                          <a:ea typeface="Calibri" pitchFamily="34" charset="-122"/>
                          <a:cs typeface="Calibri" pitchFamily="34" charset="-120"/>
                        </a:rPr>
                        <a:t>P4</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3A464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Shape 5"/>
          <p:cNvSpPr/>
          <p:nvPr/>
        </p:nvSpPr>
        <p:spPr>
          <a:xfrm>
            <a:off x="822960" y="5715000"/>
            <a:ext cx="5486400" cy="0"/>
          </a:xfrm>
          <a:prstGeom prst="line">
            <a:avLst/>
          </a:prstGeom>
          <a:noFill/>
          <a:ln w="19050">
            <a:solidFill>
              <a:srgbClr val="50808E"/>
            </a:solidFill>
            <a:prstDash val="solid"/>
            <a:tailEnd type="triangle"/>
          </a:ln>
        </p:spPr>
        <p:txBody>
          <a:bodyPr/>
          <a:p/>
        </p:txBody>
      </p:sp>
      <p:sp>
        <p:nvSpPr>
          <p:cNvPr id="9" name="Text 6"/>
          <p:cNvSpPr txBox="1"/>
          <p:nvPr/>
        </p:nvSpPr>
        <p:spPr>
          <a:xfrm>
            <a:off x="6400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0" name="Text 7"/>
          <p:cNvSpPr txBox="1"/>
          <p:nvPr/>
        </p:nvSpPr>
        <p:spPr>
          <a:xfrm>
            <a:off x="13258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20116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26974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33832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14" name="Text 11"/>
          <p:cNvSpPr txBox="1"/>
          <p:nvPr/>
        </p:nvSpPr>
        <p:spPr>
          <a:xfrm>
            <a:off x="40690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5</a:t>
            </a:r>
            <a:endParaRPr lang="en-US" sz="1200" dirty="0"/>
          </a:p>
        </p:txBody>
      </p:sp>
      <p:sp>
        <p:nvSpPr>
          <p:cNvPr id="15" name="Text 12"/>
          <p:cNvSpPr txBox="1"/>
          <p:nvPr/>
        </p:nvSpPr>
        <p:spPr>
          <a:xfrm>
            <a:off x="47548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6</a:t>
            </a:r>
            <a:endParaRPr lang="en-US" sz="1200" dirty="0"/>
          </a:p>
        </p:txBody>
      </p:sp>
      <p:sp>
        <p:nvSpPr>
          <p:cNvPr id="16" name="Text 13"/>
          <p:cNvSpPr txBox="1"/>
          <p:nvPr/>
        </p:nvSpPr>
        <p:spPr>
          <a:xfrm>
            <a:off x="5440680" y="5769864"/>
            <a:ext cx="36576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17" name="Text 14"/>
          <p:cNvSpPr txBox="1"/>
          <p:nvPr/>
        </p:nvSpPr>
        <p:spPr>
          <a:xfrm>
            <a:off x="5303520" y="6035040"/>
            <a:ext cx="1097280" cy="274320"/>
          </a:xfrm>
          <a:prstGeom prst="rect">
            <a:avLst/>
          </a:prstGeom>
          <a:noFill/>
          <a:ln/>
        </p:spPr>
        <p:txBody>
          <a:bodyPr wrap="square" lIns="0" tIns="0" rIns="0" bIns="0" rtlCol="0" anchor="t"/>
          <a:lstStyle/>
          <a:p>
            <a:pPr algn="r" indent="0" marL="0">
              <a:buNone/>
            </a:pPr>
            <a:r>
              <a:rPr lang="en-US" sz="1200" i="1" dirty="0">
                <a:solidFill>
                  <a:srgbClr val="6B7679"/>
                </a:solidFill>
                <a:latin typeface="Calibri" pitchFamily="34" charset="0"/>
                <a:ea typeface="Calibri" pitchFamily="34" charset="-122"/>
                <a:cs typeface="Calibri" pitchFamily="34" charset="-120"/>
              </a:rPr>
              <a:t>time (ms)</a:t>
            </a:r>
            <a:endParaRPr lang="en-US" sz="1200" dirty="0"/>
          </a:p>
        </p:txBody>
      </p:sp>
      <p:sp>
        <p:nvSpPr>
          <p:cNvPr id="18" name="Shape 15"/>
          <p:cNvSpPr/>
          <p:nvPr/>
        </p:nvSpPr>
        <p:spPr>
          <a:xfrm>
            <a:off x="548640" y="5029200"/>
            <a:ext cx="548640" cy="411480"/>
          </a:xfrm>
          <a:prstGeom prst="roundRect">
            <a:avLst>
              <a:gd name="adj" fmla="val 11111"/>
            </a:avLst>
          </a:prstGeom>
          <a:solidFill>
            <a:srgbClr val="02C39A"/>
          </a:solidFill>
          <a:ln/>
        </p:spPr>
        <p:txBody>
          <a:bodyPr/>
          <a:p/>
        </p:txBody>
      </p:sp>
      <p:sp>
        <p:nvSpPr>
          <p:cNvPr id="19" name="Text 16"/>
          <p:cNvSpPr txBox="1"/>
          <p:nvPr/>
        </p:nvSpPr>
        <p:spPr>
          <a:xfrm>
            <a:off x="548640" y="5029200"/>
            <a:ext cx="548640" cy="41148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20" name="Shape 17"/>
          <p:cNvSpPr/>
          <p:nvPr/>
        </p:nvSpPr>
        <p:spPr>
          <a:xfrm>
            <a:off x="822960" y="5458968"/>
            <a:ext cx="91" cy="228600"/>
          </a:xfrm>
          <a:prstGeom prst="line">
            <a:avLst/>
          </a:prstGeom>
          <a:noFill/>
          <a:ln w="15875">
            <a:solidFill>
              <a:srgbClr val="50808E"/>
            </a:solidFill>
            <a:prstDash val="solid"/>
            <a:tailEnd type="triangle"/>
          </a:ln>
        </p:spPr>
        <p:txBody>
          <a:bodyPr/>
          <a:p/>
        </p:txBody>
      </p:sp>
      <p:sp>
        <p:nvSpPr>
          <p:cNvPr id="21" name="Shape 18"/>
          <p:cNvSpPr/>
          <p:nvPr/>
        </p:nvSpPr>
        <p:spPr>
          <a:xfrm>
            <a:off x="1920240" y="5029200"/>
            <a:ext cx="548640" cy="411480"/>
          </a:xfrm>
          <a:prstGeom prst="roundRect">
            <a:avLst>
              <a:gd name="adj" fmla="val 11111"/>
            </a:avLst>
          </a:prstGeom>
          <a:solidFill>
            <a:srgbClr val="50808E"/>
          </a:solidFill>
          <a:ln/>
        </p:spPr>
        <p:txBody>
          <a:bodyPr/>
          <a:p/>
        </p:txBody>
      </p:sp>
      <p:sp>
        <p:nvSpPr>
          <p:cNvPr id="22" name="Text 19"/>
          <p:cNvSpPr txBox="1"/>
          <p:nvPr/>
        </p:nvSpPr>
        <p:spPr>
          <a:xfrm>
            <a:off x="1920240" y="5029200"/>
            <a:ext cx="548640" cy="4114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23" name="Shape 20"/>
          <p:cNvSpPr/>
          <p:nvPr/>
        </p:nvSpPr>
        <p:spPr>
          <a:xfrm>
            <a:off x="2194560" y="5458968"/>
            <a:ext cx="91" cy="228600"/>
          </a:xfrm>
          <a:prstGeom prst="line">
            <a:avLst/>
          </a:prstGeom>
          <a:noFill/>
          <a:ln w="15875">
            <a:solidFill>
              <a:srgbClr val="50808E"/>
            </a:solidFill>
            <a:prstDash val="solid"/>
            <a:tailEnd type="triangle"/>
          </a:ln>
        </p:spPr>
        <p:txBody>
          <a:bodyPr/>
          <a:p/>
        </p:txBody>
      </p:sp>
      <p:sp>
        <p:nvSpPr>
          <p:cNvPr id="24" name="Shape 21"/>
          <p:cNvSpPr/>
          <p:nvPr/>
        </p:nvSpPr>
        <p:spPr>
          <a:xfrm>
            <a:off x="3291840" y="5029200"/>
            <a:ext cx="548640" cy="411480"/>
          </a:xfrm>
          <a:prstGeom prst="roundRect">
            <a:avLst>
              <a:gd name="adj" fmla="val 11111"/>
            </a:avLst>
          </a:prstGeom>
          <a:solidFill>
            <a:srgbClr val="C98A1B"/>
          </a:solidFill>
          <a:ln/>
        </p:spPr>
        <p:txBody>
          <a:bodyPr/>
          <a:p/>
        </p:txBody>
      </p:sp>
      <p:sp>
        <p:nvSpPr>
          <p:cNvPr id="25" name="Text 22"/>
          <p:cNvSpPr txBox="1"/>
          <p:nvPr/>
        </p:nvSpPr>
        <p:spPr>
          <a:xfrm>
            <a:off x="3291840" y="5029200"/>
            <a:ext cx="548640" cy="4114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26" name="Shape 23"/>
          <p:cNvSpPr/>
          <p:nvPr/>
        </p:nvSpPr>
        <p:spPr>
          <a:xfrm>
            <a:off x="3566160" y="5458968"/>
            <a:ext cx="91" cy="228600"/>
          </a:xfrm>
          <a:prstGeom prst="line">
            <a:avLst/>
          </a:prstGeom>
          <a:noFill/>
          <a:ln w="15875">
            <a:solidFill>
              <a:srgbClr val="50808E"/>
            </a:solidFill>
            <a:prstDash val="solid"/>
            <a:tailEnd type="triangle"/>
          </a:ln>
        </p:spPr>
        <p:txBody>
          <a:bodyPr/>
          <a:p/>
        </p:txBody>
      </p:sp>
      <p:sp>
        <p:nvSpPr>
          <p:cNvPr id="27" name="Shape 24"/>
          <p:cNvSpPr/>
          <p:nvPr/>
        </p:nvSpPr>
        <p:spPr>
          <a:xfrm>
            <a:off x="3977640" y="5029200"/>
            <a:ext cx="548640" cy="411480"/>
          </a:xfrm>
          <a:prstGeom prst="roundRect">
            <a:avLst>
              <a:gd name="adj" fmla="val 11111"/>
            </a:avLst>
          </a:prstGeom>
          <a:solidFill>
            <a:srgbClr val="36454F"/>
          </a:solidFill>
          <a:ln/>
        </p:spPr>
        <p:txBody>
          <a:bodyPr/>
          <a:p/>
        </p:txBody>
      </p:sp>
      <p:sp>
        <p:nvSpPr>
          <p:cNvPr id="28" name="Text 25"/>
          <p:cNvSpPr txBox="1"/>
          <p:nvPr/>
        </p:nvSpPr>
        <p:spPr>
          <a:xfrm>
            <a:off x="3977640" y="5029200"/>
            <a:ext cx="548640" cy="4114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29" name="Shape 26"/>
          <p:cNvSpPr/>
          <p:nvPr/>
        </p:nvSpPr>
        <p:spPr>
          <a:xfrm>
            <a:off x="4251960" y="5458968"/>
            <a:ext cx="91" cy="228600"/>
          </a:xfrm>
          <a:prstGeom prst="line">
            <a:avLst/>
          </a:prstGeom>
          <a:noFill/>
          <a:ln w="15875">
            <a:solidFill>
              <a:srgbClr val="50808E"/>
            </a:solidFill>
            <a:prstDash val="solid"/>
            <a:tailEnd type="triangle"/>
          </a:ln>
        </p:spPr>
        <p:txBody>
          <a:bodyPr/>
          <a:p/>
        </p:txBody>
      </p:sp>
      <p:sp>
        <p:nvSpPr>
          <p:cNvPr id="30" name="Text 27"/>
          <p:cNvSpPr txBox="1"/>
          <p:nvPr/>
        </p:nvSpPr>
        <p:spPr>
          <a:xfrm>
            <a:off x="548640" y="4663440"/>
            <a:ext cx="2743200" cy="2743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arrivals</a:t>
            </a:r>
            <a:endParaRPr lang="en-US" sz="1200" dirty="0"/>
          </a:p>
        </p:txBody>
      </p:sp>
      <p:sp>
        <p:nvSpPr>
          <p:cNvPr id="31" name="Shape 28"/>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29"/>
          <p:cNvSpPr txBox="1"/>
          <p:nvPr/>
        </p:nvSpPr>
        <p:spPr>
          <a:xfrm>
            <a:off x="7086600" y="228600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Rules of the game</a:t>
            </a:r>
            <a:endParaRPr lang="en-US" sz="1500" dirty="0"/>
          </a:p>
        </p:txBody>
      </p:sp>
      <p:sp>
        <p:nvSpPr>
          <p:cNvPr id="33" name="Text 30"/>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Gantt chart:</a:t>
            </a:r>
            <a:r>
              <a:rPr lang="en-US" sz="1600" dirty="0">
                <a:solidFill>
                  <a:srgbClr val="3A464C"/>
                </a:solidFill>
                <a:latin typeface="Calibri" pitchFamily="34" charset="0"/>
                <a:ea typeface="Calibri" pitchFamily="34" charset="-122"/>
                <a:cs typeface="Calibri" pitchFamily="34" charset="-120"/>
              </a:rPr>
              <a:t> a row of boxes, one box per stretch of CPU time; ticks underneath give the times.</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Context switch</a:t>
            </a:r>
            <a:r>
              <a:rPr lang="en-US" sz="1600" dirty="0">
                <a:solidFill>
                  <a:srgbClr val="3A464C"/>
                </a:solidFill>
                <a:latin typeface="Calibri" pitchFamily="34" charset="0"/>
                <a:ea typeface="Calibri" pitchFamily="34" charset="-122"/>
                <a:cs typeface="Calibri" pitchFamily="34" charset="-120"/>
              </a:rPr>
              <a:t> time is taken as 0 (we count switches separately).</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Ties</a:t>
            </a:r>
            <a:r>
              <a:rPr lang="en-US" sz="1600" dirty="0">
                <a:solidFill>
                  <a:srgbClr val="3A464C"/>
                </a:solidFill>
                <a:latin typeface="Calibri" pitchFamily="34" charset="0"/>
                <a:ea typeface="Calibri" pitchFamily="34" charset="-122"/>
                <a:cs typeface="Calibri" pitchFamily="34" charset="-120"/>
              </a:rPr>
              <a:t> are broken by arrival time, then by name.</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All numbers</a:t>
            </a:r>
            <a:r>
              <a:rPr lang="en-US" sz="1600" dirty="0">
                <a:solidFill>
                  <a:srgbClr val="3A464C"/>
                </a:solidFill>
                <a:latin typeface="Calibri" pitchFamily="34" charset="0"/>
                <a:ea typeface="Calibri" pitchFamily="34" charset="-122"/>
                <a:cs typeface="Calibri" pitchFamily="34" charset="-120"/>
              </a:rPr>
              <a:t> were computed by a small simulator: code/sched_check.py.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ALGORITHM 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First-Come, First-Served (FCFS)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ready queue is a simple FIFO queue: whoever arrived first runs first, until it finishes or blocks. Non-preemptive.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6</a:t>
            </a:r>
            <a:endParaRPr lang="en-US" sz="900" dirty="0"/>
          </a:p>
        </p:txBody>
      </p:sp>
      <p:sp>
        <p:nvSpPr>
          <p:cNvPr id="7" name="Shape 5"/>
          <p:cNvSpPr/>
          <p:nvPr/>
        </p:nvSpPr>
        <p:spPr>
          <a:xfrm>
            <a:off x="557784" y="2103120"/>
            <a:ext cx="4842320" cy="566928"/>
          </a:xfrm>
          <a:prstGeom prst="roundRect">
            <a:avLst>
              <a:gd name="adj" fmla="val 8065"/>
            </a:avLst>
          </a:prstGeom>
          <a:solidFill>
            <a:srgbClr val="02C39A"/>
          </a:solidFill>
          <a:ln/>
        </p:spPr>
        <p:txBody>
          <a:bodyPr/>
          <a:p/>
        </p:txBody>
      </p:sp>
      <p:sp>
        <p:nvSpPr>
          <p:cNvPr id="8" name="Text 6"/>
          <p:cNvSpPr txBox="1"/>
          <p:nvPr/>
        </p:nvSpPr>
        <p:spPr>
          <a:xfrm>
            <a:off x="557784" y="2103120"/>
            <a:ext cx="4842320"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9" name="Shape 7"/>
          <p:cNvSpPr/>
          <p:nvPr/>
        </p:nvSpPr>
        <p:spPr>
          <a:xfrm>
            <a:off x="5418391" y="2103120"/>
            <a:ext cx="2759202" cy="566928"/>
          </a:xfrm>
          <a:prstGeom prst="roundRect">
            <a:avLst>
              <a:gd name="adj" fmla="val 8065"/>
            </a:avLst>
          </a:prstGeom>
          <a:solidFill>
            <a:srgbClr val="50808E"/>
          </a:solidFill>
          <a:ln/>
        </p:spPr>
        <p:txBody>
          <a:bodyPr/>
          <a:p/>
        </p:txBody>
      </p:sp>
      <p:sp>
        <p:nvSpPr>
          <p:cNvPr id="10" name="Text 8"/>
          <p:cNvSpPr txBox="1"/>
          <p:nvPr/>
        </p:nvSpPr>
        <p:spPr>
          <a:xfrm>
            <a:off x="5418391"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1" name="Shape 9"/>
          <p:cNvSpPr/>
          <p:nvPr/>
        </p:nvSpPr>
        <p:spPr>
          <a:xfrm>
            <a:off x="8195882" y="2103120"/>
            <a:ext cx="676085" cy="566928"/>
          </a:xfrm>
          <a:prstGeom prst="roundRect">
            <a:avLst>
              <a:gd name="adj" fmla="val 8065"/>
            </a:avLst>
          </a:prstGeom>
          <a:solidFill>
            <a:srgbClr val="C98A1B"/>
          </a:solidFill>
          <a:ln/>
        </p:spPr>
        <p:txBody>
          <a:bodyPr/>
          <a:p/>
        </p:txBody>
      </p:sp>
      <p:sp>
        <p:nvSpPr>
          <p:cNvPr id="12" name="Text 10"/>
          <p:cNvSpPr txBox="1"/>
          <p:nvPr/>
        </p:nvSpPr>
        <p:spPr>
          <a:xfrm>
            <a:off x="8195882"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3" name="Shape 11"/>
          <p:cNvSpPr/>
          <p:nvPr/>
        </p:nvSpPr>
        <p:spPr>
          <a:xfrm>
            <a:off x="8890254" y="2103120"/>
            <a:ext cx="2759202" cy="566928"/>
          </a:xfrm>
          <a:prstGeom prst="roundRect">
            <a:avLst>
              <a:gd name="adj" fmla="val 8065"/>
            </a:avLst>
          </a:prstGeom>
          <a:solidFill>
            <a:srgbClr val="36454F"/>
          </a:solidFill>
          <a:ln/>
        </p:spPr>
        <p:txBody>
          <a:bodyPr/>
          <a:p/>
        </p:txBody>
      </p:sp>
      <p:sp>
        <p:nvSpPr>
          <p:cNvPr id="14" name="Text 12"/>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5" name="Shape 13"/>
          <p:cNvSpPr/>
          <p:nvPr/>
        </p:nvSpPr>
        <p:spPr>
          <a:xfrm>
            <a:off x="548640" y="2670048"/>
            <a:ext cx="91" cy="73152"/>
          </a:xfrm>
          <a:prstGeom prst="line">
            <a:avLst/>
          </a:prstGeom>
          <a:noFill/>
          <a:ln w="12700">
            <a:solidFill>
              <a:srgbClr val="6B7679"/>
            </a:solidFill>
            <a:prstDash val="solid"/>
          </a:ln>
        </p:spPr>
        <p:txBody>
          <a:bodyPr/>
          <a:p/>
        </p:txBody>
      </p:sp>
      <p:sp>
        <p:nvSpPr>
          <p:cNvPr id="16" name="Text 1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7" name="Shape 15"/>
          <p:cNvSpPr/>
          <p:nvPr/>
        </p:nvSpPr>
        <p:spPr>
          <a:xfrm>
            <a:off x="5409247" y="2670048"/>
            <a:ext cx="91" cy="73152"/>
          </a:xfrm>
          <a:prstGeom prst="line">
            <a:avLst/>
          </a:prstGeom>
          <a:noFill/>
          <a:ln w="12700">
            <a:solidFill>
              <a:srgbClr val="6B7679"/>
            </a:solidFill>
            <a:prstDash val="solid"/>
          </a:ln>
        </p:spPr>
        <p:txBody>
          <a:bodyPr/>
          <a:p/>
        </p:txBody>
      </p:sp>
      <p:sp>
        <p:nvSpPr>
          <p:cNvPr id="18" name="Text 1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19" name="Shape 17"/>
          <p:cNvSpPr/>
          <p:nvPr/>
        </p:nvSpPr>
        <p:spPr>
          <a:xfrm>
            <a:off x="8186738" y="2670048"/>
            <a:ext cx="91" cy="73152"/>
          </a:xfrm>
          <a:prstGeom prst="line">
            <a:avLst/>
          </a:prstGeom>
          <a:noFill/>
          <a:ln w="12700">
            <a:solidFill>
              <a:srgbClr val="6B7679"/>
            </a:solidFill>
            <a:prstDash val="solid"/>
          </a:ln>
        </p:spPr>
        <p:txBody>
          <a:bodyPr/>
          <a:p/>
        </p:txBody>
      </p:sp>
      <p:sp>
        <p:nvSpPr>
          <p:cNvPr id="20" name="Text 18"/>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11</a:t>
            </a:r>
            <a:endParaRPr lang="en-US" sz="1200" dirty="0"/>
          </a:p>
        </p:txBody>
      </p:sp>
      <p:sp>
        <p:nvSpPr>
          <p:cNvPr id="21" name="Shape 19"/>
          <p:cNvSpPr/>
          <p:nvPr/>
        </p:nvSpPr>
        <p:spPr>
          <a:xfrm>
            <a:off x="8881110" y="2670048"/>
            <a:ext cx="91" cy="73152"/>
          </a:xfrm>
          <a:prstGeom prst="line">
            <a:avLst/>
          </a:prstGeom>
          <a:noFill/>
          <a:ln w="12700">
            <a:solidFill>
              <a:srgbClr val="6B7679"/>
            </a:solidFill>
            <a:prstDash val="solid"/>
          </a:ln>
        </p:spPr>
        <p:txBody>
          <a:bodyPr/>
          <a:p/>
        </p:txBody>
      </p:sp>
      <p:sp>
        <p:nvSpPr>
          <p:cNvPr id="22" name="Text 20"/>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12</a:t>
            </a:r>
            <a:endParaRPr lang="en-US" sz="1200" dirty="0"/>
          </a:p>
        </p:txBody>
      </p:sp>
      <p:sp>
        <p:nvSpPr>
          <p:cNvPr id="23" name="Shape 21"/>
          <p:cNvSpPr/>
          <p:nvPr/>
        </p:nvSpPr>
        <p:spPr>
          <a:xfrm>
            <a:off x="11658600" y="2670048"/>
            <a:ext cx="91" cy="73152"/>
          </a:xfrm>
          <a:prstGeom prst="line">
            <a:avLst/>
          </a:prstGeom>
          <a:noFill/>
          <a:ln w="12700">
            <a:solidFill>
              <a:srgbClr val="6B7679"/>
            </a:solidFill>
            <a:prstDash val="solid"/>
          </a:ln>
        </p:spPr>
        <p:txBody>
          <a:bodyPr/>
          <a:p/>
        </p:txBody>
      </p:sp>
      <p:sp>
        <p:nvSpPr>
          <p:cNvPr id="24" name="Text 2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Process</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Arrival</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Burst</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Finish</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Turnaround</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Waiting</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Response</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8.75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4.75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4.75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26" name="Shape 2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4"/>
          <p:cNvSpPr txBox="1"/>
          <p:nvPr/>
        </p:nvSpPr>
        <p:spPr>
          <a:xfrm>
            <a:off x="7680960" y="342900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chart</a:t>
            </a:r>
            <a:endParaRPr lang="en-US" sz="1500" dirty="0"/>
          </a:p>
        </p:txBody>
      </p:sp>
      <p:sp>
        <p:nvSpPr>
          <p:cNvPr id="28" name="Text 2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Order of arrival: P1 (0), P2 (2), P3 (4), P4 (5).</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Example, P3: turnaround 12 − 4 = 8, waiting 8 − 1 = 7 ms.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Simple and fair in the 'queue at the bank' sense — but short jobs can wait a long time behind long ones.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FCFS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Convoy Effect: Order Matters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Three jobs arrive at t = 0 with bursts 24, 3 and 3 ms. Same jobs, same algorithm, two arrival orders.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7</a:t>
            </a:r>
            <a:endParaRPr lang="en-US" sz="900" dirty="0"/>
          </a:p>
        </p:txBody>
      </p:sp>
      <p:sp>
        <p:nvSpPr>
          <p:cNvPr id="7" name="Text 5"/>
          <p:cNvSpPr txBox="1"/>
          <p:nvPr/>
        </p:nvSpPr>
        <p:spPr>
          <a:xfrm>
            <a:off x="548640" y="2057400"/>
            <a:ext cx="6766560" cy="320040"/>
          </a:xfrm>
          <a:prstGeom prst="rect">
            <a:avLst/>
          </a:prstGeom>
          <a:noFill/>
          <a:ln/>
        </p:spPr>
        <p:txBody>
          <a:bodyPr wrap="square" lIns="0" tIns="0" rIns="0" bIns="0" rtlCol="0" anchor="t"/>
          <a:lstStyle/>
          <a:p>
            <a:pPr indent="0" marL="0">
              <a:buNone/>
            </a:pPr>
            <a:r>
              <a:rPr lang="en-US" sz="1500" b="1" dirty="0">
                <a:solidFill>
                  <a:srgbClr val="B5453A"/>
                </a:solidFill>
                <a:latin typeface="Calibri" pitchFamily="34" charset="0"/>
                <a:ea typeface="Calibri" pitchFamily="34" charset="-122"/>
                <a:cs typeface="Calibri" pitchFamily="34" charset="-120"/>
              </a:rPr>
              <a:t>Order A: the long job happens to be first</a:t>
            </a:r>
            <a:endParaRPr lang="en-US" sz="1500" dirty="0"/>
          </a:p>
        </p:txBody>
      </p:sp>
      <p:sp>
        <p:nvSpPr>
          <p:cNvPr id="8" name="Shape 6"/>
          <p:cNvSpPr/>
          <p:nvPr/>
        </p:nvSpPr>
        <p:spPr>
          <a:xfrm>
            <a:off x="557784" y="2423160"/>
            <a:ext cx="5394960" cy="566928"/>
          </a:xfrm>
          <a:prstGeom prst="roundRect">
            <a:avLst>
              <a:gd name="adj" fmla="val 8065"/>
            </a:avLst>
          </a:prstGeom>
          <a:solidFill>
            <a:srgbClr val="02C39A"/>
          </a:solidFill>
          <a:ln/>
        </p:spPr>
        <p:txBody>
          <a:bodyPr/>
          <a:p/>
        </p:txBody>
      </p:sp>
      <p:sp>
        <p:nvSpPr>
          <p:cNvPr id="9" name="Text 7"/>
          <p:cNvSpPr txBox="1"/>
          <p:nvPr/>
        </p:nvSpPr>
        <p:spPr>
          <a:xfrm>
            <a:off x="557784" y="2423160"/>
            <a:ext cx="5394960"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0" name="Shape 8"/>
          <p:cNvSpPr/>
          <p:nvPr/>
        </p:nvSpPr>
        <p:spPr>
          <a:xfrm>
            <a:off x="5971032" y="2423160"/>
            <a:ext cx="658368" cy="566928"/>
          </a:xfrm>
          <a:prstGeom prst="roundRect">
            <a:avLst>
              <a:gd name="adj" fmla="val 8065"/>
            </a:avLst>
          </a:prstGeom>
          <a:solidFill>
            <a:srgbClr val="50808E"/>
          </a:solidFill>
          <a:ln/>
        </p:spPr>
        <p:txBody>
          <a:bodyPr/>
          <a:p/>
        </p:txBody>
      </p:sp>
      <p:sp>
        <p:nvSpPr>
          <p:cNvPr id="11" name="Text 9"/>
          <p:cNvSpPr txBox="1"/>
          <p:nvPr/>
        </p:nvSpPr>
        <p:spPr>
          <a:xfrm>
            <a:off x="5971032" y="2423160"/>
            <a:ext cx="658368"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2" name="Shape 10"/>
          <p:cNvSpPr/>
          <p:nvPr/>
        </p:nvSpPr>
        <p:spPr>
          <a:xfrm>
            <a:off x="6647688" y="2423160"/>
            <a:ext cx="658368" cy="566928"/>
          </a:xfrm>
          <a:prstGeom prst="roundRect">
            <a:avLst>
              <a:gd name="adj" fmla="val 8065"/>
            </a:avLst>
          </a:prstGeom>
          <a:solidFill>
            <a:srgbClr val="C98A1B"/>
          </a:solidFill>
          <a:ln/>
        </p:spPr>
        <p:txBody>
          <a:bodyPr/>
          <a:p/>
        </p:txBody>
      </p:sp>
      <p:sp>
        <p:nvSpPr>
          <p:cNvPr id="13" name="Text 11"/>
          <p:cNvSpPr txBox="1"/>
          <p:nvPr/>
        </p:nvSpPr>
        <p:spPr>
          <a:xfrm>
            <a:off x="6647688" y="2423160"/>
            <a:ext cx="658368"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4" name="Shape 12"/>
          <p:cNvSpPr/>
          <p:nvPr/>
        </p:nvSpPr>
        <p:spPr>
          <a:xfrm>
            <a:off x="548640" y="2990088"/>
            <a:ext cx="91" cy="73152"/>
          </a:xfrm>
          <a:prstGeom prst="line">
            <a:avLst/>
          </a:prstGeom>
          <a:noFill/>
          <a:ln w="12700">
            <a:solidFill>
              <a:srgbClr val="6B7679"/>
            </a:solidFill>
            <a:prstDash val="solid"/>
          </a:ln>
        </p:spPr>
        <p:txBody>
          <a:bodyPr/>
          <a:p/>
        </p:txBody>
      </p:sp>
      <p:sp>
        <p:nvSpPr>
          <p:cNvPr id="15" name="Text 13"/>
          <p:cNvSpPr txBox="1"/>
          <p:nvPr/>
        </p:nvSpPr>
        <p:spPr>
          <a:xfrm>
            <a:off x="274320" y="306324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6" name="Shape 14"/>
          <p:cNvSpPr/>
          <p:nvPr/>
        </p:nvSpPr>
        <p:spPr>
          <a:xfrm>
            <a:off x="5961888" y="2990088"/>
            <a:ext cx="91" cy="73152"/>
          </a:xfrm>
          <a:prstGeom prst="line">
            <a:avLst/>
          </a:prstGeom>
          <a:noFill/>
          <a:ln w="12700">
            <a:solidFill>
              <a:srgbClr val="6B7679"/>
            </a:solidFill>
            <a:prstDash val="solid"/>
          </a:ln>
        </p:spPr>
        <p:txBody>
          <a:bodyPr/>
          <a:p/>
        </p:txBody>
      </p:sp>
      <p:sp>
        <p:nvSpPr>
          <p:cNvPr id="17" name="Text 15"/>
          <p:cNvSpPr txBox="1"/>
          <p:nvPr/>
        </p:nvSpPr>
        <p:spPr>
          <a:xfrm>
            <a:off x="5687568" y="306324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24</a:t>
            </a:r>
            <a:endParaRPr lang="en-US" sz="1200" dirty="0"/>
          </a:p>
        </p:txBody>
      </p:sp>
      <p:sp>
        <p:nvSpPr>
          <p:cNvPr id="18" name="Shape 16"/>
          <p:cNvSpPr/>
          <p:nvPr/>
        </p:nvSpPr>
        <p:spPr>
          <a:xfrm>
            <a:off x="6638544" y="2990088"/>
            <a:ext cx="91" cy="73152"/>
          </a:xfrm>
          <a:prstGeom prst="line">
            <a:avLst/>
          </a:prstGeom>
          <a:noFill/>
          <a:ln w="12700">
            <a:solidFill>
              <a:srgbClr val="6B7679"/>
            </a:solidFill>
            <a:prstDash val="solid"/>
          </a:ln>
        </p:spPr>
        <p:txBody>
          <a:bodyPr/>
          <a:p/>
        </p:txBody>
      </p:sp>
      <p:sp>
        <p:nvSpPr>
          <p:cNvPr id="19" name="Text 17"/>
          <p:cNvSpPr txBox="1"/>
          <p:nvPr/>
        </p:nvSpPr>
        <p:spPr>
          <a:xfrm>
            <a:off x="6364224" y="306324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27</a:t>
            </a:r>
            <a:endParaRPr lang="en-US" sz="1200" dirty="0"/>
          </a:p>
        </p:txBody>
      </p:sp>
      <p:sp>
        <p:nvSpPr>
          <p:cNvPr id="20" name="Shape 18"/>
          <p:cNvSpPr/>
          <p:nvPr/>
        </p:nvSpPr>
        <p:spPr>
          <a:xfrm>
            <a:off x="7315200" y="2990088"/>
            <a:ext cx="91" cy="73152"/>
          </a:xfrm>
          <a:prstGeom prst="line">
            <a:avLst/>
          </a:prstGeom>
          <a:noFill/>
          <a:ln w="12700">
            <a:solidFill>
              <a:srgbClr val="6B7679"/>
            </a:solidFill>
            <a:prstDash val="solid"/>
          </a:ln>
        </p:spPr>
        <p:txBody>
          <a:bodyPr/>
          <a:p/>
        </p:txBody>
      </p:sp>
      <p:sp>
        <p:nvSpPr>
          <p:cNvPr id="21" name="Text 19"/>
          <p:cNvSpPr txBox="1"/>
          <p:nvPr/>
        </p:nvSpPr>
        <p:spPr>
          <a:xfrm>
            <a:off x="7040880" y="306324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30</a:t>
            </a:r>
            <a:endParaRPr lang="en-US" sz="1200" dirty="0"/>
          </a:p>
        </p:txBody>
      </p:sp>
      <p:sp>
        <p:nvSpPr>
          <p:cNvPr id="22" name="Text 20"/>
          <p:cNvSpPr txBox="1"/>
          <p:nvPr/>
        </p:nvSpPr>
        <p:spPr>
          <a:xfrm>
            <a:off x="548640" y="3749040"/>
            <a:ext cx="676656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Order B: the short jobs happen to be first</a:t>
            </a:r>
            <a:endParaRPr lang="en-US" sz="1500" dirty="0"/>
          </a:p>
        </p:txBody>
      </p:sp>
      <p:sp>
        <p:nvSpPr>
          <p:cNvPr id="23" name="Shape 21"/>
          <p:cNvSpPr/>
          <p:nvPr/>
        </p:nvSpPr>
        <p:spPr>
          <a:xfrm>
            <a:off x="557784" y="4114800"/>
            <a:ext cx="658368" cy="566928"/>
          </a:xfrm>
          <a:prstGeom prst="roundRect">
            <a:avLst>
              <a:gd name="adj" fmla="val 8065"/>
            </a:avLst>
          </a:prstGeom>
          <a:solidFill>
            <a:srgbClr val="50808E"/>
          </a:solidFill>
          <a:ln/>
        </p:spPr>
        <p:txBody>
          <a:bodyPr/>
          <a:p/>
        </p:txBody>
      </p:sp>
      <p:sp>
        <p:nvSpPr>
          <p:cNvPr id="24" name="Text 22"/>
          <p:cNvSpPr txBox="1"/>
          <p:nvPr/>
        </p:nvSpPr>
        <p:spPr>
          <a:xfrm>
            <a:off x="557784" y="4114800"/>
            <a:ext cx="658368"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25" name="Shape 23"/>
          <p:cNvSpPr/>
          <p:nvPr/>
        </p:nvSpPr>
        <p:spPr>
          <a:xfrm>
            <a:off x="1234440" y="4114800"/>
            <a:ext cx="658368" cy="566928"/>
          </a:xfrm>
          <a:prstGeom prst="roundRect">
            <a:avLst>
              <a:gd name="adj" fmla="val 8065"/>
            </a:avLst>
          </a:prstGeom>
          <a:solidFill>
            <a:srgbClr val="C98A1B"/>
          </a:solidFill>
          <a:ln/>
        </p:spPr>
        <p:txBody>
          <a:bodyPr/>
          <a:p/>
        </p:txBody>
      </p:sp>
      <p:sp>
        <p:nvSpPr>
          <p:cNvPr id="26" name="Text 24"/>
          <p:cNvSpPr txBox="1"/>
          <p:nvPr/>
        </p:nvSpPr>
        <p:spPr>
          <a:xfrm>
            <a:off x="1234440" y="4114800"/>
            <a:ext cx="658368"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27" name="Shape 25"/>
          <p:cNvSpPr/>
          <p:nvPr/>
        </p:nvSpPr>
        <p:spPr>
          <a:xfrm>
            <a:off x="1911096" y="4114800"/>
            <a:ext cx="5394960" cy="566928"/>
          </a:xfrm>
          <a:prstGeom prst="roundRect">
            <a:avLst>
              <a:gd name="adj" fmla="val 8065"/>
            </a:avLst>
          </a:prstGeom>
          <a:solidFill>
            <a:srgbClr val="02C39A"/>
          </a:solidFill>
          <a:ln/>
        </p:spPr>
        <p:txBody>
          <a:bodyPr/>
          <a:p/>
        </p:txBody>
      </p:sp>
      <p:sp>
        <p:nvSpPr>
          <p:cNvPr id="28" name="Text 26"/>
          <p:cNvSpPr txBox="1"/>
          <p:nvPr/>
        </p:nvSpPr>
        <p:spPr>
          <a:xfrm>
            <a:off x="1911096" y="4114800"/>
            <a:ext cx="5394960"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29" name="Shape 27"/>
          <p:cNvSpPr/>
          <p:nvPr/>
        </p:nvSpPr>
        <p:spPr>
          <a:xfrm>
            <a:off x="548640" y="4681728"/>
            <a:ext cx="91" cy="73152"/>
          </a:xfrm>
          <a:prstGeom prst="line">
            <a:avLst/>
          </a:prstGeom>
          <a:noFill/>
          <a:ln w="12700">
            <a:solidFill>
              <a:srgbClr val="6B7679"/>
            </a:solidFill>
            <a:prstDash val="solid"/>
          </a:ln>
        </p:spPr>
        <p:txBody>
          <a:bodyPr/>
          <a:p/>
        </p:txBody>
      </p:sp>
      <p:sp>
        <p:nvSpPr>
          <p:cNvPr id="30" name="Text 28"/>
          <p:cNvSpPr txBox="1"/>
          <p:nvPr/>
        </p:nvSpPr>
        <p:spPr>
          <a:xfrm>
            <a:off x="274320" y="475488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31" name="Shape 29"/>
          <p:cNvSpPr/>
          <p:nvPr/>
        </p:nvSpPr>
        <p:spPr>
          <a:xfrm>
            <a:off x="1225296" y="4681728"/>
            <a:ext cx="91" cy="73152"/>
          </a:xfrm>
          <a:prstGeom prst="line">
            <a:avLst/>
          </a:prstGeom>
          <a:noFill/>
          <a:ln w="12700">
            <a:solidFill>
              <a:srgbClr val="6B7679"/>
            </a:solidFill>
            <a:prstDash val="solid"/>
          </a:ln>
        </p:spPr>
        <p:txBody>
          <a:bodyPr/>
          <a:p/>
        </p:txBody>
      </p:sp>
      <p:sp>
        <p:nvSpPr>
          <p:cNvPr id="32" name="Text 30"/>
          <p:cNvSpPr txBox="1"/>
          <p:nvPr/>
        </p:nvSpPr>
        <p:spPr>
          <a:xfrm>
            <a:off x="950976" y="475488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3</a:t>
            </a:r>
            <a:endParaRPr lang="en-US" sz="1200" dirty="0"/>
          </a:p>
        </p:txBody>
      </p:sp>
      <p:sp>
        <p:nvSpPr>
          <p:cNvPr id="33" name="Shape 31"/>
          <p:cNvSpPr/>
          <p:nvPr/>
        </p:nvSpPr>
        <p:spPr>
          <a:xfrm>
            <a:off x="1901952" y="4681728"/>
            <a:ext cx="91" cy="73152"/>
          </a:xfrm>
          <a:prstGeom prst="line">
            <a:avLst/>
          </a:prstGeom>
          <a:noFill/>
          <a:ln w="12700">
            <a:solidFill>
              <a:srgbClr val="6B7679"/>
            </a:solidFill>
            <a:prstDash val="solid"/>
          </a:ln>
        </p:spPr>
        <p:txBody>
          <a:bodyPr/>
          <a:p/>
        </p:txBody>
      </p:sp>
      <p:sp>
        <p:nvSpPr>
          <p:cNvPr id="34" name="Text 32"/>
          <p:cNvSpPr txBox="1"/>
          <p:nvPr/>
        </p:nvSpPr>
        <p:spPr>
          <a:xfrm>
            <a:off x="1627632" y="475488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6</a:t>
            </a:r>
            <a:endParaRPr lang="en-US" sz="1200" dirty="0"/>
          </a:p>
        </p:txBody>
      </p:sp>
      <p:sp>
        <p:nvSpPr>
          <p:cNvPr id="35" name="Shape 33"/>
          <p:cNvSpPr/>
          <p:nvPr/>
        </p:nvSpPr>
        <p:spPr>
          <a:xfrm>
            <a:off x="7315200" y="4681728"/>
            <a:ext cx="91" cy="73152"/>
          </a:xfrm>
          <a:prstGeom prst="line">
            <a:avLst/>
          </a:prstGeom>
          <a:noFill/>
          <a:ln w="12700">
            <a:solidFill>
              <a:srgbClr val="6B7679"/>
            </a:solidFill>
            <a:prstDash val="solid"/>
          </a:ln>
        </p:spPr>
        <p:txBody>
          <a:bodyPr/>
          <a:p/>
        </p:txBody>
      </p:sp>
      <p:sp>
        <p:nvSpPr>
          <p:cNvPr id="36" name="Text 34"/>
          <p:cNvSpPr txBox="1"/>
          <p:nvPr/>
        </p:nvSpPr>
        <p:spPr>
          <a:xfrm>
            <a:off x="7040880" y="475488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30</a:t>
            </a:r>
            <a:endParaRPr lang="en-US" sz="1200" dirty="0"/>
          </a:p>
        </p:txBody>
      </p:sp>
      <p:sp>
        <p:nvSpPr>
          <p:cNvPr id="37" name="Shape 35"/>
          <p:cNvSpPr/>
          <p:nvPr/>
        </p:nvSpPr>
        <p:spPr>
          <a:xfrm>
            <a:off x="7635240" y="2057400"/>
            <a:ext cx="4023360" cy="2697480"/>
          </a:xfrm>
          <a:prstGeom prst="roundRect">
            <a:avLst>
              <a:gd name="adj" fmla="val 1695"/>
            </a:avLst>
          </a:prstGeom>
          <a:solidFill>
            <a:srgbClr val="212121"/>
          </a:solidFill>
          <a:ln/>
        </p:spPr>
        <p:txBody>
          <a:bodyPr/>
          <a:p/>
        </p:txBody>
      </p:sp>
      <p:sp>
        <p:nvSpPr>
          <p:cNvPr id="38" name="Text 36"/>
          <p:cNvSpPr txBox="1"/>
          <p:nvPr/>
        </p:nvSpPr>
        <p:spPr>
          <a:xfrm>
            <a:off x="7818120" y="2167128"/>
            <a:ext cx="3657600" cy="247802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Waiting times (ms)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 P1 = 0, P2 = 24, P3 = 27</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average = 51 / 3 = 17</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B: P2 = 0, P3 = 3, P1 = 6</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average =  9 / 3 = 3</a:t>
            </a:r>
            <a:endParaRPr lang="en-US" sz="1400" dirty="0"/>
          </a:p>
        </p:txBody>
      </p:sp>
      <p:sp>
        <p:nvSpPr>
          <p:cNvPr id="39" name="Shape 37"/>
          <p:cNvSpPr/>
          <p:nvPr/>
        </p:nvSpPr>
        <p:spPr>
          <a:xfrm>
            <a:off x="7635240" y="4983480"/>
            <a:ext cx="402336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7863840" y="4983480"/>
            <a:ext cx="3566160" cy="12801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Convoy effect: many short (I/O-bound) processes queue behind one long CPU-bound process, like cars behind a slow truck.</a:t>
            </a:r>
            <a:endParaRPr lang="en-US" sz="1400" dirty="0"/>
          </a:p>
        </p:txBody>
      </p:sp>
      <p:sp>
        <p:nvSpPr>
          <p:cNvPr id="41" name="Text 39"/>
          <p:cNvSpPr txBox="1"/>
          <p:nvPr/>
        </p:nvSpPr>
        <p:spPr>
          <a:xfrm>
            <a:off x="548640" y="5257800"/>
            <a:ext cx="6583680" cy="731520"/>
          </a:xfrm>
          <a:prstGeom prst="rect">
            <a:avLst/>
          </a:prstGeom>
          <a:noFill/>
          <a:ln/>
        </p:spPr>
        <p:txBody>
          <a:bodyPr wrap="square" lIns="0" tIns="0" rIns="0" bIns="0" rtlCol="0" anchor="t"/>
          <a:lstStyle/>
          <a:p>
            <a:pPr indent="0" marL="0">
              <a:buNone/>
            </a:pPr>
            <a:r>
              <a:rPr lang="en-US" sz="1500" i="1" dirty="0">
                <a:solidFill>
                  <a:srgbClr val="50808E"/>
                </a:solidFill>
                <a:latin typeface="Calibri" pitchFamily="34" charset="0"/>
                <a:ea typeface="Calibri" pitchFamily="34" charset="-122"/>
                <a:cs typeface="Calibri" pitchFamily="34" charset="-120"/>
              </a:rPr>
              <a:t>Under FCFS the average waiting time depends entirely on luck: the order in which jobs happen to arrive.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ALGORITHM 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Shortest-Job-First (SJF), Non-Preemptive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When the CPU becomes free, pick the ready process with the shortest next CPU burst. Once started, a job runs to completion.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8</a:t>
            </a:r>
            <a:endParaRPr lang="en-US" sz="900" dirty="0"/>
          </a:p>
        </p:txBody>
      </p:sp>
      <p:sp>
        <p:nvSpPr>
          <p:cNvPr id="7" name="Shape 5"/>
          <p:cNvSpPr/>
          <p:nvPr/>
        </p:nvSpPr>
        <p:spPr>
          <a:xfrm>
            <a:off x="557784" y="2103120"/>
            <a:ext cx="4842320" cy="566928"/>
          </a:xfrm>
          <a:prstGeom prst="roundRect">
            <a:avLst>
              <a:gd name="adj" fmla="val 8065"/>
            </a:avLst>
          </a:prstGeom>
          <a:solidFill>
            <a:srgbClr val="02C39A"/>
          </a:solidFill>
          <a:ln/>
        </p:spPr>
        <p:txBody>
          <a:bodyPr/>
          <a:p/>
        </p:txBody>
      </p:sp>
      <p:sp>
        <p:nvSpPr>
          <p:cNvPr id="8" name="Text 6"/>
          <p:cNvSpPr txBox="1"/>
          <p:nvPr/>
        </p:nvSpPr>
        <p:spPr>
          <a:xfrm>
            <a:off x="557784" y="2103120"/>
            <a:ext cx="4842320"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9" name="Shape 7"/>
          <p:cNvSpPr/>
          <p:nvPr/>
        </p:nvSpPr>
        <p:spPr>
          <a:xfrm>
            <a:off x="5418391" y="2103120"/>
            <a:ext cx="676085" cy="566928"/>
          </a:xfrm>
          <a:prstGeom prst="roundRect">
            <a:avLst>
              <a:gd name="adj" fmla="val 8065"/>
            </a:avLst>
          </a:prstGeom>
          <a:solidFill>
            <a:srgbClr val="C98A1B"/>
          </a:solidFill>
          <a:ln/>
        </p:spPr>
        <p:txBody>
          <a:bodyPr/>
          <a:p/>
        </p:txBody>
      </p:sp>
      <p:sp>
        <p:nvSpPr>
          <p:cNvPr id="10" name="Text 8"/>
          <p:cNvSpPr txBox="1"/>
          <p:nvPr/>
        </p:nvSpPr>
        <p:spPr>
          <a:xfrm>
            <a:off x="5418391"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1" name="Shape 9"/>
          <p:cNvSpPr/>
          <p:nvPr/>
        </p:nvSpPr>
        <p:spPr>
          <a:xfrm>
            <a:off x="6112764" y="2103120"/>
            <a:ext cx="2759202" cy="566928"/>
          </a:xfrm>
          <a:prstGeom prst="roundRect">
            <a:avLst>
              <a:gd name="adj" fmla="val 8065"/>
            </a:avLst>
          </a:prstGeom>
          <a:solidFill>
            <a:srgbClr val="50808E"/>
          </a:solidFill>
          <a:ln/>
        </p:spPr>
        <p:txBody>
          <a:bodyPr/>
          <a:p/>
        </p:txBody>
      </p:sp>
      <p:sp>
        <p:nvSpPr>
          <p:cNvPr id="12" name="Text 10"/>
          <p:cNvSpPr txBox="1"/>
          <p:nvPr/>
        </p:nvSpPr>
        <p:spPr>
          <a:xfrm>
            <a:off x="611276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3" name="Shape 11"/>
          <p:cNvSpPr/>
          <p:nvPr/>
        </p:nvSpPr>
        <p:spPr>
          <a:xfrm>
            <a:off x="8890254" y="2103120"/>
            <a:ext cx="2759202" cy="566928"/>
          </a:xfrm>
          <a:prstGeom prst="roundRect">
            <a:avLst>
              <a:gd name="adj" fmla="val 8065"/>
            </a:avLst>
          </a:prstGeom>
          <a:solidFill>
            <a:srgbClr val="36454F"/>
          </a:solidFill>
          <a:ln/>
        </p:spPr>
        <p:txBody>
          <a:bodyPr/>
          <a:p/>
        </p:txBody>
      </p:sp>
      <p:sp>
        <p:nvSpPr>
          <p:cNvPr id="14" name="Text 12"/>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5" name="Shape 13"/>
          <p:cNvSpPr/>
          <p:nvPr/>
        </p:nvSpPr>
        <p:spPr>
          <a:xfrm>
            <a:off x="548640" y="2670048"/>
            <a:ext cx="91" cy="73152"/>
          </a:xfrm>
          <a:prstGeom prst="line">
            <a:avLst/>
          </a:prstGeom>
          <a:noFill/>
          <a:ln w="12700">
            <a:solidFill>
              <a:srgbClr val="6B7679"/>
            </a:solidFill>
            <a:prstDash val="solid"/>
          </a:ln>
        </p:spPr>
        <p:txBody>
          <a:bodyPr/>
          <a:p/>
        </p:txBody>
      </p:sp>
      <p:sp>
        <p:nvSpPr>
          <p:cNvPr id="16" name="Text 1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7" name="Shape 15"/>
          <p:cNvSpPr/>
          <p:nvPr/>
        </p:nvSpPr>
        <p:spPr>
          <a:xfrm>
            <a:off x="5409247" y="2670048"/>
            <a:ext cx="91" cy="73152"/>
          </a:xfrm>
          <a:prstGeom prst="line">
            <a:avLst/>
          </a:prstGeom>
          <a:noFill/>
          <a:ln w="12700">
            <a:solidFill>
              <a:srgbClr val="6B7679"/>
            </a:solidFill>
            <a:prstDash val="solid"/>
          </a:ln>
        </p:spPr>
        <p:txBody>
          <a:bodyPr/>
          <a:p/>
        </p:txBody>
      </p:sp>
      <p:sp>
        <p:nvSpPr>
          <p:cNvPr id="18" name="Text 1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19" name="Shape 17"/>
          <p:cNvSpPr/>
          <p:nvPr/>
        </p:nvSpPr>
        <p:spPr>
          <a:xfrm>
            <a:off x="6103620" y="2670048"/>
            <a:ext cx="91" cy="73152"/>
          </a:xfrm>
          <a:prstGeom prst="line">
            <a:avLst/>
          </a:prstGeom>
          <a:noFill/>
          <a:ln w="12700">
            <a:solidFill>
              <a:srgbClr val="6B7679"/>
            </a:solidFill>
            <a:prstDash val="solid"/>
          </a:ln>
        </p:spPr>
        <p:txBody>
          <a:bodyPr/>
          <a:p/>
        </p:txBody>
      </p:sp>
      <p:sp>
        <p:nvSpPr>
          <p:cNvPr id="20" name="Text 18"/>
          <p:cNvSpPr txBox="1"/>
          <p:nvPr/>
        </p:nvSpPr>
        <p:spPr>
          <a:xfrm>
            <a:off x="582930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8</a:t>
            </a:r>
            <a:endParaRPr lang="en-US" sz="1200" dirty="0"/>
          </a:p>
        </p:txBody>
      </p:sp>
      <p:sp>
        <p:nvSpPr>
          <p:cNvPr id="21" name="Shape 19"/>
          <p:cNvSpPr/>
          <p:nvPr/>
        </p:nvSpPr>
        <p:spPr>
          <a:xfrm>
            <a:off x="8881110" y="2670048"/>
            <a:ext cx="91" cy="73152"/>
          </a:xfrm>
          <a:prstGeom prst="line">
            <a:avLst/>
          </a:prstGeom>
          <a:noFill/>
          <a:ln w="12700">
            <a:solidFill>
              <a:srgbClr val="6B7679"/>
            </a:solidFill>
            <a:prstDash val="solid"/>
          </a:ln>
        </p:spPr>
        <p:txBody>
          <a:bodyPr/>
          <a:p/>
        </p:txBody>
      </p:sp>
      <p:sp>
        <p:nvSpPr>
          <p:cNvPr id="22" name="Text 20"/>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12</a:t>
            </a:r>
            <a:endParaRPr lang="en-US" sz="1200" dirty="0"/>
          </a:p>
        </p:txBody>
      </p:sp>
      <p:sp>
        <p:nvSpPr>
          <p:cNvPr id="23" name="Shape 21"/>
          <p:cNvSpPr/>
          <p:nvPr/>
        </p:nvSpPr>
        <p:spPr>
          <a:xfrm>
            <a:off x="11658600" y="2670048"/>
            <a:ext cx="91" cy="73152"/>
          </a:xfrm>
          <a:prstGeom prst="line">
            <a:avLst/>
          </a:prstGeom>
          <a:noFill/>
          <a:ln w="12700">
            <a:solidFill>
              <a:srgbClr val="6B7679"/>
            </a:solidFill>
            <a:prstDash val="solid"/>
          </a:ln>
        </p:spPr>
        <p:txBody>
          <a:bodyPr/>
          <a:p/>
        </p:txBody>
      </p:sp>
      <p:sp>
        <p:nvSpPr>
          <p:cNvPr id="24" name="Text 2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Process</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Arrival</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Burst</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Finish</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Turnaround</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Waiting</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Response</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26" name="Shape 2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4"/>
          <p:cNvSpPr txBox="1"/>
          <p:nvPr/>
        </p:nvSpPr>
        <p:spPr>
          <a:xfrm>
            <a:off x="7680960" y="342900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How it was decided</a:t>
            </a:r>
            <a:endParaRPr lang="en-US" sz="1500" dirty="0"/>
          </a:p>
        </p:txBody>
      </p:sp>
      <p:sp>
        <p:nvSpPr>
          <p:cNvPr id="28" name="Text 2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0: only P1 is ready → P1 runs to 7.</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7: P2 (4), P3 (1), P4 (4) are waiting → shortest is P3.</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8: P2 and P4 tie at 4 → P2 arrived first.</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Average waiting drops from 4.75 (FCFS) to 4 ms.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ALGORITHM 2B</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Preemptive SJF: Shortest-Remaining-Time-First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Whenever a new process arrives, compare its burst with the remaining time of the running process. Shorter wins the CPU.</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9</a:t>
            </a:r>
            <a:endParaRPr lang="en-US" sz="900" dirty="0"/>
          </a:p>
        </p:txBody>
      </p:sp>
      <p:sp>
        <p:nvSpPr>
          <p:cNvPr id="7" name="Shape 5"/>
          <p:cNvSpPr/>
          <p:nvPr/>
        </p:nvSpPr>
        <p:spPr>
          <a:xfrm>
            <a:off x="557784" y="2103120"/>
            <a:ext cx="1370457" cy="566928"/>
          </a:xfrm>
          <a:prstGeom prst="roundRect">
            <a:avLst>
              <a:gd name="adj" fmla="val 8065"/>
            </a:avLst>
          </a:prstGeom>
          <a:solidFill>
            <a:srgbClr val="02C39A"/>
          </a:solidFill>
          <a:ln/>
        </p:spPr>
        <p:txBody>
          <a:bodyPr/>
          <a:p/>
        </p:txBody>
      </p:sp>
      <p:sp>
        <p:nvSpPr>
          <p:cNvPr id="8" name="Text 6"/>
          <p:cNvSpPr txBox="1"/>
          <p:nvPr/>
        </p:nvSpPr>
        <p:spPr>
          <a:xfrm>
            <a:off x="557784"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9" name="Shape 7"/>
          <p:cNvSpPr/>
          <p:nvPr/>
        </p:nvSpPr>
        <p:spPr>
          <a:xfrm>
            <a:off x="1946529" y="2103120"/>
            <a:ext cx="1370457" cy="566928"/>
          </a:xfrm>
          <a:prstGeom prst="roundRect">
            <a:avLst>
              <a:gd name="adj" fmla="val 8065"/>
            </a:avLst>
          </a:prstGeom>
          <a:solidFill>
            <a:srgbClr val="50808E"/>
          </a:solidFill>
          <a:ln/>
        </p:spPr>
        <p:txBody>
          <a:bodyPr/>
          <a:p/>
        </p:txBody>
      </p:sp>
      <p:sp>
        <p:nvSpPr>
          <p:cNvPr id="10" name="Text 8"/>
          <p:cNvSpPr txBox="1"/>
          <p:nvPr/>
        </p:nvSpPr>
        <p:spPr>
          <a:xfrm>
            <a:off x="1946529"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1" name="Shape 9"/>
          <p:cNvSpPr/>
          <p:nvPr/>
        </p:nvSpPr>
        <p:spPr>
          <a:xfrm>
            <a:off x="3335274" y="2103120"/>
            <a:ext cx="676085" cy="566928"/>
          </a:xfrm>
          <a:prstGeom prst="roundRect">
            <a:avLst>
              <a:gd name="adj" fmla="val 8065"/>
            </a:avLst>
          </a:prstGeom>
          <a:solidFill>
            <a:srgbClr val="C98A1B"/>
          </a:solidFill>
          <a:ln/>
        </p:spPr>
        <p:txBody>
          <a:bodyPr/>
          <a:p/>
        </p:txBody>
      </p:sp>
      <p:sp>
        <p:nvSpPr>
          <p:cNvPr id="12" name="Text 10"/>
          <p:cNvSpPr txBox="1"/>
          <p:nvPr/>
        </p:nvSpPr>
        <p:spPr>
          <a:xfrm>
            <a:off x="3335274"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3" name="Shape 11"/>
          <p:cNvSpPr/>
          <p:nvPr/>
        </p:nvSpPr>
        <p:spPr>
          <a:xfrm>
            <a:off x="4029646" y="2103120"/>
            <a:ext cx="1370457" cy="566928"/>
          </a:xfrm>
          <a:prstGeom prst="roundRect">
            <a:avLst>
              <a:gd name="adj" fmla="val 8065"/>
            </a:avLst>
          </a:prstGeom>
          <a:solidFill>
            <a:srgbClr val="50808E"/>
          </a:solidFill>
          <a:ln/>
        </p:spPr>
        <p:txBody>
          <a:bodyPr/>
          <a:p/>
        </p:txBody>
      </p:sp>
      <p:sp>
        <p:nvSpPr>
          <p:cNvPr id="14" name="Text 12"/>
          <p:cNvSpPr txBox="1"/>
          <p:nvPr/>
        </p:nvSpPr>
        <p:spPr>
          <a:xfrm>
            <a:off x="4029646"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5" name="Shape 13"/>
          <p:cNvSpPr/>
          <p:nvPr/>
        </p:nvSpPr>
        <p:spPr>
          <a:xfrm>
            <a:off x="5418391" y="2103120"/>
            <a:ext cx="2759202" cy="566928"/>
          </a:xfrm>
          <a:prstGeom prst="roundRect">
            <a:avLst>
              <a:gd name="adj" fmla="val 8065"/>
            </a:avLst>
          </a:prstGeom>
          <a:solidFill>
            <a:srgbClr val="36454F"/>
          </a:solidFill>
          <a:ln/>
        </p:spPr>
        <p:txBody>
          <a:bodyPr/>
          <a:p/>
        </p:txBody>
      </p:sp>
      <p:sp>
        <p:nvSpPr>
          <p:cNvPr id="16" name="Text 14"/>
          <p:cNvSpPr txBox="1"/>
          <p:nvPr/>
        </p:nvSpPr>
        <p:spPr>
          <a:xfrm>
            <a:off x="5418391"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7" name="Shape 15"/>
          <p:cNvSpPr/>
          <p:nvPr/>
        </p:nvSpPr>
        <p:spPr>
          <a:xfrm>
            <a:off x="8195882" y="2103120"/>
            <a:ext cx="3453575" cy="566928"/>
          </a:xfrm>
          <a:prstGeom prst="roundRect">
            <a:avLst>
              <a:gd name="adj" fmla="val 8065"/>
            </a:avLst>
          </a:prstGeom>
          <a:solidFill>
            <a:srgbClr val="02C39A"/>
          </a:solidFill>
          <a:ln/>
        </p:spPr>
        <p:txBody>
          <a:bodyPr/>
          <a:p/>
        </p:txBody>
      </p:sp>
      <p:sp>
        <p:nvSpPr>
          <p:cNvPr id="18" name="Text 16"/>
          <p:cNvSpPr txBox="1"/>
          <p:nvPr/>
        </p:nvSpPr>
        <p:spPr>
          <a:xfrm>
            <a:off x="8195882" y="2103120"/>
            <a:ext cx="3453575"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9" name="Shape 17"/>
          <p:cNvSpPr/>
          <p:nvPr/>
        </p:nvSpPr>
        <p:spPr>
          <a:xfrm>
            <a:off x="548640" y="2670048"/>
            <a:ext cx="91" cy="73152"/>
          </a:xfrm>
          <a:prstGeom prst="line">
            <a:avLst/>
          </a:prstGeom>
          <a:noFill/>
          <a:ln w="12700">
            <a:solidFill>
              <a:srgbClr val="6B7679"/>
            </a:solidFill>
            <a:prstDash val="solid"/>
          </a:ln>
        </p:spPr>
        <p:txBody>
          <a:bodyPr/>
          <a:p/>
        </p:txBody>
      </p:sp>
      <p:sp>
        <p:nvSpPr>
          <p:cNvPr id="20" name="Text 18"/>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21" name="Shape 19"/>
          <p:cNvSpPr/>
          <p:nvPr/>
        </p:nvSpPr>
        <p:spPr>
          <a:xfrm>
            <a:off x="1937385" y="2670048"/>
            <a:ext cx="91" cy="73152"/>
          </a:xfrm>
          <a:prstGeom prst="line">
            <a:avLst/>
          </a:prstGeom>
          <a:noFill/>
          <a:ln w="12700">
            <a:solidFill>
              <a:srgbClr val="6B7679"/>
            </a:solidFill>
            <a:prstDash val="solid"/>
          </a:ln>
        </p:spPr>
        <p:txBody>
          <a:bodyPr/>
          <a:p/>
        </p:txBody>
      </p:sp>
      <p:sp>
        <p:nvSpPr>
          <p:cNvPr id="22" name="Text 20"/>
          <p:cNvSpPr txBox="1"/>
          <p:nvPr/>
        </p:nvSpPr>
        <p:spPr>
          <a:xfrm>
            <a:off x="1663065"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23" name="Shape 21"/>
          <p:cNvSpPr/>
          <p:nvPr/>
        </p:nvSpPr>
        <p:spPr>
          <a:xfrm>
            <a:off x="3326130" y="2670048"/>
            <a:ext cx="91" cy="73152"/>
          </a:xfrm>
          <a:prstGeom prst="line">
            <a:avLst/>
          </a:prstGeom>
          <a:noFill/>
          <a:ln w="12700">
            <a:solidFill>
              <a:srgbClr val="6B7679"/>
            </a:solidFill>
            <a:prstDash val="solid"/>
          </a:ln>
        </p:spPr>
        <p:txBody>
          <a:bodyPr/>
          <a:p/>
        </p:txBody>
      </p:sp>
      <p:sp>
        <p:nvSpPr>
          <p:cNvPr id="24" name="Text 22"/>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4020502" y="2670048"/>
            <a:ext cx="91" cy="73152"/>
          </a:xfrm>
          <a:prstGeom prst="line">
            <a:avLst/>
          </a:prstGeom>
          <a:noFill/>
          <a:ln w="12700">
            <a:solidFill>
              <a:srgbClr val="6B7679"/>
            </a:solidFill>
            <a:prstDash val="solid"/>
          </a:ln>
        </p:spPr>
        <p:txBody>
          <a:bodyPr/>
          <a:p/>
        </p:txBody>
      </p:sp>
      <p:sp>
        <p:nvSpPr>
          <p:cNvPr id="26" name="Text 24"/>
          <p:cNvSpPr txBox="1"/>
          <p:nvPr/>
        </p:nvSpPr>
        <p:spPr>
          <a:xfrm>
            <a:off x="3746183"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5409247" y="2670048"/>
            <a:ext cx="91" cy="73152"/>
          </a:xfrm>
          <a:prstGeom prst="line">
            <a:avLst/>
          </a:prstGeom>
          <a:noFill/>
          <a:ln w="12700">
            <a:solidFill>
              <a:srgbClr val="6B7679"/>
            </a:solidFill>
            <a:prstDash val="solid"/>
          </a:ln>
        </p:spPr>
        <p:txBody>
          <a:bodyPr/>
          <a:p/>
        </p:txBody>
      </p:sp>
      <p:sp>
        <p:nvSpPr>
          <p:cNvPr id="28" name="Text 2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29" name="Shape 27"/>
          <p:cNvSpPr/>
          <p:nvPr/>
        </p:nvSpPr>
        <p:spPr>
          <a:xfrm>
            <a:off x="8186738" y="2670048"/>
            <a:ext cx="91" cy="73152"/>
          </a:xfrm>
          <a:prstGeom prst="line">
            <a:avLst/>
          </a:prstGeom>
          <a:noFill/>
          <a:ln w="12700">
            <a:solidFill>
              <a:srgbClr val="6B7679"/>
            </a:solidFill>
            <a:prstDash val="solid"/>
          </a:ln>
        </p:spPr>
        <p:txBody>
          <a:bodyPr/>
          <a:p/>
        </p:txBody>
      </p:sp>
      <p:sp>
        <p:nvSpPr>
          <p:cNvPr id="30" name="Text 28"/>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11</a:t>
            </a:r>
            <a:endParaRPr lang="en-US" sz="1200" dirty="0"/>
          </a:p>
        </p:txBody>
      </p:sp>
      <p:sp>
        <p:nvSpPr>
          <p:cNvPr id="31" name="Shape 29"/>
          <p:cNvSpPr/>
          <p:nvPr/>
        </p:nvSpPr>
        <p:spPr>
          <a:xfrm>
            <a:off x="11658600" y="2670048"/>
            <a:ext cx="91" cy="73152"/>
          </a:xfrm>
          <a:prstGeom prst="line">
            <a:avLst/>
          </a:prstGeom>
          <a:noFill/>
          <a:ln w="12700">
            <a:solidFill>
              <a:srgbClr val="6B7679"/>
            </a:solidFill>
            <a:prstDash val="solid"/>
          </a:ln>
        </p:spPr>
        <p:txBody>
          <a:bodyPr/>
          <a:p/>
        </p:txBody>
      </p:sp>
      <p:sp>
        <p:nvSpPr>
          <p:cNvPr id="32" name="Text 30"/>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Process</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Arrival</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Burst</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Finish</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Turnaround</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Waiting</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Response</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34" name="Shape 31"/>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5" name="Text 32"/>
          <p:cNvSpPr txBox="1"/>
          <p:nvPr/>
        </p:nvSpPr>
        <p:spPr>
          <a:xfrm>
            <a:off x="7680960" y="342900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Decisions at each arrival</a:t>
            </a:r>
            <a:endParaRPr lang="en-US" sz="1500" dirty="0"/>
          </a:p>
        </p:txBody>
      </p:sp>
      <p:sp>
        <p:nvSpPr>
          <p:cNvPr id="36" name="Text 33"/>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2: P2 needs 4 &lt; P1's remaining 5 → preempt P1.</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4: P3 needs 1 &lt; P2's remaining 2 → preempt P2.</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5: P2 (2) &lt; P4 (4) &lt; P1 (5) → P2, then P4, then P1.</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Average waiting: 3 ms — the best of the day.</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SJF</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Shortest-First Minimises the Average Wait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An exchange argument: take any two neighbouring jobs in the schedule, a long one L before a short one 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10</a:t>
            </a:r>
            <a:endParaRPr lang="en-US" sz="900" dirty="0"/>
          </a:p>
        </p:txBody>
      </p:sp>
      <p:sp>
        <p:nvSpPr>
          <p:cNvPr id="7" name="Text 5"/>
          <p:cNvSpPr txBox="1"/>
          <p:nvPr/>
        </p:nvSpPr>
        <p:spPr>
          <a:xfrm>
            <a:off x="548640" y="2304288"/>
            <a:ext cx="1463040" cy="365760"/>
          </a:xfrm>
          <a:prstGeom prst="rect">
            <a:avLst/>
          </a:prstGeom>
          <a:noFill/>
          <a:ln/>
        </p:spPr>
        <p:txBody>
          <a:bodyPr wrap="square" lIns="0" tIns="0" rIns="0" bIns="0" rtlCol="0" anchor="t"/>
          <a:lstStyle/>
          <a:p>
            <a:pPr indent="0" marL="0">
              <a:buNone/>
            </a:pPr>
            <a:r>
              <a:rPr lang="en-US" sz="1400" b="1" dirty="0">
                <a:solidFill>
                  <a:srgbClr val="B5453A"/>
                </a:solidFill>
                <a:latin typeface="Calibri" pitchFamily="34" charset="0"/>
                <a:ea typeface="Calibri" pitchFamily="34" charset="-122"/>
                <a:cs typeface="Calibri" pitchFamily="34" charset="-120"/>
              </a:rPr>
              <a:t>Long first</a:t>
            </a:r>
            <a:endParaRPr lang="en-US" sz="1400" dirty="0"/>
          </a:p>
        </p:txBody>
      </p:sp>
      <p:sp>
        <p:nvSpPr>
          <p:cNvPr id="8" name="Shape 6"/>
          <p:cNvSpPr/>
          <p:nvPr/>
        </p:nvSpPr>
        <p:spPr>
          <a:xfrm>
            <a:off x="2103120" y="2194560"/>
            <a:ext cx="2304288" cy="548640"/>
          </a:xfrm>
          <a:prstGeom prst="roundRect">
            <a:avLst>
              <a:gd name="adj" fmla="val 8333"/>
            </a:avLst>
          </a:prstGeom>
          <a:solidFill>
            <a:srgbClr val="36454F"/>
          </a:solidFill>
          <a:ln/>
        </p:spPr>
        <p:txBody>
          <a:bodyPr/>
          <a:p/>
        </p:txBody>
      </p:sp>
      <p:sp>
        <p:nvSpPr>
          <p:cNvPr id="9" name="Text 7"/>
          <p:cNvSpPr txBox="1"/>
          <p:nvPr/>
        </p:nvSpPr>
        <p:spPr>
          <a:xfrm>
            <a:off x="2103120" y="2194560"/>
            <a:ext cx="2304288" cy="54864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 = 6</a:t>
            </a:r>
            <a:endParaRPr lang="en-US" sz="1300" dirty="0"/>
          </a:p>
        </p:txBody>
      </p:sp>
      <p:sp>
        <p:nvSpPr>
          <p:cNvPr id="10" name="Shape 8"/>
          <p:cNvSpPr/>
          <p:nvPr/>
        </p:nvSpPr>
        <p:spPr>
          <a:xfrm>
            <a:off x="4425696" y="2194560"/>
            <a:ext cx="768096" cy="548640"/>
          </a:xfrm>
          <a:prstGeom prst="roundRect">
            <a:avLst>
              <a:gd name="adj" fmla="val 8333"/>
            </a:avLst>
          </a:prstGeom>
          <a:solidFill>
            <a:srgbClr val="C98A1B"/>
          </a:solidFill>
          <a:ln/>
        </p:spPr>
        <p:txBody>
          <a:bodyPr/>
          <a:p/>
        </p:txBody>
      </p:sp>
      <p:sp>
        <p:nvSpPr>
          <p:cNvPr id="11" name="Text 9"/>
          <p:cNvSpPr txBox="1"/>
          <p:nvPr/>
        </p:nvSpPr>
        <p:spPr>
          <a:xfrm>
            <a:off x="4425696" y="2194560"/>
            <a:ext cx="768096"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S = 2</a:t>
            </a:r>
            <a:endParaRPr lang="en-US" sz="1200" dirty="0"/>
          </a:p>
        </p:txBody>
      </p:sp>
      <p:sp>
        <p:nvSpPr>
          <p:cNvPr id="12" name="Text 10"/>
          <p:cNvSpPr txBox="1"/>
          <p:nvPr/>
        </p:nvSpPr>
        <p:spPr>
          <a:xfrm>
            <a:off x="5358384" y="2304288"/>
            <a:ext cx="1828800" cy="365760"/>
          </a:xfrm>
          <a:prstGeom prst="rect">
            <a:avLst/>
          </a:prstGeom>
          <a:noFill/>
          <a:ln/>
        </p:spPr>
        <p:txBody>
          <a:bodyPr wrap="square" lIns="0" tIns="0" rIns="0" bIns="0" rtlCol="0" anchor="t"/>
          <a:lstStyle/>
          <a:p>
            <a:pPr indent="0" marL="0">
              <a:buNone/>
            </a:pPr>
            <a:r>
              <a:rPr lang="en-US" sz="1400" dirty="0">
                <a:solidFill>
                  <a:srgbClr val="B5453A"/>
                </a:solidFill>
                <a:latin typeface="Calibri" pitchFamily="34" charset="0"/>
                <a:ea typeface="Calibri" pitchFamily="34" charset="-122"/>
                <a:cs typeface="Calibri" pitchFamily="34" charset="-120"/>
              </a:rPr>
              <a:t>S waits 6</a:t>
            </a:r>
            <a:endParaRPr lang="en-US" sz="1400" dirty="0"/>
          </a:p>
        </p:txBody>
      </p:sp>
      <p:sp>
        <p:nvSpPr>
          <p:cNvPr id="13" name="Text 11"/>
          <p:cNvSpPr txBox="1"/>
          <p:nvPr/>
        </p:nvSpPr>
        <p:spPr>
          <a:xfrm>
            <a:off x="548640" y="3127248"/>
            <a:ext cx="1463040" cy="36576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Short first</a:t>
            </a:r>
            <a:endParaRPr lang="en-US" sz="1400" dirty="0"/>
          </a:p>
        </p:txBody>
      </p:sp>
      <p:sp>
        <p:nvSpPr>
          <p:cNvPr id="14" name="Shape 12"/>
          <p:cNvSpPr/>
          <p:nvPr/>
        </p:nvSpPr>
        <p:spPr>
          <a:xfrm>
            <a:off x="2103120" y="3017520"/>
            <a:ext cx="768096" cy="548640"/>
          </a:xfrm>
          <a:prstGeom prst="roundRect">
            <a:avLst>
              <a:gd name="adj" fmla="val 8333"/>
            </a:avLst>
          </a:prstGeom>
          <a:solidFill>
            <a:srgbClr val="C98A1B"/>
          </a:solidFill>
          <a:ln/>
        </p:spPr>
        <p:txBody>
          <a:bodyPr/>
          <a:p/>
        </p:txBody>
      </p:sp>
      <p:sp>
        <p:nvSpPr>
          <p:cNvPr id="15" name="Text 13"/>
          <p:cNvSpPr txBox="1"/>
          <p:nvPr/>
        </p:nvSpPr>
        <p:spPr>
          <a:xfrm>
            <a:off x="2103120" y="3017520"/>
            <a:ext cx="768096"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S = 2</a:t>
            </a:r>
            <a:endParaRPr lang="en-US" sz="1200" dirty="0"/>
          </a:p>
        </p:txBody>
      </p:sp>
      <p:sp>
        <p:nvSpPr>
          <p:cNvPr id="16" name="Shape 14"/>
          <p:cNvSpPr/>
          <p:nvPr/>
        </p:nvSpPr>
        <p:spPr>
          <a:xfrm>
            <a:off x="2889504" y="3017520"/>
            <a:ext cx="2304288" cy="548640"/>
          </a:xfrm>
          <a:prstGeom prst="roundRect">
            <a:avLst>
              <a:gd name="adj" fmla="val 8333"/>
            </a:avLst>
          </a:prstGeom>
          <a:solidFill>
            <a:srgbClr val="36454F"/>
          </a:solidFill>
          <a:ln/>
        </p:spPr>
        <p:txBody>
          <a:bodyPr/>
          <a:p/>
        </p:txBody>
      </p:sp>
      <p:sp>
        <p:nvSpPr>
          <p:cNvPr id="17" name="Text 15"/>
          <p:cNvSpPr txBox="1"/>
          <p:nvPr/>
        </p:nvSpPr>
        <p:spPr>
          <a:xfrm>
            <a:off x="2889504" y="3017520"/>
            <a:ext cx="2304288" cy="54864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 = 6</a:t>
            </a:r>
            <a:endParaRPr lang="en-US" sz="1300" dirty="0"/>
          </a:p>
        </p:txBody>
      </p:sp>
      <p:sp>
        <p:nvSpPr>
          <p:cNvPr id="18" name="Text 16"/>
          <p:cNvSpPr txBox="1"/>
          <p:nvPr/>
        </p:nvSpPr>
        <p:spPr>
          <a:xfrm>
            <a:off x="5358384" y="3127248"/>
            <a:ext cx="1828800" cy="365760"/>
          </a:xfrm>
          <a:prstGeom prst="rect">
            <a:avLst/>
          </a:prstGeom>
          <a:noFill/>
          <a:ln/>
        </p:spPr>
        <p:txBody>
          <a:bodyPr wrap="square" lIns="0" tIns="0" rIns="0" bIns="0" rtlCol="0" anchor="t"/>
          <a:lstStyle/>
          <a:p>
            <a:pPr indent="0" marL="0">
              <a:buNone/>
            </a:pPr>
            <a:r>
              <a:rPr lang="en-US" sz="1400" dirty="0">
                <a:solidFill>
                  <a:srgbClr val="028090"/>
                </a:solidFill>
                <a:latin typeface="Calibri" pitchFamily="34" charset="0"/>
                <a:ea typeface="Calibri" pitchFamily="34" charset="-122"/>
                <a:cs typeface="Calibri" pitchFamily="34" charset="-120"/>
              </a:rPr>
              <a:t>L waits 2</a:t>
            </a:r>
            <a:endParaRPr lang="en-US" sz="1400" dirty="0"/>
          </a:p>
        </p:txBody>
      </p:sp>
      <p:sp>
        <p:nvSpPr>
          <p:cNvPr id="19" name="Shape 17"/>
          <p:cNvSpPr/>
          <p:nvPr/>
        </p:nvSpPr>
        <p:spPr>
          <a:xfrm>
            <a:off x="548640" y="3886200"/>
            <a:ext cx="63093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4069080"/>
            <a:ext cx="58521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argument</a:t>
            </a:r>
            <a:endParaRPr lang="en-US" sz="1500" dirty="0"/>
          </a:p>
        </p:txBody>
      </p:sp>
      <p:sp>
        <p:nvSpPr>
          <p:cNvPr id="21" name="Text 19"/>
          <p:cNvSpPr txBox="1"/>
          <p:nvPr/>
        </p:nvSpPr>
        <p:spPr>
          <a:xfrm>
            <a:off x="777240" y="4526280"/>
            <a:ext cx="5852160" cy="16002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Swapping the pair changes nothing for the jobs before or after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Inside the pair the total wait falls from L to 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So any schedule with a longer job before a shorter one can be improved → sorting by burst length is optimal.</a:t>
            </a:r>
            <a:endParaRPr lang="en-US" sz="1400" dirty="0"/>
          </a:p>
        </p:txBody>
      </p:sp>
      <p:sp>
        <p:nvSpPr>
          <p:cNvPr id="22" name="Shape 20"/>
          <p:cNvSpPr/>
          <p:nvPr/>
        </p:nvSpPr>
        <p:spPr>
          <a:xfrm>
            <a:off x="7132320" y="2194560"/>
            <a:ext cx="452628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7360920" y="237744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precise statements</a:t>
            </a:r>
            <a:endParaRPr lang="en-US" sz="1500" dirty="0"/>
          </a:p>
        </p:txBody>
      </p:sp>
      <p:sp>
        <p:nvSpPr>
          <p:cNvPr id="24" name="Text 22"/>
          <p:cNvSpPr txBox="1"/>
          <p:nvPr/>
        </p:nvSpPr>
        <p:spPr>
          <a:xfrm>
            <a:off x="7360920" y="2834640"/>
            <a:ext cx="4069080" cy="137160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SJF</a:t>
            </a:r>
            <a:r>
              <a:rPr lang="en-US" sz="1400" dirty="0">
                <a:solidFill>
                  <a:srgbClr val="3A464C"/>
                </a:solidFill>
                <a:latin typeface="Calibri" pitchFamily="34" charset="0"/>
                <a:ea typeface="Calibri" pitchFamily="34" charset="-122"/>
                <a:cs typeface="Calibri" pitchFamily="34" charset="-120"/>
              </a:rPr>
              <a:t> is optimal when all jobs are ready at the same time.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SRTF</a:t>
            </a:r>
            <a:r>
              <a:rPr lang="en-US" sz="1400" dirty="0">
                <a:solidFill>
                  <a:srgbClr val="3A464C"/>
                </a:solidFill>
                <a:latin typeface="Calibri" pitchFamily="34" charset="0"/>
                <a:ea typeface="Calibri" pitchFamily="34" charset="-122"/>
                <a:cs typeface="Calibri" pitchFamily="34" charset="-120"/>
              </a:rPr>
              <a:t> is optimal when jobs arrive at different times (context-switch cost ignored).</a:t>
            </a:r>
            <a:endParaRPr lang="en-US" sz="1400" dirty="0"/>
          </a:p>
        </p:txBody>
      </p:sp>
      <p:sp>
        <p:nvSpPr>
          <p:cNvPr id="25" name="Shape 23"/>
          <p:cNvSpPr/>
          <p:nvPr/>
        </p:nvSpPr>
        <p:spPr>
          <a:xfrm>
            <a:off x="7132320" y="4572000"/>
            <a:ext cx="4526280" cy="1691640"/>
          </a:xfrm>
          <a:prstGeom prst="roundRect">
            <a:avLst>
              <a:gd name="adj" fmla="val 3243"/>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7360920" y="4572000"/>
            <a:ext cx="4069080" cy="16916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The catch: the scheduler would have to know the length of the next CPU burst — before the process runs 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SJF IN PRACTICE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Predicting the Next CPU Burst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OS cannot know the future, but it can guess from the past: recent bursts are good predictors of the next one.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11</a:t>
            </a:r>
            <a:endParaRPr lang="en-US" sz="900" dirty="0"/>
          </a:p>
        </p:txBody>
      </p:sp>
      <p:sp>
        <p:nvSpPr>
          <p:cNvPr id="7" name="Shape 5"/>
          <p:cNvSpPr/>
          <p:nvPr/>
        </p:nvSpPr>
        <p:spPr>
          <a:xfrm>
            <a:off x="548640" y="2103120"/>
            <a:ext cx="5760720" cy="914400"/>
          </a:xfrm>
          <a:prstGeom prst="roundRect">
            <a:avLst>
              <a:gd name="adj" fmla="val 6000"/>
            </a:avLst>
          </a:prstGeom>
          <a:solidFill>
            <a:srgbClr val="36454F"/>
          </a:solidFill>
          <a:ln/>
        </p:spPr>
        <p:txBody>
          <a:bodyPr/>
          <a:p/>
        </p:txBody>
      </p:sp>
      <p:sp>
        <p:nvSpPr>
          <p:cNvPr id="8" name="Text 6"/>
          <p:cNvSpPr txBox="1"/>
          <p:nvPr/>
        </p:nvSpPr>
        <p:spPr>
          <a:xfrm>
            <a:off x="548640" y="2103120"/>
            <a:ext cx="576072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libri" pitchFamily="34" charset="0"/>
                <a:ea typeface="Calibri" pitchFamily="34" charset="-122"/>
                <a:cs typeface="Calibri" pitchFamily="34" charset="-120"/>
              </a:rPr>
              <a:t>τₙ₊₁  =  α · tₙ  +  (1 − α) · τₙ</a:t>
            </a:r>
            <a:endParaRPr lang="en-US" sz="2800" dirty="0"/>
          </a:p>
        </p:txBody>
      </p:sp>
      <p:sp>
        <p:nvSpPr>
          <p:cNvPr id="9" name="Shape 7"/>
          <p:cNvSpPr/>
          <p:nvPr/>
        </p:nvSpPr>
        <p:spPr>
          <a:xfrm>
            <a:off x="548640" y="3200400"/>
            <a:ext cx="576072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3383280"/>
            <a:ext cx="5303520" cy="114300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a:t>
            </a:r>
            <a:r>
              <a:rPr lang="en-US" sz="1400" dirty="0">
                <a:solidFill>
                  <a:srgbClr val="3A464C"/>
                </a:solidFill>
                <a:latin typeface="Calibri" pitchFamily="34" charset="0"/>
                <a:ea typeface="Calibri" pitchFamily="34" charset="-122"/>
                <a:cs typeface="Calibri" pitchFamily="34" charset="-120"/>
              </a:rPr>
              <a:t>ₙ = actual length of the n-th burst;  τₙ = what we had predicted for it.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α</a:t>
            </a:r>
            <a:r>
              <a:rPr lang="en-US" sz="1400" dirty="0">
                <a:solidFill>
                  <a:srgbClr val="3A464C"/>
                </a:solidFill>
                <a:latin typeface="Calibri" pitchFamily="34" charset="0"/>
                <a:ea typeface="Calibri" pitchFamily="34" charset="-122"/>
                <a:cs typeface="Calibri" pitchFamily="34" charset="-120"/>
              </a:rPr>
              <a:t> (0 ≤ α ≤ 1) weights recent history. Common choice: α = 1/2.</a:t>
            </a:r>
            <a:endParaRPr lang="en-US" sz="1400" dirty="0"/>
          </a:p>
        </p:txBody>
      </p:sp>
      <p:sp>
        <p:nvSpPr>
          <p:cNvPr id="11" name="Shape 9"/>
          <p:cNvSpPr/>
          <p:nvPr/>
        </p:nvSpPr>
        <p:spPr>
          <a:xfrm>
            <a:off x="548640" y="4846320"/>
            <a:ext cx="5760720" cy="1417320"/>
          </a:xfrm>
          <a:prstGeom prst="roundRect">
            <a:avLst>
              <a:gd name="adj" fmla="val 3226"/>
            </a:avLst>
          </a:prstGeom>
          <a:solidFill>
            <a:srgbClr val="212121"/>
          </a:solidFill>
          <a:ln/>
        </p:spPr>
        <p:txBody>
          <a:bodyPr/>
          <a:p/>
        </p:txBody>
      </p:sp>
      <p:sp>
        <p:nvSpPr>
          <p:cNvPr id="12" name="Text 10"/>
          <p:cNvSpPr txBox="1"/>
          <p:nvPr/>
        </p:nvSpPr>
        <p:spPr>
          <a:xfrm>
            <a:off x="731520" y="4956048"/>
            <a:ext cx="5394960" cy="119786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One step, with α = 1/2, τ0 = 10 ms, t0 = 6 ms: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τ1 = 0.5 · 6 + 0.5 · 10 = 8 ms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τ2 = 0.5 · 4 + 0.5 ·  8 = 6 ms     (t1 = 4)</a:t>
            </a:r>
            <a:endParaRPr lang="en-US" sz="1350" dirty="0"/>
          </a:p>
        </p:txBody>
      </p:sp>
      <p:graphicFrame>
        <p:nvGraphicFramePr>
          <p:cNvPr id="13" name="Chart 0" descr=""/>
          <p:cNvGraphicFramePr/>
          <p:nvPr/>
        </p:nvGraphicFramePr>
        <p:xfrm>
          <a:off x="6583680" y="2103120"/>
          <a:ext cx="5074920" cy="4160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ALGORITHM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Priority Scheduling</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Each process gets a priority number; the CPU goes to the highest priority (here: smallest number). SJF is the special case priority = burst length.</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12</a:t>
            </a:r>
            <a:endParaRPr lang="en-US" sz="900" dirty="0"/>
          </a:p>
        </p:txBody>
      </p:sp>
      <p:sp>
        <p:nvSpPr>
          <p:cNvPr id="7" name="Text 5"/>
          <p:cNvSpPr txBox="1"/>
          <p:nvPr/>
        </p:nvSpPr>
        <p:spPr>
          <a:xfrm>
            <a:off x="548640" y="2148840"/>
            <a:ext cx="1691640" cy="566928"/>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Non-preemptive</a:t>
            </a:r>
            <a:endParaRPr lang="en-US" sz="1300" dirty="0"/>
          </a:p>
        </p:txBody>
      </p:sp>
      <p:sp>
        <p:nvSpPr>
          <p:cNvPr id="8" name="Shape 6"/>
          <p:cNvSpPr/>
          <p:nvPr/>
        </p:nvSpPr>
        <p:spPr>
          <a:xfrm>
            <a:off x="2340864" y="2148840"/>
            <a:ext cx="2241995" cy="566928"/>
          </a:xfrm>
          <a:prstGeom prst="roundRect">
            <a:avLst>
              <a:gd name="adj" fmla="val 8065"/>
            </a:avLst>
          </a:prstGeom>
          <a:solidFill>
            <a:srgbClr val="02C39A"/>
          </a:solidFill>
          <a:ln/>
        </p:spPr>
        <p:txBody>
          <a:bodyPr/>
          <a:p/>
        </p:txBody>
      </p:sp>
      <p:sp>
        <p:nvSpPr>
          <p:cNvPr id="9" name="Text 7"/>
          <p:cNvSpPr txBox="1"/>
          <p:nvPr/>
        </p:nvSpPr>
        <p:spPr>
          <a:xfrm>
            <a:off x="2340864" y="2148840"/>
            <a:ext cx="2241995"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0" name="Shape 8"/>
          <p:cNvSpPr/>
          <p:nvPr/>
        </p:nvSpPr>
        <p:spPr>
          <a:xfrm>
            <a:off x="4601146" y="2148840"/>
            <a:ext cx="1273302" cy="566928"/>
          </a:xfrm>
          <a:prstGeom prst="roundRect">
            <a:avLst>
              <a:gd name="adj" fmla="val 8065"/>
            </a:avLst>
          </a:prstGeom>
          <a:solidFill>
            <a:srgbClr val="50808E"/>
          </a:solidFill>
          <a:ln/>
        </p:spPr>
        <p:txBody>
          <a:bodyPr/>
          <a:p/>
        </p:txBody>
      </p:sp>
      <p:sp>
        <p:nvSpPr>
          <p:cNvPr id="11" name="Text 9"/>
          <p:cNvSpPr txBox="1"/>
          <p:nvPr/>
        </p:nvSpPr>
        <p:spPr>
          <a:xfrm>
            <a:off x="4601146" y="2148840"/>
            <a:ext cx="1273302"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2" name="Shape 10"/>
          <p:cNvSpPr/>
          <p:nvPr/>
        </p:nvSpPr>
        <p:spPr>
          <a:xfrm>
            <a:off x="5892736" y="2148840"/>
            <a:ext cx="1273302" cy="566928"/>
          </a:xfrm>
          <a:prstGeom prst="roundRect">
            <a:avLst>
              <a:gd name="adj" fmla="val 8065"/>
            </a:avLst>
          </a:prstGeom>
          <a:solidFill>
            <a:srgbClr val="36454F"/>
          </a:solidFill>
          <a:ln/>
        </p:spPr>
        <p:txBody>
          <a:bodyPr/>
          <a:p/>
        </p:txBody>
      </p:sp>
      <p:sp>
        <p:nvSpPr>
          <p:cNvPr id="13" name="Text 11"/>
          <p:cNvSpPr txBox="1"/>
          <p:nvPr/>
        </p:nvSpPr>
        <p:spPr>
          <a:xfrm>
            <a:off x="5892736" y="2148840"/>
            <a:ext cx="1273302"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14" name="Shape 12"/>
          <p:cNvSpPr/>
          <p:nvPr/>
        </p:nvSpPr>
        <p:spPr>
          <a:xfrm>
            <a:off x="7184326" y="2148840"/>
            <a:ext cx="304609" cy="566928"/>
          </a:xfrm>
          <a:prstGeom prst="roundRect">
            <a:avLst>
              <a:gd name="adj" fmla="val 15009"/>
            </a:avLst>
          </a:prstGeom>
          <a:solidFill>
            <a:srgbClr val="C98A1B"/>
          </a:solidFill>
          <a:ln/>
        </p:spPr>
        <p:txBody>
          <a:bodyPr/>
          <a:p/>
        </p:txBody>
      </p:sp>
      <p:sp>
        <p:nvSpPr>
          <p:cNvPr id="15" name="Text 13"/>
          <p:cNvSpPr txBox="1"/>
          <p:nvPr/>
        </p:nvSpPr>
        <p:spPr>
          <a:xfrm>
            <a:off x="7184326" y="2148840"/>
            <a:ext cx="304609"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16" name="Shape 14"/>
          <p:cNvSpPr/>
          <p:nvPr/>
        </p:nvSpPr>
        <p:spPr>
          <a:xfrm>
            <a:off x="2331720" y="2715768"/>
            <a:ext cx="91" cy="73152"/>
          </a:xfrm>
          <a:prstGeom prst="line">
            <a:avLst/>
          </a:prstGeom>
          <a:noFill/>
          <a:ln w="12700">
            <a:solidFill>
              <a:srgbClr val="6B7679"/>
            </a:solidFill>
            <a:prstDash val="solid"/>
          </a:ln>
        </p:spPr>
        <p:txBody>
          <a:bodyPr/>
          <a:p/>
        </p:txBody>
      </p:sp>
      <p:sp>
        <p:nvSpPr>
          <p:cNvPr id="17" name="Text 15"/>
          <p:cNvSpPr txBox="1"/>
          <p:nvPr/>
        </p:nvSpPr>
        <p:spPr>
          <a:xfrm>
            <a:off x="2057400" y="2788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8" name="Shape 16"/>
          <p:cNvSpPr/>
          <p:nvPr/>
        </p:nvSpPr>
        <p:spPr>
          <a:xfrm>
            <a:off x="4592003" y="2715768"/>
            <a:ext cx="91" cy="73152"/>
          </a:xfrm>
          <a:prstGeom prst="line">
            <a:avLst/>
          </a:prstGeom>
          <a:noFill/>
          <a:ln w="12700">
            <a:solidFill>
              <a:srgbClr val="6B7679"/>
            </a:solidFill>
            <a:prstDash val="solid"/>
          </a:ln>
        </p:spPr>
        <p:txBody>
          <a:bodyPr/>
          <a:p/>
        </p:txBody>
      </p:sp>
      <p:sp>
        <p:nvSpPr>
          <p:cNvPr id="19" name="Text 17"/>
          <p:cNvSpPr txBox="1"/>
          <p:nvPr/>
        </p:nvSpPr>
        <p:spPr>
          <a:xfrm>
            <a:off x="4317683" y="2788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20" name="Shape 18"/>
          <p:cNvSpPr/>
          <p:nvPr/>
        </p:nvSpPr>
        <p:spPr>
          <a:xfrm>
            <a:off x="5883592" y="2715768"/>
            <a:ext cx="91" cy="73152"/>
          </a:xfrm>
          <a:prstGeom prst="line">
            <a:avLst/>
          </a:prstGeom>
          <a:noFill/>
          <a:ln w="12700">
            <a:solidFill>
              <a:srgbClr val="6B7679"/>
            </a:solidFill>
            <a:prstDash val="solid"/>
          </a:ln>
        </p:spPr>
        <p:txBody>
          <a:bodyPr/>
          <a:p/>
        </p:txBody>
      </p:sp>
      <p:sp>
        <p:nvSpPr>
          <p:cNvPr id="21" name="Text 19"/>
          <p:cNvSpPr txBox="1"/>
          <p:nvPr/>
        </p:nvSpPr>
        <p:spPr>
          <a:xfrm>
            <a:off x="5609272" y="2788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11</a:t>
            </a:r>
            <a:endParaRPr lang="en-US" sz="1200" dirty="0"/>
          </a:p>
        </p:txBody>
      </p:sp>
      <p:sp>
        <p:nvSpPr>
          <p:cNvPr id="22" name="Shape 20"/>
          <p:cNvSpPr/>
          <p:nvPr/>
        </p:nvSpPr>
        <p:spPr>
          <a:xfrm>
            <a:off x="7175182" y="2715768"/>
            <a:ext cx="91" cy="73152"/>
          </a:xfrm>
          <a:prstGeom prst="line">
            <a:avLst/>
          </a:prstGeom>
          <a:noFill/>
          <a:ln w="12700">
            <a:solidFill>
              <a:srgbClr val="6B7679"/>
            </a:solidFill>
            <a:prstDash val="solid"/>
          </a:ln>
        </p:spPr>
        <p:txBody>
          <a:bodyPr/>
          <a:p/>
        </p:txBody>
      </p:sp>
      <p:sp>
        <p:nvSpPr>
          <p:cNvPr id="23" name="Text 21"/>
          <p:cNvSpPr txBox="1"/>
          <p:nvPr/>
        </p:nvSpPr>
        <p:spPr>
          <a:xfrm>
            <a:off x="6900862" y="2788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15</a:t>
            </a:r>
            <a:endParaRPr lang="en-US" sz="1200" dirty="0"/>
          </a:p>
        </p:txBody>
      </p:sp>
      <p:sp>
        <p:nvSpPr>
          <p:cNvPr id="24" name="Shape 22"/>
          <p:cNvSpPr/>
          <p:nvPr/>
        </p:nvSpPr>
        <p:spPr>
          <a:xfrm>
            <a:off x="7498080" y="2715768"/>
            <a:ext cx="91" cy="73152"/>
          </a:xfrm>
          <a:prstGeom prst="line">
            <a:avLst/>
          </a:prstGeom>
          <a:noFill/>
          <a:ln w="12700">
            <a:solidFill>
              <a:srgbClr val="6B7679"/>
            </a:solidFill>
            <a:prstDash val="solid"/>
          </a:ln>
        </p:spPr>
        <p:txBody>
          <a:bodyPr/>
          <a:p/>
        </p:txBody>
      </p:sp>
      <p:sp>
        <p:nvSpPr>
          <p:cNvPr id="25" name="Text 23"/>
          <p:cNvSpPr txBox="1"/>
          <p:nvPr/>
        </p:nvSpPr>
        <p:spPr>
          <a:xfrm>
            <a:off x="7223760" y="2788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sp>
        <p:nvSpPr>
          <p:cNvPr id="26" name="Text 24"/>
          <p:cNvSpPr txBox="1"/>
          <p:nvPr/>
        </p:nvSpPr>
        <p:spPr>
          <a:xfrm>
            <a:off x="548640" y="3291840"/>
            <a:ext cx="1691640" cy="566928"/>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Preemptive</a:t>
            </a:r>
            <a:endParaRPr lang="en-US" sz="1300" dirty="0"/>
          </a:p>
        </p:txBody>
      </p:sp>
      <p:sp>
        <p:nvSpPr>
          <p:cNvPr id="27" name="Shape 25"/>
          <p:cNvSpPr/>
          <p:nvPr/>
        </p:nvSpPr>
        <p:spPr>
          <a:xfrm>
            <a:off x="2340864" y="3291840"/>
            <a:ext cx="627507" cy="566928"/>
          </a:xfrm>
          <a:prstGeom prst="roundRect">
            <a:avLst>
              <a:gd name="adj" fmla="val 8065"/>
            </a:avLst>
          </a:prstGeom>
          <a:solidFill>
            <a:srgbClr val="02C39A"/>
          </a:solidFill>
          <a:ln/>
        </p:spPr>
        <p:txBody>
          <a:bodyPr/>
          <a:p/>
        </p:txBody>
      </p:sp>
      <p:sp>
        <p:nvSpPr>
          <p:cNvPr id="28" name="Text 26"/>
          <p:cNvSpPr txBox="1"/>
          <p:nvPr/>
        </p:nvSpPr>
        <p:spPr>
          <a:xfrm>
            <a:off x="2340864" y="3291840"/>
            <a:ext cx="627507"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29" name="Shape 27"/>
          <p:cNvSpPr/>
          <p:nvPr/>
        </p:nvSpPr>
        <p:spPr>
          <a:xfrm>
            <a:off x="2986659" y="3291840"/>
            <a:ext cx="1273302" cy="566928"/>
          </a:xfrm>
          <a:prstGeom prst="roundRect">
            <a:avLst>
              <a:gd name="adj" fmla="val 8065"/>
            </a:avLst>
          </a:prstGeom>
          <a:solidFill>
            <a:srgbClr val="50808E"/>
          </a:solidFill>
          <a:ln/>
        </p:spPr>
        <p:txBody>
          <a:bodyPr/>
          <a:p/>
        </p:txBody>
      </p:sp>
      <p:sp>
        <p:nvSpPr>
          <p:cNvPr id="30" name="Text 28"/>
          <p:cNvSpPr txBox="1"/>
          <p:nvPr/>
        </p:nvSpPr>
        <p:spPr>
          <a:xfrm>
            <a:off x="2986659" y="3291840"/>
            <a:ext cx="1273302"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31" name="Shape 29"/>
          <p:cNvSpPr/>
          <p:nvPr/>
        </p:nvSpPr>
        <p:spPr>
          <a:xfrm>
            <a:off x="4278249" y="3291840"/>
            <a:ext cx="1273302" cy="566928"/>
          </a:xfrm>
          <a:prstGeom prst="roundRect">
            <a:avLst>
              <a:gd name="adj" fmla="val 8065"/>
            </a:avLst>
          </a:prstGeom>
          <a:solidFill>
            <a:srgbClr val="36454F"/>
          </a:solidFill>
          <a:ln/>
        </p:spPr>
        <p:txBody>
          <a:bodyPr/>
          <a:p/>
        </p:txBody>
      </p:sp>
      <p:sp>
        <p:nvSpPr>
          <p:cNvPr id="32" name="Text 30"/>
          <p:cNvSpPr txBox="1"/>
          <p:nvPr/>
        </p:nvSpPr>
        <p:spPr>
          <a:xfrm>
            <a:off x="4278249" y="3291840"/>
            <a:ext cx="1273302"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33" name="Shape 31"/>
          <p:cNvSpPr/>
          <p:nvPr/>
        </p:nvSpPr>
        <p:spPr>
          <a:xfrm>
            <a:off x="5569839" y="3291840"/>
            <a:ext cx="1596199" cy="566928"/>
          </a:xfrm>
          <a:prstGeom prst="roundRect">
            <a:avLst>
              <a:gd name="adj" fmla="val 8065"/>
            </a:avLst>
          </a:prstGeom>
          <a:solidFill>
            <a:srgbClr val="02C39A"/>
          </a:solidFill>
          <a:ln/>
        </p:spPr>
        <p:txBody>
          <a:bodyPr/>
          <a:p/>
        </p:txBody>
      </p:sp>
      <p:sp>
        <p:nvSpPr>
          <p:cNvPr id="34" name="Text 32"/>
          <p:cNvSpPr txBox="1"/>
          <p:nvPr/>
        </p:nvSpPr>
        <p:spPr>
          <a:xfrm>
            <a:off x="5569839" y="3291840"/>
            <a:ext cx="1596199"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35" name="Shape 33"/>
          <p:cNvSpPr/>
          <p:nvPr/>
        </p:nvSpPr>
        <p:spPr>
          <a:xfrm>
            <a:off x="7184326" y="3291840"/>
            <a:ext cx="304609" cy="566928"/>
          </a:xfrm>
          <a:prstGeom prst="roundRect">
            <a:avLst>
              <a:gd name="adj" fmla="val 15009"/>
            </a:avLst>
          </a:prstGeom>
          <a:solidFill>
            <a:srgbClr val="C98A1B"/>
          </a:solidFill>
          <a:ln/>
        </p:spPr>
        <p:txBody>
          <a:bodyPr/>
          <a:p/>
        </p:txBody>
      </p:sp>
      <p:sp>
        <p:nvSpPr>
          <p:cNvPr id="36" name="Text 34"/>
          <p:cNvSpPr txBox="1"/>
          <p:nvPr/>
        </p:nvSpPr>
        <p:spPr>
          <a:xfrm>
            <a:off x="7184326" y="3291840"/>
            <a:ext cx="304609"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37" name="Shape 35"/>
          <p:cNvSpPr/>
          <p:nvPr/>
        </p:nvSpPr>
        <p:spPr>
          <a:xfrm>
            <a:off x="2331720" y="3858768"/>
            <a:ext cx="91" cy="73152"/>
          </a:xfrm>
          <a:prstGeom prst="line">
            <a:avLst/>
          </a:prstGeom>
          <a:noFill/>
          <a:ln w="12700">
            <a:solidFill>
              <a:srgbClr val="6B7679"/>
            </a:solidFill>
            <a:prstDash val="solid"/>
          </a:ln>
        </p:spPr>
        <p:txBody>
          <a:bodyPr/>
          <a:p/>
        </p:txBody>
      </p:sp>
      <p:sp>
        <p:nvSpPr>
          <p:cNvPr id="38" name="Text 36"/>
          <p:cNvSpPr txBox="1"/>
          <p:nvPr/>
        </p:nvSpPr>
        <p:spPr>
          <a:xfrm>
            <a:off x="2057400"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39" name="Shape 37"/>
          <p:cNvSpPr/>
          <p:nvPr/>
        </p:nvSpPr>
        <p:spPr>
          <a:xfrm>
            <a:off x="2977515" y="3858768"/>
            <a:ext cx="91" cy="73152"/>
          </a:xfrm>
          <a:prstGeom prst="line">
            <a:avLst/>
          </a:prstGeom>
          <a:noFill/>
          <a:ln w="12700">
            <a:solidFill>
              <a:srgbClr val="6B7679"/>
            </a:solidFill>
            <a:prstDash val="solid"/>
          </a:ln>
        </p:spPr>
        <p:txBody>
          <a:bodyPr/>
          <a:p/>
        </p:txBody>
      </p:sp>
      <p:sp>
        <p:nvSpPr>
          <p:cNvPr id="40" name="Text 38"/>
          <p:cNvSpPr txBox="1"/>
          <p:nvPr/>
        </p:nvSpPr>
        <p:spPr>
          <a:xfrm>
            <a:off x="2703195"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41" name="Shape 39"/>
          <p:cNvSpPr/>
          <p:nvPr/>
        </p:nvSpPr>
        <p:spPr>
          <a:xfrm>
            <a:off x="4269105" y="3858768"/>
            <a:ext cx="91" cy="73152"/>
          </a:xfrm>
          <a:prstGeom prst="line">
            <a:avLst/>
          </a:prstGeom>
          <a:noFill/>
          <a:ln w="12700">
            <a:solidFill>
              <a:srgbClr val="6B7679"/>
            </a:solidFill>
            <a:prstDash val="solid"/>
          </a:ln>
        </p:spPr>
        <p:txBody>
          <a:bodyPr/>
          <a:p/>
        </p:txBody>
      </p:sp>
      <p:sp>
        <p:nvSpPr>
          <p:cNvPr id="42" name="Text 40"/>
          <p:cNvSpPr txBox="1"/>
          <p:nvPr/>
        </p:nvSpPr>
        <p:spPr>
          <a:xfrm>
            <a:off x="3994785"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6</a:t>
            </a:r>
            <a:endParaRPr lang="en-US" sz="1200" dirty="0"/>
          </a:p>
        </p:txBody>
      </p:sp>
      <p:sp>
        <p:nvSpPr>
          <p:cNvPr id="43" name="Shape 41"/>
          <p:cNvSpPr/>
          <p:nvPr/>
        </p:nvSpPr>
        <p:spPr>
          <a:xfrm>
            <a:off x="5560695" y="3858768"/>
            <a:ext cx="91" cy="73152"/>
          </a:xfrm>
          <a:prstGeom prst="line">
            <a:avLst/>
          </a:prstGeom>
          <a:noFill/>
          <a:ln w="12700">
            <a:solidFill>
              <a:srgbClr val="6B7679"/>
            </a:solidFill>
            <a:prstDash val="solid"/>
          </a:ln>
        </p:spPr>
        <p:txBody>
          <a:bodyPr/>
          <a:p/>
        </p:txBody>
      </p:sp>
      <p:sp>
        <p:nvSpPr>
          <p:cNvPr id="44" name="Text 42"/>
          <p:cNvSpPr txBox="1"/>
          <p:nvPr/>
        </p:nvSpPr>
        <p:spPr>
          <a:xfrm>
            <a:off x="5286375"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10</a:t>
            </a:r>
            <a:endParaRPr lang="en-US" sz="1200" dirty="0"/>
          </a:p>
        </p:txBody>
      </p:sp>
      <p:sp>
        <p:nvSpPr>
          <p:cNvPr id="45" name="Shape 43"/>
          <p:cNvSpPr/>
          <p:nvPr/>
        </p:nvSpPr>
        <p:spPr>
          <a:xfrm>
            <a:off x="7175182" y="3858768"/>
            <a:ext cx="91" cy="73152"/>
          </a:xfrm>
          <a:prstGeom prst="line">
            <a:avLst/>
          </a:prstGeom>
          <a:noFill/>
          <a:ln w="12700">
            <a:solidFill>
              <a:srgbClr val="6B7679"/>
            </a:solidFill>
            <a:prstDash val="solid"/>
          </a:ln>
        </p:spPr>
        <p:txBody>
          <a:bodyPr/>
          <a:p/>
        </p:txBody>
      </p:sp>
      <p:sp>
        <p:nvSpPr>
          <p:cNvPr id="46" name="Text 44"/>
          <p:cNvSpPr txBox="1"/>
          <p:nvPr/>
        </p:nvSpPr>
        <p:spPr>
          <a:xfrm>
            <a:off x="6900862"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15</a:t>
            </a:r>
            <a:endParaRPr lang="en-US" sz="1200" dirty="0"/>
          </a:p>
        </p:txBody>
      </p:sp>
      <p:sp>
        <p:nvSpPr>
          <p:cNvPr id="47" name="Shape 45"/>
          <p:cNvSpPr/>
          <p:nvPr/>
        </p:nvSpPr>
        <p:spPr>
          <a:xfrm>
            <a:off x="7498080" y="3858768"/>
            <a:ext cx="91" cy="73152"/>
          </a:xfrm>
          <a:prstGeom prst="line">
            <a:avLst/>
          </a:prstGeom>
          <a:noFill/>
          <a:ln w="12700">
            <a:solidFill>
              <a:srgbClr val="6B7679"/>
            </a:solidFill>
            <a:prstDash val="solid"/>
          </a:ln>
        </p:spPr>
        <p:txBody>
          <a:bodyPr/>
          <a:p/>
        </p:txBody>
      </p:sp>
      <p:sp>
        <p:nvSpPr>
          <p:cNvPr id="48" name="Text 46"/>
          <p:cNvSpPr txBox="1"/>
          <p:nvPr/>
        </p:nvSpPr>
        <p:spPr>
          <a:xfrm>
            <a:off x="7223760" y="393192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6949440" cy="914400"/>
        </p:xfrm>
        <a:graphic>
          <a:graphicData uri="http://schemas.openxmlformats.org/drawingml/2006/table">
            <a:tbl>
              <a:tblPr/>
              <a:tblGrid>
                <a:gridCol w="1280160"/>
                <a:gridCol w="1280160"/>
                <a:gridCol w="2194560"/>
                <a:gridCol w="2194560"/>
              </a:tblGrid>
              <a:tr h="274320">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Process</a:t>
                      </a:r>
                      <a:endParaRPr lang="en-US"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Priority</a:t>
                      </a:r>
                      <a:endParaRPr lang="en-US"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Wait (non-pre.)</a:t>
                      </a:r>
                      <a:endParaRPr lang="en-US"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Wait (pre.)</a:t>
                      </a:r>
                      <a:endParaRPr lang="en-US"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50" name="Shape 47"/>
          <p:cNvSpPr/>
          <p:nvPr/>
        </p:nvSpPr>
        <p:spPr>
          <a:xfrm>
            <a:off x="7772400" y="2148840"/>
            <a:ext cx="3886200" cy="411480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1" name="Text 48"/>
          <p:cNvSpPr txBox="1"/>
          <p:nvPr/>
        </p:nvSpPr>
        <p:spPr>
          <a:xfrm>
            <a:off x="8001000" y="233172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notice</a:t>
            </a:r>
            <a:endParaRPr lang="en-US" sz="1500" dirty="0"/>
          </a:p>
        </p:txBody>
      </p:sp>
      <p:sp>
        <p:nvSpPr>
          <p:cNvPr id="52" name="Text 49"/>
          <p:cNvSpPr txBox="1"/>
          <p:nvPr/>
        </p:nvSpPr>
        <p:spPr>
          <a:xfrm>
            <a:off x="8001000" y="2788920"/>
            <a:ext cx="3429000" cy="3337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Preemptive: P2 (priority 1) takes the CPU from P1 the moment it arrives at t = 2.</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P3 has the lowest priority (4): it waits 11 ms in both versions and runs last.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Priorities can be internal (memory needs, burst lengths) or external (importance, who pays).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PRIORITY SCHEDULING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Starvation and Its Cure: Aging</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In a busy system a low-priority process may wait indefinitely — it starves.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13</a:t>
            </a:r>
            <a:endParaRPr lang="en-US"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700" b="1" dirty="0">
                <a:solidFill>
                  <a:srgbClr val="B5453A"/>
                </a:solidFill>
                <a:latin typeface="Cambria" pitchFamily="34" charset="0"/>
                <a:ea typeface="Cambria" pitchFamily="34" charset="-122"/>
                <a:cs typeface="Cambria" pitchFamily="34" charset="-120"/>
              </a:rPr>
              <a:t>The problem: starvation</a:t>
            </a:r>
            <a:endParaRPr lang="en-US" sz="17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 steady stream of higher-priority processes keeps the CPU busy.</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The low-priority process is always ready, never running.</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Folklore: when MIT shut down its IBM 7094 in 1973, it found a low-priority job submitted in 1967 that had never run.</a:t>
            </a:r>
            <a:endParaRPr lang="en-US" sz="16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The cure: aging</a:t>
            </a:r>
            <a:endParaRPr lang="en-US" sz="17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Gradually raise the priority of a process the longer it waits.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Example: priorities 127 (low) … 0 (high), raised by 1 every second of waiting.</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Even the lowest-priority process reaches priority 0 after 127 s = 2 min 7 s — at most.</a:t>
            </a:r>
            <a:endParaRPr lang="en-US" sz="16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Aging turns 'maybe never' into 'within a bounded time'. The same idea appears again as bounded waiting in Part 2.</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ALGORITHM 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Round Robin (RR): Taking Turns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FCFS plus preemption by a timer. Each process may run for at most one time quantum q, then goes to the back of the queue.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14</a:t>
            </a:r>
            <a:endParaRPr lang="en-US" sz="900" dirty="0"/>
          </a:p>
        </p:txBody>
      </p:sp>
      <p:sp>
        <p:nvSpPr>
          <p:cNvPr id="7" name="Text 5"/>
          <p:cNvSpPr txBox="1"/>
          <p:nvPr/>
        </p:nvSpPr>
        <p:spPr>
          <a:xfrm>
            <a:off x="548640" y="2286000"/>
            <a:ext cx="3657600" cy="2743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ready queue (FIFO)</a:t>
            </a:r>
            <a:endParaRPr lang="en-US" sz="1200" dirty="0"/>
          </a:p>
        </p:txBody>
      </p:sp>
      <p:sp>
        <p:nvSpPr>
          <p:cNvPr id="8" name="Shape 6"/>
          <p:cNvSpPr/>
          <p:nvPr/>
        </p:nvSpPr>
        <p:spPr>
          <a:xfrm>
            <a:off x="548640" y="2651760"/>
            <a:ext cx="914400" cy="685800"/>
          </a:xfrm>
          <a:prstGeom prst="roundRect">
            <a:avLst>
              <a:gd name="adj" fmla="val 6667"/>
            </a:avLst>
          </a:prstGeom>
          <a:solidFill>
            <a:srgbClr val="36454F"/>
          </a:solidFill>
          <a:ln/>
        </p:spPr>
        <p:txBody>
          <a:bodyPr/>
          <a:p/>
        </p:txBody>
      </p:sp>
      <p:sp>
        <p:nvSpPr>
          <p:cNvPr id="9" name="Text 7"/>
          <p:cNvSpPr txBox="1"/>
          <p:nvPr/>
        </p:nvSpPr>
        <p:spPr>
          <a:xfrm>
            <a:off x="548640" y="2651760"/>
            <a:ext cx="914400" cy="68580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P4</a:t>
            </a:r>
            <a:endParaRPr lang="en-US" sz="1500" dirty="0"/>
          </a:p>
        </p:txBody>
      </p:sp>
      <p:sp>
        <p:nvSpPr>
          <p:cNvPr id="10" name="Shape 8"/>
          <p:cNvSpPr/>
          <p:nvPr/>
        </p:nvSpPr>
        <p:spPr>
          <a:xfrm>
            <a:off x="1600200" y="2651760"/>
            <a:ext cx="914400" cy="685800"/>
          </a:xfrm>
          <a:prstGeom prst="roundRect">
            <a:avLst>
              <a:gd name="adj" fmla="val 6667"/>
            </a:avLst>
          </a:prstGeom>
          <a:solidFill>
            <a:srgbClr val="C98A1B"/>
          </a:solidFill>
          <a:ln/>
        </p:spPr>
        <p:txBody>
          <a:bodyPr/>
          <a:p/>
        </p:txBody>
      </p:sp>
      <p:sp>
        <p:nvSpPr>
          <p:cNvPr id="11" name="Text 9"/>
          <p:cNvSpPr txBox="1"/>
          <p:nvPr/>
        </p:nvSpPr>
        <p:spPr>
          <a:xfrm>
            <a:off x="1600200" y="2651760"/>
            <a:ext cx="914400" cy="68580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P3</a:t>
            </a:r>
            <a:endParaRPr lang="en-US" sz="1500" dirty="0"/>
          </a:p>
        </p:txBody>
      </p:sp>
      <p:sp>
        <p:nvSpPr>
          <p:cNvPr id="12" name="Shape 10"/>
          <p:cNvSpPr/>
          <p:nvPr/>
        </p:nvSpPr>
        <p:spPr>
          <a:xfrm>
            <a:off x="2651760" y="2651760"/>
            <a:ext cx="914400" cy="685800"/>
          </a:xfrm>
          <a:prstGeom prst="roundRect">
            <a:avLst>
              <a:gd name="adj" fmla="val 6667"/>
            </a:avLst>
          </a:prstGeom>
          <a:solidFill>
            <a:srgbClr val="50808E"/>
          </a:solidFill>
          <a:ln/>
        </p:spPr>
        <p:txBody>
          <a:bodyPr/>
          <a:p/>
        </p:txBody>
      </p:sp>
      <p:sp>
        <p:nvSpPr>
          <p:cNvPr id="13" name="Text 11"/>
          <p:cNvSpPr txBox="1"/>
          <p:nvPr/>
        </p:nvSpPr>
        <p:spPr>
          <a:xfrm>
            <a:off x="2651760" y="2651760"/>
            <a:ext cx="914400" cy="68580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P2</a:t>
            </a:r>
            <a:endParaRPr lang="en-US" sz="1500" dirty="0"/>
          </a:p>
        </p:txBody>
      </p:sp>
      <p:sp>
        <p:nvSpPr>
          <p:cNvPr id="14" name="Shape 12"/>
          <p:cNvSpPr/>
          <p:nvPr/>
        </p:nvSpPr>
        <p:spPr>
          <a:xfrm>
            <a:off x="3703320" y="2990088"/>
            <a:ext cx="731520" cy="91"/>
          </a:xfrm>
          <a:prstGeom prst="line">
            <a:avLst/>
          </a:prstGeom>
          <a:noFill/>
          <a:ln w="25400">
            <a:solidFill>
              <a:srgbClr val="50808E"/>
            </a:solidFill>
            <a:prstDash val="solid"/>
            <a:tailEnd type="triangle"/>
          </a:ln>
        </p:spPr>
        <p:txBody>
          <a:bodyPr/>
          <a:p/>
        </p:txBody>
      </p:sp>
      <p:sp>
        <p:nvSpPr>
          <p:cNvPr id="15" name="Shape 13"/>
          <p:cNvSpPr/>
          <p:nvPr/>
        </p:nvSpPr>
        <p:spPr>
          <a:xfrm>
            <a:off x="4480560" y="2514600"/>
            <a:ext cx="1737360" cy="960120"/>
          </a:xfrm>
          <a:prstGeom prst="roundRect">
            <a:avLst>
              <a:gd name="adj" fmla="val 4762"/>
            </a:avLst>
          </a:prstGeom>
          <a:solidFill>
            <a:srgbClr val="02C39A"/>
          </a:solidFill>
          <a:ln/>
        </p:spPr>
        <p:txBody>
          <a:bodyPr/>
          <a:p/>
        </p:txBody>
      </p:sp>
      <p:sp>
        <p:nvSpPr>
          <p:cNvPr id="16" name="Text 14"/>
          <p:cNvSpPr txBox="1"/>
          <p:nvPr/>
        </p:nvSpPr>
        <p:spPr>
          <a:xfrm>
            <a:off x="4480560" y="2514600"/>
            <a:ext cx="1737360" cy="9601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CPU</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runs P1 for ≤ q</a:t>
            </a:r>
            <a:endParaRPr lang="en-US" sz="1600" dirty="0"/>
          </a:p>
        </p:txBody>
      </p:sp>
      <p:sp>
        <p:nvSpPr>
          <p:cNvPr id="17" name="Shape 15"/>
          <p:cNvSpPr/>
          <p:nvPr/>
        </p:nvSpPr>
        <p:spPr>
          <a:xfrm>
            <a:off x="5349240" y="3493008"/>
            <a:ext cx="0" cy="685800"/>
          </a:xfrm>
          <a:prstGeom prst="line">
            <a:avLst/>
          </a:prstGeom>
          <a:noFill/>
          <a:ln w="25400">
            <a:solidFill>
              <a:srgbClr val="B5453A"/>
            </a:solidFill>
            <a:prstDash val="solid"/>
          </a:ln>
        </p:spPr>
        <p:txBody>
          <a:bodyPr/>
          <a:p/>
        </p:txBody>
      </p:sp>
      <p:sp>
        <p:nvSpPr>
          <p:cNvPr id="18" name="Shape 16"/>
          <p:cNvSpPr/>
          <p:nvPr/>
        </p:nvSpPr>
        <p:spPr>
          <a:xfrm>
            <a:off x="1005840" y="4178808"/>
            <a:ext cx="4343400" cy="0"/>
          </a:xfrm>
          <a:prstGeom prst="line">
            <a:avLst/>
          </a:prstGeom>
          <a:noFill/>
          <a:ln w="25400">
            <a:solidFill>
              <a:srgbClr val="B5453A"/>
            </a:solidFill>
            <a:prstDash val="solid"/>
          </a:ln>
        </p:spPr>
        <p:txBody>
          <a:bodyPr/>
          <a:p/>
        </p:txBody>
      </p:sp>
      <p:sp>
        <p:nvSpPr>
          <p:cNvPr id="19" name="Shape 17"/>
          <p:cNvSpPr/>
          <p:nvPr/>
        </p:nvSpPr>
        <p:spPr>
          <a:xfrm flipV="1">
            <a:off x="1005840" y="3374136"/>
            <a:ext cx="91" cy="804672"/>
          </a:xfrm>
          <a:prstGeom prst="line">
            <a:avLst/>
          </a:prstGeom>
          <a:noFill/>
          <a:ln w="25400">
            <a:solidFill>
              <a:srgbClr val="B5453A"/>
            </a:solidFill>
            <a:prstDash val="solid"/>
            <a:tailEnd type="triangle"/>
          </a:ln>
        </p:spPr>
        <p:txBody>
          <a:bodyPr/>
          <a:p/>
        </p:txBody>
      </p:sp>
      <p:sp>
        <p:nvSpPr>
          <p:cNvPr id="20" name="Text 18"/>
          <p:cNvSpPr txBox="1"/>
          <p:nvPr/>
        </p:nvSpPr>
        <p:spPr>
          <a:xfrm>
            <a:off x="1188720" y="4251960"/>
            <a:ext cx="5029200" cy="320040"/>
          </a:xfrm>
          <a:prstGeom prst="rect">
            <a:avLst/>
          </a:prstGeom>
          <a:noFill/>
          <a:ln/>
        </p:spPr>
        <p:txBody>
          <a:bodyPr wrap="square" lIns="0" tIns="0" rIns="0" bIns="0" rtlCol="0" anchor="t"/>
          <a:lstStyle/>
          <a:p>
            <a:pPr indent="0" marL="0">
              <a:buNone/>
            </a:pPr>
            <a:r>
              <a:rPr lang="en-US" sz="1300" b="1" dirty="0">
                <a:solidFill>
                  <a:srgbClr val="B5453A"/>
                </a:solidFill>
                <a:latin typeface="Calibri" pitchFamily="34" charset="0"/>
                <a:ea typeface="Calibri" pitchFamily="34" charset="-122"/>
                <a:cs typeface="Calibri" pitchFamily="34" charset="-120"/>
              </a:rPr>
              <a:t>quantum expired (timer interrupt) → back to the tail</a:t>
            </a:r>
            <a:endParaRPr lang="en-US" sz="1300" dirty="0"/>
          </a:p>
        </p:txBody>
      </p:sp>
      <p:sp>
        <p:nvSpPr>
          <p:cNvPr id="21" name="Shape 19"/>
          <p:cNvSpPr/>
          <p:nvPr/>
        </p:nvSpPr>
        <p:spPr>
          <a:xfrm>
            <a:off x="6263640" y="2990088"/>
            <a:ext cx="685800" cy="91"/>
          </a:xfrm>
          <a:prstGeom prst="line">
            <a:avLst/>
          </a:prstGeom>
          <a:noFill/>
          <a:ln w="25400">
            <a:solidFill>
              <a:srgbClr val="50808E"/>
            </a:solidFill>
            <a:prstDash val="solid"/>
            <a:tailEnd type="triangle"/>
          </a:ln>
        </p:spPr>
        <p:txBody>
          <a:bodyPr/>
          <a:p/>
        </p:txBody>
      </p:sp>
      <p:sp>
        <p:nvSpPr>
          <p:cNvPr id="22" name="Text 20"/>
          <p:cNvSpPr txBox="1"/>
          <p:nvPr/>
        </p:nvSpPr>
        <p:spPr>
          <a:xfrm>
            <a:off x="6995160" y="2697480"/>
            <a:ext cx="1463040" cy="640080"/>
          </a:xfrm>
          <a:prstGeom prst="rect">
            <a:avLst/>
          </a:prstGeom>
          <a:noFill/>
          <a:ln/>
        </p:spPr>
        <p:txBody>
          <a:bodyPr wrap="square" lIns="0" tIns="0" rIns="0" bIns="0" rtlCol="0" anchor="t"/>
          <a:lstStyle/>
          <a:p>
            <a:pPr indent="0" marL="0">
              <a:buNone/>
            </a:pPr>
            <a:r>
              <a:rPr lang="en-US" sz="1300" dirty="0">
                <a:solidFill>
                  <a:srgbClr val="50808E"/>
                </a:solidFill>
                <a:latin typeface="Calibri" pitchFamily="34" charset="0"/>
                <a:ea typeface="Calibri" pitchFamily="34" charset="-122"/>
                <a:cs typeface="Calibri" pitchFamily="34" charset="-120"/>
              </a:rPr>
              <a:t>finished or</a:t>
            </a:r>
            <a:endParaRPr lang="en-US" sz="1300" dirty="0"/>
          </a:p>
          <a:p>
            <a:pPr indent="0" marL="0">
              <a:buNone/>
            </a:pPr>
            <a:r>
              <a:rPr lang="en-US" sz="1300" dirty="0">
                <a:solidFill>
                  <a:srgbClr val="50808E"/>
                </a:solidFill>
                <a:latin typeface="Calibri" pitchFamily="34" charset="0"/>
                <a:ea typeface="Calibri" pitchFamily="34" charset="-122"/>
                <a:cs typeface="Calibri" pitchFamily="34" charset="-120"/>
              </a:rPr>
              <a:t>blocked for I/O</a:t>
            </a:r>
            <a:endParaRPr lang="en-US" sz="1300" dirty="0"/>
          </a:p>
        </p:txBody>
      </p:sp>
      <p:sp>
        <p:nvSpPr>
          <p:cNvPr id="23" name="Shape 21"/>
          <p:cNvSpPr/>
          <p:nvPr/>
        </p:nvSpPr>
        <p:spPr>
          <a:xfrm>
            <a:off x="548640" y="4892040"/>
            <a:ext cx="768096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777240" y="5074920"/>
            <a:ext cx="7223760" cy="1051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With n processes in the queue, no process waits more than (n − 1) · q before its next turn.</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Typical quanta: 10–100 ms; a context switch takes well under 10 µs.</a:t>
            </a:r>
            <a:endParaRPr lang="en-US" sz="1400" dirty="0"/>
          </a:p>
        </p:txBody>
      </p:sp>
      <p:sp>
        <p:nvSpPr>
          <p:cNvPr id="25" name="Shape 23"/>
          <p:cNvSpPr/>
          <p:nvPr/>
        </p:nvSpPr>
        <p:spPr>
          <a:xfrm>
            <a:off x="8503920" y="2240280"/>
            <a:ext cx="3154680" cy="402336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8732520" y="2423160"/>
            <a:ext cx="2697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Our convention</a:t>
            </a:r>
            <a:endParaRPr lang="en-US" sz="1500" dirty="0"/>
          </a:p>
        </p:txBody>
      </p:sp>
      <p:sp>
        <p:nvSpPr>
          <p:cNvPr id="27" name="Text 25"/>
          <p:cNvSpPr txBox="1"/>
          <p:nvPr/>
        </p:nvSpPr>
        <p:spPr>
          <a:xfrm>
            <a:off x="8732520" y="2880360"/>
            <a:ext cx="2697480" cy="324612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process that arrives exactly when a quantum ends joins the queue before the preempted process.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If a burst is shorter than q, the process leaves early and the next one starts at once.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ROUND ROBIN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Worked Example: Round Robin with q = 4 ms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Same four processes. Follow the ready queue after every quantum (head on the left).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15</a:t>
            </a:r>
            <a:endParaRPr lang="en-US" sz="900" dirty="0"/>
          </a:p>
        </p:txBody>
      </p:sp>
      <p:sp>
        <p:nvSpPr>
          <p:cNvPr id="7" name="Shape 5"/>
          <p:cNvSpPr/>
          <p:nvPr/>
        </p:nvSpPr>
        <p:spPr>
          <a:xfrm>
            <a:off x="557784" y="2103120"/>
            <a:ext cx="2759202" cy="566928"/>
          </a:xfrm>
          <a:prstGeom prst="roundRect">
            <a:avLst>
              <a:gd name="adj" fmla="val 8065"/>
            </a:avLst>
          </a:prstGeom>
          <a:solidFill>
            <a:srgbClr val="02C39A"/>
          </a:solidFill>
          <a:ln/>
        </p:spPr>
        <p:txBody>
          <a:bodyPr/>
          <a:p/>
        </p:txBody>
      </p:sp>
      <p:sp>
        <p:nvSpPr>
          <p:cNvPr id="8" name="Text 6"/>
          <p:cNvSpPr txBox="1"/>
          <p:nvPr/>
        </p:nvSpPr>
        <p:spPr>
          <a:xfrm>
            <a:off x="55778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9" name="Shape 7"/>
          <p:cNvSpPr/>
          <p:nvPr/>
        </p:nvSpPr>
        <p:spPr>
          <a:xfrm>
            <a:off x="3335274" y="2103120"/>
            <a:ext cx="2759202" cy="566928"/>
          </a:xfrm>
          <a:prstGeom prst="roundRect">
            <a:avLst>
              <a:gd name="adj" fmla="val 8065"/>
            </a:avLst>
          </a:prstGeom>
          <a:solidFill>
            <a:srgbClr val="50808E"/>
          </a:solidFill>
          <a:ln/>
        </p:spPr>
        <p:txBody>
          <a:bodyPr/>
          <a:p/>
        </p:txBody>
      </p:sp>
      <p:sp>
        <p:nvSpPr>
          <p:cNvPr id="10" name="Text 8"/>
          <p:cNvSpPr txBox="1"/>
          <p:nvPr/>
        </p:nvSpPr>
        <p:spPr>
          <a:xfrm>
            <a:off x="333527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1" name="Shape 9"/>
          <p:cNvSpPr/>
          <p:nvPr/>
        </p:nvSpPr>
        <p:spPr>
          <a:xfrm>
            <a:off x="6112764" y="2103120"/>
            <a:ext cx="676085" cy="566928"/>
          </a:xfrm>
          <a:prstGeom prst="roundRect">
            <a:avLst>
              <a:gd name="adj" fmla="val 8065"/>
            </a:avLst>
          </a:prstGeom>
          <a:solidFill>
            <a:srgbClr val="C98A1B"/>
          </a:solidFill>
          <a:ln/>
        </p:spPr>
        <p:txBody>
          <a:bodyPr/>
          <a:p/>
        </p:txBody>
      </p:sp>
      <p:sp>
        <p:nvSpPr>
          <p:cNvPr id="12" name="Text 10"/>
          <p:cNvSpPr txBox="1"/>
          <p:nvPr/>
        </p:nvSpPr>
        <p:spPr>
          <a:xfrm>
            <a:off x="6112764"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3" name="Shape 11"/>
          <p:cNvSpPr/>
          <p:nvPr/>
        </p:nvSpPr>
        <p:spPr>
          <a:xfrm>
            <a:off x="6807137" y="2103120"/>
            <a:ext cx="2064830" cy="566928"/>
          </a:xfrm>
          <a:prstGeom prst="roundRect">
            <a:avLst>
              <a:gd name="adj" fmla="val 8065"/>
            </a:avLst>
          </a:prstGeom>
          <a:solidFill>
            <a:srgbClr val="02C39A"/>
          </a:solidFill>
          <a:ln/>
        </p:spPr>
        <p:txBody>
          <a:bodyPr/>
          <a:p/>
        </p:txBody>
      </p:sp>
      <p:sp>
        <p:nvSpPr>
          <p:cNvPr id="14" name="Text 12"/>
          <p:cNvSpPr txBox="1"/>
          <p:nvPr/>
        </p:nvSpPr>
        <p:spPr>
          <a:xfrm>
            <a:off x="6807137" y="2103120"/>
            <a:ext cx="2064830"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5" name="Shape 13"/>
          <p:cNvSpPr/>
          <p:nvPr/>
        </p:nvSpPr>
        <p:spPr>
          <a:xfrm>
            <a:off x="8890254" y="2103120"/>
            <a:ext cx="2759202" cy="566928"/>
          </a:xfrm>
          <a:prstGeom prst="roundRect">
            <a:avLst>
              <a:gd name="adj" fmla="val 8065"/>
            </a:avLst>
          </a:prstGeom>
          <a:solidFill>
            <a:srgbClr val="36454F"/>
          </a:solidFill>
          <a:ln/>
        </p:spPr>
        <p:txBody>
          <a:bodyPr/>
          <a:p/>
        </p:txBody>
      </p:sp>
      <p:sp>
        <p:nvSpPr>
          <p:cNvPr id="16" name="Text 14"/>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7" name="Shape 15"/>
          <p:cNvSpPr/>
          <p:nvPr/>
        </p:nvSpPr>
        <p:spPr>
          <a:xfrm>
            <a:off x="548640" y="2670048"/>
            <a:ext cx="91" cy="73152"/>
          </a:xfrm>
          <a:prstGeom prst="line">
            <a:avLst/>
          </a:prstGeom>
          <a:noFill/>
          <a:ln w="12700">
            <a:solidFill>
              <a:srgbClr val="6B7679"/>
            </a:solidFill>
            <a:prstDash val="solid"/>
          </a:ln>
        </p:spPr>
        <p:txBody>
          <a:bodyPr/>
          <a:p/>
        </p:txBody>
      </p:sp>
      <p:sp>
        <p:nvSpPr>
          <p:cNvPr id="18" name="Text 16"/>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19" name="Shape 17"/>
          <p:cNvSpPr/>
          <p:nvPr/>
        </p:nvSpPr>
        <p:spPr>
          <a:xfrm>
            <a:off x="3326130" y="2670048"/>
            <a:ext cx="91" cy="73152"/>
          </a:xfrm>
          <a:prstGeom prst="line">
            <a:avLst/>
          </a:prstGeom>
          <a:noFill/>
          <a:ln w="12700">
            <a:solidFill>
              <a:srgbClr val="6B7679"/>
            </a:solidFill>
            <a:prstDash val="solid"/>
          </a:ln>
        </p:spPr>
        <p:txBody>
          <a:bodyPr/>
          <a:p/>
        </p:txBody>
      </p:sp>
      <p:sp>
        <p:nvSpPr>
          <p:cNvPr id="20" name="Text 18"/>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21" name="Shape 19"/>
          <p:cNvSpPr/>
          <p:nvPr/>
        </p:nvSpPr>
        <p:spPr>
          <a:xfrm>
            <a:off x="6103620" y="2670048"/>
            <a:ext cx="91" cy="73152"/>
          </a:xfrm>
          <a:prstGeom prst="line">
            <a:avLst/>
          </a:prstGeom>
          <a:noFill/>
          <a:ln w="12700">
            <a:solidFill>
              <a:srgbClr val="6B7679"/>
            </a:solidFill>
            <a:prstDash val="solid"/>
          </a:ln>
        </p:spPr>
        <p:txBody>
          <a:bodyPr/>
          <a:p/>
        </p:txBody>
      </p:sp>
      <p:sp>
        <p:nvSpPr>
          <p:cNvPr id="22" name="Text 20"/>
          <p:cNvSpPr txBox="1"/>
          <p:nvPr/>
        </p:nvSpPr>
        <p:spPr>
          <a:xfrm>
            <a:off x="582930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8</a:t>
            </a:r>
            <a:endParaRPr lang="en-US" sz="1200" dirty="0"/>
          </a:p>
        </p:txBody>
      </p:sp>
      <p:sp>
        <p:nvSpPr>
          <p:cNvPr id="23" name="Shape 21"/>
          <p:cNvSpPr/>
          <p:nvPr/>
        </p:nvSpPr>
        <p:spPr>
          <a:xfrm>
            <a:off x="6797993" y="2670048"/>
            <a:ext cx="91" cy="73152"/>
          </a:xfrm>
          <a:prstGeom prst="line">
            <a:avLst/>
          </a:prstGeom>
          <a:noFill/>
          <a:ln w="12700">
            <a:solidFill>
              <a:srgbClr val="6B7679"/>
            </a:solidFill>
            <a:prstDash val="solid"/>
          </a:ln>
        </p:spPr>
        <p:txBody>
          <a:bodyPr/>
          <a:p/>
        </p:txBody>
      </p:sp>
      <p:sp>
        <p:nvSpPr>
          <p:cNvPr id="24" name="Text 22"/>
          <p:cNvSpPr txBox="1"/>
          <p:nvPr/>
        </p:nvSpPr>
        <p:spPr>
          <a:xfrm>
            <a:off x="6523673"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9</a:t>
            </a:r>
            <a:endParaRPr lang="en-US" sz="1200" dirty="0"/>
          </a:p>
        </p:txBody>
      </p:sp>
      <p:sp>
        <p:nvSpPr>
          <p:cNvPr id="25" name="Shape 23"/>
          <p:cNvSpPr/>
          <p:nvPr/>
        </p:nvSpPr>
        <p:spPr>
          <a:xfrm>
            <a:off x="8881110" y="2670048"/>
            <a:ext cx="91" cy="73152"/>
          </a:xfrm>
          <a:prstGeom prst="line">
            <a:avLst/>
          </a:prstGeom>
          <a:noFill/>
          <a:ln w="12700">
            <a:solidFill>
              <a:srgbClr val="6B7679"/>
            </a:solidFill>
            <a:prstDash val="solid"/>
          </a:ln>
        </p:spPr>
        <p:txBody>
          <a:bodyPr/>
          <a:p/>
        </p:txBody>
      </p:sp>
      <p:sp>
        <p:nvSpPr>
          <p:cNvPr id="26" name="Text 24"/>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12</a:t>
            </a:r>
            <a:endParaRPr lang="en-US" sz="1200" dirty="0"/>
          </a:p>
        </p:txBody>
      </p:sp>
      <p:sp>
        <p:nvSpPr>
          <p:cNvPr id="27" name="Shape 25"/>
          <p:cNvSpPr/>
          <p:nvPr/>
        </p:nvSpPr>
        <p:spPr>
          <a:xfrm>
            <a:off x="11658600" y="2670048"/>
            <a:ext cx="91" cy="73152"/>
          </a:xfrm>
          <a:prstGeom prst="line">
            <a:avLst/>
          </a:prstGeom>
          <a:noFill/>
          <a:ln w="12700">
            <a:solidFill>
              <a:srgbClr val="6B7679"/>
            </a:solidFill>
            <a:prstDash val="solid"/>
          </a:ln>
        </p:spPr>
        <p:txBody>
          <a:bodyPr/>
          <a:p/>
        </p:txBody>
      </p:sp>
      <p:sp>
        <p:nvSpPr>
          <p:cNvPr id="28" name="Text 26"/>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Process</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Arrival</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Burst</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Finish</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Turnaround</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Waiting</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Response</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30" name="Shape 27"/>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8"/>
          <p:cNvSpPr txBox="1"/>
          <p:nvPr/>
        </p:nvSpPr>
        <p:spPr>
          <a:xfrm>
            <a:off x="7680960" y="342900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Ready queue</a:t>
            </a:r>
            <a:endParaRPr lang="en-US" sz="1500" dirty="0"/>
          </a:p>
        </p:txBody>
      </p:sp>
      <p:sp>
        <p:nvSpPr>
          <p:cNvPr id="32" name="Text 29"/>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4: queue P2, P3, P1 (P2 and P3 arrived, P1 back at the tail).</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8: P2 done; queue P3, P1, P4.</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9: P3 done after 1 ms; P1 needs only 3 more.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 = 12: P1 done; P4 runs alone to 16.</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ROUND ROBIN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Same Jobs with a Smaller Quantum: q = 2 ms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Shorter turns: everybody gets the CPU sooner, but the CPU switches far more often.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16</a:t>
            </a:r>
            <a:endParaRPr lang="en-US" sz="900" dirty="0"/>
          </a:p>
        </p:txBody>
      </p:sp>
      <p:sp>
        <p:nvSpPr>
          <p:cNvPr id="7" name="Shape 5"/>
          <p:cNvSpPr/>
          <p:nvPr/>
        </p:nvSpPr>
        <p:spPr>
          <a:xfrm>
            <a:off x="557784" y="2103120"/>
            <a:ext cx="1370457" cy="566928"/>
          </a:xfrm>
          <a:prstGeom prst="roundRect">
            <a:avLst>
              <a:gd name="adj" fmla="val 8065"/>
            </a:avLst>
          </a:prstGeom>
          <a:solidFill>
            <a:srgbClr val="02C39A"/>
          </a:solidFill>
          <a:ln/>
        </p:spPr>
        <p:txBody>
          <a:bodyPr/>
          <a:p/>
        </p:txBody>
      </p:sp>
      <p:sp>
        <p:nvSpPr>
          <p:cNvPr id="8" name="Text 6"/>
          <p:cNvSpPr txBox="1"/>
          <p:nvPr/>
        </p:nvSpPr>
        <p:spPr>
          <a:xfrm>
            <a:off x="557784"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9" name="Shape 7"/>
          <p:cNvSpPr/>
          <p:nvPr/>
        </p:nvSpPr>
        <p:spPr>
          <a:xfrm>
            <a:off x="1946529" y="2103120"/>
            <a:ext cx="1370457" cy="566928"/>
          </a:xfrm>
          <a:prstGeom prst="roundRect">
            <a:avLst>
              <a:gd name="adj" fmla="val 8065"/>
            </a:avLst>
          </a:prstGeom>
          <a:solidFill>
            <a:srgbClr val="50808E"/>
          </a:solidFill>
          <a:ln/>
        </p:spPr>
        <p:txBody>
          <a:bodyPr/>
          <a:p/>
        </p:txBody>
      </p:sp>
      <p:sp>
        <p:nvSpPr>
          <p:cNvPr id="10" name="Text 8"/>
          <p:cNvSpPr txBox="1"/>
          <p:nvPr/>
        </p:nvSpPr>
        <p:spPr>
          <a:xfrm>
            <a:off x="1946529"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1" name="Shape 9"/>
          <p:cNvSpPr/>
          <p:nvPr/>
        </p:nvSpPr>
        <p:spPr>
          <a:xfrm>
            <a:off x="3335274" y="2103120"/>
            <a:ext cx="1370457" cy="566928"/>
          </a:xfrm>
          <a:prstGeom prst="roundRect">
            <a:avLst>
              <a:gd name="adj" fmla="val 8065"/>
            </a:avLst>
          </a:prstGeom>
          <a:solidFill>
            <a:srgbClr val="02C39A"/>
          </a:solidFill>
          <a:ln/>
        </p:spPr>
        <p:txBody>
          <a:bodyPr/>
          <a:p/>
        </p:txBody>
      </p:sp>
      <p:sp>
        <p:nvSpPr>
          <p:cNvPr id="12" name="Text 10"/>
          <p:cNvSpPr txBox="1"/>
          <p:nvPr/>
        </p:nvSpPr>
        <p:spPr>
          <a:xfrm>
            <a:off x="3335274"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3" name="Shape 11"/>
          <p:cNvSpPr/>
          <p:nvPr/>
        </p:nvSpPr>
        <p:spPr>
          <a:xfrm>
            <a:off x="4724019" y="2103120"/>
            <a:ext cx="676085" cy="566928"/>
          </a:xfrm>
          <a:prstGeom prst="roundRect">
            <a:avLst>
              <a:gd name="adj" fmla="val 8065"/>
            </a:avLst>
          </a:prstGeom>
          <a:solidFill>
            <a:srgbClr val="C98A1B"/>
          </a:solidFill>
          <a:ln/>
        </p:spPr>
        <p:txBody>
          <a:bodyPr/>
          <a:p/>
        </p:txBody>
      </p:sp>
      <p:sp>
        <p:nvSpPr>
          <p:cNvPr id="14" name="Text 12"/>
          <p:cNvSpPr txBox="1"/>
          <p:nvPr/>
        </p:nvSpPr>
        <p:spPr>
          <a:xfrm>
            <a:off x="4724019"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5" name="Shape 13"/>
          <p:cNvSpPr/>
          <p:nvPr/>
        </p:nvSpPr>
        <p:spPr>
          <a:xfrm>
            <a:off x="5418391" y="2103120"/>
            <a:ext cx="1370457" cy="566928"/>
          </a:xfrm>
          <a:prstGeom prst="roundRect">
            <a:avLst>
              <a:gd name="adj" fmla="val 8065"/>
            </a:avLst>
          </a:prstGeom>
          <a:solidFill>
            <a:srgbClr val="50808E"/>
          </a:solidFill>
          <a:ln/>
        </p:spPr>
        <p:txBody>
          <a:bodyPr/>
          <a:p/>
        </p:txBody>
      </p:sp>
      <p:sp>
        <p:nvSpPr>
          <p:cNvPr id="16" name="Text 14"/>
          <p:cNvSpPr txBox="1"/>
          <p:nvPr/>
        </p:nvSpPr>
        <p:spPr>
          <a:xfrm>
            <a:off x="5418391"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7" name="Shape 15"/>
          <p:cNvSpPr/>
          <p:nvPr/>
        </p:nvSpPr>
        <p:spPr>
          <a:xfrm>
            <a:off x="6807137" y="2103120"/>
            <a:ext cx="1370457" cy="566928"/>
          </a:xfrm>
          <a:prstGeom prst="roundRect">
            <a:avLst>
              <a:gd name="adj" fmla="val 8065"/>
            </a:avLst>
          </a:prstGeom>
          <a:solidFill>
            <a:srgbClr val="36454F"/>
          </a:solidFill>
          <a:ln/>
        </p:spPr>
        <p:txBody>
          <a:bodyPr/>
          <a:p/>
        </p:txBody>
      </p:sp>
      <p:sp>
        <p:nvSpPr>
          <p:cNvPr id="18" name="Text 16"/>
          <p:cNvSpPr txBox="1"/>
          <p:nvPr/>
        </p:nvSpPr>
        <p:spPr>
          <a:xfrm>
            <a:off x="6807137"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9" name="Shape 17"/>
          <p:cNvSpPr/>
          <p:nvPr/>
        </p:nvSpPr>
        <p:spPr>
          <a:xfrm>
            <a:off x="8195882" y="2103120"/>
            <a:ext cx="1370457" cy="566928"/>
          </a:xfrm>
          <a:prstGeom prst="roundRect">
            <a:avLst>
              <a:gd name="adj" fmla="val 8065"/>
            </a:avLst>
          </a:prstGeom>
          <a:solidFill>
            <a:srgbClr val="02C39A"/>
          </a:solidFill>
          <a:ln/>
        </p:spPr>
        <p:txBody>
          <a:bodyPr/>
          <a:p/>
        </p:txBody>
      </p:sp>
      <p:sp>
        <p:nvSpPr>
          <p:cNvPr id="20" name="Text 18"/>
          <p:cNvSpPr txBox="1"/>
          <p:nvPr/>
        </p:nvSpPr>
        <p:spPr>
          <a:xfrm>
            <a:off x="8195882"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21" name="Shape 19"/>
          <p:cNvSpPr/>
          <p:nvPr/>
        </p:nvSpPr>
        <p:spPr>
          <a:xfrm>
            <a:off x="9584627" y="2103120"/>
            <a:ext cx="1370457" cy="566928"/>
          </a:xfrm>
          <a:prstGeom prst="roundRect">
            <a:avLst>
              <a:gd name="adj" fmla="val 8065"/>
            </a:avLst>
          </a:prstGeom>
          <a:solidFill>
            <a:srgbClr val="36454F"/>
          </a:solidFill>
          <a:ln/>
        </p:spPr>
        <p:txBody>
          <a:bodyPr/>
          <a:p/>
        </p:txBody>
      </p:sp>
      <p:sp>
        <p:nvSpPr>
          <p:cNvPr id="22" name="Text 20"/>
          <p:cNvSpPr txBox="1"/>
          <p:nvPr/>
        </p:nvSpPr>
        <p:spPr>
          <a:xfrm>
            <a:off x="9584627" y="2103120"/>
            <a:ext cx="1370457" cy="56692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23" name="Shape 21"/>
          <p:cNvSpPr/>
          <p:nvPr/>
        </p:nvSpPr>
        <p:spPr>
          <a:xfrm>
            <a:off x="10973372" y="2103120"/>
            <a:ext cx="676085" cy="566928"/>
          </a:xfrm>
          <a:prstGeom prst="roundRect">
            <a:avLst>
              <a:gd name="adj" fmla="val 8065"/>
            </a:avLst>
          </a:prstGeom>
          <a:solidFill>
            <a:srgbClr val="02C39A"/>
          </a:solidFill>
          <a:ln/>
        </p:spPr>
        <p:txBody>
          <a:bodyPr/>
          <a:p/>
        </p:txBody>
      </p:sp>
      <p:sp>
        <p:nvSpPr>
          <p:cNvPr id="24" name="Text 22"/>
          <p:cNvSpPr txBox="1"/>
          <p:nvPr/>
        </p:nvSpPr>
        <p:spPr>
          <a:xfrm>
            <a:off x="10973372" y="2103120"/>
            <a:ext cx="676085" cy="56692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25" name="Shape 23"/>
          <p:cNvSpPr/>
          <p:nvPr/>
        </p:nvSpPr>
        <p:spPr>
          <a:xfrm>
            <a:off x="548640" y="2670048"/>
            <a:ext cx="91" cy="73152"/>
          </a:xfrm>
          <a:prstGeom prst="line">
            <a:avLst/>
          </a:prstGeom>
          <a:noFill/>
          <a:ln w="12700">
            <a:solidFill>
              <a:srgbClr val="6B7679"/>
            </a:solidFill>
            <a:prstDash val="solid"/>
          </a:ln>
        </p:spPr>
        <p:txBody>
          <a:bodyPr/>
          <a:p/>
        </p:txBody>
      </p:sp>
      <p:sp>
        <p:nvSpPr>
          <p:cNvPr id="26" name="Text 2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27" name="Shape 25"/>
          <p:cNvSpPr/>
          <p:nvPr/>
        </p:nvSpPr>
        <p:spPr>
          <a:xfrm>
            <a:off x="1937385" y="2670048"/>
            <a:ext cx="91" cy="73152"/>
          </a:xfrm>
          <a:prstGeom prst="line">
            <a:avLst/>
          </a:prstGeom>
          <a:noFill/>
          <a:ln w="12700">
            <a:solidFill>
              <a:srgbClr val="6B7679"/>
            </a:solidFill>
            <a:prstDash val="solid"/>
          </a:ln>
        </p:spPr>
        <p:txBody>
          <a:bodyPr/>
          <a:p/>
        </p:txBody>
      </p:sp>
      <p:sp>
        <p:nvSpPr>
          <p:cNvPr id="28" name="Text 26"/>
          <p:cNvSpPr txBox="1"/>
          <p:nvPr/>
        </p:nvSpPr>
        <p:spPr>
          <a:xfrm>
            <a:off x="1663065"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29" name="Shape 27"/>
          <p:cNvSpPr/>
          <p:nvPr/>
        </p:nvSpPr>
        <p:spPr>
          <a:xfrm>
            <a:off x="3326130" y="2670048"/>
            <a:ext cx="91" cy="73152"/>
          </a:xfrm>
          <a:prstGeom prst="line">
            <a:avLst/>
          </a:prstGeom>
          <a:noFill/>
          <a:ln w="12700">
            <a:solidFill>
              <a:srgbClr val="6B7679"/>
            </a:solidFill>
            <a:prstDash val="solid"/>
          </a:ln>
        </p:spPr>
        <p:txBody>
          <a:bodyPr/>
          <a:p/>
        </p:txBody>
      </p:sp>
      <p:sp>
        <p:nvSpPr>
          <p:cNvPr id="30" name="Text 28"/>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31" name="Shape 29"/>
          <p:cNvSpPr/>
          <p:nvPr/>
        </p:nvSpPr>
        <p:spPr>
          <a:xfrm>
            <a:off x="4714875" y="2670048"/>
            <a:ext cx="91" cy="73152"/>
          </a:xfrm>
          <a:prstGeom prst="line">
            <a:avLst/>
          </a:prstGeom>
          <a:noFill/>
          <a:ln w="12700">
            <a:solidFill>
              <a:srgbClr val="6B7679"/>
            </a:solidFill>
            <a:prstDash val="solid"/>
          </a:ln>
        </p:spPr>
        <p:txBody>
          <a:bodyPr/>
          <a:p/>
        </p:txBody>
      </p:sp>
      <p:sp>
        <p:nvSpPr>
          <p:cNvPr id="32" name="Text 30"/>
          <p:cNvSpPr txBox="1"/>
          <p:nvPr/>
        </p:nvSpPr>
        <p:spPr>
          <a:xfrm>
            <a:off x="4440555"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6</a:t>
            </a:r>
            <a:endParaRPr lang="en-US" sz="1200" dirty="0"/>
          </a:p>
        </p:txBody>
      </p:sp>
      <p:sp>
        <p:nvSpPr>
          <p:cNvPr id="33" name="Shape 31"/>
          <p:cNvSpPr/>
          <p:nvPr/>
        </p:nvSpPr>
        <p:spPr>
          <a:xfrm>
            <a:off x="5409247" y="2670048"/>
            <a:ext cx="91" cy="73152"/>
          </a:xfrm>
          <a:prstGeom prst="line">
            <a:avLst/>
          </a:prstGeom>
          <a:noFill/>
          <a:ln w="12700">
            <a:solidFill>
              <a:srgbClr val="6B7679"/>
            </a:solidFill>
            <a:prstDash val="solid"/>
          </a:ln>
        </p:spPr>
        <p:txBody>
          <a:bodyPr/>
          <a:p/>
        </p:txBody>
      </p:sp>
      <p:sp>
        <p:nvSpPr>
          <p:cNvPr id="34" name="Text 32"/>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7</a:t>
            </a:r>
            <a:endParaRPr lang="en-US" sz="1200" dirty="0"/>
          </a:p>
        </p:txBody>
      </p:sp>
      <p:sp>
        <p:nvSpPr>
          <p:cNvPr id="35" name="Shape 33"/>
          <p:cNvSpPr/>
          <p:nvPr/>
        </p:nvSpPr>
        <p:spPr>
          <a:xfrm>
            <a:off x="6797993" y="2670048"/>
            <a:ext cx="91" cy="73152"/>
          </a:xfrm>
          <a:prstGeom prst="line">
            <a:avLst/>
          </a:prstGeom>
          <a:noFill/>
          <a:ln w="12700">
            <a:solidFill>
              <a:srgbClr val="6B7679"/>
            </a:solidFill>
            <a:prstDash val="solid"/>
          </a:ln>
        </p:spPr>
        <p:txBody>
          <a:bodyPr/>
          <a:p/>
        </p:txBody>
      </p:sp>
      <p:sp>
        <p:nvSpPr>
          <p:cNvPr id="36" name="Text 34"/>
          <p:cNvSpPr txBox="1"/>
          <p:nvPr/>
        </p:nvSpPr>
        <p:spPr>
          <a:xfrm>
            <a:off x="6523673"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9</a:t>
            </a:r>
            <a:endParaRPr lang="en-US" sz="1200" dirty="0"/>
          </a:p>
        </p:txBody>
      </p:sp>
      <p:sp>
        <p:nvSpPr>
          <p:cNvPr id="37" name="Shape 35"/>
          <p:cNvSpPr/>
          <p:nvPr/>
        </p:nvSpPr>
        <p:spPr>
          <a:xfrm>
            <a:off x="8186738" y="2670048"/>
            <a:ext cx="91" cy="73152"/>
          </a:xfrm>
          <a:prstGeom prst="line">
            <a:avLst/>
          </a:prstGeom>
          <a:noFill/>
          <a:ln w="12700">
            <a:solidFill>
              <a:srgbClr val="6B7679"/>
            </a:solidFill>
            <a:prstDash val="solid"/>
          </a:ln>
        </p:spPr>
        <p:txBody>
          <a:bodyPr/>
          <a:p/>
        </p:txBody>
      </p:sp>
      <p:sp>
        <p:nvSpPr>
          <p:cNvPr id="38" name="Text 36"/>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11</a:t>
            </a:r>
            <a:endParaRPr lang="en-US" sz="1200" dirty="0"/>
          </a:p>
        </p:txBody>
      </p:sp>
      <p:sp>
        <p:nvSpPr>
          <p:cNvPr id="39" name="Shape 37"/>
          <p:cNvSpPr/>
          <p:nvPr/>
        </p:nvSpPr>
        <p:spPr>
          <a:xfrm>
            <a:off x="9575483" y="2670048"/>
            <a:ext cx="91" cy="73152"/>
          </a:xfrm>
          <a:prstGeom prst="line">
            <a:avLst/>
          </a:prstGeom>
          <a:noFill/>
          <a:ln w="12700">
            <a:solidFill>
              <a:srgbClr val="6B7679"/>
            </a:solidFill>
            <a:prstDash val="solid"/>
          </a:ln>
        </p:spPr>
        <p:txBody>
          <a:bodyPr/>
          <a:p/>
        </p:txBody>
      </p:sp>
      <p:sp>
        <p:nvSpPr>
          <p:cNvPr id="40" name="Text 38"/>
          <p:cNvSpPr txBox="1"/>
          <p:nvPr/>
        </p:nvSpPr>
        <p:spPr>
          <a:xfrm>
            <a:off x="9301163"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13</a:t>
            </a:r>
            <a:endParaRPr lang="en-US" sz="1200" dirty="0"/>
          </a:p>
        </p:txBody>
      </p:sp>
      <p:sp>
        <p:nvSpPr>
          <p:cNvPr id="41" name="Shape 39"/>
          <p:cNvSpPr/>
          <p:nvPr/>
        </p:nvSpPr>
        <p:spPr>
          <a:xfrm>
            <a:off x="10964228" y="2670048"/>
            <a:ext cx="91" cy="73152"/>
          </a:xfrm>
          <a:prstGeom prst="line">
            <a:avLst/>
          </a:prstGeom>
          <a:noFill/>
          <a:ln w="12700">
            <a:solidFill>
              <a:srgbClr val="6B7679"/>
            </a:solidFill>
            <a:prstDash val="solid"/>
          </a:ln>
        </p:spPr>
        <p:txBody>
          <a:bodyPr/>
          <a:p/>
        </p:txBody>
      </p:sp>
      <p:sp>
        <p:nvSpPr>
          <p:cNvPr id="42" name="Text 40"/>
          <p:cNvSpPr txBox="1"/>
          <p:nvPr/>
        </p:nvSpPr>
        <p:spPr>
          <a:xfrm>
            <a:off x="10689907"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15</a:t>
            </a:r>
            <a:endParaRPr lang="en-US" sz="1200" dirty="0"/>
          </a:p>
        </p:txBody>
      </p:sp>
      <p:sp>
        <p:nvSpPr>
          <p:cNvPr id="43" name="Shape 41"/>
          <p:cNvSpPr/>
          <p:nvPr/>
        </p:nvSpPr>
        <p:spPr>
          <a:xfrm>
            <a:off x="11658600" y="2670048"/>
            <a:ext cx="91" cy="73152"/>
          </a:xfrm>
          <a:prstGeom prst="line">
            <a:avLst/>
          </a:prstGeom>
          <a:noFill/>
          <a:ln w="12700">
            <a:solidFill>
              <a:srgbClr val="6B7679"/>
            </a:solidFill>
            <a:prstDash val="solid"/>
          </a:ln>
        </p:spPr>
        <p:txBody>
          <a:bodyPr/>
          <a:p/>
        </p:txBody>
      </p:sp>
      <p:sp>
        <p:nvSpPr>
          <p:cNvPr id="44" name="Text 4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Process</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Arrival</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Burst</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Finish</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Turnaround</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Waiting</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Response</a:t>
                      </a:r>
                      <a:endParaRPr lang="en-US"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46" name="Shape 4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7" name="Text 44"/>
          <p:cNvSpPr txBox="1"/>
          <p:nvPr/>
        </p:nvSpPr>
        <p:spPr>
          <a:xfrm>
            <a:off x="7680960" y="342900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Compared with q = 4</a:t>
            </a:r>
            <a:endParaRPr lang="en-US" sz="1500" dirty="0"/>
          </a:p>
        </p:txBody>
      </p:sp>
      <p:sp>
        <p:nvSpPr>
          <p:cNvPr id="48" name="Text 4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Response time falls: average 3.25 → 1.5 ms.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Waiting time rises: average 4.5 → 5 ms.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Context switches: 4 → 8.</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P1 is cut into four pieces and finishes last, at t = 16.</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ROUND ROBIN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Choosing the Time Quantum</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760720" cy="914400"/>
        </p:xfrm>
        <a:graphic>
          <a:graphicData uri="http://schemas.openxmlformats.org/drawingml/2006/table">
            <a:tbl>
              <a:tblPr/>
              <a:tblGrid>
                <a:gridCol w="1371600"/>
                <a:gridCol w="1463040"/>
                <a:gridCol w="1554480"/>
                <a:gridCol w="1371600"/>
              </a:tblGrid>
              <a:tr h="384048">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Quantum q</a:t>
                      </a:r>
                      <a:endParaRPr lang="en-US"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Avg waiting</a:t>
                      </a:r>
                      <a:endParaRPr lang="en-US"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Avg response</a:t>
                      </a:r>
                      <a:endParaRPr lang="en-US"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Switches</a:t>
                      </a:r>
                      <a:endParaRPr lang="en-US"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384048">
                <a:tc>
                  <a:txBody>
                    <a:bodyPr/>
                    <a:lstStyle/>
                    <a:p>
                      <a:pPr algn="ctr" indent="0" marL="0">
                        <a:buNone/>
                      </a:pPr>
                      <a:r>
                        <a:rPr lang="en-US" sz="1400" b="1" dirty="0">
                          <a:solidFill>
                            <a:srgbClr val="3A464C"/>
                          </a:solidFill>
                          <a:latin typeface="Calibri" pitchFamily="34" charset="0"/>
                          <a:ea typeface="Calibri" pitchFamily="34" charset="-122"/>
                          <a:cs typeface="Calibri" pitchFamily="34" charset="-120"/>
                        </a:rPr>
                        <a:t>1 ms</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algn="ctr" indent="0" marL="0">
                        <a:buNone/>
                      </a:pPr>
                      <a:r>
                        <a:rPr lang="en-US" sz="1400" b="1" dirty="0">
                          <a:solidFill>
                            <a:srgbClr val="3A464C"/>
                          </a:solidFill>
                          <a:latin typeface="Calibri" pitchFamily="34" charset="0"/>
                          <a:ea typeface="Calibri" pitchFamily="34" charset="-122"/>
                          <a:cs typeface="Calibri" pitchFamily="34" charset="-120"/>
                        </a:rPr>
                        <a:t>2 ms</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algn="ctr" indent="0" marL="0">
                        <a:buNone/>
                      </a:pPr>
                      <a:r>
                        <a:rPr lang="en-US" sz="1400" b="1" dirty="0">
                          <a:solidFill>
                            <a:srgbClr val="3A464C"/>
                          </a:solidFill>
                          <a:latin typeface="Calibri" pitchFamily="34" charset="0"/>
                          <a:ea typeface="Calibri" pitchFamily="34" charset="-122"/>
                          <a:cs typeface="Calibri" pitchFamily="34" charset="-120"/>
                        </a:rPr>
                        <a:t>4 ms</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3.25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algn="ctr" indent="0" marL="0">
                        <a:buNone/>
                      </a:pPr>
                      <a:r>
                        <a:rPr lang="en-US" sz="1400" b="1" dirty="0">
                          <a:solidFill>
                            <a:srgbClr val="3A464C"/>
                          </a:solidFill>
                          <a:latin typeface="Calibri" pitchFamily="34" charset="0"/>
                          <a:ea typeface="Calibri" pitchFamily="34" charset="-122"/>
                          <a:cs typeface="Calibri" pitchFamily="34" charset="-120"/>
                        </a:rPr>
                        <a:t>8 ms</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464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611880"/>
            <a:ext cx="5760720" cy="5486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Our job set, from sched_check.py. With q = 8 ≥ every burst, RR gives exactly the FCFS schedule.</a:t>
            </a:r>
            <a:endParaRPr lang="en-US" sz="1300" dirty="0"/>
          </a:p>
        </p:txBody>
      </p:sp>
      <p:sp>
        <p:nvSpPr>
          <p:cNvPr id="8" name="Shape 5"/>
          <p:cNvSpPr/>
          <p:nvPr/>
        </p:nvSpPr>
        <p:spPr>
          <a:xfrm>
            <a:off x="548640" y="4297680"/>
            <a:ext cx="5760720" cy="1965960"/>
          </a:xfrm>
          <a:prstGeom prst="roundRect">
            <a:avLst>
              <a:gd name="adj" fmla="val 2326"/>
            </a:avLst>
          </a:prstGeom>
          <a:solidFill>
            <a:srgbClr val="212121"/>
          </a:solidFill>
          <a:ln/>
        </p:spPr>
        <p:txBody>
          <a:bodyPr/>
          <a:p/>
        </p:txBody>
      </p:sp>
      <p:sp>
        <p:nvSpPr>
          <p:cNvPr id="9" name="Text 6"/>
          <p:cNvSpPr txBox="1"/>
          <p:nvPr/>
        </p:nvSpPr>
        <p:spPr>
          <a:xfrm>
            <a:off x="731520" y="4407408"/>
            <a:ext cx="5394960" cy="174650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Time lost to switching = s / (q + 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with a switch cost of s = 0.1 ms: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q =   1 ms  -&gt;  9.1 %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q =   4 ms  -&gt;  2.4 %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q =  10 ms  -&gt;  1.0 %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q = 100 ms  -&gt;  0.1 %</a:t>
            </a:r>
            <a:endParaRPr lang="en-US" sz="1300" dirty="0"/>
          </a:p>
        </p:txBody>
      </p:sp>
      <p:sp>
        <p:nvSpPr>
          <p:cNvPr id="10" name="Shape 7"/>
          <p:cNvSpPr/>
          <p:nvPr/>
        </p:nvSpPr>
        <p:spPr>
          <a:xfrm>
            <a:off x="6583680" y="1554480"/>
            <a:ext cx="507492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8"/>
          <p:cNvSpPr txBox="1"/>
          <p:nvPr/>
        </p:nvSpPr>
        <p:spPr>
          <a:xfrm>
            <a:off x="6812280" y="1737360"/>
            <a:ext cx="461772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q too large</a:t>
            </a:r>
            <a:endParaRPr lang="en-US" sz="1500" dirty="0"/>
          </a:p>
        </p:txBody>
      </p:sp>
      <p:sp>
        <p:nvSpPr>
          <p:cNvPr id="12" name="Text 9"/>
          <p:cNvSpPr txBox="1"/>
          <p:nvPr/>
        </p:nvSpPr>
        <p:spPr>
          <a:xfrm>
            <a:off x="6812280" y="2194560"/>
            <a:ext cx="4617720" cy="6400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RR degenerates into FCFS: interactive users wait behind long jobs.</a:t>
            </a:r>
            <a:endParaRPr lang="en-US" sz="1400" dirty="0"/>
          </a:p>
        </p:txBody>
      </p:sp>
      <p:sp>
        <p:nvSpPr>
          <p:cNvPr id="13" name="Shape 10"/>
          <p:cNvSpPr/>
          <p:nvPr/>
        </p:nvSpPr>
        <p:spPr>
          <a:xfrm>
            <a:off x="6583680" y="3154680"/>
            <a:ext cx="507492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1"/>
          <p:cNvSpPr txBox="1"/>
          <p:nvPr/>
        </p:nvSpPr>
        <p:spPr>
          <a:xfrm>
            <a:off x="6812280" y="3337560"/>
            <a:ext cx="461772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q too small</a:t>
            </a:r>
            <a:endParaRPr lang="en-US" sz="1500" dirty="0"/>
          </a:p>
        </p:txBody>
      </p:sp>
      <p:sp>
        <p:nvSpPr>
          <p:cNvPr id="15" name="Text 12"/>
          <p:cNvSpPr txBox="1"/>
          <p:nvPr/>
        </p:nvSpPr>
        <p:spPr>
          <a:xfrm>
            <a:off x="6812280" y="3794760"/>
            <a:ext cx="4617720" cy="6400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The CPU spends a large share of its time switching instead of working.</a:t>
            </a:r>
            <a:endParaRPr lang="en-US" sz="1400" dirty="0"/>
          </a:p>
        </p:txBody>
      </p:sp>
      <p:sp>
        <p:nvSpPr>
          <p:cNvPr id="16" name="Shape 13"/>
          <p:cNvSpPr/>
          <p:nvPr/>
        </p:nvSpPr>
        <p:spPr>
          <a:xfrm>
            <a:off x="6583680" y="4754880"/>
            <a:ext cx="507492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4"/>
          <p:cNvSpPr txBox="1"/>
          <p:nvPr/>
        </p:nvSpPr>
        <p:spPr>
          <a:xfrm>
            <a:off x="6812280" y="4754880"/>
            <a:ext cx="4617720" cy="15087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Rule of thumb: choose q so that about 80 % of CPU bursts finish within one quantum — and q must be much larger than the switch time.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Multilevel Queues and Multilevel Feedback Queues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Real systems combine algorithms: several ready queues, each with its own policy.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18</a:t>
            </a:r>
            <a:endParaRPr lang="en-US" sz="900" dirty="0"/>
          </a:p>
        </p:txBody>
      </p:sp>
      <p:sp>
        <p:nvSpPr>
          <p:cNvPr id="7" name="Shape 5"/>
          <p:cNvSpPr/>
          <p:nvPr/>
        </p:nvSpPr>
        <p:spPr>
          <a:xfrm>
            <a:off x="548640" y="2103120"/>
            <a:ext cx="1371600" cy="731520"/>
          </a:xfrm>
          <a:prstGeom prst="roundRect">
            <a:avLst>
              <a:gd name="adj" fmla="val 6250"/>
            </a:avLst>
          </a:prstGeom>
          <a:solidFill>
            <a:srgbClr val="02C39A"/>
          </a:solidFill>
          <a:ln/>
        </p:spPr>
        <p:txBody>
          <a:bodyPr/>
          <a:p/>
        </p:txBody>
      </p:sp>
      <p:sp>
        <p:nvSpPr>
          <p:cNvPr id="8" name="Text 6"/>
          <p:cNvSpPr txBox="1"/>
          <p:nvPr/>
        </p:nvSpPr>
        <p:spPr>
          <a:xfrm>
            <a:off x="548640" y="2103120"/>
            <a:ext cx="1371600" cy="73152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Queue 0</a:t>
            </a:r>
            <a:endParaRPr lang="en-US" sz="1400" dirty="0"/>
          </a:p>
        </p:txBody>
      </p:sp>
      <p:sp>
        <p:nvSpPr>
          <p:cNvPr id="9" name="Shape 7"/>
          <p:cNvSpPr/>
          <p:nvPr/>
        </p:nvSpPr>
        <p:spPr>
          <a:xfrm>
            <a:off x="2057400" y="2103120"/>
            <a:ext cx="2926080" cy="731520"/>
          </a:xfrm>
          <a:prstGeom prst="roundRect">
            <a:avLst>
              <a:gd name="adj" fmla="val 6250"/>
            </a:avLst>
          </a:prstGeom>
          <a:solidFill>
            <a:srgbClr val="F2F2F2"/>
          </a:solidFill>
          <a:ln/>
        </p:spPr>
        <p:txBody>
          <a:bodyPr/>
          <a:p/>
        </p:txBody>
      </p:sp>
      <p:sp>
        <p:nvSpPr>
          <p:cNvPr id="10" name="Text 8"/>
          <p:cNvSpPr txBox="1"/>
          <p:nvPr/>
        </p:nvSpPr>
        <p:spPr>
          <a:xfrm>
            <a:off x="2057400" y="2103120"/>
            <a:ext cx="2926080" cy="73152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RR, q = 8 ms</a:t>
            </a:r>
            <a:endParaRPr lang="en-US" sz="1500" dirty="0"/>
          </a:p>
        </p:txBody>
      </p:sp>
      <p:sp>
        <p:nvSpPr>
          <p:cNvPr id="11" name="Text 9"/>
          <p:cNvSpPr txBox="1"/>
          <p:nvPr/>
        </p:nvSpPr>
        <p:spPr>
          <a:xfrm>
            <a:off x="5120640" y="2286000"/>
            <a:ext cx="1737360" cy="36576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highest priority</a:t>
            </a:r>
            <a:endParaRPr lang="en-US" sz="1200" dirty="0"/>
          </a:p>
        </p:txBody>
      </p:sp>
      <p:sp>
        <p:nvSpPr>
          <p:cNvPr id="12" name="Shape 10"/>
          <p:cNvSpPr/>
          <p:nvPr/>
        </p:nvSpPr>
        <p:spPr>
          <a:xfrm>
            <a:off x="3520440" y="2852928"/>
            <a:ext cx="91" cy="420624"/>
          </a:xfrm>
          <a:prstGeom prst="line">
            <a:avLst/>
          </a:prstGeom>
          <a:noFill/>
          <a:ln w="25400">
            <a:solidFill>
              <a:srgbClr val="B5453A"/>
            </a:solidFill>
            <a:prstDash val="solid"/>
            <a:tailEnd type="triangle"/>
          </a:ln>
        </p:spPr>
        <p:txBody>
          <a:bodyPr/>
          <a:p/>
        </p:txBody>
      </p:sp>
      <p:sp>
        <p:nvSpPr>
          <p:cNvPr id="13" name="Shape 11"/>
          <p:cNvSpPr/>
          <p:nvPr/>
        </p:nvSpPr>
        <p:spPr>
          <a:xfrm>
            <a:off x="548640" y="3291840"/>
            <a:ext cx="1371600" cy="731520"/>
          </a:xfrm>
          <a:prstGeom prst="roundRect">
            <a:avLst>
              <a:gd name="adj" fmla="val 6250"/>
            </a:avLst>
          </a:prstGeom>
          <a:solidFill>
            <a:srgbClr val="50808E"/>
          </a:solidFill>
          <a:ln/>
        </p:spPr>
        <p:txBody>
          <a:bodyPr/>
          <a:p/>
        </p:txBody>
      </p:sp>
      <p:sp>
        <p:nvSpPr>
          <p:cNvPr id="14" name="Text 12"/>
          <p:cNvSpPr txBox="1"/>
          <p:nvPr/>
        </p:nvSpPr>
        <p:spPr>
          <a:xfrm>
            <a:off x="548640" y="3291840"/>
            <a:ext cx="1371600" cy="73152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Queue 1</a:t>
            </a:r>
            <a:endParaRPr lang="en-US" sz="1400" dirty="0"/>
          </a:p>
        </p:txBody>
      </p:sp>
      <p:sp>
        <p:nvSpPr>
          <p:cNvPr id="15" name="Shape 13"/>
          <p:cNvSpPr/>
          <p:nvPr/>
        </p:nvSpPr>
        <p:spPr>
          <a:xfrm>
            <a:off x="2057400" y="3291840"/>
            <a:ext cx="2926080" cy="731520"/>
          </a:xfrm>
          <a:prstGeom prst="roundRect">
            <a:avLst>
              <a:gd name="adj" fmla="val 6250"/>
            </a:avLst>
          </a:prstGeom>
          <a:solidFill>
            <a:srgbClr val="F2F2F2"/>
          </a:solidFill>
          <a:ln/>
        </p:spPr>
        <p:txBody>
          <a:bodyPr/>
          <a:p/>
        </p:txBody>
      </p:sp>
      <p:sp>
        <p:nvSpPr>
          <p:cNvPr id="16" name="Text 14"/>
          <p:cNvSpPr txBox="1"/>
          <p:nvPr/>
        </p:nvSpPr>
        <p:spPr>
          <a:xfrm>
            <a:off x="2057400" y="3291840"/>
            <a:ext cx="2926080" cy="73152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RR, q = 16 ms</a:t>
            </a:r>
            <a:endParaRPr lang="en-US" sz="1500" dirty="0"/>
          </a:p>
        </p:txBody>
      </p:sp>
      <p:sp>
        <p:nvSpPr>
          <p:cNvPr id="17" name="Shape 15"/>
          <p:cNvSpPr/>
          <p:nvPr/>
        </p:nvSpPr>
        <p:spPr>
          <a:xfrm>
            <a:off x="3520440" y="4041648"/>
            <a:ext cx="91" cy="420624"/>
          </a:xfrm>
          <a:prstGeom prst="line">
            <a:avLst/>
          </a:prstGeom>
          <a:noFill/>
          <a:ln w="25400">
            <a:solidFill>
              <a:srgbClr val="B5453A"/>
            </a:solidFill>
            <a:prstDash val="solid"/>
            <a:tailEnd type="triangle"/>
          </a:ln>
        </p:spPr>
        <p:txBody>
          <a:bodyPr/>
          <a:p/>
        </p:txBody>
      </p:sp>
      <p:sp>
        <p:nvSpPr>
          <p:cNvPr id="18" name="Shape 16"/>
          <p:cNvSpPr/>
          <p:nvPr/>
        </p:nvSpPr>
        <p:spPr>
          <a:xfrm>
            <a:off x="548640" y="4480560"/>
            <a:ext cx="1371600" cy="731520"/>
          </a:xfrm>
          <a:prstGeom prst="roundRect">
            <a:avLst>
              <a:gd name="adj" fmla="val 6250"/>
            </a:avLst>
          </a:prstGeom>
          <a:solidFill>
            <a:srgbClr val="36454F"/>
          </a:solidFill>
          <a:ln/>
        </p:spPr>
        <p:txBody>
          <a:bodyPr/>
          <a:p/>
        </p:txBody>
      </p:sp>
      <p:sp>
        <p:nvSpPr>
          <p:cNvPr id="19" name="Text 17"/>
          <p:cNvSpPr txBox="1"/>
          <p:nvPr/>
        </p:nvSpPr>
        <p:spPr>
          <a:xfrm>
            <a:off x="548640" y="4480560"/>
            <a:ext cx="1371600" cy="73152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Queue 2</a:t>
            </a:r>
            <a:endParaRPr lang="en-US" sz="1400" dirty="0"/>
          </a:p>
        </p:txBody>
      </p:sp>
      <p:sp>
        <p:nvSpPr>
          <p:cNvPr id="20" name="Shape 18"/>
          <p:cNvSpPr/>
          <p:nvPr/>
        </p:nvSpPr>
        <p:spPr>
          <a:xfrm>
            <a:off x="2057400" y="4480560"/>
            <a:ext cx="2926080" cy="731520"/>
          </a:xfrm>
          <a:prstGeom prst="roundRect">
            <a:avLst>
              <a:gd name="adj" fmla="val 6250"/>
            </a:avLst>
          </a:prstGeom>
          <a:solidFill>
            <a:srgbClr val="F2F2F2"/>
          </a:solidFill>
          <a:ln/>
        </p:spPr>
        <p:txBody>
          <a:bodyPr/>
          <a:p/>
        </p:txBody>
      </p:sp>
      <p:sp>
        <p:nvSpPr>
          <p:cNvPr id="21" name="Text 19"/>
          <p:cNvSpPr txBox="1"/>
          <p:nvPr/>
        </p:nvSpPr>
        <p:spPr>
          <a:xfrm>
            <a:off x="2057400" y="4480560"/>
            <a:ext cx="2926080" cy="73152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FCFS</a:t>
            </a:r>
            <a:endParaRPr lang="en-US" sz="1500" dirty="0"/>
          </a:p>
        </p:txBody>
      </p:sp>
      <p:sp>
        <p:nvSpPr>
          <p:cNvPr id="22" name="Text 20"/>
          <p:cNvSpPr txBox="1"/>
          <p:nvPr/>
        </p:nvSpPr>
        <p:spPr>
          <a:xfrm>
            <a:off x="5120640" y="4663440"/>
            <a:ext cx="1737360" cy="36576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lowest priority</a:t>
            </a:r>
            <a:endParaRPr lang="en-US" sz="1200" dirty="0"/>
          </a:p>
        </p:txBody>
      </p:sp>
      <p:sp>
        <p:nvSpPr>
          <p:cNvPr id="23" name="Text 21"/>
          <p:cNvSpPr txBox="1"/>
          <p:nvPr/>
        </p:nvSpPr>
        <p:spPr>
          <a:xfrm>
            <a:off x="3657600" y="2880360"/>
            <a:ext cx="3200400" cy="36576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uses its whole quantum → moved down</a:t>
            </a:r>
            <a:endParaRPr lang="en-US" sz="1200" dirty="0"/>
          </a:p>
        </p:txBody>
      </p:sp>
      <p:sp>
        <p:nvSpPr>
          <p:cNvPr id="24" name="Text 22"/>
          <p:cNvSpPr txBox="1"/>
          <p:nvPr/>
        </p:nvSpPr>
        <p:spPr>
          <a:xfrm>
            <a:off x="548640" y="5623560"/>
            <a:ext cx="6309360" cy="640080"/>
          </a:xfrm>
          <a:prstGeom prst="rect">
            <a:avLst/>
          </a:prstGeom>
          <a:noFill/>
          <a:ln/>
        </p:spPr>
        <p:txBody>
          <a:bodyPr wrap="square" lIns="0" tIns="0" rIns="0" bIns="0" rtlCol="0" anchor="t"/>
          <a:lstStyle/>
          <a:p>
            <a:pPr indent="0" marL="0">
              <a:buNone/>
            </a:pPr>
            <a:r>
              <a:rPr lang="en-US" sz="1300" i="1" dirty="0">
                <a:solidFill>
                  <a:srgbClr val="50808E"/>
                </a:solidFill>
                <a:latin typeface="Calibri" pitchFamily="34" charset="0"/>
                <a:ea typeface="Calibri" pitchFamily="34" charset="-122"/>
                <a:cs typeface="Calibri" pitchFamily="34" charset="-120"/>
              </a:rPr>
              <a:t>A new process enters Queue 0. Short, interactive jobs finish there; long CPU-bound jobs sink to the bottom.</a:t>
            </a:r>
            <a:endParaRPr lang="en-US" sz="1300" dirty="0"/>
          </a:p>
        </p:txBody>
      </p:sp>
      <p:sp>
        <p:nvSpPr>
          <p:cNvPr id="25" name="Shape 23"/>
          <p:cNvSpPr/>
          <p:nvPr/>
        </p:nvSpPr>
        <p:spPr>
          <a:xfrm>
            <a:off x="7132320" y="2103120"/>
            <a:ext cx="45262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7360920" y="228600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variants</a:t>
            </a:r>
            <a:endParaRPr lang="en-US" sz="1500" dirty="0"/>
          </a:p>
        </p:txBody>
      </p:sp>
      <p:sp>
        <p:nvSpPr>
          <p:cNvPr id="27" name="Text 25"/>
          <p:cNvSpPr txBox="1"/>
          <p:nvPr/>
        </p:nvSpPr>
        <p:spPr>
          <a:xfrm>
            <a:off x="7360920" y="2743200"/>
            <a:ext cx="4069080" cy="33832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Multilevel queue:</a:t>
            </a:r>
            <a:r>
              <a:rPr lang="en-US" sz="1400" dirty="0">
                <a:solidFill>
                  <a:srgbClr val="3A464C"/>
                </a:solidFill>
                <a:latin typeface="Calibri" pitchFamily="34" charset="0"/>
                <a:ea typeface="Calibri" pitchFamily="34" charset="-122"/>
                <a:cs typeface="Calibri" pitchFamily="34" charset="-120"/>
              </a:rPr>
              <a:t> a process is assigned to one queue for good (e.g. foreground = RR, background = FCFS).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Multilevel feedback queue (MLFQ):</a:t>
            </a:r>
            <a:r>
              <a:rPr lang="en-US" sz="1400" dirty="0">
                <a:solidFill>
                  <a:srgbClr val="3A464C"/>
                </a:solidFill>
                <a:latin typeface="Calibri" pitchFamily="34" charset="0"/>
                <a:ea typeface="Calibri" pitchFamily="34" charset="-122"/>
                <a:cs typeface="Calibri" pitchFamily="34" charset="-120"/>
              </a:rPr>
              <a:t> processes move between queues according to their behaviour; waiting too long moves a process up (aging).</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most general, and the hardest to tune.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Linux Actually Does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Linux does not use a fixed time quantum. It tries to give every runnable task a fair share of the CPU.</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19</a:t>
            </a:r>
            <a:endParaRPr lang="en-US" sz="900" dirty="0"/>
          </a:p>
        </p:txBody>
      </p:sp>
      <p:sp>
        <p:nvSpPr>
          <p:cNvPr id="7" name="Shape 5"/>
          <p:cNvSpPr/>
          <p:nvPr/>
        </p:nvSpPr>
        <p:spPr>
          <a:xfrm>
            <a:off x="548640" y="2103120"/>
            <a:ext cx="57607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53035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Fair scheduling</a:t>
            </a:r>
            <a:endParaRPr lang="en-US" sz="1500" dirty="0"/>
          </a:p>
        </p:txBody>
      </p:sp>
      <p:sp>
        <p:nvSpPr>
          <p:cNvPr id="9" name="Text 7"/>
          <p:cNvSpPr txBox="1"/>
          <p:nvPr/>
        </p:nvSpPr>
        <p:spPr>
          <a:xfrm>
            <a:off x="777240" y="2743200"/>
            <a:ext cx="5303520" cy="33832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CFS</a:t>
            </a:r>
            <a:r>
              <a:rPr lang="en-US" sz="1400" dirty="0">
                <a:solidFill>
                  <a:srgbClr val="3A464C"/>
                </a:solidFill>
                <a:latin typeface="Calibri" pitchFamily="34" charset="0"/>
                <a:ea typeface="Calibri" pitchFamily="34" charset="-122"/>
                <a:cs typeface="Calibri" pitchFamily="34" charset="-120"/>
              </a:rPr>
              <a:t> (Completely Fair Scheduler, 2007–2023): run the task that has received the least weighted CPU time so far.</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EEVDF</a:t>
            </a:r>
            <a:r>
              <a:rPr lang="en-US" sz="1400" dirty="0">
                <a:solidFill>
                  <a:srgbClr val="3A464C"/>
                </a:solidFill>
                <a:latin typeface="Calibri" pitchFamily="34" charset="0"/>
                <a:ea typeface="Calibri" pitchFamily="34" charset="-122"/>
                <a:cs typeface="Calibri" pitchFamily="34" charset="-120"/>
              </a:rPr>
              <a:t> (since kernel 6.6, 2023): same fairness goal, plus virtual deadlines so that latency-sensitive tasks run sooner.</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nice values</a:t>
            </a:r>
            <a:r>
              <a:rPr lang="en-US" sz="1400" dirty="0">
                <a:solidFill>
                  <a:srgbClr val="3A464C"/>
                </a:solidFill>
                <a:latin typeface="Calibri" pitchFamily="34" charset="0"/>
                <a:ea typeface="Calibri" pitchFamily="34" charset="-122"/>
                <a:cs typeface="Calibri" pitchFamily="34" charset="-120"/>
              </a:rPr>
              <a:t> −20 (most CPU) … +19 (least). Each step changes the weight by about 1.25×.</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Real-time classes</a:t>
            </a:r>
            <a:r>
              <a:rPr lang="en-US" sz="1400" dirty="0">
                <a:solidFill>
                  <a:srgbClr val="3A464C"/>
                </a:solidFill>
                <a:latin typeface="Calibri" pitchFamily="34" charset="0"/>
                <a:ea typeface="Calibri" pitchFamily="34" charset="-122"/>
                <a:cs typeface="Calibri" pitchFamily="34" charset="-120"/>
              </a:rPr>
              <a:t> SCHED_FIFO and SCHED_RR always run before normal tasks.</a:t>
            </a:r>
            <a:endParaRPr lang="en-US" sz="1400" dirty="0"/>
          </a:p>
        </p:txBody>
      </p:sp>
      <p:sp>
        <p:nvSpPr>
          <p:cNvPr id="10" name="Shape 8"/>
          <p:cNvSpPr/>
          <p:nvPr/>
        </p:nvSpPr>
        <p:spPr>
          <a:xfrm>
            <a:off x="6583680" y="2103120"/>
            <a:ext cx="5074920" cy="2423160"/>
          </a:xfrm>
          <a:prstGeom prst="roundRect">
            <a:avLst>
              <a:gd name="adj" fmla="val 1887"/>
            </a:avLst>
          </a:prstGeom>
          <a:solidFill>
            <a:srgbClr val="212121"/>
          </a:solidFill>
          <a:ln/>
        </p:spPr>
        <p:txBody>
          <a:bodyPr/>
          <a:p/>
        </p:txBody>
      </p:sp>
      <p:sp>
        <p:nvSpPr>
          <p:cNvPr id="11" name="Text 9"/>
          <p:cNvSpPr txBox="1"/>
          <p:nvPr/>
        </p:nvSpPr>
        <p:spPr>
          <a:xfrm>
            <a:off x="6766560" y="2212848"/>
            <a:ext cx="4709160" cy="220370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taskset -c 1 ./cpu_hog &amp;</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taskset -c 1 nice -n 10 ./cpu_hog &amp;</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sleep 10</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ps -o pid,ni,cls,pcpu,comm -C cpu_hog</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PID  NI CLS %CPU COMMAND</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7150   0  TS 88.0 cpu_hog</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7151  10  TS  9.4 cpu_hog</a:t>
            </a:r>
            <a:endParaRPr lang="en-US" sz="1200" dirty="0"/>
          </a:p>
        </p:txBody>
      </p:sp>
      <p:sp>
        <p:nvSpPr>
          <p:cNvPr id="12" name="Shape 10"/>
          <p:cNvSpPr/>
          <p:nvPr/>
        </p:nvSpPr>
        <p:spPr>
          <a:xfrm>
            <a:off x="6583680" y="4754880"/>
            <a:ext cx="507492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812280" y="4754880"/>
            <a:ext cx="4617720" cy="150876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Two endless loops on ONE CPU. Weights 1024 (nice 0) vs 110 (nice 10) predict 90.3 % : 9.7 %. Measured on our 6.18 kernel: 88.0 : 9.4.</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SUMMARY OF PART 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Same Jobs, Seven Schedules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828800"/>
                <a:gridCol w="1600200"/>
                <a:gridCol w="1965960"/>
                <a:gridCol w="2194560"/>
                <a:gridCol w="2057400"/>
                <a:gridCol w="146304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Algorithm</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Preemptive?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Avg waiting (ms)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Avg turnaround (ms)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Avg response (ms)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Switches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FCFS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4.75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8.75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4.75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SJF</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SRTF</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0.5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Priority (NP)</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9.5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Priority (P)</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RR, q = 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3.25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RR, q = 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SRTF wins every column here — but needs to know the future. RR needs no knowledge and bounds every wait by (n − 1) · q. FCFS is simplest. Priority serves importance, not averages.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what goes wrong when two threads share one variable.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5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Process Synchronisation</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The scheduler may switch threads at any instruction. What if they share data?</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5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counter++ Is Not One Step</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One line of C becomes three machine instructions. This is the real output of gcc -O2 -S for our race.c (x86-64).</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23</a:t>
            </a:r>
            <a:endParaRPr lang="en-US" sz="900" dirty="0"/>
          </a:p>
        </p:txBody>
      </p:sp>
      <p:sp>
        <p:nvSpPr>
          <p:cNvPr id="7" name="Shape 5"/>
          <p:cNvSpPr/>
          <p:nvPr/>
        </p:nvSpPr>
        <p:spPr>
          <a:xfrm>
            <a:off x="548640" y="2103120"/>
            <a:ext cx="5760720" cy="1828800"/>
          </a:xfrm>
          <a:prstGeom prst="roundRect">
            <a:avLst>
              <a:gd name="adj" fmla="val 2500"/>
            </a:avLst>
          </a:prstGeom>
          <a:solidFill>
            <a:srgbClr val="212121"/>
          </a:solidFill>
          <a:ln/>
        </p:spPr>
        <p:txBody>
          <a:bodyPr/>
          <a:p/>
        </p:txBody>
      </p:sp>
      <p:sp>
        <p:nvSpPr>
          <p:cNvPr id="8" name="Text 6"/>
          <p:cNvSpPr txBox="1"/>
          <p:nvPr/>
        </p:nvSpPr>
        <p:spPr>
          <a:xfrm>
            <a:off x="731520" y="2212848"/>
            <a:ext cx="5394960" cy="160934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counter++;          // C source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movq  counter(%rip), %rax   # 1. LOAD</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addq  $1, %rax              # 2. ADD 1</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movq  %rax, counter(%rip)   # 3. STORE</a:t>
            </a:r>
            <a:endParaRPr lang="en-US" sz="1300" dirty="0"/>
          </a:p>
        </p:txBody>
      </p:sp>
      <p:sp>
        <p:nvSpPr>
          <p:cNvPr id="9" name="Shape 7"/>
          <p:cNvSpPr/>
          <p:nvPr/>
        </p:nvSpPr>
        <p:spPr>
          <a:xfrm>
            <a:off x="548640" y="4160520"/>
            <a:ext cx="5760720" cy="210312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4343400"/>
            <a:ext cx="53035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Each thread has its own registers</a:t>
            </a:r>
            <a:endParaRPr lang="en-US" sz="1500" dirty="0"/>
          </a:p>
        </p:txBody>
      </p:sp>
      <p:sp>
        <p:nvSpPr>
          <p:cNvPr id="11" name="Text 9"/>
          <p:cNvSpPr txBox="1"/>
          <p:nvPr/>
        </p:nvSpPr>
        <p:spPr>
          <a:xfrm>
            <a:off x="777240" y="4800600"/>
            <a:ext cx="5303520" cy="13258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counter lives in shared memory; %rax is private to each thread (saved in its thread control block on a switch).</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switch — or another CPU — can strike between any two of the three steps.</a:t>
            </a:r>
            <a:endParaRPr lang="en-US" sz="1400" dirty="0"/>
          </a:p>
        </p:txBody>
      </p:sp>
      <p:sp>
        <p:nvSpPr>
          <p:cNvPr id="12" name="Shape 10"/>
          <p:cNvSpPr/>
          <p:nvPr/>
        </p:nvSpPr>
        <p:spPr>
          <a:xfrm>
            <a:off x="7863840" y="2103120"/>
            <a:ext cx="2468880" cy="822960"/>
          </a:xfrm>
          <a:prstGeom prst="roundRect">
            <a:avLst>
              <a:gd name="adj" fmla="val 5556"/>
            </a:avLst>
          </a:prstGeom>
          <a:solidFill>
            <a:srgbClr val="02C39A"/>
          </a:solidFill>
          <a:ln/>
        </p:spPr>
        <p:txBody>
          <a:bodyPr/>
          <a:p/>
        </p:txBody>
      </p:sp>
      <p:sp>
        <p:nvSpPr>
          <p:cNvPr id="13" name="Text 11"/>
          <p:cNvSpPr txBox="1"/>
          <p:nvPr/>
        </p:nvSpPr>
        <p:spPr>
          <a:xfrm>
            <a:off x="7863840" y="2103120"/>
            <a:ext cx="2468880" cy="82296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counter</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shared memory</a:t>
            </a:r>
            <a:endParaRPr lang="en-US" sz="1600" dirty="0"/>
          </a:p>
        </p:txBody>
      </p:sp>
      <p:sp>
        <p:nvSpPr>
          <p:cNvPr id="14" name="Shape 12"/>
          <p:cNvSpPr/>
          <p:nvPr/>
        </p:nvSpPr>
        <p:spPr>
          <a:xfrm>
            <a:off x="6583680" y="4206240"/>
            <a:ext cx="2103120" cy="822960"/>
          </a:xfrm>
          <a:prstGeom prst="roundRect">
            <a:avLst>
              <a:gd name="adj" fmla="val 5556"/>
            </a:avLst>
          </a:prstGeom>
          <a:solidFill>
            <a:srgbClr val="36454F"/>
          </a:solidFill>
          <a:ln/>
        </p:spPr>
        <p:txBody>
          <a:bodyPr/>
          <a:p/>
        </p:txBody>
      </p:sp>
      <p:sp>
        <p:nvSpPr>
          <p:cNvPr id="15" name="Text 13"/>
          <p:cNvSpPr txBox="1"/>
          <p:nvPr/>
        </p:nvSpPr>
        <p:spPr>
          <a:xfrm>
            <a:off x="6583680" y="4206240"/>
            <a:ext cx="2103120" cy="82296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Thread A</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register %rax</a:t>
            </a:r>
            <a:endParaRPr lang="en-US" sz="1500" dirty="0"/>
          </a:p>
        </p:txBody>
      </p:sp>
      <p:sp>
        <p:nvSpPr>
          <p:cNvPr id="16" name="Shape 14"/>
          <p:cNvSpPr/>
          <p:nvPr/>
        </p:nvSpPr>
        <p:spPr>
          <a:xfrm>
            <a:off x="9555480" y="4206240"/>
            <a:ext cx="2103120" cy="822960"/>
          </a:xfrm>
          <a:prstGeom prst="roundRect">
            <a:avLst>
              <a:gd name="adj" fmla="val 5556"/>
            </a:avLst>
          </a:prstGeom>
          <a:solidFill>
            <a:srgbClr val="50808E"/>
          </a:solidFill>
          <a:ln/>
        </p:spPr>
        <p:txBody>
          <a:bodyPr/>
          <a:p/>
        </p:txBody>
      </p:sp>
      <p:sp>
        <p:nvSpPr>
          <p:cNvPr id="17" name="Text 15"/>
          <p:cNvSpPr txBox="1"/>
          <p:nvPr/>
        </p:nvSpPr>
        <p:spPr>
          <a:xfrm>
            <a:off x="9555480" y="4206240"/>
            <a:ext cx="2103120" cy="82296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Thread B</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register %rax</a:t>
            </a:r>
            <a:endParaRPr lang="en-US" sz="1500" dirty="0"/>
          </a:p>
        </p:txBody>
      </p:sp>
      <p:sp>
        <p:nvSpPr>
          <p:cNvPr id="18" name="Shape 16"/>
          <p:cNvSpPr/>
          <p:nvPr/>
        </p:nvSpPr>
        <p:spPr>
          <a:xfrm flipV="1">
            <a:off x="7635240" y="2953512"/>
            <a:ext cx="777240" cy="1234440"/>
          </a:xfrm>
          <a:prstGeom prst="line">
            <a:avLst/>
          </a:prstGeom>
          <a:noFill/>
          <a:ln w="25400">
            <a:solidFill>
              <a:srgbClr val="50808E"/>
            </a:solidFill>
            <a:prstDash val="solid"/>
            <a:headEnd type="triangle"/>
            <a:tailEnd type="triangle"/>
          </a:ln>
        </p:spPr>
        <p:txBody>
          <a:bodyPr/>
          <a:p/>
        </p:txBody>
      </p:sp>
      <p:sp>
        <p:nvSpPr>
          <p:cNvPr id="19" name="Shape 17"/>
          <p:cNvSpPr/>
          <p:nvPr/>
        </p:nvSpPr>
        <p:spPr>
          <a:xfrm flipH="1" flipV="1">
            <a:off x="9784080" y="2953512"/>
            <a:ext cx="822960" cy="1234440"/>
          </a:xfrm>
          <a:prstGeom prst="line">
            <a:avLst/>
          </a:prstGeom>
          <a:noFill/>
          <a:ln w="25400">
            <a:solidFill>
              <a:srgbClr val="50808E"/>
            </a:solidFill>
            <a:prstDash val="solid"/>
            <a:headEnd type="triangle"/>
            <a:tailEnd type="triangle"/>
          </a:ln>
        </p:spPr>
        <p:txBody>
          <a:bodyPr/>
          <a:p/>
        </p:txBody>
      </p:sp>
      <p:sp>
        <p:nvSpPr>
          <p:cNvPr id="20" name="Text 18"/>
          <p:cNvSpPr txBox="1"/>
          <p:nvPr/>
        </p:nvSpPr>
        <p:spPr>
          <a:xfrm>
            <a:off x="6583680" y="3337560"/>
            <a:ext cx="1280160" cy="320040"/>
          </a:xfrm>
          <a:prstGeom prst="rect">
            <a:avLst/>
          </a:prstGeom>
          <a:noFill/>
          <a:ln/>
        </p:spPr>
        <p:txBody>
          <a:bodyPr wrap="square" lIns="0" tIns="0" rIns="0" bIns="0" rtlCol="0" anchor="t"/>
          <a:lstStyle/>
          <a:p>
            <a:pPr indent="0" marL="0">
              <a:buNone/>
            </a:pPr>
            <a:r>
              <a:rPr lang="en-US" sz="1200" i="1" dirty="0">
                <a:solidFill>
                  <a:srgbClr val="50808E"/>
                </a:solidFill>
                <a:latin typeface="Calibri" pitchFamily="34" charset="0"/>
                <a:ea typeface="Calibri" pitchFamily="34" charset="-122"/>
                <a:cs typeface="Calibri" pitchFamily="34" charset="-120"/>
              </a:rPr>
              <a:t>load / store</a:t>
            </a:r>
            <a:endParaRPr lang="en-US" sz="1200" dirty="0"/>
          </a:p>
        </p:txBody>
      </p:sp>
      <p:sp>
        <p:nvSpPr>
          <p:cNvPr id="21" name="Text 19"/>
          <p:cNvSpPr txBox="1"/>
          <p:nvPr/>
        </p:nvSpPr>
        <p:spPr>
          <a:xfrm>
            <a:off x="10378440" y="3337560"/>
            <a:ext cx="1280160" cy="320040"/>
          </a:xfrm>
          <a:prstGeom prst="rect">
            <a:avLst/>
          </a:prstGeom>
          <a:noFill/>
          <a:ln/>
        </p:spPr>
        <p:txBody>
          <a:bodyPr wrap="square" lIns="0" tIns="0" rIns="0" bIns="0" rtlCol="0" anchor="t"/>
          <a:lstStyle/>
          <a:p>
            <a:pPr algn="r" indent="0" marL="0">
              <a:buNone/>
            </a:pPr>
            <a:r>
              <a:rPr lang="en-US" sz="1200" i="1" dirty="0">
                <a:solidFill>
                  <a:srgbClr val="50808E"/>
                </a:solidFill>
                <a:latin typeface="Calibri" pitchFamily="34" charset="0"/>
                <a:ea typeface="Calibri" pitchFamily="34" charset="-122"/>
                <a:cs typeface="Calibri" pitchFamily="34" charset="-120"/>
              </a:rPr>
              <a:t>load / store</a:t>
            </a:r>
            <a:endParaRPr lang="en-US" sz="1200" dirty="0"/>
          </a:p>
        </p:txBody>
      </p:sp>
      <p:sp>
        <p:nvSpPr>
          <p:cNvPr id="22" name="Shape 20"/>
          <p:cNvSpPr/>
          <p:nvPr/>
        </p:nvSpPr>
        <p:spPr>
          <a:xfrm>
            <a:off x="6583680" y="5349240"/>
            <a:ext cx="5074920" cy="914400"/>
          </a:xfrm>
          <a:prstGeom prst="roundRect">
            <a:avLst>
              <a:gd name="adj" fmla="val 6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6812280" y="5349240"/>
            <a:ext cx="4617720" cy="9144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Two threads, one variable, six instructions that can interleave in many orders.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 LOST UPDATE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One Unlucky Interleaving</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counter starts at 5. Thread A and thread B each execute counter++ once. Correct result: 7.</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09960" cy="914400"/>
        </p:xfrm>
        <a:graphic>
          <a:graphicData uri="http://schemas.openxmlformats.org/drawingml/2006/table">
            <a:tbl>
              <a:tblPr/>
              <a:tblGrid>
                <a:gridCol w="914400"/>
                <a:gridCol w="2377440"/>
                <a:gridCol w="2377440"/>
                <a:gridCol w="1554480"/>
                <a:gridCol w="1554480"/>
                <a:gridCol w="2331720"/>
              </a:tblGrid>
              <a:tr h="0">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Step</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Thread A</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Thread B</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A's %rax</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B's %rax</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counter (memory)</a:t>
                      </a:r>
                      <a:endParaRPr lang="en-US"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load counter</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load counter</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add 1</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add 1</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store</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store</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  ✗ (should be 7)</a:t>
                      </a:r>
                      <a:endParaRPr lang="en-US"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B's store overwrites A's: one increment is lost. Run 10 million times on two CPUs and millions are lost — we will see it live.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DEFINITION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Race Condition</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Several threads access the same data concurrently, at least one writes, and the result depends on the exact order of execution.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25</a:t>
            </a:r>
            <a:endParaRPr lang="en-US"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Bank account</a:t>
            </a:r>
            <a:endParaRPr lang="en-US"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Two ATMs withdraw from one account at the same moment; both read the old balance, and one withdrawal disappears.</a:t>
            </a:r>
            <a:endParaRPr lang="en-US" sz="16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Last seat on a flight</a:t>
            </a:r>
            <a:endParaRPr lang="en-US"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Two booking servers both see '1 seat left' and both sell it.</a:t>
            </a:r>
            <a:endParaRPr lang="en-US" sz="16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Inside the kernel</a:t>
            </a:r>
            <a:endParaRPr lang="en-US"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Two processes call fork() at once; without care both could receive the same new process ID.</a:t>
            </a:r>
            <a:endParaRPr lang="en-US" sz="16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Race conditions are timing bugs: the program can pass a thousand tests and fail on the next run. Prevent them by design, not by testing.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CRITICAL-SECTION PROBLEM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Critical Sections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critical section is the code in which a thread accesses shared data. Design a protocol so that the threads never execute it at the same time.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26</a:t>
            </a:r>
            <a:endParaRPr lang="en-US" sz="900" dirty="0"/>
          </a:p>
        </p:txBody>
      </p:sp>
      <p:sp>
        <p:nvSpPr>
          <p:cNvPr id="7" name="Shape 5"/>
          <p:cNvSpPr/>
          <p:nvPr/>
        </p:nvSpPr>
        <p:spPr>
          <a:xfrm>
            <a:off x="1097280" y="2148840"/>
            <a:ext cx="4754880" cy="777240"/>
          </a:xfrm>
          <a:prstGeom prst="roundRect">
            <a:avLst>
              <a:gd name="adj" fmla="val 5882"/>
            </a:avLst>
          </a:prstGeom>
          <a:solidFill>
            <a:srgbClr val="02C39A"/>
          </a:solidFill>
          <a:ln/>
        </p:spPr>
        <p:txBody>
          <a:bodyPr/>
          <a:p/>
        </p:txBody>
      </p:sp>
      <p:sp>
        <p:nvSpPr>
          <p:cNvPr id="8" name="Text 6"/>
          <p:cNvSpPr txBox="1"/>
          <p:nvPr/>
        </p:nvSpPr>
        <p:spPr>
          <a:xfrm>
            <a:off x="1097280" y="2148840"/>
            <a:ext cx="4754880" cy="77724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entry section</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ask for permission</a:t>
            </a:r>
            <a:endParaRPr lang="en-US" sz="1600" dirty="0"/>
          </a:p>
        </p:txBody>
      </p:sp>
      <p:sp>
        <p:nvSpPr>
          <p:cNvPr id="9" name="Shape 7"/>
          <p:cNvSpPr/>
          <p:nvPr/>
        </p:nvSpPr>
        <p:spPr>
          <a:xfrm>
            <a:off x="1097280" y="3136392"/>
            <a:ext cx="4754880" cy="777240"/>
          </a:xfrm>
          <a:prstGeom prst="roundRect">
            <a:avLst>
              <a:gd name="adj" fmla="val 5882"/>
            </a:avLst>
          </a:prstGeom>
          <a:solidFill>
            <a:srgbClr val="36454F"/>
          </a:solidFill>
          <a:ln/>
        </p:spPr>
        <p:txBody>
          <a:bodyPr/>
          <a:p/>
        </p:txBody>
      </p:sp>
      <p:sp>
        <p:nvSpPr>
          <p:cNvPr id="10" name="Text 8"/>
          <p:cNvSpPr txBox="1"/>
          <p:nvPr/>
        </p:nvSpPr>
        <p:spPr>
          <a:xfrm>
            <a:off x="1097280" y="3136392"/>
            <a:ext cx="475488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critical section</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touch the shared data</a:t>
            </a:r>
            <a:endParaRPr lang="en-US" sz="1600" dirty="0"/>
          </a:p>
        </p:txBody>
      </p:sp>
      <p:sp>
        <p:nvSpPr>
          <p:cNvPr id="11" name="Shape 9"/>
          <p:cNvSpPr/>
          <p:nvPr/>
        </p:nvSpPr>
        <p:spPr>
          <a:xfrm>
            <a:off x="1097280" y="4123944"/>
            <a:ext cx="4754880" cy="777240"/>
          </a:xfrm>
          <a:prstGeom prst="roundRect">
            <a:avLst>
              <a:gd name="adj" fmla="val 5882"/>
            </a:avLst>
          </a:prstGeom>
          <a:solidFill>
            <a:srgbClr val="02C39A"/>
          </a:solidFill>
          <a:ln/>
        </p:spPr>
        <p:txBody>
          <a:bodyPr/>
          <a:p/>
        </p:txBody>
      </p:sp>
      <p:sp>
        <p:nvSpPr>
          <p:cNvPr id="12" name="Text 10"/>
          <p:cNvSpPr txBox="1"/>
          <p:nvPr/>
        </p:nvSpPr>
        <p:spPr>
          <a:xfrm>
            <a:off x="1097280" y="4123944"/>
            <a:ext cx="4754880" cy="77724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exit section</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announce: I am done</a:t>
            </a:r>
            <a:endParaRPr lang="en-US" sz="1600" dirty="0"/>
          </a:p>
        </p:txBody>
      </p:sp>
      <p:sp>
        <p:nvSpPr>
          <p:cNvPr id="13" name="Shape 11"/>
          <p:cNvSpPr/>
          <p:nvPr/>
        </p:nvSpPr>
        <p:spPr>
          <a:xfrm>
            <a:off x="1097280" y="5111496"/>
            <a:ext cx="4754880" cy="777240"/>
          </a:xfrm>
          <a:prstGeom prst="roundRect">
            <a:avLst>
              <a:gd name="adj" fmla="val 5882"/>
            </a:avLst>
          </a:prstGeom>
          <a:solidFill>
            <a:srgbClr val="F2F2F2"/>
          </a:solidFill>
          <a:ln/>
        </p:spPr>
        <p:txBody>
          <a:bodyPr/>
          <a:p/>
        </p:txBody>
      </p:sp>
      <p:sp>
        <p:nvSpPr>
          <p:cNvPr id="14" name="Text 12"/>
          <p:cNvSpPr txBox="1"/>
          <p:nvPr/>
        </p:nvSpPr>
        <p:spPr>
          <a:xfrm>
            <a:off x="1097280" y="5111496"/>
            <a:ext cx="4754880" cy="777240"/>
          </a:xfrm>
          <a:prstGeom prst="rect">
            <a:avLst/>
          </a:prstGeom>
          <a:noFill/>
          <a:ln/>
        </p:spPr>
        <p:txBody>
          <a:bodyPr wrap="square" lIns="38100" tIns="38100" rIns="38100" bIns="3810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remainder section</a:t>
            </a:r>
            <a:endParaRPr lang="en-US" sz="1600" dirty="0"/>
          </a:p>
          <a:p>
            <a:pPr algn="ctr" indent="0" marL="0">
              <a:buNone/>
            </a:pPr>
            <a:r>
              <a:rPr lang="en-US" sz="1100" dirty="0">
                <a:solidFill>
                  <a:srgbClr val="36454F"/>
                </a:solidFill>
                <a:latin typeface="Calibri" pitchFamily="34" charset="0"/>
                <a:ea typeface="Calibri" pitchFamily="34" charset="-122"/>
                <a:cs typeface="Calibri" pitchFamily="34" charset="-120"/>
              </a:rPr>
              <a:t>everything else</a:t>
            </a:r>
            <a:endParaRPr lang="en-US" sz="1600" dirty="0"/>
          </a:p>
        </p:txBody>
      </p:sp>
      <p:sp>
        <p:nvSpPr>
          <p:cNvPr id="15" name="Shape 13"/>
          <p:cNvSpPr/>
          <p:nvPr/>
        </p:nvSpPr>
        <p:spPr>
          <a:xfrm>
            <a:off x="777240" y="2532888"/>
            <a:ext cx="0" cy="2962656"/>
          </a:xfrm>
          <a:prstGeom prst="line">
            <a:avLst/>
          </a:prstGeom>
          <a:noFill/>
          <a:ln w="25400">
            <a:solidFill>
              <a:srgbClr val="50808E"/>
            </a:solidFill>
            <a:prstDash val="solid"/>
          </a:ln>
        </p:spPr>
        <p:txBody>
          <a:bodyPr/>
          <a:p/>
        </p:txBody>
      </p:sp>
      <p:sp>
        <p:nvSpPr>
          <p:cNvPr id="16" name="Shape 14"/>
          <p:cNvSpPr/>
          <p:nvPr/>
        </p:nvSpPr>
        <p:spPr>
          <a:xfrm>
            <a:off x="777240" y="5495544"/>
            <a:ext cx="301752" cy="0"/>
          </a:xfrm>
          <a:prstGeom prst="line">
            <a:avLst/>
          </a:prstGeom>
          <a:noFill/>
          <a:ln w="25400">
            <a:solidFill>
              <a:srgbClr val="50808E"/>
            </a:solidFill>
            <a:prstDash val="solid"/>
          </a:ln>
        </p:spPr>
        <p:txBody>
          <a:bodyPr/>
          <a:p/>
        </p:txBody>
      </p:sp>
      <p:sp>
        <p:nvSpPr>
          <p:cNvPr id="17" name="Shape 15"/>
          <p:cNvSpPr/>
          <p:nvPr/>
        </p:nvSpPr>
        <p:spPr>
          <a:xfrm>
            <a:off x="777240" y="2532888"/>
            <a:ext cx="292608" cy="91"/>
          </a:xfrm>
          <a:prstGeom prst="line">
            <a:avLst/>
          </a:prstGeom>
          <a:noFill/>
          <a:ln w="25400">
            <a:solidFill>
              <a:srgbClr val="50808E"/>
            </a:solidFill>
            <a:prstDash val="solid"/>
            <a:tailEnd type="triangle"/>
          </a:ln>
        </p:spPr>
        <p:txBody>
          <a:bodyPr/>
          <a:p/>
        </p:txBody>
      </p:sp>
      <p:sp>
        <p:nvSpPr>
          <p:cNvPr id="18" name="Text 16"/>
          <p:cNvSpPr txBox="1"/>
          <p:nvPr/>
        </p:nvSpPr>
        <p:spPr>
          <a:xfrm>
            <a:off x="45720" y="3840480"/>
            <a:ext cx="685800" cy="274320"/>
          </a:xfrm>
          <a:prstGeom prst="rect">
            <a:avLst/>
          </a:prstGeom>
          <a:noFill/>
          <a:ln/>
        </p:spPr>
        <p:txBody>
          <a:bodyPr wrap="square" lIns="0" tIns="0" rIns="0" bIns="0" rtlCol="0" anchor="t"/>
          <a:lstStyle/>
          <a:p>
            <a:pPr indent="0" marL="0">
              <a:buNone/>
            </a:pPr>
            <a:r>
              <a:rPr lang="en-US" sz="1200" i="1" dirty="0">
                <a:solidFill>
                  <a:srgbClr val="50808E"/>
                </a:solidFill>
                <a:latin typeface="Calibri" pitchFamily="34" charset="0"/>
                <a:ea typeface="Calibri" pitchFamily="34" charset="-122"/>
                <a:cs typeface="Calibri" pitchFamily="34" charset="-120"/>
              </a:rPr>
              <a:t>repeat</a:t>
            </a:r>
            <a:endParaRPr lang="en-US" sz="1200" dirty="0"/>
          </a:p>
        </p:txBody>
      </p:sp>
      <p:sp>
        <p:nvSpPr>
          <p:cNvPr id="19" name="Shape 17"/>
          <p:cNvSpPr/>
          <p:nvPr/>
        </p:nvSpPr>
        <p:spPr>
          <a:xfrm>
            <a:off x="6217920" y="2148840"/>
            <a:ext cx="5440680" cy="2377440"/>
          </a:xfrm>
          <a:prstGeom prst="roundRect">
            <a:avLst>
              <a:gd name="adj" fmla="val 1923"/>
            </a:avLst>
          </a:prstGeom>
          <a:solidFill>
            <a:srgbClr val="212121"/>
          </a:solidFill>
          <a:ln/>
        </p:spPr>
        <p:txBody>
          <a:bodyPr/>
          <a:p/>
        </p:txBody>
      </p:sp>
      <p:sp>
        <p:nvSpPr>
          <p:cNvPr id="20" name="Text 18"/>
          <p:cNvSpPr txBox="1"/>
          <p:nvPr/>
        </p:nvSpPr>
        <p:spPr>
          <a:xfrm>
            <a:off x="6400800" y="2258568"/>
            <a:ext cx="5074920" cy="215798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while (true) {</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 entry section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counter++;   // critical section</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 exit section      */</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 remainder section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t>
            </a:r>
            <a:endParaRPr lang="en-US" sz="1400" dirty="0"/>
          </a:p>
        </p:txBody>
      </p:sp>
      <p:sp>
        <p:nvSpPr>
          <p:cNvPr id="21" name="Shape 19"/>
          <p:cNvSpPr/>
          <p:nvPr/>
        </p:nvSpPr>
        <p:spPr>
          <a:xfrm>
            <a:off x="6217920" y="4754880"/>
            <a:ext cx="544068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6446520" y="4754880"/>
            <a:ext cx="4983480" cy="15087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entry and exit sections are what we must design. Everything that follows today — Peterson, atomic instructions, mutexes, semaphores — is a way to build them.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CRITICAL-SECTION PROBLEM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Three Requirements for a Correct Solution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27</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1. Mutual exclusion</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At most one thread is inside its critical section at any time.</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This is the safety property: the lost update becomes impossible.</a:t>
            </a:r>
            <a:endParaRPr lang="en-US" sz="16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2. Progress</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If the critical section is free and some threads want to enter, one of them must be allowed in soon.</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Threads in their remainder section have no veto.</a:t>
            </a:r>
            <a:endParaRPr lang="en-US" sz="16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3. Bounded waiting</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After a thread asks to enter, other threads can enter ahead of it only a limited number of times.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No starvation — compare aging in Part 1.</a:t>
            </a:r>
            <a:endParaRPr lang="en-US" sz="16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We assume each thread runs at some non-zero speed, but make no assumption about the relative speed of the threads or the number of CPUs.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FIRST IDEA</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Not Just Disable Interrupts?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On one CPU, a thread is switched out only by an interrupt. No interrupts during the critical section → no switch → no race.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28</a:t>
            </a:r>
            <a:endParaRPr lang="en-US"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Where it works</a:t>
            </a:r>
            <a:endParaRPr lang="en-US" sz="17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 single-CPU system, inside the kernel.</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Very short critical sections (a few instructions).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Early UNIX kernels and small embedded systems used it.</a:t>
            </a:r>
            <a:endParaRPr lang="en-US" sz="16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700" b="1" dirty="0">
                <a:solidFill>
                  <a:srgbClr val="B5453A"/>
                </a:solidFill>
                <a:latin typeface="Cambria" pitchFamily="34" charset="0"/>
                <a:ea typeface="Cambria" pitchFamily="34" charset="-122"/>
                <a:cs typeface="Cambria" pitchFamily="34" charset="-120"/>
              </a:rPr>
              <a:t>Why it does not scale</a:t>
            </a:r>
            <a:endParaRPr lang="en-US" sz="17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Multiprocessors: the other CPUs keep running and can still touch the data.</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Disabling interrupts on all CPUs takes time and stalls the whole machine.</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Privileged instruction: user programs cannot do it (and must not!).</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Long critical sections delay the clock and I/O devices.</a:t>
            </a:r>
            <a:endParaRPr lang="en-US" sz="16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Modern systems use atomic hardware instructions instead — they work across CPUs and need no special privileges.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SOFTWARE SOLUTION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Peterson's Solution (Two Threads)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29</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int  turn;          // whose turn is it to wait?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bool flag[2];       // flag[i]: thread i wants to enter</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code for thread i;  j = 1 - i is the other one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while (true)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flag[i] = true;          // I want to enter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turn = j;                // ... but you may go first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while (flag[j] &amp;&amp; turn == j)</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 busy wait</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 critical section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flag[i] = false;         // I am done</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 remainder section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t>
            </a:r>
            <a:endParaRPr lang="en-US"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it works</a:t>
            </a:r>
            <a:endParaRPr lang="en-US"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Each thread politely gives the turn to the other.</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If both want in, turn holds only one value — the thread that wrote it last waits.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Satisfies all three requirements (proof in the notes).</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But:</a:t>
            </a:r>
            <a:r>
              <a:rPr lang="en-US" sz="1500" dirty="0">
                <a:solidFill>
                  <a:srgbClr val="3A464C"/>
                </a:solidFill>
                <a:latin typeface="Calibri" pitchFamily="34" charset="0"/>
                <a:ea typeface="Calibri" pitchFamily="34" charset="-122"/>
                <a:cs typeface="Calibri" pitchFamily="34" charset="-120"/>
              </a:rPr>
              <a:t> modern CPUs and compilers reorder memory accesses, so it can fail on real hardware without memory barriers. Learn it as the idea.</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HARDWARE SUPPORT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Atomic Instructions: test_and_set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30</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what the hardware does in ONE indivisible step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bool test_and_set(bool *target)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bool old = *target;</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*target = true;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return old;</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bool lock = false;            // shared, false = free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while (true)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while (test_and_set(&amp;lock))</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 spin until it was free</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 critical section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lock = false;             // release</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 remainder section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t>
            </a:r>
            <a:endParaRPr lang="en-US"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idea</a:t>
            </a:r>
            <a:endParaRPr lang="en-US"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Read the old value and write true — as one atomic step: no other CPU can sneak in between.</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Returned false → the lock was free and is now mine.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Returned true → someone else holds it; try again.</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Real instructions: x86 xchg and lock cmpxchg (compare-and-swap); ARM ldxr/stxr.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SYNCHRONISATION TOOLS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Mutex Locks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Programmers do not use test_and_set directly. The OS and libraries wrap it in a lock with two operations.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31</a:t>
            </a:r>
            <a:endParaRPr lang="en-US" sz="900" dirty="0"/>
          </a:p>
        </p:txBody>
      </p:sp>
      <p:sp>
        <p:nvSpPr>
          <p:cNvPr id="7" name="Shape 5"/>
          <p:cNvSpPr/>
          <p:nvPr/>
        </p:nvSpPr>
        <p:spPr>
          <a:xfrm>
            <a:off x="548640" y="2103120"/>
            <a:ext cx="5120640" cy="4160520"/>
          </a:xfrm>
          <a:prstGeom prst="roundRect">
            <a:avLst>
              <a:gd name="adj" fmla="val 1099"/>
            </a:avLst>
          </a:prstGeom>
          <a:solidFill>
            <a:srgbClr val="212121"/>
          </a:solidFill>
          <a:ln/>
        </p:spPr>
        <p:txBody>
          <a:bodyPr/>
          <a:p/>
        </p:txBody>
      </p:sp>
      <p:sp>
        <p:nvSpPr>
          <p:cNvPr id="8" name="Text 6"/>
          <p:cNvSpPr txBox="1"/>
          <p:nvPr/>
        </p:nvSpPr>
        <p:spPr>
          <a:xfrm>
            <a:off x="731520" y="2212848"/>
            <a:ext cx="4754880" cy="394106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acquire(&amp;m);        // wait until free,</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 then take it</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 critical section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release(&amp;m);        // give it back</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POSIX threads (Linux, macOS)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pthread_mutex_lock(&amp;m);</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counter++;</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pthread_mutex_unlock(&amp;m);</a:t>
            </a:r>
            <a:endParaRPr lang="en-US" sz="1400" dirty="0"/>
          </a:p>
        </p:txBody>
      </p:sp>
      <p:sp>
        <p:nvSpPr>
          <p:cNvPr id="9" name="Shape 7"/>
          <p:cNvSpPr/>
          <p:nvPr/>
        </p:nvSpPr>
        <p:spPr>
          <a:xfrm>
            <a:off x="5943600" y="2103120"/>
            <a:ext cx="571500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172200" y="2286000"/>
            <a:ext cx="5257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Spinlock: busy waiting</a:t>
            </a:r>
            <a:endParaRPr lang="en-US" sz="1500" dirty="0"/>
          </a:p>
        </p:txBody>
      </p:sp>
      <p:sp>
        <p:nvSpPr>
          <p:cNvPr id="11" name="Text 9"/>
          <p:cNvSpPr txBox="1"/>
          <p:nvPr/>
        </p:nvSpPr>
        <p:spPr>
          <a:xfrm>
            <a:off x="6172200" y="2743200"/>
            <a:ext cx="5257800" cy="118872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waiting thread loops, burning CPU, until the lock is free.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Good for very short critical sections on a multiprocessor: no context switch needed.</a:t>
            </a:r>
            <a:endParaRPr lang="en-US" sz="1400" dirty="0"/>
          </a:p>
        </p:txBody>
      </p:sp>
      <p:sp>
        <p:nvSpPr>
          <p:cNvPr id="12" name="Shape 10"/>
          <p:cNvSpPr/>
          <p:nvPr/>
        </p:nvSpPr>
        <p:spPr>
          <a:xfrm>
            <a:off x="5943600" y="4297680"/>
            <a:ext cx="571500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172200" y="4480560"/>
            <a:ext cx="5257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Sleeping lock</a:t>
            </a:r>
            <a:endParaRPr lang="en-US" sz="1500" dirty="0"/>
          </a:p>
        </p:txBody>
      </p:sp>
      <p:sp>
        <p:nvSpPr>
          <p:cNvPr id="14" name="Text 12"/>
          <p:cNvSpPr txBox="1"/>
          <p:nvPr/>
        </p:nvSpPr>
        <p:spPr>
          <a:xfrm>
            <a:off x="6172200" y="4937760"/>
            <a:ext cx="5257800" cy="118872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waiting thread is blocked and the CPU runs someone else; release wakes it up.</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Better for long sections. Linux pthread mutexes use futexes: no system call while the lock is free.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SYNCHRONISATION TOOLS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Semaphores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Dijkstra (1965): an integer S that is changed only by two atomic operations.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32</a:t>
            </a:r>
            <a:endParaRPr lang="en-US" sz="900" dirty="0"/>
          </a:p>
        </p:txBody>
      </p:sp>
      <p:sp>
        <p:nvSpPr>
          <p:cNvPr id="7" name="Shape 5"/>
          <p:cNvSpPr/>
          <p:nvPr/>
        </p:nvSpPr>
        <p:spPr>
          <a:xfrm>
            <a:off x="548640" y="2103120"/>
            <a:ext cx="5120640" cy="2743200"/>
          </a:xfrm>
          <a:prstGeom prst="roundRect">
            <a:avLst>
              <a:gd name="adj" fmla="val 1667"/>
            </a:avLst>
          </a:prstGeom>
          <a:solidFill>
            <a:srgbClr val="212121"/>
          </a:solidFill>
          <a:ln/>
        </p:spPr>
        <p:txBody>
          <a:bodyPr/>
          <a:p/>
        </p:txBody>
      </p:sp>
      <p:sp>
        <p:nvSpPr>
          <p:cNvPr id="8" name="Text 6"/>
          <p:cNvSpPr txBox="1"/>
          <p:nvPr/>
        </p:nvSpPr>
        <p:spPr>
          <a:xfrm>
            <a:off x="731520" y="2212848"/>
            <a:ext cx="4754880" cy="252374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wait(S) {          // also called P()</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while (S &lt;= 0)</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          // (or: block)</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signal(S) {        // also called V()</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S++;           // (and wake a waiter)</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t>
            </a:r>
            <a:endParaRPr lang="en-US" sz="1400" dirty="0"/>
          </a:p>
        </p:txBody>
      </p:sp>
      <p:sp>
        <p:nvSpPr>
          <p:cNvPr id="9" name="Text 7"/>
          <p:cNvSpPr txBox="1"/>
          <p:nvPr/>
        </p:nvSpPr>
        <p:spPr>
          <a:xfrm>
            <a:off x="548640" y="4983480"/>
            <a:ext cx="5120640" cy="73152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P and V come from the Dutch proberen (to test) and verhogen (to increase). In POSIX: sem_wait() and sem_post().</a:t>
            </a:r>
            <a:endParaRPr lang="en-US" sz="1300" dirty="0"/>
          </a:p>
        </p:txBody>
      </p:sp>
      <p:sp>
        <p:nvSpPr>
          <p:cNvPr id="10" name="Shape 8"/>
          <p:cNvSpPr/>
          <p:nvPr/>
        </p:nvSpPr>
        <p:spPr>
          <a:xfrm>
            <a:off x="5943600" y="2103120"/>
            <a:ext cx="571500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172200" y="2286000"/>
            <a:ext cx="5257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Binary semaphore (0 or 1)</a:t>
            </a:r>
            <a:endParaRPr lang="en-US" sz="1500" dirty="0"/>
          </a:p>
        </p:txBody>
      </p:sp>
      <p:sp>
        <p:nvSpPr>
          <p:cNvPr id="12" name="Text 10"/>
          <p:cNvSpPr txBox="1"/>
          <p:nvPr/>
        </p:nvSpPr>
        <p:spPr>
          <a:xfrm>
            <a:off x="6172200" y="2743200"/>
            <a:ext cx="5257800" cy="11430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Start at 1: behaves like a mutex lock.</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Start at 0: forces an order — S2 in thread B runs only after thread A signals the end of S1.</a:t>
            </a:r>
            <a:endParaRPr lang="en-US" sz="1400" dirty="0"/>
          </a:p>
        </p:txBody>
      </p:sp>
      <p:sp>
        <p:nvSpPr>
          <p:cNvPr id="13" name="Shape 11"/>
          <p:cNvSpPr/>
          <p:nvPr/>
        </p:nvSpPr>
        <p:spPr>
          <a:xfrm>
            <a:off x="5943600" y="4251960"/>
            <a:ext cx="5715000" cy="2011680"/>
          </a:xfrm>
          <a:prstGeom prst="roundRect">
            <a:avLst>
              <a:gd name="adj" fmla="val 272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6172200" y="4434840"/>
            <a:ext cx="5257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Counting semaphore (0 … N)</a:t>
            </a:r>
            <a:endParaRPr lang="en-US" sz="1500" dirty="0"/>
          </a:p>
        </p:txBody>
      </p:sp>
      <p:sp>
        <p:nvSpPr>
          <p:cNvPr id="15" name="Text 13"/>
          <p:cNvSpPr txBox="1"/>
          <p:nvPr/>
        </p:nvSpPr>
        <p:spPr>
          <a:xfrm>
            <a:off x="6172200" y="4892040"/>
            <a:ext cx="5257800" cy="1234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Start at N = number of identical resources, e.g. 3 printers.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Each user waits (S−−) before and signals (S++) after; the 4th user blocks until a printer is free.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CLASSIC PROBLEM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Bounded Buffer: Producer and Consumer</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producer puts items into a buffer of n slots; a consumer takes them out. Three semaphores coordinate them.</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33</a:t>
            </a:r>
            <a:endParaRPr lang="en-US" sz="900" dirty="0"/>
          </a:p>
        </p:txBody>
      </p:sp>
      <p:sp>
        <p:nvSpPr>
          <p:cNvPr id="7" name="Shape 5"/>
          <p:cNvSpPr/>
          <p:nvPr/>
        </p:nvSpPr>
        <p:spPr>
          <a:xfrm>
            <a:off x="1965960" y="2331720"/>
            <a:ext cx="585216" cy="640080"/>
          </a:xfrm>
          <a:prstGeom prst="roundRect">
            <a:avLst>
              <a:gd name="adj" fmla="val 7813"/>
            </a:avLst>
          </a:prstGeom>
          <a:solidFill>
            <a:srgbClr val="02C39A"/>
          </a:solidFill>
          <a:ln/>
        </p:spPr>
        <p:txBody>
          <a:bodyPr/>
          <a:p/>
        </p:txBody>
      </p:sp>
      <p:sp>
        <p:nvSpPr>
          <p:cNvPr id="8" name="Text 6"/>
          <p:cNvSpPr txBox="1"/>
          <p:nvPr/>
        </p:nvSpPr>
        <p:spPr>
          <a:xfrm>
            <a:off x="1965960" y="2331720"/>
            <a:ext cx="585216" cy="640080"/>
          </a:xfrm>
          <a:prstGeom prst="rect">
            <a:avLst/>
          </a:prstGeom>
          <a:noFill/>
          <a:ln/>
        </p:spPr>
        <p:txBody>
          <a:bodyPr wrap="square" lIns="38100" tIns="38100" rIns="38100" bIns="3810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item</a:t>
            </a:r>
            <a:endParaRPr lang="en-US" sz="1100" dirty="0"/>
          </a:p>
        </p:txBody>
      </p:sp>
      <p:sp>
        <p:nvSpPr>
          <p:cNvPr id="9" name="Shape 7"/>
          <p:cNvSpPr/>
          <p:nvPr/>
        </p:nvSpPr>
        <p:spPr>
          <a:xfrm>
            <a:off x="2624328" y="2331720"/>
            <a:ext cx="585216" cy="640080"/>
          </a:xfrm>
          <a:prstGeom prst="roundRect">
            <a:avLst>
              <a:gd name="adj" fmla="val 7813"/>
            </a:avLst>
          </a:prstGeom>
          <a:solidFill>
            <a:srgbClr val="02C39A"/>
          </a:solidFill>
          <a:ln/>
        </p:spPr>
        <p:txBody>
          <a:bodyPr/>
          <a:p/>
        </p:txBody>
      </p:sp>
      <p:sp>
        <p:nvSpPr>
          <p:cNvPr id="10" name="Text 8"/>
          <p:cNvSpPr txBox="1"/>
          <p:nvPr/>
        </p:nvSpPr>
        <p:spPr>
          <a:xfrm>
            <a:off x="2624328" y="2331720"/>
            <a:ext cx="585216" cy="640080"/>
          </a:xfrm>
          <a:prstGeom prst="rect">
            <a:avLst/>
          </a:prstGeom>
          <a:noFill/>
          <a:ln/>
        </p:spPr>
        <p:txBody>
          <a:bodyPr wrap="square" lIns="38100" tIns="38100" rIns="38100" bIns="3810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item</a:t>
            </a:r>
            <a:endParaRPr lang="en-US" sz="1100" dirty="0"/>
          </a:p>
        </p:txBody>
      </p:sp>
      <p:sp>
        <p:nvSpPr>
          <p:cNvPr id="11" name="Shape 9"/>
          <p:cNvSpPr/>
          <p:nvPr/>
        </p:nvSpPr>
        <p:spPr>
          <a:xfrm>
            <a:off x="3282696" y="2331720"/>
            <a:ext cx="585216" cy="640080"/>
          </a:xfrm>
          <a:prstGeom prst="roundRect">
            <a:avLst>
              <a:gd name="adj" fmla="val 7813"/>
            </a:avLst>
          </a:prstGeom>
          <a:solidFill>
            <a:srgbClr val="02C39A"/>
          </a:solidFill>
          <a:ln/>
        </p:spPr>
        <p:txBody>
          <a:bodyPr/>
          <a:p/>
        </p:txBody>
      </p:sp>
      <p:sp>
        <p:nvSpPr>
          <p:cNvPr id="12" name="Text 10"/>
          <p:cNvSpPr txBox="1"/>
          <p:nvPr/>
        </p:nvSpPr>
        <p:spPr>
          <a:xfrm>
            <a:off x="3282696" y="2331720"/>
            <a:ext cx="585216" cy="640080"/>
          </a:xfrm>
          <a:prstGeom prst="rect">
            <a:avLst/>
          </a:prstGeom>
          <a:noFill/>
          <a:ln/>
        </p:spPr>
        <p:txBody>
          <a:bodyPr wrap="square" lIns="38100" tIns="38100" rIns="38100" bIns="3810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item</a:t>
            </a:r>
            <a:endParaRPr lang="en-US" sz="1100" dirty="0"/>
          </a:p>
        </p:txBody>
      </p:sp>
      <p:sp>
        <p:nvSpPr>
          <p:cNvPr id="13" name="Shape 11"/>
          <p:cNvSpPr/>
          <p:nvPr/>
        </p:nvSpPr>
        <p:spPr>
          <a:xfrm>
            <a:off x="3941064" y="2331720"/>
            <a:ext cx="585216" cy="640080"/>
          </a:xfrm>
          <a:prstGeom prst="roundRect">
            <a:avLst>
              <a:gd name="adj" fmla="val 7813"/>
            </a:avLst>
          </a:prstGeom>
          <a:solidFill>
            <a:srgbClr val="F2F2F2"/>
          </a:solidFill>
          <a:ln/>
        </p:spPr>
        <p:txBody>
          <a:bodyPr/>
          <a:p/>
        </p:txBody>
      </p:sp>
      <p:sp>
        <p:nvSpPr>
          <p:cNvPr id="14" name="Text 12"/>
          <p:cNvSpPr txBox="1"/>
          <p:nvPr/>
        </p:nvSpPr>
        <p:spPr>
          <a:xfrm>
            <a:off x="3941064" y="2331720"/>
            <a:ext cx="585216" cy="640080"/>
          </a:xfrm>
          <a:prstGeom prst="rect">
            <a:avLst/>
          </a:prstGeom>
          <a:noFill/>
          <a:ln/>
        </p:spPr>
        <p:txBody>
          <a:bodyPr wrap="square" lIns="38100" tIns="38100" rIns="38100" bIns="38100" rtlCol="0" anchor="ctr"/>
          <a:lstStyle/>
          <a:p>
            <a:pPr algn="ctr" indent="0" marL="0">
              <a:buNone/>
            </a:pPr>
            <a:endParaRPr lang="en-US" sz="1100" dirty="0"/>
          </a:p>
        </p:txBody>
      </p:sp>
      <p:sp>
        <p:nvSpPr>
          <p:cNvPr id="15" name="Shape 13"/>
          <p:cNvSpPr/>
          <p:nvPr/>
        </p:nvSpPr>
        <p:spPr>
          <a:xfrm>
            <a:off x="4599432" y="2331720"/>
            <a:ext cx="585216" cy="640080"/>
          </a:xfrm>
          <a:prstGeom prst="roundRect">
            <a:avLst>
              <a:gd name="adj" fmla="val 7813"/>
            </a:avLst>
          </a:prstGeom>
          <a:solidFill>
            <a:srgbClr val="F2F2F2"/>
          </a:solidFill>
          <a:ln/>
        </p:spPr>
        <p:txBody>
          <a:bodyPr/>
          <a:p/>
        </p:txBody>
      </p:sp>
      <p:sp>
        <p:nvSpPr>
          <p:cNvPr id="16" name="Text 14"/>
          <p:cNvSpPr txBox="1"/>
          <p:nvPr/>
        </p:nvSpPr>
        <p:spPr>
          <a:xfrm>
            <a:off x="4599432" y="2331720"/>
            <a:ext cx="585216" cy="640080"/>
          </a:xfrm>
          <a:prstGeom prst="rect">
            <a:avLst/>
          </a:prstGeom>
          <a:noFill/>
          <a:ln/>
        </p:spPr>
        <p:txBody>
          <a:bodyPr wrap="square" lIns="38100" tIns="38100" rIns="38100" bIns="38100" rtlCol="0" anchor="ctr"/>
          <a:lstStyle/>
          <a:p>
            <a:pPr algn="ctr" indent="0" marL="0">
              <a:buNone/>
            </a:pPr>
            <a:endParaRPr lang="en-US" sz="1100" dirty="0"/>
          </a:p>
        </p:txBody>
      </p:sp>
      <p:sp>
        <p:nvSpPr>
          <p:cNvPr id="17" name="Shape 15"/>
          <p:cNvSpPr/>
          <p:nvPr/>
        </p:nvSpPr>
        <p:spPr>
          <a:xfrm>
            <a:off x="548640" y="2286000"/>
            <a:ext cx="1143000" cy="731520"/>
          </a:xfrm>
          <a:prstGeom prst="roundRect">
            <a:avLst>
              <a:gd name="adj" fmla="val 6250"/>
            </a:avLst>
          </a:prstGeom>
          <a:solidFill>
            <a:srgbClr val="36454F"/>
          </a:solidFill>
          <a:ln/>
        </p:spPr>
        <p:txBody>
          <a:bodyPr/>
          <a:p/>
        </p:txBody>
      </p:sp>
      <p:sp>
        <p:nvSpPr>
          <p:cNvPr id="18" name="Text 16"/>
          <p:cNvSpPr txBox="1"/>
          <p:nvPr/>
        </p:nvSpPr>
        <p:spPr>
          <a:xfrm>
            <a:off x="548640" y="2286000"/>
            <a:ext cx="1143000" cy="7315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Producer</a:t>
            </a:r>
            <a:endParaRPr lang="en-US" sz="1300" dirty="0"/>
          </a:p>
        </p:txBody>
      </p:sp>
      <p:sp>
        <p:nvSpPr>
          <p:cNvPr id="19" name="Shape 17"/>
          <p:cNvSpPr/>
          <p:nvPr/>
        </p:nvSpPr>
        <p:spPr>
          <a:xfrm>
            <a:off x="5440680" y="2286000"/>
            <a:ext cx="1188720" cy="731520"/>
          </a:xfrm>
          <a:prstGeom prst="roundRect">
            <a:avLst>
              <a:gd name="adj" fmla="val 6250"/>
            </a:avLst>
          </a:prstGeom>
          <a:solidFill>
            <a:srgbClr val="50808E"/>
          </a:solidFill>
          <a:ln/>
        </p:spPr>
        <p:txBody>
          <a:bodyPr/>
          <a:p/>
        </p:txBody>
      </p:sp>
      <p:sp>
        <p:nvSpPr>
          <p:cNvPr id="20" name="Text 18"/>
          <p:cNvSpPr txBox="1"/>
          <p:nvPr/>
        </p:nvSpPr>
        <p:spPr>
          <a:xfrm>
            <a:off x="5440680" y="2286000"/>
            <a:ext cx="1188720" cy="7315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Consumer</a:t>
            </a:r>
            <a:endParaRPr lang="en-US" sz="1300" dirty="0"/>
          </a:p>
        </p:txBody>
      </p:sp>
      <p:sp>
        <p:nvSpPr>
          <p:cNvPr id="21" name="Shape 19"/>
          <p:cNvSpPr/>
          <p:nvPr/>
        </p:nvSpPr>
        <p:spPr>
          <a:xfrm>
            <a:off x="1709928" y="2651760"/>
            <a:ext cx="228600" cy="91"/>
          </a:xfrm>
          <a:prstGeom prst="line">
            <a:avLst/>
          </a:prstGeom>
          <a:noFill/>
          <a:ln w="25400">
            <a:solidFill>
              <a:srgbClr val="50808E"/>
            </a:solidFill>
            <a:prstDash val="solid"/>
            <a:tailEnd type="triangle"/>
          </a:ln>
        </p:spPr>
        <p:txBody>
          <a:bodyPr/>
          <a:p/>
        </p:txBody>
      </p:sp>
      <p:sp>
        <p:nvSpPr>
          <p:cNvPr id="22" name="Shape 20"/>
          <p:cNvSpPr/>
          <p:nvPr/>
        </p:nvSpPr>
        <p:spPr>
          <a:xfrm>
            <a:off x="5212080" y="2651760"/>
            <a:ext cx="210312" cy="91"/>
          </a:xfrm>
          <a:prstGeom prst="line">
            <a:avLst/>
          </a:prstGeom>
          <a:noFill/>
          <a:ln w="25400">
            <a:solidFill>
              <a:srgbClr val="50808E"/>
            </a:solidFill>
            <a:prstDash val="solid"/>
            <a:tailEnd type="triangle"/>
          </a:ln>
        </p:spPr>
        <p:txBody>
          <a:bodyPr/>
          <a:p/>
        </p:txBody>
      </p:sp>
      <p:sp>
        <p:nvSpPr>
          <p:cNvPr id="23" name="Text 21"/>
          <p:cNvSpPr txBox="1"/>
          <p:nvPr/>
        </p:nvSpPr>
        <p:spPr>
          <a:xfrm>
            <a:off x="1828800" y="3017520"/>
            <a:ext cx="3657600" cy="274320"/>
          </a:xfrm>
          <a:prstGeom prst="rect">
            <a:avLst/>
          </a:prstGeom>
          <a:noFill/>
          <a:ln/>
        </p:spPr>
        <p:txBody>
          <a:bodyPr wrap="square" lIns="0" tIns="0" rIns="0" bIns="0" rtlCol="0" anchor="t"/>
          <a:lstStyle/>
          <a:p>
            <a:pPr algn="ctr" indent="0" marL="0">
              <a:buNone/>
            </a:pPr>
            <a:r>
              <a:rPr lang="en-US" sz="1200" i="1" dirty="0">
                <a:solidFill>
                  <a:srgbClr val="6B7679"/>
                </a:solidFill>
                <a:latin typeface="Calibri" pitchFamily="34" charset="0"/>
                <a:ea typeface="Calibri" pitchFamily="34" charset="-122"/>
                <a:cs typeface="Calibri" pitchFamily="34" charset="-120"/>
              </a:rPr>
              <a:t>n = 5 slots: here full = 3, empty = 2</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080760" cy="914400"/>
        </p:xfrm>
        <a:graphic>
          <a:graphicData uri="http://schemas.openxmlformats.org/drawingml/2006/table">
            <a:tbl>
              <a:tblPr/>
              <a:tblGrid>
                <a:gridCol w="1554480"/>
                <a:gridCol w="1554480"/>
                <a:gridCol w="2971800"/>
              </a:tblGrid>
              <a:tr h="0">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Semaphore</a:t>
                      </a:r>
                      <a:endParaRPr lang="en-US"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Initial value</a:t>
                      </a:r>
                      <a:endParaRPr lang="en-US"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Counts</a:t>
                      </a:r>
                      <a:endParaRPr lang="en-US"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empty</a:t>
                      </a:r>
                      <a:endParaRPr lang="en-US"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free slots</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full</a:t>
                      </a:r>
                      <a:endParaRPr lang="en-US"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filled slots</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mutex</a:t>
                      </a:r>
                      <a:endParaRPr lang="en-US"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buffer access lock</a:t>
                      </a:r>
                      <a:endParaRPr lang="en-US"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25" name="Text 22"/>
          <p:cNvSpPr txBox="1"/>
          <p:nvPr/>
        </p:nvSpPr>
        <p:spPr>
          <a:xfrm>
            <a:off x="548640" y="5212080"/>
            <a:ext cx="6080760" cy="640080"/>
          </a:xfrm>
          <a:prstGeom prst="rect">
            <a:avLst/>
          </a:prstGeom>
          <a:noFill/>
          <a:ln/>
        </p:spPr>
        <p:txBody>
          <a:bodyPr wrap="square" lIns="0" tIns="0" rIns="0" bIns="0" rtlCol="0" anchor="t"/>
          <a:lstStyle/>
          <a:p>
            <a:pPr indent="0" marL="0">
              <a:buNone/>
            </a:pPr>
            <a:r>
              <a:rPr lang="en-US" sz="1300" i="1" dirty="0">
                <a:solidFill>
                  <a:srgbClr val="50808E"/>
                </a:solidFill>
                <a:latin typeface="Calibri" pitchFamily="34" charset="0"/>
                <a:ea typeface="Calibri" pitchFamily="34" charset="-122"/>
                <a:cs typeface="Calibri" pitchFamily="34" charset="-120"/>
              </a:rPr>
              <a:t>The producer blocks when empty = 0 (buffer full); the consumer blocks when full = 0 (buffer empty).</a:t>
            </a:r>
            <a:endParaRPr lang="en-US" sz="1300" dirty="0"/>
          </a:p>
        </p:txBody>
      </p:sp>
      <p:sp>
        <p:nvSpPr>
          <p:cNvPr id="26" name="Shape 23"/>
          <p:cNvSpPr/>
          <p:nvPr/>
        </p:nvSpPr>
        <p:spPr>
          <a:xfrm>
            <a:off x="6903720" y="2103120"/>
            <a:ext cx="2331720" cy="2514600"/>
          </a:xfrm>
          <a:prstGeom prst="roundRect">
            <a:avLst>
              <a:gd name="adj" fmla="val 1961"/>
            </a:avLst>
          </a:prstGeom>
          <a:solidFill>
            <a:srgbClr val="212121"/>
          </a:solidFill>
          <a:ln/>
        </p:spPr>
        <p:txBody>
          <a:bodyPr/>
          <a:p/>
        </p:txBody>
      </p:sp>
      <p:sp>
        <p:nvSpPr>
          <p:cNvPr id="27" name="Text 24"/>
          <p:cNvSpPr txBox="1"/>
          <p:nvPr/>
        </p:nvSpPr>
        <p:spPr>
          <a:xfrm>
            <a:off x="7086600" y="2212848"/>
            <a:ext cx="1965960" cy="229514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producer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wait(empty);</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wait(mutex);</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add item</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signal(mutex);</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signal(full);</a:t>
            </a:r>
            <a:endParaRPr lang="en-US" sz="1300" dirty="0"/>
          </a:p>
        </p:txBody>
      </p:sp>
      <p:sp>
        <p:nvSpPr>
          <p:cNvPr id="28" name="Shape 25"/>
          <p:cNvSpPr/>
          <p:nvPr/>
        </p:nvSpPr>
        <p:spPr>
          <a:xfrm>
            <a:off x="9326880" y="2103120"/>
            <a:ext cx="2331720" cy="2514600"/>
          </a:xfrm>
          <a:prstGeom prst="roundRect">
            <a:avLst>
              <a:gd name="adj" fmla="val 1961"/>
            </a:avLst>
          </a:prstGeom>
          <a:solidFill>
            <a:srgbClr val="212121"/>
          </a:solidFill>
          <a:ln/>
        </p:spPr>
        <p:txBody>
          <a:bodyPr/>
          <a:p/>
        </p:txBody>
      </p:sp>
      <p:sp>
        <p:nvSpPr>
          <p:cNvPr id="29" name="Text 26"/>
          <p:cNvSpPr txBox="1"/>
          <p:nvPr/>
        </p:nvSpPr>
        <p:spPr>
          <a:xfrm>
            <a:off x="9509760" y="2212848"/>
            <a:ext cx="1965960" cy="229514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consumer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wait(full);</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wait(mutex);</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remove item</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signal(mutex);</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signal(empty);</a:t>
            </a:r>
            <a:endParaRPr lang="en-US" sz="1300" dirty="0"/>
          </a:p>
        </p:txBody>
      </p:sp>
      <p:sp>
        <p:nvSpPr>
          <p:cNvPr id="30" name="Shape 27"/>
          <p:cNvSpPr/>
          <p:nvPr/>
        </p:nvSpPr>
        <p:spPr>
          <a:xfrm>
            <a:off x="6903720" y="4846320"/>
            <a:ext cx="4754880" cy="1417320"/>
          </a:xfrm>
          <a:prstGeom prst="roundRect">
            <a:avLst>
              <a:gd name="adj" fmla="val 3871"/>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1" name="Text 28"/>
          <p:cNvSpPr txBox="1"/>
          <p:nvPr/>
        </p:nvSpPr>
        <p:spPr>
          <a:xfrm>
            <a:off x="7132320" y="4846320"/>
            <a:ext cx="4297680" cy="14173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Order matters: wait on the counting semaphore first, then on mutex. Swapping them can deadlock (next slide).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 WARNING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Careless Locking Can Deadlock</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Two semaphores S and Q, both initialised to 1. Each thread needs both — but takes them in a different order.</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34</a:t>
            </a:r>
            <a:endParaRPr lang="en-US" sz="900" dirty="0"/>
          </a:p>
        </p:txBody>
      </p:sp>
      <p:sp>
        <p:nvSpPr>
          <p:cNvPr id="7" name="Shape 5"/>
          <p:cNvSpPr/>
          <p:nvPr/>
        </p:nvSpPr>
        <p:spPr>
          <a:xfrm>
            <a:off x="548640" y="2103120"/>
            <a:ext cx="2743200" cy="2103120"/>
          </a:xfrm>
          <a:prstGeom prst="roundRect">
            <a:avLst>
              <a:gd name="adj" fmla="val 2174"/>
            </a:avLst>
          </a:prstGeom>
          <a:solidFill>
            <a:srgbClr val="212121"/>
          </a:solidFill>
          <a:ln/>
        </p:spPr>
        <p:txBody>
          <a:bodyPr/>
          <a:p/>
        </p:txBody>
      </p:sp>
      <p:sp>
        <p:nvSpPr>
          <p:cNvPr id="8" name="Text 6"/>
          <p:cNvSpPr txBox="1"/>
          <p:nvPr/>
        </p:nvSpPr>
        <p:spPr>
          <a:xfrm>
            <a:off x="731520" y="2212848"/>
            <a:ext cx="2377440" cy="188366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thread P0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wait(Q);</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signal(S);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signal(Q);</a:t>
            </a:r>
            <a:endParaRPr lang="en-US" sz="1400" dirty="0"/>
          </a:p>
        </p:txBody>
      </p:sp>
      <p:sp>
        <p:nvSpPr>
          <p:cNvPr id="9" name="Shape 7"/>
          <p:cNvSpPr/>
          <p:nvPr/>
        </p:nvSpPr>
        <p:spPr>
          <a:xfrm>
            <a:off x="3474720" y="2103120"/>
            <a:ext cx="2743200" cy="2103120"/>
          </a:xfrm>
          <a:prstGeom prst="roundRect">
            <a:avLst>
              <a:gd name="adj" fmla="val 2174"/>
            </a:avLst>
          </a:prstGeom>
          <a:solidFill>
            <a:srgbClr val="212121"/>
          </a:solidFill>
          <a:ln/>
        </p:spPr>
        <p:txBody>
          <a:bodyPr/>
          <a:p/>
        </p:txBody>
      </p:sp>
      <p:sp>
        <p:nvSpPr>
          <p:cNvPr id="10" name="Text 8"/>
          <p:cNvSpPr txBox="1"/>
          <p:nvPr/>
        </p:nvSpPr>
        <p:spPr>
          <a:xfrm>
            <a:off x="3657600" y="2212848"/>
            <a:ext cx="2377440" cy="188366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thread P1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wait(Q);</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wait(S);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signal(Q);</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signal(S);</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92240" y="2103120"/>
          <a:ext cx="5166360" cy="914400"/>
        </p:xfrm>
        <a:graphic>
          <a:graphicData uri="http://schemas.openxmlformats.org/drawingml/2006/table">
            <a:tbl>
              <a:tblPr/>
              <a:tblGrid>
                <a:gridCol w="731520"/>
                <a:gridCol w="1691640"/>
                <a:gridCol w="1691640"/>
                <a:gridCol w="502920"/>
                <a:gridCol w="548640"/>
              </a:tblGrid>
              <a:tr h="0">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Time</a:t>
                      </a:r>
                      <a:endParaRPr lang="en-US" sz="13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P0</a:t>
                      </a:r>
                      <a:endParaRPr lang="en-US" sz="13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P1</a:t>
                      </a:r>
                      <a:endParaRPr lang="en-US" sz="13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S</a:t>
                      </a:r>
                      <a:endParaRPr lang="en-US" sz="13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Q</a:t>
                      </a:r>
                      <a:endParaRPr lang="en-US" sz="13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wait(S) ✓</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wait(Q) ✓</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B5453A"/>
                          </a:solidFill>
                          <a:latin typeface="Calibri" pitchFamily="34" charset="0"/>
                          <a:ea typeface="Calibri" pitchFamily="34" charset="-122"/>
                          <a:cs typeface="Calibri" pitchFamily="34" charset="-120"/>
                        </a:rPr>
                        <a:t>wait(Q) blocks</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5453A"/>
                          </a:solidFill>
                          <a:latin typeface="Calibri" pitchFamily="34" charset="0"/>
                          <a:ea typeface="Calibri" pitchFamily="34" charset="-122"/>
                          <a:cs typeface="Calibri" pitchFamily="34" charset="-120"/>
                        </a:rPr>
                        <a:t>wait(S) blocks</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2" name="Shape 9"/>
          <p:cNvSpPr/>
          <p:nvPr/>
        </p:nvSpPr>
        <p:spPr>
          <a:xfrm>
            <a:off x="548640" y="4480560"/>
            <a:ext cx="1110996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0"/>
          <p:cNvSpPr txBox="1"/>
          <p:nvPr/>
        </p:nvSpPr>
        <p:spPr>
          <a:xfrm>
            <a:off x="777240" y="4480560"/>
            <a:ext cx="10652760" cy="178308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Deadlock: each thread waits for an event only the other can cause — both wait forever. Simplest cure: all threads acquire locks in the same global order. The same trap: a producer that takes mutex before empty while the buffer is full. (Deadlock in depth is beyond this course.)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1: A Real Race in C (race.c)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35</a:t>
            </a:r>
            <a:endParaRPr lang="en-US" sz="900" dirty="0"/>
          </a:p>
        </p:txBody>
      </p:sp>
      <p:sp>
        <p:nvSpPr>
          <p:cNvPr id="6" name="Shape 4"/>
          <p:cNvSpPr/>
          <p:nvPr/>
        </p:nvSpPr>
        <p:spPr>
          <a:xfrm>
            <a:off x="548640" y="1508760"/>
            <a:ext cx="5257800" cy="4754880"/>
          </a:xfrm>
          <a:prstGeom prst="roundRect">
            <a:avLst>
              <a:gd name="adj" fmla="val 962"/>
            </a:avLst>
          </a:prstGeom>
          <a:solidFill>
            <a:srgbClr val="212121"/>
          </a:solidFill>
          <a:ln/>
        </p:spPr>
        <p:txBody>
          <a:bodyPr/>
          <a:p/>
        </p:txBody>
      </p:sp>
      <p:sp>
        <p:nvSpPr>
          <p:cNvPr id="7" name="Text 5"/>
          <p:cNvSpPr txBox="1"/>
          <p:nvPr/>
        </p:nvSpPr>
        <p:spPr>
          <a:xfrm>
            <a:off x="731520" y="1618488"/>
            <a:ext cx="4892040" cy="453542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#define N 10000000L            /* per thread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volatile long counter = 0;     /* SHARED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void *worker(void *arg)</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for (long i = 0; i &lt; N; i++)</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counter++;             /* NOT atomic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return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int main(void)</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pthread_t a, b;</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pthread_create(&amp;a, NULL, worker,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pthread_create(&amp;b, NULL, worker,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pthread_join(a,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pthread_join(b,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printf("counter = %8ld of %ld ...\n",</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counter, 2 * N);</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full program: code/race.c */</a:t>
            </a:r>
            <a:endParaRPr lang="en-US" sz="1250" dirty="0"/>
          </a:p>
        </p:txBody>
      </p:sp>
      <p:sp>
        <p:nvSpPr>
          <p:cNvPr id="8" name="Shape 6"/>
          <p:cNvSpPr/>
          <p:nvPr/>
        </p:nvSpPr>
        <p:spPr>
          <a:xfrm>
            <a:off x="6080760" y="1508760"/>
            <a:ext cx="557784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6309360" y="1691640"/>
            <a:ext cx="5120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experiment</a:t>
            </a:r>
            <a:endParaRPr lang="en-US" sz="1500" dirty="0"/>
          </a:p>
        </p:txBody>
      </p:sp>
      <p:sp>
        <p:nvSpPr>
          <p:cNvPr id="10" name="Text 8"/>
          <p:cNvSpPr txBox="1"/>
          <p:nvPr/>
        </p:nvSpPr>
        <p:spPr>
          <a:xfrm>
            <a:off x="6309360" y="2148840"/>
            <a:ext cx="5120640" cy="141732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Two threads, each adds 1 ten million times → should give 20,000,000.</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28–40 % of the updates vanish — even when both threads share ONE CPU.</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Same binary, different answer on every run:</a:t>
            </a:r>
            <a:endParaRPr lang="en-US" sz="1500" dirty="0"/>
          </a:p>
        </p:txBody>
      </p:sp>
      <p:sp>
        <p:nvSpPr>
          <p:cNvPr id="11" name="Shape 9"/>
          <p:cNvSpPr/>
          <p:nvPr/>
        </p:nvSpPr>
        <p:spPr>
          <a:xfrm>
            <a:off x="6080760" y="3931920"/>
            <a:ext cx="5577840" cy="2331720"/>
          </a:xfrm>
          <a:prstGeom prst="roundRect">
            <a:avLst>
              <a:gd name="adj" fmla="val 1961"/>
            </a:avLst>
          </a:prstGeom>
          <a:solidFill>
            <a:srgbClr val="212121"/>
          </a:solidFill>
          <a:ln/>
        </p:spPr>
        <p:txBody>
          <a:bodyPr/>
          <a:p/>
        </p:txBody>
      </p:sp>
      <p:sp>
        <p:nvSpPr>
          <p:cNvPr id="12" name="Text 10"/>
          <p:cNvSpPr txBox="1"/>
          <p:nvPr/>
        </p:nvSpPr>
        <p:spPr>
          <a:xfrm>
            <a:off x="6263640" y="4041648"/>
            <a:ext cx="5212080" cy="211226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./race          # run 4 times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12250428 of 20000000  (lost 7749572)  0.052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12005053 of 20000000  (lost 7994947)  0.100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13797565 of 20000000  (lost 6202435)  0.110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12046532 of 20000000  (lost 7953468)  0.080 s</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taskset -c 0 ./race   # pinned to ONE CPU</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14324099 of 20000000  (lost 5675901)  0.034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12867601 of 20000000  (lost 7132399)  0.034 s</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2: The Fix — and Its Price (race_fixed.c)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36</a:t>
            </a:r>
            <a:endParaRPr lang="en-US" sz="900" dirty="0"/>
          </a:p>
        </p:txBody>
      </p:sp>
      <p:sp>
        <p:nvSpPr>
          <p:cNvPr id="6" name="Shape 4"/>
          <p:cNvSpPr/>
          <p:nvPr/>
        </p:nvSpPr>
        <p:spPr>
          <a:xfrm>
            <a:off x="548640" y="1508760"/>
            <a:ext cx="5257800" cy="4754880"/>
          </a:xfrm>
          <a:prstGeom prst="roundRect">
            <a:avLst>
              <a:gd name="adj" fmla="val 962"/>
            </a:avLst>
          </a:prstGeom>
          <a:solidFill>
            <a:srgbClr val="212121"/>
          </a:solidFill>
          <a:ln/>
        </p:spPr>
        <p:txBody>
          <a:bodyPr/>
          <a:p/>
        </p:txBody>
      </p:sp>
      <p:sp>
        <p:nvSpPr>
          <p:cNvPr id="7" name="Text 5"/>
          <p:cNvSpPr txBox="1"/>
          <p:nvPr/>
        </p:nvSpPr>
        <p:spPr>
          <a:xfrm>
            <a:off x="731520" y="1618488"/>
            <a:ext cx="4892040" cy="453542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long counter = 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pthread_mutex_t lock = PTHREAD_MUTEX_INITIALIZER;</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void *worker(void *arg)</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for (long i = 0; i &lt; N; i++)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pthread_mutex_lock(&amp;lock);    /* entry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counter++;                    /* critical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section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pthread_mutex_unlock(&amp;lock);  /* exit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return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main() unchanged; full program:</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code/race_fixed.c */</a:t>
            </a:r>
            <a:endParaRPr lang="en-US" sz="1250" dirty="0"/>
          </a:p>
        </p:txBody>
      </p:sp>
      <p:sp>
        <p:nvSpPr>
          <p:cNvPr id="8" name="Shape 6"/>
          <p:cNvSpPr/>
          <p:nvPr/>
        </p:nvSpPr>
        <p:spPr>
          <a:xfrm>
            <a:off x="6080760" y="1508760"/>
            <a:ext cx="557784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6309360" y="1691640"/>
            <a:ext cx="5120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Correct, but slower</a:t>
            </a:r>
            <a:endParaRPr lang="en-US" sz="1500" dirty="0"/>
          </a:p>
        </p:txBody>
      </p:sp>
      <p:sp>
        <p:nvSpPr>
          <p:cNvPr id="10" name="Text 8"/>
          <p:cNvSpPr txBox="1"/>
          <p:nvPr/>
        </p:nvSpPr>
        <p:spPr>
          <a:xfrm>
            <a:off x="6309360" y="2148840"/>
            <a:ext cx="5120640" cy="219456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Always exactly 20,000,000.</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Unlocked (wrong): 0.05–0.11 s. Locked (right): 0.75–1.12 s — about 10–20× slower.</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Why? 20 million lock/unlock pairs, and the two CPUs fight over the lock.</a:t>
            </a:r>
            <a:endParaRPr lang="en-US" sz="1500" dirty="0"/>
          </a:p>
        </p:txBody>
      </p:sp>
      <p:sp>
        <p:nvSpPr>
          <p:cNvPr id="11" name="Shape 9"/>
          <p:cNvSpPr/>
          <p:nvPr/>
        </p:nvSpPr>
        <p:spPr>
          <a:xfrm>
            <a:off x="6080760" y="4709160"/>
            <a:ext cx="5577840" cy="1554480"/>
          </a:xfrm>
          <a:prstGeom prst="roundRect">
            <a:avLst>
              <a:gd name="adj" fmla="val 2941"/>
            </a:avLst>
          </a:prstGeom>
          <a:solidFill>
            <a:srgbClr val="212121"/>
          </a:solidFill>
          <a:ln/>
        </p:spPr>
        <p:txBody>
          <a:bodyPr/>
          <a:p/>
        </p:txBody>
      </p:sp>
      <p:sp>
        <p:nvSpPr>
          <p:cNvPr id="12" name="Text 10"/>
          <p:cNvSpPr txBox="1"/>
          <p:nvPr/>
        </p:nvSpPr>
        <p:spPr>
          <a:xfrm>
            <a:off x="6263640" y="4818888"/>
            <a:ext cx="5212080" cy="133502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./race_fixed    # run 3 times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20000000 of 20000000  (lost       0)  1.122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20000000 of 20000000  (lost       0)  1.115 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counter = 20000000 of 20000000  (lost       0)  0.749 s</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3: Producer–Consumer with POSIX Semaphores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37</a:t>
            </a:r>
            <a:endParaRPr lang="en-US" sz="900" dirty="0"/>
          </a:p>
        </p:txBody>
      </p:sp>
      <p:sp>
        <p:nvSpPr>
          <p:cNvPr id="6" name="Shape 4"/>
          <p:cNvSpPr/>
          <p:nvPr/>
        </p:nvSpPr>
        <p:spPr>
          <a:xfrm>
            <a:off x="548640" y="1508760"/>
            <a:ext cx="6309360" cy="4754880"/>
          </a:xfrm>
          <a:prstGeom prst="roundRect">
            <a:avLst>
              <a:gd name="adj" fmla="val 962"/>
            </a:avLst>
          </a:prstGeom>
          <a:solidFill>
            <a:srgbClr val="212121"/>
          </a:solidFill>
          <a:ln/>
        </p:spPr>
        <p:txBody>
          <a:bodyPr/>
          <a:p/>
        </p:txBody>
      </p:sp>
      <p:sp>
        <p:nvSpPr>
          <p:cNvPr id="7" name="Text 5"/>
          <p:cNvSpPr txBox="1"/>
          <p:nvPr/>
        </p:nvSpPr>
        <p:spPr>
          <a:xfrm>
            <a:off x="731520" y="1618488"/>
            <a:ext cx="5943600" cy="453542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sem_t empty, full, mutex;   /* SIZE, 0, 1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void *producer(void *arg)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for (int item = 1; item &lt;= ITEMS; item++)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sem_wait(&amp;empty);   /* free slot?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sem_wait(&amp;mutex);</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buffer[in] = item;  in = (in + 1) % SIZE;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sem_post(&amp;mutex);</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sem_post(&amp;full);    /* one more item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return NULL;</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void *consumer(void *arg)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for (int k = 0; k &lt; ITEMS; k++)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sem_wait(&amp;full);    /* any item?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sem_wait(&amp;mutex);</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item = buffer[out]; out = (out + 1) % SIZE;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sem_post(&amp;mutex);</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sem_post(&amp;empty);   /* one more slot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sum += item;   /* ... print every 5th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t>
            </a:r>
            <a:endParaRPr lang="en-US" sz="1250" dirty="0"/>
          </a:p>
        </p:txBody>
      </p:sp>
      <p:sp>
        <p:nvSpPr>
          <p:cNvPr id="8" name="Shape 6"/>
          <p:cNvSpPr/>
          <p:nvPr/>
        </p:nvSpPr>
        <p:spPr>
          <a:xfrm>
            <a:off x="7132320" y="1508760"/>
            <a:ext cx="452628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360920" y="169164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From pseudocode to C</a:t>
            </a:r>
            <a:endParaRPr lang="en-US" sz="1500" dirty="0"/>
          </a:p>
        </p:txBody>
      </p:sp>
      <p:sp>
        <p:nvSpPr>
          <p:cNvPr id="10" name="Text 8"/>
          <p:cNvSpPr txBox="1"/>
          <p:nvPr/>
        </p:nvSpPr>
        <p:spPr>
          <a:xfrm>
            <a:off x="7360920" y="2148840"/>
            <a:ext cx="4069080" cy="201168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wait → sem_wait, signal → sem_post.</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sem_init(&amp;empty, 0, SIZE): the 0 means 'shared between threads of one process'.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Buffer of 5 slots, 20 items: the producer is blocked whenever it gets 5 items ahead.</a:t>
            </a:r>
            <a:endParaRPr lang="en-US" sz="1500" dirty="0"/>
          </a:p>
        </p:txBody>
      </p:sp>
      <p:sp>
        <p:nvSpPr>
          <p:cNvPr id="11" name="Shape 9"/>
          <p:cNvSpPr/>
          <p:nvPr/>
        </p:nvSpPr>
        <p:spPr>
          <a:xfrm>
            <a:off x="7132320" y="4526280"/>
            <a:ext cx="4526280" cy="1737360"/>
          </a:xfrm>
          <a:prstGeom prst="roundRect">
            <a:avLst>
              <a:gd name="adj" fmla="val 2632"/>
            </a:avLst>
          </a:prstGeom>
          <a:solidFill>
            <a:srgbClr val="212121"/>
          </a:solidFill>
          <a:ln/>
        </p:spPr>
        <p:txBody>
          <a:bodyPr/>
          <a:p/>
        </p:txBody>
      </p:sp>
      <p:sp>
        <p:nvSpPr>
          <p:cNvPr id="12" name="Text 10"/>
          <p:cNvSpPr txBox="1"/>
          <p:nvPr/>
        </p:nvSpPr>
        <p:spPr>
          <a:xfrm>
            <a:off x="7315200" y="4636008"/>
            <a:ext cx="4160520" cy="151790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./prodcons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consumed  5   running sum  15</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consumed 10   running sum  55</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consumed 15   running sum 120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consumed 20   running sum 210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sum of 1..20 = 210 (expected 210)</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38</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Jobs with bursts 5, 2, 8 ms all arrive at t = 0. Give the SJF order and the average waiting time.</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With exponential averaging, α = 0.5, τ = 8 ms and the last burst t = 12 ms. What is the next prediction?</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Round Robin with q = 100 ms on jobs that all need less than 50 ms behaves like which algorithm? Why?</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Name the three requirements of a critical-section solution. Which one does 'only thread A may ever enter' violate?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5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5  ·  39</a:t>
            </a:r>
            <a:endParaRPr lang="en-US" sz="900" dirty="0"/>
          </a:p>
        </p:txBody>
      </p:sp>
      <p:sp>
        <p:nvSpPr>
          <p:cNvPr id="6" name="Text 4"/>
          <p:cNvSpPr txBox="1"/>
          <p:nvPr/>
        </p:nvSpPr>
        <p:spPr>
          <a:xfrm>
            <a:off x="548640" y="1554480"/>
            <a:ext cx="11064240" cy="384048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FCFS</a:t>
            </a:r>
            <a:r>
              <a:rPr lang="en-US" sz="1800" dirty="0">
                <a:solidFill>
                  <a:srgbClr val="3A464C"/>
                </a:solidFill>
                <a:latin typeface="Calibri" pitchFamily="34" charset="0"/>
                <a:ea typeface="Calibri" pitchFamily="34" charset="-122"/>
                <a:cs typeface="Calibri" pitchFamily="34" charset="-120"/>
              </a:rPr>
              <a:t> is simple but suffers from the convoy effect (17 vs. 3 ms average wait for the same jobs).</a:t>
            </a:r>
            <a:endParaRPr lang="en-US" sz="1800" dirty="0"/>
          </a:p>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SJF / SRTF</a:t>
            </a:r>
            <a:r>
              <a:rPr lang="en-US" sz="1800" dirty="0">
                <a:solidFill>
                  <a:srgbClr val="3A464C"/>
                </a:solidFill>
                <a:latin typeface="Calibri" pitchFamily="34" charset="0"/>
                <a:ea typeface="Calibri" pitchFamily="34" charset="-122"/>
                <a:cs typeface="Calibri" pitchFamily="34" charset="-120"/>
              </a:rPr>
              <a:t> minimise the average waiting time, but need the next burst length — predicted by exponential averaging.</a:t>
            </a:r>
            <a:endParaRPr lang="en-US" sz="1800" dirty="0"/>
          </a:p>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Priority</a:t>
            </a:r>
            <a:r>
              <a:rPr lang="en-US" sz="1800" dirty="0">
                <a:solidFill>
                  <a:srgbClr val="3A464C"/>
                </a:solidFill>
                <a:latin typeface="Calibri" pitchFamily="34" charset="0"/>
                <a:ea typeface="Calibri" pitchFamily="34" charset="-122"/>
                <a:cs typeface="Calibri" pitchFamily="34" charset="-120"/>
              </a:rPr>
              <a:t> scheduling can starve low-priority work; aging fixes it. </a:t>
            </a:r>
            <a:endParaRPr lang="en-US" sz="1800" dirty="0"/>
          </a:p>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Round Robin</a:t>
            </a:r>
            <a:r>
              <a:rPr lang="en-US" sz="1800" dirty="0">
                <a:solidFill>
                  <a:srgbClr val="3A464C"/>
                </a:solidFill>
                <a:latin typeface="Calibri" pitchFamily="34" charset="0"/>
                <a:ea typeface="Calibri" pitchFamily="34" charset="-122"/>
                <a:cs typeface="Calibri" pitchFamily="34" charset="-120"/>
              </a:rPr>
              <a:t> bounds every wait by (n − 1)·q; q too large → FCFS, q too small → switching overhead. Linux aims for a fair share (CFS, EEVDF since 6.6).</a:t>
            </a:r>
            <a:endParaRPr lang="en-US" sz="1800" dirty="0"/>
          </a:p>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Race condition:</a:t>
            </a:r>
            <a:r>
              <a:rPr lang="en-US" sz="1800" dirty="0">
                <a:solidFill>
                  <a:srgbClr val="3A464C"/>
                </a:solidFill>
                <a:latin typeface="Calibri" pitchFamily="34" charset="0"/>
                <a:ea typeface="Calibri" pitchFamily="34" charset="-122"/>
                <a:cs typeface="Calibri" pitchFamily="34" charset="-120"/>
              </a:rPr>
              <a:t> counter++ is load–add–store; interleavings lose updates (millions, in our test).</a:t>
            </a:r>
            <a:endParaRPr lang="en-US" sz="1800" dirty="0"/>
          </a:p>
          <a:p>
            <a:pPr marL="228600" indent="-228600">
              <a:spcAft>
                <a:spcPts val="1000"/>
              </a:spcAft>
              <a:buSzPct val="100000"/>
              <a:buChar char="•"/>
            </a:pPr>
            <a:r>
              <a:rPr lang="en-US" sz="1800" b="1" dirty="0">
                <a:solidFill>
                  <a:srgbClr val="3A464C"/>
                </a:solidFill>
                <a:latin typeface="Calibri" pitchFamily="34" charset="0"/>
                <a:ea typeface="Calibri" pitchFamily="34" charset="-122"/>
                <a:cs typeface="Calibri" pitchFamily="34" charset="-120"/>
              </a:rPr>
              <a:t>Critical sections</a:t>
            </a:r>
            <a:r>
              <a:rPr lang="en-US" sz="1800" dirty="0">
                <a:solidFill>
                  <a:srgbClr val="3A464C"/>
                </a:solidFill>
                <a:latin typeface="Calibri" pitchFamily="34" charset="0"/>
                <a:ea typeface="Calibri" pitchFamily="34" charset="-122"/>
                <a:cs typeface="Calibri" pitchFamily="34" charset="-120"/>
              </a:rPr>
              <a:t> need mutual exclusion, progress and bounded waiting; built from atomic instructions → mutex locks and semaphores.</a:t>
            </a:r>
            <a:endParaRPr lang="en-US" sz="1800" dirty="0"/>
          </a:p>
        </p:txBody>
      </p:sp>
      <p:sp>
        <p:nvSpPr>
          <p:cNvPr id="7"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For the midterm (Week 8): be able to draw a Gantt chart and compute waiting, turnaround and response times for every algorithm above.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Memory Management, Paging &amp; Segmentation</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6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Address binding; logical vs. physical addresses; the MMU</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Swapping and contiguous memory allocation</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External and internal fragmentation</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Paging, page tables, the TLB and effective access time; segmentation</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5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5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5</dc:title>
  <dc:subject>PptxGenJS Presentation</dc:subject>
  <dc:creator>PptxGenJS</dc:creator>
  <cp:lastModifiedBy>PptxGenJS</cp:lastModifiedBy>
  <cp:revision>1</cp:revision>
  <dcterms:created xsi:type="dcterms:W3CDTF">2026-10-08T13:03:40Z</dcterms:created>
  <dcterms:modified xsi:type="dcterms:W3CDTF">2026-10-08T13:03:40Z</dcterms:modified>
</cp:coreProperties>
</file>