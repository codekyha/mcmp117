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week: the process. Today we split the process into threads (first hour) and then ask the question every OS must answer hundreds of times per second: which thread gets the CPU next? (second hour). Short break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two or three minutes. Ask: what is saved during a context switch? (Registers, PC, ... into the PCB.) Today we will see that a thread is essentially 'the part of the PCB that describes execution', split off so that a process can have several.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1–3 before the break, parts 4–5 after. Hands-on C programs appear inside each part, with real output measured on a Linux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motivating example before any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would be a separate process per request (old Apache did this with fork). It works, but creating processes is expensive and processes do not share memory easily. Threads give concurrency inside ONE process, sharing its memory. Ask students: what programs on your phone obviously do several things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textbook figure. Mint boxes = shared by all threads; grey boxes = one copy per thread. Linux calls each thread a 'task' and gives it its own task_struct; threads of one process point to the same memory map and file table. Older books call threads 'lightweight processes' (LWP) — you will see LWP in ps output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table. Shared = everything that belongs to the process as a container. Private = everything that describes 'where am I in the execution'. Plant the seed of Week 5: shared_counter++ in two threads at once can lose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benefits come from Silberschatz ch. 4. Responsiveness: the classic 'App not responding' happens when the UI thread is busy. Scalability is the reason multithreading became essential after ~2005 when CPU clock speeds stopped growing and core counts started growing.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our build machine (2 vCPUs, shared). On bare-metal machines thread creation is often 10-20 µs and the ratio is larger (Silberschatz quotes Solaris: process creation ~30x slower). fork() must copy page tables and many kernel structures, even with copy-on-write; a thread only needs a stack and a small kernel record. us = microseconds.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one core switches between the four threads quickly (a few ms each) — to a human this looks simultaneous, but at any instant only one runs. That is concurrency without parallelism. Bottom: two cores, two threads truly run at the same time. Parallelism implies concurrency, not the other way round. Our test machine has 2 cores (nproc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come from Silberschatz 4.2.1. The array-sum program we run later is pure data parallelism: each thread sums its own slice, no dependency until the very end, when main adds the partial sums. Testing: a race condition may show up once in a million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 Amdahl, IBM, 1967. Derivation on the board: old time = 1 (normalised). New time = S + (1-S)/N. Speedup = old/new. It is an upper bound (≤) because real programs also pay for thread creation, synchronisation and memory bandwidth. The bar picture uses S = 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values computed exactly: N=8: 1/(0.25+0.09375)=2.909; N=16: 1/(0.25+0.046875)=3.368. Ask the class: with 95% parallel code (S=0.05), what is the limit? (20x.) This is why GPU programs work so hard to keep the serial part tiny.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Java ("green threads") and GNU Portable Threads were user-level. Today Linux, Windows and macOS all support kernel threads; user-level scheduling has come back in a new form in Go goroutines and Java virtual threads (2023), which are many-to-many.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kernel sees one schedulable entity, it can run it on only one core. If any thread calls read() on a slow device, the kernel puts the whole process to sleep. Few systems use this model today because it cannot exploit multicore CPUs.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Linux, pthread_create() calls the clone() system call; each thread is a separate task in the kernel with its own TID. That is why ps -eLf shows one line per thread. Windows also maps each thread one-to-one.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examples were Solaris before version 9 and Windows ThreadFiber. The general OS kernels moved to one-to-one because cores became plentiful and kernel threads cheap. But language runtimes (Go, Java 21 virtual threads, Erlang) implement many-to-many themselves to support millions of lightweight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students can fill this table from memory. Exam favourite: why can't many-to-one exploit multicore? Because the kernel sees only one kernel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thread function always has the signature void *f(void *arg): it takes one generic pointer and returns one. To pass several values, pass a pointer to a struct. Java: class extends Thread or implements Runnable; on Linux the JVM maps Java threads one-to-one to kernel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 with gcc -Wall -O2 -pthread thread_hello.c -o thread_hello. The order of the lines changes from run to run: the scheduler decides. The main thread's TID equals the PID. shared_counter = 3 shows that the global variable is shared — but shared_counter++ without a lock is a race condition; with 3 threads you will almost never see the bug, with millions of increments you will (Week 5). The full program also sleeps 2 s in each thread so that we can watch it with 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program sums the array 20 times so that the measured time is long enough to be stable; the expected sum is 10^7 x 45 x 20 = 9 x 10^9, which every run reproduces: a correctness check. The thread function receives its slice number k cast to a pointer — a common trick for passing a small integer.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numbers: medians of 9 runs each, measured while other jobs were using the same VM. Best runs: 1.50 s, 0.76 s, 0.73 s. Solve Amdahl for S: 1.68 = 1/(S + (1-S)/2) gives S = 2/1.68 - 1 ≈ 0.19. Here the limit is mostly memory bandwidth, not code that cannot be split — a reminder that Amdahl's law is an upper bound and a model. 4 threads can be slightly faster than 2 on a busy machine because the process gets a larger share of the CPU time, but never faster than the number of cores allows. Students should try it on their own laptops (nproc tells the core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some columns (STIME, TTY, TIME) removed to fit. Try also: top -H (one line per thread), or htop with thread display. On Windows: Task Manager &gt; Details &gt; right-click column header &gt; Select columns &gt;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If students ask: try nproc and ps -eLf on your own Linux/WSL during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Terminology: textbooks say 'process scheduling'; on Linux and Windows the kernel actually schedules threads. Everything in Part 2 applies to both; we say 'process' to match the textbook.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textbook picture: load, store, add, read from file → wait for I/O → store, increment → write to file → wait... The burst-length histogram is roughly exponential: many short bursts, a long tail of long ones. While a process waits for I/O, the CPU would be idle — unless the scheduler gives it to another process. That is the whole reason for multiprogramming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the three lines of bash's time output merged into one line each to fit. CPU fraction of the I/O-bound run: (0.000+0.104)/0.384 = 27%, so 73% of the elapsed time the process was blocked in fsync, waiting for the disk. Note that its CPU time is almost all sys: write and fsync are system calls. The CPU-bound run computes 1 + 1/2 + ... + 1/400000000 ≈ 20.38.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5-state diagram from Week 3: the ready queue holds exactly the processes in state 'ready'. The waiting processes sit in device queues. Linux's default scheduler (CFS, and EEVDF since kernel 6.6) keeps ready tasks in a red-black tree rather than a simple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same five-state diagram as Week 3, now with numbered red transitions. Situation 3: when a higher-priority process becomes ready, the OS may want to take the CPU away from the running one. That leads straight to the next slide: preemptive vs non-preemptive.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Cooperative example: in Windows 3.1, a program that entered an infinite loop without calling the OS froze the whole computer. Linux has been preemptive for user processes since the start and has a preemptible kernel since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axis is not to scale: dispatch latency is a few microseconds, a time slice several milliseconds. vmstat numbers are real: our idle 2-core VM showed 487 and 614 context switches per second in two one-second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other lines of time -v removed. 1.22 s / 50 ≈ 24 ms between preemptions on average — the order of magnitude of a Linux time slice under load. The I/O program blocks more than once per fsync (journal writes), hence 3714 voluntary switches for 1000 fsync calls. You can also read the live counters in /proc/&lt;pid&gt;/status (voluntary_ctxt_switches, nonvoluntary_ctxt_switches).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waiting time: the scheduling algorithm does not change how long a process computes or does I/O; it only changes how long the process sits in the ready queue. Response time is defined here as time to first run on the CPU (Silberschatz: time until the first response is produced; for exercises we use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shows a preempted process: it runs 3 units, is preempted, waits 2, runs 2 more. Units can be ms. Point out: response ≤ waiting ≤ turnaround for a process like this. In the non-preemptive case, a process waits only once, so response time = waiting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Gantt chart on the board with the students: at each moment, who is in the ready queue? t=0: P1 runs. t=1 P2 arrives, waits. t=2 P3 arrives, waits. t=5 P1 done -&gt; P2 (it arrived first). t=8 -&gt; P3. t=14 queue empty, CPU idle. t=16 P4 arrives, runs at once, done at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checked by a small Python script. Response = waiting here because the scheduling is non-preemptive: each process waits once and then runs to completion. The idle gap costs utilisation but does not hurt any process's waiting time. Ask: what would the averages be if P2 and P3 were swapped? (Leave as homework;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Week 2's goals: convenience vs efficiency again. A scheduler for a phone and one for a supercomputer optimise different criteria. Next week: FCFS, SJF/SRTF, Priority, Round Robin — each with a Gantt chart and the same table we just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with 4- or 8-core laptops to post their array_sum timings on the Telegram channel; we can compare speedups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points slowly; ask students which one they found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share code, globals/heap, open files; private PC, registers, stack, TID. (2) S = 0.1: 1/(0.1 + 0.9/4) = 1/0.325 ≈ 3.08; limit 1/0.1 = 10. (3) The kernel sees only one kernel thread, so it schedules the process on one core. (4) P1: 0-4, TAT 4, W 0. P2: 4-6, TAT 6-1 = 5, W 5-2 =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we take today's criteria and use them to compare four algorithms. Then we return to the shared_counter++ problem from thread_hello and fix it with 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Remind students of the Telegram channel and that the code folder contains all four programs with a Makefile.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MCMP117  ·  WEEK 4</a:t>
            </a:r>
            <a:endParaRPr lang="en-US"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Fundamentals of</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Operating Systems</a:t>
            </a:r>
            <a:endParaRPr lang="en-US"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en-US" sz="2000" dirty="0">
                <a:solidFill>
                  <a:srgbClr val="F2F2F2"/>
                </a:solidFill>
                <a:latin typeface="Calibri" pitchFamily="34" charset="0"/>
                <a:ea typeface="Calibri" pitchFamily="34" charset="-122"/>
                <a:cs typeface="Calibri" pitchFamily="34" charset="-120"/>
              </a:rPr>
              <a:t>Week 4  ·  Threads &amp; CPU Scheduling Basics</a:t>
            </a:r>
            <a:endParaRPr lang="en-US"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en-US" sz="1400" i="1" dirty="0">
                <a:solidFill>
                  <a:srgbClr val="8A9AA0"/>
                </a:solidFill>
                <a:latin typeface="Calibri" pitchFamily="34" charset="0"/>
                <a:ea typeface="Calibri" pitchFamily="34" charset="-122"/>
                <a:cs typeface="Calibri" pitchFamily="34" charset="-120"/>
              </a:rPr>
              <a:t>How can one program do several things at once — and who decides what runs next?</a:t>
            </a:r>
            <a:endParaRPr lang="en-US"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en-US" sz="1000" dirty="0">
                <a:solidFill>
                  <a:srgbClr val="8A9AA0"/>
                </a:solidFill>
                <a:latin typeface="Calibri" pitchFamily="34" charset="0"/>
                <a:ea typeface="Calibri" pitchFamily="34" charset="-122"/>
                <a:cs typeface="Calibri" pitchFamily="34" charset="-120"/>
              </a:rPr>
              <a:t>Electronical Communication Technology Programme  ·  Vocational School  ·  Istanbul Okan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LAST WEEK</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3 in Four Ideas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2</a:t>
            </a:r>
            <a:endParaRPr lang="en-US"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The process</a:t>
            </a:r>
            <a:endParaRPr lang="en-US"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Its memory: text (code), data, bss, heap and stack — plus CPU state and open files.</a:t>
            </a:r>
            <a:endParaRPr lang="en-US" sz="17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Five states</a:t>
            </a:r>
            <a:endParaRPr lang="en-US"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new → ready → running → waiting → terminated. Only one process per core is running at a time.</a:t>
            </a:r>
            <a:endParaRPr lang="en-US" sz="17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The PCB</a:t>
            </a:r>
            <a:endParaRPr lang="en-US"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The kernel's record of a process: state, PC, registers, memory info, open files, scheduling info.</a:t>
            </a:r>
            <a:endParaRPr lang="en-US" sz="17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Context switch</a:t>
            </a:r>
            <a:endParaRPr lang="en-US"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Save the PCB of one process, load another's. fork() creates, exec() replaces, wait() collects.</a:t>
            </a:r>
            <a:endParaRPr lang="en-US" sz="17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Today: one process may contain several threads of execution — and the OS needs a rule for which one runs next.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4</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Today's Agenda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3</a:t>
            </a:r>
            <a:endParaRPr lang="en-US" sz="900" dirty="0"/>
          </a:p>
        </p:txBody>
      </p:sp>
      <p:sp>
        <p:nvSpPr>
          <p:cNvPr id="6" name="Shape 4"/>
          <p:cNvSpPr/>
          <p:nvPr/>
        </p:nvSpPr>
        <p:spPr>
          <a:xfrm>
            <a:off x="548640" y="1554480"/>
            <a:ext cx="731520" cy="731520"/>
          </a:xfrm>
          <a:prstGeom prst="roundRect">
            <a:avLst>
              <a:gd name="adj" fmla="val 6250"/>
            </a:avLst>
          </a:prstGeom>
          <a:solidFill>
            <a:srgbClr val="02C39A"/>
          </a:solidFill>
          <a:ln/>
        </p:spPr>
        <p:txBody>
          <a:bodyPr/>
          <a:p/>
        </p:txBody>
      </p:sp>
      <p:sp>
        <p:nvSpPr>
          <p:cNvPr id="7" name="Text 5"/>
          <p:cNvSpPr txBox="1"/>
          <p:nvPr/>
        </p:nvSpPr>
        <p:spPr>
          <a:xfrm>
            <a:off x="548640" y="15544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1</a:t>
            </a:r>
            <a:endParaRPr lang="en-US" sz="2000" dirty="0"/>
          </a:p>
        </p:txBody>
      </p:sp>
      <p:sp>
        <p:nvSpPr>
          <p:cNvPr id="8" name="Shape 6"/>
          <p:cNvSpPr/>
          <p:nvPr/>
        </p:nvSpPr>
        <p:spPr>
          <a:xfrm>
            <a:off x="1463040" y="1554480"/>
            <a:ext cx="10195560" cy="731520"/>
          </a:xfrm>
          <a:prstGeom prst="roundRect">
            <a:avLst>
              <a:gd name="adj" fmla="val 6250"/>
            </a:avLst>
          </a:prstGeom>
          <a:solidFill>
            <a:srgbClr val="F2F2F2"/>
          </a:solidFill>
          <a:ln/>
        </p:spPr>
        <p:txBody>
          <a:bodyPr/>
          <a:p/>
        </p:txBody>
      </p:sp>
      <p:sp>
        <p:nvSpPr>
          <p:cNvPr id="9" name="Text 7"/>
          <p:cNvSpPr txBox="1"/>
          <p:nvPr/>
        </p:nvSpPr>
        <p:spPr>
          <a:xfrm>
            <a:off x="1737360" y="15544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Threads   </a:t>
            </a:r>
            <a:r>
              <a:rPr lang="en-US" sz="1500" dirty="0">
                <a:solidFill>
                  <a:srgbClr val="3A464C"/>
                </a:solidFill>
                <a:latin typeface="Calibri" pitchFamily="34" charset="0"/>
                <a:ea typeface="Calibri" pitchFamily="34" charset="-122"/>
                <a:cs typeface="Calibri" pitchFamily="34" charset="-120"/>
              </a:rPr>
              <a:t>Why threads? What threads share and what they keep private; benefits.</a:t>
            </a:r>
            <a:endParaRPr lang="en-US" sz="1400" dirty="0"/>
          </a:p>
        </p:txBody>
      </p:sp>
      <p:sp>
        <p:nvSpPr>
          <p:cNvPr id="10" name="Shape 8"/>
          <p:cNvSpPr/>
          <p:nvPr/>
        </p:nvSpPr>
        <p:spPr>
          <a:xfrm>
            <a:off x="548640" y="2468880"/>
            <a:ext cx="731520" cy="731520"/>
          </a:xfrm>
          <a:prstGeom prst="roundRect">
            <a:avLst>
              <a:gd name="adj" fmla="val 6250"/>
            </a:avLst>
          </a:prstGeom>
          <a:solidFill>
            <a:srgbClr val="02C39A"/>
          </a:solidFill>
          <a:ln/>
        </p:spPr>
        <p:txBody>
          <a:bodyPr/>
          <a:p/>
        </p:txBody>
      </p:sp>
      <p:sp>
        <p:nvSpPr>
          <p:cNvPr id="11" name="Text 9"/>
          <p:cNvSpPr txBox="1"/>
          <p:nvPr/>
        </p:nvSpPr>
        <p:spPr>
          <a:xfrm>
            <a:off x="548640" y="24688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1463040" y="2468880"/>
            <a:ext cx="10195560" cy="731520"/>
          </a:xfrm>
          <a:prstGeom prst="roundRect">
            <a:avLst>
              <a:gd name="adj" fmla="val 6250"/>
            </a:avLst>
          </a:prstGeom>
          <a:solidFill>
            <a:srgbClr val="F2F2F2"/>
          </a:solidFill>
          <a:ln/>
        </p:spPr>
        <p:txBody>
          <a:bodyPr/>
          <a:p/>
        </p:txBody>
      </p:sp>
      <p:sp>
        <p:nvSpPr>
          <p:cNvPr id="13" name="Text 11"/>
          <p:cNvSpPr txBox="1"/>
          <p:nvPr/>
        </p:nvSpPr>
        <p:spPr>
          <a:xfrm>
            <a:off x="1737360" y="24688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Multicore   </a:t>
            </a:r>
            <a:r>
              <a:rPr lang="en-US" sz="1500" dirty="0">
                <a:solidFill>
                  <a:srgbClr val="3A464C"/>
                </a:solidFill>
                <a:latin typeface="Calibri" pitchFamily="34" charset="0"/>
                <a:ea typeface="Calibri" pitchFamily="34" charset="-122"/>
                <a:cs typeface="Calibri" pitchFamily="34" charset="-120"/>
              </a:rPr>
              <a:t>Concurrency vs. parallelism; Amdahl's law with a worked example.</a:t>
            </a:r>
            <a:endParaRPr lang="en-US" sz="1400" dirty="0"/>
          </a:p>
        </p:txBody>
      </p:sp>
      <p:sp>
        <p:nvSpPr>
          <p:cNvPr id="14" name="Shape 12"/>
          <p:cNvSpPr/>
          <p:nvPr/>
        </p:nvSpPr>
        <p:spPr>
          <a:xfrm>
            <a:off x="548640" y="3383280"/>
            <a:ext cx="731520" cy="731520"/>
          </a:xfrm>
          <a:prstGeom prst="roundRect">
            <a:avLst>
              <a:gd name="adj" fmla="val 6250"/>
            </a:avLst>
          </a:prstGeom>
          <a:solidFill>
            <a:srgbClr val="02C39A"/>
          </a:solidFill>
          <a:ln/>
        </p:spPr>
        <p:txBody>
          <a:bodyPr/>
          <a:p/>
        </p:txBody>
      </p:sp>
      <p:sp>
        <p:nvSpPr>
          <p:cNvPr id="15" name="Text 13"/>
          <p:cNvSpPr txBox="1"/>
          <p:nvPr/>
        </p:nvSpPr>
        <p:spPr>
          <a:xfrm>
            <a:off x="548640" y="33832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1463040" y="3383280"/>
            <a:ext cx="10195560" cy="731520"/>
          </a:xfrm>
          <a:prstGeom prst="roundRect">
            <a:avLst>
              <a:gd name="adj" fmla="val 6250"/>
            </a:avLst>
          </a:prstGeom>
          <a:solidFill>
            <a:srgbClr val="F2F2F2"/>
          </a:solidFill>
          <a:ln/>
        </p:spPr>
        <p:txBody>
          <a:bodyPr/>
          <a:p/>
        </p:txBody>
      </p:sp>
      <p:sp>
        <p:nvSpPr>
          <p:cNvPr id="17" name="Text 15"/>
          <p:cNvSpPr txBox="1"/>
          <p:nvPr/>
        </p:nvSpPr>
        <p:spPr>
          <a:xfrm>
            <a:off x="1737360" y="33832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Thread models   </a:t>
            </a:r>
            <a:r>
              <a:rPr lang="en-US" sz="1500" dirty="0">
                <a:solidFill>
                  <a:srgbClr val="3A464C"/>
                </a:solidFill>
                <a:latin typeface="Calibri" pitchFamily="34" charset="0"/>
                <a:ea typeface="Calibri" pitchFamily="34" charset="-122"/>
                <a:cs typeface="Calibri" pitchFamily="34" charset="-120"/>
              </a:rPr>
              <a:t>User vs. kernel threads; many-to-one, one-to-one, many-to-many; Pthreads.</a:t>
            </a:r>
            <a:endParaRPr lang="en-US" sz="1400" dirty="0"/>
          </a:p>
        </p:txBody>
      </p:sp>
      <p:sp>
        <p:nvSpPr>
          <p:cNvPr id="18" name="Shape 16"/>
          <p:cNvSpPr/>
          <p:nvPr/>
        </p:nvSpPr>
        <p:spPr>
          <a:xfrm>
            <a:off x="548640" y="4297680"/>
            <a:ext cx="731520" cy="731520"/>
          </a:xfrm>
          <a:prstGeom prst="roundRect">
            <a:avLst>
              <a:gd name="adj" fmla="val 6250"/>
            </a:avLst>
          </a:prstGeom>
          <a:solidFill>
            <a:srgbClr val="02C39A"/>
          </a:solidFill>
          <a:ln/>
        </p:spPr>
        <p:txBody>
          <a:bodyPr/>
          <a:p/>
        </p:txBody>
      </p:sp>
      <p:sp>
        <p:nvSpPr>
          <p:cNvPr id="19" name="Text 17"/>
          <p:cNvSpPr txBox="1"/>
          <p:nvPr/>
        </p:nvSpPr>
        <p:spPr>
          <a:xfrm>
            <a:off x="548640" y="42976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4</a:t>
            </a:r>
            <a:endParaRPr lang="en-US" sz="2000" dirty="0"/>
          </a:p>
        </p:txBody>
      </p:sp>
      <p:sp>
        <p:nvSpPr>
          <p:cNvPr id="20" name="Shape 18"/>
          <p:cNvSpPr/>
          <p:nvPr/>
        </p:nvSpPr>
        <p:spPr>
          <a:xfrm>
            <a:off x="1463040" y="4297680"/>
            <a:ext cx="10195560" cy="731520"/>
          </a:xfrm>
          <a:prstGeom prst="roundRect">
            <a:avLst>
              <a:gd name="adj" fmla="val 6250"/>
            </a:avLst>
          </a:prstGeom>
          <a:solidFill>
            <a:srgbClr val="F2F2F2"/>
          </a:solidFill>
          <a:ln/>
        </p:spPr>
        <p:txBody>
          <a:bodyPr/>
          <a:p/>
        </p:txBody>
      </p:sp>
      <p:sp>
        <p:nvSpPr>
          <p:cNvPr id="21" name="Text 19"/>
          <p:cNvSpPr txBox="1"/>
          <p:nvPr/>
        </p:nvSpPr>
        <p:spPr>
          <a:xfrm>
            <a:off x="1737360" y="42976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Scheduling basics   </a:t>
            </a:r>
            <a:r>
              <a:rPr lang="en-US" sz="1500" dirty="0">
                <a:solidFill>
                  <a:srgbClr val="3A464C"/>
                </a:solidFill>
                <a:latin typeface="Calibri" pitchFamily="34" charset="0"/>
                <a:ea typeface="Calibri" pitchFamily="34" charset="-122"/>
                <a:cs typeface="Calibri" pitchFamily="34" charset="-120"/>
              </a:rPr>
              <a:t>CPU–I/O bursts, ready queue, preemption, the dispatcher.</a:t>
            </a:r>
            <a:endParaRPr lang="en-US" sz="1400" dirty="0"/>
          </a:p>
        </p:txBody>
      </p:sp>
      <p:sp>
        <p:nvSpPr>
          <p:cNvPr id="22" name="Shape 20"/>
          <p:cNvSpPr/>
          <p:nvPr/>
        </p:nvSpPr>
        <p:spPr>
          <a:xfrm>
            <a:off x="548640" y="5212080"/>
            <a:ext cx="731520" cy="731520"/>
          </a:xfrm>
          <a:prstGeom prst="roundRect">
            <a:avLst>
              <a:gd name="adj" fmla="val 6250"/>
            </a:avLst>
          </a:prstGeom>
          <a:solidFill>
            <a:srgbClr val="02C39A"/>
          </a:solidFill>
          <a:ln/>
        </p:spPr>
        <p:txBody>
          <a:bodyPr/>
          <a:p/>
        </p:txBody>
      </p:sp>
      <p:sp>
        <p:nvSpPr>
          <p:cNvPr id="23" name="Text 21"/>
          <p:cNvSpPr txBox="1"/>
          <p:nvPr/>
        </p:nvSpPr>
        <p:spPr>
          <a:xfrm>
            <a:off x="548640" y="5212080"/>
            <a:ext cx="731520" cy="731520"/>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5</a:t>
            </a:r>
            <a:endParaRPr lang="en-US" sz="2000" dirty="0"/>
          </a:p>
        </p:txBody>
      </p:sp>
      <p:sp>
        <p:nvSpPr>
          <p:cNvPr id="24" name="Shape 22"/>
          <p:cNvSpPr/>
          <p:nvPr/>
        </p:nvSpPr>
        <p:spPr>
          <a:xfrm>
            <a:off x="1463040" y="5212080"/>
            <a:ext cx="10195560" cy="731520"/>
          </a:xfrm>
          <a:prstGeom prst="roundRect">
            <a:avLst>
              <a:gd name="adj" fmla="val 6250"/>
            </a:avLst>
          </a:prstGeom>
          <a:solidFill>
            <a:srgbClr val="F2F2F2"/>
          </a:solidFill>
          <a:ln/>
        </p:spPr>
        <p:txBody>
          <a:bodyPr/>
          <a:p/>
        </p:txBody>
      </p:sp>
      <p:sp>
        <p:nvSpPr>
          <p:cNvPr id="25" name="Text 23"/>
          <p:cNvSpPr txBox="1"/>
          <p:nvPr/>
        </p:nvSpPr>
        <p:spPr>
          <a:xfrm>
            <a:off x="1737360" y="5212080"/>
            <a:ext cx="9784080" cy="731520"/>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Criteria   </a:t>
            </a:r>
            <a:r>
              <a:rPr lang="en-US" sz="1500" dirty="0">
                <a:solidFill>
                  <a:srgbClr val="3A464C"/>
                </a:solidFill>
                <a:latin typeface="Calibri" pitchFamily="34" charset="0"/>
                <a:ea typeface="Calibri" pitchFamily="34" charset="-122"/>
                <a:cs typeface="Calibri" pitchFamily="34" charset="-120"/>
              </a:rPr>
              <a:t>Utilisation, throughput, turnaround, waiting and response time — computed.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1</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Threads</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One process, several threads of execution.</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4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MOTIVATION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Why Threads? A Web Server Example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 web server receives thousands of requests per second. Each request needs a little CPU and a lot of waiting (disk, network).</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5</a:t>
            </a:r>
            <a:endParaRPr lang="en-US" sz="900" dirty="0"/>
          </a:p>
        </p:txBody>
      </p:sp>
      <p:sp>
        <p:nvSpPr>
          <p:cNvPr id="7" name="Text 5"/>
          <p:cNvSpPr txBox="1"/>
          <p:nvPr/>
        </p:nvSpPr>
        <p:spPr>
          <a:xfrm>
            <a:off x="548640" y="2148840"/>
            <a:ext cx="5852160" cy="320040"/>
          </a:xfrm>
          <a:prstGeom prst="rect">
            <a:avLst/>
          </a:prstGeom>
          <a:noFill/>
          <a:ln/>
        </p:spPr>
        <p:txBody>
          <a:bodyPr wrap="square" lIns="0" tIns="0" rIns="0" bIns="0" rtlCol="0" anchor="t"/>
          <a:lstStyle/>
          <a:p>
            <a:pPr indent="0" marL="0">
              <a:buNone/>
            </a:pPr>
            <a:r>
              <a:rPr lang="en-US" sz="1400" b="1" dirty="0">
                <a:solidFill>
                  <a:srgbClr val="B5453A"/>
                </a:solidFill>
                <a:latin typeface="Calibri" pitchFamily="34" charset="0"/>
                <a:ea typeface="Calibri" pitchFamily="34" charset="-122"/>
                <a:cs typeface="Calibri" pitchFamily="34" charset="-120"/>
              </a:rPr>
              <a:t>Single-threaded server</a:t>
            </a:r>
            <a:endParaRPr lang="en-US" sz="1400" dirty="0"/>
          </a:p>
        </p:txBody>
      </p:sp>
      <p:sp>
        <p:nvSpPr>
          <p:cNvPr id="8" name="Shape 6"/>
          <p:cNvSpPr/>
          <p:nvPr/>
        </p:nvSpPr>
        <p:spPr>
          <a:xfrm>
            <a:off x="548640" y="2606040"/>
            <a:ext cx="777240" cy="548640"/>
          </a:xfrm>
          <a:prstGeom prst="roundRect">
            <a:avLst>
              <a:gd name="adj" fmla="val 8333"/>
            </a:avLst>
          </a:prstGeom>
          <a:solidFill>
            <a:srgbClr val="F2F2F2"/>
          </a:solidFill>
          <a:ln/>
        </p:spPr>
        <p:txBody>
          <a:bodyPr/>
          <a:p/>
        </p:txBody>
      </p:sp>
      <p:sp>
        <p:nvSpPr>
          <p:cNvPr id="9" name="Text 7"/>
          <p:cNvSpPr txBox="1"/>
          <p:nvPr/>
        </p:nvSpPr>
        <p:spPr>
          <a:xfrm>
            <a:off x="548640" y="2606040"/>
            <a:ext cx="777240" cy="54864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req 1</a:t>
            </a:r>
            <a:endParaRPr lang="en-US" sz="1100" dirty="0"/>
          </a:p>
        </p:txBody>
      </p:sp>
      <p:sp>
        <p:nvSpPr>
          <p:cNvPr id="10" name="Shape 8"/>
          <p:cNvSpPr/>
          <p:nvPr/>
        </p:nvSpPr>
        <p:spPr>
          <a:xfrm>
            <a:off x="1417320" y="2606040"/>
            <a:ext cx="777240" cy="548640"/>
          </a:xfrm>
          <a:prstGeom prst="roundRect">
            <a:avLst>
              <a:gd name="adj" fmla="val 8333"/>
            </a:avLst>
          </a:prstGeom>
          <a:solidFill>
            <a:srgbClr val="F2F2F2"/>
          </a:solidFill>
          <a:ln/>
        </p:spPr>
        <p:txBody>
          <a:bodyPr/>
          <a:p/>
        </p:txBody>
      </p:sp>
      <p:sp>
        <p:nvSpPr>
          <p:cNvPr id="11" name="Text 9"/>
          <p:cNvSpPr txBox="1"/>
          <p:nvPr/>
        </p:nvSpPr>
        <p:spPr>
          <a:xfrm>
            <a:off x="1417320" y="2606040"/>
            <a:ext cx="777240" cy="54864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req 2</a:t>
            </a:r>
            <a:endParaRPr lang="en-US" sz="1100" dirty="0"/>
          </a:p>
        </p:txBody>
      </p:sp>
      <p:sp>
        <p:nvSpPr>
          <p:cNvPr id="12" name="Shape 10"/>
          <p:cNvSpPr/>
          <p:nvPr/>
        </p:nvSpPr>
        <p:spPr>
          <a:xfrm>
            <a:off x="2286000" y="2606040"/>
            <a:ext cx="777240" cy="548640"/>
          </a:xfrm>
          <a:prstGeom prst="roundRect">
            <a:avLst>
              <a:gd name="adj" fmla="val 8333"/>
            </a:avLst>
          </a:prstGeom>
          <a:solidFill>
            <a:srgbClr val="F2F2F2"/>
          </a:solidFill>
          <a:ln/>
        </p:spPr>
        <p:txBody>
          <a:bodyPr/>
          <a:p/>
        </p:txBody>
      </p:sp>
      <p:sp>
        <p:nvSpPr>
          <p:cNvPr id="13" name="Text 11"/>
          <p:cNvSpPr txBox="1"/>
          <p:nvPr/>
        </p:nvSpPr>
        <p:spPr>
          <a:xfrm>
            <a:off x="2286000" y="2606040"/>
            <a:ext cx="777240" cy="54864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req 3</a:t>
            </a:r>
            <a:endParaRPr lang="en-US" sz="1100" dirty="0"/>
          </a:p>
        </p:txBody>
      </p:sp>
      <p:sp>
        <p:nvSpPr>
          <p:cNvPr id="14" name="Shape 12"/>
          <p:cNvSpPr/>
          <p:nvPr/>
        </p:nvSpPr>
        <p:spPr>
          <a:xfrm>
            <a:off x="3154680" y="2606040"/>
            <a:ext cx="777240" cy="548640"/>
          </a:xfrm>
          <a:prstGeom prst="roundRect">
            <a:avLst>
              <a:gd name="adj" fmla="val 8333"/>
            </a:avLst>
          </a:prstGeom>
          <a:solidFill>
            <a:srgbClr val="F2F2F2"/>
          </a:solidFill>
          <a:ln/>
        </p:spPr>
        <p:txBody>
          <a:bodyPr/>
          <a:p/>
        </p:txBody>
      </p:sp>
      <p:sp>
        <p:nvSpPr>
          <p:cNvPr id="15" name="Text 13"/>
          <p:cNvSpPr txBox="1"/>
          <p:nvPr/>
        </p:nvSpPr>
        <p:spPr>
          <a:xfrm>
            <a:off x="3154680" y="2606040"/>
            <a:ext cx="777240" cy="54864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req 4</a:t>
            </a:r>
            <a:endParaRPr lang="en-US" sz="1100" dirty="0"/>
          </a:p>
        </p:txBody>
      </p:sp>
      <p:sp>
        <p:nvSpPr>
          <p:cNvPr id="16" name="Shape 14"/>
          <p:cNvSpPr/>
          <p:nvPr/>
        </p:nvSpPr>
        <p:spPr>
          <a:xfrm>
            <a:off x="4069080" y="2880360"/>
            <a:ext cx="457200" cy="91"/>
          </a:xfrm>
          <a:prstGeom prst="line">
            <a:avLst/>
          </a:prstGeom>
          <a:noFill/>
          <a:ln w="19050">
            <a:solidFill>
              <a:srgbClr val="50808E"/>
            </a:solidFill>
            <a:prstDash val="solid"/>
            <a:tailEnd type="triangle"/>
          </a:ln>
        </p:spPr>
        <p:txBody>
          <a:bodyPr/>
          <a:p/>
        </p:txBody>
      </p:sp>
      <p:sp>
        <p:nvSpPr>
          <p:cNvPr id="17" name="Shape 15"/>
          <p:cNvSpPr/>
          <p:nvPr/>
        </p:nvSpPr>
        <p:spPr>
          <a:xfrm>
            <a:off x="4572000" y="2560320"/>
            <a:ext cx="1737360" cy="640080"/>
          </a:xfrm>
          <a:prstGeom prst="roundRect">
            <a:avLst>
              <a:gd name="adj" fmla="val 7143"/>
            </a:avLst>
          </a:prstGeom>
          <a:solidFill>
            <a:srgbClr val="50808E"/>
          </a:solidFill>
          <a:ln/>
        </p:spPr>
        <p:txBody>
          <a:bodyPr/>
          <a:p/>
        </p:txBody>
      </p:sp>
      <p:sp>
        <p:nvSpPr>
          <p:cNvPr id="18" name="Text 16"/>
          <p:cNvSpPr txBox="1"/>
          <p:nvPr/>
        </p:nvSpPr>
        <p:spPr>
          <a:xfrm>
            <a:off x="4572000" y="2560320"/>
            <a:ext cx="1737360" cy="6400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thread</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one at a time</a:t>
            </a:r>
            <a:endParaRPr lang="en-US" sz="1300" dirty="0"/>
          </a:p>
        </p:txBody>
      </p:sp>
      <p:sp>
        <p:nvSpPr>
          <p:cNvPr id="19" name="Text 17"/>
          <p:cNvSpPr txBox="1"/>
          <p:nvPr/>
        </p:nvSpPr>
        <p:spPr>
          <a:xfrm>
            <a:off x="548640" y="3246120"/>
            <a:ext cx="5852160" cy="32004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While request 1 waits for the disk, requests 2–4 just wait in line.</a:t>
            </a:r>
            <a:endParaRPr lang="en-US" sz="1200" dirty="0"/>
          </a:p>
        </p:txBody>
      </p:sp>
      <p:sp>
        <p:nvSpPr>
          <p:cNvPr id="20" name="Text 18"/>
          <p:cNvSpPr txBox="1"/>
          <p:nvPr/>
        </p:nvSpPr>
        <p:spPr>
          <a:xfrm>
            <a:off x="548640" y="3794760"/>
            <a:ext cx="5852160" cy="320040"/>
          </a:xfrm>
          <a:prstGeom prst="rect">
            <a:avLst/>
          </a:prstGeom>
          <a:noFill/>
          <a:ln/>
        </p:spPr>
        <p:txBody>
          <a:bodyPr wrap="square" lIns="0" tIns="0" rIns="0" bIns="0" rtlCol="0" anchor="t"/>
          <a:lstStyle/>
          <a:p>
            <a:pPr indent="0" marL="0">
              <a:buNone/>
            </a:pPr>
            <a:r>
              <a:rPr lang="en-US" sz="1400" b="1" dirty="0">
                <a:solidFill>
                  <a:srgbClr val="028090"/>
                </a:solidFill>
                <a:latin typeface="Calibri" pitchFamily="34" charset="0"/>
                <a:ea typeface="Calibri" pitchFamily="34" charset="-122"/>
                <a:cs typeface="Calibri" pitchFamily="34" charset="-120"/>
              </a:rPr>
              <a:t>Multithreaded server</a:t>
            </a:r>
            <a:endParaRPr lang="en-US" sz="1400" dirty="0"/>
          </a:p>
        </p:txBody>
      </p:sp>
      <p:sp>
        <p:nvSpPr>
          <p:cNvPr id="21" name="Shape 19"/>
          <p:cNvSpPr/>
          <p:nvPr/>
        </p:nvSpPr>
        <p:spPr>
          <a:xfrm>
            <a:off x="548640" y="4709160"/>
            <a:ext cx="1554480" cy="731520"/>
          </a:xfrm>
          <a:prstGeom prst="roundRect">
            <a:avLst>
              <a:gd name="adj" fmla="val 6250"/>
            </a:avLst>
          </a:prstGeom>
          <a:solidFill>
            <a:srgbClr val="02C39A"/>
          </a:solidFill>
          <a:ln/>
        </p:spPr>
        <p:txBody>
          <a:bodyPr/>
          <a:p/>
        </p:txBody>
      </p:sp>
      <p:sp>
        <p:nvSpPr>
          <p:cNvPr id="22" name="Text 20"/>
          <p:cNvSpPr txBox="1"/>
          <p:nvPr/>
        </p:nvSpPr>
        <p:spPr>
          <a:xfrm>
            <a:off x="548640" y="4709160"/>
            <a:ext cx="1554480" cy="7315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listener</a:t>
            </a:r>
            <a:endParaRPr lang="en-US" sz="1300" dirty="0"/>
          </a:p>
          <a:p>
            <a:pPr algn="ctr" indent="0" marL="0">
              <a:buNone/>
            </a:pPr>
            <a:r>
              <a:rPr lang="en-US" sz="1100" dirty="0">
                <a:solidFill>
                  <a:srgbClr val="212121"/>
                </a:solidFill>
                <a:latin typeface="Calibri" pitchFamily="34" charset="0"/>
                <a:ea typeface="Calibri" pitchFamily="34" charset="-122"/>
                <a:cs typeface="Calibri" pitchFamily="34" charset="-120"/>
              </a:rPr>
              <a:t>accepts requests</a:t>
            </a:r>
            <a:endParaRPr lang="en-US" sz="1300" dirty="0"/>
          </a:p>
        </p:txBody>
      </p:sp>
      <p:sp>
        <p:nvSpPr>
          <p:cNvPr id="23" name="Shape 21"/>
          <p:cNvSpPr/>
          <p:nvPr/>
        </p:nvSpPr>
        <p:spPr>
          <a:xfrm>
            <a:off x="3291840" y="4206240"/>
            <a:ext cx="1828800" cy="512064"/>
          </a:xfrm>
          <a:prstGeom prst="roundRect">
            <a:avLst>
              <a:gd name="adj" fmla="val 8929"/>
            </a:avLst>
          </a:prstGeom>
          <a:solidFill>
            <a:srgbClr val="36454F"/>
          </a:solidFill>
          <a:ln/>
        </p:spPr>
        <p:txBody>
          <a:bodyPr/>
          <a:p/>
        </p:txBody>
      </p:sp>
      <p:sp>
        <p:nvSpPr>
          <p:cNvPr id="24" name="Text 22"/>
          <p:cNvSpPr txBox="1"/>
          <p:nvPr/>
        </p:nvSpPr>
        <p:spPr>
          <a:xfrm>
            <a:off x="3291840" y="4206240"/>
            <a:ext cx="1828800" cy="512064"/>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worker thread 1</a:t>
            </a:r>
            <a:endParaRPr lang="en-US" sz="1200" dirty="0"/>
          </a:p>
        </p:txBody>
      </p:sp>
      <p:sp>
        <p:nvSpPr>
          <p:cNvPr id="25" name="Shape 23"/>
          <p:cNvSpPr/>
          <p:nvPr/>
        </p:nvSpPr>
        <p:spPr>
          <a:xfrm flipV="1">
            <a:off x="2121408" y="4462272"/>
            <a:ext cx="1152144" cy="612648"/>
          </a:xfrm>
          <a:prstGeom prst="line">
            <a:avLst/>
          </a:prstGeom>
          <a:noFill/>
          <a:ln w="15875">
            <a:solidFill>
              <a:srgbClr val="50808E"/>
            </a:solidFill>
            <a:prstDash val="solid"/>
            <a:tailEnd type="triangle"/>
          </a:ln>
        </p:spPr>
        <p:txBody>
          <a:bodyPr/>
          <a:p/>
        </p:txBody>
      </p:sp>
      <p:sp>
        <p:nvSpPr>
          <p:cNvPr id="26" name="Shape 24"/>
          <p:cNvSpPr/>
          <p:nvPr/>
        </p:nvSpPr>
        <p:spPr>
          <a:xfrm>
            <a:off x="3291840" y="4828032"/>
            <a:ext cx="1828800" cy="512064"/>
          </a:xfrm>
          <a:prstGeom prst="roundRect">
            <a:avLst>
              <a:gd name="adj" fmla="val 8929"/>
            </a:avLst>
          </a:prstGeom>
          <a:solidFill>
            <a:srgbClr val="36454F"/>
          </a:solidFill>
          <a:ln/>
        </p:spPr>
        <p:txBody>
          <a:bodyPr/>
          <a:p/>
        </p:txBody>
      </p:sp>
      <p:sp>
        <p:nvSpPr>
          <p:cNvPr id="27" name="Text 25"/>
          <p:cNvSpPr txBox="1"/>
          <p:nvPr/>
        </p:nvSpPr>
        <p:spPr>
          <a:xfrm>
            <a:off x="3291840" y="4828032"/>
            <a:ext cx="1828800" cy="512064"/>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worker thread 2</a:t>
            </a:r>
            <a:endParaRPr lang="en-US" sz="1200" dirty="0"/>
          </a:p>
        </p:txBody>
      </p:sp>
      <p:sp>
        <p:nvSpPr>
          <p:cNvPr id="28" name="Shape 26"/>
          <p:cNvSpPr/>
          <p:nvPr/>
        </p:nvSpPr>
        <p:spPr>
          <a:xfrm>
            <a:off x="2121408" y="5074920"/>
            <a:ext cx="1152144" cy="9144"/>
          </a:xfrm>
          <a:prstGeom prst="line">
            <a:avLst/>
          </a:prstGeom>
          <a:noFill/>
          <a:ln w="15875">
            <a:solidFill>
              <a:srgbClr val="50808E"/>
            </a:solidFill>
            <a:prstDash val="solid"/>
            <a:tailEnd type="triangle"/>
          </a:ln>
        </p:spPr>
        <p:txBody>
          <a:bodyPr/>
          <a:p/>
        </p:txBody>
      </p:sp>
      <p:sp>
        <p:nvSpPr>
          <p:cNvPr id="29" name="Shape 27"/>
          <p:cNvSpPr/>
          <p:nvPr/>
        </p:nvSpPr>
        <p:spPr>
          <a:xfrm>
            <a:off x="3291840" y="5449824"/>
            <a:ext cx="1828800" cy="512064"/>
          </a:xfrm>
          <a:prstGeom prst="roundRect">
            <a:avLst>
              <a:gd name="adj" fmla="val 8929"/>
            </a:avLst>
          </a:prstGeom>
          <a:solidFill>
            <a:srgbClr val="36454F"/>
          </a:solidFill>
          <a:ln/>
        </p:spPr>
        <p:txBody>
          <a:bodyPr/>
          <a:p/>
        </p:txBody>
      </p:sp>
      <p:sp>
        <p:nvSpPr>
          <p:cNvPr id="30" name="Text 28"/>
          <p:cNvSpPr txBox="1"/>
          <p:nvPr/>
        </p:nvSpPr>
        <p:spPr>
          <a:xfrm>
            <a:off x="3291840" y="5449824"/>
            <a:ext cx="1828800" cy="512064"/>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worker thread 3</a:t>
            </a:r>
            <a:endParaRPr lang="en-US" sz="1200" dirty="0"/>
          </a:p>
        </p:txBody>
      </p:sp>
      <p:sp>
        <p:nvSpPr>
          <p:cNvPr id="31" name="Shape 29"/>
          <p:cNvSpPr/>
          <p:nvPr/>
        </p:nvSpPr>
        <p:spPr>
          <a:xfrm>
            <a:off x="2121408" y="5074920"/>
            <a:ext cx="1152144" cy="630936"/>
          </a:xfrm>
          <a:prstGeom prst="line">
            <a:avLst/>
          </a:prstGeom>
          <a:noFill/>
          <a:ln w="15875">
            <a:solidFill>
              <a:srgbClr val="50808E"/>
            </a:solidFill>
            <a:prstDash val="solid"/>
            <a:tailEnd type="triangle"/>
          </a:ln>
        </p:spPr>
        <p:txBody>
          <a:bodyPr/>
          <a:p/>
        </p:txBody>
      </p:sp>
      <p:sp>
        <p:nvSpPr>
          <p:cNvPr id="32" name="Text 30"/>
          <p:cNvSpPr txBox="1"/>
          <p:nvPr/>
        </p:nvSpPr>
        <p:spPr>
          <a:xfrm>
            <a:off x="5212080" y="4892040"/>
            <a:ext cx="1463040" cy="45720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…one thread per request</a:t>
            </a:r>
            <a:endParaRPr lang="en-US" sz="1100" dirty="0"/>
          </a:p>
        </p:txBody>
      </p:sp>
      <p:sp>
        <p:nvSpPr>
          <p:cNvPr id="33" name="Shape 31"/>
          <p:cNvSpPr/>
          <p:nvPr/>
        </p:nvSpPr>
        <p:spPr>
          <a:xfrm>
            <a:off x="6858000" y="2148840"/>
            <a:ext cx="4800600" cy="411480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4" name="Text 32"/>
          <p:cNvSpPr txBox="1"/>
          <p:nvPr/>
        </p:nvSpPr>
        <p:spPr>
          <a:xfrm>
            <a:off x="7086600" y="2331720"/>
            <a:ext cx="4343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Same idea, everywhere</a:t>
            </a:r>
            <a:endParaRPr lang="en-US" sz="1500" dirty="0"/>
          </a:p>
        </p:txBody>
      </p:sp>
      <p:sp>
        <p:nvSpPr>
          <p:cNvPr id="35" name="Text 33"/>
          <p:cNvSpPr txBox="1"/>
          <p:nvPr/>
        </p:nvSpPr>
        <p:spPr>
          <a:xfrm>
            <a:off x="7086600" y="2788920"/>
            <a:ext cx="4343400" cy="333756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Word processor:</a:t>
            </a:r>
            <a:r>
              <a:rPr lang="en-US" sz="1400" dirty="0">
                <a:solidFill>
                  <a:srgbClr val="3A464C"/>
                </a:solidFill>
                <a:latin typeface="Calibri" pitchFamily="34" charset="0"/>
                <a:ea typeface="Calibri" pitchFamily="34" charset="-122"/>
                <a:cs typeface="Calibri" pitchFamily="34" charset="-120"/>
              </a:rPr>
              <a:t> one thread reads keystrokes, one redraws the screen, one checks spelling, one autosaves.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Browser:</a:t>
            </a:r>
            <a:r>
              <a:rPr lang="en-US" sz="1400" dirty="0">
                <a:solidFill>
                  <a:srgbClr val="3A464C"/>
                </a:solidFill>
                <a:latin typeface="Calibri" pitchFamily="34" charset="0"/>
                <a:ea typeface="Calibri" pitchFamily="34" charset="-122"/>
                <a:cs typeface="Calibri" pitchFamily="34" charset="-120"/>
              </a:rPr>
              <a:t> each tab loads, decodes images and runs scripts at the same time.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Game:</a:t>
            </a:r>
            <a:r>
              <a:rPr lang="en-US" sz="1400" dirty="0">
                <a:solidFill>
                  <a:srgbClr val="3A464C"/>
                </a:solidFill>
                <a:latin typeface="Calibri" pitchFamily="34" charset="0"/>
                <a:ea typeface="Calibri" pitchFamily="34" charset="-122"/>
                <a:cs typeface="Calibri" pitchFamily="34" charset="-120"/>
              </a:rPr>
              <a:t> rendering, physics, sound and network in separate threads.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All threads work on the same document / page / world — so they must share memory.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DEFINITION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 Thread Is a Unit of CPU Execution</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 thread has its own thread ID, program counter, register set and stack. It shares everything else with the other threads of its process.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6</a:t>
            </a:r>
            <a:endParaRPr lang="en-US" sz="900" dirty="0"/>
          </a:p>
        </p:txBody>
      </p:sp>
      <p:sp>
        <p:nvSpPr>
          <p:cNvPr id="7" name="Text 5"/>
          <p:cNvSpPr txBox="1"/>
          <p:nvPr/>
        </p:nvSpPr>
        <p:spPr>
          <a:xfrm>
            <a:off x="548640" y="2103120"/>
            <a:ext cx="3291840" cy="320040"/>
          </a:xfrm>
          <a:prstGeom prst="rect">
            <a:avLst/>
          </a:prstGeom>
          <a:noFill/>
          <a:ln/>
        </p:spPr>
        <p:txBody>
          <a:bodyPr wrap="square" lIns="0" tIns="0" rIns="0" bIns="0" rtlCol="0" anchor="t"/>
          <a:lstStyle/>
          <a:p>
            <a:pPr algn="ctr" indent="0" marL="0">
              <a:buNone/>
            </a:pPr>
            <a:r>
              <a:rPr lang="en-US" sz="1400" b="1" dirty="0">
                <a:solidFill>
                  <a:srgbClr val="36454F"/>
                </a:solidFill>
                <a:latin typeface="Calibri" pitchFamily="34" charset="0"/>
                <a:ea typeface="Calibri" pitchFamily="34" charset="-122"/>
                <a:cs typeface="Calibri" pitchFamily="34" charset="-120"/>
              </a:rPr>
              <a:t>Single-threaded process</a:t>
            </a:r>
            <a:endParaRPr lang="en-US" sz="1400" dirty="0"/>
          </a:p>
        </p:txBody>
      </p:sp>
      <p:sp>
        <p:nvSpPr>
          <p:cNvPr id="8" name="Shape 6"/>
          <p:cNvSpPr/>
          <p:nvPr/>
        </p:nvSpPr>
        <p:spPr>
          <a:xfrm>
            <a:off x="548640" y="2468880"/>
            <a:ext cx="3291840" cy="3520440"/>
          </a:xfrm>
          <a:prstGeom prst="roundRect">
            <a:avLst>
              <a:gd name="adj" fmla="val 1389"/>
            </a:avLst>
          </a:prstGeom>
          <a:solidFill>
            <a:srgbClr val="FFFFFF"/>
          </a:solidFill>
          <a:ln w="12700">
            <a:solidFill>
              <a:srgbClr val="50808E"/>
            </a:solidFill>
            <a:prstDash val="solid"/>
          </a:ln>
        </p:spPr>
        <p:txBody>
          <a:bodyPr/>
          <a:p/>
        </p:txBody>
      </p:sp>
      <p:sp>
        <p:nvSpPr>
          <p:cNvPr id="9" name="Shape 7"/>
          <p:cNvSpPr/>
          <p:nvPr/>
        </p:nvSpPr>
        <p:spPr>
          <a:xfrm>
            <a:off x="731520" y="2606040"/>
            <a:ext cx="902208" cy="502920"/>
          </a:xfrm>
          <a:prstGeom prst="roundRect">
            <a:avLst>
              <a:gd name="adj" fmla="val 9091"/>
            </a:avLst>
          </a:prstGeom>
          <a:solidFill>
            <a:srgbClr val="02C39A"/>
          </a:solidFill>
          <a:ln/>
        </p:spPr>
        <p:txBody>
          <a:bodyPr/>
          <a:p/>
        </p:txBody>
      </p:sp>
      <p:sp>
        <p:nvSpPr>
          <p:cNvPr id="10" name="Text 8"/>
          <p:cNvSpPr txBox="1"/>
          <p:nvPr/>
        </p:nvSpPr>
        <p:spPr>
          <a:xfrm>
            <a:off x="731520" y="2606040"/>
            <a:ext cx="902208"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code</a:t>
            </a:r>
            <a:endParaRPr lang="en-US" sz="1300" dirty="0"/>
          </a:p>
        </p:txBody>
      </p:sp>
      <p:sp>
        <p:nvSpPr>
          <p:cNvPr id="11" name="Shape 9"/>
          <p:cNvSpPr/>
          <p:nvPr/>
        </p:nvSpPr>
        <p:spPr>
          <a:xfrm>
            <a:off x="1706880" y="2606040"/>
            <a:ext cx="902208" cy="502920"/>
          </a:xfrm>
          <a:prstGeom prst="roundRect">
            <a:avLst>
              <a:gd name="adj" fmla="val 9091"/>
            </a:avLst>
          </a:prstGeom>
          <a:solidFill>
            <a:srgbClr val="02C39A"/>
          </a:solidFill>
          <a:ln/>
        </p:spPr>
        <p:txBody>
          <a:bodyPr/>
          <a:p/>
        </p:txBody>
      </p:sp>
      <p:sp>
        <p:nvSpPr>
          <p:cNvPr id="12" name="Text 10"/>
          <p:cNvSpPr txBox="1"/>
          <p:nvPr/>
        </p:nvSpPr>
        <p:spPr>
          <a:xfrm>
            <a:off x="1706880" y="2606040"/>
            <a:ext cx="902208"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data</a:t>
            </a:r>
            <a:endParaRPr lang="en-US" sz="1300" dirty="0"/>
          </a:p>
        </p:txBody>
      </p:sp>
      <p:sp>
        <p:nvSpPr>
          <p:cNvPr id="13" name="Shape 11"/>
          <p:cNvSpPr/>
          <p:nvPr/>
        </p:nvSpPr>
        <p:spPr>
          <a:xfrm>
            <a:off x="2682240" y="2606040"/>
            <a:ext cx="902208" cy="502920"/>
          </a:xfrm>
          <a:prstGeom prst="roundRect">
            <a:avLst>
              <a:gd name="adj" fmla="val 9091"/>
            </a:avLst>
          </a:prstGeom>
          <a:solidFill>
            <a:srgbClr val="02C39A"/>
          </a:solidFill>
          <a:ln/>
        </p:spPr>
        <p:txBody>
          <a:bodyPr/>
          <a:p/>
        </p:txBody>
      </p:sp>
      <p:sp>
        <p:nvSpPr>
          <p:cNvPr id="14" name="Text 12"/>
          <p:cNvSpPr txBox="1"/>
          <p:nvPr/>
        </p:nvSpPr>
        <p:spPr>
          <a:xfrm>
            <a:off x="2682240" y="2606040"/>
            <a:ext cx="902208"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files</a:t>
            </a:r>
            <a:endParaRPr lang="en-US" sz="1300" dirty="0"/>
          </a:p>
        </p:txBody>
      </p:sp>
      <p:sp>
        <p:nvSpPr>
          <p:cNvPr id="15" name="Shape 13"/>
          <p:cNvSpPr/>
          <p:nvPr/>
        </p:nvSpPr>
        <p:spPr>
          <a:xfrm>
            <a:off x="731520" y="3246120"/>
            <a:ext cx="2852928" cy="457200"/>
          </a:xfrm>
          <a:prstGeom prst="roundRect">
            <a:avLst>
              <a:gd name="adj" fmla="val 10000"/>
            </a:avLst>
          </a:prstGeom>
          <a:solidFill>
            <a:srgbClr val="F2F2F2"/>
          </a:solidFill>
          <a:ln/>
        </p:spPr>
        <p:txBody>
          <a:bodyPr/>
          <a:p/>
        </p:txBody>
      </p:sp>
      <p:sp>
        <p:nvSpPr>
          <p:cNvPr id="16" name="Text 14"/>
          <p:cNvSpPr txBox="1"/>
          <p:nvPr/>
        </p:nvSpPr>
        <p:spPr>
          <a:xfrm>
            <a:off x="731520" y="3246120"/>
            <a:ext cx="2852928" cy="45720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registers</a:t>
            </a:r>
            <a:endParaRPr lang="en-US" sz="1100" dirty="0"/>
          </a:p>
        </p:txBody>
      </p:sp>
      <p:sp>
        <p:nvSpPr>
          <p:cNvPr id="17" name="Shape 15"/>
          <p:cNvSpPr/>
          <p:nvPr/>
        </p:nvSpPr>
        <p:spPr>
          <a:xfrm>
            <a:off x="731520" y="3749040"/>
            <a:ext cx="2852928" cy="457200"/>
          </a:xfrm>
          <a:prstGeom prst="roundRect">
            <a:avLst>
              <a:gd name="adj" fmla="val 10000"/>
            </a:avLst>
          </a:prstGeom>
          <a:solidFill>
            <a:srgbClr val="F2F2F2"/>
          </a:solidFill>
          <a:ln/>
        </p:spPr>
        <p:txBody>
          <a:bodyPr/>
          <a:p/>
        </p:txBody>
      </p:sp>
      <p:sp>
        <p:nvSpPr>
          <p:cNvPr id="18" name="Text 16"/>
          <p:cNvSpPr txBox="1"/>
          <p:nvPr/>
        </p:nvSpPr>
        <p:spPr>
          <a:xfrm>
            <a:off x="731520" y="3749040"/>
            <a:ext cx="2852928" cy="45720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PC</a:t>
            </a:r>
            <a:endParaRPr lang="en-US" sz="1100" dirty="0"/>
          </a:p>
        </p:txBody>
      </p:sp>
      <p:sp>
        <p:nvSpPr>
          <p:cNvPr id="19" name="Shape 17"/>
          <p:cNvSpPr/>
          <p:nvPr/>
        </p:nvSpPr>
        <p:spPr>
          <a:xfrm>
            <a:off x="731520" y="4251960"/>
            <a:ext cx="2852928" cy="457200"/>
          </a:xfrm>
          <a:prstGeom prst="roundRect">
            <a:avLst>
              <a:gd name="adj" fmla="val 10000"/>
            </a:avLst>
          </a:prstGeom>
          <a:solidFill>
            <a:srgbClr val="F2F2F2"/>
          </a:solidFill>
          <a:ln/>
        </p:spPr>
        <p:txBody>
          <a:bodyPr/>
          <a:p/>
        </p:txBody>
      </p:sp>
      <p:sp>
        <p:nvSpPr>
          <p:cNvPr id="20" name="Text 18"/>
          <p:cNvSpPr txBox="1"/>
          <p:nvPr/>
        </p:nvSpPr>
        <p:spPr>
          <a:xfrm>
            <a:off x="731520" y="4251960"/>
            <a:ext cx="2852928" cy="45720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stack</a:t>
            </a:r>
            <a:endParaRPr lang="en-US" sz="1100" dirty="0"/>
          </a:p>
        </p:txBody>
      </p:sp>
      <p:sp>
        <p:nvSpPr>
          <p:cNvPr id="21" name="Shape 19"/>
          <p:cNvSpPr/>
          <p:nvPr/>
        </p:nvSpPr>
        <p:spPr>
          <a:xfrm>
            <a:off x="2157984" y="4800600"/>
            <a:ext cx="91" cy="1051560"/>
          </a:xfrm>
          <a:prstGeom prst="line">
            <a:avLst/>
          </a:prstGeom>
          <a:noFill/>
          <a:ln w="31750">
            <a:solidFill>
              <a:srgbClr val="028090"/>
            </a:solidFill>
            <a:prstDash val="solid"/>
            <a:tailEnd type="triangle"/>
          </a:ln>
        </p:spPr>
        <p:txBody>
          <a:bodyPr/>
          <a:p/>
        </p:txBody>
      </p:sp>
      <p:sp>
        <p:nvSpPr>
          <p:cNvPr id="22" name="Text 20"/>
          <p:cNvSpPr txBox="1"/>
          <p:nvPr/>
        </p:nvSpPr>
        <p:spPr>
          <a:xfrm>
            <a:off x="4206240" y="2103120"/>
            <a:ext cx="4937760" cy="320040"/>
          </a:xfrm>
          <a:prstGeom prst="rect">
            <a:avLst/>
          </a:prstGeom>
          <a:noFill/>
          <a:ln/>
        </p:spPr>
        <p:txBody>
          <a:bodyPr wrap="square" lIns="0" tIns="0" rIns="0" bIns="0" rtlCol="0" anchor="t"/>
          <a:lstStyle/>
          <a:p>
            <a:pPr algn="ctr" indent="0" marL="0">
              <a:buNone/>
            </a:pPr>
            <a:r>
              <a:rPr lang="en-US" sz="1400" b="1" dirty="0">
                <a:solidFill>
                  <a:srgbClr val="36454F"/>
                </a:solidFill>
                <a:latin typeface="Calibri" pitchFamily="34" charset="0"/>
                <a:ea typeface="Calibri" pitchFamily="34" charset="-122"/>
                <a:cs typeface="Calibri" pitchFamily="34" charset="-120"/>
              </a:rPr>
              <a:t>Multithreaded process (3 threads)</a:t>
            </a:r>
            <a:endParaRPr lang="en-US" sz="1400" dirty="0"/>
          </a:p>
        </p:txBody>
      </p:sp>
      <p:sp>
        <p:nvSpPr>
          <p:cNvPr id="23" name="Shape 21"/>
          <p:cNvSpPr/>
          <p:nvPr/>
        </p:nvSpPr>
        <p:spPr>
          <a:xfrm>
            <a:off x="4206240" y="2468880"/>
            <a:ext cx="4937760" cy="3520440"/>
          </a:xfrm>
          <a:prstGeom prst="roundRect">
            <a:avLst>
              <a:gd name="adj" fmla="val 1299"/>
            </a:avLst>
          </a:prstGeom>
          <a:solidFill>
            <a:srgbClr val="FFFFFF"/>
          </a:solidFill>
          <a:ln w="12700">
            <a:solidFill>
              <a:srgbClr val="50808E"/>
            </a:solidFill>
            <a:prstDash val="solid"/>
          </a:ln>
        </p:spPr>
        <p:txBody>
          <a:bodyPr/>
          <a:p/>
        </p:txBody>
      </p:sp>
      <p:sp>
        <p:nvSpPr>
          <p:cNvPr id="24" name="Shape 22"/>
          <p:cNvSpPr/>
          <p:nvPr/>
        </p:nvSpPr>
        <p:spPr>
          <a:xfrm>
            <a:off x="4389120" y="2606040"/>
            <a:ext cx="1450848" cy="502920"/>
          </a:xfrm>
          <a:prstGeom prst="roundRect">
            <a:avLst>
              <a:gd name="adj" fmla="val 9091"/>
            </a:avLst>
          </a:prstGeom>
          <a:solidFill>
            <a:srgbClr val="02C39A"/>
          </a:solidFill>
          <a:ln/>
        </p:spPr>
        <p:txBody>
          <a:bodyPr/>
          <a:p/>
        </p:txBody>
      </p:sp>
      <p:sp>
        <p:nvSpPr>
          <p:cNvPr id="25" name="Text 23"/>
          <p:cNvSpPr txBox="1"/>
          <p:nvPr/>
        </p:nvSpPr>
        <p:spPr>
          <a:xfrm>
            <a:off x="4389120" y="2606040"/>
            <a:ext cx="1450848"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code</a:t>
            </a:r>
            <a:endParaRPr lang="en-US" sz="1300" dirty="0"/>
          </a:p>
        </p:txBody>
      </p:sp>
      <p:sp>
        <p:nvSpPr>
          <p:cNvPr id="26" name="Shape 24"/>
          <p:cNvSpPr/>
          <p:nvPr/>
        </p:nvSpPr>
        <p:spPr>
          <a:xfrm>
            <a:off x="5913120" y="2606040"/>
            <a:ext cx="1450848" cy="502920"/>
          </a:xfrm>
          <a:prstGeom prst="roundRect">
            <a:avLst>
              <a:gd name="adj" fmla="val 9091"/>
            </a:avLst>
          </a:prstGeom>
          <a:solidFill>
            <a:srgbClr val="02C39A"/>
          </a:solidFill>
          <a:ln/>
        </p:spPr>
        <p:txBody>
          <a:bodyPr/>
          <a:p/>
        </p:txBody>
      </p:sp>
      <p:sp>
        <p:nvSpPr>
          <p:cNvPr id="27" name="Text 25"/>
          <p:cNvSpPr txBox="1"/>
          <p:nvPr/>
        </p:nvSpPr>
        <p:spPr>
          <a:xfrm>
            <a:off x="5913120" y="2606040"/>
            <a:ext cx="1450848"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data</a:t>
            </a:r>
            <a:endParaRPr lang="en-US" sz="1300" dirty="0"/>
          </a:p>
        </p:txBody>
      </p:sp>
      <p:sp>
        <p:nvSpPr>
          <p:cNvPr id="28" name="Shape 26"/>
          <p:cNvSpPr/>
          <p:nvPr/>
        </p:nvSpPr>
        <p:spPr>
          <a:xfrm>
            <a:off x="7437120" y="2606040"/>
            <a:ext cx="1450848" cy="502920"/>
          </a:xfrm>
          <a:prstGeom prst="roundRect">
            <a:avLst>
              <a:gd name="adj" fmla="val 9091"/>
            </a:avLst>
          </a:prstGeom>
          <a:solidFill>
            <a:srgbClr val="02C39A"/>
          </a:solidFill>
          <a:ln/>
        </p:spPr>
        <p:txBody>
          <a:bodyPr/>
          <a:p/>
        </p:txBody>
      </p:sp>
      <p:sp>
        <p:nvSpPr>
          <p:cNvPr id="29" name="Text 27"/>
          <p:cNvSpPr txBox="1"/>
          <p:nvPr/>
        </p:nvSpPr>
        <p:spPr>
          <a:xfrm>
            <a:off x="7437120" y="2606040"/>
            <a:ext cx="1450848" cy="50292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files</a:t>
            </a:r>
            <a:endParaRPr lang="en-US" sz="1300" dirty="0"/>
          </a:p>
        </p:txBody>
      </p:sp>
      <p:sp>
        <p:nvSpPr>
          <p:cNvPr id="30" name="Shape 28"/>
          <p:cNvSpPr/>
          <p:nvPr/>
        </p:nvSpPr>
        <p:spPr>
          <a:xfrm>
            <a:off x="4389120" y="3246120"/>
            <a:ext cx="1450848" cy="457200"/>
          </a:xfrm>
          <a:prstGeom prst="roundRect">
            <a:avLst>
              <a:gd name="adj" fmla="val 10000"/>
            </a:avLst>
          </a:prstGeom>
          <a:solidFill>
            <a:srgbClr val="F2F2F2"/>
          </a:solidFill>
          <a:ln/>
        </p:spPr>
        <p:txBody>
          <a:bodyPr/>
          <a:p/>
        </p:txBody>
      </p:sp>
      <p:sp>
        <p:nvSpPr>
          <p:cNvPr id="31" name="Text 29"/>
          <p:cNvSpPr txBox="1"/>
          <p:nvPr/>
        </p:nvSpPr>
        <p:spPr>
          <a:xfrm>
            <a:off x="4389120" y="3246120"/>
            <a:ext cx="1450848" cy="45720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registers</a:t>
            </a:r>
            <a:endParaRPr lang="en-US" sz="1100" dirty="0"/>
          </a:p>
        </p:txBody>
      </p:sp>
      <p:sp>
        <p:nvSpPr>
          <p:cNvPr id="32" name="Shape 30"/>
          <p:cNvSpPr/>
          <p:nvPr/>
        </p:nvSpPr>
        <p:spPr>
          <a:xfrm>
            <a:off x="4389120" y="3749040"/>
            <a:ext cx="1450848" cy="457200"/>
          </a:xfrm>
          <a:prstGeom prst="roundRect">
            <a:avLst>
              <a:gd name="adj" fmla="val 10000"/>
            </a:avLst>
          </a:prstGeom>
          <a:solidFill>
            <a:srgbClr val="F2F2F2"/>
          </a:solidFill>
          <a:ln/>
        </p:spPr>
        <p:txBody>
          <a:bodyPr/>
          <a:p/>
        </p:txBody>
      </p:sp>
      <p:sp>
        <p:nvSpPr>
          <p:cNvPr id="33" name="Text 31"/>
          <p:cNvSpPr txBox="1"/>
          <p:nvPr/>
        </p:nvSpPr>
        <p:spPr>
          <a:xfrm>
            <a:off x="4389120" y="3749040"/>
            <a:ext cx="1450848" cy="45720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PC</a:t>
            </a:r>
            <a:endParaRPr lang="en-US" sz="1100" dirty="0"/>
          </a:p>
        </p:txBody>
      </p:sp>
      <p:sp>
        <p:nvSpPr>
          <p:cNvPr id="34" name="Shape 32"/>
          <p:cNvSpPr/>
          <p:nvPr/>
        </p:nvSpPr>
        <p:spPr>
          <a:xfrm>
            <a:off x="4389120" y="4251960"/>
            <a:ext cx="1450848" cy="457200"/>
          </a:xfrm>
          <a:prstGeom prst="roundRect">
            <a:avLst>
              <a:gd name="adj" fmla="val 10000"/>
            </a:avLst>
          </a:prstGeom>
          <a:solidFill>
            <a:srgbClr val="F2F2F2"/>
          </a:solidFill>
          <a:ln/>
        </p:spPr>
        <p:txBody>
          <a:bodyPr/>
          <a:p/>
        </p:txBody>
      </p:sp>
      <p:sp>
        <p:nvSpPr>
          <p:cNvPr id="35" name="Text 33"/>
          <p:cNvSpPr txBox="1"/>
          <p:nvPr/>
        </p:nvSpPr>
        <p:spPr>
          <a:xfrm>
            <a:off x="4389120" y="4251960"/>
            <a:ext cx="1450848" cy="45720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stack</a:t>
            </a:r>
            <a:endParaRPr lang="en-US" sz="1100" dirty="0"/>
          </a:p>
        </p:txBody>
      </p:sp>
      <p:sp>
        <p:nvSpPr>
          <p:cNvPr id="36" name="Shape 34"/>
          <p:cNvSpPr/>
          <p:nvPr/>
        </p:nvSpPr>
        <p:spPr>
          <a:xfrm>
            <a:off x="5114544" y="4800600"/>
            <a:ext cx="91" cy="1051560"/>
          </a:xfrm>
          <a:prstGeom prst="line">
            <a:avLst/>
          </a:prstGeom>
          <a:noFill/>
          <a:ln w="31750">
            <a:solidFill>
              <a:srgbClr val="028090"/>
            </a:solidFill>
            <a:prstDash val="solid"/>
            <a:tailEnd type="triangle"/>
          </a:ln>
        </p:spPr>
        <p:txBody>
          <a:bodyPr/>
          <a:p/>
        </p:txBody>
      </p:sp>
      <p:sp>
        <p:nvSpPr>
          <p:cNvPr id="37" name="Shape 35"/>
          <p:cNvSpPr/>
          <p:nvPr/>
        </p:nvSpPr>
        <p:spPr>
          <a:xfrm>
            <a:off x="5913120" y="3246120"/>
            <a:ext cx="1450848" cy="457200"/>
          </a:xfrm>
          <a:prstGeom prst="roundRect">
            <a:avLst>
              <a:gd name="adj" fmla="val 10000"/>
            </a:avLst>
          </a:prstGeom>
          <a:solidFill>
            <a:srgbClr val="F2F2F2"/>
          </a:solidFill>
          <a:ln/>
        </p:spPr>
        <p:txBody>
          <a:bodyPr/>
          <a:p/>
        </p:txBody>
      </p:sp>
      <p:sp>
        <p:nvSpPr>
          <p:cNvPr id="38" name="Text 36"/>
          <p:cNvSpPr txBox="1"/>
          <p:nvPr/>
        </p:nvSpPr>
        <p:spPr>
          <a:xfrm>
            <a:off x="5913120" y="3246120"/>
            <a:ext cx="1450848" cy="45720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registers</a:t>
            </a:r>
            <a:endParaRPr lang="en-US" sz="1100" dirty="0"/>
          </a:p>
        </p:txBody>
      </p:sp>
      <p:sp>
        <p:nvSpPr>
          <p:cNvPr id="39" name="Shape 37"/>
          <p:cNvSpPr/>
          <p:nvPr/>
        </p:nvSpPr>
        <p:spPr>
          <a:xfrm>
            <a:off x="5913120" y="3749040"/>
            <a:ext cx="1450848" cy="457200"/>
          </a:xfrm>
          <a:prstGeom prst="roundRect">
            <a:avLst>
              <a:gd name="adj" fmla="val 10000"/>
            </a:avLst>
          </a:prstGeom>
          <a:solidFill>
            <a:srgbClr val="F2F2F2"/>
          </a:solidFill>
          <a:ln/>
        </p:spPr>
        <p:txBody>
          <a:bodyPr/>
          <a:p/>
        </p:txBody>
      </p:sp>
      <p:sp>
        <p:nvSpPr>
          <p:cNvPr id="40" name="Text 38"/>
          <p:cNvSpPr txBox="1"/>
          <p:nvPr/>
        </p:nvSpPr>
        <p:spPr>
          <a:xfrm>
            <a:off x="5913120" y="3749040"/>
            <a:ext cx="1450848" cy="45720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PC</a:t>
            </a:r>
            <a:endParaRPr lang="en-US" sz="1100" dirty="0"/>
          </a:p>
        </p:txBody>
      </p:sp>
      <p:sp>
        <p:nvSpPr>
          <p:cNvPr id="41" name="Shape 39"/>
          <p:cNvSpPr/>
          <p:nvPr/>
        </p:nvSpPr>
        <p:spPr>
          <a:xfrm>
            <a:off x="5913120" y="4251960"/>
            <a:ext cx="1450848" cy="457200"/>
          </a:xfrm>
          <a:prstGeom prst="roundRect">
            <a:avLst>
              <a:gd name="adj" fmla="val 10000"/>
            </a:avLst>
          </a:prstGeom>
          <a:solidFill>
            <a:srgbClr val="F2F2F2"/>
          </a:solidFill>
          <a:ln/>
        </p:spPr>
        <p:txBody>
          <a:bodyPr/>
          <a:p/>
        </p:txBody>
      </p:sp>
      <p:sp>
        <p:nvSpPr>
          <p:cNvPr id="42" name="Text 40"/>
          <p:cNvSpPr txBox="1"/>
          <p:nvPr/>
        </p:nvSpPr>
        <p:spPr>
          <a:xfrm>
            <a:off x="5913120" y="4251960"/>
            <a:ext cx="1450848" cy="45720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stack</a:t>
            </a:r>
            <a:endParaRPr lang="en-US" sz="1100" dirty="0"/>
          </a:p>
        </p:txBody>
      </p:sp>
      <p:sp>
        <p:nvSpPr>
          <p:cNvPr id="43" name="Shape 41"/>
          <p:cNvSpPr/>
          <p:nvPr/>
        </p:nvSpPr>
        <p:spPr>
          <a:xfrm>
            <a:off x="6638544" y="4800600"/>
            <a:ext cx="91" cy="1051560"/>
          </a:xfrm>
          <a:prstGeom prst="line">
            <a:avLst/>
          </a:prstGeom>
          <a:noFill/>
          <a:ln w="31750">
            <a:solidFill>
              <a:srgbClr val="028090"/>
            </a:solidFill>
            <a:prstDash val="solid"/>
            <a:tailEnd type="triangle"/>
          </a:ln>
        </p:spPr>
        <p:txBody>
          <a:bodyPr/>
          <a:p/>
        </p:txBody>
      </p:sp>
      <p:sp>
        <p:nvSpPr>
          <p:cNvPr id="44" name="Shape 42"/>
          <p:cNvSpPr/>
          <p:nvPr/>
        </p:nvSpPr>
        <p:spPr>
          <a:xfrm>
            <a:off x="7437120" y="3246120"/>
            <a:ext cx="1450848" cy="457200"/>
          </a:xfrm>
          <a:prstGeom prst="roundRect">
            <a:avLst>
              <a:gd name="adj" fmla="val 10000"/>
            </a:avLst>
          </a:prstGeom>
          <a:solidFill>
            <a:srgbClr val="F2F2F2"/>
          </a:solidFill>
          <a:ln/>
        </p:spPr>
        <p:txBody>
          <a:bodyPr/>
          <a:p/>
        </p:txBody>
      </p:sp>
      <p:sp>
        <p:nvSpPr>
          <p:cNvPr id="45" name="Text 43"/>
          <p:cNvSpPr txBox="1"/>
          <p:nvPr/>
        </p:nvSpPr>
        <p:spPr>
          <a:xfrm>
            <a:off x="7437120" y="3246120"/>
            <a:ext cx="1450848" cy="45720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registers</a:t>
            </a:r>
            <a:endParaRPr lang="en-US" sz="1100" dirty="0"/>
          </a:p>
        </p:txBody>
      </p:sp>
      <p:sp>
        <p:nvSpPr>
          <p:cNvPr id="46" name="Shape 44"/>
          <p:cNvSpPr/>
          <p:nvPr/>
        </p:nvSpPr>
        <p:spPr>
          <a:xfrm>
            <a:off x="7437120" y="3749040"/>
            <a:ext cx="1450848" cy="457200"/>
          </a:xfrm>
          <a:prstGeom prst="roundRect">
            <a:avLst>
              <a:gd name="adj" fmla="val 10000"/>
            </a:avLst>
          </a:prstGeom>
          <a:solidFill>
            <a:srgbClr val="F2F2F2"/>
          </a:solidFill>
          <a:ln/>
        </p:spPr>
        <p:txBody>
          <a:bodyPr/>
          <a:p/>
        </p:txBody>
      </p:sp>
      <p:sp>
        <p:nvSpPr>
          <p:cNvPr id="47" name="Text 45"/>
          <p:cNvSpPr txBox="1"/>
          <p:nvPr/>
        </p:nvSpPr>
        <p:spPr>
          <a:xfrm>
            <a:off x="7437120" y="3749040"/>
            <a:ext cx="1450848" cy="45720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PC</a:t>
            </a:r>
            <a:endParaRPr lang="en-US" sz="1100" dirty="0"/>
          </a:p>
        </p:txBody>
      </p:sp>
      <p:sp>
        <p:nvSpPr>
          <p:cNvPr id="48" name="Shape 46"/>
          <p:cNvSpPr/>
          <p:nvPr/>
        </p:nvSpPr>
        <p:spPr>
          <a:xfrm>
            <a:off x="7437120" y="4251960"/>
            <a:ext cx="1450848" cy="457200"/>
          </a:xfrm>
          <a:prstGeom prst="roundRect">
            <a:avLst>
              <a:gd name="adj" fmla="val 10000"/>
            </a:avLst>
          </a:prstGeom>
          <a:solidFill>
            <a:srgbClr val="F2F2F2"/>
          </a:solidFill>
          <a:ln/>
        </p:spPr>
        <p:txBody>
          <a:bodyPr/>
          <a:p/>
        </p:txBody>
      </p:sp>
      <p:sp>
        <p:nvSpPr>
          <p:cNvPr id="49" name="Text 47"/>
          <p:cNvSpPr txBox="1"/>
          <p:nvPr/>
        </p:nvSpPr>
        <p:spPr>
          <a:xfrm>
            <a:off x="7437120" y="4251960"/>
            <a:ext cx="1450848" cy="457200"/>
          </a:xfrm>
          <a:prstGeom prst="rect">
            <a:avLst/>
          </a:prstGeom>
          <a:noFill/>
          <a:ln/>
        </p:spPr>
        <p:txBody>
          <a:bodyPr wrap="square" lIns="38100" tIns="38100" rIns="38100" bIns="38100" rtlCol="0" anchor="ctr"/>
          <a:lstStyle/>
          <a:p>
            <a:pPr algn="ctr" indent="0" marL="0">
              <a:buNone/>
            </a:pPr>
            <a:r>
              <a:rPr lang="en-US" sz="1100" b="1" dirty="0">
                <a:solidFill>
                  <a:srgbClr val="36454F"/>
                </a:solidFill>
                <a:latin typeface="Calibri" pitchFamily="34" charset="0"/>
                <a:ea typeface="Calibri" pitchFamily="34" charset="-122"/>
                <a:cs typeface="Calibri" pitchFamily="34" charset="-120"/>
              </a:rPr>
              <a:t>stack</a:t>
            </a:r>
            <a:endParaRPr lang="en-US" sz="1100" dirty="0"/>
          </a:p>
        </p:txBody>
      </p:sp>
      <p:sp>
        <p:nvSpPr>
          <p:cNvPr id="50" name="Shape 48"/>
          <p:cNvSpPr/>
          <p:nvPr/>
        </p:nvSpPr>
        <p:spPr>
          <a:xfrm>
            <a:off x="8162544" y="4800600"/>
            <a:ext cx="91" cy="1051560"/>
          </a:xfrm>
          <a:prstGeom prst="line">
            <a:avLst/>
          </a:prstGeom>
          <a:noFill/>
          <a:ln w="31750">
            <a:solidFill>
              <a:srgbClr val="028090"/>
            </a:solidFill>
            <a:prstDash val="solid"/>
            <a:tailEnd type="triangle"/>
          </a:ln>
        </p:spPr>
        <p:txBody>
          <a:bodyPr/>
          <a:p/>
        </p:txBody>
      </p:sp>
      <p:sp>
        <p:nvSpPr>
          <p:cNvPr id="51" name="Text 49"/>
          <p:cNvSpPr txBox="1"/>
          <p:nvPr/>
        </p:nvSpPr>
        <p:spPr>
          <a:xfrm>
            <a:off x="4206240" y="6035040"/>
            <a:ext cx="4937760" cy="274320"/>
          </a:xfrm>
          <a:prstGeom prst="rect">
            <a:avLst/>
          </a:prstGeom>
          <a:noFill/>
          <a:ln/>
        </p:spPr>
        <p:txBody>
          <a:bodyPr wrap="square" lIns="0" tIns="0" rIns="0" bIns="0" rtlCol="0" anchor="t"/>
          <a:lstStyle/>
          <a:p>
            <a:pPr algn="ctr" indent="0" marL="0">
              <a:buNone/>
            </a:pPr>
            <a:r>
              <a:rPr lang="en-US" sz="1100" i="1" dirty="0">
                <a:solidFill>
                  <a:srgbClr val="028090"/>
                </a:solidFill>
                <a:latin typeface="Calibri" pitchFamily="34" charset="0"/>
                <a:ea typeface="Calibri" pitchFamily="34" charset="-122"/>
                <a:cs typeface="Calibri" pitchFamily="34" charset="-120"/>
              </a:rPr>
              <a:t>↓ = one thread of execution</a:t>
            </a:r>
            <a:endParaRPr lang="en-US" sz="1100" dirty="0"/>
          </a:p>
        </p:txBody>
      </p:sp>
      <p:sp>
        <p:nvSpPr>
          <p:cNvPr id="52" name="Shape 50"/>
          <p:cNvSpPr/>
          <p:nvPr/>
        </p:nvSpPr>
        <p:spPr>
          <a:xfrm>
            <a:off x="9464040" y="2103120"/>
            <a:ext cx="2194560" cy="4160520"/>
          </a:xfrm>
          <a:prstGeom prst="roundRect">
            <a:avLst>
              <a:gd name="adj" fmla="val 25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53" name="Text 51"/>
          <p:cNvSpPr txBox="1"/>
          <p:nvPr/>
        </p:nvSpPr>
        <p:spPr>
          <a:xfrm>
            <a:off x="9692640" y="2286000"/>
            <a:ext cx="17373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Note</a:t>
            </a:r>
            <a:endParaRPr lang="en-US" sz="1500" dirty="0"/>
          </a:p>
        </p:txBody>
      </p:sp>
      <p:sp>
        <p:nvSpPr>
          <p:cNvPr id="54" name="Text 52"/>
          <p:cNvSpPr txBox="1"/>
          <p:nvPr/>
        </p:nvSpPr>
        <p:spPr>
          <a:xfrm>
            <a:off x="9692640" y="2743200"/>
            <a:ext cx="1737360" cy="3383280"/>
          </a:xfrm>
          <a:prstGeom prst="rect">
            <a:avLst/>
          </a:prstGeom>
          <a:noFill/>
          <a:ln/>
        </p:spPr>
        <p:txBody>
          <a:bodyPr wrap="square" lIns="0" tIns="0" rIns="0" bIns="0" rtlCol="0" anchor="t"/>
          <a:lstStyle/>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A traditional ("heavyweight") process is simply a process with exactly one thread.</a:t>
            </a:r>
            <a:endParaRPr lang="en-US" sz="1300" dirty="0"/>
          </a:p>
          <a:p>
            <a:pPr indent="0" marL="0">
              <a:spcAft>
                <a:spcPts val="400"/>
              </a:spcAft>
              <a:buNone/>
            </a:pPr>
            <a:endParaRPr lang="en-US" sz="1300" dirty="0"/>
          </a:p>
          <a:p>
            <a:pPr indent="0" marL="0">
              <a:spcAft>
                <a:spcPts val="400"/>
              </a:spcAft>
              <a:buNone/>
            </a:pPr>
            <a:r>
              <a:rPr lang="en-US" sz="1300" dirty="0">
                <a:solidFill>
                  <a:srgbClr val="3A464C"/>
                </a:solidFill>
                <a:latin typeface="Calibri" pitchFamily="34" charset="0"/>
                <a:ea typeface="Calibri" pitchFamily="34" charset="-122"/>
                <a:cs typeface="Calibri" pitchFamily="34" charset="-120"/>
              </a:rPr>
              <a:t>The PCB of Week 3 now splits: per-process part + one small block per thread.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PROCESS VS. THREAD</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Do Threads Share? What Is Private?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743200"/>
                <a:gridCol w="2651760"/>
                <a:gridCol w="5715000"/>
              </a:tblGrid>
              <a:tr h="0">
                <a:tc>
                  <a:txBody>
                    <a:bodyPr/>
                    <a:lstStyle/>
                    <a:p>
                      <a:pPr indent="0" marL="0">
                        <a:buNone/>
                      </a:pPr>
                      <a:r>
                        <a:rPr lang="en-US" sz="1800" b="1" dirty="0">
                          <a:solidFill>
                            <a:srgbClr val="FFFFFF"/>
                          </a:solidFill>
                          <a:latin typeface="Cambria" pitchFamily="34" charset="0"/>
                          <a:ea typeface="Cambria" pitchFamily="34" charset="-122"/>
                          <a:cs typeface="Cambria" pitchFamily="34" charset="-120"/>
                        </a:rPr>
                        <a:t>Item</a:t>
                      </a:r>
                      <a:endParaRPr lang="en-US"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800" b="1" dirty="0">
                          <a:solidFill>
                            <a:srgbClr val="FFFFFF"/>
                          </a:solidFill>
                          <a:latin typeface="Cambria" pitchFamily="34" charset="0"/>
                          <a:ea typeface="Cambria" pitchFamily="34" charset="-122"/>
                          <a:cs typeface="Cambria" pitchFamily="34" charset="-120"/>
                        </a:rPr>
                        <a:t>Threads of one process…</a:t>
                      </a:r>
                      <a:endParaRPr lang="en-US"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800" b="1" dirty="0">
                          <a:solidFill>
                            <a:srgbClr val="FFFFFF"/>
                          </a:solidFill>
                          <a:latin typeface="Cambria" pitchFamily="34" charset="0"/>
                          <a:ea typeface="Cambria" pitchFamily="34" charset="-122"/>
                          <a:cs typeface="Cambria" pitchFamily="34" charset="-120"/>
                        </a:rPr>
                        <a:t>Why</a:t>
                      </a:r>
                      <a:endParaRPr lang="en-US"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Code (text section)</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share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All threads run functions of the same program.</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Global data &amp; heap</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share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A global variable or a malloc'ed array is visible to every thread.</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Open files, PID, user ID</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share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Resources belong to the process, not to a thread.</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Program counter &amp; registers</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private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Each thread is at its own place in the code.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Stack (local variables)</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private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Each thread has its own chain of function calls.</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Thread ID, scheduling state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private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The OS schedules each thread separately.</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Sharing is the whole point — and the danger: two threads changing the same variable at the same time give wrong results (race condition, Week 5).</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BENEFITS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Four Benefits of Multithreading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8</a:t>
            </a:r>
            <a:endParaRPr lang="en-US" sz="900" dirty="0"/>
          </a:p>
        </p:txBody>
      </p:sp>
      <p:sp>
        <p:nvSpPr>
          <p:cNvPr id="6" name="Shape 4"/>
          <p:cNvSpPr/>
          <p:nvPr/>
        </p:nvSpPr>
        <p:spPr>
          <a:xfrm>
            <a:off x="548640" y="150876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1. Responsiveness</a:t>
            </a:r>
            <a:endParaRPr lang="en-US" sz="1600" dirty="0"/>
          </a:p>
        </p:txBody>
      </p:sp>
      <p:sp>
        <p:nvSpPr>
          <p:cNvPr id="8" name="Text 6"/>
          <p:cNvSpPr txBox="1"/>
          <p:nvPr/>
        </p:nvSpPr>
        <p:spPr>
          <a:xfrm>
            <a:off x="777240" y="2148840"/>
            <a:ext cx="4983480" cy="982980"/>
          </a:xfrm>
          <a:prstGeom prst="rect">
            <a:avLst/>
          </a:prstGeom>
          <a:noFill/>
          <a:ln/>
        </p:spPr>
        <p:txBody>
          <a:bodyPr wrap="square" lIns="0" tIns="0" rIns="0" bIns="0" rtlCol="0" anchor="t"/>
          <a:lstStyle/>
          <a:p>
            <a:pPr indent="0" marL="0">
              <a:spcAft>
                <a:spcPts val="400"/>
              </a:spcAft>
              <a:buNone/>
            </a:pPr>
            <a:r>
              <a:rPr lang="en-US" sz="1800" dirty="0">
                <a:solidFill>
                  <a:srgbClr val="3A464C"/>
                </a:solidFill>
                <a:latin typeface="Calibri" pitchFamily="34" charset="0"/>
                <a:ea typeface="Calibri" pitchFamily="34" charset="-122"/>
                <a:cs typeface="Calibri" pitchFamily="34" charset="-120"/>
              </a:rPr>
              <a:t>If one thread blocks or does a long computation, the others keep going — the user interface does not freeze.</a:t>
            </a:r>
            <a:endParaRPr lang="en-US" sz="1800" dirty="0"/>
          </a:p>
        </p:txBody>
      </p:sp>
      <p:sp>
        <p:nvSpPr>
          <p:cNvPr id="9" name="Shape 7"/>
          <p:cNvSpPr/>
          <p:nvPr/>
        </p:nvSpPr>
        <p:spPr>
          <a:xfrm>
            <a:off x="6217920" y="150876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2. Resource sharing</a:t>
            </a:r>
            <a:endParaRPr lang="en-US" sz="1600" dirty="0"/>
          </a:p>
        </p:txBody>
      </p:sp>
      <p:sp>
        <p:nvSpPr>
          <p:cNvPr id="11" name="Text 9"/>
          <p:cNvSpPr txBox="1"/>
          <p:nvPr/>
        </p:nvSpPr>
        <p:spPr>
          <a:xfrm>
            <a:off x="6446520" y="2148840"/>
            <a:ext cx="4983480" cy="982980"/>
          </a:xfrm>
          <a:prstGeom prst="rect">
            <a:avLst/>
          </a:prstGeom>
          <a:noFill/>
          <a:ln/>
        </p:spPr>
        <p:txBody>
          <a:bodyPr wrap="square" lIns="0" tIns="0" rIns="0" bIns="0" rtlCol="0" anchor="t"/>
          <a:lstStyle/>
          <a:p>
            <a:pPr indent="0" marL="0">
              <a:spcAft>
                <a:spcPts val="400"/>
              </a:spcAft>
              <a:buNone/>
            </a:pPr>
            <a:r>
              <a:rPr lang="en-US" sz="1800" dirty="0">
                <a:solidFill>
                  <a:srgbClr val="3A464C"/>
                </a:solidFill>
                <a:latin typeface="Calibri" pitchFamily="34" charset="0"/>
                <a:ea typeface="Calibri" pitchFamily="34" charset="-122"/>
                <a:cs typeface="Calibri" pitchFamily="34" charset="-120"/>
              </a:rPr>
              <a:t>Threads share memory and files automatically. Processes need extra mechanisms (shared memory, pipes) to cooperate.</a:t>
            </a:r>
            <a:endParaRPr lang="en-US" sz="1800" dirty="0"/>
          </a:p>
        </p:txBody>
      </p:sp>
      <p:sp>
        <p:nvSpPr>
          <p:cNvPr id="12" name="Shape 10"/>
          <p:cNvSpPr/>
          <p:nvPr/>
        </p:nvSpPr>
        <p:spPr>
          <a:xfrm>
            <a:off x="548640" y="349758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368046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3. Economy</a:t>
            </a:r>
            <a:endParaRPr lang="en-US" sz="1600" dirty="0"/>
          </a:p>
        </p:txBody>
      </p:sp>
      <p:sp>
        <p:nvSpPr>
          <p:cNvPr id="14" name="Text 12"/>
          <p:cNvSpPr txBox="1"/>
          <p:nvPr/>
        </p:nvSpPr>
        <p:spPr>
          <a:xfrm>
            <a:off x="777240" y="4137660"/>
            <a:ext cx="4983480" cy="982980"/>
          </a:xfrm>
          <a:prstGeom prst="rect">
            <a:avLst/>
          </a:prstGeom>
          <a:noFill/>
          <a:ln/>
        </p:spPr>
        <p:txBody>
          <a:bodyPr wrap="square" lIns="0" tIns="0" rIns="0" bIns="0" rtlCol="0" anchor="t"/>
          <a:lstStyle/>
          <a:p>
            <a:pPr indent="0" marL="0">
              <a:spcAft>
                <a:spcPts val="400"/>
              </a:spcAft>
              <a:buNone/>
            </a:pPr>
            <a:r>
              <a:rPr lang="en-US" sz="1800" dirty="0">
                <a:solidFill>
                  <a:srgbClr val="3A464C"/>
                </a:solidFill>
                <a:latin typeface="Calibri" pitchFamily="34" charset="0"/>
                <a:ea typeface="Calibri" pitchFamily="34" charset="-122"/>
                <a:cs typeface="Calibri" pitchFamily="34" charset="-120"/>
              </a:rPr>
              <a:t>Creating a thread and switching between threads are much cheaper than for processes: no new address space is needed.</a:t>
            </a:r>
            <a:endParaRPr lang="en-US" sz="1800" dirty="0"/>
          </a:p>
        </p:txBody>
      </p:sp>
      <p:sp>
        <p:nvSpPr>
          <p:cNvPr id="15" name="Shape 13"/>
          <p:cNvSpPr/>
          <p:nvPr/>
        </p:nvSpPr>
        <p:spPr>
          <a:xfrm>
            <a:off x="6217920" y="349758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6446520" y="3680460"/>
            <a:ext cx="498348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4. Scalability</a:t>
            </a:r>
            <a:endParaRPr lang="en-US" sz="1600" dirty="0"/>
          </a:p>
        </p:txBody>
      </p:sp>
      <p:sp>
        <p:nvSpPr>
          <p:cNvPr id="17" name="Text 15"/>
          <p:cNvSpPr txBox="1"/>
          <p:nvPr/>
        </p:nvSpPr>
        <p:spPr>
          <a:xfrm>
            <a:off x="6446520" y="4137660"/>
            <a:ext cx="4983480" cy="982980"/>
          </a:xfrm>
          <a:prstGeom prst="rect">
            <a:avLst/>
          </a:prstGeom>
          <a:noFill/>
          <a:ln/>
        </p:spPr>
        <p:txBody>
          <a:bodyPr wrap="square" lIns="0" tIns="0" rIns="0" bIns="0" rtlCol="0" anchor="t"/>
          <a:lstStyle/>
          <a:p>
            <a:pPr indent="0" marL="0">
              <a:spcAft>
                <a:spcPts val="400"/>
              </a:spcAft>
              <a:buNone/>
            </a:pPr>
            <a:r>
              <a:rPr lang="en-US" sz="1800" dirty="0">
                <a:solidFill>
                  <a:srgbClr val="3A464C"/>
                </a:solidFill>
                <a:latin typeface="Calibri" pitchFamily="34" charset="0"/>
                <a:ea typeface="Calibri" pitchFamily="34" charset="-122"/>
                <a:cs typeface="Calibri" pitchFamily="34" charset="-120"/>
              </a:rPr>
              <a:t>On a multicore CPU, threads of one process can run in parallel on different cores. A single-threaded process uses one core only.</a:t>
            </a:r>
            <a:endParaRPr lang="en-US" sz="18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Next slide: we measure benefit 3 — how much cheaper is a thread than a process?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1: Is a Thread Really Cheaper?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9</a:t>
            </a:r>
            <a:endParaRPr lang="en-US" sz="900" dirty="0"/>
          </a:p>
        </p:txBody>
      </p:sp>
      <p:sp>
        <p:nvSpPr>
          <p:cNvPr id="6" name="Shape 4"/>
          <p:cNvSpPr/>
          <p:nvPr/>
        </p:nvSpPr>
        <p:spPr>
          <a:xfrm>
            <a:off x="548640" y="1508760"/>
            <a:ext cx="6492240" cy="4754880"/>
          </a:xfrm>
          <a:prstGeom prst="roundRect">
            <a:avLst>
              <a:gd name="adj" fmla="val 962"/>
            </a:avLst>
          </a:prstGeom>
          <a:solidFill>
            <a:srgbClr val="212121"/>
          </a:solidFill>
          <a:ln/>
        </p:spPr>
        <p:txBody>
          <a:bodyPr/>
          <a:p/>
        </p:txBody>
      </p:sp>
      <p:sp>
        <p:nvSpPr>
          <p:cNvPr id="7" name="Text 5"/>
          <p:cNvSpPr txBox="1"/>
          <p:nvPr/>
        </p:nvSpPr>
        <p:spPr>
          <a:xfrm>
            <a:off x="731520" y="1618488"/>
            <a:ext cx="6126480" cy="4535424"/>
          </a:xfrm>
          <a:prstGeom prst="rect">
            <a:avLst/>
          </a:prstGeom>
          <a:noFill/>
          <a:ln/>
        </p:spPr>
        <p:txBody>
          <a:bodyPr wrap="square" lIns="0" tIns="0" rIns="0" bIns="0" rtlCol="0" anchor="t"/>
          <a:lstStyle/>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#define N 5000</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void *nothing(void *arg) { return arg; }</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8A9AA0"/>
                </a:solidFill>
                <a:latin typeface="Consolas" pitchFamily="34" charset="0"/>
                <a:ea typeface="Consolas" pitchFamily="34" charset="-122"/>
                <a:cs typeface="Consolas" pitchFamily="34" charset="-120"/>
              </a:rPr>
              <a:t>/* 1) N processes */</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for (int i = 0; i &lt; N; i++) {</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pid_t pid = fork();            /* copy the process */</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if (pid == 0) _exit(0);        /* child exits      */</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waitpid(pid, NULL, 0);</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8A9AA0"/>
                </a:solidFill>
                <a:latin typeface="Consolas" pitchFamily="34" charset="0"/>
                <a:ea typeface="Consolas" pitchFamily="34" charset="-122"/>
                <a:cs typeface="Consolas" pitchFamily="34" charset="-120"/>
              </a:rPr>
              <a:t>/* 2) N threads */</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for (int i = 0; i &lt; N; i++) {</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pthread_t t;</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pthread_create(&amp;t, NULL, nothing, NULL);</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pthread_join(t, NULL);</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8A9AA0"/>
                </a:solidFill>
                <a:latin typeface="Consolas" pitchFamily="34" charset="0"/>
                <a:ea typeface="Consolas" pitchFamily="34" charset="-122"/>
                <a:cs typeface="Consolas" pitchFamily="34" charset="-120"/>
              </a:rPr>
              <a:t>/* full program: code/create_cost.c */</a:t>
            </a:r>
            <a:endParaRPr lang="en-US" sz="1200" dirty="0"/>
          </a:p>
        </p:txBody>
      </p:sp>
      <p:sp>
        <p:nvSpPr>
          <p:cNvPr id="8" name="Shape 6"/>
          <p:cNvSpPr/>
          <p:nvPr/>
        </p:nvSpPr>
        <p:spPr>
          <a:xfrm>
            <a:off x="7315200" y="1508760"/>
            <a:ext cx="4343400" cy="2788920"/>
          </a:xfrm>
          <a:prstGeom prst="roundRect">
            <a:avLst>
              <a:gd name="adj" fmla="val 19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543800" y="1691640"/>
            <a:ext cx="3886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experiment</a:t>
            </a:r>
            <a:endParaRPr lang="en-US" sz="1500" dirty="0"/>
          </a:p>
        </p:txBody>
      </p:sp>
      <p:sp>
        <p:nvSpPr>
          <p:cNvPr id="10" name="Text 8"/>
          <p:cNvSpPr txBox="1"/>
          <p:nvPr/>
        </p:nvSpPr>
        <p:spPr>
          <a:xfrm>
            <a:off x="7543800" y="2148840"/>
            <a:ext cx="3886200" cy="201168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Create 5000 processes (fork + wait), each exits immediately.</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Then create 5000 threads (pthread_create + join) that do nothing.</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Measured on a 2-core Linux virtual machine:</a:t>
            </a:r>
            <a:endParaRPr lang="en-US" sz="1300" dirty="0"/>
          </a:p>
        </p:txBody>
      </p:sp>
      <p:sp>
        <p:nvSpPr>
          <p:cNvPr id="11" name="Shape 9"/>
          <p:cNvSpPr/>
          <p:nvPr/>
        </p:nvSpPr>
        <p:spPr>
          <a:xfrm>
            <a:off x="7315200" y="4526280"/>
            <a:ext cx="4343400" cy="1737360"/>
          </a:xfrm>
          <a:prstGeom prst="roundRect">
            <a:avLst>
              <a:gd name="adj" fmla="val 2632"/>
            </a:avLst>
          </a:prstGeom>
          <a:solidFill>
            <a:srgbClr val="212121"/>
          </a:solidFill>
          <a:ln/>
        </p:spPr>
        <p:txBody>
          <a:bodyPr/>
          <a:p/>
        </p:txBody>
      </p:sp>
      <p:sp>
        <p:nvSpPr>
          <p:cNvPr id="12" name="Text 10"/>
          <p:cNvSpPr txBox="1"/>
          <p:nvPr/>
        </p:nvSpPr>
        <p:spPr>
          <a:xfrm>
            <a:off x="7498080" y="4636008"/>
            <a:ext cx="3977640" cy="1517904"/>
          </a:xfrm>
          <a:prstGeom prst="rect">
            <a:avLst/>
          </a:prstGeom>
          <a:noFill/>
          <a:ln/>
        </p:spPr>
        <p:txBody>
          <a:bodyPr wrap="square" lIns="0" tIns="0" rIns="0" bIns="0" rtlCol="0" anchor="t"/>
          <a:lstStyle/>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 ./create_cost</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fork + wait          :  205.5 us per process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pthread_create + join:   51.9 us per thread</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a thread is about 4 times cheaper to create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MULTICORE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Concurrency vs. Parallelism</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Four threads T1–T4 over time. Same program, two different machines.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10</a:t>
            </a:r>
            <a:endParaRPr lang="en-US" sz="900" dirty="0"/>
          </a:p>
        </p:txBody>
      </p:sp>
      <p:sp>
        <p:nvSpPr>
          <p:cNvPr id="7" name="Text 5"/>
          <p:cNvSpPr txBox="1"/>
          <p:nvPr/>
        </p:nvSpPr>
        <p:spPr>
          <a:xfrm>
            <a:off x="548640" y="2331720"/>
            <a:ext cx="1737360" cy="54864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Single core</a:t>
            </a:r>
            <a:endParaRPr lang="en-US" sz="1500" dirty="0"/>
          </a:p>
        </p:txBody>
      </p:sp>
      <p:sp>
        <p:nvSpPr>
          <p:cNvPr id="8" name="Shape 6"/>
          <p:cNvSpPr/>
          <p:nvPr/>
        </p:nvSpPr>
        <p:spPr>
          <a:xfrm>
            <a:off x="2377440" y="2331720"/>
            <a:ext cx="566928" cy="548640"/>
          </a:xfrm>
          <a:prstGeom prst="rect">
            <a:avLst/>
          </a:prstGeom>
          <a:solidFill>
            <a:srgbClr val="02C39A"/>
          </a:solidFill>
          <a:ln w="19050">
            <a:solidFill>
              <a:srgbClr val="FFFFFF"/>
            </a:solidFill>
            <a:prstDash val="solid"/>
          </a:ln>
        </p:spPr>
        <p:txBody>
          <a:bodyPr/>
          <a:p/>
        </p:txBody>
      </p:sp>
      <p:sp>
        <p:nvSpPr>
          <p:cNvPr id="9" name="Text 7"/>
          <p:cNvSpPr txBox="1"/>
          <p:nvPr/>
        </p:nvSpPr>
        <p:spPr>
          <a:xfrm>
            <a:off x="2377440" y="233172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T1</a:t>
            </a:r>
            <a:endParaRPr lang="en-US" sz="1200" dirty="0"/>
          </a:p>
        </p:txBody>
      </p:sp>
      <p:sp>
        <p:nvSpPr>
          <p:cNvPr id="10" name="Shape 8"/>
          <p:cNvSpPr/>
          <p:nvPr/>
        </p:nvSpPr>
        <p:spPr>
          <a:xfrm>
            <a:off x="2944368" y="2331720"/>
            <a:ext cx="566928" cy="548640"/>
          </a:xfrm>
          <a:prstGeom prst="rect">
            <a:avLst/>
          </a:prstGeom>
          <a:solidFill>
            <a:srgbClr val="36454F"/>
          </a:solidFill>
          <a:ln w="19050">
            <a:solidFill>
              <a:srgbClr val="FFFFFF"/>
            </a:solidFill>
            <a:prstDash val="solid"/>
          </a:ln>
        </p:spPr>
        <p:txBody>
          <a:bodyPr/>
          <a:p/>
        </p:txBody>
      </p:sp>
      <p:sp>
        <p:nvSpPr>
          <p:cNvPr id="11" name="Text 9"/>
          <p:cNvSpPr txBox="1"/>
          <p:nvPr/>
        </p:nvSpPr>
        <p:spPr>
          <a:xfrm>
            <a:off x="2944368" y="233172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12" name="Shape 10"/>
          <p:cNvSpPr/>
          <p:nvPr/>
        </p:nvSpPr>
        <p:spPr>
          <a:xfrm>
            <a:off x="3511296" y="2331720"/>
            <a:ext cx="566928" cy="548640"/>
          </a:xfrm>
          <a:prstGeom prst="rect">
            <a:avLst/>
          </a:prstGeom>
          <a:solidFill>
            <a:srgbClr val="50808E"/>
          </a:solidFill>
          <a:ln w="19050">
            <a:solidFill>
              <a:srgbClr val="FFFFFF"/>
            </a:solidFill>
            <a:prstDash val="solid"/>
          </a:ln>
        </p:spPr>
        <p:txBody>
          <a:bodyPr/>
          <a:p/>
        </p:txBody>
      </p:sp>
      <p:sp>
        <p:nvSpPr>
          <p:cNvPr id="13" name="Text 11"/>
          <p:cNvSpPr txBox="1"/>
          <p:nvPr/>
        </p:nvSpPr>
        <p:spPr>
          <a:xfrm>
            <a:off x="3511296" y="233172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14" name="Shape 12"/>
          <p:cNvSpPr/>
          <p:nvPr/>
        </p:nvSpPr>
        <p:spPr>
          <a:xfrm>
            <a:off x="4078224" y="2331720"/>
            <a:ext cx="566928" cy="548640"/>
          </a:xfrm>
          <a:prstGeom prst="rect">
            <a:avLst/>
          </a:prstGeom>
          <a:solidFill>
            <a:srgbClr val="D7E9E6"/>
          </a:solidFill>
          <a:ln w="19050">
            <a:solidFill>
              <a:srgbClr val="FFFFFF"/>
            </a:solidFill>
            <a:prstDash val="solid"/>
          </a:ln>
        </p:spPr>
        <p:txBody>
          <a:bodyPr/>
          <a:p/>
        </p:txBody>
      </p:sp>
      <p:sp>
        <p:nvSpPr>
          <p:cNvPr id="15" name="Text 13"/>
          <p:cNvSpPr txBox="1"/>
          <p:nvPr/>
        </p:nvSpPr>
        <p:spPr>
          <a:xfrm>
            <a:off x="4078224" y="233172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T4</a:t>
            </a:r>
            <a:endParaRPr lang="en-US" sz="1200" dirty="0"/>
          </a:p>
        </p:txBody>
      </p:sp>
      <p:sp>
        <p:nvSpPr>
          <p:cNvPr id="16" name="Shape 14"/>
          <p:cNvSpPr/>
          <p:nvPr/>
        </p:nvSpPr>
        <p:spPr>
          <a:xfrm>
            <a:off x="4645152" y="2331720"/>
            <a:ext cx="566928" cy="548640"/>
          </a:xfrm>
          <a:prstGeom prst="rect">
            <a:avLst/>
          </a:prstGeom>
          <a:solidFill>
            <a:srgbClr val="02C39A"/>
          </a:solidFill>
          <a:ln w="19050">
            <a:solidFill>
              <a:srgbClr val="FFFFFF"/>
            </a:solidFill>
            <a:prstDash val="solid"/>
          </a:ln>
        </p:spPr>
        <p:txBody>
          <a:bodyPr/>
          <a:p/>
        </p:txBody>
      </p:sp>
      <p:sp>
        <p:nvSpPr>
          <p:cNvPr id="17" name="Text 15"/>
          <p:cNvSpPr txBox="1"/>
          <p:nvPr/>
        </p:nvSpPr>
        <p:spPr>
          <a:xfrm>
            <a:off x="4645152" y="233172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T1</a:t>
            </a:r>
            <a:endParaRPr lang="en-US" sz="1200" dirty="0"/>
          </a:p>
        </p:txBody>
      </p:sp>
      <p:sp>
        <p:nvSpPr>
          <p:cNvPr id="18" name="Shape 16"/>
          <p:cNvSpPr/>
          <p:nvPr/>
        </p:nvSpPr>
        <p:spPr>
          <a:xfrm>
            <a:off x="5212080" y="2331720"/>
            <a:ext cx="566928" cy="548640"/>
          </a:xfrm>
          <a:prstGeom prst="rect">
            <a:avLst/>
          </a:prstGeom>
          <a:solidFill>
            <a:srgbClr val="36454F"/>
          </a:solidFill>
          <a:ln w="19050">
            <a:solidFill>
              <a:srgbClr val="FFFFFF"/>
            </a:solidFill>
            <a:prstDash val="solid"/>
          </a:ln>
        </p:spPr>
        <p:txBody>
          <a:bodyPr/>
          <a:p/>
        </p:txBody>
      </p:sp>
      <p:sp>
        <p:nvSpPr>
          <p:cNvPr id="19" name="Text 17"/>
          <p:cNvSpPr txBox="1"/>
          <p:nvPr/>
        </p:nvSpPr>
        <p:spPr>
          <a:xfrm>
            <a:off x="5212080" y="233172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20" name="Shape 18"/>
          <p:cNvSpPr/>
          <p:nvPr/>
        </p:nvSpPr>
        <p:spPr>
          <a:xfrm>
            <a:off x="5779008" y="2331720"/>
            <a:ext cx="566928" cy="548640"/>
          </a:xfrm>
          <a:prstGeom prst="rect">
            <a:avLst/>
          </a:prstGeom>
          <a:solidFill>
            <a:srgbClr val="50808E"/>
          </a:solidFill>
          <a:ln w="19050">
            <a:solidFill>
              <a:srgbClr val="FFFFFF"/>
            </a:solidFill>
            <a:prstDash val="solid"/>
          </a:ln>
        </p:spPr>
        <p:txBody>
          <a:bodyPr/>
          <a:p/>
        </p:txBody>
      </p:sp>
      <p:sp>
        <p:nvSpPr>
          <p:cNvPr id="21" name="Text 19"/>
          <p:cNvSpPr txBox="1"/>
          <p:nvPr/>
        </p:nvSpPr>
        <p:spPr>
          <a:xfrm>
            <a:off x="5779008" y="233172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22" name="Shape 20"/>
          <p:cNvSpPr/>
          <p:nvPr/>
        </p:nvSpPr>
        <p:spPr>
          <a:xfrm>
            <a:off x="6345936" y="2331720"/>
            <a:ext cx="566928" cy="548640"/>
          </a:xfrm>
          <a:prstGeom prst="rect">
            <a:avLst/>
          </a:prstGeom>
          <a:solidFill>
            <a:srgbClr val="D7E9E6"/>
          </a:solidFill>
          <a:ln w="19050">
            <a:solidFill>
              <a:srgbClr val="FFFFFF"/>
            </a:solidFill>
            <a:prstDash val="solid"/>
          </a:ln>
        </p:spPr>
        <p:txBody>
          <a:bodyPr/>
          <a:p/>
        </p:txBody>
      </p:sp>
      <p:sp>
        <p:nvSpPr>
          <p:cNvPr id="23" name="Text 21"/>
          <p:cNvSpPr txBox="1"/>
          <p:nvPr/>
        </p:nvSpPr>
        <p:spPr>
          <a:xfrm>
            <a:off x="6345936" y="233172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T4</a:t>
            </a:r>
            <a:endParaRPr lang="en-US" sz="1200" dirty="0"/>
          </a:p>
        </p:txBody>
      </p:sp>
      <p:sp>
        <p:nvSpPr>
          <p:cNvPr id="24" name="Shape 22"/>
          <p:cNvSpPr/>
          <p:nvPr/>
        </p:nvSpPr>
        <p:spPr>
          <a:xfrm>
            <a:off x="6912864" y="2331720"/>
            <a:ext cx="566928" cy="548640"/>
          </a:xfrm>
          <a:prstGeom prst="rect">
            <a:avLst/>
          </a:prstGeom>
          <a:solidFill>
            <a:srgbClr val="02C39A"/>
          </a:solidFill>
          <a:ln w="19050">
            <a:solidFill>
              <a:srgbClr val="FFFFFF"/>
            </a:solidFill>
            <a:prstDash val="solid"/>
          </a:ln>
        </p:spPr>
        <p:txBody>
          <a:bodyPr/>
          <a:p/>
        </p:txBody>
      </p:sp>
      <p:sp>
        <p:nvSpPr>
          <p:cNvPr id="25" name="Text 23"/>
          <p:cNvSpPr txBox="1"/>
          <p:nvPr/>
        </p:nvSpPr>
        <p:spPr>
          <a:xfrm>
            <a:off x="6912864" y="233172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T1</a:t>
            </a:r>
            <a:endParaRPr lang="en-US" sz="1200" dirty="0"/>
          </a:p>
        </p:txBody>
      </p:sp>
      <p:sp>
        <p:nvSpPr>
          <p:cNvPr id="26" name="Shape 24"/>
          <p:cNvSpPr/>
          <p:nvPr/>
        </p:nvSpPr>
        <p:spPr>
          <a:xfrm>
            <a:off x="7479792" y="2331720"/>
            <a:ext cx="566928" cy="548640"/>
          </a:xfrm>
          <a:prstGeom prst="rect">
            <a:avLst/>
          </a:prstGeom>
          <a:solidFill>
            <a:srgbClr val="36454F"/>
          </a:solidFill>
          <a:ln w="19050">
            <a:solidFill>
              <a:srgbClr val="FFFFFF"/>
            </a:solidFill>
            <a:prstDash val="solid"/>
          </a:ln>
        </p:spPr>
        <p:txBody>
          <a:bodyPr/>
          <a:p/>
        </p:txBody>
      </p:sp>
      <p:sp>
        <p:nvSpPr>
          <p:cNvPr id="27" name="Text 25"/>
          <p:cNvSpPr txBox="1"/>
          <p:nvPr/>
        </p:nvSpPr>
        <p:spPr>
          <a:xfrm>
            <a:off x="7479792" y="233172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28" name="Shape 26"/>
          <p:cNvSpPr/>
          <p:nvPr/>
        </p:nvSpPr>
        <p:spPr>
          <a:xfrm>
            <a:off x="8046720" y="2331720"/>
            <a:ext cx="566928" cy="548640"/>
          </a:xfrm>
          <a:prstGeom prst="rect">
            <a:avLst/>
          </a:prstGeom>
          <a:solidFill>
            <a:srgbClr val="50808E"/>
          </a:solidFill>
          <a:ln w="19050">
            <a:solidFill>
              <a:srgbClr val="FFFFFF"/>
            </a:solidFill>
            <a:prstDash val="solid"/>
          </a:ln>
        </p:spPr>
        <p:txBody>
          <a:bodyPr/>
          <a:p/>
        </p:txBody>
      </p:sp>
      <p:sp>
        <p:nvSpPr>
          <p:cNvPr id="29" name="Text 27"/>
          <p:cNvSpPr txBox="1"/>
          <p:nvPr/>
        </p:nvSpPr>
        <p:spPr>
          <a:xfrm>
            <a:off x="8046720" y="233172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30" name="Shape 28"/>
          <p:cNvSpPr/>
          <p:nvPr/>
        </p:nvSpPr>
        <p:spPr>
          <a:xfrm>
            <a:off x="8613648" y="2331720"/>
            <a:ext cx="566928" cy="548640"/>
          </a:xfrm>
          <a:prstGeom prst="rect">
            <a:avLst/>
          </a:prstGeom>
          <a:solidFill>
            <a:srgbClr val="D7E9E6"/>
          </a:solidFill>
          <a:ln w="19050">
            <a:solidFill>
              <a:srgbClr val="FFFFFF"/>
            </a:solidFill>
            <a:prstDash val="solid"/>
          </a:ln>
        </p:spPr>
        <p:txBody>
          <a:bodyPr/>
          <a:p/>
        </p:txBody>
      </p:sp>
      <p:sp>
        <p:nvSpPr>
          <p:cNvPr id="31" name="Text 29"/>
          <p:cNvSpPr txBox="1"/>
          <p:nvPr/>
        </p:nvSpPr>
        <p:spPr>
          <a:xfrm>
            <a:off x="8613648" y="233172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T4</a:t>
            </a:r>
            <a:endParaRPr lang="en-US" sz="1200" dirty="0"/>
          </a:p>
        </p:txBody>
      </p:sp>
      <p:sp>
        <p:nvSpPr>
          <p:cNvPr id="32" name="Shape 30"/>
          <p:cNvSpPr/>
          <p:nvPr/>
        </p:nvSpPr>
        <p:spPr>
          <a:xfrm>
            <a:off x="9180576" y="2331720"/>
            <a:ext cx="566928" cy="548640"/>
          </a:xfrm>
          <a:prstGeom prst="rect">
            <a:avLst/>
          </a:prstGeom>
          <a:solidFill>
            <a:srgbClr val="02C39A"/>
          </a:solidFill>
          <a:ln w="19050">
            <a:solidFill>
              <a:srgbClr val="FFFFFF"/>
            </a:solidFill>
            <a:prstDash val="solid"/>
          </a:ln>
        </p:spPr>
        <p:txBody>
          <a:bodyPr/>
          <a:p/>
        </p:txBody>
      </p:sp>
      <p:sp>
        <p:nvSpPr>
          <p:cNvPr id="33" name="Text 31"/>
          <p:cNvSpPr txBox="1"/>
          <p:nvPr/>
        </p:nvSpPr>
        <p:spPr>
          <a:xfrm>
            <a:off x="9180576" y="233172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T1</a:t>
            </a:r>
            <a:endParaRPr lang="en-US" sz="1200" dirty="0"/>
          </a:p>
        </p:txBody>
      </p:sp>
      <p:sp>
        <p:nvSpPr>
          <p:cNvPr id="34" name="Shape 32"/>
          <p:cNvSpPr/>
          <p:nvPr/>
        </p:nvSpPr>
        <p:spPr>
          <a:xfrm>
            <a:off x="9747504" y="2331720"/>
            <a:ext cx="566928" cy="548640"/>
          </a:xfrm>
          <a:prstGeom prst="rect">
            <a:avLst/>
          </a:prstGeom>
          <a:solidFill>
            <a:srgbClr val="36454F"/>
          </a:solidFill>
          <a:ln w="19050">
            <a:solidFill>
              <a:srgbClr val="FFFFFF"/>
            </a:solidFill>
            <a:prstDash val="solid"/>
          </a:ln>
        </p:spPr>
        <p:txBody>
          <a:bodyPr/>
          <a:p/>
        </p:txBody>
      </p:sp>
      <p:sp>
        <p:nvSpPr>
          <p:cNvPr id="35" name="Text 33"/>
          <p:cNvSpPr txBox="1"/>
          <p:nvPr/>
        </p:nvSpPr>
        <p:spPr>
          <a:xfrm>
            <a:off x="9747504" y="233172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36" name="Shape 34"/>
          <p:cNvSpPr/>
          <p:nvPr/>
        </p:nvSpPr>
        <p:spPr>
          <a:xfrm>
            <a:off x="10314432" y="2331720"/>
            <a:ext cx="566928" cy="548640"/>
          </a:xfrm>
          <a:prstGeom prst="rect">
            <a:avLst/>
          </a:prstGeom>
          <a:solidFill>
            <a:srgbClr val="50808E"/>
          </a:solidFill>
          <a:ln w="19050">
            <a:solidFill>
              <a:srgbClr val="FFFFFF"/>
            </a:solidFill>
            <a:prstDash val="solid"/>
          </a:ln>
        </p:spPr>
        <p:txBody>
          <a:bodyPr/>
          <a:p/>
        </p:txBody>
      </p:sp>
      <p:sp>
        <p:nvSpPr>
          <p:cNvPr id="37" name="Text 35"/>
          <p:cNvSpPr txBox="1"/>
          <p:nvPr/>
        </p:nvSpPr>
        <p:spPr>
          <a:xfrm>
            <a:off x="10314432" y="233172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38" name="Shape 36"/>
          <p:cNvSpPr/>
          <p:nvPr/>
        </p:nvSpPr>
        <p:spPr>
          <a:xfrm>
            <a:off x="10881360" y="2331720"/>
            <a:ext cx="566928" cy="548640"/>
          </a:xfrm>
          <a:prstGeom prst="rect">
            <a:avLst/>
          </a:prstGeom>
          <a:solidFill>
            <a:srgbClr val="D7E9E6"/>
          </a:solidFill>
          <a:ln w="19050">
            <a:solidFill>
              <a:srgbClr val="FFFFFF"/>
            </a:solidFill>
            <a:prstDash val="solid"/>
          </a:ln>
        </p:spPr>
        <p:txBody>
          <a:bodyPr/>
          <a:p/>
        </p:txBody>
      </p:sp>
      <p:sp>
        <p:nvSpPr>
          <p:cNvPr id="39" name="Text 37"/>
          <p:cNvSpPr txBox="1"/>
          <p:nvPr/>
        </p:nvSpPr>
        <p:spPr>
          <a:xfrm>
            <a:off x="10881360" y="233172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T4</a:t>
            </a:r>
            <a:endParaRPr lang="en-US" sz="1200" dirty="0"/>
          </a:p>
        </p:txBody>
      </p:sp>
      <p:sp>
        <p:nvSpPr>
          <p:cNvPr id="40" name="Text 38"/>
          <p:cNvSpPr txBox="1"/>
          <p:nvPr/>
        </p:nvSpPr>
        <p:spPr>
          <a:xfrm>
            <a:off x="548640" y="3429000"/>
            <a:ext cx="1737360" cy="54864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Core 0</a:t>
            </a:r>
            <a:endParaRPr lang="en-US" sz="1500" dirty="0"/>
          </a:p>
        </p:txBody>
      </p:sp>
      <p:sp>
        <p:nvSpPr>
          <p:cNvPr id="41" name="Text 39"/>
          <p:cNvSpPr txBox="1"/>
          <p:nvPr/>
        </p:nvSpPr>
        <p:spPr>
          <a:xfrm>
            <a:off x="548640" y="4023360"/>
            <a:ext cx="1737360" cy="54864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Core 1</a:t>
            </a:r>
            <a:endParaRPr lang="en-US" sz="1500" dirty="0"/>
          </a:p>
        </p:txBody>
      </p:sp>
      <p:sp>
        <p:nvSpPr>
          <p:cNvPr id="42" name="Shape 40"/>
          <p:cNvSpPr/>
          <p:nvPr/>
        </p:nvSpPr>
        <p:spPr>
          <a:xfrm>
            <a:off x="2377440" y="3429000"/>
            <a:ext cx="566928" cy="548640"/>
          </a:xfrm>
          <a:prstGeom prst="rect">
            <a:avLst/>
          </a:prstGeom>
          <a:solidFill>
            <a:srgbClr val="02C39A"/>
          </a:solidFill>
          <a:ln w="19050">
            <a:solidFill>
              <a:srgbClr val="FFFFFF"/>
            </a:solidFill>
            <a:prstDash val="solid"/>
          </a:ln>
        </p:spPr>
        <p:txBody>
          <a:bodyPr/>
          <a:p/>
        </p:txBody>
      </p:sp>
      <p:sp>
        <p:nvSpPr>
          <p:cNvPr id="43" name="Text 41"/>
          <p:cNvSpPr txBox="1"/>
          <p:nvPr/>
        </p:nvSpPr>
        <p:spPr>
          <a:xfrm>
            <a:off x="2377440" y="342900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T1</a:t>
            </a:r>
            <a:endParaRPr lang="en-US" sz="1200" dirty="0"/>
          </a:p>
        </p:txBody>
      </p:sp>
      <p:sp>
        <p:nvSpPr>
          <p:cNvPr id="44" name="Shape 42"/>
          <p:cNvSpPr/>
          <p:nvPr/>
        </p:nvSpPr>
        <p:spPr>
          <a:xfrm>
            <a:off x="2944368" y="3429000"/>
            <a:ext cx="566928" cy="548640"/>
          </a:xfrm>
          <a:prstGeom prst="rect">
            <a:avLst/>
          </a:prstGeom>
          <a:solidFill>
            <a:srgbClr val="50808E"/>
          </a:solidFill>
          <a:ln w="19050">
            <a:solidFill>
              <a:srgbClr val="FFFFFF"/>
            </a:solidFill>
            <a:prstDash val="solid"/>
          </a:ln>
        </p:spPr>
        <p:txBody>
          <a:bodyPr/>
          <a:p/>
        </p:txBody>
      </p:sp>
      <p:sp>
        <p:nvSpPr>
          <p:cNvPr id="45" name="Text 43"/>
          <p:cNvSpPr txBox="1"/>
          <p:nvPr/>
        </p:nvSpPr>
        <p:spPr>
          <a:xfrm>
            <a:off x="2944368" y="342900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46" name="Shape 44"/>
          <p:cNvSpPr/>
          <p:nvPr/>
        </p:nvSpPr>
        <p:spPr>
          <a:xfrm>
            <a:off x="3511296" y="3429000"/>
            <a:ext cx="566928" cy="548640"/>
          </a:xfrm>
          <a:prstGeom prst="rect">
            <a:avLst/>
          </a:prstGeom>
          <a:solidFill>
            <a:srgbClr val="02C39A"/>
          </a:solidFill>
          <a:ln w="19050">
            <a:solidFill>
              <a:srgbClr val="FFFFFF"/>
            </a:solidFill>
            <a:prstDash val="solid"/>
          </a:ln>
        </p:spPr>
        <p:txBody>
          <a:bodyPr/>
          <a:p/>
        </p:txBody>
      </p:sp>
      <p:sp>
        <p:nvSpPr>
          <p:cNvPr id="47" name="Text 45"/>
          <p:cNvSpPr txBox="1"/>
          <p:nvPr/>
        </p:nvSpPr>
        <p:spPr>
          <a:xfrm>
            <a:off x="3511296" y="342900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T1</a:t>
            </a:r>
            <a:endParaRPr lang="en-US" sz="1200" dirty="0"/>
          </a:p>
        </p:txBody>
      </p:sp>
      <p:sp>
        <p:nvSpPr>
          <p:cNvPr id="48" name="Shape 46"/>
          <p:cNvSpPr/>
          <p:nvPr/>
        </p:nvSpPr>
        <p:spPr>
          <a:xfrm>
            <a:off x="4078224" y="3429000"/>
            <a:ext cx="566928" cy="548640"/>
          </a:xfrm>
          <a:prstGeom prst="rect">
            <a:avLst/>
          </a:prstGeom>
          <a:solidFill>
            <a:srgbClr val="50808E"/>
          </a:solidFill>
          <a:ln w="19050">
            <a:solidFill>
              <a:srgbClr val="FFFFFF"/>
            </a:solidFill>
            <a:prstDash val="solid"/>
          </a:ln>
        </p:spPr>
        <p:txBody>
          <a:bodyPr/>
          <a:p/>
        </p:txBody>
      </p:sp>
      <p:sp>
        <p:nvSpPr>
          <p:cNvPr id="49" name="Text 47"/>
          <p:cNvSpPr txBox="1"/>
          <p:nvPr/>
        </p:nvSpPr>
        <p:spPr>
          <a:xfrm>
            <a:off x="4078224" y="342900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50" name="Shape 48"/>
          <p:cNvSpPr/>
          <p:nvPr/>
        </p:nvSpPr>
        <p:spPr>
          <a:xfrm>
            <a:off x="4645152" y="3429000"/>
            <a:ext cx="566928" cy="548640"/>
          </a:xfrm>
          <a:prstGeom prst="rect">
            <a:avLst/>
          </a:prstGeom>
          <a:solidFill>
            <a:srgbClr val="02C39A"/>
          </a:solidFill>
          <a:ln w="19050">
            <a:solidFill>
              <a:srgbClr val="FFFFFF"/>
            </a:solidFill>
            <a:prstDash val="solid"/>
          </a:ln>
        </p:spPr>
        <p:txBody>
          <a:bodyPr/>
          <a:p/>
        </p:txBody>
      </p:sp>
      <p:sp>
        <p:nvSpPr>
          <p:cNvPr id="51" name="Text 49"/>
          <p:cNvSpPr txBox="1"/>
          <p:nvPr/>
        </p:nvSpPr>
        <p:spPr>
          <a:xfrm>
            <a:off x="4645152" y="342900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T1</a:t>
            </a:r>
            <a:endParaRPr lang="en-US" sz="1200" dirty="0"/>
          </a:p>
        </p:txBody>
      </p:sp>
      <p:sp>
        <p:nvSpPr>
          <p:cNvPr id="52" name="Shape 50"/>
          <p:cNvSpPr/>
          <p:nvPr/>
        </p:nvSpPr>
        <p:spPr>
          <a:xfrm>
            <a:off x="5212080" y="3429000"/>
            <a:ext cx="566928" cy="548640"/>
          </a:xfrm>
          <a:prstGeom prst="rect">
            <a:avLst/>
          </a:prstGeom>
          <a:solidFill>
            <a:srgbClr val="50808E"/>
          </a:solidFill>
          <a:ln w="19050">
            <a:solidFill>
              <a:srgbClr val="FFFFFF"/>
            </a:solidFill>
            <a:prstDash val="solid"/>
          </a:ln>
        </p:spPr>
        <p:txBody>
          <a:bodyPr/>
          <a:p/>
        </p:txBody>
      </p:sp>
      <p:sp>
        <p:nvSpPr>
          <p:cNvPr id="53" name="Text 51"/>
          <p:cNvSpPr txBox="1"/>
          <p:nvPr/>
        </p:nvSpPr>
        <p:spPr>
          <a:xfrm>
            <a:off x="5212080" y="342900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54" name="Shape 52"/>
          <p:cNvSpPr/>
          <p:nvPr/>
        </p:nvSpPr>
        <p:spPr>
          <a:xfrm>
            <a:off x="5779008" y="3429000"/>
            <a:ext cx="566928" cy="548640"/>
          </a:xfrm>
          <a:prstGeom prst="rect">
            <a:avLst/>
          </a:prstGeom>
          <a:solidFill>
            <a:srgbClr val="02C39A"/>
          </a:solidFill>
          <a:ln w="19050">
            <a:solidFill>
              <a:srgbClr val="FFFFFF"/>
            </a:solidFill>
            <a:prstDash val="solid"/>
          </a:ln>
        </p:spPr>
        <p:txBody>
          <a:bodyPr/>
          <a:p/>
        </p:txBody>
      </p:sp>
      <p:sp>
        <p:nvSpPr>
          <p:cNvPr id="55" name="Text 53"/>
          <p:cNvSpPr txBox="1"/>
          <p:nvPr/>
        </p:nvSpPr>
        <p:spPr>
          <a:xfrm>
            <a:off x="5779008" y="342900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T1</a:t>
            </a:r>
            <a:endParaRPr lang="en-US" sz="1200" dirty="0"/>
          </a:p>
        </p:txBody>
      </p:sp>
      <p:sp>
        <p:nvSpPr>
          <p:cNvPr id="56" name="Shape 54"/>
          <p:cNvSpPr/>
          <p:nvPr/>
        </p:nvSpPr>
        <p:spPr>
          <a:xfrm>
            <a:off x="6345936" y="3429000"/>
            <a:ext cx="566928" cy="548640"/>
          </a:xfrm>
          <a:prstGeom prst="rect">
            <a:avLst/>
          </a:prstGeom>
          <a:solidFill>
            <a:srgbClr val="50808E"/>
          </a:solidFill>
          <a:ln w="19050">
            <a:solidFill>
              <a:srgbClr val="FFFFFF"/>
            </a:solidFill>
            <a:prstDash val="solid"/>
          </a:ln>
        </p:spPr>
        <p:txBody>
          <a:bodyPr/>
          <a:p/>
        </p:txBody>
      </p:sp>
      <p:sp>
        <p:nvSpPr>
          <p:cNvPr id="57" name="Text 55"/>
          <p:cNvSpPr txBox="1"/>
          <p:nvPr/>
        </p:nvSpPr>
        <p:spPr>
          <a:xfrm>
            <a:off x="6345936" y="342900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58" name="Shape 56"/>
          <p:cNvSpPr/>
          <p:nvPr/>
        </p:nvSpPr>
        <p:spPr>
          <a:xfrm>
            <a:off x="6912864" y="3429000"/>
            <a:ext cx="566928" cy="548640"/>
          </a:xfrm>
          <a:prstGeom prst="rect">
            <a:avLst/>
          </a:prstGeom>
          <a:solidFill>
            <a:srgbClr val="02C39A"/>
          </a:solidFill>
          <a:ln w="19050">
            <a:solidFill>
              <a:srgbClr val="FFFFFF"/>
            </a:solidFill>
            <a:prstDash val="solid"/>
          </a:ln>
        </p:spPr>
        <p:txBody>
          <a:bodyPr/>
          <a:p/>
        </p:txBody>
      </p:sp>
      <p:sp>
        <p:nvSpPr>
          <p:cNvPr id="59" name="Text 57"/>
          <p:cNvSpPr txBox="1"/>
          <p:nvPr/>
        </p:nvSpPr>
        <p:spPr>
          <a:xfrm>
            <a:off x="6912864" y="342900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T1</a:t>
            </a:r>
            <a:endParaRPr lang="en-US" sz="1200" dirty="0"/>
          </a:p>
        </p:txBody>
      </p:sp>
      <p:sp>
        <p:nvSpPr>
          <p:cNvPr id="60" name="Shape 58"/>
          <p:cNvSpPr/>
          <p:nvPr/>
        </p:nvSpPr>
        <p:spPr>
          <a:xfrm>
            <a:off x="7479792" y="3429000"/>
            <a:ext cx="566928" cy="548640"/>
          </a:xfrm>
          <a:prstGeom prst="rect">
            <a:avLst/>
          </a:prstGeom>
          <a:solidFill>
            <a:srgbClr val="50808E"/>
          </a:solidFill>
          <a:ln w="19050">
            <a:solidFill>
              <a:srgbClr val="FFFFFF"/>
            </a:solidFill>
            <a:prstDash val="solid"/>
          </a:ln>
        </p:spPr>
        <p:txBody>
          <a:bodyPr/>
          <a:p/>
        </p:txBody>
      </p:sp>
      <p:sp>
        <p:nvSpPr>
          <p:cNvPr id="61" name="Text 59"/>
          <p:cNvSpPr txBox="1"/>
          <p:nvPr/>
        </p:nvSpPr>
        <p:spPr>
          <a:xfrm>
            <a:off x="7479792" y="342900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62" name="Shape 60"/>
          <p:cNvSpPr/>
          <p:nvPr/>
        </p:nvSpPr>
        <p:spPr>
          <a:xfrm>
            <a:off x="8046720" y="3429000"/>
            <a:ext cx="566928" cy="548640"/>
          </a:xfrm>
          <a:prstGeom prst="rect">
            <a:avLst/>
          </a:prstGeom>
          <a:solidFill>
            <a:srgbClr val="02C39A"/>
          </a:solidFill>
          <a:ln w="19050">
            <a:solidFill>
              <a:srgbClr val="FFFFFF"/>
            </a:solidFill>
            <a:prstDash val="solid"/>
          </a:ln>
        </p:spPr>
        <p:txBody>
          <a:bodyPr/>
          <a:p/>
        </p:txBody>
      </p:sp>
      <p:sp>
        <p:nvSpPr>
          <p:cNvPr id="63" name="Text 61"/>
          <p:cNvSpPr txBox="1"/>
          <p:nvPr/>
        </p:nvSpPr>
        <p:spPr>
          <a:xfrm>
            <a:off x="8046720" y="342900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T1</a:t>
            </a:r>
            <a:endParaRPr lang="en-US" sz="1200" dirty="0"/>
          </a:p>
        </p:txBody>
      </p:sp>
      <p:sp>
        <p:nvSpPr>
          <p:cNvPr id="64" name="Shape 62"/>
          <p:cNvSpPr/>
          <p:nvPr/>
        </p:nvSpPr>
        <p:spPr>
          <a:xfrm>
            <a:off x="8613648" y="3429000"/>
            <a:ext cx="566928" cy="548640"/>
          </a:xfrm>
          <a:prstGeom prst="rect">
            <a:avLst/>
          </a:prstGeom>
          <a:solidFill>
            <a:srgbClr val="50808E"/>
          </a:solidFill>
          <a:ln w="19050">
            <a:solidFill>
              <a:srgbClr val="FFFFFF"/>
            </a:solidFill>
            <a:prstDash val="solid"/>
          </a:ln>
        </p:spPr>
        <p:txBody>
          <a:bodyPr/>
          <a:p/>
        </p:txBody>
      </p:sp>
      <p:sp>
        <p:nvSpPr>
          <p:cNvPr id="65" name="Text 63"/>
          <p:cNvSpPr txBox="1"/>
          <p:nvPr/>
        </p:nvSpPr>
        <p:spPr>
          <a:xfrm>
            <a:off x="8613648" y="342900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66" name="Shape 64"/>
          <p:cNvSpPr/>
          <p:nvPr/>
        </p:nvSpPr>
        <p:spPr>
          <a:xfrm>
            <a:off x="9180576" y="3429000"/>
            <a:ext cx="566928" cy="548640"/>
          </a:xfrm>
          <a:prstGeom prst="rect">
            <a:avLst/>
          </a:prstGeom>
          <a:solidFill>
            <a:srgbClr val="02C39A"/>
          </a:solidFill>
          <a:ln w="19050">
            <a:solidFill>
              <a:srgbClr val="FFFFFF"/>
            </a:solidFill>
            <a:prstDash val="solid"/>
          </a:ln>
        </p:spPr>
        <p:txBody>
          <a:bodyPr/>
          <a:p/>
        </p:txBody>
      </p:sp>
      <p:sp>
        <p:nvSpPr>
          <p:cNvPr id="67" name="Text 65"/>
          <p:cNvSpPr txBox="1"/>
          <p:nvPr/>
        </p:nvSpPr>
        <p:spPr>
          <a:xfrm>
            <a:off x="9180576" y="342900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T1</a:t>
            </a:r>
            <a:endParaRPr lang="en-US" sz="1200" dirty="0"/>
          </a:p>
        </p:txBody>
      </p:sp>
      <p:sp>
        <p:nvSpPr>
          <p:cNvPr id="68" name="Shape 66"/>
          <p:cNvSpPr/>
          <p:nvPr/>
        </p:nvSpPr>
        <p:spPr>
          <a:xfrm>
            <a:off x="9747504" y="3429000"/>
            <a:ext cx="566928" cy="548640"/>
          </a:xfrm>
          <a:prstGeom prst="rect">
            <a:avLst/>
          </a:prstGeom>
          <a:solidFill>
            <a:srgbClr val="50808E"/>
          </a:solidFill>
          <a:ln w="19050">
            <a:solidFill>
              <a:srgbClr val="FFFFFF"/>
            </a:solidFill>
            <a:prstDash val="solid"/>
          </a:ln>
        </p:spPr>
        <p:txBody>
          <a:bodyPr/>
          <a:p/>
        </p:txBody>
      </p:sp>
      <p:sp>
        <p:nvSpPr>
          <p:cNvPr id="69" name="Text 67"/>
          <p:cNvSpPr txBox="1"/>
          <p:nvPr/>
        </p:nvSpPr>
        <p:spPr>
          <a:xfrm>
            <a:off x="9747504" y="342900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70" name="Shape 68"/>
          <p:cNvSpPr/>
          <p:nvPr/>
        </p:nvSpPr>
        <p:spPr>
          <a:xfrm>
            <a:off x="10314432" y="3429000"/>
            <a:ext cx="566928" cy="548640"/>
          </a:xfrm>
          <a:prstGeom prst="rect">
            <a:avLst/>
          </a:prstGeom>
          <a:solidFill>
            <a:srgbClr val="02C39A"/>
          </a:solidFill>
          <a:ln w="19050">
            <a:solidFill>
              <a:srgbClr val="FFFFFF"/>
            </a:solidFill>
            <a:prstDash val="solid"/>
          </a:ln>
        </p:spPr>
        <p:txBody>
          <a:bodyPr/>
          <a:p/>
        </p:txBody>
      </p:sp>
      <p:sp>
        <p:nvSpPr>
          <p:cNvPr id="71" name="Text 69"/>
          <p:cNvSpPr txBox="1"/>
          <p:nvPr/>
        </p:nvSpPr>
        <p:spPr>
          <a:xfrm>
            <a:off x="10314432" y="342900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T1</a:t>
            </a:r>
            <a:endParaRPr lang="en-US" sz="1200" dirty="0"/>
          </a:p>
        </p:txBody>
      </p:sp>
      <p:sp>
        <p:nvSpPr>
          <p:cNvPr id="72" name="Shape 70"/>
          <p:cNvSpPr/>
          <p:nvPr/>
        </p:nvSpPr>
        <p:spPr>
          <a:xfrm>
            <a:off x="10881360" y="3429000"/>
            <a:ext cx="566928" cy="548640"/>
          </a:xfrm>
          <a:prstGeom prst="rect">
            <a:avLst/>
          </a:prstGeom>
          <a:solidFill>
            <a:srgbClr val="50808E"/>
          </a:solidFill>
          <a:ln w="19050">
            <a:solidFill>
              <a:srgbClr val="FFFFFF"/>
            </a:solidFill>
            <a:prstDash val="solid"/>
          </a:ln>
        </p:spPr>
        <p:txBody>
          <a:bodyPr/>
          <a:p/>
        </p:txBody>
      </p:sp>
      <p:sp>
        <p:nvSpPr>
          <p:cNvPr id="73" name="Text 71"/>
          <p:cNvSpPr txBox="1"/>
          <p:nvPr/>
        </p:nvSpPr>
        <p:spPr>
          <a:xfrm>
            <a:off x="10881360" y="342900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74" name="Shape 72"/>
          <p:cNvSpPr/>
          <p:nvPr/>
        </p:nvSpPr>
        <p:spPr>
          <a:xfrm>
            <a:off x="2377440" y="4023360"/>
            <a:ext cx="566928" cy="548640"/>
          </a:xfrm>
          <a:prstGeom prst="rect">
            <a:avLst/>
          </a:prstGeom>
          <a:solidFill>
            <a:srgbClr val="36454F"/>
          </a:solidFill>
          <a:ln w="19050">
            <a:solidFill>
              <a:srgbClr val="FFFFFF"/>
            </a:solidFill>
            <a:prstDash val="solid"/>
          </a:ln>
        </p:spPr>
        <p:txBody>
          <a:bodyPr/>
          <a:p/>
        </p:txBody>
      </p:sp>
      <p:sp>
        <p:nvSpPr>
          <p:cNvPr id="75" name="Text 73"/>
          <p:cNvSpPr txBox="1"/>
          <p:nvPr/>
        </p:nvSpPr>
        <p:spPr>
          <a:xfrm>
            <a:off x="2377440" y="402336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76" name="Shape 74"/>
          <p:cNvSpPr/>
          <p:nvPr/>
        </p:nvSpPr>
        <p:spPr>
          <a:xfrm>
            <a:off x="2944368" y="4023360"/>
            <a:ext cx="566928" cy="548640"/>
          </a:xfrm>
          <a:prstGeom prst="rect">
            <a:avLst/>
          </a:prstGeom>
          <a:solidFill>
            <a:srgbClr val="D7E9E6"/>
          </a:solidFill>
          <a:ln w="19050">
            <a:solidFill>
              <a:srgbClr val="FFFFFF"/>
            </a:solidFill>
            <a:prstDash val="solid"/>
          </a:ln>
        </p:spPr>
        <p:txBody>
          <a:bodyPr/>
          <a:p/>
        </p:txBody>
      </p:sp>
      <p:sp>
        <p:nvSpPr>
          <p:cNvPr id="77" name="Text 75"/>
          <p:cNvSpPr txBox="1"/>
          <p:nvPr/>
        </p:nvSpPr>
        <p:spPr>
          <a:xfrm>
            <a:off x="2944368" y="402336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T4</a:t>
            </a:r>
            <a:endParaRPr lang="en-US" sz="1200" dirty="0"/>
          </a:p>
        </p:txBody>
      </p:sp>
      <p:sp>
        <p:nvSpPr>
          <p:cNvPr id="78" name="Shape 76"/>
          <p:cNvSpPr/>
          <p:nvPr/>
        </p:nvSpPr>
        <p:spPr>
          <a:xfrm>
            <a:off x="3511296" y="4023360"/>
            <a:ext cx="566928" cy="548640"/>
          </a:xfrm>
          <a:prstGeom prst="rect">
            <a:avLst/>
          </a:prstGeom>
          <a:solidFill>
            <a:srgbClr val="36454F"/>
          </a:solidFill>
          <a:ln w="19050">
            <a:solidFill>
              <a:srgbClr val="FFFFFF"/>
            </a:solidFill>
            <a:prstDash val="solid"/>
          </a:ln>
        </p:spPr>
        <p:txBody>
          <a:bodyPr/>
          <a:p/>
        </p:txBody>
      </p:sp>
      <p:sp>
        <p:nvSpPr>
          <p:cNvPr id="79" name="Text 77"/>
          <p:cNvSpPr txBox="1"/>
          <p:nvPr/>
        </p:nvSpPr>
        <p:spPr>
          <a:xfrm>
            <a:off x="3511296" y="402336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80" name="Shape 78"/>
          <p:cNvSpPr/>
          <p:nvPr/>
        </p:nvSpPr>
        <p:spPr>
          <a:xfrm>
            <a:off x="4078224" y="4023360"/>
            <a:ext cx="566928" cy="548640"/>
          </a:xfrm>
          <a:prstGeom prst="rect">
            <a:avLst/>
          </a:prstGeom>
          <a:solidFill>
            <a:srgbClr val="D7E9E6"/>
          </a:solidFill>
          <a:ln w="19050">
            <a:solidFill>
              <a:srgbClr val="FFFFFF"/>
            </a:solidFill>
            <a:prstDash val="solid"/>
          </a:ln>
        </p:spPr>
        <p:txBody>
          <a:bodyPr/>
          <a:p/>
        </p:txBody>
      </p:sp>
      <p:sp>
        <p:nvSpPr>
          <p:cNvPr id="81" name="Text 79"/>
          <p:cNvSpPr txBox="1"/>
          <p:nvPr/>
        </p:nvSpPr>
        <p:spPr>
          <a:xfrm>
            <a:off x="4078224" y="402336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T4</a:t>
            </a:r>
            <a:endParaRPr lang="en-US" sz="1200" dirty="0"/>
          </a:p>
        </p:txBody>
      </p:sp>
      <p:sp>
        <p:nvSpPr>
          <p:cNvPr id="82" name="Shape 80"/>
          <p:cNvSpPr/>
          <p:nvPr/>
        </p:nvSpPr>
        <p:spPr>
          <a:xfrm>
            <a:off x="4645152" y="4023360"/>
            <a:ext cx="566928" cy="548640"/>
          </a:xfrm>
          <a:prstGeom prst="rect">
            <a:avLst/>
          </a:prstGeom>
          <a:solidFill>
            <a:srgbClr val="36454F"/>
          </a:solidFill>
          <a:ln w="19050">
            <a:solidFill>
              <a:srgbClr val="FFFFFF"/>
            </a:solidFill>
            <a:prstDash val="solid"/>
          </a:ln>
        </p:spPr>
        <p:txBody>
          <a:bodyPr/>
          <a:p/>
        </p:txBody>
      </p:sp>
      <p:sp>
        <p:nvSpPr>
          <p:cNvPr id="83" name="Text 81"/>
          <p:cNvSpPr txBox="1"/>
          <p:nvPr/>
        </p:nvSpPr>
        <p:spPr>
          <a:xfrm>
            <a:off x="4645152" y="402336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84" name="Shape 82"/>
          <p:cNvSpPr/>
          <p:nvPr/>
        </p:nvSpPr>
        <p:spPr>
          <a:xfrm>
            <a:off x="5212080" y="4023360"/>
            <a:ext cx="566928" cy="548640"/>
          </a:xfrm>
          <a:prstGeom prst="rect">
            <a:avLst/>
          </a:prstGeom>
          <a:solidFill>
            <a:srgbClr val="D7E9E6"/>
          </a:solidFill>
          <a:ln w="19050">
            <a:solidFill>
              <a:srgbClr val="FFFFFF"/>
            </a:solidFill>
            <a:prstDash val="solid"/>
          </a:ln>
        </p:spPr>
        <p:txBody>
          <a:bodyPr/>
          <a:p/>
        </p:txBody>
      </p:sp>
      <p:sp>
        <p:nvSpPr>
          <p:cNvPr id="85" name="Text 83"/>
          <p:cNvSpPr txBox="1"/>
          <p:nvPr/>
        </p:nvSpPr>
        <p:spPr>
          <a:xfrm>
            <a:off x="5212080" y="402336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T4</a:t>
            </a:r>
            <a:endParaRPr lang="en-US" sz="1200" dirty="0"/>
          </a:p>
        </p:txBody>
      </p:sp>
      <p:sp>
        <p:nvSpPr>
          <p:cNvPr id="86" name="Shape 84"/>
          <p:cNvSpPr/>
          <p:nvPr/>
        </p:nvSpPr>
        <p:spPr>
          <a:xfrm>
            <a:off x="5779008" y="4023360"/>
            <a:ext cx="566928" cy="548640"/>
          </a:xfrm>
          <a:prstGeom prst="rect">
            <a:avLst/>
          </a:prstGeom>
          <a:solidFill>
            <a:srgbClr val="36454F"/>
          </a:solidFill>
          <a:ln w="19050">
            <a:solidFill>
              <a:srgbClr val="FFFFFF"/>
            </a:solidFill>
            <a:prstDash val="solid"/>
          </a:ln>
        </p:spPr>
        <p:txBody>
          <a:bodyPr/>
          <a:p/>
        </p:txBody>
      </p:sp>
      <p:sp>
        <p:nvSpPr>
          <p:cNvPr id="87" name="Text 85"/>
          <p:cNvSpPr txBox="1"/>
          <p:nvPr/>
        </p:nvSpPr>
        <p:spPr>
          <a:xfrm>
            <a:off x="5779008" y="402336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88" name="Shape 86"/>
          <p:cNvSpPr/>
          <p:nvPr/>
        </p:nvSpPr>
        <p:spPr>
          <a:xfrm>
            <a:off x="6345936" y="4023360"/>
            <a:ext cx="566928" cy="548640"/>
          </a:xfrm>
          <a:prstGeom prst="rect">
            <a:avLst/>
          </a:prstGeom>
          <a:solidFill>
            <a:srgbClr val="D7E9E6"/>
          </a:solidFill>
          <a:ln w="19050">
            <a:solidFill>
              <a:srgbClr val="FFFFFF"/>
            </a:solidFill>
            <a:prstDash val="solid"/>
          </a:ln>
        </p:spPr>
        <p:txBody>
          <a:bodyPr/>
          <a:p/>
        </p:txBody>
      </p:sp>
      <p:sp>
        <p:nvSpPr>
          <p:cNvPr id="89" name="Text 87"/>
          <p:cNvSpPr txBox="1"/>
          <p:nvPr/>
        </p:nvSpPr>
        <p:spPr>
          <a:xfrm>
            <a:off x="6345936" y="402336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T4</a:t>
            </a:r>
            <a:endParaRPr lang="en-US" sz="1200" dirty="0"/>
          </a:p>
        </p:txBody>
      </p:sp>
      <p:sp>
        <p:nvSpPr>
          <p:cNvPr id="90" name="Shape 88"/>
          <p:cNvSpPr/>
          <p:nvPr/>
        </p:nvSpPr>
        <p:spPr>
          <a:xfrm>
            <a:off x="6912864" y="4023360"/>
            <a:ext cx="566928" cy="548640"/>
          </a:xfrm>
          <a:prstGeom prst="rect">
            <a:avLst/>
          </a:prstGeom>
          <a:solidFill>
            <a:srgbClr val="36454F"/>
          </a:solidFill>
          <a:ln w="19050">
            <a:solidFill>
              <a:srgbClr val="FFFFFF"/>
            </a:solidFill>
            <a:prstDash val="solid"/>
          </a:ln>
        </p:spPr>
        <p:txBody>
          <a:bodyPr/>
          <a:p/>
        </p:txBody>
      </p:sp>
      <p:sp>
        <p:nvSpPr>
          <p:cNvPr id="91" name="Text 89"/>
          <p:cNvSpPr txBox="1"/>
          <p:nvPr/>
        </p:nvSpPr>
        <p:spPr>
          <a:xfrm>
            <a:off x="6912864" y="402336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92" name="Shape 90"/>
          <p:cNvSpPr/>
          <p:nvPr/>
        </p:nvSpPr>
        <p:spPr>
          <a:xfrm>
            <a:off x="7479792" y="4023360"/>
            <a:ext cx="566928" cy="548640"/>
          </a:xfrm>
          <a:prstGeom prst="rect">
            <a:avLst/>
          </a:prstGeom>
          <a:solidFill>
            <a:srgbClr val="D7E9E6"/>
          </a:solidFill>
          <a:ln w="19050">
            <a:solidFill>
              <a:srgbClr val="FFFFFF"/>
            </a:solidFill>
            <a:prstDash val="solid"/>
          </a:ln>
        </p:spPr>
        <p:txBody>
          <a:bodyPr/>
          <a:p/>
        </p:txBody>
      </p:sp>
      <p:sp>
        <p:nvSpPr>
          <p:cNvPr id="93" name="Text 91"/>
          <p:cNvSpPr txBox="1"/>
          <p:nvPr/>
        </p:nvSpPr>
        <p:spPr>
          <a:xfrm>
            <a:off x="7479792" y="402336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T4</a:t>
            </a:r>
            <a:endParaRPr lang="en-US" sz="1200" dirty="0"/>
          </a:p>
        </p:txBody>
      </p:sp>
      <p:sp>
        <p:nvSpPr>
          <p:cNvPr id="94" name="Shape 92"/>
          <p:cNvSpPr/>
          <p:nvPr/>
        </p:nvSpPr>
        <p:spPr>
          <a:xfrm>
            <a:off x="8046720" y="4023360"/>
            <a:ext cx="566928" cy="548640"/>
          </a:xfrm>
          <a:prstGeom prst="rect">
            <a:avLst/>
          </a:prstGeom>
          <a:solidFill>
            <a:srgbClr val="36454F"/>
          </a:solidFill>
          <a:ln w="19050">
            <a:solidFill>
              <a:srgbClr val="FFFFFF"/>
            </a:solidFill>
            <a:prstDash val="solid"/>
          </a:ln>
        </p:spPr>
        <p:txBody>
          <a:bodyPr/>
          <a:p/>
        </p:txBody>
      </p:sp>
      <p:sp>
        <p:nvSpPr>
          <p:cNvPr id="95" name="Text 93"/>
          <p:cNvSpPr txBox="1"/>
          <p:nvPr/>
        </p:nvSpPr>
        <p:spPr>
          <a:xfrm>
            <a:off x="8046720" y="402336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96" name="Shape 94"/>
          <p:cNvSpPr/>
          <p:nvPr/>
        </p:nvSpPr>
        <p:spPr>
          <a:xfrm>
            <a:off x="8613648" y="4023360"/>
            <a:ext cx="566928" cy="548640"/>
          </a:xfrm>
          <a:prstGeom prst="rect">
            <a:avLst/>
          </a:prstGeom>
          <a:solidFill>
            <a:srgbClr val="D7E9E6"/>
          </a:solidFill>
          <a:ln w="19050">
            <a:solidFill>
              <a:srgbClr val="FFFFFF"/>
            </a:solidFill>
            <a:prstDash val="solid"/>
          </a:ln>
        </p:spPr>
        <p:txBody>
          <a:bodyPr/>
          <a:p/>
        </p:txBody>
      </p:sp>
      <p:sp>
        <p:nvSpPr>
          <p:cNvPr id="97" name="Text 95"/>
          <p:cNvSpPr txBox="1"/>
          <p:nvPr/>
        </p:nvSpPr>
        <p:spPr>
          <a:xfrm>
            <a:off x="8613648" y="402336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T4</a:t>
            </a:r>
            <a:endParaRPr lang="en-US" sz="1200" dirty="0"/>
          </a:p>
        </p:txBody>
      </p:sp>
      <p:sp>
        <p:nvSpPr>
          <p:cNvPr id="98" name="Shape 96"/>
          <p:cNvSpPr/>
          <p:nvPr/>
        </p:nvSpPr>
        <p:spPr>
          <a:xfrm>
            <a:off x="9180576" y="4023360"/>
            <a:ext cx="566928" cy="548640"/>
          </a:xfrm>
          <a:prstGeom prst="rect">
            <a:avLst/>
          </a:prstGeom>
          <a:solidFill>
            <a:srgbClr val="36454F"/>
          </a:solidFill>
          <a:ln w="19050">
            <a:solidFill>
              <a:srgbClr val="FFFFFF"/>
            </a:solidFill>
            <a:prstDash val="solid"/>
          </a:ln>
        </p:spPr>
        <p:txBody>
          <a:bodyPr/>
          <a:p/>
        </p:txBody>
      </p:sp>
      <p:sp>
        <p:nvSpPr>
          <p:cNvPr id="99" name="Text 97"/>
          <p:cNvSpPr txBox="1"/>
          <p:nvPr/>
        </p:nvSpPr>
        <p:spPr>
          <a:xfrm>
            <a:off x="9180576" y="402336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100" name="Shape 98"/>
          <p:cNvSpPr/>
          <p:nvPr/>
        </p:nvSpPr>
        <p:spPr>
          <a:xfrm>
            <a:off x="9747504" y="4023360"/>
            <a:ext cx="566928" cy="548640"/>
          </a:xfrm>
          <a:prstGeom prst="rect">
            <a:avLst/>
          </a:prstGeom>
          <a:solidFill>
            <a:srgbClr val="D7E9E6"/>
          </a:solidFill>
          <a:ln w="19050">
            <a:solidFill>
              <a:srgbClr val="FFFFFF"/>
            </a:solidFill>
            <a:prstDash val="solid"/>
          </a:ln>
        </p:spPr>
        <p:txBody>
          <a:bodyPr/>
          <a:p/>
        </p:txBody>
      </p:sp>
      <p:sp>
        <p:nvSpPr>
          <p:cNvPr id="101" name="Text 99"/>
          <p:cNvSpPr txBox="1"/>
          <p:nvPr/>
        </p:nvSpPr>
        <p:spPr>
          <a:xfrm>
            <a:off x="9747504" y="402336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T4</a:t>
            </a:r>
            <a:endParaRPr lang="en-US" sz="1200" dirty="0"/>
          </a:p>
        </p:txBody>
      </p:sp>
      <p:sp>
        <p:nvSpPr>
          <p:cNvPr id="102" name="Shape 100"/>
          <p:cNvSpPr/>
          <p:nvPr/>
        </p:nvSpPr>
        <p:spPr>
          <a:xfrm>
            <a:off x="10314432" y="4023360"/>
            <a:ext cx="566928" cy="548640"/>
          </a:xfrm>
          <a:prstGeom prst="rect">
            <a:avLst/>
          </a:prstGeom>
          <a:solidFill>
            <a:srgbClr val="36454F"/>
          </a:solidFill>
          <a:ln w="19050">
            <a:solidFill>
              <a:srgbClr val="FFFFFF"/>
            </a:solidFill>
            <a:prstDash val="solid"/>
          </a:ln>
        </p:spPr>
        <p:txBody>
          <a:bodyPr/>
          <a:p/>
        </p:txBody>
      </p:sp>
      <p:sp>
        <p:nvSpPr>
          <p:cNvPr id="103" name="Text 101"/>
          <p:cNvSpPr txBox="1"/>
          <p:nvPr/>
        </p:nvSpPr>
        <p:spPr>
          <a:xfrm>
            <a:off x="10314432" y="4023360"/>
            <a:ext cx="566928"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104" name="Shape 102"/>
          <p:cNvSpPr/>
          <p:nvPr/>
        </p:nvSpPr>
        <p:spPr>
          <a:xfrm>
            <a:off x="10881360" y="4023360"/>
            <a:ext cx="566928" cy="548640"/>
          </a:xfrm>
          <a:prstGeom prst="rect">
            <a:avLst/>
          </a:prstGeom>
          <a:solidFill>
            <a:srgbClr val="D7E9E6"/>
          </a:solidFill>
          <a:ln w="19050">
            <a:solidFill>
              <a:srgbClr val="FFFFFF"/>
            </a:solidFill>
            <a:prstDash val="solid"/>
          </a:ln>
        </p:spPr>
        <p:txBody>
          <a:bodyPr/>
          <a:p/>
        </p:txBody>
      </p:sp>
      <p:sp>
        <p:nvSpPr>
          <p:cNvPr id="105" name="Text 103"/>
          <p:cNvSpPr txBox="1"/>
          <p:nvPr/>
        </p:nvSpPr>
        <p:spPr>
          <a:xfrm>
            <a:off x="10881360" y="4023360"/>
            <a:ext cx="56692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T4</a:t>
            </a:r>
            <a:endParaRPr lang="en-US" sz="1200" dirty="0"/>
          </a:p>
        </p:txBody>
      </p:sp>
      <p:sp>
        <p:nvSpPr>
          <p:cNvPr id="106" name="Shape 104"/>
          <p:cNvSpPr/>
          <p:nvPr/>
        </p:nvSpPr>
        <p:spPr>
          <a:xfrm>
            <a:off x="2377440" y="4754880"/>
            <a:ext cx="9070848" cy="91"/>
          </a:xfrm>
          <a:prstGeom prst="line">
            <a:avLst/>
          </a:prstGeom>
          <a:noFill/>
          <a:ln w="19050">
            <a:solidFill>
              <a:srgbClr val="50808E"/>
            </a:solidFill>
            <a:prstDash val="solid"/>
            <a:tailEnd type="triangle"/>
          </a:ln>
        </p:spPr>
        <p:txBody>
          <a:bodyPr/>
          <a:p/>
        </p:txBody>
      </p:sp>
      <p:sp>
        <p:nvSpPr>
          <p:cNvPr id="107" name="Text 105"/>
          <p:cNvSpPr txBox="1"/>
          <p:nvPr/>
        </p:nvSpPr>
        <p:spPr>
          <a:xfrm>
            <a:off x="10716768" y="4800600"/>
            <a:ext cx="731520" cy="274320"/>
          </a:xfrm>
          <a:prstGeom prst="rect">
            <a:avLst/>
          </a:prstGeom>
          <a:noFill/>
          <a:ln/>
        </p:spPr>
        <p:txBody>
          <a:bodyPr wrap="square" lIns="0" tIns="0" rIns="0" bIns="0" rtlCol="0" anchor="t"/>
          <a:lstStyle/>
          <a:p>
            <a:pPr algn="r" indent="0" marL="0">
              <a:buNone/>
            </a:pPr>
            <a:r>
              <a:rPr lang="en-US" sz="1100" i="1" dirty="0">
                <a:solidFill>
                  <a:srgbClr val="6B7679"/>
                </a:solidFill>
                <a:latin typeface="Calibri" pitchFamily="34" charset="0"/>
                <a:ea typeface="Calibri" pitchFamily="34" charset="-122"/>
                <a:cs typeface="Calibri" pitchFamily="34" charset="-120"/>
              </a:rPr>
              <a:t>time</a:t>
            </a:r>
            <a:endParaRPr lang="en-US" sz="1100" dirty="0"/>
          </a:p>
        </p:txBody>
      </p:sp>
      <p:sp>
        <p:nvSpPr>
          <p:cNvPr id="108" name="Shape 106"/>
          <p:cNvSpPr/>
          <p:nvPr/>
        </p:nvSpPr>
        <p:spPr>
          <a:xfrm>
            <a:off x="548640" y="5166360"/>
            <a:ext cx="5440680" cy="1097280"/>
          </a:xfrm>
          <a:prstGeom prst="roundRect">
            <a:avLst>
              <a:gd name="adj" fmla="val 5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9" name="Text 107"/>
          <p:cNvSpPr txBox="1"/>
          <p:nvPr/>
        </p:nvSpPr>
        <p:spPr>
          <a:xfrm>
            <a:off x="777240" y="5349240"/>
            <a:ext cx="4983480" cy="384048"/>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Concurrency</a:t>
            </a:r>
            <a:endParaRPr lang="en-US" sz="1400" dirty="0"/>
          </a:p>
        </p:txBody>
      </p:sp>
      <p:sp>
        <p:nvSpPr>
          <p:cNvPr id="110" name="Text 108"/>
          <p:cNvSpPr txBox="1"/>
          <p:nvPr/>
        </p:nvSpPr>
        <p:spPr>
          <a:xfrm>
            <a:off x="777240" y="5806440"/>
            <a:ext cx="4983480" cy="32004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Tasks make progress by taking turns — even on ONE core.</a:t>
            </a:r>
            <a:endParaRPr lang="en-US" sz="1500" dirty="0"/>
          </a:p>
        </p:txBody>
      </p:sp>
      <p:sp>
        <p:nvSpPr>
          <p:cNvPr id="111" name="Shape 109"/>
          <p:cNvSpPr/>
          <p:nvPr/>
        </p:nvSpPr>
        <p:spPr>
          <a:xfrm>
            <a:off x="6217920" y="5166360"/>
            <a:ext cx="5440680" cy="1097280"/>
          </a:xfrm>
          <a:prstGeom prst="roundRect">
            <a:avLst>
              <a:gd name="adj" fmla="val 5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2" name="Text 110"/>
          <p:cNvSpPr txBox="1"/>
          <p:nvPr/>
        </p:nvSpPr>
        <p:spPr>
          <a:xfrm>
            <a:off x="6446520" y="5349240"/>
            <a:ext cx="4983480" cy="384048"/>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Parallelism</a:t>
            </a:r>
            <a:endParaRPr lang="en-US" sz="1400" dirty="0"/>
          </a:p>
        </p:txBody>
      </p:sp>
      <p:sp>
        <p:nvSpPr>
          <p:cNvPr id="113" name="Text 111"/>
          <p:cNvSpPr txBox="1"/>
          <p:nvPr/>
        </p:nvSpPr>
        <p:spPr>
          <a:xfrm>
            <a:off x="6446520" y="5806440"/>
            <a:ext cx="4983480" cy="32004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Tasks execute at the SAME instant — needs ≥ 2 cores.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MULTICORE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Programming for Multicore: Five Challenges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11</a:t>
            </a:r>
            <a:endParaRPr lang="en-US" sz="900" dirty="0"/>
          </a:p>
        </p:txBody>
      </p:sp>
      <p:sp>
        <p:nvSpPr>
          <p:cNvPr id="6" name="Shape 4"/>
          <p:cNvSpPr/>
          <p:nvPr/>
        </p:nvSpPr>
        <p:spPr>
          <a:xfrm>
            <a:off x="548640" y="1508760"/>
            <a:ext cx="2039112" cy="3749040"/>
          </a:xfrm>
          <a:prstGeom prst="roundRect">
            <a:avLst>
              <a:gd name="adj" fmla="val 26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1581912"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Identify tasks</a:t>
            </a:r>
            <a:endParaRPr lang="en-US" sz="1600" dirty="0"/>
          </a:p>
        </p:txBody>
      </p:sp>
      <p:sp>
        <p:nvSpPr>
          <p:cNvPr id="8" name="Text 6"/>
          <p:cNvSpPr txBox="1"/>
          <p:nvPr/>
        </p:nvSpPr>
        <p:spPr>
          <a:xfrm>
            <a:off x="777240" y="2148840"/>
            <a:ext cx="1581912"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Find parts of the work that can run independently.</a:t>
            </a:r>
            <a:endParaRPr lang="en-US" sz="1700" dirty="0"/>
          </a:p>
        </p:txBody>
      </p:sp>
      <p:sp>
        <p:nvSpPr>
          <p:cNvPr id="9" name="Shape 7"/>
          <p:cNvSpPr/>
          <p:nvPr/>
        </p:nvSpPr>
        <p:spPr>
          <a:xfrm>
            <a:off x="2816352" y="1508760"/>
            <a:ext cx="2039112" cy="3749040"/>
          </a:xfrm>
          <a:prstGeom prst="roundRect">
            <a:avLst>
              <a:gd name="adj" fmla="val 26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044952" y="1691640"/>
            <a:ext cx="1581912"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Balance</a:t>
            </a:r>
            <a:endParaRPr lang="en-US" sz="1600" dirty="0"/>
          </a:p>
        </p:txBody>
      </p:sp>
      <p:sp>
        <p:nvSpPr>
          <p:cNvPr id="11" name="Text 9"/>
          <p:cNvSpPr txBox="1"/>
          <p:nvPr/>
        </p:nvSpPr>
        <p:spPr>
          <a:xfrm>
            <a:off x="3044952" y="2148840"/>
            <a:ext cx="1581912"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Give each core a similar amount of work, or some cores sit idle.</a:t>
            </a:r>
            <a:endParaRPr lang="en-US" sz="1700" dirty="0"/>
          </a:p>
        </p:txBody>
      </p:sp>
      <p:sp>
        <p:nvSpPr>
          <p:cNvPr id="12" name="Shape 10"/>
          <p:cNvSpPr/>
          <p:nvPr/>
        </p:nvSpPr>
        <p:spPr>
          <a:xfrm>
            <a:off x="5084064" y="1508760"/>
            <a:ext cx="2039112" cy="3749040"/>
          </a:xfrm>
          <a:prstGeom prst="roundRect">
            <a:avLst>
              <a:gd name="adj" fmla="val 26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5312664" y="1691640"/>
            <a:ext cx="1581912"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Data splitting</a:t>
            </a:r>
            <a:endParaRPr lang="en-US" sz="1600" dirty="0"/>
          </a:p>
        </p:txBody>
      </p:sp>
      <p:sp>
        <p:nvSpPr>
          <p:cNvPr id="14" name="Text 12"/>
          <p:cNvSpPr txBox="1"/>
          <p:nvPr/>
        </p:nvSpPr>
        <p:spPr>
          <a:xfrm>
            <a:off x="5312664" y="2148840"/>
            <a:ext cx="1581912"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Divide the data so each thread works on its own part.</a:t>
            </a:r>
            <a:endParaRPr lang="en-US" sz="1700" dirty="0"/>
          </a:p>
        </p:txBody>
      </p:sp>
      <p:sp>
        <p:nvSpPr>
          <p:cNvPr id="15" name="Shape 13"/>
          <p:cNvSpPr/>
          <p:nvPr/>
        </p:nvSpPr>
        <p:spPr>
          <a:xfrm>
            <a:off x="7351776" y="1508760"/>
            <a:ext cx="2039112" cy="3749040"/>
          </a:xfrm>
          <a:prstGeom prst="roundRect">
            <a:avLst>
              <a:gd name="adj" fmla="val 26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580376" y="1691640"/>
            <a:ext cx="1581912"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Data dependency</a:t>
            </a:r>
            <a:endParaRPr lang="en-US" sz="1600" dirty="0"/>
          </a:p>
        </p:txBody>
      </p:sp>
      <p:sp>
        <p:nvSpPr>
          <p:cNvPr id="17" name="Text 15"/>
          <p:cNvSpPr txBox="1"/>
          <p:nvPr/>
        </p:nvSpPr>
        <p:spPr>
          <a:xfrm>
            <a:off x="7580376" y="2148840"/>
            <a:ext cx="1581912"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If task B needs A's result, B must wait: synchronisation.</a:t>
            </a:r>
            <a:endParaRPr lang="en-US" sz="1700" dirty="0"/>
          </a:p>
        </p:txBody>
      </p:sp>
      <p:sp>
        <p:nvSpPr>
          <p:cNvPr id="18" name="Shape 16"/>
          <p:cNvSpPr/>
          <p:nvPr/>
        </p:nvSpPr>
        <p:spPr>
          <a:xfrm>
            <a:off x="9619488" y="1508760"/>
            <a:ext cx="2039112" cy="3749040"/>
          </a:xfrm>
          <a:prstGeom prst="roundRect">
            <a:avLst>
              <a:gd name="adj" fmla="val 26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9848088" y="1691640"/>
            <a:ext cx="1581912"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Testing</a:t>
            </a:r>
            <a:endParaRPr lang="en-US" sz="1600" dirty="0"/>
          </a:p>
        </p:txBody>
      </p:sp>
      <p:sp>
        <p:nvSpPr>
          <p:cNvPr id="20" name="Text 18"/>
          <p:cNvSpPr txBox="1"/>
          <p:nvPr/>
        </p:nvSpPr>
        <p:spPr>
          <a:xfrm>
            <a:off x="9848088" y="2148840"/>
            <a:ext cx="1581912"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Many possible interleavings: bugs appear only sometimes.</a:t>
            </a:r>
            <a:endParaRPr lang="en-US" sz="1700" dirty="0"/>
          </a:p>
        </p:txBody>
      </p:sp>
      <p:sp>
        <p:nvSpPr>
          <p:cNvPr id="21" name="Shape 19"/>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Data parallelism: same operation on different parts of the data (our array sum). Task parallelism: different operations at the same time (word-processor threads).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MULTICORE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Amdahl's Law: The Limit of Adding Cores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Part of every program is serial (cannot be split). That part does not get faster with more cores.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12</a:t>
            </a:r>
            <a:endParaRPr lang="en-US" sz="900" dirty="0"/>
          </a:p>
        </p:txBody>
      </p:sp>
      <p:sp>
        <p:nvSpPr>
          <p:cNvPr id="7" name="Shape 5"/>
          <p:cNvSpPr/>
          <p:nvPr/>
        </p:nvSpPr>
        <p:spPr>
          <a:xfrm>
            <a:off x="548640" y="2240280"/>
            <a:ext cx="6035040" cy="2103120"/>
          </a:xfrm>
          <a:prstGeom prst="roundRect">
            <a:avLst>
              <a:gd name="adj" fmla="val 2609"/>
            </a:avLst>
          </a:prstGeom>
          <a:solidFill>
            <a:srgbClr val="F2F2F2"/>
          </a:solidFill>
          <a:ln/>
        </p:spPr>
        <p:txBody>
          <a:bodyPr/>
          <a:p/>
        </p:txBody>
      </p:sp>
      <p:sp>
        <p:nvSpPr>
          <p:cNvPr id="8" name="Text 6"/>
          <p:cNvSpPr txBox="1"/>
          <p:nvPr/>
        </p:nvSpPr>
        <p:spPr>
          <a:xfrm>
            <a:off x="868680" y="2743200"/>
            <a:ext cx="2011680" cy="914400"/>
          </a:xfrm>
          <a:prstGeom prst="rect">
            <a:avLst/>
          </a:prstGeom>
          <a:noFill/>
          <a:ln/>
        </p:spPr>
        <p:txBody>
          <a:bodyPr wrap="square" lIns="0" tIns="0" rIns="0" bIns="0" rtlCol="0" anchor="ctr"/>
          <a:lstStyle/>
          <a:p>
            <a:pPr indent="0" marL="0">
              <a:buNone/>
            </a:pPr>
            <a:r>
              <a:rPr lang="en-US" sz="2800" b="1" dirty="0">
                <a:solidFill>
                  <a:srgbClr val="36454F"/>
                </a:solidFill>
                <a:latin typeface="Cambria" pitchFamily="34" charset="0"/>
                <a:ea typeface="Cambria" pitchFamily="34" charset="-122"/>
                <a:cs typeface="Cambria" pitchFamily="34" charset="-120"/>
              </a:rPr>
              <a:t>speedup  ≤</a:t>
            </a:r>
            <a:endParaRPr lang="en-US" sz="2800" dirty="0"/>
          </a:p>
        </p:txBody>
      </p:sp>
      <p:sp>
        <p:nvSpPr>
          <p:cNvPr id="9" name="Text 7"/>
          <p:cNvSpPr txBox="1"/>
          <p:nvPr/>
        </p:nvSpPr>
        <p:spPr>
          <a:xfrm>
            <a:off x="2926080" y="2560320"/>
            <a:ext cx="3291840" cy="548640"/>
          </a:xfrm>
          <a:prstGeom prst="rect">
            <a:avLst/>
          </a:prstGeom>
          <a:noFill/>
          <a:ln/>
        </p:spPr>
        <p:txBody>
          <a:bodyPr wrap="square" lIns="0" tIns="0" rIns="0" bIns="0" rtlCol="0" anchor="ctr"/>
          <a:lstStyle/>
          <a:p>
            <a:pPr algn="ctr" indent="0" marL="0">
              <a:buNone/>
            </a:pPr>
            <a:r>
              <a:rPr lang="en-US" sz="2800" dirty="0">
                <a:solidFill>
                  <a:srgbClr val="36454F"/>
                </a:solidFill>
                <a:latin typeface="Cambria" pitchFamily="34" charset="0"/>
                <a:ea typeface="Cambria" pitchFamily="34" charset="-122"/>
                <a:cs typeface="Cambria" pitchFamily="34" charset="-120"/>
              </a:rPr>
              <a:t>1</a:t>
            </a:r>
            <a:endParaRPr lang="en-US" sz="2800" dirty="0"/>
          </a:p>
        </p:txBody>
      </p:sp>
      <p:sp>
        <p:nvSpPr>
          <p:cNvPr id="10" name="Shape 8"/>
          <p:cNvSpPr/>
          <p:nvPr/>
        </p:nvSpPr>
        <p:spPr>
          <a:xfrm>
            <a:off x="3017520" y="3200400"/>
            <a:ext cx="3108960" cy="91"/>
          </a:xfrm>
          <a:prstGeom prst="line">
            <a:avLst/>
          </a:prstGeom>
          <a:noFill/>
          <a:ln w="25400">
            <a:solidFill>
              <a:srgbClr val="36454F"/>
            </a:solidFill>
            <a:prstDash val="solid"/>
          </a:ln>
        </p:spPr>
        <p:txBody>
          <a:bodyPr/>
          <a:p/>
        </p:txBody>
      </p:sp>
      <p:sp>
        <p:nvSpPr>
          <p:cNvPr id="11" name="Text 9"/>
          <p:cNvSpPr txBox="1"/>
          <p:nvPr/>
        </p:nvSpPr>
        <p:spPr>
          <a:xfrm>
            <a:off x="2926080" y="3291840"/>
            <a:ext cx="3291840" cy="548640"/>
          </a:xfrm>
          <a:prstGeom prst="rect">
            <a:avLst/>
          </a:prstGeom>
          <a:noFill/>
          <a:ln/>
        </p:spPr>
        <p:txBody>
          <a:bodyPr wrap="square" lIns="0" tIns="0" rIns="0" bIns="0" rtlCol="0" anchor="ctr"/>
          <a:lstStyle/>
          <a:p>
            <a:pPr algn="ctr" indent="0" marL="0">
              <a:buNone/>
            </a:pPr>
            <a:r>
              <a:rPr lang="en-US" sz="2600" dirty="0">
                <a:solidFill>
                  <a:srgbClr val="36454F"/>
                </a:solidFill>
                <a:latin typeface="Cambria" pitchFamily="34" charset="0"/>
                <a:ea typeface="Cambria" pitchFamily="34" charset="-122"/>
                <a:cs typeface="Cambria" pitchFamily="34" charset="-120"/>
              </a:rPr>
              <a:t>S  +  (1 − S) / N</a:t>
            </a:r>
            <a:endParaRPr lang="en-US" sz="2600" dirty="0"/>
          </a:p>
        </p:txBody>
      </p:sp>
      <p:sp>
        <p:nvSpPr>
          <p:cNvPr id="12" name="Text 10"/>
          <p:cNvSpPr txBox="1"/>
          <p:nvPr/>
        </p:nvSpPr>
        <p:spPr>
          <a:xfrm>
            <a:off x="868680" y="3886200"/>
            <a:ext cx="5486400" cy="320040"/>
          </a:xfrm>
          <a:prstGeom prst="rect">
            <a:avLst/>
          </a:prstGeom>
          <a:noFill/>
          <a:ln/>
        </p:spPr>
        <p:txBody>
          <a:bodyPr wrap="square" lIns="0" tIns="0" rIns="0" bIns="0" rtlCol="0" anchor="t"/>
          <a:lstStyle/>
          <a:p>
            <a:pPr indent="0" marL="0">
              <a:buNone/>
            </a:pPr>
            <a:r>
              <a:rPr lang="en-US" sz="1300" i="1" dirty="0">
                <a:solidFill>
                  <a:srgbClr val="6B7679"/>
                </a:solidFill>
                <a:latin typeface="Calibri" pitchFamily="34" charset="0"/>
                <a:ea typeface="Calibri" pitchFamily="34" charset="-122"/>
                <a:cs typeface="Calibri" pitchFamily="34" charset="-120"/>
              </a:rPr>
              <a:t>S = serial fraction of the work,  N = number of cores</a:t>
            </a:r>
            <a:endParaRPr lang="en-US" sz="1300" dirty="0"/>
          </a:p>
        </p:txBody>
      </p:sp>
      <p:sp>
        <p:nvSpPr>
          <p:cNvPr id="13" name="Text 11"/>
          <p:cNvSpPr txBox="1"/>
          <p:nvPr/>
        </p:nvSpPr>
        <p:spPr>
          <a:xfrm>
            <a:off x="548640" y="4617720"/>
            <a:ext cx="1005840" cy="457200"/>
          </a:xfrm>
          <a:prstGeom prst="rect">
            <a:avLst/>
          </a:prstGeom>
          <a:noFill/>
          <a:ln/>
        </p:spPr>
        <p:txBody>
          <a:bodyPr wrap="square" lIns="0" tIns="0" rIns="0" bIns="0" rtlCol="0" anchor="ctr"/>
          <a:lstStyle/>
          <a:p>
            <a:pPr indent="0" marL="0">
              <a:buNone/>
            </a:pPr>
            <a:r>
              <a:rPr lang="en-US" sz="1300" b="1" dirty="0">
                <a:solidFill>
                  <a:srgbClr val="3A464C"/>
                </a:solidFill>
                <a:latin typeface="Calibri" pitchFamily="34" charset="0"/>
                <a:ea typeface="Calibri" pitchFamily="34" charset="-122"/>
                <a:cs typeface="Calibri" pitchFamily="34" charset="-120"/>
              </a:rPr>
              <a:t>1 core</a:t>
            </a:r>
            <a:endParaRPr lang="en-US" sz="1300" dirty="0"/>
          </a:p>
        </p:txBody>
      </p:sp>
      <p:sp>
        <p:nvSpPr>
          <p:cNvPr id="14" name="Shape 12"/>
          <p:cNvSpPr/>
          <p:nvPr/>
        </p:nvSpPr>
        <p:spPr>
          <a:xfrm>
            <a:off x="1645920" y="4617720"/>
            <a:ext cx="1280160" cy="457200"/>
          </a:xfrm>
          <a:prstGeom prst="rect">
            <a:avLst/>
          </a:prstGeom>
          <a:solidFill>
            <a:srgbClr val="36454F"/>
          </a:solidFill>
          <a:ln w="19050">
            <a:solidFill>
              <a:srgbClr val="FFFFFF"/>
            </a:solidFill>
            <a:prstDash val="solid"/>
          </a:ln>
        </p:spPr>
        <p:txBody>
          <a:bodyPr/>
          <a:p/>
        </p:txBody>
      </p:sp>
      <p:sp>
        <p:nvSpPr>
          <p:cNvPr id="15" name="Text 13"/>
          <p:cNvSpPr txBox="1"/>
          <p:nvPr/>
        </p:nvSpPr>
        <p:spPr>
          <a:xfrm>
            <a:off x="1645920" y="4617720"/>
            <a:ext cx="12801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serial</a:t>
            </a:r>
            <a:endParaRPr lang="en-US" sz="1200" dirty="0"/>
          </a:p>
        </p:txBody>
      </p:sp>
      <p:sp>
        <p:nvSpPr>
          <p:cNvPr id="16" name="Shape 14"/>
          <p:cNvSpPr/>
          <p:nvPr/>
        </p:nvSpPr>
        <p:spPr>
          <a:xfrm>
            <a:off x="2926080" y="4617720"/>
            <a:ext cx="3840480" cy="457200"/>
          </a:xfrm>
          <a:prstGeom prst="rect">
            <a:avLst/>
          </a:prstGeom>
          <a:solidFill>
            <a:srgbClr val="02C39A"/>
          </a:solidFill>
          <a:ln w="19050">
            <a:solidFill>
              <a:srgbClr val="FFFFFF"/>
            </a:solidFill>
            <a:prstDash val="solid"/>
          </a:ln>
        </p:spPr>
        <p:txBody>
          <a:bodyPr/>
          <a:p/>
        </p:txBody>
      </p:sp>
      <p:sp>
        <p:nvSpPr>
          <p:cNvPr id="17" name="Text 15"/>
          <p:cNvSpPr txBox="1"/>
          <p:nvPr/>
        </p:nvSpPr>
        <p:spPr>
          <a:xfrm>
            <a:off x="2926080" y="4617720"/>
            <a:ext cx="3840480" cy="45720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parallel part</a:t>
            </a:r>
            <a:endParaRPr lang="en-US" sz="1200" dirty="0"/>
          </a:p>
        </p:txBody>
      </p:sp>
      <p:sp>
        <p:nvSpPr>
          <p:cNvPr id="18" name="Text 16"/>
          <p:cNvSpPr txBox="1"/>
          <p:nvPr/>
        </p:nvSpPr>
        <p:spPr>
          <a:xfrm>
            <a:off x="548640" y="5303520"/>
            <a:ext cx="1005840" cy="457200"/>
          </a:xfrm>
          <a:prstGeom prst="rect">
            <a:avLst/>
          </a:prstGeom>
          <a:noFill/>
          <a:ln/>
        </p:spPr>
        <p:txBody>
          <a:bodyPr wrap="square" lIns="0" tIns="0" rIns="0" bIns="0" rtlCol="0" anchor="ctr"/>
          <a:lstStyle/>
          <a:p>
            <a:pPr indent="0" marL="0">
              <a:buNone/>
            </a:pPr>
            <a:r>
              <a:rPr lang="en-US" sz="1300" b="1" dirty="0">
                <a:solidFill>
                  <a:srgbClr val="3A464C"/>
                </a:solidFill>
                <a:latin typeface="Calibri" pitchFamily="34" charset="0"/>
                <a:ea typeface="Calibri" pitchFamily="34" charset="-122"/>
                <a:cs typeface="Calibri" pitchFamily="34" charset="-120"/>
              </a:rPr>
              <a:t>4 cores</a:t>
            </a:r>
            <a:endParaRPr lang="en-US" sz="1300" dirty="0"/>
          </a:p>
        </p:txBody>
      </p:sp>
      <p:sp>
        <p:nvSpPr>
          <p:cNvPr id="19" name="Shape 17"/>
          <p:cNvSpPr/>
          <p:nvPr/>
        </p:nvSpPr>
        <p:spPr>
          <a:xfrm>
            <a:off x="1645920" y="5303520"/>
            <a:ext cx="1280160" cy="457200"/>
          </a:xfrm>
          <a:prstGeom prst="rect">
            <a:avLst/>
          </a:prstGeom>
          <a:solidFill>
            <a:srgbClr val="36454F"/>
          </a:solidFill>
          <a:ln w="19050">
            <a:solidFill>
              <a:srgbClr val="FFFFFF"/>
            </a:solidFill>
            <a:prstDash val="solid"/>
          </a:ln>
        </p:spPr>
        <p:txBody>
          <a:bodyPr/>
          <a:p/>
        </p:txBody>
      </p:sp>
      <p:sp>
        <p:nvSpPr>
          <p:cNvPr id="20" name="Text 18"/>
          <p:cNvSpPr txBox="1"/>
          <p:nvPr/>
        </p:nvSpPr>
        <p:spPr>
          <a:xfrm>
            <a:off x="1645920" y="5303520"/>
            <a:ext cx="12801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serial</a:t>
            </a:r>
            <a:endParaRPr lang="en-US" sz="1200" dirty="0"/>
          </a:p>
        </p:txBody>
      </p:sp>
      <p:sp>
        <p:nvSpPr>
          <p:cNvPr id="21" name="Shape 19"/>
          <p:cNvSpPr/>
          <p:nvPr/>
        </p:nvSpPr>
        <p:spPr>
          <a:xfrm>
            <a:off x="2926080" y="5303520"/>
            <a:ext cx="960120" cy="457200"/>
          </a:xfrm>
          <a:prstGeom prst="rect">
            <a:avLst/>
          </a:prstGeom>
          <a:solidFill>
            <a:srgbClr val="02C39A"/>
          </a:solidFill>
          <a:ln w="19050">
            <a:solidFill>
              <a:srgbClr val="FFFFFF"/>
            </a:solidFill>
            <a:prstDash val="solid"/>
          </a:ln>
        </p:spPr>
        <p:txBody>
          <a:bodyPr/>
          <a:p/>
        </p:txBody>
      </p:sp>
      <p:sp>
        <p:nvSpPr>
          <p:cNvPr id="22" name="Text 20"/>
          <p:cNvSpPr txBox="1"/>
          <p:nvPr/>
        </p:nvSpPr>
        <p:spPr>
          <a:xfrm>
            <a:off x="2926080" y="5303520"/>
            <a:ext cx="960120" cy="45720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4014216" y="5303520"/>
            <a:ext cx="2286000" cy="457200"/>
          </a:xfrm>
          <a:prstGeom prst="rect">
            <a:avLst/>
          </a:prstGeom>
          <a:noFill/>
          <a:ln/>
        </p:spPr>
        <p:txBody>
          <a:bodyPr wrap="square" lIns="0" tIns="0" rIns="0" bIns="0" rtlCol="0" anchor="ctr"/>
          <a:lstStyle/>
          <a:p>
            <a:pPr indent="0" marL="0">
              <a:buNone/>
            </a:pPr>
            <a:r>
              <a:rPr lang="en-US" sz="1200" i="1" dirty="0">
                <a:solidFill>
                  <a:srgbClr val="B5453A"/>
                </a:solidFill>
                <a:latin typeface="Calibri" pitchFamily="34" charset="0"/>
                <a:ea typeface="Calibri" pitchFamily="34" charset="-122"/>
                <a:cs typeface="Calibri" pitchFamily="34" charset="-120"/>
              </a:rPr>
              <a:t>the serial part stays</a:t>
            </a:r>
            <a:endParaRPr lang="en-US" sz="1200" dirty="0"/>
          </a:p>
        </p:txBody>
      </p:sp>
      <p:sp>
        <p:nvSpPr>
          <p:cNvPr id="24" name="Shape 22"/>
          <p:cNvSpPr/>
          <p:nvPr/>
        </p:nvSpPr>
        <p:spPr>
          <a:xfrm>
            <a:off x="6858000" y="2240280"/>
            <a:ext cx="4800600" cy="4023360"/>
          </a:xfrm>
          <a:prstGeom prst="roundRect">
            <a:avLst>
              <a:gd name="adj" fmla="val 136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5" name="Text 23"/>
          <p:cNvSpPr txBox="1"/>
          <p:nvPr/>
        </p:nvSpPr>
        <p:spPr>
          <a:xfrm>
            <a:off x="7086600" y="2423160"/>
            <a:ext cx="4343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Reading the formula</a:t>
            </a:r>
            <a:endParaRPr lang="en-US" sz="1500" dirty="0"/>
          </a:p>
        </p:txBody>
      </p:sp>
      <p:sp>
        <p:nvSpPr>
          <p:cNvPr id="26" name="Text 24"/>
          <p:cNvSpPr txBox="1"/>
          <p:nvPr/>
        </p:nvSpPr>
        <p:spPr>
          <a:xfrm>
            <a:off x="7086600" y="2880360"/>
            <a:ext cx="4343400" cy="324612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With 1 core the program takes time S + (1 − S) = 1.</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With N cores only the parallel part shrinks, to (1 − S)/N.</a:t>
            </a:r>
            <a:endParaRPr lang="en-US" sz="1600" dirty="0"/>
          </a:p>
          <a:p>
            <a:pPr marL="228600" indent="-228600">
              <a:spcAft>
                <a:spcPts val="400"/>
              </a:spcAft>
              <a:buSzPct val="100000"/>
              <a:buChar char="•"/>
            </a:pPr>
            <a:r>
              <a:rPr lang="en-US" sz="1600" b="1" dirty="0">
                <a:solidFill>
                  <a:srgbClr val="3A464C"/>
                </a:solidFill>
                <a:latin typeface="Calibri" pitchFamily="34" charset="0"/>
                <a:ea typeface="Calibri" pitchFamily="34" charset="-122"/>
                <a:cs typeface="Calibri" pitchFamily="34" charset="-120"/>
              </a:rPr>
              <a:t>Limit:</a:t>
            </a:r>
            <a:r>
              <a:rPr lang="en-US" sz="1600" dirty="0">
                <a:solidFill>
                  <a:srgbClr val="3A464C"/>
                </a:solidFill>
                <a:latin typeface="Calibri" pitchFamily="34" charset="0"/>
                <a:ea typeface="Calibri" pitchFamily="34" charset="-122"/>
                <a:cs typeface="Calibri" pitchFamily="34" charset="-120"/>
              </a:rPr>
              <a:t> even with infinitely many cores, speedup ≤ 1/S.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25 % serial ⇒ never more than 4 × faster, no matter how many cores you buy.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MULTICORE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Worked Example: 75 % Parallel, 25 % Serial</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13</a:t>
            </a:r>
            <a:endParaRPr lang="en-US" sz="900" dirty="0"/>
          </a:p>
        </p:txBody>
      </p:sp>
      <p:sp>
        <p:nvSpPr>
          <p:cNvPr id="6" name="Shape 4"/>
          <p:cNvSpPr/>
          <p:nvPr/>
        </p:nvSpPr>
        <p:spPr>
          <a:xfrm>
            <a:off x="548640" y="1508760"/>
            <a:ext cx="5486400" cy="3520440"/>
          </a:xfrm>
          <a:prstGeom prst="roundRect">
            <a:avLst>
              <a:gd name="adj" fmla="val 1299"/>
            </a:avLst>
          </a:prstGeom>
          <a:solidFill>
            <a:srgbClr val="212121"/>
          </a:solidFill>
          <a:ln/>
        </p:spPr>
        <p:txBody>
          <a:bodyPr/>
          <a:p/>
        </p:txBody>
      </p:sp>
      <p:sp>
        <p:nvSpPr>
          <p:cNvPr id="7" name="Text 5"/>
          <p:cNvSpPr txBox="1"/>
          <p:nvPr/>
        </p:nvSpPr>
        <p:spPr>
          <a:xfrm>
            <a:off x="731520" y="1618488"/>
            <a:ext cx="5120640" cy="3300984"/>
          </a:xfrm>
          <a:prstGeom prst="rect">
            <a:avLst/>
          </a:prstGeom>
          <a:noFill/>
          <a:ln/>
        </p:spPr>
        <p:txBody>
          <a:bodyPr wrap="square" lIns="0" tIns="0" rIns="0" bIns="0" rtlCol="0" anchor="t"/>
          <a:lstStyle/>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S = 0.25, so 1 − S = 0.75</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N = 2:   1 / (0.25 + 0.75/2)</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       = 1 / 0.625   = 1.60</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N = 4:   1 / (0.25 + 0.75/4)</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       = 1 / 0.4375  ≈ 2.29</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F2F2F2"/>
                </a:solidFill>
                <a:latin typeface="Consolas" pitchFamily="34" charset="0"/>
                <a:ea typeface="Consolas" pitchFamily="34" charset="-122"/>
                <a:cs typeface="Consolas" pitchFamily="34" charset="-120"/>
              </a:rPr>
              <a:t>N → ∞:   1 / 0.25    = 4.00</a:t>
            </a:r>
            <a:endParaRPr lang="en-US" sz="1500" dirty="0"/>
          </a:p>
        </p:txBody>
      </p:sp>
      <p:sp>
        <p:nvSpPr>
          <p:cNvPr id="8" name="Text 6"/>
          <p:cNvSpPr txBox="1"/>
          <p:nvPr/>
        </p:nvSpPr>
        <p:spPr>
          <a:xfrm>
            <a:off x="6583680" y="1508760"/>
            <a:ext cx="5029200" cy="320040"/>
          </a:xfrm>
          <a:prstGeom prst="rect">
            <a:avLst/>
          </a:prstGeom>
          <a:noFill/>
          <a:ln/>
        </p:spPr>
        <p:txBody>
          <a:bodyPr wrap="square" lIns="0" tIns="0" rIns="0" bIns="0" rtlCol="0" anchor="t"/>
          <a:lstStyle/>
          <a:p>
            <a:pPr indent="0" marL="0">
              <a:buNone/>
            </a:pPr>
            <a:r>
              <a:rPr lang="en-US" sz="1300" b="1" dirty="0">
                <a:solidFill>
                  <a:srgbClr val="36454F"/>
                </a:solidFill>
                <a:latin typeface="Calibri" pitchFamily="34" charset="0"/>
                <a:ea typeface="Calibri" pitchFamily="34" charset="-122"/>
                <a:cs typeface="Calibri" pitchFamily="34" charset="-120"/>
              </a:rPr>
              <a:t>speedup vs. number of cores N</a:t>
            </a:r>
            <a:endParaRPr lang="en-US" sz="1300" dirty="0"/>
          </a:p>
        </p:txBody>
      </p:sp>
      <p:sp>
        <p:nvSpPr>
          <p:cNvPr id="9" name="Shape 7"/>
          <p:cNvSpPr/>
          <p:nvPr/>
        </p:nvSpPr>
        <p:spPr>
          <a:xfrm>
            <a:off x="6766560" y="4251960"/>
            <a:ext cx="640080" cy="777240"/>
          </a:xfrm>
          <a:prstGeom prst="rect">
            <a:avLst/>
          </a:prstGeom>
          <a:solidFill>
            <a:srgbClr val="02C39A"/>
          </a:solidFill>
          <a:ln/>
        </p:spPr>
        <p:txBody>
          <a:bodyPr/>
          <a:p/>
        </p:txBody>
      </p:sp>
      <p:sp>
        <p:nvSpPr>
          <p:cNvPr id="10" name="Text 8"/>
          <p:cNvSpPr txBox="1"/>
          <p:nvPr/>
        </p:nvSpPr>
        <p:spPr>
          <a:xfrm>
            <a:off x="6629400" y="3959352"/>
            <a:ext cx="914400" cy="27432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1.00</a:t>
            </a:r>
            <a:endParaRPr lang="en-US" sz="1200" dirty="0"/>
          </a:p>
        </p:txBody>
      </p:sp>
      <p:sp>
        <p:nvSpPr>
          <p:cNvPr id="11" name="Text 9"/>
          <p:cNvSpPr txBox="1"/>
          <p:nvPr/>
        </p:nvSpPr>
        <p:spPr>
          <a:xfrm>
            <a:off x="6629400" y="5074920"/>
            <a:ext cx="91440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N=1</a:t>
            </a:r>
            <a:endParaRPr lang="en-US" sz="1200" dirty="0"/>
          </a:p>
        </p:txBody>
      </p:sp>
      <p:sp>
        <p:nvSpPr>
          <p:cNvPr id="12" name="Shape 10"/>
          <p:cNvSpPr/>
          <p:nvPr/>
        </p:nvSpPr>
        <p:spPr>
          <a:xfrm>
            <a:off x="7607808" y="3785616"/>
            <a:ext cx="640080" cy="1243584"/>
          </a:xfrm>
          <a:prstGeom prst="rect">
            <a:avLst/>
          </a:prstGeom>
          <a:solidFill>
            <a:srgbClr val="02C39A"/>
          </a:solidFill>
          <a:ln/>
        </p:spPr>
        <p:txBody>
          <a:bodyPr/>
          <a:p/>
        </p:txBody>
      </p:sp>
      <p:sp>
        <p:nvSpPr>
          <p:cNvPr id="13" name="Text 11"/>
          <p:cNvSpPr txBox="1"/>
          <p:nvPr/>
        </p:nvSpPr>
        <p:spPr>
          <a:xfrm>
            <a:off x="7470648" y="3493008"/>
            <a:ext cx="914400" cy="27432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1.60</a:t>
            </a:r>
            <a:endParaRPr lang="en-US" sz="1200" dirty="0"/>
          </a:p>
        </p:txBody>
      </p:sp>
      <p:sp>
        <p:nvSpPr>
          <p:cNvPr id="14" name="Text 12"/>
          <p:cNvSpPr txBox="1"/>
          <p:nvPr/>
        </p:nvSpPr>
        <p:spPr>
          <a:xfrm>
            <a:off x="7470648" y="5074920"/>
            <a:ext cx="91440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N=2</a:t>
            </a:r>
            <a:endParaRPr lang="en-US" sz="1200" dirty="0"/>
          </a:p>
        </p:txBody>
      </p:sp>
      <p:sp>
        <p:nvSpPr>
          <p:cNvPr id="15" name="Shape 13"/>
          <p:cNvSpPr/>
          <p:nvPr/>
        </p:nvSpPr>
        <p:spPr>
          <a:xfrm>
            <a:off x="8449056" y="3249320"/>
            <a:ext cx="640080" cy="1779880"/>
          </a:xfrm>
          <a:prstGeom prst="rect">
            <a:avLst/>
          </a:prstGeom>
          <a:solidFill>
            <a:srgbClr val="02C39A"/>
          </a:solidFill>
          <a:ln/>
        </p:spPr>
        <p:txBody>
          <a:bodyPr/>
          <a:p/>
        </p:txBody>
      </p:sp>
      <p:sp>
        <p:nvSpPr>
          <p:cNvPr id="16" name="Text 14"/>
          <p:cNvSpPr txBox="1"/>
          <p:nvPr/>
        </p:nvSpPr>
        <p:spPr>
          <a:xfrm>
            <a:off x="8311896" y="2956712"/>
            <a:ext cx="914400" cy="27432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2.29</a:t>
            </a:r>
            <a:endParaRPr lang="en-US" sz="1200" dirty="0"/>
          </a:p>
        </p:txBody>
      </p:sp>
      <p:sp>
        <p:nvSpPr>
          <p:cNvPr id="17" name="Text 15"/>
          <p:cNvSpPr txBox="1"/>
          <p:nvPr/>
        </p:nvSpPr>
        <p:spPr>
          <a:xfrm>
            <a:off x="8311896" y="5074920"/>
            <a:ext cx="91440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N=4</a:t>
            </a:r>
            <a:endParaRPr lang="en-US" sz="1200" dirty="0"/>
          </a:p>
        </p:txBody>
      </p:sp>
      <p:sp>
        <p:nvSpPr>
          <p:cNvPr id="18" name="Shape 16"/>
          <p:cNvSpPr/>
          <p:nvPr/>
        </p:nvSpPr>
        <p:spPr>
          <a:xfrm>
            <a:off x="9290304" y="2767432"/>
            <a:ext cx="640080" cy="2261768"/>
          </a:xfrm>
          <a:prstGeom prst="rect">
            <a:avLst/>
          </a:prstGeom>
          <a:solidFill>
            <a:srgbClr val="02C39A"/>
          </a:solidFill>
          <a:ln/>
        </p:spPr>
        <p:txBody>
          <a:bodyPr/>
          <a:p/>
        </p:txBody>
      </p:sp>
      <p:sp>
        <p:nvSpPr>
          <p:cNvPr id="19" name="Text 17"/>
          <p:cNvSpPr txBox="1"/>
          <p:nvPr/>
        </p:nvSpPr>
        <p:spPr>
          <a:xfrm>
            <a:off x="9153144" y="2474824"/>
            <a:ext cx="914400" cy="27432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2.91</a:t>
            </a:r>
            <a:endParaRPr lang="en-US" sz="1200" dirty="0"/>
          </a:p>
        </p:txBody>
      </p:sp>
      <p:sp>
        <p:nvSpPr>
          <p:cNvPr id="20" name="Text 18"/>
          <p:cNvSpPr txBox="1"/>
          <p:nvPr/>
        </p:nvSpPr>
        <p:spPr>
          <a:xfrm>
            <a:off x="9153144" y="5074920"/>
            <a:ext cx="91440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N=8</a:t>
            </a:r>
            <a:endParaRPr lang="en-US" sz="1200" dirty="0"/>
          </a:p>
        </p:txBody>
      </p:sp>
      <p:sp>
        <p:nvSpPr>
          <p:cNvPr id="21" name="Shape 19"/>
          <p:cNvSpPr/>
          <p:nvPr/>
        </p:nvSpPr>
        <p:spPr>
          <a:xfrm>
            <a:off x="10131552" y="2409901"/>
            <a:ext cx="640080" cy="2619299"/>
          </a:xfrm>
          <a:prstGeom prst="rect">
            <a:avLst/>
          </a:prstGeom>
          <a:solidFill>
            <a:srgbClr val="02C39A"/>
          </a:solidFill>
          <a:ln/>
        </p:spPr>
        <p:txBody>
          <a:bodyPr/>
          <a:p/>
        </p:txBody>
      </p:sp>
      <p:sp>
        <p:nvSpPr>
          <p:cNvPr id="22" name="Text 20"/>
          <p:cNvSpPr txBox="1"/>
          <p:nvPr/>
        </p:nvSpPr>
        <p:spPr>
          <a:xfrm>
            <a:off x="9994392" y="2117293"/>
            <a:ext cx="914400" cy="27432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3.37</a:t>
            </a:r>
            <a:endParaRPr lang="en-US" sz="1200" dirty="0"/>
          </a:p>
        </p:txBody>
      </p:sp>
      <p:sp>
        <p:nvSpPr>
          <p:cNvPr id="23" name="Text 21"/>
          <p:cNvSpPr txBox="1"/>
          <p:nvPr/>
        </p:nvSpPr>
        <p:spPr>
          <a:xfrm>
            <a:off x="9994392" y="5074920"/>
            <a:ext cx="91440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N=16</a:t>
            </a:r>
            <a:endParaRPr lang="en-US" sz="1200" dirty="0"/>
          </a:p>
        </p:txBody>
      </p:sp>
      <p:sp>
        <p:nvSpPr>
          <p:cNvPr id="24" name="Shape 22"/>
          <p:cNvSpPr/>
          <p:nvPr/>
        </p:nvSpPr>
        <p:spPr>
          <a:xfrm>
            <a:off x="10972800" y="1920240"/>
            <a:ext cx="640080" cy="3108960"/>
          </a:xfrm>
          <a:prstGeom prst="rect">
            <a:avLst/>
          </a:prstGeom>
          <a:solidFill>
            <a:srgbClr val="36454F"/>
          </a:solidFill>
          <a:ln/>
        </p:spPr>
        <p:txBody>
          <a:bodyPr/>
          <a:p/>
        </p:txBody>
      </p:sp>
      <p:sp>
        <p:nvSpPr>
          <p:cNvPr id="25" name="Text 23"/>
          <p:cNvSpPr txBox="1"/>
          <p:nvPr/>
        </p:nvSpPr>
        <p:spPr>
          <a:xfrm>
            <a:off x="10835640" y="1627632"/>
            <a:ext cx="914400" cy="274320"/>
          </a:xfrm>
          <a:prstGeom prst="rect">
            <a:avLst/>
          </a:prstGeom>
          <a:noFill/>
          <a:ln/>
        </p:spPr>
        <p:txBody>
          <a:bodyPr wrap="square" lIns="0" tIns="0" rIns="0" bIns="0" rtlCol="0" anchor="t"/>
          <a:lstStyle/>
          <a:p>
            <a:pPr algn="ctr" indent="0" marL="0">
              <a:buNone/>
            </a:pPr>
            <a:r>
              <a:rPr lang="en-US" sz="1200" b="1" dirty="0">
                <a:solidFill>
                  <a:srgbClr val="36454F"/>
                </a:solidFill>
                <a:latin typeface="Calibri" pitchFamily="34" charset="0"/>
                <a:ea typeface="Calibri" pitchFamily="34" charset="-122"/>
                <a:cs typeface="Calibri" pitchFamily="34" charset="-120"/>
              </a:rPr>
              <a:t>4.00</a:t>
            </a:r>
            <a:endParaRPr lang="en-US" sz="1200" dirty="0"/>
          </a:p>
        </p:txBody>
      </p:sp>
      <p:sp>
        <p:nvSpPr>
          <p:cNvPr id="26" name="Text 24"/>
          <p:cNvSpPr txBox="1"/>
          <p:nvPr/>
        </p:nvSpPr>
        <p:spPr>
          <a:xfrm>
            <a:off x="10835640" y="5074920"/>
            <a:ext cx="914400" cy="274320"/>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N=∞</a:t>
            </a:r>
            <a:endParaRPr lang="en-US" sz="1200" dirty="0"/>
          </a:p>
        </p:txBody>
      </p:sp>
      <p:sp>
        <p:nvSpPr>
          <p:cNvPr id="27" name="Shape 25"/>
          <p:cNvSpPr/>
          <p:nvPr/>
        </p:nvSpPr>
        <p:spPr>
          <a:xfrm>
            <a:off x="6583680" y="5029200"/>
            <a:ext cx="5230368" cy="91"/>
          </a:xfrm>
          <a:prstGeom prst="line">
            <a:avLst/>
          </a:prstGeom>
          <a:noFill/>
          <a:ln w="15875">
            <a:solidFill>
              <a:srgbClr val="50808E"/>
            </a:solidFill>
            <a:prstDash val="solid"/>
          </a:ln>
        </p:spPr>
        <p:txBody>
          <a:bodyPr/>
          <a:p/>
        </p:txBody>
      </p:sp>
      <p:sp>
        <p:nvSpPr>
          <p:cNvPr id="28" name="Shape 26"/>
          <p:cNvSpPr/>
          <p:nvPr/>
        </p:nvSpPr>
        <p:spPr>
          <a:xfrm>
            <a:off x="548640" y="5440680"/>
            <a:ext cx="11109960" cy="822960"/>
          </a:xfrm>
          <a:prstGeom prst="roundRect">
            <a:avLst>
              <a:gd name="adj" fmla="val 666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9" name="Text 27"/>
          <p:cNvSpPr txBox="1"/>
          <p:nvPr/>
        </p:nvSpPr>
        <p:spPr>
          <a:xfrm>
            <a:off x="777240" y="5440680"/>
            <a:ext cx="10652760" cy="82296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Going from 8 to 16 cores (double the hardware) only raises the speedup from 2.91 to 3.37. Reduce the serial part first — then add cores.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THREAD TYPES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User-Level Threads vs. Kernel-Level Threads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Who knows that the threads exist — only a library in the program, or the kernel itself?</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14</a:t>
            </a:r>
            <a:endParaRPr lang="en-US" sz="900" dirty="0"/>
          </a:p>
        </p:txBody>
      </p:sp>
      <p:sp>
        <p:nvSpPr>
          <p:cNvPr id="7" name="Shape 5"/>
          <p:cNvSpPr/>
          <p:nvPr/>
        </p:nvSpPr>
        <p:spPr>
          <a:xfrm>
            <a:off x="54864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User-level threads</a:t>
            </a:r>
            <a:endParaRPr lang="en-US" sz="1500" dirty="0"/>
          </a:p>
        </p:txBody>
      </p:sp>
      <p:sp>
        <p:nvSpPr>
          <p:cNvPr id="9" name="Text 7"/>
          <p:cNvSpPr txBox="1"/>
          <p:nvPr/>
        </p:nvSpPr>
        <p:spPr>
          <a:xfrm>
            <a:off x="77724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Managed by a library inside the process; the kernel sees one single-threaded process.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Creating and switching: just function calls — very fast, no system call.</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One thread makes a blocking system call → the kernel blocks the whole process.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Cannot use two cores: the kernel schedules only one thing.</a:t>
            </a:r>
            <a:endParaRPr lang="en-US" sz="1400" dirty="0"/>
          </a:p>
        </p:txBody>
      </p:sp>
      <p:sp>
        <p:nvSpPr>
          <p:cNvPr id="10" name="Shape 8"/>
          <p:cNvSpPr/>
          <p:nvPr/>
        </p:nvSpPr>
        <p:spPr>
          <a:xfrm>
            <a:off x="621792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Kernel-level threads</a:t>
            </a:r>
            <a:endParaRPr lang="en-US" sz="1500" dirty="0"/>
          </a:p>
        </p:txBody>
      </p:sp>
      <p:sp>
        <p:nvSpPr>
          <p:cNvPr id="12" name="Text 10"/>
          <p:cNvSpPr txBox="1"/>
          <p:nvPr/>
        </p:nvSpPr>
        <p:spPr>
          <a:xfrm>
            <a:off x="644652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Created and scheduled by the OS kernel; each has its own kernel record.</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Creating and switching need system calls — slower than user threads.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One thread blocks → the kernel runs another thread of the same process.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Threads of one process run in parallel on several cores.</a:t>
            </a:r>
            <a:endParaRPr lang="en-US" sz="1400" dirty="0"/>
          </a:p>
        </p:txBody>
      </p:sp>
      <p:sp>
        <p:nvSpPr>
          <p:cNvPr id="13" name="Shape 11"/>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Every user thread must eventually run on some kernel thread. How they are matched is the multithreading model.</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MULTITHREADING MODELS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Model 1: Many-to-One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Many user threads are mapped onto one kernel thread. Thread management is done by a user-space library.</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15</a:t>
            </a:r>
            <a:endParaRPr lang="en-US" sz="900" dirty="0"/>
          </a:p>
        </p:txBody>
      </p:sp>
      <p:sp>
        <p:nvSpPr>
          <p:cNvPr id="7" name="Shape 5"/>
          <p:cNvSpPr/>
          <p:nvPr/>
        </p:nvSpPr>
        <p:spPr>
          <a:xfrm>
            <a:off x="548640" y="2103120"/>
            <a:ext cx="5669280" cy="1143000"/>
          </a:xfrm>
          <a:prstGeom prst="roundRect">
            <a:avLst>
              <a:gd name="adj" fmla="val 4000"/>
            </a:avLst>
          </a:prstGeom>
          <a:solidFill>
            <a:srgbClr val="F2F2F2"/>
          </a:solidFill>
          <a:ln/>
        </p:spPr>
        <p:txBody>
          <a:bodyPr/>
          <a:p/>
        </p:txBody>
      </p:sp>
      <p:sp>
        <p:nvSpPr>
          <p:cNvPr id="8" name="Text 6"/>
          <p:cNvSpPr txBox="1"/>
          <p:nvPr/>
        </p:nvSpPr>
        <p:spPr>
          <a:xfrm>
            <a:off x="685800" y="2157984"/>
            <a:ext cx="1828800" cy="256032"/>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user space</a:t>
            </a:r>
            <a:endParaRPr lang="en-US" sz="1100" dirty="0"/>
          </a:p>
        </p:txBody>
      </p:sp>
      <p:sp>
        <p:nvSpPr>
          <p:cNvPr id="9" name="Shape 7"/>
          <p:cNvSpPr/>
          <p:nvPr/>
        </p:nvSpPr>
        <p:spPr>
          <a:xfrm>
            <a:off x="548640" y="4343400"/>
            <a:ext cx="5669280" cy="1143000"/>
          </a:xfrm>
          <a:prstGeom prst="roundRect">
            <a:avLst>
              <a:gd name="adj" fmla="val 4000"/>
            </a:avLst>
          </a:prstGeom>
          <a:solidFill>
            <a:srgbClr val="36454F"/>
          </a:solidFill>
          <a:ln/>
        </p:spPr>
        <p:txBody>
          <a:bodyPr/>
          <a:p/>
        </p:txBody>
      </p:sp>
      <p:sp>
        <p:nvSpPr>
          <p:cNvPr id="10" name="Text 8"/>
          <p:cNvSpPr txBox="1"/>
          <p:nvPr/>
        </p:nvSpPr>
        <p:spPr>
          <a:xfrm>
            <a:off x="685800" y="5175504"/>
            <a:ext cx="1828800" cy="256032"/>
          </a:xfrm>
          <a:prstGeom prst="rect">
            <a:avLst/>
          </a:prstGeom>
          <a:noFill/>
          <a:ln/>
        </p:spPr>
        <p:txBody>
          <a:bodyPr wrap="square" lIns="0" tIns="0" rIns="0" bIns="0" rtlCol="0" anchor="t"/>
          <a:lstStyle/>
          <a:p>
            <a:pPr indent="0" marL="0">
              <a:buNone/>
            </a:pPr>
            <a:r>
              <a:rPr lang="en-US" sz="1100" i="1" dirty="0">
                <a:solidFill>
                  <a:srgbClr val="8A9AA0"/>
                </a:solidFill>
                <a:latin typeface="Calibri" pitchFamily="34" charset="0"/>
                <a:ea typeface="Calibri" pitchFamily="34" charset="-122"/>
                <a:cs typeface="Calibri" pitchFamily="34" charset="-120"/>
              </a:rPr>
              <a:t>kernel space</a:t>
            </a:r>
            <a:endParaRPr lang="en-US" sz="1100" dirty="0"/>
          </a:p>
        </p:txBody>
      </p:sp>
      <p:sp>
        <p:nvSpPr>
          <p:cNvPr id="11" name="Shape 9"/>
          <p:cNvSpPr/>
          <p:nvPr/>
        </p:nvSpPr>
        <p:spPr>
          <a:xfrm>
            <a:off x="1257300" y="2916936"/>
            <a:ext cx="2125980" cy="1746504"/>
          </a:xfrm>
          <a:prstGeom prst="line">
            <a:avLst/>
          </a:prstGeom>
          <a:noFill/>
          <a:ln w="25400">
            <a:solidFill>
              <a:srgbClr val="028090"/>
            </a:solidFill>
            <a:prstDash val="solid"/>
          </a:ln>
        </p:spPr>
        <p:txBody>
          <a:bodyPr/>
          <a:p/>
        </p:txBody>
      </p:sp>
      <p:sp>
        <p:nvSpPr>
          <p:cNvPr id="12" name="Shape 10"/>
          <p:cNvSpPr/>
          <p:nvPr/>
        </p:nvSpPr>
        <p:spPr>
          <a:xfrm>
            <a:off x="2674620" y="2916936"/>
            <a:ext cx="708660" cy="1746504"/>
          </a:xfrm>
          <a:prstGeom prst="line">
            <a:avLst/>
          </a:prstGeom>
          <a:noFill/>
          <a:ln w="25400">
            <a:solidFill>
              <a:srgbClr val="028090"/>
            </a:solidFill>
            <a:prstDash val="solid"/>
          </a:ln>
        </p:spPr>
        <p:txBody>
          <a:bodyPr/>
          <a:p/>
        </p:txBody>
      </p:sp>
      <p:sp>
        <p:nvSpPr>
          <p:cNvPr id="13" name="Shape 11"/>
          <p:cNvSpPr/>
          <p:nvPr/>
        </p:nvSpPr>
        <p:spPr>
          <a:xfrm flipH="1">
            <a:off x="3383280" y="2916936"/>
            <a:ext cx="708660" cy="1746504"/>
          </a:xfrm>
          <a:prstGeom prst="line">
            <a:avLst/>
          </a:prstGeom>
          <a:noFill/>
          <a:ln w="25400">
            <a:solidFill>
              <a:srgbClr val="028090"/>
            </a:solidFill>
            <a:prstDash val="solid"/>
          </a:ln>
        </p:spPr>
        <p:txBody>
          <a:bodyPr/>
          <a:p/>
        </p:txBody>
      </p:sp>
      <p:sp>
        <p:nvSpPr>
          <p:cNvPr id="14" name="Shape 12"/>
          <p:cNvSpPr/>
          <p:nvPr/>
        </p:nvSpPr>
        <p:spPr>
          <a:xfrm flipH="1">
            <a:off x="3383280" y="2916936"/>
            <a:ext cx="2125980" cy="1746504"/>
          </a:xfrm>
          <a:prstGeom prst="line">
            <a:avLst/>
          </a:prstGeom>
          <a:noFill/>
          <a:ln w="25400">
            <a:solidFill>
              <a:srgbClr val="028090"/>
            </a:solidFill>
            <a:prstDash val="solid"/>
          </a:ln>
        </p:spPr>
        <p:txBody>
          <a:bodyPr/>
          <a:p/>
        </p:txBody>
      </p:sp>
      <p:sp>
        <p:nvSpPr>
          <p:cNvPr id="15" name="Shape 13"/>
          <p:cNvSpPr/>
          <p:nvPr/>
        </p:nvSpPr>
        <p:spPr>
          <a:xfrm>
            <a:off x="1010412" y="2423160"/>
            <a:ext cx="493776" cy="493776"/>
          </a:xfrm>
          <a:prstGeom prst="ellipse">
            <a:avLst/>
          </a:prstGeom>
          <a:solidFill>
            <a:srgbClr val="02C39A"/>
          </a:solidFill>
          <a:ln/>
        </p:spPr>
        <p:txBody>
          <a:bodyPr/>
          <a:p/>
        </p:txBody>
      </p:sp>
      <p:sp>
        <p:nvSpPr>
          <p:cNvPr id="16" name="Text 14"/>
          <p:cNvSpPr txBox="1"/>
          <p:nvPr/>
        </p:nvSpPr>
        <p:spPr>
          <a:xfrm>
            <a:off x="1010412"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17" name="Shape 15"/>
          <p:cNvSpPr/>
          <p:nvPr/>
        </p:nvSpPr>
        <p:spPr>
          <a:xfrm>
            <a:off x="2427732" y="2423160"/>
            <a:ext cx="493776" cy="493776"/>
          </a:xfrm>
          <a:prstGeom prst="ellipse">
            <a:avLst/>
          </a:prstGeom>
          <a:solidFill>
            <a:srgbClr val="02C39A"/>
          </a:solidFill>
          <a:ln/>
        </p:spPr>
        <p:txBody>
          <a:bodyPr/>
          <a:p/>
        </p:txBody>
      </p:sp>
      <p:sp>
        <p:nvSpPr>
          <p:cNvPr id="18" name="Text 16"/>
          <p:cNvSpPr txBox="1"/>
          <p:nvPr/>
        </p:nvSpPr>
        <p:spPr>
          <a:xfrm>
            <a:off x="2427732"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19" name="Shape 17"/>
          <p:cNvSpPr/>
          <p:nvPr/>
        </p:nvSpPr>
        <p:spPr>
          <a:xfrm>
            <a:off x="3845052" y="2423160"/>
            <a:ext cx="493776" cy="493776"/>
          </a:xfrm>
          <a:prstGeom prst="ellipse">
            <a:avLst/>
          </a:prstGeom>
          <a:solidFill>
            <a:srgbClr val="02C39A"/>
          </a:solidFill>
          <a:ln/>
        </p:spPr>
        <p:txBody>
          <a:bodyPr/>
          <a:p/>
        </p:txBody>
      </p:sp>
      <p:sp>
        <p:nvSpPr>
          <p:cNvPr id="20" name="Text 18"/>
          <p:cNvSpPr txBox="1"/>
          <p:nvPr/>
        </p:nvSpPr>
        <p:spPr>
          <a:xfrm>
            <a:off x="3845052"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21" name="Shape 19"/>
          <p:cNvSpPr/>
          <p:nvPr/>
        </p:nvSpPr>
        <p:spPr>
          <a:xfrm>
            <a:off x="5262372" y="2423160"/>
            <a:ext cx="493776" cy="493776"/>
          </a:xfrm>
          <a:prstGeom prst="ellipse">
            <a:avLst/>
          </a:prstGeom>
          <a:solidFill>
            <a:srgbClr val="02C39A"/>
          </a:solidFill>
          <a:ln/>
        </p:spPr>
        <p:txBody>
          <a:bodyPr/>
          <a:p/>
        </p:txBody>
      </p:sp>
      <p:sp>
        <p:nvSpPr>
          <p:cNvPr id="22" name="Text 20"/>
          <p:cNvSpPr txBox="1"/>
          <p:nvPr/>
        </p:nvSpPr>
        <p:spPr>
          <a:xfrm>
            <a:off x="5262372"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23" name="Shape 21"/>
          <p:cNvSpPr/>
          <p:nvPr/>
        </p:nvSpPr>
        <p:spPr>
          <a:xfrm>
            <a:off x="3136392" y="4663440"/>
            <a:ext cx="493776" cy="493776"/>
          </a:xfrm>
          <a:prstGeom prst="ellipse">
            <a:avLst/>
          </a:prstGeom>
          <a:solidFill>
            <a:srgbClr val="FFFFFF"/>
          </a:solidFill>
          <a:ln/>
        </p:spPr>
        <p:txBody>
          <a:bodyPr/>
          <a:p/>
        </p:txBody>
      </p:sp>
      <p:sp>
        <p:nvSpPr>
          <p:cNvPr id="24" name="Text 22"/>
          <p:cNvSpPr txBox="1"/>
          <p:nvPr/>
        </p:nvSpPr>
        <p:spPr>
          <a:xfrm>
            <a:off x="3136392" y="4663440"/>
            <a:ext cx="493776" cy="493776"/>
          </a:xfrm>
          <a:prstGeom prst="rect">
            <a:avLst/>
          </a:prstGeom>
          <a:noFill/>
          <a:ln/>
        </p:spPr>
        <p:txBody>
          <a:bodyPr wrap="square" lIns="0" tIns="0" rIns="0" bIns="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K</a:t>
            </a:r>
            <a:endParaRPr lang="en-US" sz="1300" dirty="0"/>
          </a:p>
        </p:txBody>
      </p:sp>
      <p:sp>
        <p:nvSpPr>
          <p:cNvPr id="25" name="Text 23"/>
          <p:cNvSpPr txBox="1"/>
          <p:nvPr/>
        </p:nvSpPr>
        <p:spPr>
          <a:xfrm>
            <a:off x="548640" y="5623560"/>
            <a:ext cx="5669280" cy="54864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U = user thread,  K = kernel thread</a:t>
            </a:r>
            <a:endParaRPr lang="en-US" sz="1200" dirty="0"/>
          </a:p>
        </p:txBody>
      </p:sp>
      <p:sp>
        <p:nvSpPr>
          <p:cNvPr id="26" name="Shape 24"/>
          <p:cNvSpPr/>
          <p:nvPr/>
        </p:nvSpPr>
        <p:spPr>
          <a:xfrm>
            <a:off x="6537960" y="2103120"/>
            <a:ext cx="512064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7" name="Text 25"/>
          <p:cNvSpPr txBox="1"/>
          <p:nvPr/>
        </p:nvSpPr>
        <p:spPr>
          <a:xfrm>
            <a:off x="6766560" y="2286000"/>
            <a:ext cx="46634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Advantages</a:t>
            </a:r>
            <a:endParaRPr lang="en-US" sz="1500" dirty="0"/>
          </a:p>
        </p:txBody>
      </p:sp>
      <p:sp>
        <p:nvSpPr>
          <p:cNvPr id="28" name="Text 26"/>
          <p:cNvSpPr txBox="1"/>
          <p:nvPr/>
        </p:nvSpPr>
        <p:spPr>
          <a:xfrm>
            <a:off x="6766560" y="2743200"/>
            <a:ext cx="4663440" cy="685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Fast: thread switching without the kernel.</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Works even on an OS without kernel threads.</a:t>
            </a:r>
            <a:endParaRPr lang="en-US" sz="1400" dirty="0"/>
          </a:p>
        </p:txBody>
      </p:sp>
      <p:sp>
        <p:nvSpPr>
          <p:cNvPr id="29" name="Shape 27"/>
          <p:cNvSpPr/>
          <p:nvPr/>
        </p:nvSpPr>
        <p:spPr>
          <a:xfrm>
            <a:off x="6537960" y="3749040"/>
            <a:ext cx="512064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0" name="Text 28"/>
          <p:cNvSpPr txBox="1"/>
          <p:nvPr/>
        </p:nvSpPr>
        <p:spPr>
          <a:xfrm>
            <a:off x="6766560" y="3931920"/>
            <a:ext cx="4663440" cy="384048"/>
          </a:xfrm>
          <a:prstGeom prst="rect">
            <a:avLst/>
          </a:prstGeom>
          <a:noFill/>
          <a:ln/>
        </p:spPr>
        <p:txBody>
          <a:bodyPr wrap="square" lIns="0" tIns="0" rIns="0" bIns="0" rtlCol="0" anchor="ctr"/>
          <a:lstStyle/>
          <a:p>
            <a:pPr indent="0" marL="0">
              <a:buNone/>
            </a:pPr>
            <a:r>
              <a:rPr lang="en-US" sz="1500" b="1" dirty="0">
                <a:solidFill>
                  <a:srgbClr val="B5453A"/>
                </a:solidFill>
                <a:latin typeface="Cambria" pitchFamily="34" charset="0"/>
                <a:ea typeface="Cambria" pitchFamily="34" charset="-122"/>
                <a:cs typeface="Cambria" pitchFamily="34" charset="-120"/>
              </a:rPr>
              <a:t>Disadvantages</a:t>
            </a:r>
            <a:endParaRPr lang="en-US" sz="1500" dirty="0"/>
          </a:p>
        </p:txBody>
      </p:sp>
      <p:sp>
        <p:nvSpPr>
          <p:cNvPr id="31" name="Text 29"/>
          <p:cNvSpPr txBox="1"/>
          <p:nvPr/>
        </p:nvSpPr>
        <p:spPr>
          <a:xfrm>
            <a:off x="6766560" y="4389120"/>
            <a:ext cx="4663440" cy="685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One blocking system call blocks ALL threads.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No parallelism: only one thread can be in the kernel at a time.</a:t>
            </a:r>
            <a:endParaRPr lang="en-US" sz="1400" dirty="0"/>
          </a:p>
        </p:txBody>
      </p:sp>
      <p:sp>
        <p:nvSpPr>
          <p:cNvPr id="32" name="Shape 30"/>
          <p:cNvSpPr/>
          <p:nvPr/>
        </p:nvSpPr>
        <p:spPr>
          <a:xfrm>
            <a:off x="6537960" y="5394960"/>
            <a:ext cx="5120640" cy="868680"/>
          </a:xfrm>
          <a:prstGeom prst="roundRect">
            <a:avLst>
              <a:gd name="adj" fmla="val 631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3" name="Text 31"/>
          <p:cNvSpPr txBox="1"/>
          <p:nvPr/>
        </p:nvSpPr>
        <p:spPr>
          <a:xfrm>
            <a:off x="6766560" y="5394960"/>
            <a:ext cx="4663440" cy="868680"/>
          </a:xfrm>
          <a:prstGeom prst="rect">
            <a:avLst/>
          </a:prstGeom>
          <a:noFill/>
          <a:ln/>
        </p:spPr>
        <p:txBody>
          <a:bodyPr wrap="square" lIns="0" tIns="0" rIns="0" bIns="0" rtlCol="0" anchor="ctr"/>
          <a:lstStyle/>
          <a:p>
            <a:pPr indent="0" marL="0">
              <a:buNone/>
            </a:pPr>
            <a:r>
              <a:rPr lang="en-US" sz="1300" dirty="0">
                <a:solidFill>
                  <a:srgbClr val="F2F2F2"/>
                </a:solidFill>
                <a:latin typeface="Calibri" pitchFamily="34" charset="0"/>
                <a:ea typeface="Calibri" pitchFamily="34" charset="-122"/>
                <a:cs typeface="Calibri" pitchFamily="34" charset="-120"/>
              </a:rPr>
              <a:t>Examples: Solaris Green Threads, GNU Portable Threads. Rarely used today.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MULTITHREADING MODELS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Model 2: One-to-One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Each user thread is mapped onto its own kernel thread. pthread_create() asks the kernel for a new thread.</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16</a:t>
            </a:r>
            <a:endParaRPr lang="en-US" sz="900" dirty="0"/>
          </a:p>
        </p:txBody>
      </p:sp>
      <p:sp>
        <p:nvSpPr>
          <p:cNvPr id="7" name="Shape 5"/>
          <p:cNvSpPr/>
          <p:nvPr/>
        </p:nvSpPr>
        <p:spPr>
          <a:xfrm>
            <a:off x="548640" y="2103120"/>
            <a:ext cx="5669280" cy="1143000"/>
          </a:xfrm>
          <a:prstGeom prst="roundRect">
            <a:avLst>
              <a:gd name="adj" fmla="val 4000"/>
            </a:avLst>
          </a:prstGeom>
          <a:solidFill>
            <a:srgbClr val="F2F2F2"/>
          </a:solidFill>
          <a:ln/>
        </p:spPr>
        <p:txBody>
          <a:bodyPr/>
          <a:p/>
        </p:txBody>
      </p:sp>
      <p:sp>
        <p:nvSpPr>
          <p:cNvPr id="8" name="Text 6"/>
          <p:cNvSpPr txBox="1"/>
          <p:nvPr/>
        </p:nvSpPr>
        <p:spPr>
          <a:xfrm>
            <a:off x="685800" y="2157984"/>
            <a:ext cx="1828800" cy="256032"/>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user space</a:t>
            </a:r>
            <a:endParaRPr lang="en-US" sz="1100" dirty="0"/>
          </a:p>
        </p:txBody>
      </p:sp>
      <p:sp>
        <p:nvSpPr>
          <p:cNvPr id="9" name="Shape 7"/>
          <p:cNvSpPr/>
          <p:nvPr/>
        </p:nvSpPr>
        <p:spPr>
          <a:xfrm>
            <a:off x="548640" y="4343400"/>
            <a:ext cx="5669280" cy="1143000"/>
          </a:xfrm>
          <a:prstGeom prst="roundRect">
            <a:avLst>
              <a:gd name="adj" fmla="val 4000"/>
            </a:avLst>
          </a:prstGeom>
          <a:solidFill>
            <a:srgbClr val="36454F"/>
          </a:solidFill>
          <a:ln/>
        </p:spPr>
        <p:txBody>
          <a:bodyPr/>
          <a:p/>
        </p:txBody>
      </p:sp>
      <p:sp>
        <p:nvSpPr>
          <p:cNvPr id="10" name="Text 8"/>
          <p:cNvSpPr txBox="1"/>
          <p:nvPr/>
        </p:nvSpPr>
        <p:spPr>
          <a:xfrm>
            <a:off x="685800" y="5175504"/>
            <a:ext cx="1828800" cy="256032"/>
          </a:xfrm>
          <a:prstGeom prst="rect">
            <a:avLst/>
          </a:prstGeom>
          <a:noFill/>
          <a:ln/>
        </p:spPr>
        <p:txBody>
          <a:bodyPr wrap="square" lIns="0" tIns="0" rIns="0" bIns="0" rtlCol="0" anchor="t"/>
          <a:lstStyle/>
          <a:p>
            <a:pPr indent="0" marL="0">
              <a:buNone/>
            </a:pPr>
            <a:r>
              <a:rPr lang="en-US" sz="1100" i="1" dirty="0">
                <a:solidFill>
                  <a:srgbClr val="8A9AA0"/>
                </a:solidFill>
                <a:latin typeface="Calibri" pitchFamily="34" charset="0"/>
                <a:ea typeface="Calibri" pitchFamily="34" charset="-122"/>
                <a:cs typeface="Calibri" pitchFamily="34" charset="-120"/>
              </a:rPr>
              <a:t>kernel space</a:t>
            </a:r>
            <a:endParaRPr lang="en-US" sz="1100" dirty="0"/>
          </a:p>
        </p:txBody>
      </p:sp>
      <p:sp>
        <p:nvSpPr>
          <p:cNvPr id="11" name="Shape 9"/>
          <p:cNvSpPr/>
          <p:nvPr/>
        </p:nvSpPr>
        <p:spPr>
          <a:xfrm>
            <a:off x="1257300" y="2916936"/>
            <a:ext cx="91" cy="1746504"/>
          </a:xfrm>
          <a:prstGeom prst="line">
            <a:avLst/>
          </a:prstGeom>
          <a:noFill/>
          <a:ln w="25400">
            <a:solidFill>
              <a:srgbClr val="028090"/>
            </a:solidFill>
            <a:prstDash val="solid"/>
          </a:ln>
        </p:spPr>
        <p:txBody>
          <a:bodyPr/>
          <a:p/>
        </p:txBody>
      </p:sp>
      <p:sp>
        <p:nvSpPr>
          <p:cNvPr id="12" name="Shape 10"/>
          <p:cNvSpPr/>
          <p:nvPr/>
        </p:nvSpPr>
        <p:spPr>
          <a:xfrm>
            <a:off x="2674620" y="2916936"/>
            <a:ext cx="91" cy="1746504"/>
          </a:xfrm>
          <a:prstGeom prst="line">
            <a:avLst/>
          </a:prstGeom>
          <a:noFill/>
          <a:ln w="25400">
            <a:solidFill>
              <a:srgbClr val="028090"/>
            </a:solidFill>
            <a:prstDash val="solid"/>
          </a:ln>
        </p:spPr>
        <p:txBody>
          <a:bodyPr/>
          <a:p/>
        </p:txBody>
      </p:sp>
      <p:sp>
        <p:nvSpPr>
          <p:cNvPr id="13" name="Shape 11"/>
          <p:cNvSpPr/>
          <p:nvPr/>
        </p:nvSpPr>
        <p:spPr>
          <a:xfrm>
            <a:off x="4091940" y="2916936"/>
            <a:ext cx="91" cy="1746504"/>
          </a:xfrm>
          <a:prstGeom prst="line">
            <a:avLst/>
          </a:prstGeom>
          <a:noFill/>
          <a:ln w="25400">
            <a:solidFill>
              <a:srgbClr val="028090"/>
            </a:solidFill>
            <a:prstDash val="solid"/>
          </a:ln>
        </p:spPr>
        <p:txBody>
          <a:bodyPr/>
          <a:p/>
        </p:txBody>
      </p:sp>
      <p:sp>
        <p:nvSpPr>
          <p:cNvPr id="14" name="Shape 12"/>
          <p:cNvSpPr/>
          <p:nvPr/>
        </p:nvSpPr>
        <p:spPr>
          <a:xfrm>
            <a:off x="5509260" y="2916936"/>
            <a:ext cx="91" cy="1746504"/>
          </a:xfrm>
          <a:prstGeom prst="line">
            <a:avLst/>
          </a:prstGeom>
          <a:noFill/>
          <a:ln w="25400">
            <a:solidFill>
              <a:srgbClr val="028090"/>
            </a:solidFill>
            <a:prstDash val="solid"/>
          </a:ln>
        </p:spPr>
        <p:txBody>
          <a:bodyPr/>
          <a:p/>
        </p:txBody>
      </p:sp>
      <p:sp>
        <p:nvSpPr>
          <p:cNvPr id="15" name="Shape 13"/>
          <p:cNvSpPr/>
          <p:nvPr/>
        </p:nvSpPr>
        <p:spPr>
          <a:xfrm>
            <a:off x="1010412" y="2423160"/>
            <a:ext cx="493776" cy="493776"/>
          </a:xfrm>
          <a:prstGeom prst="ellipse">
            <a:avLst/>
          </a:prstGeom>
          <a:solidFill>
            <a:srgbClr val="02C39A"/>
          </a:solidFill>
          <a:ln/>
        </p:spPr>
        <p:txBody>
          <a:bodyPr/>
          <a:p/>
        </p:txBody>
      </p:sp>
      <p:sp>
        <p:nvSpPr>
          <p:cNvPr id="16" name="Text 14"/>
          <p:cNvSpPr txBox="1"/>
          <p:nvPr/>
        </p:nvSpPr>
        <p:spPr>
          <a:xfrm>
            <a:off x="1010412"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17" name="Shape 15"/>
          <p:cNvSpPr/>
          <p:nvPr/>
        </p:nvSpPr>
        <p:spPr>
          <a:xfrm>
            <a:off x="2427732" y="2423160"/>
            <a:ext cx="493776" cy="493776"/>
          </a:xfrm>
          <a:prstGeom prst="ellipse">
            <a:avLst/>
          </a:prstGeom>
          <a:solidFill>
            <a:srgbClr val="02C39A"/>
          </a:solidFill>
          <a:ln/>
        </p:spPr>
        <p:txBody>
          <a:bodyPr/>
          <a:p/>
        </p:txBody>
      </p:sp>
      <p:sp>
        <p:nvSpPr>
          <p:cNvPr id="18" name="Text 16"/>
          <p:cNvSpPr txBox="1"/>
          <p:nvPr/>
        </p:nvSpPr>
        <p:spPr>
          <a:xfrm>
            <a:off x="2427732"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19" name="Shape 17"/>
          <p:cNvSpPr/>
          <p:nvPr/>
        </p:nvSpPr>
        <p:spPr>
          <a:xfrm>
            <a:off x="3845052" y="2423160"/>
            <a:ext cx="493776" cy="493776"/>
          </a:xfrm>
          <a:prstGeom prst="ellipse">
            <a:avLst/>
          </a:prstGeom>
          <a:solidFill>
            <a:srgbClr val="02C39A"/>
          </a:solidFill>
          <a:ln/>
        </p:spPr>
        <p:txBody>
          <a:bodyPr/>
          <a:p/>
        </p:txBody>
      </p:sp>
      <p:sp>
        <p:nvSpPr>
          <p:cNvPr id="20" name="Text 18"/>
          <p:cNvSpPr txBox="1"/>
          <p:nvPr/>
        </p:nvSpPr>
        <p:spPr>
          <a:xfrm>
            <a:off x="3845052"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21" name="Shape 19"/>
          <p:cNvSpPr/>
          <p:nvPr/>
        </p:nvSpPr>
        <p:spPr>
          <a:xfrm>
            <a:off x="5262372" y="2423160"/>
            <a:ext cx="493776" cy="493776"/>
          </a:xfrm>
          <a:prstGeom prst="ellipse">
            <a:avLst/>
          </a:prstGeom>
          <a:solidFill>
            <a:srgbClr val="02C39A"/>
          </a:solidFill>
          <a:ln/>
        </p:spPr>
        <p:txBody>
          <a:bodyPr/>
          <a:p/>
        </p:txBody>
      </p:sp>
      <p:sp>
        <p:nvSpPr>
          <p:cNvPr id="22" name="Text 20"/>
          <p:cNvSpPr txBox="1"/>
          <p:nvPr/>
        </p:nvSpPr>
        <p:spPr>
          <a:xfrm>
            <a:off x="5262372"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23" name="Shape 21"/>
          <p:cNvSpPr/>
          <p:nvPr/>
        </p:nvSpPr>
        <p:spPr>
          <a:xfrm>
            <a:off x="1010412" y="4663440"/>
            <a:ext cx="493776" cy="493776"/>
          </a:xfrm>
          <a:prstGeom prst="ellipse">
            <a:avLst/>
          </a:prstGeom>
          <a:solidFill>
            <a:srgbClr val="FFFFFF"/>
          </a:solidFill>
          <a:ln/>
        </p:spPr>
        <p:txBody>
          <a:bodyPr/>
          <a:p/>
        </p:txBody>
      </p:sp>
      <p:sp>
        <p:nvSpPr>
          <p:cNvPr id="24" name="Text 22"/>
          <p:cNvSpPr txBox="1"/>
          <p:nvPr/>
        </p:nvSpPr>
        <p:spPr>
          <a:xfrm>
            <a:off x="1010412" y="4663440"/>
            <a:ext cx="493776" cy="493776"/>
          </a:xfrm>
          <a:prstGeom prst="rect">
            <a:avLst/>
          </a:prstGeom>
          <a:noFill/>
          <a:ln/>
        </p:spPr>
        <p:txBody>
          <a:bodyPr wrap="square" lIns="0" tIns="0" rIns="0" bIns="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K</a:t>
            </a:r>
            <a:endParaRPr lang="en-US" sz="1300" dirty="0"/>
          </a:p>
        </p:txBody>
      </p:sp>
      <p:sp>
        <p:nvSpPr>
          <p:cNvPr id="25" name="Shape 23"/>
          <p:cNvSpPr/>
          <p:nvPr/>
        </p:nvSpPr>
        <p:spPr>
          <a:xfrm>
            <a:off x="2427732" y="4663440"/>
            <a:ext cx="493776" cy="493776"/>
          </a:xfrm>
          <a:prstGeom prst="ellipse">
            <a:avLst/>
          </a:prstGeom>
          <a:solidFill>
            <a:srgbClr val="FFFFFF"/>
          </a:solidFill>
          <a:ln/>
        </p:spPr>
        <p:txBody>
          <a:bodyPr/>
          <a:p/>
        </p:txBody>
      </p:sp>
      <p:sp>
        <p:nvSpPr>
          <p:cNvPr id="26" name="Text 24"/>
          <p:cNvSpPr txBox="1"/>
          <p:nvPr/>
        </p:nvSpPr>
        <p:spPr>
          <a:xfrm>
            <a:off x="2427732" y="4663440"/>
            <a:ext cx="493776" cy="493776"/>
          </a:xfrm>
          <a:prstGeom prst="rect">
            <a:avLst/>
          </a:prstGeom>
          <a:noFill/>
          <a:ln/>
        </p:spPr>
        <p:txBody>
          <a:bodyPr wrap="square" lIns="0" tIns="0" rIns="0" bIns="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K</a:t>
            </a:r>
            <a:endParaRPr lang="en-US" sz="1300" dirty="0"/>
          </a:p>
        </p:txBody>
      </p:sp>
      <p:sp>
        <p:nvSpPr>
          <p:cNvPr id="27" name="Shape 25"/>
          <p:cNvSpPr/>
          <p:nvPr/>
        </p:nvSpPr>
        <p:spPr>
          <a:xfrm>
            <a:off x="3845052" y="4663440"/>
            <a:ext cx="493776" cy="493776"/>
          </a:xfrm>
          <a:prstGeom prst="ellipse">
            <a:avLst/>
          </a:prstGeom>
          <a:solidFill>
            <a:srgbClr val="FFFFFF"/>
          </a:solidFill>
          <a:ln/>
        </p:spPr>
        <p:txBody>
          <a:bodyPr/>
          <a:p/>
        </p:txBody>
      </p:sp>
      <p:sp>
        <p:nvSpPr>
          <p:cNvPr id="28" name="Text 26"/>
          <p:cNvSpPr txBox="1"/>
          <p:nvPr/>
        </p:nvSpPr>
        <p:spPr>
          <a:xfrm>
            <a:off x="3845052" y="4663440"/>
            <a:ext cx="493776" cy="493776"/>
          </a:xfrm>
          <a:prstGeom prst="rect">
            <a:avLst/>
          </a:prstGeom>
          <a:noFill/>
          <a:ln/>
        </p:spPr>
        <p:txBody>
          <a:bodyPr wrap="square" lIns="0" tIns="0" rIns="0" bIns="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K</a:t>
            </a:r>
            <a:endParaRPr lang="en-US" sz="1300" dirty="0"/>
          </a:p>
        </p:txBody>
      </p:sp>
      <p:sp>
        <p:nvSpPr>
          <p:cNvPr id="29" name="Shape 27"/>
          <p:cNvSpPr/>
          <p:nvPr/>
        </p:nvSpPr>
        <p:spPr>
          <a:xfrm>
            <a:off x="5262372" y="4663440"/>
            <a:ext cx="493776" cy="493776"/>
          </a:xfrm>
          <a:prstGeom prst="ellipse">
            <a:avLst/>
          </a:prstGeom>
          <a:solidFill>
            <a:srgbClr val="FFFFFF"/>
          </a:solidFill>
          <a:ln/>
        </p:spPr>
        <p:txBody>
          <a:bodyPr/>
          <a:p/>
        </p:txBody>
      </p:sp>
      <p:sp>
        <p:nvSpPr>
          <p:cNvPr id="30" name="Text 28"/>
          <p:cNvSpPr txBox="1"/>
          <p:nvPr/>
        </p:nvSpPr>
        <p:spPr>
          <a:xfrm>
            <a:off x="5262372" y="4663440"/>
            <a:ext cx="493776" cy="493776"/>
          </a:xfrm>
          <a:prstGeom prst="rect">
            <a:avLst/>
          </a:prstGeom>
          <a:noFill/>
          <a:ln/>
        </p:spPr>
        <p:txBody>
          <a:bodyPr wrap="square" lIns="0" tIns="0" rIns="0" bIns="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K</a:t>
            </a:r>
            <a:endParaRPr lang="en-US" sz="1300" dirty="0"/>
          </a:p>
        </p:txBody>
      </p:sp>
      <p:sp>
        <p:nvSpPr>
          <p:cNvPr id="31" name="Text 29"/>
          <p:cNvSpPr txBox="1"/>
          <p:nvPr/>
        </p:nvSpPr>
        <p:spPr>
          <a:xfrm>
            <a:off x="548640" y="5623560"/>
            <a:ext cx="5669280" cy="54864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Each pthread_create() creates a new kernel-scheduled thread.</a:t>
            </a:r>
            <a:endParaRPr lang="en-US" sz="1200" dirty="0"/>
          </a:p>
        </p:txBody>
      </p:sp>
      <p:sp>
        <p:nvSpPr>
          <p:cNvPr id="32" name="Shape 30"/>
          <p:cNvSpPr/>
          <p:nvPr/>
        </p:nvSpPr>
        <p:spPr>
          <a:xfrm>
            <a:off x="6537960" y="2103120"/>
            <a:ext cx="512064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3" name="Text 31"/>
          <p:cNvSpPr txBox="1"/>
          <p:nvPr/>
        </p:nvSpPr>
        <p:spPr>
          <a:xfrm>
            <a:off x="6766560" y="2286000"/>
            <a:ext cx="46634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Advantages</a:t>
            </a:r>
            <a:endParaRPr lang="en-US" sz="1500" dirty="0"/>
          </a:p>
        </p:txBody>
      </p:sp>
      <p:sp>
        <p:nvSpPr>
          <p:cNvPr id="34" name="Text 32"/>
          <p:cNvSpPr txBox="1"/>
          <p:nvPr/>
        </p:nvSpPr>
        <p:spPr>
          <a:xfrm>
            <a:off x="6766560" y="2743200"/>
            <a:ext cx="4663440" cy="685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 blocking call blocks only that thread.</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True parallelism on multicore CPUs.</a:t>
            </a:r>
            <a:endParaRPr lang="en-US" sz="1400" dirty="0"/>
          </a:p>
        </p:txBody>
      </p:sp>
      <p:sp>
        <p:nvSpPr>
          <p:cNvPr id="35" name="Shape 33"/>
          <p:cNvSpPr/>
          <p:nvPr/>
        </p:nvSpPr>
        <p:spPr>
          <a:xfrm>
            <a:off x="6537960" y="3749040"/>
            <a:ext cx="512064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6" name="Text 34"/>
          <p:cNvSpPr txBox="1"/>
          <p:nvPr/>
        </p:nvSpPr>
        <p:spPr>
          <a:xfrm>
            <a:off x="6766560" y="3931920"/>
            <a:ext cx="4663440" cy="384048"/>
          </a:xfrm>
          <a:prstGeom prst="rect">
            <a:avLst/>
          </a:prstGeom>
          <a:noFill/>
          <a:ln/>
        </p:spPr>
        <p:txBody>
          <a:bodyPr wrap="square" lIns="0" tIns="0" rIns="0" bIns="0" rtlCol="0" anchor="ctr"/>
          <a:lstStyle/>
          <a:p>
            <a:pPr indent="0" marL="0">
              <a:buNone/>
            </a:pPr>
            <a:r>
              <a:rPr lang="en-US" sz="1500" b="1" dirty="0">
                <a:solidFill>
                  <a:srgbClr val="B5453A"/>
                </a:solidFill>
                <a:latin typeface="Cambria" pitchFamily="34" charset="0"/>
                <a:ea typeface="Cambria" pitchFamily="34" charset="-122"/>
                <a:cs typeface="Cambria" pitchFamily="34" charset="-120"/>
              </a:rPr>
              <a:t>Disadvantages</a:t>
            </a:r>
            <a:endParaRPr lang="en-US" sz="1500" dirty="0"/>
          </a:p>
        </p:txBody>
      </p:sp>
      <p:sp>
        <p:nvSpPr>
          <p:cNvPr id="37" name="Text 35"/>
          <p:cNvSpPr txBox="1"/>
          <p:nvPr/>
        </p:nvSpPr>
        <p:spPr>
          <a:xfrm>
            <a:off x="6766560" y="4389120"/>
            <a:ext cx="4663440" cy="685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Each user thread costs a kernel thread: creation needs a system call.</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Very many threads can burden the kernel.</a:t>
            </a:r>
            <a:endParaRPr lang="en-US" sz="1400" dirty="0"/>
          </a:p>
        </p:txBody>
      </p:sp>
      <p:sp>
        <p:nvSpPr>
          <p:cNvPr id="38" name="Shape 36"/>
          <p:cNvSpPr/>
          <p:nvPr/>
        </p:nvSpPr>
        <p:spPr>
          <a:xfrm>
            <a:off x="6537960" y="5394960"/>
            <a:ext cx="5120640" cy="868680"/>
          </a:xfrm>
          <a:prstGeom prst="roundRect">
            <a:avLst>
              <a:gd name="adj" fmla="val 631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9" name="Text 37"/>
          <p:cNvSpPr txBox="1"/>
          <p:nvPr/>
        </p:nvSpPr>
        <p:spPr>
          <a:xfrm>
            <a:off x="6766560" y="5394960"/>
            <a:ext cx="4663440" cy="868680"/>
          </a:xfrm>
          <a:prstGeom prst="rect">
            <a:avLst/>
          </a:prstGeom>
          <a:noFill/>
          <a:ln/>
        </p:spPr>
        <p:txBody>
          <a:bodyPr wrap="square" lIns="0" tIns="0" rIns="0" bIns="0" rtlCol="0" anchor="ctr"/>
          <a:lstStyle/>
          <a:p>
            <a:pPr indent="0" marL="0">
              <a:buNone/>
            </a:pPr>
            <a:r>
              <a:rPr lang="en-US" sz="1300" dirty="0">
                <a:solidFill>
                  <a:srgbClr val="F2F2F2"/>
                </a:solidFill>
                <a:latin typeface="Calibri" pitchFamily="34" charset="0"/>
                <a:ea typeface="Calibri" pitchFamily="34" charset="-122"/>
                <a:cs typeface="Calibri" pitchFamily="34" charset="-120"/>
              </a:rPr>
              <a:t>Used by Linux (NPTL) and Windows — the model we see in our programs today.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MULTITHREADING MODELS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Model 3: Many-to-Many</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Many user threads are multiplexed onto a smaller or equal number of kernel threads.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17</a:t>
            </a:r>
            <a:endParaRPr lang="en-US" sz="900" dirty="0"/>
          </a:p>
        </p:txBody>
      </p:sp>
      <p:sp>
        <p:nvSpPr>
          <p:cNvPr id="7" name="Shape 5"/>
          <p:cNvSpPr/>
          <p:nvPr/>
        </p:nvSpPr>
        <p:spPr>
          <a:xfrm>
            <a:off x="548640" y="2103120"/>
            <a:ext cx="5669280" cy="1143000"/>
          </a:xfrm>
          <a:prstGeom prst="roundRect">
            <a:avLst>
              <a:gd name="adj" fmla="val 4000"/>
            </a:avLst>
          </a:prstGeom>
          <a:solidFill>
            <a:srgbClr val="F2F2F2"/>
          </a:solidFill>
          <a:ln/>
        </p:spPr>
        <p:txBody>
          <a:bodyPr/>
          <a:p/>
        </p:txBody>
      </p:sp>
      <p:sp>
        <p:nvSpPr>
          <p:cNvPr id="8" name="Text 6"/>
          <p:cNvSpPr txBox="1"/>
          <p:nvPr/>
        </p:nvSpPr>
        <p:spPr>
          <a:xfrm>
            <a:off x="685800" y="2157984"/>
            <a:ext cx="1828800" cy="256032"/>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user space</a:t>
            </a:r>
            <a:endParaRPr lang="en-US" sz="1100" dirty="0"/>
          </a:p>
        </p:txBody>
      </p:sp>
      <p:sp>
        <p:nvSpPr>
          <p:cNvPr id="9" name="Shape 7"/>
          <p:cNvSpPr/>
          <p:nvPr/>
        </p:nvSpPr>
        <p:spPr>
          <a:xfrm>
            <a:off x="548640" y="4343400"/>
            <a:ext cx="5669280" cy="1143000"/>
          </a:xfrm>
          <a:prstGeom prst="roundRect">
            <a:avLst>
              <a:gd name="adj" fmla="val 4000"/>
            </a:avLst>
          </a:prstGeom>
          <a:solidFill>
            <a:srgbClr val="36454F"/>
          </a:solidFill>
          <a:ln/>
        </p:spPr>
        <p:txBody>
          <a:bodyPr/>
          <a:p/>
        </p:txBody>
      </p:sp>
      <p:sp>
        <p:nvSpPr>
          <p:cNvPr id="10" name="Text 8"/>
          <p:cNvSpPr txBox="1"/>
          <p:nvPr/>
        </p:nvSpPr>
        <p:spPr>
          <a:xfrm>
            <a:off x="685800" y="5175504"/>
            <a:ext cx="1828800" cy="256032"/>
          </a:xfrm>
          <a:prstGeom prst="rect">
            <a:avLst/>
          </a:prstGeom>
          <a:noFill/>
          <a:ln/>
        </p:spPr>
        <p:txBody>
          <a:bodyPr wrap="square" lIns="0" tIns="0" rIns="0" bIns="0" rtlCol="0" anchor="t"/>
          <a:lstStyle/>
          <a:p>
            <a:pPr indent="0" marL="0">
              <a:buNone/>
            </a:pPr>
            <a:r>
              <a:rPr lang="en-US" sz="1100" i="1" dirty="0">
                <a:solidFill>
                  <a:srgbClr val="8A9AA0"/>
                </a:solidFill>
                <a:latin typeface="Calibri" pitchFamily="34" charset="0"/>
                <a:ea typeface="Calibri" pitchFamily="34" charset="-122"/>
                <a:cs typeface="Calibri" pitchFamily="34" charset="-120"/>
              </a:rPr>
              <a:t>kernel space</a:t>
            </a:r>
            <a:endParaRPr lang="en-US" sz="1100" dirty="0"/>
          </a:p>
        </p:txBody>
      </p:sp>
      <p:sp>
        <p:nvSpPr>
          <p:cNvPr id="11" name="Shape 9"/>
          <p:cNvSpPr/>
          <p:nvPr/>
        </p:nvSpPr>
        <p:spPr>
          <a:xfrm>
            <a:off x="1115568" y="2916936"/>
            <a:ext cx="377952" cy="1746504"/>
          </a:xfrm>
          <a:prstGeom prst="line">
            <a:avLst/>
          </a:prstGeom>
          <a:noFill/>
          <a:ln w="25400">
            <a:solidFill>
              <a:srgbClr val="028090"/>
            </a:solidFill>
            <a:prstDash val="solid"/>
          </a:ln>
        </p:spPr>
        <p:txBody>
          <a:bodyPr/>
          <a:p/>
        </p:txBody>
      </p:sp>
      <p:sp>
        <p:nvSpPr>
          <p:cNvPr id="12" name="Shape 10"/>
          <p:cNvSpPr/>
          <p:nvPr/>
        </p:nvSpPr>
        <p:spPr>
          <a:xfrm flipH="1">
            <a:off x="1493520" y="2916936"/>
            <a:ext cx="755904" cy="1746504"/>
          </a:xfrm>
          <a:prstGeom prst="line">
            <a:avLst/>
          </a:prstGeom>
          <a:noFill/>
          <a:ln w="25400">
            <a:solidFill>
              <a:srgbClr val="028090"/>
            </a:solidFill>
            <a:prstDash val="solid"/>
          </a:ln>
        </p:spPr>
        <p:txBody>
          <a:bodyPr/>
          <a:p/>
        </p:txBody>
      </p:sp>
      <p:sp>
        <p:nvSpPr>
          <p:cNvPr id="13" name="Shape 11"/>
          <p:cNvSpPr/>
          <p:nvPr/>
        </p:nvSpPr>
        <p:spPr>
          <a:xfrm>
            <a:off x="3383280" y="2916936"/>
            <a:ext cx="91" cy="1746504"/>
          </a:xfrm>
          <a:prstGeom prst="line">
            <a:avLst/>
          </a:prstGeom>
          <a:noFill/>
          <a:ln w="25400">
            <a:solidFill>
              <a:srgbClr val="028090"/>
            </a:solidFill>
            <a:prstDash val="solid"/>
          </a:ln>
        </p:spPr>
        <p:txBody>
          <a:bodyPr/>
          <a:p/>
        </p:txBody>
      </p:sp>
      <p:sp>
        <p:nvSpPr>
          <p:cNvPr id="14" name="Shape 12"/>
          <p:cNvSpPr/>
          <p:nvPr/>
        </p:nvSpPr>
        <p:spPr>
          <a:xfrm>
            <a:off x="4517136" y="2916936"/>
            <a:ext cx="755904" cy="1746504"/>
          </a:xfrm>
          <a:prstGeom prst="line">
            <a:avLst/>
          </a:prstGeom>
          <a:noFill/>
          <a:ln w="25400">
            <a:solidFill>
              <a:srgbClr val="028090"/>
            </a:solidFill>
            <a:prstDash val="solid"/>
          </a:ln>
        </p:spPr>
        <p:txBody>
          <a:bodyPr/>
          <a:p/>
        </p:txBody>
      </p:sp>
      <p:sp>
        <p:nvSpPr>
          <p:cNvPr id="15" name="Shape 13"/>
          <p:cNvSpPr/>
          <p:nvPr/>
        </p:nvSpPr>
        <p:spPr>
          <a:xfrm flipH="1">
            <a:off x="5273040" y="2916936"/>
            <a:ext cx="377952" cy="1746504"/>
          </a:xfrm>
          <a:prstGeom prst="line">
            <a:avLst/>
          </a:prstGeom>
          <a:noFill/>
          <a:ln w="25400">
            <a:solidFill>
              <a:srgbClr val="028090"/>
            </a:solidFill>
            <a:prstDash val="solid"/>
          </a:ln>
        </p:spPr>
        <p:txBody>
          <a:bodyPr/>
          <a:p/>
        </p:txBody>
      </p:sp>
      <p:sp>
        <p:nvSpPr>
          <p:cNvPr id="16" name="Shape 14"/>
          <p:cNvSpPr/>
          <p:nvPr/>
        </p:nvSpPr>
        <p:spPr>
          <a:xfrm>
            <a:off x="868680" y="2423160"/>
            <a:ext cx="493776" cy="493776"/>
          </a:xfrm>
          <a:prstGeom prst="ellipse">
            <a:avLst/>
          </a:prstGeom>
          <a:solidFill>
            <a:srgbClr val="02C39A"/>
          </a:solidFill>
          <a:ln/>
        </p:spPr>
        <p:txBody>
          <a:bodyPr/>
          <a:p/>
        </p:txBody>
      </p:sp>
      <p:sp>
        <p:nvSpPr>
          <p:cNvPr id="17" name="Text 15"/>
          <p:cNvSpPr txBox="1"/>
          <p:nvPr/>
        </p:nvSpPr>
        <p:spPr>
          <a:xfrm>
            <a:off x="868680"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18" name="Shape 16"/>
          <p:cNvSpPr/>
          <p:nvPr/>
        </p:nvSpPr>
        <p:spPr>
          <a:xfrm>
            <a:off x="2002536" y="2423160"/>
            <a:ext cx="493776" cy="493776"/>
          </a:xfrm>
          <a:prstGeom prst="ellipse">
            <a:avLst/>
          </a:prstGeom>
          <a:solidFill>
            <a:srgbClr val="02C39A"/>
          </a:solidFill>
          <a:ln/>
        </p:spPr>
        <p:txBody>
          <a:bodyPr/>
          <a:p/>
        </p:txBody>
      </p:sp>
      <p:sp>
        <p:nvSpPr>
          <p:cNvPr id="19" name="Text 17"/>
          <p:cNvSpPr txBox="1"/>
          <p:nvPr/>
        </p:nvSpPr>
        <p:spPr>
          <a:xfrm>
            <a:off x="2002536"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20" name="Shape 18"/>
          <p:cNvSpPr/>
          <p:nvPr/>
        </p:nvSpPr>
        <p:spPr>
          <a:xfrm>
            <a:off x="3136392" y="2423160"/>
            <a:ext cx="493776" cy="493776"/>
          </a:xfrm>
          <a:prstGeom prst="ellipse">
            <a:avLst/>
          </a:prstGeom>
          <a:solidFill>
            <a:srgbClr val="02C39A"/>
          </a:solidFill>
          <a:ln/>
        </p:spPr>
        <p:txBody>
          <a:bodyPr/>
          <a:p/>
        </p:txBody>
      </p:sp>
      <p:sp>
        <p:nvSpPr>
          <p:cNvPr id="21" name="Text 19"/>
          <p:cNvSpPr txBox="1"/>
          <p:nvPr/>
        </p:nvSpPr>
        <p:spPr>
          <a:xfrm>
            <a:off x="3136392"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22" name="Shape 20"/>
          <p:cNvSpPr/>
          <p:nvPr/>
        </p:nvSpPr>
        <p:spPr>
          <a:xfrm>
            <a:off x="4270248" y="2423160"/>
            <a:ext cx="493776" cy="493776"/>
          </a:xfrm>
          <a:prstGeom prst="ellipse">
            <a:avLst/>
          </a:prstGeom>
          <a:solidFill>
            <a:srgbClr val="02C39A"/>
          </a:solidFill>
          <a:ln/>
        </p:spPr>
        <p:txBody>
          <a:bodyPr/>
          <a:p/>
        </p:txBody>
      </p:sp>
      <p:sp>
        <p:nvSpPr>
          <p:cNvPr id="23" name="Text 21"/>
          <p:cNvSpPr txBox="1"/>
          <p:nvPr/>
        </p:nvSpPr>
        <p:spPr>
          <a:xfrm>
            <a:off x="4270248"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24" name="Shape 22"/>
          <p:cNvSpPr/>
          <p:nvPr/>
        </p:nvSpPr>
        <p:spPr>
          <a:xfrm>
            <a:off x="5404104" y="2423160"/>
            <a:ext cx="493776" cy="493776"/>
          </a:xfrm>
          <a:prstGeom prst="ellipse">
            <a:avLst/>
          </a:prstGeom>
          <a:solidFill>
            <a:srgbClr val="02C39A"/>
          </a:solidFill>
          <a:ln/>
        </p:spPr>
        <p:txBody>
          <a:bodyPr/>
          <a:p/>
        </p:txBody>
      </p:sp>
      <p:sp>
        <p:nvSpPr>
          <p:cNvPr id="25" name="Text 23"/>
          <p:cNvSpPr txBox="1"/>
          <p:nvPr/>
        </p:nvSpPr>
        <p:spPr>
          <a:xfrm>
            <a:off x="5404104" y="2423160"/>
            <a:ext cx="493776" cy="493776"/>
          </a:xfrm>
          <a:prstGeom prst="rect">
            <a:avLst/>
          </a:prstGeom>
          <a:noFill/>
          <a:ln/>
        </p:spPr>
        <p:txBody>
          <a:bodyPr wrap="square" lIns="0" tIns="0" rIns="0" bIns="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U</a:t>
            </a:r>
            <a:endParaRPr lang="en-US" sz="1300" dirty="0"/>
          </a:p>
        </p:txBody>
      </p:sp>
      <p:sp>
        <p:nvSpPr>
          <p:cNvPr id="26" name="Shape 24"/>
          <p:cNvSpPr/>
          <p:nvPr/>
        </p:nvSpPr>
        <p:spPr>
          <a:xfrm>
            <a:off x="1246632" y="4663440"/>
            <a:ext cx="493776" cy="493776"/>
          </a:xfrm>
          <a:prstGeom prst="ellipse">
            <a:avLst/>
          </a:prstGeom>
          <a:solidFill>
            <a:srgbClr val="FFFFFF"/>
          </a:solidFill>
          <a:ln/>
        </p:spPr>
        <p:txBody>
          <a:bodyPr/>
          <a:p/>
        </p:txBody>
      </p:sp>
      <p:sp>
        <p:nvSpPr>
          <p:cNvPr id="27" name="Text 25"/>
          <p:cNvSpPr txBox="1"/>
          <p:nvPr/>
        </p:nvSpPr>
        <p:spPr>
          <a:xfrm>
            <a:off x="1246632" y="4663440"/>
            <a:ext cx="493776" cy="493776"/>
          </a:xfrm>
          <a:prstGeom prst="rect">
            <a:avLst/>
          </a:prstGeom>
          <a:noFill/>
          <a:ln/>
        </p:spPr>
        <p:txBody>
          <a:bodyPr wrap="square" lIns="0" tIns="0" rIns="0" bIns="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K</a:t>
            </a:r>
            <a:endParaRPr lang="en-US" sz="1300" dirty="0"/>
          </a:p>
        </p:txBody>
      </p:sp>
      <p:sp>
        <p:nvSpPr>
          <p:cNvPr id="28" name="Shape 26"/>
          <p:cNvSpPr/>
          <p:nvPr/>
        </p:nvSpPr>
        <p:spPr>
          <a:xfrm>
            <a:off x="3136392" y="4663440"/>
            <a:ext cx="493776" cy="493776"/>
          </a:xfrm>
          <a:prstGeom prst="ellipse">
            <a:avLst/>
          </a:prstGeom>
          <a:solidFill>
            <a:srgbClr val="FFFFFF"/>
          </a:solidFill>
          <a:ln/>
        </p:spPr>
        <p:txBody>
          <a:bodyPr/>
          <a:p/>
        </p:txBody>
      </p:sp>
      <p:sp>
        <p:nvSpPr>
          <p:cNvPr id="29" name="Text 27"/>
          <p:cNvSpPr txBox="1"/>
          <p:nvPr/>
        </p:nvSpPr>
        <p:spPr>
          <a:xfrm>
            <a:off x="3136392" y="4663440"/>
            <a:ext cx="493776" cy="493776"/>
          </a:xfrm>
          <a:prstGeom prst="rect">
            <a:avLst/>
          </a:prstGeom>
          <a:noFill/>
          <a:ln/>
        </p:spPr>
        <p:txBody>
          <a:bodyPr wrap="square" lIns="0" tIns="0" rIns="0" bIns="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K</a:t>
            </a:r>
            <a:endParaRPr lang="en-US" sz="1300" dirty="0"/>
          </a:p>
        </p:txBody>
      </p:sp>
      <p:sp>
        <p:nvSpPr>
          <p:cNvPr id="30" name="Shape 28"/>
          <p:cNvSpPr/>
          <p:nvPr/>
        </p:nvSpPr>
        <p:spPr>
          <a:xfrm>
            <a:off x="5026152" y="4663440"/>
            <a:ext cx="493776" cy="493776"/>
          </a:xfrm>
          <a:prstGeom prst="ellipse">
            <a:avLst/>
          </a:prstGeom>
          <a:solidFill>
            <a:srgbClr val="FFFFFF"/>
          </a:solidFill>
          <a:ln/>
        </p:spPr>
        <p:txBody>
          <a:bodyPr/>
          <a:p/>
        </p:txBody>
      </p:sp>
      <p:sp>
        <p:nvSpPr>
          <p:cNvPr id="31" name="Text 29"/>
          <p:cNvSpPr txBox="1"/>
          <p:nvPr/>
        </p:nvSpPr>
        <p:spPr>
          <a:xfrm>
            <a:off x="5026152" y="4663440"/>
            <a:ext cx="493776" cy="493776"/>
          </a:xfrm>
          <a:prstGeom prst="rect">
            <a:avLst/>
          </a:prstGeom>
          <a:noFill/>
          <a:ln/>
        </p:spPr>
        <p:txBody>
          <a:bodyPr wrap="square" lIns="0" tIns="0" rIns="0" bIns="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K</a:t>
            </a:r>
            <a:endParaRPr lang="en-US" sz="1300" dirty="0"/>
          </a:p>
        </p:txBody>
      </p:sp>
      <p:sp>
        <p:nvSpPr>
          <p:cNvPr id="32" name="Text 30"/>
          <p:cNvSpPr txBox="1"/>
          <p:nvPr/>
        </p:nvSpPr>
        <p:spPr>
          <a:xfrm>
            <a:off x="548640" y="5623560"/>
            <a:ext cx="5669280" cy="54864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The library decides which user thread runs on which kernel thread.</a:t>
            </a:r>
            <a:endParaRPr lang="en-US" sz="1200" dirty="0"/>
          </a:p>
        </p:txBody>
      </p:sp>
      <p:sp>
        <p:nvSpPr>
          <p:cNvPr id="33" name="Shape 31"/>
          <p:cNvSpPr/>
          <p:nvPr/>
        </p:nvSpPr>
        <p:spPr>
          <a:xfrm>
            <a:off x="6537960" y="2103120"/>
            <a:ext cx="512064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4" name="Text 32"/>
          <p:cNvSpPr txBox="1"/>
          <p:nvPr/>
        </p:nvSpPr>
        <p:spPr>
          <a:xfrm>
            <a:off x="6766560" y="2286000"/>
            <a:ext cx="46634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Advantages</a:t>
            </a:r>
            <a:endParaRPr lang="en-US" sz="1500" dirty="0"/>
          </a:p>
        </p:txBody>
      </p:sp>
      <p:sp>
        <p:nvSpPr>
          <p:cNvPr id="35" name="Text 33"/>
          <p:cNvSpPr txBox="1"/>
          <p:nvPr/>
        </p:nvSpPr>
        <p:spPr>
          <a:xfrm>
            <a:off x="6766560" y="2743200"/>
            <a:ext cx="4663440" cy="685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Create as many user threads as you like, cheaply.</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Still parallel on multicore, and a blocking call does not stop everything.</a:t>
            </a:r>
            <a:endParaRPr lang="en-US" sz="1400" dirty="0"/>
          </a:p>
        </p:txBody>
      </p:sp>
      <p:sp>
        <p:nvSpPr>
          <p:cNvPr id="36" name="Shape 34"/>
          <p:cNvSpPr/>
          <p:nvPr/>
        </p:nvSpPr>
        <p:spPr>
          <a:xfrm>
            <a:off x="6537960" y="3749040"/>
            <a:ext cx="512064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7" name="Text 35"/>
          <p:cNvSpPr txBox="1"/>
          <p:nvPr/>
        </p:nvSpPr>
        <p:spPr>
          <a:xfrm>
            <a:off x="6766560" y="3931920"/>
            <a:ext cx="4663440" cy="384048"/>
          </a:xfrm>
          <a:prstGeom prst="rect">
            <a:avLst/>
          </a:prstGeom>
          <a:noFill/>
          <a:ln/>
        </p:spPr>
        <p:txBody>
          <a:bodyPr wrap="square" lIns="0" tIns="0" rIns="0" bIns="0" rtlCol="0" anchor="ctr"/>
          <a:lstStyle/>
          <a:p>
            <a:pPr indent="0" marL="0">
              <a:buNone/>
            </a:pPr>
            <a:r>
              <a:rPr lang="en-US" sz="1500" b="1" dirty="0">
                <a:solidFill>
                  <a:srgbClr val="B5453A"/>
                </a:solidFill>
                <a:latin typeface="Cambria" pitchFamily="34" charset="0"/>
                <a:ea typeface="Cambria" pitchFamily="34" charset="-122"/>
                <a:cs typeface="Cambria" pitchFamily="34" charset="-120"/>
              </a:rPr>
              <a:t>Disadvantages</a:t>
            </a:r>
            <a:endParaRPr lang="en-US" sz="1500" dirty="0"/>
          </a:p>
        </p:txBody>
      </p:sp>
      <p:sp>
        <p:nvSpPr>
          <p:cNvPr id="38" name="Text 36"/>
          <p:cNvSpPr txBox="1"/>
          <p:nvPr/>
        </p:nvSpPr>
        <p:spPr>
          <a:xfrm>
            <a:off x="6766560" y="4389120"/>
            <a:ext cx="4663440" cy="685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Complex to implement: two schedulers (library + kernel) must cooperate.</a:t>
            </a:r>
            <a:endParaRPr lang="en-US" sz="1400" dirty="0"/>
          </a:p>
        </p:txBody>
      </p:sp>
      <p:sp>
        <p:nvSpPr>
          <p:cNvPr id="39" name="Shape 37"/>
          <p:cNvSpPr/>
          <p:nvPr/>
        </p:nvSpPr>
        <p:spPr>
          <a:xfrm>
            <a:off x="6537960" y="5394960"/>
            <a:ext cx="5120640" cy="868680"/>
          </a:xfrm>
          <a:prstGeom prst="roundRect">
            <a:avLst>
              <a:gd name="adj" fmla="val 6316"/>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40" name="Text 38"/>
          <p:cNvSpPr txBox="1"/>
          <p:nvPr/>
        </p:nvSpPr>
        <p:spPr>
          <a:xfrm>
            <a:off x="6766560" y="5394960"/>
            <a:ext cx="4663440" cy="868680"/>
          </a:xfrm>
          <a:prstGeom prst="rect">
            <a:avLst/>
          </a:prstGeom>
          <a:noFill/>
          <a:ln/>
        </p:spPr>
        <p:txBody>
          <a:bodyPr wrap="square" lIns="0" tIns="0" rIns="0" bIns="0" rtlCol="0" anchor="ctr"/>
          <a:lstStyle/>
          <a:p>
            <a:pPr indent="0" marL="0">
              <a:buNone/>
            </a:pPr>
            <a:r>
              <a:rPr lang="en-US" sz="1300" dirty="0">
                <a:solidFill>
                  <a:srgbClr val="F2F2F2"/>
                </a:solidFill>
                <a:latin typeface="Calibri" pitchFamily="34" charset="0"/>
                <a:ea typeface="Calibri" pitchFamily="34" charset="-122"/>
                <a:cs typeface="Calibri" pitchFamily="34" charset="-120"/>
              </a:rPr>
              <a:t>Variant two-level model: also allows binding one thread 1:1. Modern idea: Go goroutines, Java virtual threads.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SUMMARY</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Three Models Side by Side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103120"/>
                <a:gridCol w="1828800"/>
                <a:gridCol w="2377440"/>
                <a:gridCol w="2377440"/>
                <a:gridCol w="2423160"/>
              </a:tblGrid>
              <a:tr h="0">
                <a:tc>
                  <a:txBody>
                    <a:bodyPr/>
                    <a:lstStyle/>
                    <a:p>
                      <a:pPr indent="0" marL="0">
                        <a:buNone/>
                      </a:pPr>
                      <a:r>
                        <a:rPr lang="en-US" sz="1900" b="1" dirty="0">
                          <a:solidFill>
                            <a:srgbClr val="FFFFFF"/>
                          </a:solidFill>
                          <a:latin typeface="Cambria" pitchFamily="34" charset="0"/>
                          <a:ea typeface="Cambria" pitchFamily="34" charset="-122"/>
                          <a:cs typeface="Cambria" pitchFamily="34" charset="-120"/>
                        </a:rPr>
                        <a:t>Model</a:t>
                      </a:r>
                      <a:endParaRPr lang="en-US" sz="19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900" b="1" dirty="0">
                          <a:solidFill>
                            <a:srgbClr val="FFFFFF"/>
                          </a:solidFill>
                          <a:latin typeface="Cambria" pitchFamily="34" charset="0"/>
                          <a:ea typeface="Cambria" pitchFamily="34" charset="-122"/>
                          <a:cs typeface="Cambria" pitchFamily="34" charset="-120"/>
                        </a:rPr>
                        <a:t>User : kernel</a:t>
                      </a:r>
                      <a:endParaRPr lang="en-US" sz="19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900" b="1" dirty="0">
                          <a:solidFill>
                            <a:srgbClr val="FFFFFF"/>
                          </a:solidFill>
                          <a:latin typeface="Cambria" pitchFamily="34" charset="0"/>
                          <a:ea typeface="Cambria" pitchFamily="34" charset="-122"/>
                          <a:cs typeface="Cambria" pitchFamily="34" charset="-120"/>
                        </a:rPr>
                        <a:t>Parallel on multicore?</a:t>
                      </a:r>
                      <a:endParaRPr lang="en-US" sz="19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900" b="1" dirty="0">
                          <a:solidFill>
                            <a:srgbClr val="FFFFFF"/>
                          </a:solidFill>
                          <a:latin typeface="Cambria" pitchFamily="34" charset="0"/>
                          <a:ea typeface="Cambria" pitchFamily="34" charset="-122"/>
                          <a:cs typeface="Cambria" pitchFamily="34" charset="-120"/>
                        </a:rPr>
                        <a:t>Blocking call stops…</a:t>
                      </a:r>
                      <a:endParaRPr lang="en-US" sz="19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900" b="1" dirty="0">
                          <a:solidFill>
                            <a:srgbClr val="FFFFFF"/>
                          </a:solidFill>
                          <a:latin typeface="Cambria" pitchFamily="34" charset="0"/>
                          <a:ea typeface="Cambria" pitchFamily="34" charset="-122"/>
                          <a:cs typeface="Cambria" pitchFamily="34" charset="-120"/>
                        </a:rPr>
                        <a:t>Used by</a:t>
                      </a:r>
                      <a:endParaRPr lang="en-US" sz="19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800" b="1" dirty="0">
                          <a:solidFill>
                            <a:srgbClr val="3A464C"/>
                          </a:solidFill>
                          <a:latin typeface="Calibri" pitchFamily="34" charset="0"/>
                          <a:ea typeface="Calibri" pitchFamily="34" charset="-122"/>
                          <a:cs typeface="Calibri" pitchFamily="34" charset="-120"/>
                        </a:rPr>
                        <a:t>Many-to-one</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800" dirty="0">
                          <a:solidFill>
                            <a:srgbClr val="3A464C"/>
                          </a:solidFill>
                          <a:latin typeface="Calibri" pitchFamily="34" charset="0"/>
                          <a:ea typeface="Calibri" pitchFamily="34" charset="-122"/>
                          <a:cs typeface="Calibri" pitchFamily="34" charset="-120"/>
                        </a:rPr>
                        <a:t>N : 1</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800" dirty="0">
                          <a:solidFill>
                            <a:srgbClr val="3A464C"/>
                          </a:solidFill>
                          <a:latin typeface="Calibri" pitchFamily="34" charset="0"/>
                          <a:ea typeface="Calibri" pitchFamily="34" charset="-122"/>
                          <a:cs typeface="Calibri" pitchFamily="34" charset="-120"/>
                        </a:rPr>
                        <a:t>no</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800" dirty="0">
                          <a:solidFill>
                            <a:srgbClr val="3A464C"/>
                          </a:solidFill>
                          <a:latin typeface="Calibri" pitchFamily="34" charset="0"/>
                          <a:ea typeface="Calibri" pitchFamily="34" charset="-122"/>
                          <a:cs typeface="Calibri" pitchFamily="34" charset="-120"/>
                        </a:rPr>
                        <a:t>all threads</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800" dirty="0">
                          <a:solidFill>
                            <a:srgbClr val="3A464C"/>
                          </a:solidFill>
                          <a:latin typeface="Calibri" pitchFamily="34" charset="0"/>
                          <a:ea typeface="Calibri" pitchFamily="34" charset="-122"/>
                          <a:cs typeface="Calibri" pitchFamily="34" charset="-120"/>
                        </a:rPr>
                        <a:t>Green threads (old)</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800" b="1" dirty="0">
                          <a:solidFill>
                            <a:srgbClr val="3A464C"/>
                          </a:solidFill>
                          <a:latin typeface="Calibri" pitchFamily="34" charset="0"/>
                          <a:ea typeface="Calibri" pitchFamily="34" charset="-122"/>
                          <a:cs typeface="Calibri" pitchFamily="34" charset="-120"/>
                        </a:rPr>
                        <a:t>One-to-one</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800" dirty="0">
                          <a:solidFill>
                            <a:srgbClr val="3A464C"/>
                          </a:solidFill>
                          <a:latin typeface="Calibri" pitchFamily="34" charset="0"/>
                          <a:ea typeface="Calibri" pitchFamily="34" charset="-122"/>
                          <a:cs typeface="Calibri" pitchFamily="34" charset="-120"/>
                        </a:rPr>
                        <a:t>1 : 1</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800" dirty="0">
                          <a:solidFill>
                            <a:srgbClr val="3A464C"/>
                          </a:solidFill>
                          <a:latin typeface="Calibri" pitchFamily="34" charset="0"/>
                          <a:ea typeface="Calibri" pitchFamily="34" charset="-122"/>
                          <a:cs typeface="Calibri" pitchFamily="34" charset="-120"/>
                        </a:rPr>
                        <a:t>yes</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800" dirty="0">
                          <a:solidFill>
                            <a:srgbClr val="3A464C"/>
                          </a:solidFill>
                          <a:latin typeface="Calibri" pitchFamily="34" charset="0"/>
                          <a:ea typeface="Calibri" pitchFamily="34" charset="-122"/>
                          <a:cs typeface="Calibri" pitchFamily="34" charset="-120"/>
                        </a:rPr>
                        <a:t>only that thread</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800" dirty="0">
                          <a:solidFill>
                            <a:srgbClr val="3A464C"/>
                          </a:solidFill>
                          <a:latin typeface="Calibri" pitchFamily="34" charset="0"/>
                          <a:ea typeface="Calibri" pitchFamily="34" charset="-122"/>
                          <a:cs typeface="Calibri" pitchFamily="34" charset="-120"/>
                        </a:rPr>
                        <a:t>Linux, Windows</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800" b="1" dirty="0">
                          <a:solidFill>
                            <a:srgbClr val="3A464C"/>
                          </a:solidFill>
                          <a:latin typeface="Calibri" pitchFamily="34" charset="0"/>
                          <a:ea typeface="Calibri" pitchFamily="34" charset="-122"/>
                          <a:cs typeface="Calibri" pitchFamily="34" charset="-120"/>
                        </a:rPr>
                        <a:t>Many-to-many</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800" dirty="0">
                          <a:solidFill>
                            <a:srgbClr val="3A464C"/>
                          </a:solidFill>
                          <a:latin typeface="Calibri" pitchFamily="34" charset="0"/>
                          <a:ea typeface="Calibri" pitchFamily="34" charset="-122"/>
                          <a:cs typeface="Calibri" pitchFamily="34" charset="-120"/>
                        </a:rPr>
                        <a:t>N : M  (M ≤ N)</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800" dirty="0">
                          <a:solidFill>
                            <a:srgbClr val="3A464C"/>
                          </a:solidFill>
                          <a:latin typeface="Calibri" pitchFamily="34" charset="0"/>
                          <a:ea typeface="Calibri" pitchFamily="34" charset="-122"/>
                          <a:cs typeface="Calibri" pitchFamily="34" charset="-120"/>
                        </a:rPr>
                        <a:t>yes</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800" dirty="0">
                          <a:solidFill>
                            <a:srgbClr val="3A464C"/>
                          </a:solidFill>
                          <a:latin typeface="Calibri" pitchFamily="34" charset="0"/>
                          <a:ea typeface="Calibri" pitchFamily="34" charset="-122"/>
                          <a:cs typeface="Calibri" pitchFamily="34" charset="-120"/>
                        </a:rPr>
                        <a:t>only that thread</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800" dirty="0">
                          <a:solidFill>
                            <a:srgbClr val="3A464C"/>
                          </a:solidFill>
                          <a:latin typeface="Calibri" pitchFamily="34" charset="0"/>
                          <a:ea typeface="Calibri" pitchFamily="34" charset="-122"/>
                          <a:cs typeface="Calibri" pitchFamily="34" charset="-120"/>
                        </a:rPr>
                        <a:t>Go, Java virtual threads</a:t>
                      </a:r>
                      <a:endParaRPr lang="en-US" sz="18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Linux and Windows use one-to-one: every thread you create with pthread_create() is a separate entity in the kernel's scheduler.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THREAD LIBRARIES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POSIX Threads (Pthreads): The Essential Calls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Three main thread libraries: POSIX Pthreads (Linux, macOS), the Windows thread API, and Java threads.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109960" cy="914400"/>
        </p:xfrm>
        <a:graphic>
          <a:graphicData uri="http://schemas.openxmlformats.org/drawingml/2006/table">
            <a:tbl>
              <a:tblPr/>
              <a:tblGrid>
                <a:gridCol w="4023360"/>
                <a:gridCol w="7086600"/>
              </a:tblGrid>
              <a:tr h="0">
                <a:tc>
                  <a:txBody>
                    <a:bodyPr/>
                    <a:lstStyle/>
                    <a:p>
                      <a:pPr indent="0" marL="0">
                        <a:buNone/>
                      </a:pPr>
                      <a:r>
                        <a:rPr lang="en-US" sz="1800" b="1" dirty="0">
                          <a:solidFill>
                            <a:srgbClr val="FFFFFF"/>
                          </a:solidFill>
                          <a:latin typeface="Cambria" pitchFamily="34" charset="0"/>
                          <a:ea typeface="Cambria" pitchFamily="34" charset="-122"/>
                          <a:cs typeface="Cambria" pitchFamily="34" charset="-120"/>
                        </a:rPr>
                        <a:t>Call</a:t>
                      </a:r>
                      <a:endParaRPr lang="en-US"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800" b="1" dirty="0">
                          <a:solidFill>
                            <a:srgbClr val="FFFFFF"/>
                          </a:solidFill>
                          <a:latin typeface="Cambria" pitchFamily="34" charset="0"/>
                          <a:ea typeface="Cambria" pitchFamily="34" charset="-122"/>
                          <a:cs typeface="Cambria" pitchFamily="34" charset="-120"/>
                        </a:rPr>
                        <a:t>What it does</a:t>
                      </a:r>
                      <a:endParaRPr lang="en-US"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pthread_create(&amp;t, NULL, f, arg)</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Start a new thread that runs function f(arg). Its handle is stored in t.</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pthread_join(t, &amp;result)</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Wait until thread t has finished (like wait() for processes).</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pthread_exit(value)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End the calling thread (returning from f does the same).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pthread_self()</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Return the calling thread's own handle.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gcc -pthread prog.c</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Compile and link with the Pthreads library.</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8" name="Shape 5"/>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9" name="Text 6"/>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Pthreads is a specification (POSIX standard), not an implementation. On Linux it is implemented by glibc (NPTL) on top of the clone() system call.</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2: Hello from Three Threads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20</a:t>
            </a:r>
            <a:endParaRPr lang="en-US" sz="900" dirty="0"/>
          </a:p>
        </p:txBody>
      </p:sp>
      <p:sp>
        <p:nvSpPr>
          <p:cNvPr id="6" name="Shape 4"/>
          <p:cNvSpPr/>
          <p:nvPr/>
        </p:nvSpPr>
        <p:spPr>
          <a:xfrm>
            <a:off x="548640" y="1508760"/>
            <a:ext cx="6492240" cy="4754880"/>
          </a:xfrm>
          <a:prstGeom prst="roundRect">
            <a:avLst>
              <a:gd name="adj" fmla="val 962"/>
            </a:avLst>
          </a:prstGeom>
          <a:solidFill>
            <a:srgbClr val="212121"/>
          </a:solidFill>
          <a:ln/>
        </p:spPr>
        <p:txBody>
          <a:bodyPr/>
          <a:p/>
        </p:txBody>
      </p:sp>
      <p:sp>
        <p:nvSpPr>
          <p:cNvPr id="7" name="Text 5"/>
          <p:cNvSpPr txBox="1"/>
          <p:nvPr/>
        </p:nvSpPr>
        <p:spPr>
          <a:xfrm>
            <a:off x="731520" y="1618488"/>
            <a:ext cx="6126480" cy="4535424"/>
          </a:xfrm>
          <a:prstGeom prst="rect">
            <a:avLst/>
          </a:prstGeom>
          <a:noFill/>
          <a:ln/>
        </p:spPr>
        <p:txBody>
          <a:bodyPr wrap="square" lIns="0" tIns="0" rIns="0" bIns="0" rtlCol="0" anchor="t"/>
          <a:lstStyle/>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int shared_counter = 0;          /* global: ONE copy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void *worker(void *arg)</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int my_number = *(int *)arg; /* on MY stack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printf("thread %d: PID = %d, TID = %d\n",</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my_number, getpid(), gettid());</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shared_counter++;</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return NULL;</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int main(void)</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pthread_t tid[3];  int number[3];</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for (int i = 0; i &lt; 3; i++)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number[i] = i + 1;</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pthread_create(&amp;tid[i], NULL, worker, &amp;number[i]);</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for (int i = 0; i &lt; 3; i++)</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pthread_join(tid[i], NULL);   /* wait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printf("shared_counter = %d\n", shared_counter);</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8A9AA0"/>
                </a:solidFill>
                <a:latin typeface="Consolas" pitchFamily="34" charset="0"/>
                <a:ea typeface="Consolas" pitchFamily="34" charset="-122"/>
                <a:cs typeface="Consolas" pitchFamily="34" charset="-120"/>
              </a:rPr>
              <a:t>/* full program: code/thread_hello.c */</a:t>
            </a:r>
            <a:endParaRPr lang="en-US" sz="1100" dirty="0"/>
          </a:p>
        </p:txBody>
      </p:sp>
      <p:sp>
        <p:nvSpPr>
          <p:cNvPr id="8" name="Shape 6"/>
          <p:cNvSpPr/>
          <p:nvPr/>
        </p:nvSpPr>
        <p:spPr>
          <a:xfrm>
            <a:off x="7315200" y="1508760"/>
            <a:ext cx="4343400" cy="2148840"/>
          </a:xfrm>
          <a:prstGeom prst="roundRect">
            <a:avLst>
              <a:gd name="adj" fmla="val 25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543800" y="1691640"/>
            <a:ext cx="3886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notice</a:t>
            </a:r>
            <a:endParaRPr lang="en-US" sz="1500" dirty="0"/>
          </a:p>
        </p:txBody>
      </p:sp>
      <p:sp>
        <p:nvSpPr>
          <p:cNvPr id="10" name="Text 8"/>
          <p:cNvSpPr txBox="1"/>
          <p:nvPr/>
        </p:nvSpPr>
        <p:spPr>
          <a:xfrm>
            <a:off x="7543800" y="2148840"/>
            <a:ext cx="3886200" cy="137160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All threads print the same PID: one process.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Each thread has its own TID (a kernel thread: one-to-one).</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Threads finish in any order: 3 printed before 2!</a:t>
            </a:r>
            <a:endParaRPr lang="en-US" sz="1300" dirty="0"/>
          </a:p>
        </p:txBody>
      </p:sp>
      <p:sp>
        <p:nvSpPr>
          <p:cNvPr id="11" name="Shape 9"/>
          <p:cNvSpPr/>
          <p:nvPr/>
        </p:nvSpPr>
        <p:spPr>
          <a:xfrm>
            <a:off x="7315200" y="3886200"/>
            <a:ext cx="4343400" cy="2377440"/>
          </a:xfrm>
          <a:prstGeom prst="roundRect">
            <a:avLst>
              <a:gd name="adj" fmla="val 1923"/>
            </a:avLst>
          </a:prstGeom>
          <a:solidFill>
            <a:srgbClr val="212121"/>
          </a:solidFill>
          <a:ln/>
        </p:spPr>
        <p:txBody>
          <a:bodyPr/>
          <a:p/>
        </p:txBody>
      </p:sp>
      <p:sp>
        <p:nvSpPr>
          <p:cNvPr id="12" name="Text 10"/>
          <p:cNvSpPr txBox="1"/>
          <p:nvPr/>
        </p:nvSpPr>
        <p:spPr>
          <a:xfrm>
            <a:off x="7498080" y="3995928"/>
            <a:ext cx="3977640" cy="2157984"/>
          </a:xfrm>
          <a:prstGeom prst="rect">
            <a:avLst/>
          </a:prstGeom>
          <a:noFill/>
          <a:ln/>
        </p:spPr>
        <p:txBody>
          <a:bodyPr wrap="square" lIns="0" tIns="0" rIns="0" bIns="0" rtlCol="0" anchor="t"/>
          <a:lstStyle/>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 ./thread_hello</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main    : PID = 6351, TID = 6351</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thread 1: PID = 6351, TID = 6352</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thread 3: PID = 6351, TID = 6354</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thread 2: PID = 6351, TID = 6353</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main    : all threads done,</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          shared_counter = 3</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3: Summing an Array with T Threads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21</a:t>
            </a:r>
            <a:endParaRPr lang="en-US" sz="900" dirty="0"/>
          </a:p>
        </p:txBody>
      </p:sp>
      <p:sp>
        <p:nvSpPr>
          <p:cNvPr id="6" name="Shape 4"/>
          <p:cNvSpPr/>
          <p:nvPr/>
        </p:nvSpPr>
        <p:spPr>
          <a:xfrm>
            <a:off x="548640" y="1508760"/>
            <a:ext cx="6492240" cy="4754880"/>
          </a:xfrm>
          <a:prstGeom prst="roundRect">
            <a:avLst>
              <a:gd name="adj" fmla="val 962"/>
            </a:avLst>
          </a:prstGeom>
          <a:solidFill>
            <a:srgbClr val="212121"/>
          </a:solidFill>
          <a:ln/>
        </p:spPr>
        <p:txBody>
          <a:bodyPr/>
          <a:p/>
        </p:txBody>
      </p:sp>
      <p:sp>
        <p:nvSpPr>
          <p:cNvPr id="7" name="Text 5"/>
          <p:cNvSpPr txBox="1"/>
          <p:nvPr/>
        </p:nvSpPr>
        <p:spPr>
          <a:xfrm>
            <a:off x="731520" y="1618488"/>
            <a:ext cx="6126480" cy="4535424"/>
          </a:xfrm>
          <a:prstGeom prst="rect">
            <a:avLst/>
          </a:prstGeom>
          <a:noFill/>
          <a:ln/>
        </p:spPr>
        <p:txBody>
          <a:bodyPr wrap="square" lIns="0" tIns="0" rIns="0" bIns="0" rtlCol="0" anchor="t"/>
          <a:lstStyle/>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int  *a;              /* the big array: shared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long  partial[MAXT];  /* one slot per thread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void *sum_slice(void *arg)</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long k = (long)arg;               /* my slice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long start = k * N / T, end = (k + 1) * N / 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long s = 0;</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for (long i = start; i &lt; end; i++)</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s += a[i];</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partial[k] = s;                   /* my slot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return NULL;</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8A9AA0"/>
                </a:solidFill>
                <a:latin typeface="Consolas" pitchFamily="34" charset="0"/>
                <a:ea typeface="Consolas" pitchFamily="34" charset="-122"/>
                <a:cs typeface="Consolas" pitchFamily="34" charset="-120"/>
              </a:rPr>
              <a:t>/* in main():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for (long k = 0; k &lt; T; k++)</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pthread_create(&amp;th[k], NULL, sum_slice, (void *)k);</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for (long k = 0; k &lt; T; k++)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pthread_join(th[k], NULL);</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total += partial[k];</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8A9AA0"/>
                </a:solidFill>
                <a:latin typeface="Consolas" pitchFamily="34" charset="0"/>
                <a:ea typeface="Consolas" pitchFamily="34" charset="-122"/>
                <a:cs typeface="Consolas" pitchFamily="34" charset="-120"/>
              </a:rPr>
              <a:t>/* full program (adds timing, 20 repeats): code/array_sum.c */</a:t>
            </a:r>
            <a:endParaRPr lang="en-US" sz="1100" dirty="0"/>
          </a:p>
        </p:txBody>
      </p:sp>
      <p:sp>
        <p:nvSpPr>
          <p:cNvPr id="8" name="Shape 6"/>
          <p:cNvSpPr/>
          <p:nvPr/>
        </p:nvSpPr>
        <p:spPr>
          <a:xfrm>
            <a:off x="7315200" y="1508760"/>
            <a:ext cx="4343400" cy="2788920"/>
          </a:xfrm>
          <a:prstGeom prst="roundRect">
            <a:avLst>
              <a:gd name="adj" fmla="val 19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543800" y="1691640"/>
            <a:ext cx="3886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Data parallelism</a:t>
            </a:r>
            <a:endParaRPr lang="en-US" sz="1500" dirty="0"/>
          </a:p>
        </p:txBody>
      </p:sp>
      <p:sp>
        <p:nvSpPr>
          <p:cNvPr id="10" name="Text 8"/>
          <p:cNvSpPr txBox="1"/>
          <p:nvPr/>
        </p:nvSpPr>
        <p:spPr>
          <a:xfrm>
            <a:off x="7543800" y="2148840"/>
            <a:ext cx="3886200" cy="201168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100 million ints (400 MB), cut into T equal slices.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Thread k sums slice k into partial[k] — no sharing of results, so no locks needed.</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main() waits for all threads (join) and adds the partial sums.</a:t>
            </a:r>
            <a:endParaRPr lang="en-US" sz="1300" dirty="0"/>
          </a:p>
        </p:txBody>
      </p:sp>
      <p:sp>
        <p:nvSpPr>
          <p:cNvPr id="11" name="Shape 9"/>
          <p:cNvSpPr/>
          <p:nvPr/>
        </p:nvSpPr>
        <p:spPr>
          <a:xfrm>
            <a:off x="7315200" y="4526280"/>
            <a:ext cx="4343400" cy="1737360"/>
          </a:xfrm>
          <a:prstGeom prst="roundRect">
            <a:avLst>
              <a:gd name="adj" fmla="val 2632"/>
            </a:avLst>
          </a:prstGeom>
          <a:solidFill>
            <a:srgbClr val="212121"/>
          </a:solidFill>
          <a:ln/>
        </p:spPr>
        <p:txBody>
          <a:bodyPr/>
          <a:p/>
        </p:txBody>
      </p:sp>
      <p:sp>
        <p:nvSpPr>
          <p:cNvPr id="12" name="Text 10"/>
          <p:cNvSpPr txBox="1"/>
          <p:nvPr/>
        </p:nvSpPr>
        <p:spPr>
          <a:xfrm>
            <a:off x="7498080" y="4636008"/>
            <a:ext cx="3977640" cy="1517904"/>
          </a:xfrm>
          <a:prstGeom prst="rect">
            <a:avLst/>
          </a:prstGeom>
          <a:noFill/>
          <a:ln/>
        </p:spPr>
        <p:txBody>
          <a:bodyPr wrap="square" lIns="0" tIns="0" rIns="0" bIns="0" rtlCol="0" anchor="t"/>
          <a:lstStyle/>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 ./array_sum 1</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threads = 1  sum = 9000000000  time = 1.686 s</a:t>
            </a:r>
            <a:endParaRPr lang="en-US" sz="1150" dirty="0"/>
          </a:p>
          <a:p>
            <a:pPr indent="0" marL="0">
              <a:lnSpc>
                <a:spcPct val="105000"/>
              </a:lnSpc>
              <a:buNone/>
            </a:pPr>
            <a:r>
              <a:rPr lang="en-US" sz="1150" dirty="0">
                <a:solidFill>
                  <a:srgbClr val="02C39A"/>
                </a:solidFill>
                <a:latin typeface="Consolas" pitchFamily="34" charset="0"/>
                <a:ea typeface="Consolas" pitchFamily="34" charset="-122"/>
                <a:cs typeface="Consolas" pitchFamily="34" charset="-120"/>
              </a:rPr>
              <a:t>$ ./array_sum 2</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threads = 2  sum = 9000000000  time = 0.999 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Measured: 1, 2 and 4 Threads on a 2-Core Machine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Median of 9 runs on our test VM ($ nproc → 2). The machine was shared with other jobs, so single runs varied by up to ±30 %.</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5486400" cy="914400"/>
        </p:xfrm>
        <a:graphic>
          <a:graphicData uri="http://schemas.openxmlformats.org/drawingml/2006/table">
            <a:tbl>
              <a:tblPr/>
              <a:tblGrid>
                <a:gridCol w="1645920"/>
                <a:gridCol w="2011680"/>
                <a:gridCol w="1828800"/>
              </a:tblGrid>
              <a:tr h="0">
                <a:tc>
                  <a:txBody>
                    <a:bodyPr/>
                    <a:lstStyle/>
                    <a:p>
                      <a:pPr indent="0" marL="0">
                        <a:buNone/>
                      </a:pPr>
                      <a:r>
                        <a:rPr lang="en-US" sz="1500" b="1" dirty="0">
                          <a:solidFill>
                            <a:srgbClr val="FFFFFF"/>
                          </a:solidFill>
                          <a:latin typeface="Cambria" pitchFamily="34" charset="0"/>
                          <a:ea typeface="Cambria" pitchFamily="34" charset="-122"/>
                          <a:cs typeface="Cambria" pitchFamily="34" charset="-120"/>
                        </a:rPr>
                        <a:t>Threads T</a:t>
                      </a:r>
                      <a:endParaRPr lang="en-US" sz="1500" dirty="0">
                        <a:latin typeface="Cambria" charset="0"/>
                        <a:ea typeface="Cambria" charset="0"/>
                        <a:cs typeface="Cambria"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00" b="1" dirty="0">
                          <a:solidFill>
                            <a:srgbClr val="FFFFFF"/>
                          </a:solidFill>
                          <a:latin typeface="Cambria" pitchFamily="34" charset="0"/>
                          <a:ea typeface="Cambria" pitchFamily="34" charset="-122"/>
                          <a:cs typeface="Cambria" pitchFamily="34" charset="-120"/>
                        </a:rPr>
                        <a:t>Time (median)</a:t>
                      </a:r>
                      <a:endParaRPr lang="en-US" sz="1500" dirty="0">
                        <a:latin typeface="Cambria" charset="0"/>
                        <a:ea typeface="Cambria" charset="0"/>
                        <a:cs typeface="Cambria"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00" b="1" dirty="0">
                          <a:solidFill>
                            <a:srgbClr val="FFFFFF"/>
                          </a:solidFill>
                          <a:latin typeface="Cambria" pitchFamily="34" charset="0"/>
                          <a:ea typeface="Cambria" pitchFamily="34" charset="-122"/>
                          <a:cs typeface="Cambria" pitchFamily="34" charset="-120"/>
                        </a:rPr>
                        <a:t>Speedup</a:t>
                      </a:r>
                      <a:endParaRPr lang="en-US" sz="1500" dirty="0">
                        <a:latin typeface="Cambria" charset="0"/>
                        <a:ea typeface="Cambria" charset="0"/>
                        <a:cs typeface="Cambria"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l" indent="0" marL="0">
                        <a:buNone/>
                      </a:pPr>
                      <a:r>
                        <a:rPr lang="en-US" sz="1500" b="1" dirty="0">
                          <a:solidFill>
                            <a:srgbClr val="3A464C"/>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1.564 s</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l" indent="0" marL="0">
                        <a:buNone/>
                      </a:pPr>
                      <a:r>
                        <a:rPr lang="en-US" sz="1500" b="1" dirty="0">
                          <a:solidFill>
                            <a:srgbClr val="3A464C"/>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0.932 s</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1.68</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3A464C"/>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0.855 s</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1.83</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8" name="Text 5"/>
          <p:cNvSpPr txBox="1"/>
          <p:nvPr/>
        </p:nvSpPr>
        <p:spPr>
          <a:xfrm>
            <a:off x="548640" y="3977640"/>
            <a:ext cx="1554480" cy="411480"/>
          </a:xfrm>
          <a:prstGeom prst="rect">
            <a:avLst/>
          </a:prstGeom>
          <a:noFill/>
          <a:ln/>
        </p:spPr>
        <p:txBody>
          <a:bodyPr wrap="square" lIns="0" tIns="0" rIns="0" bIns="0" rtlCol="0" anchor="ctr"/>
          <a:lstStyle/>
          <a:p>
            <a:pPr indent="0" marL="0">
              <a:buNone/>
            </a:pPr>
            <a:r>
              <a:rPr lang="en-US" sz="1300" b="1" dirty="0">
                <a:solidFill>
                  <a:srgbClr val="3A464C"/>
                </a:solidFill>
                <a:latin typeface="Calibri" pitchFamily="34" charset="0"/>
                <a:ea typeface="Calibri" pitchFamily="34" charset="-122"/>
                <a:cs typeface="Calibri" pitchFamily="34" charset="-120"/>
              </a:rPr>
              <a:t>T=1</a:t>
            </a:r>
            <a:endParaRPr lang="en-US" sz="1300" dirty="0"/>
          </a:p>
        </p:txBody>
      </p:sp>
      <p:sp>
        <p:nvSpPr>
          <p:cNvPr id="9" name="Shape 6"/>
          <p:cNvSpPr/>
          <p:nvPr/>
        </p:nvSpPr>
        <p:spPr>
          <a:xfrm>
            <a:off x="2194560" y="4023360"/>
            <a:ext cx="1600200" cy="329184"/>
          </a:xfrm>
          <a:prstGeom prst="rect">
            <a:avLst/>
          </a:prstGeom>
          <a:solidFill>
            <a:srgbClr val="02C39A"/>
          </a:solidFill>
          <a:ln/>
        </p:spPr>
        <p:txBody>
          <a:bodyPr/>
          <a:p/>
        </p:txBody>
      </p:sp>
      <p:sp>
        <p:nvSpPr>
          <p:cNvPr id="10" name="Text 7"/>
          <p:cNvSpPr txBox="1"/>
          <p:nvPr/>
        </p:nvSpPr>
        <p:spPr>
          <a:xfrm>
            <a:off x="3840480" y="3977640"/>
            <a:ext cx="731520" cy="411480"/>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1.00×</a:t>
            </a:r>
            <a:endParaRPr lang="en-US" sz="1200" dirty="0"/>
          </a:p>
        </p:txBody>
      </p:sp>
      <p:sp>
        <p:nvSpPr>
          <p:cNvPr id="11" name="Text 8"/>
          <p:cNvSpPr txBox="1"/>
          <p:nvPr/>
        </p:nvSpPr>
        <p:spPr>
          <a:xfrm>
            <a:off x="548640" y="4507992"/>
            <a:ext cx="1554480" cy="411480"/>
          </a:xfrm>
          <a:prstGeom prst="rect">
            <a:avLst/>
          </a:prstGeom>
          <a:noFill/>
          <a:ln/>
        </p:spPr>
        <p:txBody>
          <a:bodyPr wrap="square" lIns="0" tIns="0" rIns="0" bIns="0" rtlCol="0" anchor="ctr"/>
          <a:lstStyle/>
          <a:p>
            <a:pPr indent="0" marL="0">
              <a:buNone/>
            </a:pPr>
            <a:r>
              <a:rPr lang="en-US" sz="1300" b="1" dirty="0">
                <a:solidFill>
                  <a:srgbClr val="3A464C"/>
                </a:solidFill>
                <a:latin typeface="Calibri" pitchFamily="34" charset="0"/>
                <a:ea typeface="Calibri" pitchFamily="34" charset="-122"/>
                <a:cs typeface="Calibri" pitchFamily="34" charset="-120"/>
              </a:rPr>
              <a:t>T=2</a:t>
            </a:r>
            <a:endParaRPr lang="en-US" sz="1300" dirty="0"/>
          </a:p>
        </p:txBody>
      </p:sp>
      <p:sp>
        <p:nvSpPr>
          <p:cNvPr id="12" name="Shape 9"/>
          <p:cNvSpPr/>
          <p:nvPr/>
        </p:nvSpPr>
        <p:spPr>
          <a:xfrm>
            <a:off x="2194560" y="4553712"/>
            <a:ext cx="2688336" cy="329184"/>
          </a:xfrm>
          <a:prstGeom prst="rect">
            <a:avLst/>
          </a:prstGeom>
          <a:solidFill>
            <a:srgbClr val="02C39A"/>
          </a:solidFill>
          <a:ln/>
        </p:spPr>
        <p:txBody>
          <a:bodyPr/>
          <a:p/>
        </p:txBody>
      </p:sp>
      <p:sp>
        <p:nvSpPr>
          <p:cNvPr id="13" name="Text 10"/>
          <p:cNvSpPr txBox="1"/>
          <p:nvPr/>
        </p:nvSpPr>
        <p:spPr>
          <a:xfrm>
            <a:off x="4928616" y="4507992"/>
            <a:ext cx="731520" cy="411480"/>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1.68×</a:t>
            </a:r>
            <a:endParaRPr lang="en-US" sz="1200" dirty="0"/>
          </a:p>
        </p:txBody>
      </p:sp>
      <p:sp>
        <p:nvSpPr>
          <p:cNvPr id="14" name="Text 11"/>
          <p:cNvSpPr txBox="1"/>
          <p:nvPr/>
        </p:nvSpPr>
        <p:spPr>
          <a:xfrm>
            <a:off x="548640" y="5038344"/>
            <a:ext cx="1554480" cy="411480"/>
          </a:xfrm>
          <a:prstGeom prst="rect">
            <a:avLst/>
          </a:prstGeom>
          <a:noFill/>
          <a:ln/>
        </p:spPr>
        <p:txBody>
          <a:bodyPr wrap="square" lIns="0" tIns="0" rIns="0" bIns="0" rtlCol="0" anchor="ctr"/>
          <a:lstStyle/>
          <a:p>
            <a:pPr indent="0" marL="0">
              <a:buNone/>
            </a:pPr>
            <a:r>
              <a:rPr lang="en-US" sz="1300" b="1" dirty="0">
                <a:solidFill>
                  <a:srgbClr val="3A464C"/>
                </a:solidFill>
                <a:latin typeface="Calibri" pitchFamily="34" charset="0"/>
                <a:ea typeface="Calibri" pitchFamily="34" charset="-122"/>
                <a:cs typeface="Calibri" pitchFamily="34" charset="-120"/>
              </a:rPr>
              <a:t>T=4</a:t>
            </a:r>
            <a:endParaRPr lang="en-US" sz="1300" dirty="0"/>
          </a:p>
        </p:txBody>
      </p:sp>
      <p:sp>
        <p:nvSpPr>
          <p:cNvPr id="15" name="Shape 12"/>
          <p:cNvSpPr/>
          <p:nvPr/>
        </p:nvSpPr>
        <p:spPr>
          <a:xfrm>
            <a:off x="2194560" y="5084064"/>
            <a:ext cx="2928366" cy="329184"/>
          </a:xfrm>
          <a:prstGeom prst="rect">
            <a:avLst/>
          </a:prstGeom>
          <a:solidFill>
            <a:srgbClr val="02C39A"/>
          </a:solidFill>
          <a:ln/>
        </p:spPr>
        <p:txBody>
          <a:bodyPr/>
          <a:p/>
        </p:txBody>
      </p:sp>
      <p:sp>
        <p:nvSpPr>
          <p:cNvPr id="16" name="Text 13"/>
          <p:cNvSpPr txBox="1"/>
          <p:nvPr/>
        </p:nvSpPr>
        <p:spPr>
          <a:xfrm>
            <a:off x="5168646" y="5038344"/>
            <a:ext cx="731520" cy="411480"/>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1.83×</a:t>
            </a:r>
            <a:endParaRPr lang="en-US" sz="1200" dirty="0"/>
          </a:p>
        </p:txBody>
      </p:sp>
      <p:sp>
        <p:nvSpPr>
          <p:cNvPr id="17" name="Text 14"/>
          <p:cNvSpPr txBox="1"/>
          <p:nvPr/>
        </p:nvSpPr>
        <p:spPr>
          <a:xfrm>
            <a:off x="548640" y="5568696"/>
            <a:ext cx="1554480" cy="411480"/>
          </a:xfrm>
          <a:prstGeom prst="rect">
            <a:avLst/>
          </a:prstGeom>
          <a:noFill/>
          <a:ln/>
        </p:spPr>
        <p:txBody>
          <a:bodyPr wrap="square" lIns="0" tIns="0" rIns="0" bIns="0" rtlCol="0" anchor="ctr"/>
          <a:lstStyle/>
          <a:p>
            <a:pPr indent="0" marL="0">
              <a:buNone/>
            </a:pPr>
            <a:r>
              <a:rPr lang="en-US" sz="1300" b="1" dirty="0">
                <a:solidFill>
                  <a:srgbClr val="3A464C"/>
                </a:solidFill>
                <a:latin typeface="Calibri" pitchFamily="34" charset="0"/>
                <a:ea typeface="Calibri" pitchFamily="34" charset="-122"/>
                <a:cs typeface="Calibri" pitchFamily="34" charset="-120"/>
              </a:rPr>
              <a:t>ideal 2 cores</a:t>
            </a:r>
            <a:endParaRPr lang="en-US" sz="1300" dirty="0"/>
          </a:p>
        </p:txBody>
      </p:sp>
      <p:sp>
        <p:nvSpPr>
          <p:cNvPr id="18" name="Shape 15"/>
          <p:cNvSpPr/>
          <p:nvPr/>
        </p:nvSpPr>
        <p:spPr>
          <a:xfrm>
            <a:off x="2194560" y="5614416"/>
            <a:ext cx="3200400" cy="329184"/>
          </a:xfrm>
          <a:prstGeom prst="rect">
            <a:avLst/>
          </a:prstGeom>
          <a:solidFill>
            <a:srgbClr val="F2F2F2"/>
          </a:solidFill>
          <a:ln w="12700">
            <a:solidFill>
              <a:srgbClr val="50808E"/>
            </a:solidFill>
            <a:prstDash val="dash"/>
          </a:ln>
        </p:spPr>
        <p:txBody>
          <a:bodyPr/>
          <a:p/>
        </p:txBody>
      </p:sp>
      <p:sp>
        <p:nvSpPr>
          <p:cNvPr id="19" name="Text 16"/>
          <p:cNvSpPr txBox="1"/>
          <p:nvPr/>
        </p:nvSpPr>
        <p:spPr>
          <a:xfrm>
            <a:off x="5440680" y="5568696"/>
            <a:ext cx="731520" cy="411480"/>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2.00×</a:t>
            </a:r>
            <a:endParaRPr lang="en-US" sz="1200" dirty="0"/>
          </a:p>
        </p:txBody>
      </p:sp>
      <p:sp>
        <p:nvSpPr>
          <p:cNvPr id="20" name="Shape 17"/>
          <p:cNvSpPr/>
          <p:nvPr/>
        </p:nvSpPr>
        <p:spPr>
          <a:xfrm>
            <a:off x="6400800" y="2148840"/>
            <a:ext cx="5257800" cy="411480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1" name="Text 18"/>
          <p:cNvSpPr txBox="1"/>
          <p:nvPr/>
        </p:nvSpPr>
        <p:spPr>
          <a:xfrm>
            <a:off x="6629400" y="2331720"/>
            <a:ext cx="48006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Interpretation</a:t>
            </a:r>
            <a:endParaRPr lang="en-US" sz="1500" dirty="0"/>
          </a:p>
        </p:txBody>
      </p:sp>
      <p:sp>
        <p:nvSpPr>
          <p:cNvPr id="22" name="Text 19"/>
          <p:cNvSpPr txBox="1"/>
          <p:nvPr/>
        </p:nvSpPr>
        <p:spPr>
          <a:xfrm>
            <a:off x="6629400" y="2788920"/>
            <a:ext cx="4800600" cy="333756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2 threads:</a:t>
            </a:r>
            <a:r>
              <a:rPr lang="en-US" sz="1400" dirty="0">
                <a:solidFill>
                  <a:srgbClr val="3A464C"/>
                </a:solidFill>
                <a:latin typeface="Calibri" pitchFamily="34" charset="0"/>
                <a:ea typeface="Calibri" pitchFamily="34" charset="-122"/>
                <a:cs typeface="Calibri" pitchFamily="34" charset="-120"/>
              </a:rPr>
              <a:t> 1.68× faster — good, but below the ideal 2×.</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4 threads:</a:t>
            </a:r>
            <a:r>
              <a:rPr lang="en-US" sz="1400" dirty="0">
                <a:solidFill>
                  <a:srgbClr val="3A464C"/>
                </a:solidFill>
                <a:latin typeface="Calibri" pitchFamily="34" charset="0"/>
                <a:ea typeface="Calibri" pitchFamily="34" charset="-122"/>
                <a:cs typeface="Calibri" pitchFamily="34" charset="-120"/>
              </a:rPr>
              <a:t> hardly better: there are only 2 cores, so at most 2 threads run at any instant.</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Why not 2×?</a:t>
            </a:r>
            <a:r>
              <a:rPr lang="en-US" sz="1400" dirty="0">
                <a:solidFill>
                  <a:srgbClr val="3A464C"/>
                </a:solidFill>
                <a:latin typeface="Calibri" pitchFamily="34" charset="0"/>
                <a:ea typeface="Calibri" pitchFamily="34" charset="-122"/>
                <a:cs typeface="Calibri" pitchFamily="34" charset="-120"/>
              </a:rPr>
              <a:t> creating and joining threads, sharing memory bandwidth, and other jobs on the machine.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Amdahl: 1.68× on 2 cores behaves like S ≈ 0.19 — the "serial part" includes all such overheads.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Seeing Threads with ps and /proc</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23</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 ./thread_hello &amp;          # threads sleep 2 s</a:t>
            </a:r>
            <a:endParaRPr lang="en-US" sz="1250" dirty="0"/>
          </a:p>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 ps -eLf | grep thread_hello</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UID    PID  PPID   LWP  C NLWP CMD</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root 27241 27234 27241  0    4 ./thread_hello</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root 27241 27234 27243  0    4 ./thread_hello</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root 27241 27234 27244  0    4 ./thread_hello</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root 27241 27234 27245  0    4 ./thread_hello</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 ls /proc/27241/task</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27241  27243  27244  27245</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 grep Threads /proc/27241/status</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Threads:	4</a:t>
            </a:r>
            <a:endParaRPr lang="en-US" sz="12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Reading the output</a:t>
            </a:r>
            <a:endParaRPr lang="en-US"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-L</a:t>
            </a:r>
            <a:r>
              <a:rPr lang="en-US" sz="1400" dirty="0">
                <a:solidFill>
                  <a:srgbClr val="3A464C"/>
                </a:solidFill>
                <a:latin typeface="Calibri" pitchFamily="34" charset="0"/>
                <a:ea typeface="Calibri" pitchFamily="34" charset="-122"/>
                <a:cs typeface="Calibri" pitchFamily="34" charset="-120"/>
              </a:rPr>
              <a:t> shows one line per thread.</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PID</a:t>
            </a:r>
            <a:r>
              <a:rPr lang="en-US" sz="1400" dirty="0">
                <a:solidFill>
                  <a:srgbClr val="3A464C"/>
                </a:solidFill>
                <a:latin typeface="Calibri" pitchFamily="34" charset="0"/>
                <a:ea typeface="Calibri" pitchFamily="34" charset="-122"/>
                <a:cs typeface="Calibri" pitchFamily="34" charset="-120"/>
              </a:rPr>
              <a:t> is the same on all lines: one process.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LWP</a:t>
            </a:r>
            <a:r>
              <a:rPr lang="en-US" sz="1400" dirty="0">
                <a:solidFill>
                  <a:srgbClr val="3A464C"/>
                </a:solidFill>
                <a:latin typeface="Calibri" pitchFamily="34" charset="0"/>
                <a:ea typeface="Calibri" pitchFamily="34" charset="-122"/>
                <a:cs typeface="Calibri" pitchFamily="34" charset="-120"/>
              </a:rPr>
              <a:t> (light-weight process) = thread ID.</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NLWP</a:t>
            </a:r>
            <a:r>
              <a:rPr lang="en-US" sz="1400" dirty="0">
                <a:solidFill>
                  <a:srgbClr val="3A464C"/>
                </a:solidFill>
                <a:latin typeface="Calibri" pitchFamily="34" charset="0"/>
                <a:ea typeface="Calibri" pitchFamily="34" charset="-122"/>
                <a:cs typeface="Calibri" pitchFamily="34" charset="-120"/>
              </a:rPr>
              <a:t> = number of threads: main + 3 workers = 4.</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/proc/&lt;pid&gt;/task/ has one folder per thread.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INTERMISSION</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10-Minute Break</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Next: the CPU scheduler — who runs next, and how do we measure 'good'?</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4  ·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2</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CPU Scheduling: Basic Concepts</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Many ready threads, few cores: someone must choose.</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4  ·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SCHEDULING BASICS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CPU–I/O Burst Cycle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 process alternates between computing (CPU burst) and waiting for I/O (I/O burst).</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26</a:t>
            </a:r>
            <a:endParaRPr lang="en-US" sz="900" dirty="0"/>
          </a:p>
        </p:txBody>
      </p:sp>
      <p:sp>
        <p:nvSpPr>
          <p:cNvPr id="7" name="Text 5"/>
          <p:cNvSpPr txBox="1"/>
          <p:nvPr/>
        </p:nvSpPr>
        <p:spPr>
          <a:xfrm>
            <a:off x="548640" y="2240280"/>
            <a:ext cx="2011680" cy="54864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CPU-bound</a:t>
            </a:r>
            <a:endParaRPr lang="en-US" sz="1500" dirty="0"/>
          </a:p>
        </p:txBody>
      </p:sp>
      <p:sp>
        <p:nvSpPr>
          <p:cNvPr id="8" name="Shape 6"/>
          <p:cNvSpPr/>
          <p:nvPr/>
        </p:nvSpPr>
        <p:spPr>
          <a:xfrm>
            <a:off x="2651760" y="2240280"/>
            <a:ext cx="3218688" cy="548640"/>
          </a:xfrm>
          <a:prstGeom prst="rect">
            <a:avLst/>
          </a:prstGeom>
          <a:solidFill>
            <a:srgbClr val="02C39A"/>
          </a:solidFill>
          <a:ln w="19050">
            <a:solidFill>
              <a:srgbClr val="FFFFFF"/>
            </a:solidFill>
            <a:prstDash val="solid"/>
          </a:ln>
        </p:spPr>
        <p:txBody>
          <a:bodyPr/>
          <a:p/>
        </p:txBody>
      </p:sp>
      <p:sp>
        <p:nvSpPr>
          <p:cNvPr id="9" name="Text 7"/>
          <p:cNvSpPr txBox="1"/>
          <p:nvPr/>
        </p:nvSpPr>
        <p:spPr>
          <a:xfrm>
            <a:off x="2651760" y="2240280"/>
            <a:ext cx="3218688"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CPU</a:t>
            </a:r>
            <a:endParaRPr lang="en-US" sz="1200" dirty="0"/>
          </a:p>
        </p:txBody>
      </p:sp>
      <p:sp>
        <p:nvSpPr>
          <p:cNvPr id="10" name="Shape 8"/>
          <p:cNvSpPr/>
          <p:nvPr/>
        </p:nvSpPr>
        <p:spPr>
          <a:xfrm>
            <a:off x="5870448" y="2240280"/>
            <a:ext cx="585216" cy="548640"/>
          </a:xfrm>
          <a:prstGeom prst="rect">
            <a:avLst/>
          </a:prstGeom>
          <a:solidFill>
            <a:srgbClr val="F2F2F2"/>
          </a:solidFill>
          <a:ln w="19050">
            <a:solidFill>
              <a:srgbClr val="FFFFFF"/>
            </a:solidFill>
            <a:prstDash val="solid"/>
          </a:ln>
        </p:spPr>
        <p:txBody>
          <a:bodyPr/>
          <a:p/>
        </p:txBody>
      </p:sp>
      <p:sp>
        <p:nvSpPr>
          <p:cNvPr id="11" name="Text 9"/>
          <p:cNvSpPr txBox="1"/>
          <p:nvPr/>
        </p:nvSpPr>
        <p:spPr>
          <a:xfrm>
            <a:off x="5870448" y="2240280"/>
            <a:ext cx="585216"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I/O</a:t>
            </a:r>
            <a:endParaRPr lang="en-US" sz="1200" dirty="0"/>
          </a:p>
        </p:txBody>
      </p:sp>
      <p:sp>
        <p:nvSpPr>
          <p:cNvPr id="12" name="Shape 10"/>
          <p:cNvSpPr/>
          <p:nvPr/>
        </p:nvSpPr>
        <p:spPr>
          <a:xfrm>
            <a:off x="6455664" y="2240280"/>
            <a:ext cx="3511296" cy="548640"/>
          </a:xfrm>
          <a:prstGeom prst="rect">
            <a:avLst/>
          </a:prstGeom>
          <a:solidFill>
            <a:srgbClr val="02C39A"/>
          </a:solidFill>
          <a:ln w="19050">
            <a:solidFill>
              <a:srgbClr val="FFFFFF"/>
            </a:solidFill>
            <a:prstDash val="solid"/>
          </a:ln>
        </p:spPr>
        <p:txBody>
          <a:bodyPr/>
          <a:p/>
        </p:txBody>
      </p:sp>
      <p:sp>
        <p:nvSpPr>
          <p:cNvPr id="13" name="Text 11"/>
          <p:cNvSpPr txBox="1"/>
          <p:nvPr/>
        </p:nvSpPr>
        <p:spPr>
          <a:xfrm>
            <a:off x="6455664" y="2240280"/>
            <a:ext cx="3511296"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CPU</a:t>
            </a:r>
            <a:endParaRPr lang="en-US" sz="1200" dirty="0"/>
          </a:p>
        </p:txBody>
      </p:sp>
      <p:sp>
        <p:nvSpPr>
          <p:cNvPr id="14" name="Shape 12"/>
          <p:cNvSpPr/>
          <p:nvPr/>
        </p:nvSpPr>
        <p:spPr>
          <a:xfrm>
            <a:off x="9966960" y="2240280"/>
            <a:ext cx="585216" cy="548640"/>
          </a:xfrm>
          <a:prstGeom prst="rect">
            <a:avLst/>
          </a:prstGeom>
          <a:solidFill>
            <a:srgbClr val="F2F2F2"/>
          </a:solidFill>
          <a:ln w="19050">
            <a:solidFill>
              <a:srgbClr val="FFFFFF"/>
            </a:solidFill>
            <a:prstDash val="solid"/>
          </a:ln>
        </p:spPr>
        <p:txBody>
          <a:bodyPr/>
          <a:p/>
        </p:txBody>
      </p:sp>
      <p:sp>
        <p:nvSpPr>
          <p:cNvPr id="15" name="Text 13"/>
          <p:cNvSpPr txBox="1"/>
          <p:nvPr/>
        </p:nvSpPr>
        <p:spPr>
          <a:xfrm>
            <a:off x="9966960" y="2240280"/>
            <a:ext cx="585216"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I/O</a:t>
            </a:r>
            <a:endParaRPr lang="en-US" sz="1200" dirty="0"/>
          </a:p>
        </p:txBody>
      </p:sp>
      <p:sp>
        <p:nvSpPr>
          <p:cNvPr id="16" name="Shape 14"/>
          <p:cNvSpPr/>
          <p:nvPr/>
        </p:nvSpPr>
        <p:spPr>
          <a:xfrm>
            <a:off x="10552176" y="2240280"/>
            <a:ext cx="877824" cy="548640"/>
          </a:xfrm>
          <a:prstGeom prst="rect">
            <a:avLst/>
          </a:prstGeom>
          <a:solidFill>
            <a:srgbClr val="02C39A"/>
          </a:solidFill>
          <a:ln w="19050">
            <a:solidFill>
              <a:srgbClr val="FFFFFF"/>
            </a:solidFill>
            <a:prstDash val="solid"/>
          </a:ln>
        </p:spPr>
        <p:txBody>
          <a:bodyPr/>
          <a:p/>
        </p:txBody>
      </p:sp>
      <p:sp>
        <p:nvSpPr>
          <p:cNvPr id="17" name="Text 15"/>
          <p:cNvSpPr txBox="1"/>
          <p:nvPr/>
        </p:nvSpPr>
        <p:spPr>
          <a:xfrm>
            <a:off x="10552176" y="2240280"/>
            <a:ext cx="877824"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CPU</a:t>
            </a:r>
            <a:endParaRPr lang="en-US" sz="1200" dirty="0"/>
          </a:p>
        </p:txBody>
      </p:sp>
      <p:sp>
        <p:nvSpPr>
          <p:cNvPr id="18" name="Text 16"/>
          <p:cNvSpPr txBox="1"/>
          <p:nvPr/>
        </p:nvSpPr>
        <p:spPr>
          <a:xfrm>
            <a:off x="548640" y="3108960"/>
            <a:ext cx="2011680" cy="54864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I/O-bound</a:t>
            </a:r>
            <a:endParaRPr lang="en-US" sz="1500" dirty="0"/>
          </a:p>
        </p:txBody>
      </p:sp>
      <p:sp>
        <p:nvSpPr>
          <p:cNvPr id="19" name="Shape 17"/>
          <p:cNvSpPr/>
          <p:nvPr/>
        </p:nvSpPr>
        <p:spPr>
          <a:xfrm>
            <a:off x="2651760" y="3108960"/>
            <a:ext cx="585216" cy="548640"/>
          </a:xfrm>
          <a:prstGeom prst="rect">
            <a:avLst/>
          </a:prstGeom>
          <a:solidFill>
            <a:srgbClr val="02C39A"/>
          </a:solidFill>
          <a:ln w="19050">
            <a:solidFill>
              <a:srgbClr val="FFFFFF"/>
            </a:solidFill>
            <a:prstDash val="solid"/>
          </a:ln>
        </p:spPr>
        <p:txBody>
          <a:bodyPr/>
          <a:p/>
        </p:txBody>
      </p:sp>
      <p:sp>
        <p:nvSpPr>
          <p:cNvPr id="20" name="Text 18"/>
          <p:cNvSpPr txBox="1"/>
          <p:nvPr/>
        </p:nvSpPr>
        <p:spPr>
          <a:xfrm>
            <a:off x="2651760" y="3108960"/>
            <a:ext cx="585216"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CPU</a:t>
            </a:r>
            <a:endParaRPr lang="en-US" sz="1200" dirty="0"/>
          </a:p>
        </p:txBody>
      </p:sp>
      <p:sp>
        <p:nvSpPr>
          <p:cNvPr id="21" name="Shape 19"/>
          <p:cNvSpPr/>
          <p:nvPr/>
        </p:nvSpPr>
        <p:spPr>
          <a:xfrm>
            <a:off x="3236976" y="3108960"/>
            <a:ext cx="1463040" cy="548640"/>
          </a:xfrm>
          <a:prstGeom prst="rect">
            <a:avLst/>
          </a:prstGeom>
          <a:solidFill>
            <a:srgbClr val="F2F2F2"/>
          </a:solidFill>
          <a:ln w="19050">
            <a:solidFill>
              <a:srgbClr val="FFFFFF"/>
            </a:solidFill>
            <a:prstDash val="solid"/>
          </a:ln>
        </p:spPr>
        <p:txBody>
          <a:bodyPr/>
          <a:p/>
        </p:txBody>
      </p:sp>
      <p:sp>
        <p:nvSpPr>
          <p:cNvPr id="22" name="Text 20"/>
          <p:cNvSpPr txBox="1"/>
          <p:nvPr/>
        </p:nvSpPr>
        <p:spPr>
          <a:xfrm>
            <a:off x="3236976" y="3108960"/>
            <a:ext cx="1463040"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I/O</a:t>
            </a:r>
            <a:endParaRPr lang="en-US" sz="1200" dirty="0"/>
          </a:p>
        </p:txBody>
      </p:sp>
      <p:sp>
        <p:nvSpPr>
          <p:cNvPr id="23" name="Shape 21"/>
          <p:cNvSpPr/>
          <p:nvPr/>
        </p:nvSpPr>
        <p:spPr>
          <a:xfrm>
            <a:off x="4700016" y="3108960"/>
            <a:ext cx="438912" cy="548640"/>
          </a:xfrm>
          <a:prstGeom prst="rect">
            <a:avLst/>
          </a:prstGeom>
          <a:solidFill>
            <a:srgbClr val="02C39A"/>
          </a:solidFill>
          <a:ln w="19050">
            <a:solidFill>
              <a:srgbClr val="FFFFFF"/>
            </a:solidFill>
            <a:prstDash val="solid"/>
          </a:ln>
        </p:spPr>
        <p:txBody>
          <a:bodyPr/>
          <a:p/>
        </p:txBody>
      </p:sp>
      <p:sp>
        <p:nvSpPr>
          <p:cNvPr id="24" name="Text 22"/>
          <p:cNvSpPr txBox="1"/>
          <p:nvPr/>
        </p:nvSpPr>
        <p:spPr>
          <a:xfrm>
            <a:off x="4700016" y="3108960"/>
            <a:ext cx="438912"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CPU</a:t>
            </a:r>
            <a:endParaRPr lang="en-US" sz="1200" dirty="0"/>
          </a:p>
        </p:txBody>
      </p:sp>
      <p:sp>
        <p:nvSpPr>
          <p:cNvPr id="25" name="Shape 23"/>
          <p:cNvSpPr/>
          <p:nvPr/>
        </p:nvSpPr>
        <p:spPr>
          <a:xfrm>
            <a:off x="5138928" y="3108960"/>
            <a:ext cx="1609344" cy="548640"/>
          </a:xfrm>
          <a:prstGeom prst="rect">
            <a:avLst/>
          </a:prstGeom>
          <a:solidFill>
            <a:srgbClr val="F2F2F2"/>
          </a:solidFill>
          <a:ln w="19050">
            <a:solidFill>
              <a:srgbClr val="FFFFFF"/>
            </a:solidFill>
            <a:prstDash val="solid"/>
          </a:ln>
        </p:spPr>
        <p:txBody>
          <a:bodyPr/>
          <a:p/>
        </p:txBody>
      </p:sp>
      <p:sp>
        <p:nvSpPr>
          <p:cNvPr id="26" name="Text 24"/>
          <p:cNvSpPr txBox="1"/>
          <p:nvPr/>
        </p:nvSpPr>
        <p:spPr>
          <a:xfrm>
            <a:off x="5138928" y="3108960"/>
            <a:ext cx="1609344"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I/O</a:t>
            </a:r>
            <a:endParaRPr lang="en-US" sz="1200" dirty="0"/>
          </a:p>
        </p:txBody>
      </p:sp>
      <p:sp>
        <p:nvSpPr>
          <p:cNvPr id="27" name="Shape 25"/>
          <p:cNvSpPr/>
          <p:nvPr/>
        </p:nvSpPr>
        <p:spPr>
          <a:xfrm>
            <a:off x="6748272" y="3108960"/>
            <a:ext cx="585216" cy="548640"/>
          </a:xfrm>
          <a:prstGeom prst="rect">
            <a:avLst/>
          </a:prstGeom>
          <a:solidFill>
            <a:srgbClr val="02C39A"/>
          </a:solidFill>
          <a:ln w="19050">
            <a:solidFill>
              <a:srgbClr val="FFFFFF"/>
            </a:solidFill>
            <a:prstDash val="solid"/>
          </a:ln>
        </p:spPr>
        <p:txBody>
          <a:bodyPr/>
          <a:p/>
        </p:txBody>
      </p:sp>
      <p:sp>
        <p:nvSpPr>
          <p:cNvPr id="28" name="Text 26"/>
          <p:cNvSpPr txBox="1"/>
          <p:nvPr/>
        </p:nvSpPr>
        <p:spPr>
          <a:xfrm>
            <a:off x="6748272" y="3108960"/>
            <a:ext cx="585216"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CPU</a:t>
            </a:r>
            <a:endParaRPr lang="en-US" sz="1200" dirty="0"/>
          </a:p>
        </p:txBody>
      </p:sp>
      <p:sp>
        <p:nvSpPr>
          <p:cNvPr id="29" name="Shape 27"/>
          <p:cNvSpPr/>
          <p:nvPr/>
        </p:nvSpPr>
        <p:spPr>
          <a:xfrm>
            <a:off x="7333488" y="3108960"/>
            <a:ext cx="1463040" cy="548640"/>
          </a:xfrm>
          <a:prstGeom prst="rect">
            <a:avLst/>
          </a:prstGeom>
          <a:solidFill>
            <a:srgbClr val="F2F2F2"/>
          </a:solidFill>
          <a:ln w="19050">
            <a:solidFill>
              <a:srgbClr val="FFFFFF"/>
            </a:solidFill>
            <a:prstDash val="solid"/>
          </a:ln>
        </p:spPr>
        <p:txBody>
          <a:bodyPr/>
          <a:p/>
        </p:txBody>
      </p:sp>
      <p:sp>
        <p:nvSpPr>
          <p:cNvPr id="30" name="Text 28"/>
          <p:cNvSpPr txBox="1"/>
          <p:nvPr/>
        </p:nvSpPr>
        <p:spPr>
          <a:xfrm>
            <a:off x="7333488" y="3108960"/>
            <a:ext cx="1463040"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I/O</a:t>
            </a:r>
            <a:endParaRPr lang="en-US" sz="1200" dirty="0"/>
          </a:p>
        </p:txBody>
      </p:sp>
      <p:sp>
        <p:nvSpPr>
          <p:cNvPr id="31" name="Shape 29"/>
          <p:cNvSpPr/>
          <p:nvPr/>
        </p:nvSpPr>
        <p:spPr>
          <a:xfrm>
            <a:off x="8796528" y="3108960"/>
            <a:ext cx="438912" cy="548640"/>
          </a:xfrm>
          <a:prstGeom prst="rect">
            <a:avLst/>
          </a:prstGeom>
          <a:solidFill>
            <a:srgbClr val="02C39A"/>
          </a:solidFill>
          <a:ln w="19050">
            <a:solidFill>
              <a:srgbClr val="FFFFFF"/>
            </a:solidFill>
            <a:prstDash val="solid"/>
          </a:ln>
        </p:spPr>
        <p:txBody>
          <a:bodyPr/>
          <a:p/>
        </p:txBody>
      </p:sp>
      <p:sp>
        <p:nvSpPr>
          <p:cNvPr id="32" name="Text 30"/>
          <p:cNvSpPr txBox="1"/>
          <p:nvPr/>
        </p:nvSpPr>
        <p:spPr>
          <a:xfrm>
            <a:off x="8796528" y="3108960"/>
            <a:ext cx="438912"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CPU</a:t>
            </a:r>
            <a:endParaRPr lang="en-US" sz="1200" dirty="0"/>
          </a:p>
        </p:txBody>
      </p:sp>
      <p:sp>
        <p:nvSpPr>
          <p:cNvPr id="33" name="Shape 31"/>
          <p:cNvSpPr/>
          <p:nvPr/>
        </p:nvSpPr>
        <p:spPr>
          <a:xfrm>
            <a:off x="9235440" y="3108960"/>
            <a:ext cx="1609344" cy="548640"/>
          </a:xfrm>
          <a:prstGeom prst="rect">
            <a:avLst/>
          </a:prstGeom>
          <a:solidFill>
            <a:srgbClr val="F2F2F2"/>
          </a:solidFill>
          <a:ln w="19050">
            <a:solidFill>
              <a:srgbClr val="FFFFFF"/>
            </a:solidFill>
            <a:prstDash val="solid"/>
          </a:ln>
        </p:spPr>
        <p:txBody>
          <a:bodyPr/>
          <a:p/>
        </p:txBody>
      </p:sp>
      <p:sp>
        <p:nvSpPr>
          <p:cNvPr id="34" name="Text 32"/>
          <p:cNvSpPr txBox="1"/>
          <p:nvPr/>
        </p:nvSpPr>
        <p:spPr>
          <a:xfrm>
            <a:off x="9235440" y="3108960"/>
            <a:ext cx="1609344"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I/O</a:t>
            </a:r>
            <a:endParaRPr lang="en-US" sz="1200" dirty="0"/>
          </a:p>
        </p:txBody>
      </p:sp>
      <p:sp>
        <p:nvSpPr>
          <p:cNvPr id="35" name="Shape 33"/>
          <p:cNvSpPr/>
          <p:nvPr/>
        </p:nvSpPr>
        <p:spPr>
          <a:xfrm>
            <a:off x="10844784" y="3108960"/>
            <a:ext cx="585216" cy="548640"/>
          </a:xfrm>
          <a:prstGeom prst="rect">
            <a:avLst/>
          </a:prstGeom>
          <a:solidFill>
            <a:srgbClr val="02C39A"/>
          </a:solidFill>
          <a:ln w="19050">
            <a:solidFill>
              <a:srgbClr val="FFFFFF"/>
            </a:solidFill>
            <a:prstDash val="solid"/>
          </a:ln>
        </p:spPr>
        <p:txBody>
          <a:bodyPr/>
          <a:p/>
        </p:txBody>
      </p:sp>
      <p:sp>
        <p:nvSpPr>
          <p:cNvPr id="36" name="Text 34"/>
          <p:cNvSpPr txBox="1"/>
          <p:nvPr/>
        </p:nvSpPr>
        <p:spPr>
          <a:xfrm>
            <a:off x="10844784" y="3108960"/>
            <a:ext cx="585216"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CPU</a:t>
            </a:r>
            <a:endParaRPr lang="en-US" sz="1200" dirty="0"/>
          </a:p>
        </p:txBody>
      </p:sp>
      <p:sp>
        <p:nvSpPr>
          <p:cNvPr id="37" name="Shape 35"/>
          <p:cNvSpPr/>
          <p:nvPr/>
        </p:nvSpPr>
        <p:spPr>
          <a:xfrm>
            <a:off x="2651760" y="3840480"/>
            <a:ext cx="8778240" cy="91"/>
          </a:xfrm>
          <a:prstGeom prst="line">
            <a:avLst/>
          </a:prstGeom>
          <a:noFill/>
          <a:ln w="19050">
            <a:solidFill>
              <a:srgbClr val="50808E"/>
            </a:solidFill>
            <a:prstDash val="solid"/>
            <a:tailEnd type="triangle"/>
          </a:ln>
        </p:spPr>
        <p:txBody>
          <a:bodyPr/>
          <a:p/>
        </p:txBody>
      </p:sp>
      <p:sp>
        <p:nvSpPr>
          <p:cNvPr id="38" name="Text 36"/>
          <p:cNvSpPr txBox="1"/>
          <p:nvPr/>
        </p:nvSpPr>
        <p:spPr>
          <a:xfrm>
            <a:off x="10698480" y="3886200"/>
            <a:ext cx="731520" cy="274320"/>
          </a:xfrm>
          <a:prstGeom prst="rect">
            <a:avLst/>
          </a:prstGeom>
          <a:noFill/>
          <a:ln/>
        </p:spPr>
        <p:txBody>
          <a:bodyPr wrap="square" lIns="0" tIns="0" rIns="0" bIns="0" rtlCol="0" anchor="t"/>
          <a:lstStyle/>
          <a:p>
            <a:pPr algn="r" indent="0" marL="0">
              <a:buNone/>
            </a:pPr>
            <a:r>
              <a:rPr lang="en-US" sz="1100" i="1" dirty="0">
                <a:solidFill>
                  <a:srgbClr val="6B7679"/>
                </a:solidFill>
                <a:latin typeface="Calibri" pitchFamily="34" charset="0"/>
                <a:ea typeface="Calibri" pitchFamily="34" charset="-122"/>
                <a:cs typeface="Calibri" pitchFamily="34" charset="-120"/>
              </a:rPr>
              <a:t>time</a:t>
            </a:r>
            <a:endParaRPr lang="en-US" sz="1100" dirty="0"/>
          </a:p>
        </p:txBody>
      </p:sp>
      <p:sp>
        <p:nvSpPr>
          <p:cNvPr id="39" name="Shape 37"/>
          <p:cNvSpPr/>
          <p:nvPr/>
        </p:nvSpPr>
        <p:spPr>
          <a:xfrm>
            <a:off x="548640" y="4343400"/>
            <a:ext cx="356616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0" name="Text 38"/>
          <p:cNvSpPr txBox="1"/>
          <p:nvPr/>
        </p:nvSpPr>
        <p:spPr>
          <a:xfrm>
            <a:off x="777240" y="452628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CPU-bound</a:t>
            </a:r>
            <a:endParaRPr lang="en-US" sz="1500" dirty="0"/>
          </a:p>
        </p:txBody>
      </p:sp>
      <p:sp>
        <p:nvSpPr>
          <p:cNvPr id="41" name="Text 39"/>
          <p:cNvSpPr txBox="1"/>
          <p:nvPr/>
        </p:nvSpPr>
        <p:spPr>
          <a:xfrm>
            <a:off x="777240" y="4983480"/>
            <a:ext cx="3108960" cy="114300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Few, long CPU bursts. Examples: video encoding, compiling, scientific simulation.</a:t>
            </a:r>
            <a:endParaRPr lang="en-US" sz="1400" dirty="0"/>
          </a:p>
        </p:txBody>
      </p:sp>
      <p:sp>
        <p:nvSpPr>
          <p:cNvPr id="42" name="Shape 40"/>
          <p:cNvSpPr/>
          <p:nvPr/>
        </p:nvSpPr>
        <p:spPr>
          <a:xfrm>
            <a:off x="4315968" y="4343400"/>
            <a:ext cx="356616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3" name="Text 41"/>
          <p:cNvSpPr txBox="1"/>
          <p:nvPr/>
        </p:nvSpPr>
        <p:spPr>
          <a:xfrm>
            <a:off x="4544568" y="452628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I/O-bound</a:t>
            </a:r>
            <a:endParaRPr lang="en-US" sz="1500" dirty="0"/>
          </a:p>
        </p:txBody>
      </p:sp>
      <p:sp>
        <p:nvSpPr>
          <p:cNvPr id="44" name="Text 42"/>
          <p:cNvSpPr txBox="1"/>
          <p:nvPr/>
        </p:nvSpPr>
        <p:spPr>
          <a:xfrm>
            <a:off x="4544568" y="4983480"/>
            <a:ext cx="3108960" cy="114300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Many short CPU bursts, mostly waiting. Examples: text editor, web server, file copy.</a:t>
            </a:r>
            <a:endParaRPr lang="en-US" sz="1400" dirty="0"/>
          </a:p>
        </p:txBody>
      </p:sp>
      <p:sp>
        <p:nvSpPr>
          <p:cNvPr id="45" name="Shape 43"/>
          <p:cNvSpPr/>
          <p:nvPr/>
        </p:nvSpPr>
        <p:spPr>
          <a:xfrm>
            <a:off x="8092440" y="4343400"/>
            <a:ext cx="356616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6" name="Text 44"/>
          <p:cNvSpPr txBox="1"/>
          <p:nvPr/>
        </p:nvSpPr>
        <p:spPr>
          <a:xfrm>
            <a:off x="8321040" y="452628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Measured fact</a:t>
            </a:r>
            <a:endParaRPr lang="en-US" sz="1500" dirty="0"/>
          </a:p>
        </p:txBody>
      </p:sp>
      <p:sp>
        <p:nvSpPr>
          <p:cNvPr id="47" name="Text 45"/>
          <p:cNvSpPr txBox="1"/>
          <p:nvPr/>
        </p:nvSpPr>
        <p:spPr>
          <a:xfrm>
            <a:off x="8321040" y="4983480"/>
            <a:ext cx="3108960" cy="114300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Most CPU bursts are short (a few ms); only a few are long. Schedulers are designed around this.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4: CPU-Bound vs. I/O-Bound with time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27</a:t>
            </a:r>
            <a:endParaRPr lang="en-US" sz="900" dirty="0"/>
          </a:p>
        </p:txBody>
      </p:sp>
      <p:sp>
        <p:nvSpPr>
          <p:cNvPr id="6" name="Shape 4"/>
          <p:cNvSpPr/>
          <p:nvPr/>
        </p:nvSpPr>
        <p:spPr>
          <a:xfrm>
            <a:off x="548640" y="1508760"/>
            <a:ext cx="5852160" cy="4754880"/>
          </a:xfrm>
          <a:prstGeom prst="roundRect">
            <a:avLst>
              <a:gd name="adj" fmla="val 962"/>
            </a:avLst>
          </a:prstGeom>
          <a:solidFill>
            <a:srgbClr val="212121"/>
          </a:solidFill>
          <a:ln/>
        </p:spPr>
        <p:txBody>
          <a:bodyPr/>
          <a:p/>
        </p:txBody>
      </p:sp>
      <p:sp>
        <p:nvSpPr>
          <p:cNvPr id="7" name="Text 5"/>
          <p:cNvSpPr txBox="1"/>
          <p:nvPr/>
        </p:nvSpPr>
        <p:spPr>
          <a:xfrm>
            <a:off x="731520" y="1618488"/>
            <a:ext cx="5486400" cy="4535424"/>
          </a:xfrm>
          <a:prstGeom prst="rect">
            <a:avLst/>
          </a:prstGeom>
          <a:noFill/>
          <a:ln/>
        </p:spPr>
        <p:txBody>
          <a:bodyPr wrap="square" lIns="0" tIns="0" rIns="0" bIns="0" rtlCol="0" anchor="t"/>
          <a:lstStyle/>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./burst cpu : one long CPU burst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for (long i = 1; i &lt;= 400000000L; i++)</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x += 1.0 / i;</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./burst io : 1000 x (tiny CPU burst + I/O wait)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for (int i = 0; i &lt; 1000; i++)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buf[0] = 'A' + i % 26;     /* CPU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write(fd, buf, 4096);      /* I/O...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    fsync(fd);                 /* ...wait for disk */</a:t>
            </a:r>
            <a:endParaRPr lang="en-US" sz="1300" dirty="0"/>
          </a:p>
          <a:p>
            <a:pPr indent="0" marL="0">
              <a:lnSpc>
                <a:spcPct val="105000"/>
              </a:lnSpc>
              <a:buNone/>
            </a:pPr>
            <a:r>
              <a:rPr lang="en-US" sz="1300" dirty="0">
                <a:solidFill>
                  <a:srgbClr val="F2F2F2"/>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8A9AA0"/>
                </a:solidFill>
                <a:latin typeface="Consolas" pitchFamily="34" charset="0"/>
                <a:ea typeface="Consolas" pitchFamily="34" charset="-122"/>
                <a:cs typeface="Consolas" pitchFamily="34" charset="-120"/>
              </a:rPr>
              <a:t>/* full program: code/burst.c */</a:t>
            </a:r>
            <a:endParaRPr lang="en-US" sz="1300" dirty="0"/>
          </a:p>
        </p:txBody>
      </p:sp>
      <p:sp>
        <p:nvSpPr>
          <p:cNvPr id="8" name="Shape 6"/>
          <p:cNvSpPr/>
          <p:nvPr/>
        </p:nvSpPr>
        <p:spPr>
          <a:xfrm>
            <a:off x="6675120" y="1508760"/>
            <a:ext cx="4983480" cy="2697480"/>
          </a:xfrm>
          <a:prstGeom prst="roundRect">
            <a:avLst>
              <a:gd name="adj" fmla="val 203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6903720" y="1691640"/>
            <a:ext cx="45262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real vs. user + sys</a:t>
            </a:r>
            <a:endParaRPr lang="en-US" sz="1500" dirty="0"/>
          </a:p>
        </p:txBody>
      </p:sp>
      <p:sp>
        <p:nvSpPr>
          <p:cNvPr id="10" name="Text 8"/>
          <p:cNvSpPr txBox="1"/>
          <p:nvPr/>
        </p:nvSpPr>
        <p:spPr>
          <a:xfrm>
            <a:off x="6903720" y="2148840"/>
            <a:ext cx="4526280" cy="1920240"/>
          </a:xfrm>
          <a:prstGeom prst="rect">
            <a:avLst/>
          </a:prstGeom>
          <a:noFill/>
          <a:ln/>
        </p:spPr>
        <p:txBody>
          <a:bodyPr wrap="square" lIns="0" tIns="0" rIns="0" bIns="0" rtlCol="0" anchor="t"/>
          <a:lstStyle/>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real:</a:t>
            </a:r>
            <a:r>
              <a:rPr lang="en-US" sz="1300" dirty="0">
                <a:solidFill>
                  <a:srgbClr val="3A464C"/>
                </a:solidFill>
                <a:latin typeface="Calibri" pitchFamily="34" charset="0"/>
                <a:ea typeface="Calibri" pitchFamily="34" charset="-122"/>
                <a:cs typeface="Calibri" pitchFamily="34" charset="-120"/>
              </a:rPr>
              <a:t> wall-clock time.</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user / sys:</a:t>
            </a:r>
            <a:r>
              <a:rPr lang="en-US" sz="1300" dirty="0">
                <a:solidFill>
                  <a:srgbClr val="3A464C"/>
                </a:solidFill>
                <a:latin typeface="Calibri" pitchFamily="34" charset="0"/>
                <a:ea typeface="Calibri" pitchFamily="34" charset="-122"/>
                <a:cs typeface="Calibri" pitchFamily="34" charset="-120"/>
              </a:rPr>
              <a:t> CPU time in user / kernel mode.</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CPU-bound: real ≈ user + sys.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I/O-bound: real ≫ user + sys — about 73 % of the time the process was waiting, and the CPU was free for others.</a:t>
            </a:r>
            <a:endParaRPr lang="en-US" sz="1300" dirty="0"/>
          </a:p>
        </p:txBody>
      </p:sp>
      <p:sp>
        <p:nvSpPr>
          <p:cNvPr id="11" name="Shape 9"/>
          <p:cNvSpPr/>
          <p:nvPr/>
        </p:nvSpPr>
        <p:spPr>
          <a:xfrm>
            <a:off x="6675120" y="4434840"/>
            <a:ext cx="4983480" cy="1828800"/>
          </a:xfrm>
          <a:prstGeom prst="roundRect">
            <a:avLst>
              <a:gd name="adj" fmla="val 2500"/>
            </a:avLst>
          </a:prstGeom>
          <a:solidFill>
            <a:srgbClr val="212121"/>
          </a:solidFill>
          <a:ln/>
        </p:spPr>
        <p:txBody>
          <a:bodyPr/>
          <a:p/>
        </p:txBody>
      </p:sp>
      <p:sp>
        <p:nvSpPr>
          <p:cNvPr id="12" name="Text 10"/>
          <p:cNvSpPr txBox="1"/>
          <p:nvPr/>
        </p:nvSpPr>
        <p:spPr>
          <a:xfrm>
            <a:off x="6858000" y="4544568"/>
            <a:ext cx="4617720" cy="1609344"/>
          </a:xfrm>
          <a:prstGeom prst="rect">
            <a:avLst/>
          </a:prstGeom>
          <a:noFill/>
          <a:ln/>
        </p:spPr>
        <p:txBody>
          <a:bodyPr wrap="square" lIns="0" tIns="0" rIns="0" bIns="0" rtlCol="0" anchor="t"/>
          <a:lstStyle/>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 time ./burst cpu</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real 0m1.266s  user 0m1.197s  sys 0m0.001s</a:t>
            </a:r>
            <a:endParaRPr lang="en-US" sz="1200" dirty="0"/>
          </a:p>
          <a:p>
            <a:pPr indent="0" marL="0">
              <a:lnSpc>
                <a:spcPct val="105000"/>
              </a:lnSpc>
              <a:buNone/>
            </a:pPr>
            <a:r>
              <a:rPr lang="en-US" sz="1200" dirty="0">
                <a:solidFill>
                  <a:srgbClr val="02C39A"/>
                </a:solidFill>
                <a:latin typeface="Consolas" pitchFamily="34" charset="0"/>
                <a:ea typeface="Consolas" pitchFamily="34" charset="-122"/>
                <a:cs typeface="Consolas" pitchFamily="34" charset="-120"/>
              </a:rPr>
              <a:t>$ time ./burst io</a:t>
            </a:r>
            <a:endParaRPr lang="en-US" sz="1200" dirty="0"/>
          </a:p>
          <a:p>
            <a:pPr indent="0" marL="0">
              <a:lnSpc>
                <a:spcPct val="105000"/>
              </a:lnSpc>
              <a:buNone/>
            </a:pPr>
            <a:r>
              <a:rPr lang="en-US" sz="1200" dirty="0">
                <a:solidFill>
                  <a:srgbClr val="F2F2F2"/>
                </a:solidFill>
                <a:latin typeface="Consolas" pitchFamily="34" charset="0"/>
                <a:ea typeface="Consolas" pitchFamily="34" charset="-122"/>
                <a:cs typeface="Consolas" pitchFamily="34" charset="-120"/>
              </a:rPr>
              <a:t>real 0m0.384s  user 0m0.000s  sys 0m0.104s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SCHEDULING BASICS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CPU Scheduler and the Ready Queue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Whenever the CPU becomes idle, the short-term scheduler selects one process from the ready queue.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28</a:t>
            </a:r>
            <a:endParaRPr lang="en-US" sz="900" dirty="0"/>
          </a:p>
        </p:txBody>
      </p:sp>
      <p:sp>
        <p:nvSpPr>
          <p:cNvPr id="7" name="Shape 5"/>
          <p:cNvSpPr/>
          <p:nvPr/>
        </p:nvSpPr>
        <p:spPr>
          <a:xfrm>
            <a:off x="822960" y="2743200"/>
            <a:ext cx="4206240" cy="914400"/>
          </a:xfrm>
          <a:prstGeom prst="roundRect">
            <a:avLst>
              <a:gd name="adj" fmla="val 5000"/>
            </a:avLst>
          </a:prstGeom>
          <a:solidFill>
            <a:srgbClr val="F2F2F2"/>
          </a:solidFill>
          <a:ln/>
        </p:spPr>
        <p:txBody>
          <a:bodyPr/>
          <a:p/>
        </p:txBody>
      </p:sp>
      <p:sp>
        <p:nvSpPr>
          <p:cNvPr id="8" name="Shape 6"/>
          <p:cNvSpPr/>
          <p:nvPr/>
        </p:nvSpPr>
        <p:spPr>
          <a:xfrm>
            <a:off x="960120" y="2907792"/>
            <a:ext cx="914400" cy="585216"/>
          </a:xfrm>
          <a:prstGeom prst="roundRect">
            <a:avLst>
              <a:gd name="adj" fmla="val 7813"/>
            </a:avLst>
          </a:prstGeom>
          <a:solidFill>
            <a:srgbClr val="FFFFFF"/>
          </a:solidFill>
          <a:ln/>
        </p:spPr>
        <p:txBody>
          <a:bodyPr/>
          <a:p/>
        </p:txBody>
      </p:sp>
      <p:sp>
        <p:nvSpPr>
          <p:cNvPr id="9" name="Text 7"/>
          <p:cNvSpPr txBox="1"/>
          <p:nvPr/>
        </p:nvSpPr>
        <p:spPr>
          <a:xfrm>
            <a:off x="960120" y="2907792"/>
            <a:ext cx="914400" cy="585216"/>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PCB 7</a:t>
            </a:r>
            <a:endParaRPr lang="en-US" sz="1200" dirty="0"/>
          </a:p>
        </p:txBody>
      </p:sp>
      <p:sp>
        <p:nvSpPr>
          <p:cNvPr id="10" name="Shape 8"/>
          <p:cNvSpPr/>
          <p:nvPr/>
        </p:nvSpPr>
        <p:spPr>
          <a:xfrm>
            <a:off x="1965960" y="2907792"/>
            <a:ext cx="914400" cy="585216"/>
          </a:xfrm>
          <a:prstGeom prst="roundRect">
            <a:avLst>
              <a:gd name="adj" fmla="val 7813"/>
            </a:avLst>
          </a:prstGeom>
          <a:solidFill>
            <a:srgbClr val="FFFFFF"/>
          </a:solidFill>
          <a:ln/>
        </p:spPr>
        <p:txBody>
          <a:bodyPr/>
          <a:p/>
        </p:txBody>
      </p:sp>
      <p:sp>
        <p:nvSpPr>
          <p:cNvPr id="11" name="Text 9"/>
          <p:cNvSpPr txBox="1"/>
          <p:nvPr/>
        </p:nvSpPr>
        <p:spPr>
          <a:xfrm>
            <a:off x="1965960" y="2907792"/>
            <a:ext cx="914400" cy="585216"/>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PCB 3</a:t>
            </a:r>
            <a:endParaRPr lang="en-US" sz="1200" dirty="0"/>
          </a:p>
        </p:txBody>
      </p:sp>
      <p:sp>
        <p:nvSpPr>
          <p:cNvPr id="12" name="Shape 10"/>
          <p:cNvSpPr/>
          <p:nvPr/>
        </p:nvSpPr>
        <p:spPr>
          <a:xfrm>
            <a:off x="2971800" y="2907792"/>
            <a:ext cx="914400" cy="585216"/>
          </a:xfrm>
          <a:prstGeom prst="roundRect">
            <a:avLst>
              <a:gd name="adj" fmla="val 7813"/>
            </a:avLst>
          </a:prstGeom>
          <a:solidFill>
            <a:srgbClr val="FFFFFF"/>
          </a:solidFill>
          <a:ln/>
        </p:spPr>
        <p:txBody>
          <a:bodyPr/>
          <a:p/>
        </p:txBody>
      </p:sp>
      <p:sp>
        <p:nvSpPr>
          <p:cNvPr id="13" name="Text 11"/>
          <p:cNvSpPr txBox="1"/>
          <p:nvPr/>
        </p:nvSpPr>
        <p:spPr>
          <a:xfrm>
            <a:off x="2971800" y="2907792"/>
            <a:ext cx="914400" cy="585216"/>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PCB 9</a:t>
            </a:r>
            <a:endParaRPr lang="en-US" sz="1200" dirty="0"/>
          </a:p>
        </p:txBody>
      </p:sp>
      <p:sp>
        <p:nvSpPr>
          <p:cNvPr id="14" name="Shape 12"/>
          <p:cNvSpPr/>
          <p:nvPr/>
        </p:nvSpPr>
        <p:spPr>
          <a:xfrm>
            <a:off x="3977640" y="2907792"/>
            <a:ext cx="914400" cy="585216"/>
          </a:xfrm>
          <a:prstGeom prst="roundRect">
            <a:avLst>
              <a:gd name="adj" fmla="val 7813"/>
            </a:avLst>
          </a:prstGeom>
          <a:solidFill>
            <a:srgbClr val="FFFFFF"/>
          </a:solidFill>
          <a:ln/>
        </p:spPr>
        <p:txBody>
          <a:bodyPr/>
          <a:p/>
        </p:txBody>
      </p:sp>
      <p:sp>
        <p:nvSpPr>
          <p:cNvPr id="15" name="Text 13"/>
          <p:cNvSpPr txBox="1"/>
          <p:nvPr/>
        </p:nvSpPr>
        <p:spPr>
          <a:xfrm>
            <a:off x="3977640" y="2907792"/>
            <a:ext cx="914400" cy="585216"/>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PCB 2</a:t>
            </a:r>
            <a:endParaRPr lang="en-US" sz="1200" dirty="0"/>
          </a:p>
        </p:txBody>
      </p:sp>
      <p:sp>
        <p:nvSpPr>
          <p:cNvPr id="16" name="Text 14"/>
          <p:cNvSpPr txBox="1"/>
          <p:nvPr/>
        </p:nvSpPr>
        <p:spPr>
          <a:xfrm>
            <a:off x="822960" y="2423160"/>
            <a:ext cx="2286000" cy="274320"/>
          </a:xfrm>
          <a:prstGeom prst="rect">
            <a:avLst/>
          </a:prstGeom>
          <a:noFill/>
          <a:ln/>
        </p:spPr>
        <p:txBody>
          <a:bodyPr wrap="square" lIns="0" tIns="0" rIns="0" bIns="0" rtlCol="0" anchor="t"/>
          <a:lstStyle/>
          <a:p>
            <a:pPr indent="0" marL="0">
              <a:buNone/>
            </a:pPr>
            <a:r>
              <a:rPr lang="en-US" sz="1200" b="1" dirty="0">
                <a:solidFill>
                  <a:srgbClr val="028090"/>
                </a:solidFill>
                <a:latin typeface="Calibri" pitchFamily="34" charset="0"/>
                <a:ea typeface="Calibri" pitchFamily="34" charset="-122"/>
                <a:cs typeface="Calibri" pitchFamily="34" charset="-120"/>
              </a:rPr>
              <a:t>ready queue</a:t>
            </a:r>
            <a:endParaRPr lang="en-US" sz="1200" dirty="0"/>
          </a:p>
        </p:txBody>
      </p:sp>
      <p:sp>
        <p:nvSpPr>
          <p:cNvPr id="17" name="Shape 15"/>
          <p:cNvSpPr/>
          <p:nvPr/>
        </p:nvSpPr>
        <p:spPr>
          <a:xfrm>
            <a:off x="5074920" y="3200400"/>
            <a:ext cx="640080" cy="91"/>
          </a:xfrm>
          <a:prstGeom prst="line">
            <a:avLst/>
          </a:prstGeom>
          <a:noFill/>
          <a:ln w="25400">
            <a:solidFill>
              <a:srgbClr val="028090"/>
            </a:solidFill>
            <a:prstDash val="solid"/>
            <a:tailEnd type="triangle"/>
          </a:ln>
        </p:spPr>
        <p:txBody>
          <a:bodyPr/>
          <a:p/>
        </p:txBody>
      </p:sp>
      <p:sp>
        <p:nvSpPr>
          <p:cNvPr id="18" name="Shape 16"/>
          <p:cNvSpPr/>
          <p:nvPr/>
        </p:nvSpPr>
        <p:spPr>
          <a:xfrm>
            <a:off x="5760720" y="2743200"/>
            <a:ext cx="1371600" cy="914400"/>
          </a:xfrm>
          <a:prstGeom prst="roundRect">
            <a:avLst>
              <a:gd name="adj" fmla="val 5000"/>
            </a:avLst>
          </a:prstGeom>
          <a:solidFill>
            <a:srgbClr val="02C39A"/>
          </a:solidFill>
          <a:ln/>
        </p:spPr>
        <p:txBody>
          <a:bodyPr/>
          <a:p/>
        </p:txBody>
      </p:sp>
      <p:sp>
        <p:nvSpPr>
          <p:cNvPr id="19" name="Text 17"/>
          <p:cNvSpPr txBox="1"/>
          <p:nvPr/>
        </p:nvSpPr>
        <p:spPr>
          <a:xfrm>
            <a:off x="5760720" y="2743200"/>
            <a:ext cx="1371600" cy="91440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alibri" pitchFamily="34" charset="0"/>
                <a:ea typeface="Calibri" pitchFamily="34" charset="-122"/>
                <a:cs typeface="Calibri" pitchFamily="34" charset="-120"/>
              </a:rPr>
              <a:t>CPU</a:t>
            </a:r>
            <a:endParaRPr lang="en-US" sz="1600" dirty="0"/>
          </a:p>
        </p:txBody>
      </p:sp>
      <p:sp>
        <p:nvSpPr>
          <p:cNvPr id="20" name="Text 18"/>
          <p:cNvSpPr txBox="1"/>
          <p:nvPr/>
        </p:nvSpPr>
        <p:spPr>
          <a:xfrm>
            <a:off x="4983480" y="3246120"/>
            <a:ext cx="868680" cy="274320"/>
          </a:xfrm>
          <a:prstGeom prst="rect">
            <a:avLst/>
          </a:prstGeom>
          <a:noFill/>
          <a:ln/>
        </p:spPr>
        <p:txBody>
          <a:bodyPr wrap="square" lIns="0" tIns="0" rIns="0" bIns="0" rtlCol="0" anchor="t"/>
          <a:lstStyle/>
          <a:p>
            <a:pPr algn="ctr" indent="0" marL="0">
              <a:buNone/>
            </a:pPr>
            <a:r>
              <a:rPr lang="en-US" sz="1000" i="1" dirty="0">
                <a:solidFill>
                  <a:srgbClr val="028090"/>
                </a:solidFill>
                <a:latin typeface="Calibri" pitchFamily="34" charset="0"/>
                <a:ea typeface="Calibri" pitchFamily="34" charset="-122"/>
                <a:cs typeface="Calibri" pitchFamily="34" charset="-120"/>
              </a:rPr>
              <a:t>dispatch</a:t>
            </a:r>
            <a:endParaRPr lang="en-US" sz="1000" dirty="0"/>
          </a:p>
        </p:txBody>
      </p:sp>
      <p:sp>
        <p:nvSpPr>
          <p:cNvPr id="21" name="Shape 19"/>
          <p:cNvSpPr/>
          <p:nvPr/>
        </p:nvSpPr>
        <p:spPr>
          <a:xfrm>
            <a:off x="822960" y="4754880"/>
            <a:ext cx="4206240" cy="914400"/>
          </a:xfrm>
          <a:prstGeom prst="roundRect">
            <a:avLst>
              <a:gd name="adj" fmla="val 5000"/>
            </a:avLst>
          </a:prstGeom>
          <a:solidFill>
            <a:srgbClr val="F2F2F2"/>
          </a:solidFill>
          <a:ln/>
        </p:spPr>
        <p:txBody>
          <a:bodyPr/>
          <a:p/>
        </p:txBody>
      </p:sp>
      <p:sp>
        <p:nvSpPr>
          <p:cNvPr id="22" name="Shape 20"/>
          <p:cNvSpPr/>
          <p:nvPr/>
        </p:nvSpPr>
        <p:spPr>
          <a:xfrm>
            <a:off x="960120" y="4919472"/>
            <a:ext cx="914400" cy="585216"/>
          </a:xfrm>
          <a:prstGeom prst="roundRect">
            <a:avLst>
              <a:gd name="adj" fmla="val 7813"/>
            </a:avLst>
          </a:prstGeom>
          <a:solidFill>
            <a:srgbClr val="FFFFFF"/>
          </a:solidFill>
          <a:ln/>
        </p:spPr>
        <p:txBody>
          <a:bodyPr/>
          <a:p/>
        </p:txBody>
      </p:sp>
      <p:sp>
        <p:nvSpPr>
          <p:cNvPr id="23" name="Text 21"/>
          <p:cNvSpPr txBox="1"/>
          <p:nvPr/>
        </p:nvSpPr>
        <p:spPr>
          <a:xfrm>
            <a:off x="960120" y="4919472"/>
            <a:ext cx="914400" cy="585216"/>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PCB 5</a:t>
            </a:r>
            <a:endParaRPr lang="en-US" sz="1200" dirty="0"/>
          </a:p>
        </p:txBody>
      </p:sp>
      <p:sp>
        <p:nvSpPr>
          <p:cNvPr id="24" name="Shape 22"/>
          <p:cNvSpPr/>
          <p:nvPr/>
        </p:nvSpPr>
        <p:spPr>
          <a:xfrm>
            <a:off x="1965960" y="4919472"/>
            <a:ext cx="914400" cy="585216"/>
          </a:xfrm>
          <a:prstGeom prst="roundRect">
            <a:avLst>
              <a:gd name="adj" fmla="val 7813"/>
            </a:avLst>
          </a:prstGeom>
          <a:solidFill>
            <a:srgbClr val="FFFFFF"/>
          </a:solidFill>
          <a:ln/>
        </p:spPr>
        <p:txBody>
          <a:bodyPr/>
          <a:p/>
        </p:txBody>
      </p:sp>
      <p:sp>
        <p:nvSpPr>
          <p:cNvPr id="25" name="Text 23"/>
          <p:cNvSpPr txBox="1"/>
          <p:nvPr/>
        </p:nvSpPr>
        <p:spPr>
          <a:xfrm>
            <a:off x="1965960" y="4919472"/>
            <a:ext cx="914400" cy="585216"/>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PCB 1</a:t>
            </a:r>
            <a:endParaRPr lang="en-US" sz="1200" dirty="0"/>
          </a:p>
        </p:txBody>
      </p:sp>
      <p:sp>
        <p:nvSpPr>
          <p:cNvPr id="26" name="Text 24"/>
          <p:cNvSpPr txBox="1"/>
          <p:nvPr/>
        </p:nvSpPr>
        <p:spPr>
          <a:xfrm>
            <a:off x="822960" y="5715000"/>
            <a:ext cx="2286000" cy="274320"/>
          </a:xfrm>
          <a:prstGeom prst="rect">
            <a:avLst/>
          </a:prstGeom>
          <a:noFill/>
          <a:ln/>
        </p:spPr>
        <p:txBody>
          <a:bodyPr wrap="square" lIns="0" tIns="0" rIns="0" bIns="0" rtlCol="0" anchor="t"/>
          <a:lstStyle/>
          <a:p>
            <a:pPr indent="0" marL="0">
              <a:buNone/>
            </a:pPr>
            <a:r>
              <a:rPr lang="en-US" sz="1200" b="1" dirty="0">
                <a:solidFill>
                  <a:srgbClr val="50808E"/>
                </a:solidFill>
                <a:latin typeface="Calibri" pitchFamily="34" charset="0"/>
                <a:ea typeface="Calibri" pitchFamily="34" charset="-122"/>
                <a:cs typeface="Calibri" pitchFamily="34" charset="-120"/>
              </a:rPr>
              <a:t>I/O wait queue</a:t>
            </a:r>
            <a:endParaRPr lang="en-US" sz="1200" dirty="0"/>
          </a:p>
        </p:txBody>
      </p:sp>
      <p:sp>
        <p:nvSpPr>
          <p:cNvPr id="27" name="Shape 25"/>
          <p:cNvSpPr/>
          <p:nvPr/>
        </p:nvSpPr>
        <p:spPr>
          <a:xfrm>
            <a:off x="6446520" y="3703320"/>
            <a:ext cx="91" cy="1508760"/>
          </a:xfrm>
          <a:prstGeom prst="line">
            <a:avLst/>
          </a:prstGeom>
          <a:noFill/>
          <a:ln w="19050">
            <a:solidFill>
              <a:srgbClr val="50808E"/>
            </a:solidFill>
            <a:prstDash val="solid"/>
            <a:tailEnd type="triangle"/>
          </a:ln>
        </p:spPr>
        <p:txBody>
          <a:bodyPr/>
          <a:p/>
        </p:txBody>
      </p:sp>
      <p:sp>
        <p:nvSpPr>
          <p:cNvPr id="28" name="Shape 26"/>
          <p:cNvSpPr/>
          <p:nvPr/>
        </p:nvSpPr>
        <p:spPr>
          <a:xfrm flipH="1">
            <a:off x="5074920" y="5212080"/>
            <a:ext cx="1325880" cy="91"/>
          </a:xfrm>
          <a:prstGeom prst="line">
            <a:avLst/>
          </a:prstGeom>
          <a:noFill/>
          <a:ln w="19050">
            <a:solidFill>
              <a:srgbClr val="50808E"/>
            </a:solidFill>
            <a:prstDash val="solid"/>
            <a:tailEnd type="triangle"/>
          </a:ln>
        </p:spPr>
        <p:txBody>
          <a:bodyPr/>
          <a:p/>
        </p:txBody>
      </p:sp>
      <p:sp>
        <p:nvSpPr>
          <p:cNvPr id="29" name="Text 27"/>
          <p:cNvSpPr txBox="1"/>
          <p:nvPr/>
        </p:nvSpPr>
        <p:spPr>
          <a:xfrm>
            <a:off x="5120640" y="4846320"/>
            <a:ext cx="1280160" cy="274320"/>
          </a:xfrm>
          <a:prstGeom prst="rect">
            <a:avLst/>
          </a:prstGeom>
          <a:noFill/>
          <a:ln/>
        </p:spPr>
        <p:txBody>
          <a:bodyPr wrap="square" lIns="0" tIns="0" rIns="0" bIns="0" rtlCol="0" anchor="t"/>
          <a:lstStyle/>
          <a:p>
            <a:pPr algn="ctr" indent="0" marL="0">
              <a:buNone/>
            </a:pPr>
            <a:r>
              <a:rPr lang="en-US" sz="1100" i="1" dirty="0">
                <a:solidFill>
                  <a:srgbClr val="50808E"/>
                </a:solidFill>
                <a:latin typeface="Calibri" pitchFamily="34" charset="0"/>
                <a:ea typeface="Calibri" pitchFamily="34" charset="-122"/>
                <a:cs typeface="Calibri" pitchFamily="34" charset="-120"/>
              </a:rPr>
              <a:t>I/O request</a:t>
            </a:r>
            <a:endParaRPr lang="en-US" sz="1100" dirty="0"/>
          </a:p>
        </p:txBody>
      </p:sp>
      <p:sp>
        <p:nvSpPr>
          <p:cNvPr id="30" name="Shape 28"/>
          <p:cNvSpPr/>
          <p:nvPr/>
        </p:nvSpPr>
        <p:spPr>
          <a:xfrm>
            <a:off x="594360" y="5212080"/>
            <a:ext cx="228600" cy="91"/>
          </a:xfrm>
          <a:prstGeom prst="line">
            <a:avLst/>
          </a:prstGeom>
          <a:noFill/>
          <a:ln w="19050">
            <a:solidFill>
              <a:srgbClr val="50808E"/>
            </a:solidFill>
            <a:prstDash val="solid"/>
          </a:ln>
        </p:spPr>
        <p:txBody>
          <a:bodyPr/>
          <a:p/>
        </p:txBody>
      </p:sp>
      <p:sp>
        <p:nvSpPr>
          <p:cNvPr id="31" name="Shape 29"/>
          <p:cNvSpPr/>
          <p:nvPr/>
        </p:nvSpPr>
        <p:spPr>
          <a:xfrm>
            <a:off x="594360" y="3200400"/>
            <a:ext cx="91" cy="2011680"/>
          </a:xfrm>
          <a:prstGeom prst="line">
            <a:avLst/>
          </a:prstGeom>
          <a:noFill/>
          <a:ln w="19050">
            <a:solidFill>
              <a:srgbClr val="50808E"/>
            </a:solidFill>
            <a:prstDash val="solid"/>
          </a:ln>
        </p:spPr>
        <p:txBody>
          <a:bodyPr/>
          <a:p/>
        </p:txBody>
      </p:sp>
      <p:sp>
        <p:nvSpPr>
          <p:cNvPr id="32" name="Shape 30"/>
          <p:cNvSpPr/>
          <p:nvPr/>
        </p:nvSpPr>
        <p:spPr>
          <a:xfrm>
            <a:off x="594360" y="3200400"/>
            <a:ext cx="210312" cy="91"/>
          </a:xfrm>
          <a:prstGeom prst="line">
            <a:avLst/>
          </a:prstGeom>
          <a:noFill/>
          <a:ln w="19050">
            <a:solidFill>
              <a:srgbClr val="50808E"/>
            </a:solidFill>
            <a:prstDash val="solid"/>
            <a:tailEnd type="triangle"/>
          </a:ln>
        </p:spPr>
        <p:txBody>
          <a:bodyPr/>
          <a:p/>
        </p:txBody>
      </p:sp>
      <p:sp>
        <p:nvSpPr>
          <p:cNvPr id="33" name="Text 31"/>
          <p:cNvSpPr txBox="1"/>
          <p:nvPr/>
        </p:nvSpPr>
        <p:spPr>
          <a:xfrm>
            <a:off x="868680" y="4069080"/>
            <a:ext cx="1097280" cy="274320"/>
          </a:xfrm>
          <a:prstGeom prst="rect">
            <a:avLst/>
          </a:prstGeom>
          <a:noFill/>
          <a:ln/>
        </p:spPr>
        <p:txBody>
          <a:bodyPr wrap="square" lIns="0" tIns="0" rIns="0" bIns="0" rtlCol="0" anchor="t"/>
          <a:lstStyle/>
          <a:p>
            <a:pPr indent="0" marL="0">
              <a:buNone/>
            </a:pPr>
            <a:r>
              <a:rPr lang="en-US" sz="1100" i="1" dirty="0">
                <a:solidFill>
                  <a:srgbClr val="50808E"/>
                </a:solidFill>
                <a:latin typeface="Calibri" pitchFamily="34" charset="0"/>
                <a:ea typeface="Calibri" pitchFamily="34" charset="-122"/>
                <a:cs typeface="Calibri" pitchFamily="34" charset="-120"/>
              </a:rPr>
              <a:t>I/O done</a:t>
            </a:r>
            <a:endParaRPr lang="en-US" sz="1100" dirty="0"/>
          </a:p>
        </p:txBody>
      </p:sp>
      <p:sp>
        <p:nvSpPr>
          <p:cNvPr id="34" name="Shape 32"/>
          <p:cNvSpPr/>
          <p:nvPr/>
        </p:nvSpPr>
        <p:spPr>
          <a:xfrm flipV="1">
            <a:off x="7132320" y="2286000"/>
            <a:ext cx="91" cy="685800"/>
          </a:xfrm>
          <a:prstGeom prst="line">
            <a:avLst/>
          </a:prstGeom>
          <a:noFill/>
          <a:ln w="19050">
            <a:solidFill>
              <a:srgbClr val="50808E"/>
            </a:solidFill>
            <a:prstDash val="solid"/>
            <a:tailEnd type="triangle"/>
          </a:ln>
        </p:spPr>
        <p:txBody>
          <a:bodyPr/>
          <a:p/>
        </p:txBody>
      </p:sp>
      <p:sp>
        <p:nvSpPr>
          <p:cNvPr id="35" name="Shape 33"/>
          <p:cNvSpPr/>
          <p:nvPr/>
        </p:nvSpPr>
        <p:spPr>
          <a:xfrm flipH="1">
            <a:off x="2926080" y="2286000"/>
            <a:ext cx="4206240" cy="91"/>
          </a:xfrm>
          <a:prstGeom prst="line">
            <a:avLst/>
          </a:prstGeom>
          <a:noFill/>
          <a:ln w="19050">
            <a:solidFill>
              <a:srgbClr val="50808E"/>
            </a:solidFill>
            <a:prstDash val="solid"/>
          </a:ln>
        </p:spPr>
        <p:txBody>
          <a:bodyPr/>
          <a:p/>
        </p:txBody>
      </p:sp>
      <p:sp>
        <p:nvSpPr>
          <p:cNvPr id="36" name="Shape 34"/>
          <p:cNvSpPr/>
          <p:nvPr/>
        </p:nvSpPr>
        <p:spPr>
          <a:xfrm>
            <a:off x="2926080" y="2286000"/>
            <a:ext cx="91" cy="128016"/>
          </a:xfrm>
          <a:prstGeom prst="line">
            <a:avLst/>
          </a:prstGeom>
          <a:noFill/>
          <a:ln w="19050">
            <a:solidFill>
              <a:srgbClr val="50808E"/>
            </a:solidFill>
            <a:prstDash val="solid"/>
            <a:tailEnd type="triangle"/>
          </a:ln>
        </p:spPr>
        <p:txBody>
          <a:bodyPr/>
          <a:p/>
        </p:txBody>
      </p:sp>
      <p:sp>
        <p:nvSpPr>
          <p:cNvPr id="37" name="Text 35"/>
          <p:cNvSpPr txBox="1"/>
          <p:nvPr/>
        </p:nvSpPr>
        <p:spPr>
          <a:xfrm>
            <a:off x="4663440" y="1993392"/>
            <a:ext cx="2377440" cy="274320"/>
          </a:xfrm>
          <a:prstGeom prst="rect">
            <a:avLst/>
          </a:prstGeom>
          <a:noFill/>
          <a:ln/>
        </p:spPr>
        <p:txBody>
          <a:bodyPr wrap="square" lIns="0" tIns="0" rIns="0" bIns="0" rtlCol="0" anchor="t"/>
          <a:lstStyle/>
          <a:p>
            <a:pPr algn="r" indent="0" marL="0">
              <a:buNone/>
            </a:pPr>
            <a:r>
              <a:rPr lang="en-US" sz="1100" i="1" dirty="0">
                <a:solidFill>
                  <a:srgbClr val="50808E"/>
                </a:solidFill>
                <a:latin typeface="Calibri" pitchFamily="34" charset="0"/>
                <a:ea typeface="Calibri" pitchFamily="34" charset="-122"/>
                <a:cs typeface="Calibri" pitchFamily="34" charset="-120"/>
              </a:rPr>
              <a:t>time slice expired</a:t>
            </a:r>
            <a:endParaRPr lang="en-US" sz="1100" dirty="0"/>
          </a:p>
        </p:txBody>
      </p:sp>
      <p:sp>
        <p:nvSpPr>
          <p:cNvPr id="38" name="Shape 36"/>
          <p:cNvSpPr/>
          <p:nvPr/>
        </p:nvSpPr>
        <p:spPr>
          <a:xfrm>
            <a:off x="7498080" y="2148840"/>
            <a:ext cx="4160520" cy="411480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9" name="Text 37"/>
          <p:cNvSpPr txBox="1"/>
          <p:nvPr/>
        </p:nvSpPr>
        <p:spPr>
          <a:xfrm>
            <a:off x="7726680" y="2331720"/>
            <a:ext cx="37033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Key points</a:t>
            </a:r>
            <a:endParaRPr lang="en-US" sz="1500" dirty="0"/>
          </a:p>
        </p:txBody>
      </p:sp>
      <p:sp>
        <p:nvSpPr>
          <p:cNvPr id="40" name="Text 38"/>
          <p:cNvSpPr txBox="1"/>
          <p:nvPr/>
        </p:nvSpPr>
        <p:spPr>
          <a:xfrm>
            <a:off x="7726680" y="2788920"/>
            <a:ext cx="3703320" cy="333756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ready queue holds the PCBs of processes that could run right now.</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It is not necessarily FIFO: it may be a priority queue, a tree, or a list. Choosing the order is the scheduling algorithm (Week 5).</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short-term scheduler runs very often (every few ms), so it must be fast.</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SCHEDULING BASICS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When Does the Scheduler Have to Decide?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Four situations in the process-state diagram can trigger a scheduling decision.</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29</a:t>
            </a:r>
            <a:endParaRPr lang="en-US" sz="900" dirty="0"/>
          </a:p>
        </p:txBody>
      </p:sp>
      <p:sp>
        <p:nvSpPr>
          <p:cNvPr id="7" name="Shape 5"/>
          <p:cNvSpPr/>
          <p:nvPr/>
        </p:nvSpPr>
        <p:spPr>
          <a:xfrm>
            <a:off x="548640" y="2240280"/>
            <a:ext cx="1600200" cy="685800"/>
          </a:xfrm>
          <a:prstGeom prst="roundRect">
            <a:avLst>
              <a:gd name="adj" fmla="val 6667"/>
            </a:avLst>
          </a:prstGeom>
          <a:solidFill>
            <a:srgbClr val="F2F2F2"/>
          </a:solidFill>
          <a:ln/>
        </p:spPr>
        <p:txBody>
          <a:bodyPr/>
          <a:p/>
        </p:txBody>
      </p:sp>
      <p:sp>
        <p:nvSpPr>
          <p:cNvPr id="8" name="Text 6"/>
          <p:cNvSpPr txBox="1"/>
          <p:nvPr/>
        </p:nvSpPr>
        <p:spPr>
          <a:xfrm>
            <a:off x="548640" y="2240280"/>
            <a:ext cx="1600200" cy="68580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new</a:t>
            </a:r>
            <a:endParaRPr lang="en-US" sz="1400" dirty="0"/>
          </a:p>
        </p:txBody>
      </p:sp>
      <p:sp>
        <p:nvSpPr>
          <p:cNvPr id="9" name="Shape 7"/>
          <p:cNvSpPr/>
          <p:nvPr/>
        </p:nvSpPr>
        <p:spPr>
          <a:xfrm>
            <a:off x="1737360" y="3703320"/>
            <a:ext cx="1600200" cy="685800"/>
          </a:xfrm>
          <a:prstGeom prst="roundRect">
            <a:avLst>
              <a:gd name="adj" fmla="val 6667"/>
            </a:avLst>
          </a:prstGeom>
          <a:solidFill>
            <a:srgbClr val="F2F2F2"/>
          </a:solidFill>
          <a:ln/>
        </p:spPr>
        <p:txBody>
          <a:bodyPr/>
          <a:p/>
        </p:txBody>
      </p:sp>
      <p:sp>
        <p:nvSpPr>
          <p:cNvPr id="10" name="Text 8"/>
          <p:cNvSpPr txBox="1"/>
          <p:nvPr/>
        </p:nvSpPr>
        <p:spPr>
          <a:xfrm>
            <a:off x="1737360" y="3703320"/>
            <a:ext cx="1600200" cy="68580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ready</a:t>
            </a:r>
            <a:endParaRPr lang="en-US" sz="1400" dirty="0"/>
          </a:p>
        </p:txBody>
      </p:sp>
      <p:sp>
        <p:nvSpPr>
          <p:cNvPr id="11" name="Shape 9"/>
          <p:cNvSpPr/>
          <p:nvPr/>
        </p:nvSpPr>
        <p:spPr>
          <a:xfrm>
            <a:off x="4434840" y="3703320"/>
            <a:ext cx="1600200" cy="685800"/>
          </a:xfrm>
          <a:prstGeom prst="roundRect">
            <a:avLst>
              <a:gd name="adj" fmla="val 6667"/>
            </a:avLst>
          </a:prstGeom>
          <a:solidFill>
            <a:srgbClr val="02C39A"/>
          </a:solidFill>
          <a:ln/>
        </p:spPr>
        <p:txBody>
          <a:bodyPr/>
          <a:p/>
        </p:txBody>
      </p:sp>
      <p:sp>
        <p:nvSpPr>
          <p:cNvPr id="12" name="Text 10"/>
          <p:cNvSpPr txBox="1"/>
          <p:nvPr/>
        </p:nvSpPr>
        <p:spPr>
          <a:xfrm>
            <a:off x="4434840" y="3703320"/>
            <a:ext cx="1600200" cy="6858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running</a:t>
            </a:r>
            <a:endParaRPr lang="en-US" sz="1400" dirty="0"/>
          </a:p>
        </p:txBody>
      </p:sp>
      <p:sp>
        <p:nvSpPr>
          <p:cNvPr id="13" name="Shape 11"/>
          <p:cNvSpPr/>
          <p:nvPr/>
        </p:nvSpPr>
        <p:spPr>
          <a:xfrm>
            <a:off x="3108960" y="5257800"/>
            <a:ext cx="1600200" cy="685800"/>
          </a:xfrm>
          <a:prstGeom prst="roundRect">
            <a:avLst>
              <a:gd name="adj" fmla="val 6667"/>
            </a:avLst>
          </a:prstGeom>
          <a:solidFill>
            <a:srgbClr val="F2F2F2"/>
          </a:solidFill>
          <a:ln/>
        </p:spPr>
        <p:txBody>
          <a:bodyPr/>
          <a:p/>
        </p:txBody>
      </p:sp>
      <p:sp>
        <p:nvSpPr>
          <p:cNvPr id="14" name="Text 12"/>
          <p:cNvSpPr txBox="1"/>
          <p:nvPr/>
        </p:nvSpPr>
        <p:spPr>
          <a:xfrm>
            <a:off x="3108960" y="5257800"/>
            <a:ext cx="1600200" cy="68580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waiting</a:t>
            </a:r>
            <a:endParaRPr lang="en-US" sz="1400" dirty="0"/>
          </a:p>
        </p:txBody>
      </p:sp>
      <p:sp>
        <p:nvSpPr>
          <p:cNvPr id="15" name="Shape 13"/>
          <p:cNvSpPr/>
          <p:nvPr/>
        </p:nvSpPr>
        <p:spPr>
          <a:xfrm>
            <a:off x="4434840" y="2240280"/>
            <a:ext cx="1600200" cy="685800"/>
          </a:xfrm>
          <a:prstGeom prst="roundRect">
            <a:avLst>
              <a:gd name="adj" fmla="val 6667"/>
            </a:avLst>
          </a:prstGeom>
          <a:solidFill>
            <a:srgbClr val="F2F2F2"/>
          </a:solidFill>
          <a:ln/>
        </p:spPr>
        <p:txBody>
          <a:bodyPr/>
          <a:p/>
        </p:txBody>
      </p:sp>
      <p:sp>
        <p:nvSpPr>
          <p:cNvPr id="16" name="Text 14"/>
          <p:cNvSpPr txBox="1"/>
          <p:nvPr/>
        </p:nvSpPr>
        <p:spPr>
          <a:xfrm>
            <a:off x="4434840" y="2240280"/>
            <a:ext cx="1600200" cy="68580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terminated</a:t>
            </a:r>
            <a:endParaRPr lang="en-US" sz="1400" dirty="0"/>
          </a:p>
        </p:txBody>
      </p:sp>
      <p:sp>
        <p:nvSpPr>
          <p:cNvPr id="17" name="Shape 15"/>
          <p:cNvSpPr/>
          <p:nvPr/>
        </p:nvSpPr>
        <p:spPr>
          <a:xfrm>
            <a:off x="1371600" y="2953512"/>
            <a:ext cx="640080" cy="722376"/>
          </a:xfrm>
          <a:prstGeom prst="line">
            <a:avLst/>
          </a:prstGeom>
          <a:noFill/>
          <a:ln w="19050">
            <a:solidFill>
              <a:srgbClr val="50808E"/>
            </a:solidFill>
            <a:prstDash val="solid"/>
            <a:tailEnd type="triangle"/>
          </a:ln>
        </p:spPr>
        <p:txBody>
          <a:bodyPr/>
          <a:p/>
        </p:txBody>
      </p:sp>
      <p:sp>
        <p:nvSpPr>
          <p:cNvPr id="18" name="Shape 16"/>
          <p:cNvSpPr/>
          <p:nvPr/>
        </p:nvSpPr>
        <p:spPr>
          <a:xfrm>
            <a:off x="3364992" y="3886200"/>
            <a:ext cx="1042416" cy="91"/>
          </a:xfrm>
          <a:prstGeom prst="line">
            <a:avLst/>
          </a:prstGeom>
          <a:noFill/>
          <a:ln w="19050">
            <a:solidFill>
              <a:srgbClr val="50808E"/>
            </a:solidFill>
            <a:prstDash val="solid"/>
            <a:tailEnd type="triangle"/>
          </a:ln>
        </p:spPr>
        <p:txBody>
          <a:bodyPr/>
          <a:p/>
        </p:txBody>
      </p:sp>
      <p:sp>
        <p:nvSpPr>
          <p:cNvPr id="19" name="Text 17"/>
          <p:cNvSpPr txBox="1"/>
          <p:nvPr/>
        </p:nvSpPr>
        <p:spPr>
          <a:xfrm>
            <a:off x="3337560" y="3566160"/>
            <a:ext cx="1097280" cy="274320"/>
          </a:xfrm>
          <a:prstGeom prst="rect">
            <a:avLst/>
          </a:prstGeom>
          <a:noFill/>
          <a:ln/>
        </p:spPr>
        <p:txBody>
          <a:bodyPr wrap="square" lIns="0" tIns="0" rIns="0" bIns="0" rtlCol="0" anchor="t"/>
          <a:lstStyle/>
          <a:p>
            <a:pPr algn="ctr" indent="0" marL="0">
              <a:buNone/>
            </a:pPr>
            <a:r>
              <a:rPr lang="en-US" sz="1000" i="1" dirty="0">
                <a:solidFill>
                  <a:srgbClr val="50808E"/>
                </a:solidFill>
                <a:latin typeface="Calibri" pitchFamily="34" charset="0"/>
                <a:ea typeface="Calibri" pitchFamily="34" charset="-122"/>
                <a:cs typeface="Calibri" pitchFamily="34" charset="-120"/>
              </a:rPr>
              <a:t>dispatch</a:t>
            </a:r>
            <a:endParaRPr lang="en-US" sz="1000" dirty="0"/>
          </a:p>
        </p:txBody>
      </p:sp>
      <p:sp>
        <p:nvSpPr>
          <p:cNvPr id="20" name="Shape 18"/>
          <p:cNvSpPr/>
          <p:nvPr/>
        </p:nvSpPr>
        <p:spPr>
          <a:xfrm flipH="1">
            <a:off x="3364992" y="4206240"/>
            <a:ext cx="1042416" cy="91"/>
          </a:xfrm>
          <a:prstGeom prst="line">
            <a:avLst/>
          </a:prstGeom>
          <a:noFill/>
          <a:ln w="25400">
            <a:solidFill>
              <a:srgbClr val="B5453A"/>
            </a:solidFill>
            <a:prstDash val="solid"/>
            <a:tailEnd type="triangle"/>
          </a:ln>
        </p:spPr>
        <p:txBody>
          <a:bodyPr/>
          <a:p/>
        </p:txBody>
      </p:sp>
      <p:sp>
        <p:nvSpPr>
          <p:cNvPr id="21" name="Shape 19"/>
          <p:cNvSpPr/>
          <p:nvPr/>
        </p:nvSpPr>
        <p:spPr>
          <a:xfrm>
            <a:off x="3703320" y="4343400"/>
            <a:ext cx="384048" cy="384048"/>
          </a:xfrm>
          <a:prstGeom prst="ellipse">
            <a:avLst/>
          </a:prstGeom>
          <a:solidFill>
            <a:srgbClr val="B5453A"/>
          </a:solidFill>
          <a:ln/>
        </p:spPr>
        <p:txBody>
          <a:bodyPr/>
          <a:p/>
        </p:txBody>
      </p:sp>
      <p:sp>
        <p:nvSpPr>
          <p:cNvPr id="22" name="Text 20"/>
          <p:cNvSpPr txBox="1"/>
          <p:nvPr/>
        </p:nvSpPr>
        <p:spPr>
          <a:xfrm>
            <a:off x="3703320" y="4343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Shape 21"/>
          <p:cNvSpPr/>
          <p:nvPr/>
        </p:nvSpPr>
        <p:spPr>
          <a:xfrm flipH="1">
            <a:off x="4389120" y="4416552"/>
            <a:ext cx="457200" cy="813816"/>
          </a:xfrm>
          <a:prstGeom prst="line">
            <a:avLst/>
          </a:prstGeom>
          <a:noFill/>
          <a:ln w="25400">
            <a:solidFill>
              <a:srgbClr val="B5453A"/>
            </a:solidFill>
            <a:prstDash val="solid"/>
            <a:tailEnd type="triangle"/>
          </a:ln>
        </p:spPr>
        <p:txBody>
          <a:bodyPr/>
          <a:p/>
        </p:txBody>
      </p:sp>
      <p:sp>
        <p:nvSpPr>
          <p:cNvPr id="24" name="Shape 22"/>
          <p:cNvSpPr/>
          <p:nvPr/>
        </p:nvSpPr>
        <p:spPr>
          <a:xfrm>
            <a:off x="4892040" y="4754880"/>
            <a:ext cx="384048" cy="384048"/>
          </a:xfrm>
          <a:prstGeom prst="ellipse">
            <a:avLst/>
          </a:prstGeom>
          <a:solidFill>
            <a:srgbClr val="B5453A"/>
          </a:solidFill>
          <a:ln/>
        </p:spPr>
        <p:txBody>
          <a:bodyPr/>
          <a:p/>
        </p:txBody>
      </p:sp>
      <p:sp>
        <p:nvSpPr>
          <p:cNvPr id="25" name="Text 23"/>
          <p:cNvSpPr txBox="1"/>
          <p:nvPr/>
        </p:nvSpPr>
        <p:spPr>
          <a:xfrm>
            <a:off x="4892040" y="4754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6" name="Shape 24"/>
          <p:cNvSpPr/>
          <p:nvPr/>
        </p:nvSpPr>
        <p:spPr>
          <a:xfrm flipH="1" flipV="1">
            <a:off x="2743200" y="4416552"/>
            <a:ext cx="548640" cy="813816"/>
          </a:xfrm>
          <a:prstGeom prst="line">
            <a:avLst/>
          </a:prstGeom>
          <a:noFill/>
          <a:ln w="25400">
            <a:solidFill>
              <a:srgbClr val="B5453A"/>
            </a:solidFill>
            <a:prstDash val="solid"/>
            <a:tailEnd type="triangle"/>
          </a:ln>
        </p:spPr>
        <p:txBody>
          <a:bodyPr/>
          <a:p/>
        </p:txBody>
      </p:sp>
      <p:sp>
        <p:nvSpPr>
          <p:cNvPr id="27" name="Shape 25"/>
          <p:cNvSpPr/>
          <p:nvPr/>
        </p:nvSpPr>
        <p:spPr>
          <a:xfrm>
            <a:off x="2423160" y="4754880"/>
            <a:ext cx="384048" cy="384048"/>
          </a:xfrm>
          <a:prstGeom prst="ellipse">
            <a:avLst/>
          </a:prstGeom>
          <a:solidFill>
            <a:srgbClr val="B5453A"/>
          </a:solidFill>
          <a:ln/>
        </p:spPr>
        <p:txBody>
          <a:bodyPr/>
          <a:p/>
        </p:txBody>
      </p:sp>
      <p:sp>
        <p:nvSpPr>
          <p:cNvPr id="28" name="Text 26"/>
          <p:cNvSpPr txBox="1"/>
          <p:nvPr/>
        </p:nvSpPr>
        <p:spPr>
          <a:xfrm>
            <a:off x="2423160" y="4754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9" name="Shape 27"/>
          <p:cNvSpPr/>
          <p:nvPr/>
        </p:nvSpPr>
        <p:spPr>
          <a:xfrm flipV="1">
            <a:off x="5230368" y="2953512"/>
            <a:ext cx="91" cy="722376"/>
          </a:xfrm>
          <a:prstGeom prst="line">
            <a:avLst/>
          </a:prstGeom>
          <a:noFill/>
          <a:ln w="25400">
            <a:solidFill>
              <a:srgbClr val="B5453A"/>
            </a:solidFill>
            <a:prstDash val="solid"/>
            <a:tailEnd type="triangle"/>
          </a:ln>
        </p:spPr>
        <p:txBody>
          <a:bodyPr/>
          <a:p/>
        </p:txBody>
      </p:sp>
      <p:sp>
        <p:nvSpPr>
          <p:cNvPr id="30" name="Shape 28"/>
          <p:cNvSpPr/>
          <p:nvPr/>
        </p:nvSpPr>
        <p:spPr>
          <a:xfrm>
            <a:off x="5394960" y="3108960"/>
            <a:ext cx="384048" cy="384048"/>
          </a:xfrm>
          <a:prstGeom prst="ellipse">
            <a:avLst/>
          </a:prstGeom>
          <a:solidFill>
            <a:srgbClr val="B5453A"/>
          </a:solidFill>
          <a:ln/>
        </p:spPr>
        <p:txBody>
          <a:bodyPr/>
          <a:p/>
        </p:txBody>
      </p:sp>
      <p:sp>
        <p:nvSpPr>
          <p:cNvPr id="31" name="Text 29"/>
          <p:cNvSpPr txBox="1"/>
          <p:nvPr/>
        </p:nvSpPr>
        <p:spPr>
          <a:xfrm>
            <a:off x="5394960"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Shape 30"/>
          <p:cNvSpPr/>
          <p:nvPr/>
        </p:nvSpPr>
        <p:spPr>
          <a:xfrm>
            <a:off x="6583680" y="2148840"/>
            <a:ext cx="5074920" cy="411480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3" name="Text 31"/>
          <p:cNvSpPr txBox="1"/>
          <p:nvPr/>
        </p:nvSpPr>
        <p:spPr>
          <a:xfrm>
            <a:off x="6812280" y="2331720"/>
            <a:ext cx="4617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four situations</a:t>
            </a:r>
            <a:endParaRPr lang="en-US" sz="1500" dirty="0"/>
          </a:p>
        </p:txBody>
      </p:sp>
      <p:sp>
        <p:nvSpPr>
          <p:cNvPr id="34" name="Text 32"/>
          <p:cNvSpPr txBox="1"/>
          <p:nvPr/>
        </p:nvSpPr>
        <p:spPr>
          <a:xfrm>
            <a:off x="6812280" y="2788920"/>
            <a:ext cx="4617720" cy="333756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1. running → waiting:</a:t>
            </a:r>
            <a:r>
              <a:rPr lang="en-US" sz="1400" dirty="0">
                <a:solidFill>
                  <a:srgbClr val="3A464C"/>
                </a:solidFill>
                <a:latin typeface="Calibri" pitchFamily="34" charset="0"/>
                <a:ea typeface="Calibri" pitchFamily="34" charset="-122"/>
                <a:cs typeface="Calibri" pitchFamily="34" charset="-120"/>
              </a:rPr>
              <a:t> I/O request, or wait() for a child.</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2. running → ready:</a:t>
            </a:r>
            <a:r>
              <a:rPr lang="en-US" sz="1400" dirty="0">
                <a:solidFill>
                  <a:srgbClr val="3A464C"/>
                </a:solidFill>
                <a:latin typeface="Calibri" pitchFamily="34" charset="0"/>
                <a:ea typeface="Calibri" pitchFamily="34" charset="-122"/>
                <a:cs typeface="Calibri" pitchFamily="34" charset="-120"/>
              </a:rPr>
              <a:t> an interrupt, e.g. the timer says the time slice is over.</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3. waiting → ready:</a:t>
            </a:r>
            <a:r>
              <a:rPr lang="en-US" sz="1400" dirty="0">
                <a:solidFill>
                  <a:srgbClr val="3A464C"/>
                </a:solidFill>
                <a:latin typeface="Calibri" pitchFamily="34" charset="0"/>
                <a:ea typeface="Calibri" pitchFamily="34" charset="-122"/>
                <a:cs typeface="Calibri" pitchFamily="34" charset="-120"/>
              </a:rPr>
              <a:t> the I/O has completed.</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4. running → terminated:</a:t>
            </a:r>
            <a:r>
              <a:rPr lang="en-US" sz="1400" dirty="0">
                <a:solidFill>
                  <a:srgbClr val="3A464C"/>
                </a:solidFill>
                <a:latin typeface="Calibri" pitchFamily="34" charset="0"/>
                <a:ea typeface="Calibri" pitchFamily="34" charset="-122"/>
                <a:cs typeface="Calibri" pitchFamily="34" charset="-120"/>
              </a:rPr>
              <a:t> the process exits.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In 1 and 4 the CPU is free: a new process MUST be chosen. In 2 and 3 the OS MAY choose to switch.</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SCHEDULING BASICS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Non-Preemptive vs. Preemptive Scheduling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30</a:t>
            </a:r>
            <a:endParaRPr lang="en-US"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Non-preemptive (cooperative)</a:t>
            </a:r>
            <a:endParaRPr lang="en-US" sz="15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Scheduling only in situations 1 and 4.</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Once a process has the CPU, it keeps it until it blocks or terminates.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Simple, but one long process can make everyone else wait.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Windows 3.x, classic Mac OS (before OS X).</a:t>
            </a:r>
            <a:endParaRPr lang="en-US" sz="140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Preemptive</a:t>
            </a:r>
            <a:endParaRPr lang="en-US" sz="15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Scheduling also in situations 2 and 3.</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OS can take the CPU away (using the timer interrupt).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Better responsiveness; a runaway program cannot freeze the system.</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All modern OSes: Windows, macOS, Linux, Android, iOS.</a:t>
            </a:r>
            <a:endParaRPr lang="en-US" sz="140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Price of preemption: a thread can be interrupted in the middle of updating shared data → race conditions. This is the second half of Week 5.</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SCHEDULING BASICS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Dispatcher and Dispatch Latency</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The scheduler decides WHO runs next; the dispatcher actually gives that process the CPU.</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31</a:t>
            </a:r>
            <a:endParaRPr lang="en-US" sz="900" dirty="0"/>
          </a:p>
        </p:txBody>
      </p:sp>
      <p:sp>
        <p:nvSpPr>
          <p:cNvPr id="7" name="Shape 5"/>
          <p:cNvSpPr/>
          <p:nvPr/>
        </p:nvSpPr>
        <p:spPr>
          <a:xfrm>
            <a:off x="548640" y="2148840"/>
            <a:ext cx="4937760" cy="2697480"/>
          </a:xfrm>
          <a:prstGeom prst="roundRect">
            <a:avLst>
              <a:gd name="adj" fmla="val 203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331720"/>
            <a:ext cx="44805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dispatcher's three jobs</a:t>
            </a:r>
            <a:endParaRPr lang="en-US" sz="1500" dirty="0"/>
          </a:p>
        </p:txBody>
      </p:sp>
      <p:sp>
        <p:nvSpPr>
          <p:cNvPr id="9" name="Text 7"/>
          <p:cNvSpPr txBox="1"/>
          <p:nvPr/>
        </p:nvSpPr>
        <p:spPr>
          <a:xfrm>
            <a:off x="777240" y="2788920"/>
            <a:ext cx="4480560" cy="19202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Switch context: save the old process's state into its PCB, load the new one's.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Switch to user mode.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Jump to the right place in the new program (its saved PC).</a:t>
            </a:r>
            <a:endParaRPr lang="en-US" sz="1400" dirty="0"/>
          </a:p>
        </p:txBody>
      </p:sp>
      <p:sp>
        <p:nvSpPr>
          <p:cNvPr id="10" name="Shape 8"/>
          <p:cNvSpPr/>
          <p:nvPr/>
        </p:nvSpPr>
        <p:spPr>
          <a:xfrm>
            <a:off x="5852160" y="2331720"/>
            <a:ext cx="2057400" cy="685800"/>
          </a:xfrm>
          <a:prstGeom prst="rect">
            <a:avLst/>
          </a:prstGeom>
          <a:solidFill>
            <a:srgbClr val="02C39A"/>
          </a:solidFill>
          <a:ln w="19050">
            <a:solidFill>
              <a:srgbClr val="FFFFFF"/>
            </a:solidFill>
            <a:prstDash val="solid"/>
          </a:ln>
        </p:spPr>
        <p:txBody>
          <a:bodyPr/>
          <a:p/>
        </p:txBody>
      </p:sp>
      <p:sp>
        <p:nvSpPr>
          <p:cNvPr id="11" name="Text 9"/>
          <p:cNvSpPr txBox="1"/>
          <p:nvPr/>
        </p:nvSpPr>
        <p:spPr>
          <a:xfrm>
            <a:off x="5852160" y="2331720"/>
            <a:ext cx="2057400" cy="685800"/>
          </a:xfrm>
          <a:prstGeom prst="rect">
            <a:avLst/>
          </a:prstGeom>
          <a:noFill/>
          <a:ln/>
        </p:spPr>
        <p:txBody>
          <a:bodyPr wrap="square" lIns="0" tIns="0" rIns="0" bIns="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P0 runs</a:t>
            </a:r>
            <a:endParaRPr lang="en-US" sz="1400" dirty="0"/>
          </a:p>
        </p:txBody>
      </p:sp>
      <p:sp>
        <p:nvSpPr>
          <p:cNvPr id="12" name="Shape 10"/>
          <p:cNvSpPr/>
          <p:nvPr/>
        </p:nvSpPr>
        <p:spPr>
          <a:xfrm>
            <a:off x="7909560" y="2331720"/>
            <a:ext cx="1143000" cy="685800"/>
          </a:xfrm>
          <a:prstGeom prst="rect">
            <a:avLst/>
          </a:prstGeom>
          <a:solidFill>
            <a:srgbClr val="B5453A"/>
          </a:solidFill>
          <a:ln w="19050">
            <a:solidFill>
              <a:srgbClr val="FFFFFF"/>
            </a:solidFill>
            <a:prstDash val="solid"/>
          </a:ln>
        </p:spPr>
        <p:txBody>
          <a:bodyPr/>
          <a:p/>
        </p:txBody>
      </p:sp>
      <p:sp>
        <p:nvSpPr>
          <p:cNvPr id="13" name="Shape 11"/>
          <p:cNvSpPr/>
          <p:nvPr/>
        </p:nvSpPr>
        <p:spPr>
          <a:xfrm>
            <a:off x="9052560" y="2331720"/>
            <a:ext cx="2286000" cy="685800"/>
          </a:xfrm>
          <a:prstGeom prst="rect">
            <a:avLst/>
          </a:prstGeom>
          <a:solidFill>
            <a:srgbClr val="36454F"/>
          </a:solidFill>
          <a:ln w="19050">
            <a:solidFill>
              <a:srgbClr val="FFFFFF"/>
            </a:solidFill>
            <a:prstDash val="solid"/>
          </a:ln>
        </p:spPr>
        <p:txBody>
          <a:bodyPr/>
          <a:p/>
        </p:txBody>
      </p:sp>
      <p:sp>
        <p:nvSpPr>
          <p:cNvPr id="14" name="Text 12"/>
          <p:cNvSpPr txBox="1"/>
          <p:nvPr/>
        </p:nvSpPr>
        <p:spPr>
          <a:xfrm>
            <a:off x="9052560" y="2331720"/>
            <a:ext cx="22860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P1 runs</a:t>
            </a:r>
            <a:endParaRPr lang="en-US" sz="1400" dirty="0"/>
          </a:p>
        </p:txBody>
      </p:sp>
      <p:sp>
        <p:nvSpPr>
          <p:cNvPr id="15" name="Text 13"/>
          <p:cNvSpPr txBox="1"/>
          <p:nvPr/>
        </p:nvSpPr>
        <p:spPr>
          <a:xfrm>
            <a:off x="7909560" y="3081528"/>
            <a:ext cx="1143000" cy="502920"/>
          </a:xfrm>
          <a:prstGeom prst="rect">
            <a:avLst/>
          </a:prstGeom>
          <a:noFill/>
          <a:ln/>
        </p:spPr>
        <p:txBody>
          <a:bodyPr wrap="square" lIns="0" tIns="0" rIns="0" bIns="0" rtlCol="0" anchor="t"/>
          <a:lstStyle/>
          <a:p>
            <a:pPr algn="ctr" indent="0" marL="0">
              <a:buNone/>
            </a:pPr>
            <a:r>
              <a:rPr lang="en-US" sz="1200" b="1" dirty="0">
                <a:solidFill>
                  <a:srgbClr val="B5453A"/>
                </a:solidFill>
                <a:latin typeface="Calibri" pitchFamily="34" charset="0"/>
                <a:ea typeface="Calibri" pitchFamily="34" charset="-122"/>
                <a:cs typeface="Calibri" pitchFamily="34" charset="-120"/>
              </a:rPr>
              <a:t>dispatch</a:t>
            </a:r>
            <a:endParaRPr lang="en-US" sz="1200" dirty="0"/>
          </a:p>
          <a:p>
            <a:pPr algn="ctr" indent="0" marL="0">
              <a:buNone/>
            </a:pPr>
            <a:r>
              <a:rPr lang="en-US" sz="1200" b="1" dirty="0">
                <a:solidFill>
                  <a:srgbClr val="B5453A"/>
                </a:solidFill>
                <a:latin typeface="Calibri" pitchFamily="34" charset="0"/>
                <a:ea typeface="Calibri" pitchFamily="34" charset="-122"/>
                <a:cs typeface="Calibri" pitchFamily="34" charset="-120"/>
              </a:rPr>
              <a:t>latency</a:t>
            </a:r>
            <a:endParaRPr lang="en-US" sz="1200" dirty="0"/>
          </a:p>
        </p:txBody>
      </p:sp>
      <p:sp>
        <p:nvSpPr>
          <p:cNvPr id="16" name="Text 14"/>
          <p:cNvSpPr txBox="1"/>
          <p:nvPr/>
        </p:nvSpPr>
        <p:spPr>
          <a:xfrm>
            <a:off x="5852160" y="3657600"/>
            <a:ext cx="5486400" cy="274320"/>
          </a:xfrm>
          <a:prstGeom prst="rect">
            <a:avLst/>
          </a:prstGeom>
          <a:noFill/>
          <a:ln/>
        </p:spPr>
        <p:txBody>
          <a:bodyPr wrap="square" lIns="0" tIns="0" rIns="0" bIns="0" rtlCol="0" anchor="t"/>
          <a:lstStyle/>
          <a:p>
            <a:pPr algn="ctr" indent="0" marL="0">
              <a:buNone/>
            </a:pPr>
            <a:r>
              <a:rPr lang="en-US" sz="1200" i="1" dirty="0">
                <a:solidFill>
                  <a:srgbClr val="6B7679"/>
                </a:solidFill>
                <a:latin typeface="Calibri" pitchFamily="34" charset="0"/>
                <a:ea typeface="Calibri" pitchFamily="34" charset="-122"/>
                <a:cs typeface="Calibri" pitchFamily="34" charset="-120"/>
              </a:rPr>
              <a:t>save P0 → PCB0, load PCB1 → P1</a:t>
            </a:r>
            <a:endParaRPr lang="en-US" sz="1200" dirty="0"/>
          </a:p>
        </p:txBody>
      </p:sp>
      <p:sp>
        <p:nvSpPr>
          <p:cNvPr id="17" name="Shape 15"/>
          <p:cNvSpPr/>
          <p:nvPr/>
        </p:nvSpPr>
        <p:spPr>
          <a:xfrm>
            <a:off x="5852160" y="4206240"/>
            <a:ext cx="5806440" cy="640080"/>
          </a:xfrm>
          <a:prstGeom prst="roundRect">
            <a:avLst>
              <a:gd name="adj" fmla="val 8571"/>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8" name="Text 16"/>
          <p:cNvSpPr txBox="1"/>
          <p:nvPr/>
        </p:nvSpPr>
        <p:spPr>
          <a:xfrm>
            <a:off x="6080760" y="4206240"/>
            <a:ext cx="5349240" cy="64008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Dispatch latency is pure overhead: no useful work is done.</a:t>
            </a:r>
            <a:endParaRPr lang="en-US" sz="1400" dirty="0"/>
          </a:p>
        </p:txBody>
      </p:sp>
      <p:sp>
        <p:nvSpPr>
          <p:cNvPr id="19" name="Shape 17"/>
          <p:cNvSpPr/>
          <p:nvPr/>
        </p:nvSpPr>
        <p:spPr>
          <a:xfrm>
            <a:off x="548640" y="5074920"/>
            <a:ext cx="11109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0" name="Text 18"/>
          <p:cNvSpPr txBox="1"/>
          <p:nvPr/>
        </p:nvSpPr>
        <p:spPr>
          <a:xfrm>
            <a:off x="777240" y="5074920"/>
            <a:ext cx="10652760" cy="11887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It is small (microseconds) but happens very often: watch vmstat 1 — the cs column on our idle test VM showed about 500–600 context switches per second, a busy server shows tens of thousands.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Counting Context Switches: Voluntary or Forced?</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GNU time -v reports how often the process left the CPU itself (blocked) or was preempted.</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32</a:t>
            </a:r>
            <a:endParaRPr lang="en-US" sz="900" dirty="0"/>
          </a:p>
        </p:txBody>
      </p:sp>
      <p:sp>
        <p:nvSpPr>
          <p:cNvPr id="7" name="Shape 5"/>
          <p:cNvSpPr/>
          <p:nvPr/>
        </p:nvSpPr>
        <p:spPr>
          <a:xfrm>
            <a:off x="548640" y="2103120"/>
            <a:ext cx="6309360" cy="4160520"/>
          </a:xfrm>
          <a:prstGeom prst="roundRect">
            <a:avLst>
              <a:gd name="adj" fmla="val 1099"/>
            </a:avLst>
          </a:prstGeom>
          <a:solidFill>
            <a:srgbClr val="212121"/>
          </a:solidFill>
          <a:ln/>
        </p:spPr>
        <p:txBody>
          <a:bodyPr/>
          <a:p/>
        </p:txBody>
      </p:sp>
      <p:sp>
        <p:nvSpPr>
          <p:cNvPr id="8" name="Text 6"/>
          <p:cNvSpPr txBox="1"/>
          <p:nvPr/>
        </p:nvSpPr>
        <p:spPr>
          <a:xfrm>
            <a:off x="731520" y="2212848"/>
            <a:ext cx="5943600" cy="3941064"/>
          </a:xfrm>
          <a:prstGeom prst="rect">
            <a:avLst/>
          </a:prstGeom>
          <a:noFill/>
          <a:ln/>
        </p:spPr>
        <p:txBody>
          <a:bodyPr wrap="square" lIns="0" tIns="0" rIns="0" bIns="0" rtlCol="0" anchor="t"/>
          <a:lstStyle/>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 /usr/bin/time -v ./burst cpu</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User time (seconds): 1.17</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System time (seconds): 0.01</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Elapsed (wall clock) time: 0:01.22</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Voluntary context switches: 1</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Involuntary context switches: 50</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02C39A"/>
                </a:solidFill>
                <a:latin typeface="Consolas" pitchFamily="34" charset="0"/>
                <a:ea typeface="Consolas" pitchFamily="34" charset="-122"/>
                <a:cs typeface="Consolas" pitchFamily="34" charset="-120"/>
              </a:rPr>
              <a:t>$ /usr/bin/time -v ./burst io</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User time (seconds): 0.00</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System time (seconds): 0.11</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Elapsed (wall clock) time: 0:00.46</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Voluntary context switches: 3714</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Involuntary context switches: 0</a:t>
            </a:r>
            <a:endParaRPr lang="en-US" sz="1250" dirty="0"/>
          </a:p>
        </p:txBody>
      </p:sp>
      <p:sp>
        <p:nvSpPr>
          <p:cNvPr id="9" name="Shape 7"/>
          <p:cNvSpPr/>
          <p:nvPr/>
        </p:nvSpPr>
        <p:spPr>
          <a:xfrm>
            <a:off x="7132320" y="2103120"/>
            <a:ext cx="452628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7360920" y="2286000"/>
            <a:ext cx="4069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Reading the result</a:t>
            </a:r>
            <a:endParaRPr lang="en-US" sz="1500" dirty="0"/>
          </a:p>
        </p:txBody>
      </p:sp>
      <p:sp>
        <p:nvSpPr>
          <p:cNvPr id="11" name="Text 9"/>
          <p:cNvSpPr txBox="1"/>
          <p:nvPr/>
        </p:nvSpPr>
        <p:spPr>
          <a:xfrm>
            <a:off x="7360920" y="2743200"/>
            <a:ext cx="4069080" cy="338328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Voluntary:</a:t>
            </a:r>
            <a:r>
              <a:rPr lang="en-US" sz="1400" dirty="0">
                <a:solidFill>
                  <a:srgbClr val="3A464C"/>
                </a:solidFill>
                <a:latin typeface="Calibri" pitchFamily="34" charset="0"/>
                <a:ea typeface="Calibri" pitchFamily="34" charset="-122"/>
                <a:cs typeface="Calibri" pitchFamily="34" charset="-120"/>
              </a:rPr>
              <a:t> the process blocked (situation 1) — typical of I/O-bound programs.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Involuntary:</a:t>
            </a:r>
            <a:r>
              <a:rPr lang="en-US" sz="1400" dirty="0">
                <a:solidFill>
                  <a:srgbClr val="3A464C"/>
                </a:solidFill>
                <a:latin typeface="Calibri" pitchFamily="34" charset="0"/>
                <a:ea typeface="Calibri" pitchFamily="34" charset="-122"/>
                <a:cs typeface="Calibri" pitchFamily="34" charset="-120"/>
              </a:rPr>
              <a:t> the scheduler preempted it (situation 2) — typical of CPU-bound programs.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50 preemptions in 1.2 s: the CPU-bound program was interrupted roughly every 24 ms on average.</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SCHEDULING CRITERIA</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How Do We Judge a Scheduler? Five Criteria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33</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468880"/>
                <a:gridCol w="6812280"/>
                <a:gridCol w="1828800"/>
              </a:tblGrid>
              <a:tr h="0">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Criterion</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Definition</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Goal</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CPU utilisation</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Fraction of time the CPU is busy doing useful work (40 % light load … 90 % heavy).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maximise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Throughput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Number of processes completed per unit of time.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maximise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Turnaround time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From arrival (submission) to completion: everything, incl. waiting and I/O.</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minimise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Waiting time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Total time spent waiting in the ready queue. The only part the scheduler directly controls.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minimise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Response time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From arrival until the first time the process gets the CPU (first response).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minimise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Usually we optimise the average. For interactive systems a predictable (low-variance) response time can matter more than a low average.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SCHEDULING CRITERIA</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Definitions as Formulas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For a process with a single CPU burst (no I/O), all times are measured on the same clock.</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34</a:t>
            </a:r>
            <a:endParaRPr lang="en-US" sz="900" dirty="0"/>
          </a:p>
        </p:txBody>
      </p:sp>
      <p:sp>
        <p:nvSpPr>
          <p:cNvPr id="7" name="Shape 5"/>
          <p:cNvSpPr/>
          <p:nvPr/>
        </p:nvSpPr>
        <p:spPr>
          <a:xfrm>
            <a:off x="548640" y="2103120"/>
            <a:ext cx="6035040" cy="1965960"/>
          </a:xfrm>
          <a:prstGeom prst="roundRect">
            <a:avLst>
              <a:gd name="adj" fmla="val 2791"/>
            </a:avLst>
          </a:prstGeom>
          <a:solidFill>
            <a:srgbClr val="F2F2F2"/>
          </a:solidFill>
          <a:ln/>
        </p:spPr>
        <p:txBody>
          <a:bodyPr/>
          <a:p/>
        </p:txBody>
      </p:sp>
      <p:sp>
        <p:nvSpPr>
          <p:cNvPr id="8" name="Text 6"/>
          <p:cNvSpPr txBox="1"/>
          <p:nvPr/>
        </p:nvSpPr>
        <p:spPr>
          <a:xfrm>
            <a:off x="822960" y="2194560"/>
            <a:ext cx="5669280" cy="548640"/>
          </a:xfrm>
          <a:prstGeom prst="rect">
            <a:avLst/>
          </a:prstGeom>
          <a:noFill/>
          <a:ln/>
        </p:spPr>
        <p:txBody>
          <a:bodyPr wrap="square" lIns="0" tIns="0" rIns="0" bIns="0" rtlCol="0" anchor="ctr"/>
          <a:lstStyle/>
          <a:p>
            <a:pPr indent="0" marL="0">
              <a:buNone/>
            </a:pPr>
            <a:r>
              <a:rPr lang="en-US" sz="2200" b="1" dirty="0">
                <a:solidFill>
                  <a:srgbClr val="36454F"/>
                </a:solidFill>
                <a:latin typeface="Cambria" pitchFamily="34" charset="0"/>
                <a:ea typeface="Cambria" pitchFamily="34" charset="-122"/>
                <a:cs typeface="Cambria" pitchFamily="34" charset="-120"/>
              </a:rPr>
              <a:t>T</a:t>
            </a:r>
            <a:r>
              <a:rPr lang="en-US" sz="2200" b="1" baseline="-40000" dirty="0">
                <a:solidFill>
                  <a:srgbClr val="36454F"/>
                </a:solidFill>
                <a:latin typeface="Cambria" pitchFamily="34" charset="0"/>
                <a:ea typeface="Cambria" pitchFamily="34" charset="-122"/>
                <a:cs typeface="Cambria" pitchFamily="34" charset="-120"/>
              </a:rPr>
              <a:t>turnaround</a:t>
            </a:r>
            <a:r>
              <a:rPr lang="en-US" sz="2200" dirty="0">
                <a:solidFill>
                  <a:srgbClr val="36454F"/>
                </a:solidFill>
                <a:latin typeface="Cambria" pitchFamily="34" charset="0"/>
                <a:ea typeface="Cambria" pitchFamily="34" charset="-122"/>
                <a:cs typeface="Cambria" pitchFamily="34" charset="-120"/>
              </a:rPr>
              <a:t>  =  T</a:t>
            </a:r>
            <a:r>
              <a:rPr lang="en-US" sz="2200" baseline="-40000" dirty="0">
                <a:solidFill>
                  <a:srgbClr val="36454F"/>
                </a:solidFill>
                <a:latin typeface="Cambria" pitchFamily="34" charset="0"/>
                <a:ea typeface="Cambria" pitchFamily="34" charset="-122"/>
                <a:cs typeface="Cambria" pitchFamily="34" charset="-120"/>
              </a:rPr>
              <a:t>completion</a:t>
            </a:r>
            <a:r>
              <a:rPr lang="en-US" sz="2200" dirty="0">
                <a:solidFill>
                  <a:srgbClr val="36454F"/>
                </a:solidFill>
                <a:latin typeface="Cambria" pitchFamily="34" charset="0"/>
                <a:ea typeface="Cambria" pitchFamily="34" charset="-122"/>
                <a:cs typeface="Cambria" pitchFamily="34" charset="-120"/>
              </a:rPr>
              <a:t>  −  T</a:t>
            </a:r>
            <a:r>
              <a:rPr lang="en-US" sz="2200" baseline="-40000" dirty="0">
                <a:solidFill>
                  <a:srgbClr val="36454F"/>
                </a:solidFill>
                <a:latin typeface="Cambria" pitchFamily="34" charset="0"/>
                <a:ea typeface="Cambria" pitchFamily="34" charset="-122"/>
                <a:cs typeface="Cambria" pitchFamily="34" charset="-120"/>
              </a:rPr>
              <a:t>arrival</a:t>
            </a:r>
            <a:endParaRPr lang="en-US" sz="2200" dirty="0"/>
          </a:p>
        </p:txBody>
      </p:sp>
      <p:sp>
        <p:nvSpPr>
          <p:cNvPr id="9" name="Text 7"/>
          <p:cNvSpPr txBox="1"/>
          <p:nvPr/>
        </p:nvSpPr>
        <p:spPr>
          <a:xfrm>
            <a:off x="822960" y="2788920"/>
            <a:ext cx="5669280" cy="548640"/>
          </a:xfrm>
          <a:prstGeom prst="rect">
            <a:avLst/>
          </a:prstGeom>
          <a:noFill/>
          <a:ln/>
        </p:spPr>
        <p:txBody>
          <a:bodyPr wrap="square" lIns="0" tIns="0" rIns="0" bIns="0" rtlCol="0" anchor="ctr"/>
          <a:lstStyle/>
          <a:p>
            <a:pPr indent="0" marL="0">
              <a:buNone/>
            </a:pPr>
            <a:r>
              <a:rPr lang="en-US" sz="2200" b="1" dirty="0">
                <a:solidFill>
                  <a:srgbClr val="36454F"/>
                </a:solidFill>
                <a:latin typeface="Cambria" pitchFamily="34" charset="0"/>
                <a:ea typeface="Cambria" pitchFamily="34" charset="-122"/>
                <a:cs typeface="Cambria" pitchFamily="34" charset="-120"/>
              </a:rPr>
              <a:t>T</a:t>
            </a:r>
            <a:r>
              <a:rPr lang="en-US" sz="2200" b="1" baseline="-40000" dirty="0">
                <a:solidFill>
                  <a:srgbClr val="36454F"/>
                </a:solidFill>
                <a:latin typeface="Cambria" pitchFamily="34" charset="0"/>
                <a:ea typeface="Cambria" pitchFamily="34" charset="-122"/>
                <a:cs typeface="Cambria" pitchFamily="34" charset="-120"/>
              </a:rPr>
              <a:t>waiting</a:t>
            </a:r>
            <a:r>
              <a:rPr lang="en-US" sz="2200" dirty="0">
                <a:solidFill>
                  <a:srgbClr val="36454F"/>
                </a:solidFill>
                <a:latin typeface="Cambria" pitchFamily="34" charset="0"/>
                <a:ea typeface="Cambria" pitchFamily="34" charset="-122"/>
                <a:cs typeface="Cambria" pitchFamily="34" charset="-120"/>
              </a:rPr>
              <a:t>  =  T</a:t>
            </a:r>
            <a:r>
              <a:rPr lang="en-US" sz="2200" baseline="-40000" dirty="0">
                <a:solidFill>
                  <a:srgbClr val="36454F"/>
                </a:solidFill>
                <a:latin typeface="Cambria" pitchFamily="34" charset="0"/>
                <a:ea typeface="Cambria" pitchFamily="34" charset="-122"/>
                <a:cs typeface="Cambria" pitchFamily="34" charset="-120"/>
              </a:rPr>
              <a:t>turnaround</a:t>
            </a:r>
            <a:r>
              <a:rPr lang="en-US" sz="2200" dirty="0">
                <a:solidFill>
                  <a:srgbClr val="36454F"/>
                </a:solidFill>
                <a:latin typeface="Cambria" pitchFamily="34" charset="0"/>
                <a:ea typeface="Cambria" pitchFamily="34" charset="-122"/>
                <a:cs typeface="Cambria" pitchFamily="34" charset="-120"/>
              </a:rPr>
              <a:t>  −  T</a:t>
            </a:r>
            <a:r>
              <a:rPr lang="en-US" sz="2200" baseline="-40000" dirty="0">
                <a:solidFill>
                  <a:srgbClr val="36454F"/>
                </a:solidFill>
                <a:latin typeface="Cambria" pitchFamily="34" charset="0"/>
                <a:ea typeface="Cambria" pitchFamily="34" charset="-122"/>
                <a:cs typeface="Cambria" pitchFamily="34" charset="-120"/>
              </a:rPr>
              <a:t>burst</a:t>
            </a:r>
            <a:endParaRPr lang="en-US" sz="2200" dirty="0"/>
          </a:p>
        </p:txBody>
      </p:sp>
      <p:sp>
        <p:nvSpPr>
          <p:cNvPr id="10" name="Text 8"/>
          <p:cNvSpPr txBox="1"/>
          <p:nvPr/>
        </p:nvSpPr>
        <p:spPr>
          <a:xfrm>
            <a:off x="822960" y="3383280"/>
            <a:ext cx="5669280" cy="548640"/>
          </a:xfrm>
          <a:prstGeom prst="rect">
            <a:avLst/>
          </a:prstGeom>
          <a:noFill/>
          <a:ln/>
        </p:spPr>
        <p:txBody>
          <a:bodyPr wrap="square" lIns="0" tIns="0" rIns="0" bIns="0" rtlCol="0" anchor="ctr"/>
          <a:lstStyle/>
          <a:p>
            <a:pPr indent="0" marL="0">
              <a:buNone/>
            </a:pPr>
            <a:r>
              <a:rPr lang="en-US" sz="2200" b="1" dirty="0">
                <a:solidFill>
                  <a:srgbClr val="36454F"/>
                </a:solidFill>
                <a:latin typeface="Cambria" pitchFamily="34" charset="0"/>
                <a:ea typeface="Cambria" pitchFamily="34" charset="-122"/>
                <a:cs typeface="Cambria" pitchFamily="34" charset="-120"/>
              </a:rPr>
              <a:t>T</a:t>
            </a:r>
            <a:r>
              <a:rPr lang="en-US" sz="2200" b="1" baseline="-40000" dirty="0">
                <a:solidFill>
                  <a:srgbClr val="36454F"/>
                </a:solidFill>
                <a:latin typeface="Cambria" pitchFamily="34" charset="0"/>
                <a:ea typeface="Cambria" pitchFamily="34" charset="-122"/>
                <a:cs typeface="Cambria" pitchFamily="34" charset="-120"/>
              </a:rPr>
              <a:t>response</a:t>
            </a:r>
            <a:r>
              <a:rPr lang="en-US" sz="2200" dirty="0">
                <a:solidFill>
                  <a:srgbClr val="36454F"/>
                </a:solidFill>
                <a:latin typeface="Cambria" pitchFamily="34" charset="0"/>
                <a:ea typeface="Cambria" pitchFamily="34" charset="-122"/>
                <a:cs typeface="Cambria" pitchFamily="34" charset="-120"/>
              </a:rPr>
              <a:t>  =  T</a:t>
            </a:r>
            <a:r>
              <a:rPr lang="en-US" sz="2200" baseline="-40000" dirty="0">
                <a:solidFill>
                  <a:srgbClr val="36454F"/>
                </a:solidFill>
                <a:latin typeface="Cambria" pitchFamily="34" charset="0"/>
                <a:ea typeface="Cambria" pitchFamily="34" charset="-122"/>
                <a:cs typeface="Cambria" pitchFamily="34" charset="-120"/>
              </a:rPr>
              <a:t>first run</a:t>
            </a:r>
            <a:r>
              <a:rPr lang="en-US" sz="2200" dirty="0">
                <a:solidFill>
                  <a:srgbClr val="36454F"/>
                </a:solidFill>
                <a:latin typeface="Cambria" pitchFamily="34" charset="0"/>
                <a:ea typeface="Cambria" pitchFamily="34" charset="-122"/>
                <a:cs typeface="Cambria" pitchFamily="34" charset="-120"/>
              </a:rPr>
              <a:t>  −  T</a:t>
            </a:r>
            <a:r>
              <a:rPr lang="en-US" sz="2200" baseline="-40000" dirty="0">
                <a:solidFill>
                  <a:srgbClr val="36454F"/>
                </a:solidFill>
                <a:latin typeface="Cambria" pitchFamily="34" charset="0"/>
                <a:ea typeface="Cambria" pitchFamily="34" charset="-122"/>
                <a:cs typeface="Cambria" pitchFamily="34" charset="-120"/>
              </a:rPr>
              <a:t>arrival</a:t>
            </a:r>
            <a:endParaRPr lang="en-US" sz="2200" dirty="0"/>
          </a:p>
        </p:txBody>
      </p:sp>
      <p:sp>
        <p:nvSpPr>
          <p:cNvPr id="11" name="Shape 9"/>
          <p:cNvSpPr/>
          <p:nvPr/>
        </p:nvSpPr>
        <p:spPr>
          <a:xfrm>
            <a:off x="822960" y="4572000"/>
            <a:ext cx="1828800" cy="502920"/>
          </a:xfrm>
          <a:prstGeom prst="rect">
            <a:avLst/>
          </a:prstGeom>
          <a:solidFill>
            <a:srgbClr val="F2F2F2"/>
          </a:solidFill>
          <a:ln w="19050">
            <a:solidFill>
              <a:srgbClr val="FFFFFF"/>
            </a:solidFill>
            <a:prstDash val="solid"/>
          </a:ln>
        </p:spPr>
        <p:txBody>
          <a:bodyPr/>
          <a:p/>
        </p:txBody>
      </p:sp>
      <p:sp>
        <p:nvSpPr>
          <p:cNvPr id="12" name="Text 10"/>
          <p:cNvSpPr txBox="1"/>
          <p:nvPr/>
        </p:nvSpPr>
        <p:spPr>
          <a:xfrm>
            <a:off x="822960" y="4572000"/>
            <a:ext cx="1828800" cy="50292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waits (ready)</a:t>
            </a:r>
            <a:endParaRPr lang="en-US" sz="1200" dirty="0"/>
          </a:p>
        </p:txBody>
      </p:sp>
      <p:sp>
        <p:nvSpPr>
          <p:cNvPr id="13" name="Shape 11"/>
          <p:cNvSpPr/>
          <p:nvPr/>
        </p:nvSpPr>
        <p:spPr>
          <a:xfrm>
            <a:off x="2651760" y="4572000"/>
            <a:ext cx="1371600" cy="502920"/>
          </a:xfrm>
          <a:prstGeom prst="rect">
            <a:avLst/>
          </a:prstGeom>
          <a:solidFill>
            <a:srgbClr val="02C39A"/>
          </a:solidFill>
          <a:ln w="19050">
            <a:solidFill>
              <a:srgbClr val="FFFFFF"/>
            </a:solidFill>
            <a:prstDash val="solid"/>
          </a:ln>
        </p:spPr>
        <p:txBody>
          <a:bodyPr/>
          <a:p/>
        </p:txBody>
      </p:sp>
      <p:sp>
        <p:nvSpPr>
          <p:cNvPr id="14" name="Text 12"/>
          <p:cNvSpPr txBox="1"/>
          <p:nvPr/>
        </p:nvSpPr>
        <p:spPr>
          <a:xfrm>
            <a:off x="2651760" y="4572000"/>
            <a:ext cx="1371600" cy="50292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runs</a:t>
            </a:r>
            <a:endParaRPr lang="en-US" sz="1200" dirty="0"/>
          </a:p>
        </p:txBody>
      </p:sp>
      <p:sp>
        <p:nvSpPr>
          <p:cNvPr id="15" name="Shape 13"/>
          <p:cNvSpPr/>
          <p:nvPr/>
        </p:nvSpPr>
        <p:spPr>
          <a:xfrm>
            <a:off x="4023360" y="4572000"/>
            <a:ext cx="914400" cy="502920"/>
          </a:xfrm>
          <a:prstGeom prst="rect">
            <a:avLst/>
          </a:prstGeom>
          <a:solidFill>
            <a:srgbClr val="F2F2F2"/>
          </a:solidFill>
          <a:ln w="19050">
            <a:solidFill>
              <a:srgbClr val="FFFFFF"/>
            </a:solidFill>
            <a:prstDash val="solid"/>
          </a:ln>
        </p:spPr>
        <p:txBody>
          <a:bodyPr/>
          <a:p/>
        </p:txBody>
      </p:sp>
      <p:sp>
        <p:nvSpPr>
          <p:cNvPr id="16" name="Text 14"/>
          <p:cNvSpPr txBox="1"/>
          <p:nvPr/>
        </p:nvSpPr>
        <p:spPr>
          <a:xfrm>
            <a:off x="4023360" y="4572000"/>
            <a:ext cx="914400" cy="50292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waits</a:t>
            </a:r>
            <a:endParaRPr lang="en-US" sz="1200" dirty="0"/>
          </a:p>
        </p:txBody>
      </p:sp>
      <p:sp>
        <p:nvSpPr>
          <p:cNvPr id="17" name="Shape 15"/>
          <p:cNvSpPr/>
          <p:nvPr/>
        </p:nvSpPr>
        <p:spPr>
          <a:xfrm>
            <a:off x="4937760" y="4572000"/>
            <a:ext cx="914400" cy="502920"/>
          </a:xfrm>
          <a:prstGeom prst="rect">
            <a:avLst/>
          </a:prstGeom>
          <a:solidFill>
            <a:srgbClr val="02C39A"/>
          </a:solidFill>
          <a:ln w="19050">
            <a:solidFill>
              <a:srgbClr val="FFFFFF"/>
            </a:solidFill>
            <a:prstDash val="solid"/>
          </a:ln>
        </p:spPr>
        <p:txBody>
          <a:bodyPr/>
          <a:p/>
        </p:txBody>
      </p:sp>
      <p:sp>
        <p:nvSpPr>
          <p:cNvPr id="18" name="Text 16"/>
          <p:cNvSpPr txBox="1"/>
          <p:nvPr/>
        </p:nvSpPr>
        <p:spPr>
          <a:xfrm>
            <a:off x="4937760" y="4572000"/>
            <a:ext cx="914400" cy="50292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runs</a:t>
            </a:r>
            <a:endParaRPr lang="en-US" sz="1200" dirty="0"/>
          </a:p>
        </p:txBody>
      </p:sp>
      <p:sp>
        <p:nvSpPr>
          <p:cNvPr id="19" name="Shape 17"/>
          <p:cNvSpPr/>
          <p:nvPr/>
        </p:nvSpPr>
        <p:spPr>
          <a:xfrm>
            <a:off x="822960" y="4297680"/>
            <a:ext cx="91" cy="1051560"/>
          </a:xfrm>
          <a:prstGeom prst="line">
            <a:avLst/>
          </a:prstGeom>
          <a:noFill/>
          <a:ln w="19050">
            <a:solidFill>
              <a:srgbClr val="B5453A"/>
            </a:solidFill>
            <a:prstDash val="dash"/>
          </a:ln>
        </p:spPr>
        <p:txBody>
          <a:bodyPr/>
          <a:p/>
        </p:txBody>
      </p:sp>
      <p:sp>
        <p:nvSpPr>
          <p:cNvPr id="20" name="Text 18"/>
          <p:cNvSpPr txBox="1"/>
          <p:nvPr/>
        </p:nvSpPr>
        <p:spPr>
          <a:xfrm>
            <a:off x="182880" y="5394960"/>
            <a:ext cx="1280160" cy="274320"/>
          </a:xfrm>
          <a:prstGeom prst="rect">
            <a:avLst/>
          </a:prstGeom>
          <a:noFill/>
          <a:ln/>
        </p:spPr>
        <p:txBody>
          <a:bodyPr wrap="square" lIns="0" tIns="0" rIns="0" bIns="0" rtlCol="0" anchor="t"/>
          <a:lstStyle/>
          <a:p>
            <a:pPr algn="ctr" indent="0" marL="0">
              <a:buNone/>
            </a:pPr>
            <a:r>
              <a:rPr lang="en-US" sz="1100" b="1" dirty="0">
                <a:solidFill>
                  <a:srgbClr val="B5453A"/>
                </a:solidFill>
                <a:latin typeface="Calibri" pitchFamily="34" charset="0"/>
                <a:ea typeface="Calibri" pitchFamily="34" charset="-122"/>
                <a:cs typeface="Calibri" pitchFamily="34" charset="-120"/>
              </a:rPr>
              <a:t>arrival</a:t>
            </a:r>
            <a:endParaRPr lang="en-US" sz="1100" dirty="0"/>
          </a:p>
        </p:txBody>
      </p:sp>
      <p:sp>
        <p:nvSpPr>
          <p:cNvPr id="21" name="Shape 19"/>
          <p:cNvSpPr/>
          <p:nvPr/>
        </p:nvSpPr>
        <p:spPr>
          <a:xfrm>
            <a:off x="2651760" y="4297680"/>
            <a:ext cx="91" cy="1051560"/>
          </a:xfrm>
          <a:prstGeom prst="line">
            <a:avLst/>
          </a:prstGeom>
          <a:noFill/>
          <a:ln w="19050">
            <a:solidFill>
              <a:srgbClr val="B5453A"/>
            </a:solidFill>
            <a:prstDash val="dash"/>
          </a:ln>
        </p:spPr>
        <p:txBody>
          <a:bodyPr/>
          <a:p/>
        </p:txBody>
      </p:sp>
      <p:sp>
        <p:nvSpPr>
          <p:cNvPr id="22" name="Text 20"/>
          <p:cNvSpPr txBox="1"/>
          <p:nvPr/>
        </p:nvSpPr>
        <p:spPr>
          <a:xfrm>
            <a:off x="2011680" y="5394960"/>
            <a:ext cx="1280160" cy="274320"/>
          </a:xfrm>
          <a:prstGeom prst="rect">
            <a:avLst/>
          </a:prstGeom>
          <a:noFill/>
          <a:ln/>
        </p:spPr>
        <p:txBody>
          <a:bodyPr wrap="square" lIns="0" tIns="0" rIns="0" bIns="0" rtlCol="0" anchor="t"/>
          <a:lstStyle/>
          <a:p>
            <a:pPr algn="ctr" indent="0" marL="0">
              <a:buNone/>
            </a:pPr>
            <a:r>
              <a:rPr lang="en-US" sz="1100" b="1" dirty="0">
                <a:solidFill>
                  <a:srgbClr val="B5453A"/>
                </a:solidFill>
                <a:latin typeface="Calibri" pitchFamily="34" charset="0"/>
                <a:ea typeface="Calibri" pitchFamily="34" charset="-122"/>
                <a:cs typeface="Calibri" pitchFamily="34" charset="-120"/>
              </a:rPr>
              <a:t>first run</a:t>
            </a:r>
            <a:endParaRPr lang="en-US" sz="1100" dirty="0"/>
          </a:p>
        </p:txBody>
      </p:sp>
      <p:sp>
        <p:nvSpPr>
          <p:cNvPr id="23" name="Shape 21"/>
          <p:cNvSpPr/>
          <p:nvPr/>
        </p:nvSpPr>
        <p:spPr>
          <a:xfrm>
            <a:off x="5852160" y="4297680"/>
            <a:ext cx="91" cy="1051560"/>
          </a:xfrm>
          <a:prstGeom prst="line">
            <a:avLst/>
          </a:prstGeom>
          <a:noFill/>
          <a:ln w="19050">
            <a:solidFill>
              <a:srgbClr val="B5453A"/>
            </a:solidFill>
            <a:prstDash val="dash"/>
          </a:ln>
        </p:spPr>
        <p:txBody>
          <a:bodyPr/>
          <a:p/>
        </p:txBody>
      </p:sp>
      <p:sp>
        <p:nvSpPr>
          <p:cNvPr id="24" name="Text 22"/>
          <p:cNvSpPr txBox="1"/>
          <p:nvPr/>
        </p:nvSpPr>
        <p:spPr>
          <a:xfrm>
            <a:off x="5212080" y="5394960"/>
            <a:ext cx="1280160" cy="274320"/>
          </a:xfrm>
          <a:prstGeom prst="rect">
            <a:avLst/>
          </a:prstGeom>
          <a:noFill/>
          <a:ln/>
        </p:spPr>
        <p:txBody>
          <a:bodyPr wrap="square" lIns="0" tIns="0" rIns="0" bIns="0" rtlCol="0" anchor="t"/>
          <a:lstStyle/>
          <a:p>
            <a:pPr algn="ctr" indent="0" marL="0">
              <a:buNone/>
            </a:pPr>
            <a:r>
              <a:rPr lang="en-US" sz="1100" b="1" dirty="0">
                <a:solidFill>
                  <a:srgbClr val="B5453A"/>
                </a:solidFill>
                <a:latin typeface="Calibri" pitchFamily="34" charset="0"/>
                <a:ea typeface="Calibri" pitchFamily="34" charset="-122"/>
                <a:cs typeface="Calibri" pitchFamily="34" charset="-120"/>
              </a:rPr>
              <a:t>completion</a:t>
            </a:r>
            <a:endParaRPr lang="en-US" sz="1100" dirty="0"/>
          </a:p>
        </p:txBody>
      </p:sp>
      <p:sp>
        <p:nvSpPr>
          <p:cNvPr id="25" name="Text 23"/>
          <p:cNvSpPr txBox="1"/>
          <p:nvPr/>
        </p:nvSpPr>
        <p:spPr>
          <a:xfrm>
            <a:off x="822960" y="4005072"/>
            <a:ext cx="5669280" cy="274320"/>
          </a:xfrm>
          <a:prstGeom prst="rect">
            <a:avLst/>
          </a:prstGeom>
          <a:noFill/>
          <a:ln/>
        </p:spPr>
        <p:txBody>
          <a:bodyPr wrap="square" lIns="0" tIns="0" rIns="0" bIns="0" rtlCol="0" anchor="t"/>
          <a:lstStyle/>
          <a:p>
            <a:pPr indent="0" marL="0">
              <a:buNone/>
            </a:pPr>
            <a:r>
              <a:rPr lang="en-US" sz="1200" i="1" dirty="0">
                <a:solidFill>
                  <a:srgbClr val="6B7679"/>
                </a:solidFill>
                <a:latin typeface="Calibri" pitchFamily="34" charset="0"/>
                <a:ea typeface="Calibri" pitchFamily="34" charset="-122"/>
                <a:cs typeface="Calibri" pitchFamily="34" charset="-120"/>
              </a:rPr>
              <a:t>burst = 3 + 2 = 5,   waiting = 4 + 2 = 6,   turnaround = 11</a:t>
            </a:r>
            <a:endParaRPr lang="en-US" sz="1200" dirty="0"/>
          </a:p>
        </p:txBody>
      </p:sp>
      <p:sp>
        <p:nvSpPr>
          <p:cNvPr id="26" name="Shape 24"/>
          <p:cNvSpPr/>
          <p:nvPr/>
        </p:nvSpPr>
        <p:spPr>
          <a:xfrm>
            <a:off x="6858000" y="2103120"/>
            <a:ext cx="480060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7" name="Text 25"/>
          <p:cNvSpPr txBox="1"/>
          <p:nvPr/>
        </p:nvSpPr>
        <p:spPr>
          <a:xfrm>
            <a:off x="7086600" y="2286000"/>
            <a:ext cx="4343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Check with the picture</a:t>
            </a:r>
            <a:endParaRPr lang="en-US" sz="1500" dirty="0"/>
          </a:p>
        </p:txBody>
      </p:sp>
      <p:sp>
        <p:nvSpPr>
          <p:cNvPr id="28" name="Text 26"/>
          <p:cNvSpPr txBox="1"/>
          <p:nvPr/>
        </p:nvSpPr>
        <p:spPr>
          <a:xfrm>
            <a:off x="7086600" y="2743200"/>
            <a:ext cx="4343400" cy="33832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Turnaround = 11 − 0 = 11.</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Waiting = 11 − 5 = 6  (= 4 + 2 in the ready queue).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Response = 4 − 0 = 4.</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With I/O bursts, waiting time = only the time in the READY queue; subtract I/O time as well.</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EXAMPLE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Practice: Four Processes in Arrival Order (FCFS)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The "obvious" order — first come, first served — on one CPU, no preemption. Times in ms.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35</a:t>
            </a:r>
            <a:endParaRPr lang="en-US"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3840480" cy="914400"/>
        </p:xfrm>
        <a:graphic>
          <a:graphicData uri="http://schemas.openxmlformats.org/drawingml/2006/table">
            <a:tbl>
              <a:tblPr/>
              <a:tblGrid>
                <a:gridCol w="1280160"/>
                <a:gridCol w="1280160"/>
                <a:gridCol w="1280160"/>
              </a:tblGrid>
              <a:tr h="0">
                <a:tc>
                  <a:txBody>
                    <a:bodyPr/>
                    <a:lstStyle/>
                    <a:p>
                      <a:pPr algn="ctr" indent="0" marL="0">
                        <a:buNone/>
                      </a:pPr>
                      <a:r>
                        <a:rPr lang="en-US" sz="1500" b="1" dirty="0">
                          <a:solidFill>
                            <a:srgbClr val="FFFFFF"/>
                          </a:solidFill>
                          <a:latin typeface="Cambria" pitchFamily="34" charset="0"/>
                          <a:ea typeface="Cambria" pitchFamily="34" charset="-122"/>
                          <a:cs typeface="Cambria" pitchFamily="34" charset="-120"/>
                        </a:rPr>
                        <a:t>Process</a:t>
                      </a:r>
                      <a:endParaRPr lang="en-US" sz="1500" dirty="0">
                        <a:latin typeface="Cambria" charset="0"/>
                        <a:ea typeface="Cambria" charset="0"/>
                        <a:cs typeface="Cambria"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500" b="1" dirty="0">
                          <a:solidFill>
                            <a:srgbClr val="FFFFFF"/>
                          </a:solidFill>
                          <a:latin typeface="Cambria" pitchFamily="34" charset="0"/>
                          <a:ea typeface="Cambria" pitchFamily="34" charset="-122"/>
                          <a:cs typeface="Cambria" pitchFamily="34" charset="-120"/>
                        </a:rPr>
                        <a:t>Arrival</a:t>
                      </a:r>
                      <a:endParaRPr lang="en-US" sz="1500" dirty="0">
                        <a:latin typeface="Cambria" charset="0"/>
                        <a:ea typeface="Cambria" charset="0"/>
                        <a:cs typeface="Cambria"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en-US" sz="1500" b="1" dirty="0">
                          <a:solidFill>
                            <a:srgbClr val="FFFFFF"/>
                          </a:solidFill>
                          <a:latin typeface="Cambria" pitchFamily="34" charset="0"/>
                          <a:ea typeface="Cambria" pitchFamily="34" charset="-122"/>
                          <a:cs typeface="Cambria" pitchFamily="34" charset="-120"/>
                        </a:rPr>
                        <a:t>Burst</a:t>
                      </a:r>
                      <a:endParaRPr lang="en-US" sz="1500" dirty="0">
                        <a:latin typeface="Cambria" charset="0"/>
                        <a:ea typeface="Cambria" charset="0"/>
                        <a:cs typeface="Cambria"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ctr" indent="0" marL="0">
                        <a:buNone/>
                      </a:pPr>
                      <a:r>
                        <a:rPr lang="en-US" sz="1500" b="1" dirty="0">
                          <a:solidFill>
                            <a:srgbClr val="3A464C"/>
                          </a:solidFill>
                          <a:latin typeface="Calibri" pitchFamily="34" charset="0"/>
                          <a:ea typeface="Calibri" pitchFamily="34" charset="-122"/>
                          <a:cs typeface="Calibri" pitchFamily="34" charset="-120"/>
                        </a:rPr>
                        <a:t>P1</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en-US" sz="1500" b="1" dirty="0">
                          <a:solidFill>
                            <a:srgbClr val="3A464C"/>
                          </a:solidFill>
                          <a:latin typeface="Calibri" pitchFamily="34" charset="0"/>
                          <a:ea typeface="Calibri" pitchFamily="34" charset="-122"/>
                          <a:cs typeface="Calibri" pitchFamily="34" charset="-120"/>
                        </a:rPr>
                        <a:t>P2</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en-US" sz="1500" b="1" dirty="0">
                          <a:solidFill>
                            <a:srgbClr val="3A464C"/>
                          </a:solidFill>
                          <a:latin typeface="Calibri" pitchFamily="34" charset="0"/>
                          <a:ea typeface="Calibri" pitchFamily="34" charset="-122"/>
                          <a:cs typeface="Calibri" pitchFamily="34" charset="-120"/>
                        </a:rPr>
                        <a:t>P3</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en-US" sz="1500" b="1" dirty="0">
                          <a:solidFill>
                            <a:srgbClr val="3A464C"/>
                          </a:solidFill>
                          <a:latin typeface="Calibri" pitchFamily="34" charset="0"/>
                          <a:ea typeface="Calibri" pitchFamily="34" charset="-122"/>
                          <a:cs typeface="Calibri" pitchFamily="34" charset="-120"/>
                        </a:rPr>
                        <a:t>P4</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3A464C"/>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4937760" y="2057400"/>
            <a:ext cx="2743200" cy="274320"/>
          </a:xfrm>
          <a:prstGeom prst="rect">
            <a:avLst/>
          </a:prstGeom>
          <a:noFill/>
          <a:ln/>
        </p:spPr>
        <p:txBody>
          <a:bodyPr wrap="square" lIns="0" tIns="0" rIns="0" bIns="0" rtlCol="0" anchor="t"/>
          <a:lstStyle/>
          <a:p>
            <a:pPr indent="0" marL="0">
              <a:buNone/>
            </a:pPr>
            <a:r>
              <a:rPr lang="en-US" sz="1300" b="1" dirty="0">
                <a:solidFill>
                  <a:srgbClr val="36454F"/>
                </a:solidFill>
                <a:latin typeface="Calibri" pitchFamily="34" charset="0"/>
                <a:ea typeface="Calibri" pitchFamily="34" charset="-122"/>
                <a:cs typeface="Calibri" pitchFamily="34" charset="-120"/>
              </a:rPr>
              <a:t>Gantt chart</a:t>
            </a:r>
            <a:endParaRPr lang="en-US" sz="1300" dirty="0"/>
          </a:p>
        </p:txBody>
      </p:sp>
      <p:sp>
        <p:nvSpPr>
          <p:cNvPr id="9" name="Shape 6"/>
          <p:cNvSpPr/>
          <p:nvPr/>
        </p:nvSpPr>
        <p:spPr>
          <a:xfrm>
            <a:off x="4937760" y="2423160"/>
            <a:ext cx="1783080" cy="685800"/>
          </a:xfrm>
          <a:prstGeom prst="rect">
            <a:avLst/>
          </a:prstGeom>
          <a:solidFill>
            <a:srgbClr val="02C39A"/>
          </a:solidFill>
          <a:ln w="19050">
            <a:solidFill>
              <a:srgbClr val="FFFFFF"/>
            </a:solidFill>
            <a:prstDash val="solid"/>
          </a:ln>
        </p:spPr>
        <p:txBody>
          <a:bodyPr/>
          <a:p/>
        </p:txBody>
      </p:sp>
      <p:sp>
        <p:nvSpPr>
          <p:cNvPr id="10" name="Text 7"/>
          <p:cNvSpPr txBox="1"/>
          <p:nvPr/>
        </p:nvSpPr>
        <p:spPr>
          <a:xfrm>
            <a:off x="4937760" y="2423160"/>
            <a:ext cx="1783080" cy="685800"/>
          </a:xfrm>
          <a:prstGeom prst="rect">
            <a:avLst/>
          </a:prstGeom>
          <a:noFill/>
          <a:ln/>
        </p:spPr>
        <p:txBody>
          <a:bodyPr wrap="square" lIns="0" tIns="0" rIns="0" bIns="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P1</a:t>
            </a:r>
            <a:endParaRPr lang="en-US" sz="1400" dirty="0"/>
          </a:p>
        </p:txBody>
      </p:sp>
      <p:sp>
        <p:nvSpPr>
          <p:cNvPr id="11" name="Shape 8"/>
          <p:cNvSpPr/>
          <p:nvPr/>
        </p:nvSpPr>
        <p:spPr>
          <a:xfrm>
            <a:off x="6720840" y="2423160"/>
            <a:ext cx="1069848" cy="685800"/>
          </a:xfrm>
          <a:prstGeom prst="rect">
            <a:avLst/>
          </a:prstGeom>
          <a:solidFill>
            <a:srgbClr val="36454F"/>
          </a:solidFill>
          <a:ln w="19050">
            <a:solidFill>
              <a:srgbClr val="FFFFFF"/>
            </a:solidFill>
            <a:prstDash val="solid"/>
          </a:ln>
        </p:spPr>
        <p:txBody>
          <a:bodyPr/>
          <a:p/>
        </p:txBody>
      </p:sp>
      <p:sp>
        <p:nvSpPr>
          <p:cNvPr id="12" name="Text 9"/>
          <p:cNvSpPr txBox="1"/>
          <p:nvPr/>
        </p:nvSpPr>
        <p:spPr>
          <a:xfrm>
            <a:off x="6720840" y="2423160"/>
            <a:ext cx="1069848"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P2</a:t>
            </a:r>
            <a:endParaRPr lang="en-US" sz="1400" dirty="0"/>
          </a:p>
        </p:txBody>
      </p:sp>
      <p:sp>
        <p:nvSpPr>
          <p:cNvPr id="13" name="Shape 10"/>
          <p:cNvSpPr/>
          <p:nvPr/>
        </p:nvSpPr>
        <p:spPr>
          <a:xfrm>
            <a:off x="7790688" y="2423160"/>
            <a:ext cx="2139696" cy="685800"/>
          </a:xfrm>
          <a:prstGeom prst="rect">
            <a:avLst/>
          </a:prstGeom>
          <a:solidFill>
            <a:srgbClr val="50808E"/>
          </a:solidFill>
          <a:ln w="19050">
            <a:solidFill>
              <a:srgbClr val="FFFFFF"/>
            </a:solidFill>
            <a:prstDash val="solid"/>
          </a:ln>
        </p:spPr>
        <p:txBody>
          <a:bodyPr/>
          <a:p/>
        </p:txBody>
      </p:sp>
      <p:sp>
        <p:nvSpPr>
          <p:cNvPr id="14" name="Text 11"/>
          <p:cNvSpPr txBox="1"/>
          <p:nvPr/>
        </p:nvSpPr>
        <p:spPr>
          <a:xfrm>
            <a:off x="7790688" y="2423160"/>
            <a:ext cx="2139696"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P3</a:t>
            </a:r>
            <a:endParaRPr lang="en-US" sz="1400" dirty="0"/>
          </a:p>
        </p:txBody>
      </p:sp>
      <p:sp>
        <p:nvSpPr>
          <p:cNvPr id="15" name="Shape 12"/>
          <p:cNvSpPr/>
          <p:nvPr/>
        </p:nvSpPr>
        <p:spPr>
          <a:xfrm>
            <a:off x="9930384" y="2423160"/>
            <a:ext cx="713232" cy="685800"/>
          </a:xfrm>
          <a:prstGeom prst="rect">
            <a:avLst/>
          </a:prstGeom>
          <a:solidFill>
            <a:srgbClr val="FFFFFF"/>
          </a:solidFill>
          <a:ln w="19050">
            <a:solidFill>
              <a:srgbClr val="FFFFFF"/>
            </a:solidFill>
            <a:prstDash val="solid"/>
          </a:ln>
        </p:spPr>
        <p:txBody>
          <a:bodyPr/>
          <a:p/>
        </p:txBody>
      </p:sp>
      <p:sp>
        <p:nvSpPr>
          <p:cNvPr id="16" name="Text 13"/>
          <p:cNvSpPr txBox="1"/>
          <p:nvPr/>
        </p:nvSpPr>
        <p:spPr>
          <a:xfrm>
            <a:off x="9930384" y="2423160"/>
            <a:ext cx="713232" cy="685800"/>
          </a:xfrm>
          <a:prstGeom prst="rect">
            <a:avLst/>
          </a:prstGeom>
          <a:noFill/>
          <a:ln/>
        </p:spPr>
        <p:txBody>
          <a:bodyPr wrap="square" lIns="0" tIns="0" rIns="0" bIns="0" rtlCol="0" anchor="ctr"/>
          <a:lstStyle/>
          <a:p>
            <a:pPr algn="ctr" indent="0" marL="0">
              <a:buNone/>
            </a:pPr>
            <a:r>
              <a:rPr lang="en-US" sz="1400" b="1" dirty="0">
                <a:solidFill>
                  <a:srgbClr val="6B7679"/>
                </a:solidFill>
                <a:latin typeface="Calibri" pitchFamily="34" charset="0"/>
                <a:ea typeface="Calibri" pitchFamily="34" charset="-122"/>
                <a:cs typeface="Calibri" pitchFamily="34" charset="-120"/>
              </a:rPr>
              <a:t>idle</a:t>
            </a:r>
            <a:endParaRPr lang="en-US" sz="1400" dirty="0"/>
          </a:p>
        </p:txBody>
      </p:sp>
      <p:sp>
        <p:nvSpPr>
          <p:cNvPr id="17" name="Shape 14"/>
          <p:cNvSpPr/>
          <p:nvPr/>
        </p:nvSpPr>
        <p:spPr>
          <a:xfrm>
            <a:off x="10643616" y="2423160"/>
            <a:ext cx="713232" cy="685800"/>
          </a:xfrm>
          <a:prstGeom prst="rect">
            <a:avLst/>
          </a:prstGeom>
          <a:solidFill>
            <a:srgbClr val="D7E9E6"/>
          </a:solidFill>
          <a:ln w="19050">
            <a:solidFill>
              <a:srgbClr val="FFFFFF"/>
            </a:solidFill>
            <a:prstDash val="solid"/>
          </a:ln>
        </p:spPr>
        <p:txBody>
          <a:bodyPr/>
          <a:p/>
        </p:txBody>
      </p:sp>
      <p:sp>
        <p:nvSpPr>
          <p:cNvPr id="18" name="Text 15"/>
          <p:cNvSpPr txBox="1"/>
          <p:nvPr/>
        </p:nvSpPr>
        <p:spPr>
          <a:xfrm>
            <a:off x="10643616" y="2423160"/>
            <a:ext cx="713232" cy="685800"/>
          </a:xfrm>
          <a:prstGeom prst="rect">
            <a:avLst/>
          </a:prstGeom>
          <a:noFill/>
          <a:ln/>
        </p:spPr>
        <p:txBody>
          <a:bodyPr wrap="square" lIns="0" tIns="0" rIns="0" bIns="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P4</a:t>
            </a:r>
            <a:endParaRPr lang="en-US" sz="1400" dirty="0"/>
          </a:p>
        </p:txBody>
      </p:sp>
      <p:sp>
        <p:nvSpPr>
          <p:cNvPr id="19" name="Text 16"/>
          <p:cNvSpPr txBox="1"/>
          <p:nvPr/>
        </p:nvSpPr>
        <p:spPr>
          <a:xfrm>
            <a:off x="4663440" y="3145536"/>
            <a:ext cx="548640" cy="256032"/>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0</a:t>
            </a:r>
            <a:endParaRPr lang="en-US" sz="1200" dirty="0"/>
          </a:p>
        </p:txBody>
      </p:sp>
      <p:sp>
        <p:nvSpPr>
          <p:cNvPr id="20" name="Text 17"/>
          <p:cNvSpPr txBox="1"/>
          <p:nvPr/>
        </p:nvSpPr>
        <p:spPr>
          <a:xfrm>
            <a:off x="6446520" y="3145536"/>
            <a:ext cx="548640" cy="256032"/>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5</a:t>
            </a:r>
            <a:endParaRPr lang="en-US" sz="1200" dirty="0"/>
          </a:p>
        </p:txBody>
      </p:sp>
      <p:sp>
        <p:nvSpPr>
          <p:cNvPr id="21" name="Text 18"/>
          <p:cNvSpPr txBox="1"/>
          <p:nvPr/>
        </p:nvSpPr>
        <p:spPr>
          <a:xfrm>
            <a:off x="7516368" y="3145536"/>
            <a:ext cx="548640" cy="256032"/>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8</a:t>
            </a:r>
            <a:endParaRPr lang="en-US" sz="1200" dirty="0"/>
          </a:p>
        </p:txBody>
      </p:sp>
      <p:sp>
        <p:nvSpPr>
          <p:cNvPr id="22" name="Text 19"/>
          <p:cNvSpPr txBox="1"/>
          <p:nvPr/>
        </p:nvSpPr>
        <p:spPr>
          <a:xfrm>
            <a:off x="9656064" y="3145536"/>
            <a:ext cx="548640" cy="256032"/>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14</a:t>
            </a:r>
            <a:endParaRPr lang="en-US" sz="1200" dirty="0"/>
          </a:p>
        </p:txBody>
      </p:sp>
      <p:sp>
        <p:nvSpPr>
          <p:cNvPr id="23" name="Text 20"/>
          <p:cNvSpPr txBox="1"/>
          <p:nvPr/>
        </p:nvSpPr>
        <p:spPr>
          <a:xfrm>
            <a:off x="10369296" y="3145536"/>
            <a:ext cx="548640" cy="256032"/>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16</a:t>
            </a:r>
            <a:endParaRPr lang="en-US" sz="1200" dirty="0"/>
          </a:p>
        </p:txBody>
      </p:sp>
      <p:sp>
        <p:nvSpPr>
          <p:cNvPr id="24" name="Text 21"/>
          <p:cNvSpPr txBox="1"/>
          <p:nvPr/>
        </p:nvSpPr>
        <p:spPr>
          <a:xfrm>
            <a:off x="11082528" y="3145536"/>
            <a:ext cx="548640" cy="256032"/>
          </a:xfrm>
          <a:prstGeom prst="rect">
            <a:avLst/>
          </a:prstGeom>
          <a:noFill/>
          <a:ln/>
        </p:spPr>
        <p:txBody>
          <a:bodyPr wrap="square" lIns="0" tIns="0" rIns="0" bIns="0" rtlCol="0" anchor="t"/>
          <a:lstStyle/>
          <a:p>
            <a:pPr algn="ctr" indent="0" marL="0">
              <a:buNone/>
            </a:pPr>
            <a:r>
              <a:rPr lang="en-US" sz="1200" dirty="0">
                <a:solidFill>
                  <a:srgbClr val="6B7679"/>
                </a:solidFill>
                <a:latin typeface="Calibri" pitchFamily="34" charset="0"/>
                <a:ea typeface="Calibri" pitchFamily="34" charset="-122"/>
                <a:cs typeface="Calibri" pitchFamily="34" charset="-120"/>
              </a:rPr>
              <a:t>18</a:t>
            </a:r>
            <a:endParaRPr lang="en-US" sz="1200" dirty="0"/>
          </a:p>
        </p:txBody>
      </p:sp>
      <p:sp>
        <p:nvSpPr>
          <p:cNvPr id="25" name="Shape 22"/>
          <p:cNvSpPr/>
          <p:nvPr/>
        </p:nvSpPr>
        <p:spPr>
          <a:xfrm>
            <a:off x="9930384" y="2423160"/>
            <a:ext cx="713232" cy="685800"/>
          </a:xfrm>
          <a:prstGeom prst="rect">
            <a:avLst/>
          </a:prstGeom>
          <a:ln w="12700">
            <a:solidFill>
              <a:srgbClr val="50808E"/>
            </a:solidFill>
            <a:prstDash val="dash"/>
          </a:ln>
        </p:spPr>
        <p:txBody>
          <a:bodyPr/>
          <a:p/>
        </p:txBody>
      </p:sp>
      <p:sp>
        <p:nvSpPr>
          <p:cNvPr id="26" name="Shape 23"/>
          <p:cNvSpPr/>
          <p:nvPr/>
        </p:nvSpPr>
        <p:spPr>
          <a:xfrm>
            <a:off x="4937760" y="3657600"/>
            <a:ext cx="6720840" cy="2606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7" name="Text 24"/>
          <p:cNvSpPr txBox="1"/>
          <p:nvPr/>
        </p:nvSpPr>
        <p:spPr>
          <a:xfrm>
            <a:off x="5166360" y="3840480"/>
            <a:ext cx="6263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How to read it</a:t>
            </a:r>
            <a:endParaRPr lang="en-US" sz="1500" dirty="0"/>
          </a:p>
        </p:txBody>
      </p:sp>
      <p:sp>
        <p:nvSpPr>
          <p:cNvPr id="28" name="Text 25"/>
          <p:cNvSpPr txBox="1"/>
          <p:nvPr/>
        </p:nvSpPr>
        <p:spPr>
          <a:xfrm>
            <a:off x="5166360" y="4297680"/>
            <a:ext cx="6263640" cy="18288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P1 arrives at 0 and runs at once. P2 and P3 arrive while P1 runs: they wait in the ready queue.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At 14 the ready queue is empty: the CPU is idle until P4 arrives at 16.</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Next slide: compute every criterion from this chart.</a:t>
            </a:r>
            <a:endParaRPr lang="en-US" sz="1400" dirty="0"/>
          </a:p>
        </p:txBody>
      </p:sp>
      <p:sp>
        <p:nvSpPr>
          <p:cNvPr id="29" name="Shape 26"/>
          <p:cNvSpPr/>
          <p:nvPr/>
        </p:nvSpPr>
        <p:spPr>
          <a:xfrm>
            <a:off x="548640" y="4343400"/>
            <a:ext cx="3840480" cy="1920240"/>
          </a:xfrm>
          <a:prstGeom prst="roundRect">
            <a:avLst>
              <a:gd name="adj" fmla="val 285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0" name="Text 27"/>
          <p:cNvSpPr txBox="1"/>
          <p:nvPr/>
        </p:nvSpPr>
        <p:spPr>
          <a:xfrm>
            <a:off x="777240" y="4343400"/>
            <a:ext cx="3383280" cy="1920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Week 5 asks the real question: is arrival order a good order? (Try swapping P2 and P3 and compare.)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WORKED EXAMPLE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Practice: Computing the Criteria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36</a:t>
            </a:r>
            <a:endParaRPr lang="en-US" sz="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188720"/>
                <a:gridCol w="1097280"/>
                <a:gridCol w="1005840"/>
                <a:gridCol w="1463040"/>
                <a:gridCol w="2331720"/>
                <a:gridCol w="2331720"/>
                <a:gridCol w="1691640"/>
              </a:tblGrid>
              <a:tr h="0">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Process</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Arrival</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Burst</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Completion</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Turnaround = C − A</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Waiting = TAT − B</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Response</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P1</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5 − 0 = 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5 − 5 = 0</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P2</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8 − 1 = 7</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7 − 3 = 4</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P3</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14</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14 − 2 = 12</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12 − 6 = 6</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P4</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16</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18</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18 − 16 = 2</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2 − 2 = 0</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Average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26 / 4 = 6.5 ms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10 / 4 = 2.5 ms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2.5 ms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CPU utilisation = 16 ms busy / 18 ms = 88.9 %.   Throughput = 4 processes / 18 ms ≈ 0.22 per ms (222 per second).</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OPTIMISATION GOALS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Which Criterion Matters Most? It Depends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Maximise CPU utilisation and throughput; minimise turnaround, waiting and response time. The goals conflict.</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37</a:t>
            </a:r>
            <a:endParaRPr lang="en-US" sz="900" dirty="0"/>
          </a:p>
        </p:txBody>
      </p:sp>
      <p:sp>
        <p:nvSpPr>
          <p:cNvPr id="7" name="Shape 5"/>
          <p:cNvSpPr/>
          <p:nvPr/>
        </p:nvSpPr>
        <p:spPr>
          <a:xfrm>
            <a:off x="54864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Batch / servers</a:t>
            </a:r>
            <a:endParaRPr lang="en-US" sz="1600" dirty="0"/>
          </a:p>
        </p:txBody>
      </p:sp>
      <p:sp>
        <p:nvSpPr>
          <p:cNvPr id="9" name="Text 7"/>
          <p:cNvSpPr txBox="1"/>
          <p:nvPr/>
        </p:nvSpPr>
        <p:spPr>
          <a:xfrm>
            <a:off x="77724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Throughput and CPU utilisation.</a:t>
            </a:r>
            <a:endParaRPr lang="en-US" sz="1700" dirty="0"/>
          </a:p>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Long jobs are fine as long as the total work done per hour is high.</a:t>
            </a:r>
            <a:endParaRPr lang="en-US" sz="1700" dirty="0"/>
          </a:p>
        </p:txBody>
      </p:sp>
      <p:sp>
        <p:nvSpPr>
          <p:cNvPr id="10" name="Shape 8"/>
          <p:cNvSpPr/>
          <p:nvPr/>
        </p:nvSpPr>
        <p:spPr>
          <a:xfrm>
            <a:off x="432816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455676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Desktop / phone</a:t>
            </a:r>
            <a:endParaRPr lang="en-US" sz="1600" dirty="0"/>
          </a:p>
        </p:txBody>
      </p:sp>
      <p:sp>
        <p:nvSpPr>
          <p:cNvPr id="12" name="Text 10"/>
          <p:cNvSpPr txBox="1"/>
          <p:nvPr/>
        </p:nvSpPr>
        <p:spPr>
          <a:xfrm>
            <a:off x="455676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Response time: the user must see a reaction at once.</a:t>
            </a:r>
            <a:endParaRPr lang="en-US" sz="1700" dirty="0"/>
          </a:p>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Predictability: a constant 50 ms feels better than 5 ms that sometimes becomes 2 s.</a:t>
            </a:r>
            <a:endParaRPr lang="en-US" sz="1700" dirty="0"/>
          </a:p>
        </p:txBody>
      </p:sp>
      <p:sp>
        <p:nvSpPr>
          <p:cNvPr id="13" name="Shape 11"/>
          <p:cNvSpPr/>
          <p:nvPr/>
        </p:nvSpPr>
        <p:spPr>
          <a:xfrm>
            <a:off x="810768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8336280" y="228600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Real-time</a:t>
            </a:r>
            <a:endParaRPr lang="en-US" sz="1600" dirty="0"/>
          </a:p>
        </p:txBody>
      </p:sp>
      <p:sp>
        <p:nvSpPr>
          <p:cNvPr id="15" name="Text 13"/>
          <p:cNvSpPr txBox="1"/>
          <p:nvPr/>
        </p:nvSpPr>
        <p:spPr>
          <a:xfrm>
            <a:off x="833628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Meeting deadlines matters more than any average.</a:t>
            </a:r>
            <a:endParaRPr lang="en-US" sz="1700" dirty="0"/>
          </a:p>
          <a:p>
            <a:pPr marL="228600" indent="-228600">
              <a:spcAft>
                <a:spcPts val="400"/>
              </a:spcAft>
              <a:buSzPct val="100000"/>
              <a:buChar char="•"/>
            </a:pPr>
            <a:r>
              <a:rPr lang="en-US" sz="1700" dirty="0">
                <a:solidFill>
                  <a:srgbClr val="3A464C"/>
                </a:solidFill>
                <a:latin typeface="Calibri" pitchFamily="34" charset="0"/>
                <a:ea typeface="Calibri" pitchFamily="34" charset="-122"/>
                <a:cs typeface="Calibri" pitchFamily="34" charset="-120"/>
              </a:rPr>
              <a:t>Late = wrong (brakes, drones, medical devices).</a:t>
            </a:r>
            <a:endParaRPr lang="en-US" sz="1700" dirty="0"/>
          </a:p>
        </p:txBody>
      </p:sp>
      <p:sp>
        <p:nvSpPr>
          <p:cNvPr id="16" name="Shape 1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7" name="Text 1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Trade-off example: switching very often improves response time but adds dispatch overhead and lowers throughput.</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TRY IT YOURSELF</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Threads and Scheduling on Your Own Machine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38</a:t>
            </a:r>
            <a:endParaRPr lang="en-US" sz="900" dirty="0"/>
          </a:p>
        </p:txBody>
      </p:sp>
      <p:sp>
        <p:nvSpPr>
          <p:cNvPr id="6" name="Shape 4"/>
          <p:cNvSpPr/>
          <p:nvPr/>
        </p:nvSpPr>
        <p:spPr>
          <a:xfrm>
            <a:off x="548640" y="1508760"/>
            <a:ext cx="6035040" cy="4754880"/>
          </a:xfrm>
          <a:prstGeom prst="roundRect">
            <a:avLst>
              <a:gd name="adj" fmla="val 962"/>
            </a:avLst>
          </a:prstGeom>
          <a:solidFill>
            <a:srgbClr val="212121"/>
          </a:solidFill>
          <a:ln/>
        </p:spPr>
        <p:txBody>
          <a:bodyPr/>
          <a:p/>
        </p:txBody>
      </p:sp>
      <p:sp>
        <p:nvSpPr>
          <p:cNvPr id="7" name="Text 5"/>
          <p:cNvSpPr txBox="1"/>
          <p:nvPr/>
        </p:nvSpPr>
        <p:spPr>
          <a:xfrm>
            <a:off x="731520" y="1618488"/>
            <a:ext cx="5669280" cy="4535424"/>
          </a:xfrm>
          <a:prstGeom prst="rect">
            <a:avLst/>
          </a:prstGeom>
          <a:noFill/>
          <a:ln/>
        </p:spPr>
        <p:txBody>
          <a:bodyPr wrap="square" lIns="0" tIns="0" rIns="0" bIns="0" rtlCol="0" anchor="t"/>
          <a:lstStyle/>
          <a:p>
            <a:pPr indent="0" marL="0">
              <a:lnSpc>
                <a:spcPct val="105000"/>
              </a:lnSpc>
              <a:buNone/>
            </a:pPr>
            <a:r>
              <a:rPr lang="en-US" sz="1350" dirty="0">
                <a:solidFill>
                  <a:srgbClr val="8A9AA0"/>
                </a:solidFill>
                <a:latin typeface="Consolas" pitchFamily="34" charset="0"/>
                <a:ea typeface="Consolas" pitchFamily="34" charset="-122"/>
                <a:cs typeface="Consolas" pitchFamily="34" charset="-120"/>
              </a:rPr>
              <a:t># Linux (lab PCs, WSL, or a virtual machine)</a:t>
            </a:r>
            <a:endParaRPr lang="en-US" sz="1350" dirty="0"/>
          </a:p>
          <a:p>
            <a:pPr indent="0" marL="0">
              <a:lnSpc>
                <a:spcPct val="105000"/>
              </a:lnSpc>
              <a:buNone/>
            </a:pPr>
            <a:r>
              <a:rPr lang="en-US" sz="1350" dirty="0">
                <a:solidFill>
                  <a:srgbClr val="02C39A"/>
                </a:solidFill>
                <a:latin typeface="Consolas" pitchFamily="34" charset="0"/>
                <a:ea typeface="Consolas" pitchFamily="34" charset="-122"/>
                <a:cs typeface="Consolas" pitchFamily="34" charset="-120"/>
              </a:rPr>
              <a:t>$ nproc                    # how many cores?</a:t>
            </a:r>
            <a:endParaRPr lang="en-US" sz="1350" dirty="0"/>
          </a:p>
          <a:p>
            <a:pPr indent="0" marL="0">
              <a:lnSpc>
                <a:spcPct val="105000"/>
              </a:lnSpc>
              <a:buNone/>
            </a:pPr>
            <a:r>
              <a:rPr lang="en-US" sz="1350" dirty="0">
                <a:solidFill>
                  <a:srgbClr val="02C39A"/>
                </a:solidFill>
                <a:latin typeface="Consolas" pitchFamily="34" charset="0"/>
                <a:ea typeface="Consolas" pitchFamily="34" charset="-122"/>
                <a:cs typeface="Consolas" pitchFamily="34" charset="-120"/>
              </a:rPr>
              <a:t>$ make                     # in the code/ folder</a:t>
            </a:r>
            <a:endParaRPr lang="en-US" sz="1350" dirty="0"/>
          </a:p>
          <a:p>
            <a:pPr indent="0" marL="0">
              <a:lnSpc>
                <a:spcPct val="105000"/>
              </a:lnSpc>
              <a:buNone/>
            </a:pPr>
            <a:r>
              <a:rPr lang="en-US" sz="1350" dirty="0">
                <a:solidFill>
                  <a:srgbClr val="02C39A"/>
                </a:solidFill>
                <a:latin typeface="Consolas" pitchFamily="34" charset="0"/>
                <a:ea typeface="Consolas" pitchFamily="34" charset="-122"/>
                <a:cs typeface="Consolas" pitchFamily="34" charset="-120"/>
              </a:rPr>
              <a:t>$ ./array_sum 1; ./array_sum 2; ./array_sum 4</a:t>
            </a:r>
            <a:endParaRPr lang="en-US" sz="1350" dirty="0"/>
          </a:p>
          <a:p>
            <a:pPr indent="0" marL="0">
              <a:lnSpc>
                <a:spcPct val="105000"/>
              </a:lnSpc>
              <a:buNone/>
            </a:pPr>
            <a:r>
              <a:rPr lang="en-US" sz="1350" dirty="0">
                <a:solidFill>
                  <a:srgbClr val="02C39A"/>
                </a:solidFill>
                <a:latin typeface="Consolas" pitchFamily="34" charset="0"/>
                <a:ea typeface="Consolas" pitchFamily="34" charset="-122"/>
                <a:cs typeface="Consolas" pitchFamily="34" charset="-120"/>
              </a:rPr>
              <a:t>$ ./thread_hello &amp; ps -eLf | grep thread_hello</a:t>
            </a:r>
            <a:endParaRPr lang="en-US" sz="1350" dirty="0"/>
          </a:p>
          <a:p>
            <a:pPr indent="0" marL="0">
              <a:lnSpc>
                <a:spcPct val="105000"/>
              </a:lnSpc>
              <a:buNone/>
            </a:pPr>
            <a:r>
              <a:rPr lang="en-US" sz="1350" dirty="0">
                <a:solidFill>
                  <a:srgbClr val="02C39A"/>
                </a:solidFill>
                <a:latin typeface="Consolas" pitchFamily="34" charset="0"/>
                <a:ea typeface="Consolas" pitchFamily="34" charset="-122"/>
                <a:cs typeface="Consolas" pitchFamily="34" charset="-120"/>
              </a:rPr>
              <a:t>$ time ./burst cpu ; time ./burst io</a:t>
            </a:r>
            <a:endParaRPr lang="en-US" sz="1350" dirty="0"/>
          </a:p>
          <a:p>
            <a:pPr indent="0" marL="0">
              <a:lnSpc>
                <a:spcPct val="105000"/>
              </a:lnSpc>
              <a:buNone/>
            </a:pPr>
            <a:r>
              <a:rPr lang="en-US" sz="1350" dirty="0">
                <a:solidFill>
                  <a:srgbClr val="02C39A"/>
                </a:solidFill>
                <a:latin typeface="Consolas" pitchFamily="34" charset="0"/>
                <a:ea typeface="Consolas" pitchFamily="34" charset="-122"/>
                <a:cs typeface="Consolas" pitchFamily="34" charset="-120"/>
              </a:rPr>
              <a:t>$ vmstat 1 5               # cs = switches/s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8A9AA0"/>
                </a:solidFill>
                <a:latin typeface="Consolas" pitchFamily="34" charset="0"/>
                <a:ea typeface="Consolas" pitchFamily="34" charset="-122"/>
                <a:cs typeface="Consolas" pitchFamily="34" charset="-120"/>
              </a:rPr>
              <a:t># Windows</a:t>
            </a:r>
            <a:endParaRPr lang="en-US" sz="1350" dirty="0"/>
          </a:p>
          <a:p>
            <a:pPr indent="0" marL="0">
              <a:lnSpc>
                <a:spcPct val="105000"/>
              </a:lnSpc>
              <a:buNone/>
            </a:pPr>
            <a:r>
              <a:rPr lang="en-US" sz="1350" dirty="0">
                <a:solidFill>
                  <a:srgbClr val="8A9AA0"/>
                </a:solidFill>
                <a:latin typeface="Consolas" pitchFamily="34" charset="0"/>
                <a:ea typeface="Consolas" pitchFamily="34" charset="-122"/>
                <a:cs typeface="Consolas" pitchFamily="34" charset="-120"/>
              </a:rPr>
              <a:t># Task Manager &gt; Details &gt; add column "Threads"</a:t>
            </a:r>
            <a:endParaRPr lang="en-US" sz="1350" dirty="0"/>
          </a:p>
          <a:p>
            <a:pPr indent="0" marL="0">
              <a:lnSpc>
                <a:spcPct val="105000"/>
              </a:lnSpc>
              <a:buNone/>
            </a:pPr>
            <a:r>
              <a:rPr lang="en-US" sz="1350" dirty="0">
                <a:solidFill>
                  <a:srgbClr val="8A9AA0"/>
                </a:solidFill>
                <a:latin typeface="Consolas" pitchFamily="34" charset="0"/>
                <a:ea typeface="Consolas" pitchFamily="34" charset="-122"/>
                <a:cs typeface="Consolas" pitchFamily="34" charset="-120"/>
              </a:rPr>
              <a:t># Task Manager &gt; Performance &gt; CPU</a:t>
            </a:r>
            <a:endParaRPr lang="en-US" sz="1350" dirty="0"/>
          </a:p>
        </p:txBody>
      </p:sp>
      <p:sp>
        <p:nvSpPr>
          <p:cNvPr id="8" name="Shape 6"/>
          <p:cNvSpPr/>
          <p:nvPr/>
        </p:nvSpPr>
        <p:spPr>
          <a:xfrm>
            <a:off x="6858000" y="1508760"/>
            <a:ext cx="480060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086600" y="1691640"/>
            <a:ext cx="4343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Questions to answer</a:t>
            </a:r>
            <a:endParaRPr lang="en-US" sz="1500" dirty="0"/>
          </a:p>
        </p:txBody>
      </p:sp>
      <p:sp>
        <p:nvSpPr>
          <p:cNvPr id="10" name="Text 8"/>
          <p:cNvSpPr txBox="1"/>
          <p:nvPr/>
        </p:nvSpPr>
        <p:spPr>
          <a:xfrm>
            <a:off x="7086600" y="2148840"/>
            <a:ext cx="4343400" cy="3977640"/>
          </a:xfrm>
          <a:prstGeom prst="rect">
            <a:avLst/>
          </a:prstGeom>
          <a:noFill/>
          <a:ln/>
        </p:spPr>
        <p:txBody>
          <a:bodyPr wrap="square" lIns="0" tIns="0" rIns="0" bIns="0" rtlCol="0" anchor="t"/>
          <a:lstStyle/>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How many cores does your machine have? What speedup do you get with 2, 4 and 8 threads?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Use Amdahl's law to estimate S from your 2-thread speedup.</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Which program on your PC has the most threads?</a:t>
            </a:r>
            <a:endParaRPr lang="en-US" sz="1600" dirty="0"/>
          </a:p>
          <a:p>
            <a:pPr marL="228600" indent="-228600">
              <a:spcAft>
                <a:spcPts val="400"/>
              </a:spcAft>
              <a:buSzPct val="100000"/>
              <a:buChar char="•"/>
            </a:pPr>
            <a:r>
              <a:rPr lang="en-US" sz="1600" dirty="0">
                <a:solidFill>
                  <a:srgbClr val="3A464C"/>
                </a:solidFill>
                <a:latin typeface="Calibri" pitchFamily="34" charset="0"/>
                <a:ea typeface="Calibri" pitchFamily="34" charset="-122"/>
                <a:cs typeface="Calibri" pitchFamily="34" charset="-120"/>
              </a:rPr>
              <a:t>Is your browser CPU-bound or I/O-bound while you read a page? And while it plays a video?</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4 — Key Takeaways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39</a:t>
            </a:r>
            <a:endParaRPr lang="en-US" sz="900" dirty="0"/>
          </a:p>
        </p:txBody>
      </p:sp>
      <p:sp>
        <p:nvSpPr>
          <p:cNvPr id="6" name="Text 4"/>
          <p:cNvSpPr txBox="1"/>
          <p:nvPr/>
        </p:nvSpPr>
        <p:spPr>
          <a:xfrm>
            <a:off x="548640" y="1600200"/>
            <a:ext cx="11064240" cy="4663440"/>
          </a:xfrm>
          <a:prstGeom prst="rect">
            <a:avLst/>
          </a:prstGeom>
          <a:noFill/>
          <a:ln/>
        </p:spPr>
        <p:txBody>
          <a:bodyPr wrap="square" lIns="0" tIns="0" rIns="0" bIns="0" rtlCol="0" anchor="t"/>
          <a:lstStyle/>
          <a:p>
            <a:pPr marL="228600" indent="-228600">
              <a:spcAft>
                <a:spcPts val="2000"/>
              </a:spcAft>
              <a:buSzPct val="100000"/>
              <a:buChar char="•"/>
            </a:pPr>
            <a:r>
              <a:rPr lang="en-US" sz="1900" b="1" dirty="0">
                <a:solidFill>
                  <a:srgbClr val="3A464C"/>
                </a:solidFill>
                <a:latin typeface="Calibri" pitchFamily="34" charset="0"/>
                <a:ea typeface="Calibri" pitchFamily="34" charset="-122"/>
                <a:cs typeface="Calibri" pitchFamily="34" charset="-120"/>
              </a:rPr>
              <a:t>Thread:</a:t>
            </a:r>
            <a:r>
              <a:rPr lang="en-US" sz="1900" dirty="0">
                <a:solidFill>
                  <a:srgbClr val="3A464C"/>
                </a:solidFill>
                <a:latin typeface="Calibri" pitchFamily="34" charset="0"/>
                <a:ea typeface="Calibri" pitchFamily="34" charset="-122"/>
                <a:cs typeface="Calibri" pitchFamily="34" charset="-120"/>
              </a:rPr>
              <a:t> a unit of execution with its own PC, registers and stack; threads of a process share code, data, heap and files.</a:t>
            </a:r>
            <a:endParaRPr lang="en-US" sz="1900" dirty="0"/>
          </a:p>
          <a:p>
            <a:pPr marL="228600" indent="-228600">
              <a:spcAft>
                <a:spcPts val="2000"/>
              </a:spcAft>
              <a:buSzPct val="100000"/>
              <a:buChar char="•"/>
            </a:pPr>
            <a:r>
              <a:rPr lang="en-US" sz="1900" b="1" dirty="0">
                <a:solidFill>
                  <a:srgbClr val="3A464C"/>
                </a:solidFill>
                <a:latin typeface="Calibri" pitchFamily="34" charset="0"/>
                <a:ea typeface="Calibri" pitchFamily="34" charset="-122"/>
                <a:cs typeface="Calibri" pitchFamily="34" charset="-120"/>
              </a:rPr>
              <a:t>Benefits:</a:t>
            </a:r>
            <a:r>
              <a:rPr lang="en-US" sz="1900" dirty="0">
                <a:solidFill>
                  <a:srgbClr val="3A464C"/>
                </a:solidFill>
                <a:latin typeface="Calibri" pitchFamily="34" charset="0"/>
                <a:ea typeface="Calibri" pitchFamily="34" charset="-122"/>
                <a:cs typeface="Calibri" pitchFamily="34" charset="-120"/>
              </a:rPr>
              <a:t> responsiveness, resource sharing, economy (≈ 4× cheaper to create here), scalability on multicore.</a:t>
            </a:r>
            <a:endParaRPr lang="en-US" sz="1900" dirty="0"/>
          </a:p>
          <a:p>
            <a:pPr marL="228600" indent="-228600">
              <a:spcAft>
                <a:spcPts val="2000"/>
              </a:spcAft>
              <a:buSzPct val="100000"/>
              <a:buChar char="•"/>
            </a:pPr>
            <a:r>
              <a:rPr lang="en-US" sz="1900" b="1" dirty="0">
                <a:solidFill>
                  <a:srgbClr val="3A464C"/>
                </a:solidFill>
                <a:latin typeface="Calibri" pitchFamily="34" charset="0"/>
                <a:ea typeface="Calibri" pitchFamily="34" charset="-122"/>
                <a:cs typeface="Calibri" pitchFamily="34" charset="-120"/>
              </a:rPr>
              <a:t>Amdahl's law:</a:t>
            </a:r>
            <a:r>
              <a:rPr lang="en-US" sz="1900" dirty="0">
                <a:solidFill>
                  <a:srgbClr val="3A464C"/>
                </a:solidFill>
                <a:latin typeface="Calibri" pitchFamily="34" charset="0"/>
                <a:ea typeface="Calibri" pitchFamily="34" charset="-122"/>
                <a:cs typeface="Calibri" pitchFamily="34" charset="-120"/>
              </a:rPr>
              <a:t> speedup ≤ 1 / (S + (1 − S)/N); the serial part S sets the limit 1/S.</a:t>
            </a:r>
            <a:endParaRPr lang="en-US" sz="1900" dirty="0"/>
          </a:p>
          <a:p>
            <a:pPr marL="228600" indent="-228600">
              <a:spcAft>
                <a:spcPts val="2000"/>
              </a:spcAft>
              <a:buSzPct val="100000"/>
              <a:buChar char="•"/>
            </a:pPr>
            <a:r>
              <a:rPr lang="en-US" sz="1900" b="1" dirty="0">
                <a:solidFill>
                  <a:srgbClr val="3A464C"/>
                </a:solidFill>
                <a:latin typeface="Calibri" pitchFamily="34" charset="0"/>
                <a:ea typeface="Calibri" pitchFamily="34" charset="-122"/>
                <a:cs typeface="Calibri" pitchFamily="34" charset="-120"/>
              </a:rPr>
              <a:t>Models:</a:t>
            </a:r>
            <a:r>
              <a:rPr lang="en-US" sz="1900" dirty="0">
                <a:solidFill>
                  <a:srgbClr val="3A464C"/>
                </a:solidFill>
                <a:latin typeface="Calibri" pitchFamily="34" charset="0"/>
                <a:ea typeface="Calibri" pitchFamily="34" charset="-122"/>
                <a:cs typeface="Calibri" pitchFamily="34" charset="-120"/>
              </a:rPr>
              <a:t> many-to-one, one-to-one (Linux, Windows), many-to-many; Pthreads: pthread_create / pthread_join.</a:t>
            </a:r>
            <a:endParaRPr lang="en-US" sz="1900" dirty="0"/>
          </a:p>
          <a:p>
            <a:pPr marL="228600" indent="-228600">
              <a:spcAft>
                <a:spcPts val="2000"/>
              </a:spcAft>
              <a:buSzPct val="100000"/>
              <a:buChar char="•"/>
            </a:pPr>
            <a:r>
              <a:rPr lang="en-US" sz="1900" b="1" dirty="0">
                <a:solidFill>
                  <a:srgbClr val="3A464C"/>
                </a:solidFill>
                <a:latin typeface="Calibri" pitchFamily="34" charset="0"/>
                <a:ea typeface="Calibri" pitchFamily="34" charset="-122"/>
                <a:cs typeface="Calibri" pitchFamily="34" charset="-120"/>
              </a:rPr>
              <a:t>Scheduling basics:</a:t>
            </a:r>
            <a:r>
              <a:rPr lang="en-US" sz="1900" dirty="0">
                <a:solidFill>
                  <a:srgbClr val="3A464C"/>
                </a:solidFill>
                <a:latin typeface="Calibri" pitchFamily="34" charset="0"/>
                <a:ea typeface="Calibri" pitchFamily="34" charset="-122"/>
                <a:cs typeface="Calibri" pitchFamily="34" charset="-120"/>
              </a:rPr>
              <a:t> CPU–I/O bursts, ready queue, four decision points, preemptive vs. non-preemptive, dispatch latency.</a:t>
            </a:r>
            <a:endParaRPr lang="en-US" sz="1900" dirty="0"/>
          </a:p>
          <a:p>
            <a:pPr marL="228600" indent="-228600">
              <a:spcAft>
                <a:spcPts val="2000"/>
              </a:spcAft>
              <a:buSzPct val="100000"/>
              <a:buChar char="•"/>
            </a:pPr>
            <a:r>
              <a:rPr lang="en-US" sz="1900" b="1" dirty="0">
                <a:solidFill>
                  <a:srgbClr val="3A464C"/>
                </a:solidFill>
                <a:latin typeface="Calibri" pitchFamily="34" charset="0"/>
                <a:ea typeface="Calibri" pitchFamily="34" charset="-122"/>
                <a:cs typeface="Calibri" pitchFamily="34" charset="-120"/>
              </a:rPr>
              <a:t>Criteria:</a:t>
            </a:r>
            <a:r>
              <a:rPr lang="en-US" sz="1900" dirty="0">
                <a:solidFill>
                  <a:srgbClr val="3A464C"/>
                </a:solidFill>
                <a:latin typeface="Calibri" pitchFamily="34" charset="0"/>
                <a:ea typeface="Calibri" pitchFamily="34" charset="-122"/>
                <a:cs typeface="Calibri" pitchFamily="34" charset="-120"/>
              </a:rPr>
              <a:t> maximise utilisation and throughput; minimise turnaround (C − A), waiting (TAT − B) and response time.</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QUICK QUIZ</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Check Your Understanding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4  ·  40</a:t>
            </a:r>
            <a:endParaRPr lang="en-US"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Shape 5"/>
          <p:cNvSpPr/>
          <p:nvPr/>
        </p:nvSpPr>
        <p:spPr>
          <a:xfrm>
            <a:off x="777240" y="1780794"/>
            <a:ext cx="493776" cy="493776"/>
          </a:xfrm>
          <a:prstGeom prst="ellipse">
            <a:avLst/>
          </a:prstGeom>
          <a:solidFill>
            <a:srgbClr val="02C39A"/>
          </a:solidFill>
          <a:ln/>
        </p:spPr>
        <p:txBody>
          <a:bodyPr/>
          <a:p/>
        </p:txBody>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Two threads of the same process: name two things they share and two things each has privately.</a:t>
            </a:r>
            <a:endParaRPr lang="en-US"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Shape 9"/>
          <p:cNvSpPr/>
          <p:nvPr/>
        </p:nvSpPr>
        <p:spPr>
          <a:xfrm>
            <a:off x="777240" y="3019806"/>
            <a:ext cx="493776" cy="493776"/>
          </a:xfrm>
          <a:prstGeom prst="ellipse">
            <a:avLst/>
          </a:prstGeom>
          <a:solidFill>
            <a:srgbClr val="02C39A"/>
          </a:solidFill>
          <a:ln/>
        </p:spPr>
        <p:txBody>
          <a:bodyPr/>
          <a:p/>
        </p:txBody>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A program is 90 % parallel. What is the maximum speedup on 4 cores? And on infinitely many cores?</a:t>
            </a:r>
            <a:endParaRPr lang="en-US"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Shape 13"/>
          <p:cNvSpPr/>
          <p:nvPr/>
        </p:nvSpPr>
        <p:spPr>
          <a:xfrm>
            <a:off x="777240" y="4258818"/>
            <a:ext cx="493776" cy="493776"/>
          </a:xfrm>
          <a:prstGeom prst="ellipse">
            <a:avLst/>
          </a:prstGeom>
          <a:solidFill>
            <a:srgbClr val="02C39A"/>
          </a:solidFill>
          <a:ln/>
        </p:spPr>
        <p:txBody>
          <a:bodyPr/>
          <a:p/>
        </p:txBody>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Why can a many-to-one thread library not use a second CPU core?</a:t>
            </a:r>
            <a:endParaRPr lang="en-US"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Shape 17"/>
          <p:cNvSpPr/>
          <p:nvPr/>
        </p:nvSpPr>
        <p:spPr>
          <a:xfrm>
            <a:off x="777240" y="5497830"/>
            <a:ext cx="493776" cy="493776"/>
          </a:xfrm>
          <a:prstGeom prst="ellipse">
            <a:avLst/>
          </a:prstGeom>
          <a:solidFill>
            <a:srgbClr val="02C39A"/>
          </a:solidFill>
          <a:ln/>
        </p:spPr>
        <p:txBody>
          <a:bodyPr/>
          <a:p/>
        </p:txBody>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P1 (arrival 0, burst 4) and P2 (arrival 1, burst 2) run FCFS. Find the turnaround and waiting time of each.</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NEXT WEEK</a:t>
            </a:r>
            <a:endParaRPr lang="en-US"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Scheduling Algorithms &amp; Synchronisation</a:t>
            </a:r>
            <a:endParaRPr lang="en-US" sz="3400" dirty="0"/>
          </a:p>
        </p:txBody>
      </p:sp>
      <p:sp>
        <p:nvSpPr>
          <p:cNvPr id="4" name="Shape 2"/>
          <p:cNvSpPr/>
          <p:nvPr/>
        </p:nvSpPr>
        <p:spPr>
          <a:xfrm>
            <a:off x="548640" y="2834640"/>
            <a:ext cx="7680960" cy="2926080"/>
          </a:xfrm>
          <a:prstGeom prst="roundRect">
            <a:avLst>
              <a:gd name="adj" fmla="val 1875"/>
            </a:avLst>
          </a:prstGeom>
          <a:solidFill>
            <a:srgbClr val="36454F"/>
          </a:solidFill>
          <a:ln/>
        </p:spPr>
        <p:txBody>
          <a:bodyPr/>
          <a:p/>
        </p:txBody>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Week 5 will cover:</a:t>
            </a:r>
            <a:endParaRPr lang="en-US"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Scheduling algorithms: FCFS, SJF / SRTF, Priority, Round Robin</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Gantt charts and average waiting times for each algorithm</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Race conditions and the critical-section problem</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Mutex locks and semaphores</a:t>
            </a:r>
            <a:endParaRPr lang="en-US"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4  ·  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QUESTIONS?</a:t>
            </a:r>
            <a:endParaRPr lang="en-US"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Discussion</a:t>
            </a:r>
            <a:endParaRPr lang="en-US"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en-US" sz="1400" i="1" dirty="0">
                <a:solidFill>
                  <a:srgbClr val="F2F2F2"/>
                </a:solidFill>
                <a:latin typeface="Calibri" pitchFamily="34" charset="0"/>
                <a:ea typeface="Calibri" pitchFamily="34" charset="-122"/>
                <a:cs typeface="Calibri" pitchFamily="34" charset="-120"/>
              </a:rPr>
              <a:t>If you have questions after class, ask them on the course Telegram channel — everyone benefits from the answer.</a:t>
            </a:r>
            <a:endParaRPr lang="en-US" sz="1400" dirty="0"/>
          </a:p>
        </p:txBody>
      </p:sp>
      <p:sp>
        <p:nvSpPr>
          <p:cNvPr id="7" name="Text 4"/>
          <p:cNvSpPr txBox="1"/>
          <p:nvPr/>
        </p:nvSpPr>
        <p:spPr>
          <a:xfrm>
            <a:off x="548640" y="3703320"/>
            <a:ext cx="5486400" cy="1463040"/>
          </a:xfrm>
          <a:prstGeom prst="rect">
            <a:avLst/>
          </a:prstGeom>
          <a:noFill/>
          <a:ln/>
        </p:spPr>
        <p:txBody>
          <a:bodyPr wrap="square" lIns="0" tIns="0" rIns="0" bIns="0" rtlCol="0" anchor="t"/>
          <a:lstStyle/>
          <a:p>
            <a:pPr indent="0" marL="0">
              <a:spcAft>
                <a:spcPts val="400"/>
              </a:spcAft>
              <a:buNone/>
            </a:pPr>
            <a:r>
              <a:rPr lang="en-US" sz="1400" b="1" dirty="0">
                <a:solidFill>
                  <a:srgbClr val="F2F2F2"/>
                </a:solidFill>
                <a:latin typeface="Calibri" pitchFamily="34" charset="0"/>
                <a:ea typeface="Calibri" pitchFamily="34" charset="-122"/>
                <a:cs typeface="Calibri" pitchFamily="34" charset="-120"/>
              </a:rPr>
              <a:t>Asst. Prof. Dr. Hasan Oğuz</a:t>
            </a:r>
            <a:endParaRPr lang="en-US"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4  ·  42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MCMP117 Week 4</dc:title>
  <dc:subject>PptxGenJS Presentation</dc:subject>
  <dc:creator>PptxGenJS</dc:creator>
  <cp:lastModifiedBy>PptxGenJS</cp:lastModifiedBy>
  <cp:revision>1</cp:revision>
  <dcterms:created xsi:type="dcterms:W3CDTF">2026-10-08T13:03:28Z</dcterms:created>
  <dcterms:modified xsi:type="dcterms:W3CDTF">2026-10-08T13:03:28Z</dcterms:modified>
</cp:coreProperties>
</file>