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after the midterm. Today starts the hands-on half of the course: six weeks in the Linux shell (Weeks 9 to 14). Plan: first we make sure everybody can open a Linux terminal (lab PC, WSL or a virtual machine) and has the lab folder. Then: what a shell is, the first commands, pwd and ls, the directory tree and cd, getting help, and a navigation treasure hunt in the lab folder. Ask students to keep a terminal open next to the slides and type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Do not re-teach the midterm; just reconnect. Ask: which part of the OS runs in kernel mode? (the kernel). How does a user program ask the kernel for a service? (a system call). What two calls does a shell use to start a program? (fork and exec, Week 3). Then motivate: from now on, every week we will SEE these ideas in a real Linux system: today the shell as a system program and the directory tree, Week 11 permissions (protection), Week 13 processes and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 to 4 before the break, 5 and 6 after it. The last 30–40 minutes are for the in-class lab (treasure hunt). Everything we type today is in the code/ folder of this week (demo_*.sh) with the real output (out_*.txt).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else, every student needs a working terminal. Ask who already has WSL or a VM. Pair students without a laptop with someone who has one, or use the lab PCs.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slides were captured on Ubuntu 24.04 LTS with the user 'student' and host name 'okan-lab'. On a Mac, the built-in Terminal (zsh on macOS) understands most of today's commands, but some options differ; a Linux VM (UTM is a free option on Apple Silicon Macs) is better for the coming weeks. Placeholder in brackets: confirm the lab room, login and OS before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wsl --install enables the needed Windows features, installs WSL 2 and the default distribution, Ubuntu. Lines starting with # in the dark box are comments, not commands. wsl -l -v (list, verbose) shows the installed distributions and whether they use WSL version 2. A specific version can be requested with wsl --install -d Ubuntu-24.04. The Linux user created at first start is an administrator of that Ubuntu (it may use sudo). Typical problems: old Windows build (run Windows Update), virtualization disabled in firmware, or company-managed laptops that block it — then use a lab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 GB / 25 GB figures follow Ubuntu's own desktop recommendations; with 8 GB of RAM on the host, 4 GB for the VM is fine; on a 4 GB laptop prefer WSL. VirtualBox 7 can run an 'unattended installation' that fills in the user name and password for you; both ways work. Reassure students: 'Erase disk and install Ubuntu' inside the VM only touches the virtual disk file (a .vdi file in their user folder). If the VM will not start, virtualization (VT-x/AMD-V) is probably disabled in the BIOS/UEFI.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script creates ~/lab with documents, data files, logs, a small C program, empty 'photos' and a small project tree. It contains no randomness, so everybody gets exactly the same files as on the slides. It is safe to run again: it deletes and re-creates ONLY the lab folder — so do not keep your own work inside ~/lab. 'bash file.sh' runs the script with bash; we do not need to make it executable yet (Week 11, chmod). Replace 'ayse' by your own Windows user name. If the file was opened and saved in Notepad, it may get Windows line endings and fail with "$'\r': command not found" — download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say 'terminal', 'shell', 'command line' and 'Linux' as if they were the same thing. Today we separate them, using the layer picture from Week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the kernel is the one program always running; system programs such as the shell, ls and cp run in user mode. Week 3: the command interpreter is a user-level system program, not part of the kernel. Emphasise the dashed red line: the shell cannot touch the disk or the screen hardware directly; it, and every command it starts, must use system calls. Historically the 'terminal' was a physical device (a teletype or a video terminal like the VT100); today it is a program that emulates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fork_exec_wait.c program from Week 3: a parent forks, the child execs a program, the parent waits. A shell is that program in a loop: read a line, fork, exec, wait, repeat. Some commands are 'builtins' that bash runs itself without a new process — cd, pwd, echo, history; we will see why cd MUST be a builtin later today. 'type ls' tells you which kind a command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filtered with -e trace=... to three system calls; without the filter ls makes several dozen calls (memory mapping, opening libraries, locale files). In Week 2 we used strace on a C program; here the same tool shows that even a simple command is just a sequence of system calls. File descriptor 1 is standard output — the topic of Week 12. 'strace' may need to be installed: sudo apt install strace.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parts of the prompt on a real terminal. Students will see the prompt change when they cd. On Ubuntu the default prompt is user@host:directory$ and bash shows ~ for the home directory. Single-letter options can be combined: ls -l -a = ls -la = ls -al. Long options start with two dashes (--all, --help) and cannot be combined. An option may take a value: head -n 4. Typical error: forgetting the space, e.g. 'ls-l' (command not found) or 'cd..' (works on some systems through an alias, not in plain bash).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our Ubuntu 24.04 test machine. uname without options prints only the kernel name, Linux. uname -r prints the kernel release; on a normal Ubuntu 24.04 PC you will see something like 6.8.0-xx-generic, on WSL a version ending in microsoft-standard-WSL2. The date is in UTC on our machine; yours will show local time (+03 in Istanbul). Important detail for later weeks: in 'echo My shell is $SHELL and my home is ~', echo never sees '$SHELL' or '~' — the shell expands them first. Ask students to type each command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shell (every process, in fact) has a current working directory. Relative paths are resolved from it. pwd shows it; ls lists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Ubuntu, ls is an alias for 'ls --color=auto' (defined in ~/.bashrc), so students see directories in blue — our captured output has no colours. A hidden file is just a file whose name starts with a dot; usually configuration files (~/.bashrc). Every directory contains . (itself) and .. (its parent) — the same entries we drew in Week 7. The quoting with ' ' is GNU ls's way to show that the name contains a space; the quotes are NOT part of the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of the 'looking around' part: students will read ls -l lines every week until the final. Today only the meaning of each column; Week 11 explains the permission string in detail. The link count of a directory: its entry in the parent, its own '.', and the '..' of each subdirectory; projects has alpha and beta, so 2 + 2 = 4 (verified with code/check_numbers.py). For files, a link count above 1 means hard links (Week 7, 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Numbers checked with code/check_numbers.py: 23604/1024 = 23.05, rounded UP to 24K; 5207/1024 = 5.085 → 5.1K; 1208/1024 = 1.18 → 1.2K. Files under 1024 bytes are shown in bytes. Why does a 16-byte file use 4K? The file system allocates whole blocks (Week 7, block arithmetic). ls -l docs shows a space before names without quotes so that all names line up with the quoted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tree is not always installed: 'sudo apt install tree'. sudo runs one command as the administrator (root) and asks for YOUR password; use it only for installing software in this course — never type sudo in front of a command just because it failed (Week 11). '7 directories, 6 files' — tree counts projects itself as a directory. If a command prints forever, Ctrl+C interrupts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Options combine: ls -lah, ls -ltr (oldest first — handy to find the newest file at the bottom), ls -lS. Ubuntu's ~/.bashrc also defines ll = ls -alF, la = ls -A and l = ls -CF. Do not memorise; know that 'ls --help' lists them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Students without a working terminal: come to the front during the break so that we can fix WSL/VM problems before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introduced tree-structured directories and absolute/relative paths in theory. Now we walk the real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Filesystem Hierarchy Standard (FHS) says which directory holds what, so that all distributions look alike. Additional disks and USB sticks are 'mounted' into the tree (typically under /media or /mnt) — no drive letters. On Ubuntu 24.04, /bin is a symbolic link to /usr/bin ('merged /usr'), so both names reach the same programs. /root is the home directory of the administrator, not to be confused with / (the root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in the listing of / we removed two entries that exist only on our test machine. The *.usr-is-merged directories are a leftover of Ubuntu's switch to merged /usr — ignore them. 'type ls' answers: ls is a program file in /usr/bin. Ask: why is /etc full of plain text files? (Because UNIX keeps configuration as editable text — Week 11 reads /etc/passwd.) Files in /tmp may be deleted at reboot.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a file' in UNIX: devices are accessed with the same open/read/write system calls as files (Week 2 I/O). /dev/null is the 'black hole'; /dev/zero produces zero bytes; /dev/tty is your terminal. /proc/meminfo: our test machine has about 8 GB of RAM (MemTotal 8,222,320 kB). The shell is in state S (sleeping) because it is waiting — for head to finish. Week 13 returns to /proc and ps. The PID on your machine will be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students say the route aloud: from alpha/src, up to alpha (..), up to projects (..), down to beta, down to docs: ../../beta/docs. The absolute path of the destination is /home/student/lab/projects/beta/docs; ~/lab/projects/beta/docs is the same thing written with the ~ shortcut (the shell replaces ~ by /home/student). Ask: is 'lab/docs' absolute or relative? (relative — it only works when you are in /home/student).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(a few pwd lines left out; full transcript in code/out_cd.txt). The UNIX rule 'no news is good news': cd prints nothing on success; only cd - prints the directory it jumps to. Practise: from ~/lab/projects/alpha/docs, how do you reach beta/src? (../../beta/src — last lines of the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and .. are real directory entries (shown by ls -a); ~ and - are shell shortcuts — the shell replaces ~ by $HOME before running the command, and cd - uses the variable $OLDPWD (help cd says so). '.' becomes important in Week 11/14: ./script.sh runs a script from the current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This is a nice exam-style reasoning question. The same argument explains why 'exit', 'export' and other commands that change the shell's own state must be builtins. pwd exists both as a builtin (fast, uses the shell's own record) and as the program /bin/pwd.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skills that save the most time: reading help, tab completion,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of --help, type and help (trimmed). Our test machine is a minimised Ubuntu without manual pages, so we do not show man output here; on lab PCs, WSL and the VM, 'man ls' works — show it live if possible. In the SYNOPSIS, [ ] means optional and ... means 'may be repeated': ls [OPTION]... [FILE]... means any number of options and files, all optional. If 'man' says the system has been minimised, 'sudo unminimize' restores the manuals (takes a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session. What was typed: 'cd pro' Tab 'al' Tab — the shell completed it to 'cd projects/alpha/'; 'ls ~/lab/docs/sy' Tab completed syllabus.txt (and added a space). If Tab does nothing, the start is ambiguous: press Tab twice to see the candidates. !! re-runs the last command and first prints it; !5 re-runs entry 5 of history. Ctrl+C sends the interrupt signal SIGINT to the running process (Week 13). Tip: Ctrl+R searches backwards in the history. Tab completion also prevents typing errors in long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also in the notes (with more detail). Keep it open during the lab. cat is introduced today only to read small files in the treasure hunt; Week 10 covers cat, less, head and tail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(do not show during the lab): Clue 1: src/ ('a small C program'), cd src. Clue 2: hello.c prints 'Hello from the lab!'. Clue 3: cd ../docs. Clue 4: cat "final report.txt" → last line 'This file name contains a space.' Clue 5: ls -a shows .settings; cat .settings → editor=nano. Finish: from docs, cd ../projects/beta/src → pwd prints /home/student/lab/projects/beta/src. All outputs are in code/out_lab.txt and in the Lab Sheet solutions of the notes. Walk around; check that students use relative paths where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B1: 9 entries, 8 directories + README.txt. B2: syllabus.txt, 578 bytes. B3: 23,604 bytes = 24K (23604/1024 = 23.05, rounded up). B4: /home/student/lab/projects/beta/src (cd - prints it). B5: type ls → /usr/bin/ls; ls -ld /bin → symbolic link to usr/bin; head -n 2 /etc/os-release → Ubuntu 24.04.4 LTS on our machine. B6: a directory's link count = 2 + number of subdirectories: lab has 8 subdirectories → 10; docs has none → 2 (verified with code/check_numbers.py).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error messages. Linux is case-sensitive: Docs and docs are different names. On a normal Ubuntu, a mistyped command (sl) also prints a suggestion like "Command 'sl' not found, but can be installed with: sudo apt install sl" — our minimal test shell does not have that helper. Do NOT react to 'Permission denied' with sudo: it is the protection system working as designed (Week 11). Script error "$'\r': command not found" means Windows line endings — download the file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/home/student/lab/projects/beta/src; cd - goes back to /home/student/lab/projects/alpha and prints it. (2) Command ls; options -l and -h (combined as -lh); argument /var/log. (3) 24K: 23604 / 1024 ≈ 23.05 KiB and ls -h rounds up. (4) The current directory belongs to each process; a child process (a program) could change only its own directory and then exit, leaving the shell unchanged. So the shell itself must call chdir().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quickly. Homework: finish the Lab Sheet in the notes; next week we start CHANGING the file system, so make sure ~/lab exists on your own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we stop just looking and start changing things: creating, copying, moving and deleting files and directories in ~/lab. Bring a working terminal (WSL, VM or a lab PC) — the whole lecture is hands-on. If the lab folder gets messed up, simply run the setup script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especially installation problems. Remind students that the Telegram channel is the place for WSL/VirtualBox questions during the week; screenshots of error messages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9</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9  ·  Linux Shell Basics &amp; Filesystem Navigation</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From theory to the terminal: where am I, what is here, and how do I move?</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WEEKS 1–7 · BEFORE THE MIDTERM</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Theory Half in Four Ideas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2</a:t>
            </a:r>
            <a:endParaRPr lang="en-US"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The OS</a:t>
            </a:r>
            <a:endParaRPr lang="en-US"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A resource manager and an extended machine. The kernel runs in kernel mode; everything else in user mode (W1–W2).</a:t>
            </a:r>
            <a:endParaRPr lang="en-US" sz="15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System calls</a:t>
            </a:r>
            <a:endParaRPr lang="en-US"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The only door from a program into the kernel: open, read, write, fork, exec … (W2–W3).</a:t>
            </a:r>
            <a:endParaRPr lang="en-US" sz="15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Processes</a:t>
            </a:r>
            <a:endParaRPr lang="en-US"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A program in execution: PID, state, PCB, fork() + exec(), scheduled by the CPU scheduler (W3–W5).</a:t>
            </a:r>
            <a:endParaRPr lang="en-US" sz="15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Memory &amp; files</a:t>
            </a:r>
            <a:endParaRPr lang="en-US"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Paging and virtual memory (W6–W7); files with attributes in inodes; a tree of directories with paths (W7).</a:t>
            </a:r>
            <a:endParaRPr lang="en-US" sz="15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The midterm tested these ideas on paper. From today you will see them at work: every command you type becomes a process, and every file you list is a node of the directory tree from Week 7.</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9</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3</a:t>
            </a:r>
            <a:endParaRPr lang="en-US" sz="900" dirty="0"/>
          </a:p>
        </p:txBody>
      </p:sp>
      <p:sp>
        <p:nvSpPr>
          <p:cNvPr id="6" name="Shape 4"/>
          <p:cNvSpPr/>
          <p:nvPr/>
        </p:nvSpPr>
        <p:spPr>
          <a:xfrm>
            <a:off x="548640" y="1508760"/>
            <a:ext cx="658368" cy="658368"/>
          </a:xfrm>
          <a:prstGeom prst="roundRect">
            <a:avLst>
              <a:gd name="adj" fmla="val 6944"/>
            </a:avLst>
          </a:prstGeom>
          <a:solidFill>
            <a:srgbClr val="02C39A"/>
          </a:solidFill>
          <a:ln/>
        </p:spPr>
        <p:txBody>
          <a:bodyPr/>
          <a:p/>
        </p:txBody>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371600" y="1508760"/>
            <a:ext cx="10287000" cy="658368"/>
          </a:xfrm>
          <a:prstGeom prst="roundRect">
            <a:avLst>
              <a:gd name="adj" fmla="val 6944"/>
            </a:avLst>
          </a:prstGeom>
          <a:solidFill>
            <a:srgbClr val="F2F2F2"/>
          </a:solidFill>
          <a:ln/>
        </p:spPr>
        <p:txBody>
          <a:bodyPr/>
          <a:p/>
        </p:txBody>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Getting a Linux terminal   </a:t>
            </a:r>
            <a:r>
              <a:rPr lang="en-US" sz="1500" dirty="0">
                <a:solidFill>
                  <a:srgbClr val="3A464C"/>
                </a:solidFill>
                <a:latin typeface="Calibri" pitchFamily="34" charset="0"/>
                <a:ea typeface="Calibri" pitchFamily="34" charset="-122"/>
                <a:cs typeface="Calibri" pitchFamily="34" charset="-120"/>
              </a:rPr>
              <a:t>Lab PCs, WSL on Windows, or a VirtualBox VM — and the lab folder.</a:t>
            </a:r>
            <a:endParaRPr lang="en-US" sz="1400" dirty="0"/>
          </a:p>
        </p:txBody>
      </p:sp>
      <p:sp>
        <p:nvSpPr>
          <p:cNvPr id="10" name="Shape 8"/>
          <p:cNvSpPr/>
          <p:nvPr/>
        </p:nvSpPr>
        <p:spPr>
          <a:xfrm>
            <a:off x="548640" y="2295144"/>
            <a:ext cx="658368" cy="658368"/>
          </a:xfrm>
          <a:prstGeom prst="roundRect">
            <a:avLst>
              <a:gd name="adj" fmla="val 6944"/>
            </a:avLst>
          </a:prstGeom>
          <a:solidFill>
            <a:srgbClr val="02C39A"/>
          </a:solidFill>
          <a:ln/>
        </p:spPr>
        <p:txBody>
          <a:bodyPr/>
          <a:p/>
        </p:txBody>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txBody>
          <a:bodyPr/>
          <a:p/>
        </p:txBody>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Terminal, shell, kernel   </a:t>
            </a:r>
            <a:r>
              <a:rPr lang="en-US" sz="1500" dirty="0">
                <a:solidFill>
                  <a:srgbClr val="3A464C"/>
                </a:solidFill>
                <a:latin typeface="Calibri" pitchFamily="34" charset="0"/>
                <a:ea typeface="Calibri" pitchFamily="34" charset="-122"/>
                <a:cs typeface="Calibri" pitchFamily="34" charset="-120"/>
              </a:rPr>
              <a:t>Who does what when you type a command; commands become system calls.</a:t>
            </a:r>
            <a:endParaRPr lang="en-US" sz="1400" dirty="0"/>
          </a:p>
        </p:txBody>
      </p:sp>
      <p:sp>
        <p:nvSpPr>
          <p:cNvPr id="14" name="Shape 12"/>
          <p:cNvSpPr/>
          <p:nvPr/>
        </p:nvSpPr>
        <p:spPr>
          <a:xfrm>
            <a:off x="548640" y="3081528"/>
            <a:ext cx="658368" cy="658368"/>
          </a:xfrm>
          <a:prstGeom prst="roundRect">
            <a:avLst>
              <a:gd name="adj" fmla="val 6944"/>
            </a:avLst>
          </a:prstGeom>
          <a:solidFill>
            <a:srgbClr val="02C39A"/>
          </a:solidFill>
          <a:ln/>
        </p:spPr>
        <p:txBody>
          <a:bodyPr/>
          <a:p/>
        </p:txBody>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txBody>
          <a:bodyPr/>
          <a:p/>
        </p:txBody>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First commands   </a:t>
            </a:r>
            <a:r>
              <a:rPr lang="en-US" sz="1500" dirty="0">
                <a:solidFill>
                  <a:srgbClr val="3A464C"/>
                </a:solidFill>
                <a:latin typeface="Calibri" pitchFamily="34" charset="0"/>
                <a:ea typeface="Calibri" pitchFamily="34" charset="-122"/>
                <a:cs typeface="Calibri" pitchFamily="34" charset="-120"/>
              </a:rPr>
              <a:t>The prompt, command anatomy, whoami, date, echo, uname.</a:t>
            </a:r>
            <a:endParaRPr lang="en-US" sz="1400" dirty="0"/>
          </a:p>
        </p:txBody>
      </p:sp>
      <p:sp>
        <p:nvSpPr>
          <p:cNvPr id="18" name="Shape 16"/>
          <p:cNvSpPr/>
          <p:nvPr/>
        </p:nvSpPr>
        <p:spPr>
          <a:xfrm>
            <a:off x="548640" y="3867912"/>
            <a:ext cx="658368" cy="658368"/>
          </a:xfrm>
          <a:prstGeom prst="roundRect">
            <a:avLst>
              <a:gd name="adj" fmla="val 6944"/>
            </a:avLst>
          </a:prstGeom>
          <a:solidFill>
            <a:srgbClr val="02C39A"/>
          </a:solidFill>
          <a:ln/>
        </p:spPr>
        <p:txBody>
          <a:bodyPr/>
          <a:p/>
        </p:txBody>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txBody>
          <a:bodyPr/>
          <a:p/>
        </p:txBody>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Looking around   </a:t>
            </a:r>
            <a:r>
              <a:rPr lang="en-US" sz="1500" dirty="0">
                <a:solidFill>
                  <a:srgbClr val="3A464C"/>
                </a:solidFill>
                <a:latin typeface="Calibri" pitchFamily="34" charset="0"/>
                <a:ea typeface="Calibri" pitchFamily="34" charset="-122"/>
                <a:cs typeface="Calibri" pitchFamily="34" charset="-120"/>
              </a:rPr>
              <a:t>pwd and ls; reading ls -l line by line.</a:t>
            </a:r>
            <a:endParaRPr lang="en-US" sz="1400" dirty="0"/>
          </a:p>
        </p:txBody>
      </p:sp>
      <p:sp>
        <p:nvSpPr>
          <p:cNvPr id="22" name="Shape 20"/>
          <p:cNvSpPr/>
          <p:nvPr/>
        </p:nvSpPr>
        <p:spPr>
          <a:xfrm>
            <a:off x="548640" y="4654296"/>
            <a:ext cx="658368" cy="658368"/>
          </a:xfrm>
          <a:prstGeom prst="roundRect">
            <a:avLst>
              <a:gd name="adj" fmla="val 6944"/>
            </a:avLst>
          </a:prstGeom>
          <a:solidFill>
            <a:srgbClr val="02C39A"/>
          </a:solidFill>
          <a:ln/>
        </p:spPr>
        <p:txBody>
          <a:bodyPr/>
          <a:p/>
        </p:txBody>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txBody>
          <a:bodyPr/>
          <a:p/>
        </p:txBody>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Moving around   </a:t>
            </a:r>
            <a:r>
              <a:rPr lang="en-US" sz="1500" dirty="0">
                <a:solidFill>
                  <a:srgbClr val="3A464C"/>
                </a:solidFill>
                <a:latin typeface="Calibri" pitchFamily="34" charset="0"/>
                <a:ea typeface="Calibri" pitchFamily="34" charset="-122"/>
                <a:cs typeface="Calibri" pitchFamily="34" charset="-120"/>
              </a:rPr>
              <a:t>The Linux directory tree (FHS), cd, absolute and relative paths.</a:t>
            </a:r>
            <a:endParaRPr lang="en-US" sz="1400" dirty="0"/>
          </a:p>
        </p:txBody>
      </p:sp>
      <p:sp>
        <p:nvSpPr>
          <p:cNvPr id="26" name="Shape 24"/>
          <p:cNvSpPr/>
          <p:nvPr/>
        </p:nvSpPr>
        <p:spPr>
          <a:xfrm>
            <a:off x="548640" y="5440680"/>
            <a:ext cx="658368" cy="658368"/>
          </a:xfrm>
          <a:prstGeom prst="roundRect">
            <a:avLst>
              <a:gd name="adj" fmla="val 6944"/>
            </a:avLst>
          </a:prstGeom>
          <a:solidFill>
            <a:srgbClr val="02C39A"/>
          </a:solidFill>
          <a:ln/>
        </p:spPr>
        <p:txBody>
          <a:bodyPr/>
          <a:p/>
        </p:txBody>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6</a:t>
            </a:r>
            <a:endParaRPr lang="en-US"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txBody>
          <a:bodyPr/>
          <a:p/>
        </p:txBody>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Working smarter + lab   </a:t>
            </a:r>
            <a:r>
              <a:rPr lang="en-US" sz="1500" dirty="0">
                <a:solidFill>
                  <a:srgbClr val="3A464C"/>
                </a:solidFill>
                <a:latin typeface="Calibri" pitchFamily="34" charset="0"/>
                <a:ea typeface="Calibri" pitchFamily="34" charset="-122"/>
                <a:cs typeface="Calibri" pitchFamily="34" charset="-120"/>
              </a:rPr>
              <a:t>Help, tab completion, history, shortcuts — then the treasure hunt.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Getting a Linux Terminal</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Three ways to have a Linux shell in front of you — pick one today.</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9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GETTING LINUX</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Three Ways to Get a Linux Shell</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5</a:t>
            </a:r>
            <a:endParaRPr lang="en-US"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1 · Lab PCs</a:t>
            </a:r>
            <a:endParaRPr lang="en-US"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Already installed: log in and open Terminal.</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[Room, login and which system: to be confirmed by the instructor]</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Nothing to install — but your files stay on that PC.</a:t>
            </a:r>
            <a:endParaRPr lang="en-US" sz="145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2 · WSL (Windows 10/11)</a:t>
            </a:r>
            <a:endParaRPr lang="en-US"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Windows Subsystem for Linux: a real Linux kernel and Ubuntu inside Windows.</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One command: wsl --install</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Recommended for Windows laptops: fast, light, no reboot to switch.</a:t>
            </a:r>
            <a:endParaRPr lang="en-US" sz="145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3 · VirtualBox + Ubuntu</a:t>
            </a:r>
            <a:endParaRPr lang="en-US"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A complete Ubuntu PC (with desktop) running in a window.</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Needs about 4 GB RAM and 25 GB of disk for the VM.</a:t>
            </a:r>
            <a:endParaRPr lang="en-US" sz="1450" dirty="0"/>
          </a:p>
          <a:p>
            <a:pPr marL="228600" indent="-228600">
              <a:spcAft>
                <a:spcPts val="400"/>
              </a:spcAft>
              <a:buSzPct val="100000"/>
              <a:buChar char="•"/>
            </a:pPr>
            <a:r>
              <a:rPr lang="en-US" sz="1450" dirty="0">
                <a:solidFill>
                  <a:srgbClr val="3A464C"/>
                </a:solidFill>
                <a:latin typeface="Calibri" pitchFamily="34" charset="0"/>
                <a:ea typeface="Calibri" pitchFamily="34" charset="-122"/>
                <a:cs typeface="Calibri" pitchFamily="34" charset="-120"/>
              </a:rPr>
              <a:t>Works on Windows and Intel Macs; you also learn installation.</a:t>
            </a:r>
            <a:endParaRPr lang="en-US" sz="145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Any of the three is fine: the commands are identical. Output on your machine (dates, sizes, user names, PIDs) will differ from the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GETTING LINUX · WSL</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WSL: Ubuntu Inside Windows in Four Steps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6</a:t>
            </a:r>
            <a:endParaRPr lang="en-US" sz="900" dirty="0"/>
          </a:p>
        </p:txBody>
      </p:sp>
      <p:sp>
        <p:nvSpPr>
          <p:cNvPr id="6" name="Shape 4"/>
          <p:cNvSpPr/>
          <p:nvPr/>
        </p:nvSpPr>
        <p:spPr>
          <a:xfrm>
            <a:off x="548640" y="1508760"/>
            <a:ext cx="6035040" cy="2743200"/>
          </a:xfrm>
          <a:prstGeom prst="roundRect">
            <a:avLst>
              <a:gd name="adj" fmla="val 1667"/>
            </a:avLst>
          </a:prstGeom>
          <a:solidFill>
            <a:srgbClr val="212121"/>
          </a:solidFill>
          <a:ln/>
        </p:spPr>
        <p:txBody>
          <a:bodyPr/>
          <a:p/>
        </p:txBody>
      </p:sp>
      <p:sp>
        <p:nvSpPr>
          <p:cNvPr id="7" name="Text 5"/>
          <p:cNvSpPr txBox="1"/>
          <p:nvPr/>
        </p:nvSpPr>
        <p:spPr>
          <a:xfrm>
            <a:off x="731520" y="1618488"/>
            <a:ext cx="5669280" cy="2523744"/>
          </a:xfrm>
          <a:prstGeom prst="rect">
            <a:avLst/>
          </a:prstGeom>
          <a:noFill/>
          <a:ln/>
        </p:spPr>
        <p:txBody>
          <a:bodyPr wrap="square" lIns="0" tIns="0" rIns="0" bIns="0" rtlCol="0" anchor="t"/>
          <a:lstStyle/>
          <a:p>
            <a:pPr indent="0" marL="0">
              <a:lnSpc>
                <a:spcPct val="100000"/>
              </a:lnSpc>
              <a:buNone/>
            </a:pPr>
            <a:r>
              <a:rPr lang="en-US" sz="1300" dirty="0">
                <a:solidFill>
                  <a:srgbClr val="8A9AA0"/>
                </a:solidFill>
                <a:latin typeface="Consolas" pitchFamily="34" charset="0"/>
                <a:ea typeface="Consolas" pitchFamily="34" charset="-122"/>
                <a:cs typeface="Consolas" pitchFamily="34" charset="-120"/>
              </a:rPr>
              <a:t># 1. PowerShell "Run as administrator"</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PS C:\Windows\system32&gt; </a:t>
            </a:r>
            <a:r>
              <a:rPr lang="en-US" sz="1300" b="1" dirty="0">
                <a:solidFill>
                  <a:srgbClr val="FFFFFF"/>
                </a:solidFill>
                <a:latin typeface="Consolas" pitchFamily="34" charset="0"/>
                <a:ea typeface="Consolas" pitchFamily="34" charset="-122"/>
                <a:cs typeface="Consolas" pitchFamily="34" charset="-120"/>
              </a:rPr>
              <a:t>wsl --install</a:t>
            </a:r>
            <a:endParaRPr lang="en-US" sz="1300" dirty="0"/>
          </a:p>
          <a:p>
            <a:pPr indent="0" marL="0">
              <a:lnSpc>
                <a:spcPct val="100000"/>
              </a:lnSpc>
              <a:buNone/>
            </a:pPr>
            <a:r>
              <a:rPr lang="en-US" sz="1300" dirty="0">
                <a:solidFill>
                  <a:srgbClr val="8A9AA0"/>
                </a:solidFill>
                <a:latin typeface="Consolas" pitchFamily="34" charset="0"/>
                <a:ea typeface="Consolas" pitchFamily="34" charset="-122"/>
                <a:cs typeface="Consolas" pitchFamily="34" charset="-120"/>
              </a:rPr>
              <a:t># ... downloads WSL and Ubuntu, then asks</a:t>
            </a:r>
            <a:endParaRPr lang="en-US" sz="1300" dirty="0"/>
          </a:p>
          <a:p>
            <a:pPr indent="0" marL="0">
              <a:lnSpc>
                <a:spcPct val="100000"/>
              </a:lnSpc>
              <a:buNone/>
            </a:pPr>
            <a:r>
              <a:rPr lang="en-US" sz="1300" dirty="0">
                <a:solidFill>
                  <a:srgbClr val="8A9AA0"/>
                </a:solidFill>
                <a:latin typeface="Consolas" pitchFamily="34" charset="0"/>
                <a:ea typeface="Consolas" pitchFamily="34" charset="-122"/>
                <a:cs typeface="Consolas" pitchFamily="34" charset="-120"/>
              </a:rPr>
              <a:t>#     you to restart Windows</a:t>
            </a:r>
            <a:endParaRPr lang="en-US" sz="1300" dirty="0"/>
          </a:p>
          <a:p>
            <a:pPr indent="0" marL="0">
              <a:lnSpc>
                <a:spcPct val="100000"/>
              </a:lnSpc>
              <a:buNone/>
            </a:pPr>
            <a:r>
              <a:rPr lang="en-US" sz="1300" dirty="0">
                <a:solidFill>
                  <a:srgbClr val="F2F2F2"/>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8A9AA0"/>
                </a:solidFill>
                <a:latin typeface="Consolas" pitchFamily="34" charset="0"/>
                <a:ea typeface="Consolas" pitchFamily="34" charset="-122"/>
                <a:cs typeface="Consolas" pitchFamily="34" charset="-120"/>
              </a:rPr>
              <a:t># after the restart: check what is installed</a:t>
            </a:r>
            <a:endParaRPr lang="en-US" sz="1300" dirty="0"/>
          </a:p>
          <a:p>
            <a:pPr indent="0" marL="0">
              <a:lnSpc>
                <a:spcPct val="100000"/>
              </a:lnSpc>
              <a:buNone/>
            </a:pPr>
            <a:r>
              <a:rPr lang="en-US" sz="1300" dirty="0">
                <a:solidFill>
                  <a:srgbClr val="02C39A"/>
                </a:solidFill>
                <a:latin typeface="Consolas" pitchFamily="34" charset="0"/>
                <a:ea typeface="Consolas" pitchFamily="34" charset="-122"/>
                <a:cs typeface="Consolas" pitchFamily="34" charset="-120"/>
              </a:rPr>
              <a:t>PS C:\Users\ayse&gt; </a:t>
            </a:r>
            <a:r>
              <a:rPr lang="en-US" sz="1300" b="1" dirty="0">
                <a:solidFill>
                  <a:srgbClr val="FFFFFF"/>
                </a:solidFill>
                <a:latin typeface="Consolas" pitchFamily="34" charset="0"/>
                <a:ea typeface="Consolas" pitchFamily="34" charset="-122"/>
                <a:cs typeface="Consolas" pitchFamily="34" charset="-120"/>
              </a:rPr>
              <a:t>wsl -l -v</a:t>
            </a:r>
            <a:endParaRPr lang="en-US" sz="1300" dirty="0"/>
          </a:p>
        </p:txBody>
      </p:sp>
      <p:sp>
        <p:nvSpPr>
          <p:cNvPr id="8" name="Shape 6"/>
          <p:cNvSpPr/>
          <p:nvPr/>
        </p:nvSpPr>
        <p:spPr>
          <a:xfrm>
            <a:off x="548640" y="4434840"/>
            <a:ext cx="603504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 y="4617720"/>
            <a:ext cx="55778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Requirements and problems</a:t>
            </a:r>
            <a:endParaRPr lang="en-US" sz="1500" dirty="0"/>
          </a:p>
        </p:txBody>
      </p:sp>
      <p:sp>
        <p:nvSpPr>
          <p:cNvPr id="10" name="Text 8"/>
          <p:cNvSpPr txBox="1"/>
          <p:nvPr/>
        </p:nvSpPr>
        <p:spPr>
          <a:xfrm>
            <a:off x="777240" y="5074920"/>
            <a:ext cx="5577840" cy="10515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Windows 10 version 2004 (build 19041) or newer, or Windows 11.</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Error about virtualization? Enable it in the BIOS/UEFI (Intel VT-x / AMD-V).</a:t>
            </a:r>
            <a:endParaRPr lang="en-US" sz="1350" dirty="0"/>
          </a:p>
        </p:txBody>
      </p:sp>
      <p:sp>
        <p:nvSpPr>
          <p:cNvPr id="11" name="Shape 9"/>
          <p:cNvSpPr/>
          <p:nvPr/>
        </p:nvSpPr>
        <p:spPr>
          <a:xfrm>
            <a:off x="6812280" y="1508760"/>
            <a:ext cx="484632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040880" y="1691640"/>
            <a:ext cx="43891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Step by step</a:t>
            </a:r>
            <a:endParaRPr lang="en-US" sz="1500" dirty="0"/>
          </a:p>
        </p:txBody>
      </p:sp>
      <p:sp>
        <p:nvSpPr>
          <p:cNvPr id="13" name="Text 11"/>
          <p:cNvSpPr txBox="1"/>
          <p:nvPr/>
        </p:nvSpPr>
        <p:spPr>
          <a:xfrm>
            <a:off x="7040880" y="2148840"/>
            <a:ext cx="4389120" cy="39776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1 · Install:</a:t>
            </a:r>
            <a:r>
              <a:rPr lang="en-US" sz="1400" dirty="0">
                <a:solidFill>
                  <a:srgbClr val="3A464C"/>
                </a:solidFill>
                <a:latin typeface="Calibri" pitchFamily="34" charset="0"/>
                <a:ea typeface="Calibri" pitchFamily="34" charset="-122"/>
                <a:cs typeface="Calibri" pitchFamily="34" charset="-120"/>
              </a:rPr>
              <a:t> right-click Start → Terminal (Admin) or PowerShell (Admin); type wsl --install.</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2 · Restart</a:t>
            </a:r>
            <a:r>
              <a:rPr lang="en-US" sz="1400" dirty="0">
                <a:solidFill>
                  <a:srgbClr val="3A464C"/>
                </a:solidFill>
                <a:latin typeface="Calibri" pitchFamily="34" charset="0"/>
                <a:ea typeface="Calibri" pitchFamily="34" charset="-122"/>
                <a:cs typeface="Calibri" pitchFamily="34" charset="-120"/>
              </a:rPr>
              <a:t> Windows when asked.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3 · First start:</a:t>
            </a:r>
            <a:r>
              <a:rPr lang="en-US" sz="1400" dirty="0">
                <a:solidFill>
                  <a:srgbClr val="3A464C"/>
                </a:solidFill>
                <a:latin typeface="Calibri" pitchFamily="34" charset="0"/>
                <a:ea typeface="Calibri" pitchFamily="34" charset="-122"/>
                <a:cs typeface="Calibri" pitchFamily="34" charset="-120"/>
              </a:rPr>
              <a:t> open "Ubuntu" from the Start menu; choose a Linux user name and password. The password is not shown while you type — that is normal.</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4 · Use it:</a:t>
            </a:r>
            <a:r>
              <a:rPr lang="en-US" sz="1400" dirty="0">
                <a:solidFill>
                  <a:srgbClr val="3A464C"/>
                </a:solidFill>
                <a:latin typeface="Calibri" pitchFamily="34" charset="0"/>
                <a:ea typeface="Calibri" pitchFamily="34" charset="-122"/>
                <a:cs typeface="Calibri" pitchFamily="34" charset="-120"/>
              </a:rPr>
              <a:t> open Ubuntu (or type wsl) whenever you need the shell.</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Tip:</a:t>
            </a:r>
            <a:r>
              <a:rPr lang="en-US" sz="1400" dirty="0">
                <a:solidFill>
                  <a:srgbClr val="3A464C"/>
                </a:solidFill>
                <a:latin typeface="Calibri" pitchFamily="34" charset="0"/>
                <a:ea typeface="Calibri" pitchFamily="34" charset="-122"/>
                <a:cs typeface="Calibri" pitchFamily="34" charset="-120"/>
              </a:rPr>
              <a:t> your Windows C: drive is /mnt/c inside Linux.</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GETTING LINUX · VIRTUAL MACHINE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VirtualBox + Ubuntu: a Whole Linux PC in a Window</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7</a:t>
            </a:r>
            <a:endParaRPr lang="en-US" sz="900" dirty="0"/>
          </a:p>
        </p:txBody>
      </p:sp>
      <p:sp>
        <p:nvSpPr>
          <p:cNvPr id="6" name="Shape 4"/>
          <p:cNvSpPr/>
          <p:nvPr/>
        </p:nvSpPr>
        <p:spPr>
          <a:xfrm>
            <a:off x="1394460" y="1554480"/>
            <a:ext cx="365760" cy="365760"/>
          </a:xfrm>
          <a:prstGeom prst="ellipse">
            <a:avLst/>
          </a:prstGeom>
          <a:solidFill>
            <a:srgbClr val="02C39A"/>
          </a:solidFill>
          <a:ln/>
        </p:spPr>
        <p:txBody>
          <a:bodyPr/>
          <a:p/>
        </p:txBody>
      </p:sp>
      <p:sp>
        <p:nvSpPr>
          <p:cNvPr id="7" name="Text 5"/>
          <p:cNvSpPr txBox="1"/>
          <p:nvPr/>
        </p:nvSpPr>
        <p:spPr>
          <a:xfrm>
            <a:off x="1394460"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Shape 6"/>
          <p:cNvSpPr/>
          <p:nvPr/>
        </p:nvSpPr>
        <p:spPr>
          <a:xfrm>
            <a:off x="548640" y="2057400"/>
            <a:ext cx="2057400" cy="25146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 y="2240280"/>
            <a:ext cx="1600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Download</a:t>
            </a:r>
            <a:endParaRPr lang="en-US" sz="1500" dirty="0"/>
          </a:p>
        </p:txBody>
      </p:sp>
      <p:sp>
        <p:nvSpPr>
          <p:cNvPr id="10" name="Text 8"/>
          <p:cNvSpPr txBox="1"/>
          <p:nvPr/>
        </p:nvSpPr>
        <p:spPr>
          <a:xfrm>
            <a:off x="777240" y="2697480"/>
            <a:ext cx="1600200" cy="173736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VirtualBox (virtualbox.org) and the Ubuntu Desktop 24.04 LTS ISO image (ubuntu.com/download/desktop).</a:t>
            </a:r>
            <a:endParaRPr lang="en-US" sz="1350" dirty="0"/>
          </a:p>
        </p:txBody>
      </p:sp>
      <p:sp>
        <p:nvSpPr>
          <p:cNvPr id="11" name="Shape 9"/>
          <p:cNvSpPr/>
          <p:nvPr/>
        </p:nvSpPr>
        <p:spPr>
          <a:xfrm>
            <a:off x="2615184" y="3291840"/>
            <a:ext cx="182880" cy="91"/>
          </a:xfrm>
          <a:prstGeom prst="line">
            <a:avLst/>
          </a:prstGeom>
          <a:noFill/>
          <a:ln w="19050">
            <a:solidFill>
              <a:srgbClr val="50808E"/>
            </a:solidFill>
            <a:prstDash val="solid"/>
            <a:tailEnd type="triangle"/>
          </a:ln>
        </p:spPr>
        <p:txBody>
          <a:bodyPr/>
          <a:p/>
        </p:txBody>
      </p:sp>
      <p:sp>
        <p:nvSpPr>
          <p:cNvPr id="12" name="Shape 10"/>
          <p:cNvSpPr/>
          <p:nvPr/>
        </p:nvSpPr>
        <p:spPr>
          <a:xfrm>
            <a:off x="3653028" y="1554480"/>
            <a:ext cx="365760" cy="365760"/>
          </a:xfrm>
          <a:prstGeom prst="ellipse">
            <a:avLst/>
          </a:prstGeom>
          <a:solidFill>
            <a:srgbClr val="02C39A"/>
          </a:solidFill>
          <a:ln/>
        </p:spPr>
        <p:txBody>
          <a:bodyPr/>
          <a:p/>
        </p:txBody>
      </p:sp>
      <p:sp>
        <p:nvSpPr>
          <p:cNvPr id="13" name="Text 11"/>
          <p:cNvSpPr txBox="1"/>
          <p:nvPr/>
        </p:nvSpPr>
        <p:spPr>
          <a:xfrm>
            <a:off x="3653028"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Shape 12"/>
          <p:cNvSpPr/>
          <p:nvPr/>
        </p:nvSpPr>
        <p:spPr>
          <a:xfrm>
            <a:off x="2807208" y="2057400"/>
            <a:ext cx="2057400" cy="25146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Text 13"/>
          <p:cNvSpPr txBox="1"/>
          <p:nvPr/>
        </p:nvSpPr>
        <p:spPr>
          <a:xfrm>
            <a:off x="3035808" y="2240280"/>
            <a:ext cx="1600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Create the VM</a:t>
            </a:r>
            <a:endParaRPr lang="en-US" sz="1500" dirty="0"/>
          </a:p>
        </p:txBody>
      </p:sp>
      <p:sp>
        <p:nvSpPr>
          <p:cNvPr id="16" name="Text 14"/>
          <p:cNvSpPr txBox="1"/>
          <p:nvPr/>
        </p:nvSpPr>
        <p:spPr>
          <a:xfrm>
            <a:off x="3035808" y="2697480"/>
            <a:ext cx="1600200" cy="173736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New → name "Ubuntu", select the ISO, type Linux / Ubuntu (64-bit).</a:t>
            </a:r>
            <a:endParaRPr lang="en-US" sz="1350" dirty="0"/>
          </a:p>
        </p:txBody>
      </p:sp>
      <p:sp>
        <p:nvSpPr>
          <p:cNvPr id="17" name="Shape 15"/>
          <p:cNvSpPr/>
          <p:nvPr/>
        </p:nvSpPr>
        <p:spPr>
          <a:xfrm>
            <a:off x="4873752" y="3291840"/>
            <a:ext cx="182880" cy="91"/>
          </a:xfrm>
          <a:prstGeom prst="line">
            <a:avLst/>
          </a:prstGeom>
          <a:noFill/>
          <a:ln w="19050">
            <a:solidFill>
              <a:srgbClr val="50808E"/>
            </a:solidFill>
            <a:prstDash val="solid"/>
            <a:tailEnd type="triangle"/>
          </a:ln>
        </p:spPr>
        <p:txBody>
          <a:bodyPr/>
          <a:p/>
        </p:txBody>
      </p:sp>
      <p:sp>
        <p:nvSpPr>
          <p:cNvPr id="18" name="Shape 16"/>
          <p:cNvSpPr/>
          <p:nvPr/>
        </p:nvSpPr>
        <p:spPr>
          <a:xfrm>
            <a:off x="5911596" y="1554480"/>
            <a:ext cx="365760" cy="365760"/>
          </a:xfrm>
          <a:prstGeom prst="ellipse">
            <a:avLst/>
          </a:prstGeom>
          <a:solidFill>
            <a:srgbClr val="02C39A"/>
          </a:solidFill>
          <a:ln/>
        </p:spPr>
        <p:txBody>
          <a:bodyPr/>
          <a:p/>
        </p:txBody>
      </p:sp>
      <p:sp>
        <p:nvSpPr>
          <p:cNvPr id="19" name="Text 17"/>
          <p:cNvSpPr txBox="1"/>
          <p:nvPr/>
        </p:nvSpPr>
        <p:spPr>
          <a:xfrm>
            <a:off x="5911596"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Shape 18"/>
          <p:cNvSpPr/>
          <p:nvPr/>
        </p:nvSpPr>
        <p:spPr>
          <a:xfrm>
            <a:off x="5065776" y="2057400"/>
            <a:ext cx="2057400" cy="25146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1" name="Text 19"/>
          <p:cNvSpPr txBox="1"/>
          <p:nvPr/>
        </p:nvSpPr>
        <p:spPr>
          <a:xfrm>
            <a:off x="5294376" y="2240280"/>
            <a:ext cx="1600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Resources</a:t>
            </a:r>
            <a:endParaRPr lang="en-US" sz="1500" dirty="0"/>
          </a:p>
        </p:txBody>
      </p:sp>
      <p:sp>
        <p:nvSpPr>
          <p:cNvPr id="22" name="Text 20"/>
          <p:cNvSpPr txBox="1"/>
          <p:nvPr/>
        </p:nvSpPr>
        <p:spPr>
          <a:xfrm>
            <a:off x="5294376" y="2697480"/>
            <a:ext cx="1600200" cy="173736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Memory 4096 MB, 2 CPUs, virtual disk 25 GB (dynamically allocated).</a:t>
            </a:r>
            <a:endParaRPr lang="en-US" sz="1350" dirty="0"/>
          </a:p>
        </p:txBody>
      </p:sp>
      <p:sp>
        <p:nvSpPr>
          <p:cNvPr id="23" name="Shape 21"/>
          <p:cNvSpPr/>
          <p:nvPr/>
        </p:nvSpPr>
        <p:spPr>
          <a:xfrm>
            <a:off x="7132320" y="3291840"/>
            <a:ext cx="182880" cy="91"/>
          </a:xfrm>
          <a:prstGeom prst="line">
            <a:avLst/>
          </a:prstGeom>
          <a:noFill/>
          <a:ln w="19050">
            <a:solidFill>
              <a:srgbClr val="50808E"/>
            </a:solidFill>
            <a:prstDash val="solid"/>
            <a:tailEnd type="triangle"/>
          </a:ln>
        </p:spPr>
        <p:txBody>
          <a:bodyPr/>
          <a:p/>
        </p:txBody>
      </p:sp>
      <p:sp>
        <p:nvSpPr>
          <p:cNvPr id="24" name="Shape 22"/>
          <p:cNvSpPr/>
          <p:nvPr/>
        </p:nvSpPr>
        <p:spPr>
          <a:xfrm>
            <a:off x="8170164" y="1554480"/>
            <a:ext cx="365760" cy="365760"/>
          </a:xfrm>
          <a:prstGeom prst="ellipse">
            <a:avLst/>
          </a:prstGeom>
          <a:solidFill>
            <a:srgbClr val="02C39A"/>
          </a:solidFill>
          <a:ln/>
        </p:spPr>
        <p:txBody>
          <a:bodyPr/>
          <a:p/>
        </p:txBody>
      </p:sp>
      <p:sp>
        <p:nvSpPr>
          <p:cNvPr id="25" name="Text 23"/>
          <p:cNvSpPr txBox="1"/>
          <p:nvPr/>
        </p:nvSpPr>
        <p:spPr>
          <a:xfrm>
            <a:off x="8170164"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Shape 24"/>
          <p:cNvSpPr/>
          <p:nvPr/>
        </p:nvSpPr>
        <p:spPr>
          <a:xfrm>
            <a:off x="7324344" y="2057400"/>
            <a:ext cx="2057400" cy="25146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7" name="Text 25"/>
          <p:cNvSpPr txBox="1"/>
          <p:nvPr/>
        </p:nvSpPr>
        <p:spPr>
          <a:xfrm>
            <a:off x="7552944" y="2240280"/>
            <a:ext cx="1600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Install</a:t>
            </a:r>
            <a:endParaRPr lang="en-US" sz="1500" dirty="0"/>
          </a:p>
        </p:txBody>
      </p:sp>
      <p:sp>
        <p:nvSpPr>
          <p:cNvPr id="28" name="Text 26"/>
          <p:cNvSpPr txBox="1"/>
          <p:nvPr/>
        </p:nvSpPr>
        <p:spPr>
          <a:xfrm>
            <a:off x="7552944" y="2697480"/>
            <a:ext cx="1600200" cy="173736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Start the VM, follow "Install Ubuntu". "Erase disk" erases only the virtual disk file.</a:t>
            </a:r>
            <a:endParaRPr lang="en-US" sz="1350" dirty="0"/>
          </a:p>
        </p:txBody>
      </p:sp>
      <p:sp>
        <p:nvSpPr>
          <p:cNvPr id="29" name="Shape 27"/>
          <p:cNvSpPr/>
          <p:nvPr/>
        </p:nvSpPr>
        <p:spPr>
          <a:xfrm>
            <a:off x="9390888" y="3291840"/>
            <a:ext cx="182880" cy="91"/>
          </a:xfrm>
          <a:prstGeom prst="line">
            <a:avLst/>
          </a:prstGeom>
          <a:noFill/>
          <a:ln w="19050">
            <a:solidFill>
              <a:srgbClr val="50808E"/>
            </a:solidFill>
            <a:prstDash val="solid"/>
            <a:tailEnd type="triangle"/>
          </a:ln>
        </p:spPr>
        <p:txBody>
          <a:bodyPr/>
          <a:p/>
        </p:txBody>
      </p:sp>
      <p:sp>
        <p:nvSpPr>
          <p:cNvPr id="30" name="Shape 28"/>
          <p:cNvSpPr/>
          <p:nvPr/>
        </p:nvSpPr>
        <p:spPr>
          <a:xfrm>
            <a:off x="10428732" y="1554480"/>
            <a:ext cx="365760" cy="365760"/>
          </a:xfrm>
          <a:prstGeom prst="ellipse">
            <a:avLst/>
          </a:prstGeom>
          <a:solidFill>
            <a:srgbClr val="02C39A"/>
          </a:solidFill>
          <a:ln/>
        </p:spPr>
        <p:txBody>
          <a:bodyPr/>
          <a:p/>
        </p:txBody>
      </p:sp>
      <p:sp>
        <p:nvSpPr>
          <p:cNvPr id="31" name="Text 29"/>
          <p:cNvSpPr txBox="1"/>
          <p:nvPr/>
        </p:nvSpPr>
        <p:spPr>
          <a:xfrm>
            <a:off x="10428732"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Shape 30"/>
          <p:cNvSpPr/>
          <p:nvPr/>
        </p:nvSpPr>
        <p:spPr>
          <a:xfrm>
            <a:off x="9582912" y="2057400"/>
            <a:ext cx="2057400" cy="2514600"/>
          </a:xfrm>
          <a:prstGeom prst="roundRect">
            <a:avLst>
              <a:gd name="adj" fmla="val 2667"/>
            </a:avLst>
          </a:prstGeom>
          <a:solidFill>
            <a:srgbClr val="D7E9E6"/>
          </a:solidFill>
          <a:ln/>
          <a:effectLst>
            <a:outerShdw sx="100000" sy="100000" kx="0" ky="0" algn="bl" rotWithShape="0" blurRad="101600" dist="25400" dir="5400000">
              <a:srgbClr val="000000">
                <a:alpha val="12000"/>
              </a:srgbClr>
            </a:outerShdw>
          </a:effectLst>
        </p:spPr>
        <p:txBody>
          <a:bodyPr/>
          <a:p/>
        </p:txBody>
      </p:sp>
      <p:sp>
        <p:nvSpPr>
          <p:cNvPr id="33" name="Text 31"/>
          <p:cNvSpPr txBox="1"/>
          <p:nvPr/>
        </p:nvSpPr>
        <p:spPr>
          <a:xfrm>
            <a:off x="9811512" y="2240280"/>
            <a:ext cx="1600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Open a terminal</a:t>
            </a:r>
            <a:endParaRPr lang="en-US" sz="1500" dirty="0"/>
          </a:p>
        </p:txBody>
      </p:sp>
      <p:sp>
        <p:nvSpPr>
          <p:cNvPr id="34" name="Text 32"/>
          <p:cNvSpPr txBox="1"/>
          <p:nvPr/>
        </p:nvSpPr>
        <p:spPr>
          <a:xfrm>
            <a:off x="9811512" y="2697480"/>
            <a:ext cx="1600200" cy="173736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Log in, press Ctrl+Alt+T (or Activities → Terminal).</a:t>
            </a:r>
            <a:endParaRPr lang="en-US" sz="1350" dirty="0"/>
          </a:p>
        </p:txBody>
      </p:sp>
      <p:sp>
        <p:nvSpPr>
          <p:cNvPr id="35" name="Shape 33"/>
          <p:cNvSpPr/>
          <p:nvPr/>
        </p:nvSpPr>
        <p:spPr>
          <a:xfrm>
            <a:off x="548640" y="4846320"/>
            <a:ext cx="11109960" cy="1417320"/>
          </a:xfrm>
          <a:prstGeom prst="roundRect">
            <a:avLst>
              <a:gd name="adj" fmla="val 3871"/>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6" name="Text 34"/>
          <p:cNvSpPr txBox="1"/>
          <p:nvPr/>
        </p:nvSpPr>
        <p:spPr>
          <a:xfrm>
            <a:off x="777240" y="4846320"/>
            <a:ext cx="10652760" cy="14173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A virtual machine is the OS idea of virtualization applied to a whole computer: VirtualBox (a hypervisor) gives Ubuntu virtual CPUs, memory and a disk, so Ubuntu believes it owns the machine. Anything you break inside the VM cannot harm Windows — a perfect place to practise.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GETTING LINUX · LAB FOLDER</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Run the Lab Setup Script Once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8</a:t>
            </a:r>
            <a:endParaRPr lang="en-US" sz="900" dirty="0"/>
          </a:p>
        </p:txBody>
      </p:sp>
      <p:sp>
        <p:nvSpPr>
          <p:cNvPr id="6" name="Shape 4"/>
          <p:cNvSpPr/>
          <p:nvPr/>
        </p:nvSpPr>
        <p:spPr>
          <a:xfrm>
            <a:off x="548640" y="1508760"/>
            <a:ext cx="6949440" cy="3246120"/>
          </a:xfrm>
          <a:prstGeom prst="roundRect">
            <a:avLst>
              <a:gd name="adj" fmla="val 1408"/>
            </a:avLst>
          </a:prstGeom>
          <a:solidFill>
            <a:srgbClr val="212121"/>
          </a:solidFill>
          <a:ln/>
        </p:spPr>
        <p:txBody>
          <a:bodyPr/>
          <a:p/>
        </p:txBody>
      </p:sp>
      <p:sp>
        <p:nvSpPr>
          <p:cNvPr id="7" name="Text 5"/>
          <p:cNvSpPr txBox="1"/>
          <p:nvPr/>
        </p:nvSpPr>
        <p:spPr>
          <a:xfrm>
            <a:off x="731520" y="1618488"/>
            <a:ext cx="6583680" cy="302666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pwd</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/home/student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ls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lab  mcmp117_lab_setup.sh</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bash mcmp117_lab_setup.sh</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Lab folder ready: /home/student/lab</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README.txt  backup  data  docs  logs  photos  projects  scripts  src</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ls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lab  mcmp117_lab_setup.sh</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ls lab</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README.txt  backup  data  docs  logs  photos  projects  scripts  src</a:t>
            </a:r>
            <a:endParaRPr lang="en-US" sz="1100" dirty="0"/>
          </a:p>
        </p:txBody>
      </p:sp>
      <p:sp>
        <p:nvSpPr>
          <p:cNvPr id="8" name="Shape 6"/>
          <p:cNvSpPr/>
          <p:nvPr/>
        </p:nvSpPr>
        <p:spPr>
          <a:xfrm>
            <a:off x="7726680" y="1508760"/>
            <a:ext cx="3931920" cy="324612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955280" y="1691640"/>
            <a:ext cx="3474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Getting the script</a:t>
            </a:r>
            <a:endParaRPr lang="en-US" sz="1500" dirty="0"/>
          </a:p>
        </p:txBody>
      </p:sp>
      <p:sp>
        <p:nvSpPr>
          <p:cNvPr id="10" name="Text 8"/>
          <p:cNvSpPr txBox="1"/>
          <p:nvPr/>
        </p:nvSpPr>
        <p:spPr>
          <a:xfrm>
            <a:off x="7955280" y="2148840"/>
            <a:ext cx="3474720" cy="246888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Download mcmp117_lab_setup.sh from the course Telegram channel [link: to be confirmed].</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Put it in your home directory, or run it from where it is (it always builds ~/lab).</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WSL: Windows Downloads = /mnt/c/Users/&lt;you&gt;/Downloads</a:t>
            </a:r>
            <a:endParaRPr lang="en-US" sz="1350" dirty="0"/>
          </a:p>
        </p:txBody>
      </p:sp>
      <p:sp>
        <p:nvSpPr>
          <p:cNvPr id="11" name="Shape 9"/>
          <p:cNvSpPr/>
          <p:nvPr/>
        </p:nvSpPr>
        <p:spPr>
          <a:xfrm>
            <a:off x="548640" y="4937760"/>
            <a:ext cx="11109960" cy="1325880"/>
          </a:xfrm>
          <a:prstGeom prst="roundRect">
            <a:avLst>
              <a:gd name="adj" fmla="val 3448"/>
            </a:avLst>
          </a:prstGeom>
          <a:solidFill>
            <a:srgbClr val="212121"/>
          </a:solidFill>
          <a:ln/>
        </p:spPr>
        <p:txBody>
          <a:bodyPr/>
          <a:p/>
        </p:txBody>
      </p:sp>
      <p:sp>
        <p:nvSpPr>
          <p:cNvPr id="12" name="Text 10"/>
          <p:cNvSpPr txBox="1"/>
          <p:nvPr/>
        </p:nvSpPr>
        <p:spPr>
          <a:xfrm>
            <a:off x="731520" y="5047488"/>
            <a:ext cx="10744200" cy="1106424"/>
          </a:xfrm>
          <a:prstGeom prst="rect">
            <a:avLst/>
          </a:prstGeom>
          <a:noFill/>
          <a:ln/>
        </p:spPr>
        <p:txBody>
          <a:bodyPr wrap="square" lIns="0" tIns="0" rIns="0" bIns="0" rtlCol="0" anchor="t"/>
          <a:lstStyle/>
          <a:p>
            <a:pPr indent="0" marL="0">
              <a:lnSpc>
                <a:spcPct val="100000"/>
              </a:lnSpc>
              <a:buNone/>
            </a:pPr>
            <a:r>
              <a:rPr lang="en-US" sz="1100" dirty="0">
                <a:solidFill>
                  <a:srgbClr val="8A9AA0"/>
                </a:solidFill>
                <a:latin typeface="Consolas" pitchFamily="34" charset="0"/>
                <a:ea typeface="Consolas" pitchFamily="34" charset="-122"/>
                <a:cs typeface="Consolas" pitchFamily="34" charset="-120"/>
              </a:rPr>
              <a:t># run it straight from the download folder (VM / Ubuntu):</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bash ~/Downloads/mcmp117_lab_setup.sh</a:t>
            </a:r>
            <a:endParaRPr lang="en-US" sz="1100" dirty="0"/>
          </a:p>
          <a:p>
            <a:pPr indent="0" marL="0">
              <a:lnSpc>
                <a:spcPct val="100000"/>
              </a:lnSpc>
              <a:buNone/>
            </a:pPr>
            <a:r>
              <a:rPr lang="en-US" sz="1100" dirty="0">
                <a:solidFill>
                  <a:srgbClr val="8A9AA0"/>
                </a:solidFill>
                <a:latin typeface="Consolas" pitchFamily="34" charset="0"/>
                <a:ea typeface="Consolas" pitchFamily="34" charset="-122"/>
                <a:cs typeface="Consolas" pitchFamily="34" charset="-120"/>
              </a:rPr>
              <a:t># ... or from the Windows Downloads folder (WSL):</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bash /mnt/c/Users/ayse/Downloads/mcmp117_lab_setup.sh</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Terminal, Shell, Kernel</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Three different programs that are often confused.</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9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WHO DOES WHAT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Terminal ≠ Shell ≠ Kernel</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10</a:t>
            </a:r>
            <a:endParaRPr lang="en-US" sz="900" dirty="0"/>
          </a:p>
        </p:txBody>
      </p:sp>
      <p:sp>
        <p:nvSpPr>
          <p:cNvPr id="6" name="Shape 4"/>
          <p:cNvSpPr/>
          <p:nvPr/>
        </p:nvSpPr>
        <p:spPr>
          <a:xfrm>
            <a:off x="548640" y="1554480"/>
            <a:ext cx="5852160" cy="749808"/>
          </a:xfrm>
          <a:prstGeom prst="roundRect">
            <a:avLst>
              <a:gd name="adj" fmla="val 6098"/>
            </a:avLst>
          </a:prstGeom>
          <a:solidFill>
            <a:srgbClr val="F2F2F2"/>
          </a:solidFill>
          <a:ln/>
        </p:spPr>
        <p:txBody>
          <a:bodyPr/>
          <a:p/>
        </p:txBody>
      </p:sp>
      <p:sp>
        <p:nvSpPr>
          <p:cNvPr id="7" name="Text 5"/>
          <p:cNvSpPr txBox="1"/>
          <p:nvPr/>
        </p:nvSpPr>
        <p:spPr>
          <a:xfrm>
            <a:off x="548640" y="1554480"/>
            <a:ext cx="5852160" cy="749808"/>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alibri" pitchFamily="34" charset="0"/>
                <a:ea typeface="Calibri" pitchFamily="34" charset="-122"/>
                <a:cs typeface="Calibri" pitchFamily="34" charset="-120"/>
              </a:rPr>
              <a:t>You</a:t>
            </a:r>
            <a:endParaRPr lang="en-US" sz="1500" dirty="0"/>
          </a:p>
          <a:p>
            <a:pPr algn="ctr" indent="0" marL="0">
              <a:buNone/>
            </a:pPr>
            <a:r>
              <a:rPr lang="en-US" sz="1150" dirty="0">
                <a:solidFill>
                  <a:srgbClr val="212121"/>
                </a:solidFill>
                <a:latin typeface="Calibri" pitchFamily="34" charset="0"/>
                <a:ea typeface="Calibri" pitchFamily="34" charset="-122"/>
                <a:cs typeface="Calibri" pitchFamily="34" charset="-120"/>
              </a:rPr>
              <a:t>keyboard and screen</a:t>
            </a:r>
            <a:endParaRPr lang="en-US" sz="1500" dirty="0"/>
          </a:p>
        </p:txBody>
      </p:sp>
      <p:sp>
        <p:nvSpPr>
          <p:cNvPr id="8" name="Shape 6"/>
          <p:cNvSpPr/>
          <p:nvPr/>
        </p:nvSpPr>
        <p:spPr>
          <a:xfrm>
            <a:off x="3474720" y="2313432"/>
            <a:ext cx="91" cy="164592"/>
          </a:xfrm>
          <a:prstGeom prst="line">
            <a:avLst/>
          </a:prstGeom>
          <a:noFill/>
          <a:ln w="19050">
            <a:solidFill>
              <a:srgbClr val="50808E"/>
            </a:solidFill>
            <a:prstDash val="solid"/>
            <a:headEnd type="triangle"/>
            <a:tailEnd type="triangle"/>
          </a:ln>
        </p:spPr>
        <p:txBody>
          <a:bodyPr/>
          <a:p/>
        </p:txBody>
      </p:sp>
      <p:sp>
        <p:nvSpPr>
          <p:cNvPr id="9" name="Shape 7"/>
          <p:cNvSpPr/>
          <p:nvPr/>
        </p:nvSpPr>
        <p:spPr>
          <a:xfrm>
            <a:off x="548640" y="2487168"/>
            <a:ext cx="5852160" cy="749808"/>
          </a:xfrm>
          <a:prstGeom prst="roundRect">
            <a:avLst>
              <a:gd name="adj" fmla="val 6098"/>
            </a:avLst>
          </a:prstGeom>
          <a:solidFill>
            <a:srgbClr val="D7E9E6"/>
          </a:solidFill>
          <a:ln/>
        </p:spPr>
        <p:txBody>
          <a:bodyPr/>
          <a:p/>
        </p:txBody>
      </p:sp>
      <p:sp>
        <p:nvSpPr>
          <p:cNvPr id="10" name="Text 8"/>
          <p:cNvSpPr txBox="1"/>
          <p:nvPr/>
        </p:nvSpPr>
        <p:spPr>
          <a:xfrm>
            <a:off x="548640" y="2487168"/>
            <a:ext cx="5852160" cy="749808"/>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alibri" pitchFamily="34" charset="0"/>
                <a:ea typeface="Calibri" pitchFamily="34" charset="-122"/>
                <a:cs typeface="Calibri" pitchFamily="34" charset="-120"/>
              </a:rPr>
              <a:t>Terminal (emulator)</a:t>
            </a:r>
            <a:endParaRPr lang="en-US" sz="1500" dirty="0"/>
          </a:p>
          <a:p>
            <a:pPr algn="ctr" indent="0" marL="0">
              <a:buNone/>
            </a:pPr>
            <a:r>
              <a:rPr lang="en-US" sz="1150" dirty="0">
                <a:solidFill>
                  <a:srgbClr val="212121"/>
                </a:solidFill>
                <a:latin typeface="Calibri" pitchFamily="34" charset="0"/>
                <a:ea typeface="Calibri" pitchFamily="34" charset="-122"/>
                <a:cs typeface="Calibri" pitchFamily="34" charset="-120"/>
              </a:rPr>
              <a:t>a window: sends your keys, draws the characters  ·  GNOME Terminal, Windows Terminal</a:t>
            </a:r>
            <a:endParaRPr lang="en-US" sz="1500" dirty="0"/>
          </a:p>
        </p:txBody>
      </p:sp>
      <p:sp>
        <p:nvSpPr>
          <p:cNvPr id="11" name="Shape 9"/>
          <p:cNvSpPr/>
          <p:nvPr/>
        </p:nvSpPr>
        <p:spPr>
          <a:xfrm>
            <a:off x="3474720" y="3246120"/>
            <a:ext cx="91" cy="164592"/>
          </a:xfrm>
          <a:prstGeom prst="line">
            <a:avLst/>
          </a:prstGeom>
          <a:noFill/>
          <a:ln w="19050">
            <a:solidFill>
              <a:srgbClr val="50808E"/>
            </a:solidFill>
            <a:prstDash val="solid"/>
            <a:headEnd type="triangle"/>
            <a:tailEnd type="triangle"/>
          </a:ln>
        </p:spPr>
        <p:txBody>
          <a:bodyPr/>
          <a:p/>
        </p:txBody>
      </p:sp>
      <p:sp>
        <p:nvSpPr>
          <p:cNvPr id="12" name="Shape 10"/>
          <p:cNvSpPr/>
          <p:nvPr/>
        </p:nvSpPr>
        <p:spPr>
          <a:xfrm>
            <a:off x="548640" y="3419856"/>
            <a:ext cx="5852160" cy="749808"/>
          </a:xfrm>
          <a:prstGeom prst="roundRect">
            <a:avLst>
              <a:gd name="adj" fmla="val 6098"/>
            </a:avLst>
          </a:prstGeom>
          <a:solidFill>
            <a:srgbClr val="02C39A"/>
          </a:solidFill>
          <a:ln/>
        </p:spPr>
        <p:txBody>
          <a:bodyPr/>
          <a:p/>
        </p:txBody>
      </p:sp>
      <p:sp>
        <p:nvSpPr>
          <p:cNvPr id="13" name="Text 11"/>
          <p:cNvSpPr txBox="1"/>
          <p:nvPr/>
        </p:nvSpPr>
        <p:spPr>
          <a:xfrm>
            <a:off x="548640" y="3419856"/>
            <a:ext cx="5852160" cy="749808"/>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alibri" pitchFamily="34" charset="0"/>
                <a:ea typeface="Calibri" pitchFamily="34" charset="-122"/>
                <a:cs typeface="Calibri" pitchFamily="34" charset="-120"/>
              </a:rPr>
              <a:t>Shell: bash</a:t>
            </a:r>
            <a:endParaRPr lang="en-US" sz="1500" dirty="0"/>
          </a:p>
          <a:p>
            <a:pPr algn="ctr" indent="0" marL="0">
              <a:buNone/>
            </a:pPr>
            <a:r>
              <a:rPr lang="en-US" sz="1150" dirty="0">
                <a:solidFill>
                  <a:srgbClr val="212121"/>
                </a:solidFill>
                <a:latin typeface="Calibri" pitchFamily="34" charset="0"/>
                <a:ea typeface="Calibri" pitchFamily="34" charset="-122"/>
                <a:cs typeface="Calibri" pitchFamily="34" charset="-120"/>
              </a:rPr>
              <a:t>reads a line, interprets it, starts programs  ·  user mode, a system program (Week 2)</a:t>
            </a:r>
            <a:endParaRPr lang="en-US" sz="1500" dirty="0"/>
          </a:p>
        </p:txBody>
      </p:sp>
      <p:sp>
        <p:nvSpPr>
          <p:cNvPr id="14" name="Shape 12"/>
          <p:cNvSpPr/>
          <p:nvPr/>
        </p:nvSpPr>
        <p:spPr>
          <a:xfrm>
            <a:off x="3474720" y="4178808"/>
            <a:ext cx="91" cy="164592"/>
          </a:xfrm>
          <a:prstGeom prst="line">
            <a:avLst/>
          </a:prstGeom>
          <a:noFill/>
          <a:ln w="19050">
            <a:solidFill>
              <a:srgbClr val="50808E"/>
            </a:solidFill>
            <a:prstDash val="solid"/>
            <a:headEnd type="triangle"/>
            <a:tailEnd type="triangle"/>
          </a:ln>
        </p:spPr>
        <p:txBody>
          <a:bodyPr/>
          <a:p/>
        </p:txBody>
      </p:sp>
      <p:sp>
        <p:nvSpPr>
          <p:cNvPr id="15" name="Shape 13"/>
          <p:cNvSpPr/>
          <p:nvPr/>
        </p:nvSpPr>
        <p:spPr>
          <a:xfrm>
            <a:off x="548640" y="4352544"/>
            <a:ext cx="5852160" cy="749808"/>
          </a:xfrm>
          <a:prstGeom prst="roundRect">
            <a:avLst>
              <a:gd name="adj" fmla="val 6098"/>
            </a:avLst>
          </a:prstGeom>
          <a:solidFill>
            <a:srgbClr val="36454F"/>
          </a:solidFill>
          <a:ln/>
        </p:spPr>
        <p:txBody>
          <a:bodyPr/>
          <a:p/>
        </p:txBody>
      </p:sp>
      <p:sp>
        <p:nvSpPr>
          <p:cNvPr id="16" name="Text 14"/>
          <p:cNvSpPr txBox="1"/>
          <p:nvPr/>
        </p:nvSpPr>
        <p:spPr>
          <a:xfrm>
            <a:off x="548640" y="4352544"/>
            <a:ext cx="5852160" cy="749808"/>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Kernel: Linux</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files, processes, memory, devices  ·  kernel mode, reached only via system calls</a:t>
            </a:r>
            <a:endParaRPr lang="en-US" sz="1500" dirty="0"/>
          </a:p>
        </p:txBody>
      </p:sp>
      <p:sp>
        <p:nvSpPr>
          <p:cNvPr id="17" name="Shape 15"/>
          <p:cNvSpPr/>
          <p:nvPr/>
        </p:nvSpPr>
        <p:spPr>
          <a:xfrm>
            <a:off x="3474720" y="5111496"/>
            <a:ext cx="91" cy="164592"/>
          </a:xfrm>
          <a:prstGeom prst="line">
            <a:avLst/>
          </a:prstGeom>
          <a:noFill/>
          <a:ln w="19050">
            <a:solidFill>
              <a:srgbClr val="50808E"/>
            </a:solidFill>
            <a:prstDash val="solid"/>
            <a:headEnd type="triangle"/>
            <a:tailEnd type="triangle"/>
          </a:ln>
        </p:spPr>
        <p:txBody>
          <a:bodyPr/>
          <a:p/>
        </p:txBody>
      </p:sp>
      <p:sp>
        <p:nvSpPr>
          <p:cNvPr id="18" name="Shape 16"/>
          <p:cNvSpPr/>
          <p:nvPr/>
        </p:nvSpPr>
        <p:spPr>
          <a:xfrm>
            <a:off x="548640" y="5285232"/>
            <a:ext cx="5852160" cy="749808"/>
          </a:xfrm>
          <a:prstGeom prst="roundRect">
            <a:avLst>
              <a:gd name="adj" fmla="val 6098"/>
            </a:avLst>
          </a:prstGeom>
          <a:solidFill>
            <a:srgbClr val="50808E"/>
          </a:solidFill>
          <a:ln/>
        </p:spPr>
        <p:txBody>
          <a:bodyPr/>
          <a:p/>
        </p:txBody>
      </p:sp>
      <p:sp>
        <p:nvSpPr>
          <p:cNvPr id="19" name="Text 17"/>
          <p:cNvSpPr txBox="1"/>
          <p:nvPr/>
        </p:nvSpPr>
        <p:spPr>
          <a:xfrm>
            <a:off x="548640" y="5285232"/>
            <a:ext cx="5852160" cy="749808"/>
          </a:xfrm>
          <a:prstGeom prst="rect">
            <a:avLst/>
          </a:prstGeom>
          <a:no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Hardware</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CPU, RAM, disk, network</a:t>
            </a:r>
            <a:endParaRPr lang="en-US" sz="1500" dirty="0"/>
          </a:p>
        </p:txBody>
      </p:sp>
      <p:sp>
        <p:nvSpPr>
          <p:cNvPr id="20" name="Shape 18"/>
          <p:cNvSpPr/>
          <p:nvPr/>
        </p:nvSpPr>
        <p:spPr>
          <a:xfrm>
            <a:off x="457200" y="4261104"/>
            <a:ext cx="6035040" cy="91"/>
          </a:xfrm>
          <a:prstGeom prst="line">
            <a:avLst/>
          </a:prstGeom>
          <a:noFill/>
          <a:ln w="19050">
            <a:solidFill>
              <a:srgbClr val="B5453A"/>
            </a:solidFill>
            <a:prstDash val="dash"/>
          </a:ln>
        </p:spPr>
        <p:txBody>
          <a:bodyPr/>
          <a:p/>
        </p:txBody>
      </p:sp>
      <p:sp>
        <p:nvSpPr>
          <p:cNvPr id="21" name="Shape 19"/>
          <p:cNvSpPr/>
          <p:nvPr/>
        </p:nvSpPr>
        <p:spPr>
          <a:xfrm>
            <a:off x="6720840" y="1508760"/>
            <a:ext cx="493776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6949440" y="1691640"/>
            <a:ext cx="44805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Keep them apart</a:t>
            </a:r>
            <a:endParaRPr lang="en-US" sz="1500" dirty="0"/>
          </a:p>
        </p:txBody>
      </p:sp>
      <p:sp>
        <p:nvSpPr>
          <p:cNvPr id="23" name="Text 21"/>
          <p:cNvSpPr txBox="1"/>
          <p:nvPr/>
        </p:nvSpPr>
        <p:spPr>
          <a:xfrm>
            <a:off x="6949440" y="2148840"/>
            <a:ext cx="4480560" cy="39776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Terminal:</a:t>
            </a:r>
            <a:r>
              <a:rPr lang="en-US" sz="1400" dirty="0">
                <a:solidFill>
                  <a:srgbClr val="3A464C"/>
                </a:solidFill>
                <a:latin typeface="Calibri" pitchFamily="34" charset="0"/>
                <a:ea typeface="Calibri" pitchFamily="34" charset="-122"/>
                <a:cs typeface="Calibri" pitchFamily="34" charset="-120"/>
              </a:rPr>
              <a:t> only input and output. It does not understand commands.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Shell:</a:t>
            </a:r>
            <a:r>
              <a:rPr lang="en-US" sz="1400" dirty="0">
                <a:solidFill>
                  <a:srgbClr val="3A464C"/>
                </a:solidFill>
                <a:latin typeface="Calibri" pitchFamily="34" charset="0"/>
                <a:ea typeface="Calibri" pitchFamily="34" charset="-122"/>
                <a:cs typeface="Calibri" pitchFamily="34" charset="-120"/>
              </a:rPr>
              <a:t> the command interpreter (Week 3). Linux has several: bash (default on Ubuntu), zsh, sh, fish.</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Kernel:</a:t>
            </a:r>
            <a:r>
              <a:rPr lang="en-US" sz="1400" dirty="0">
                <a:solidFill>
                  <a:srgbClr val="3A464C"/>
                </a:solidFill>
                <a:latin typeface="Calibri" pitchFamily="34" charset="0"/>
                <a:ea typeface="Calibri" pitchFamily="34" charset="-122"/>
                <a:cs typeface="Calibri" pitchFamily="34" charset="-120"/>
              </a:rPr>
              <a:t> does the real work for every command, through system calls (red dashed line = system-call boundary).</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"Linux"</a:t>
            </a:r>
            <a:r>
              <a:rPr lang="en-US" sz="1400" dirty="0">
                <a:solidFill>
                  <a:srgbClr val="3A464C"/>
                </a:solidFill>
                <a:latin typeface="Calibri" pitchFamily="34" charset="0"/>
                <a:ea typeface="Calibri" pitchFamily="34" charset="-122"/>
                <a:cs typeface="Calibri" pitchFamily="34" charset="-120"/>
              </a:rPr>
              <a:t> strictly means the kernel; Ubuntu = Linux kernel + GNU tools + much more (Week 2).</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LINK TO WEEK 3</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Happens When You Type ls and Press Enter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11</a:t>
            </a:r>
            <a:endParaRPr lang="en-US" sz="900" dirty="0"/>
          </a:p>
        </p:txBody>
      </p:sp>
      <p:sp>
        <p:nvSpPr>
          <p:cNvPr id="6" name="Shape 4"/>
          <p:cNvSpPr/>
          <p:nvPr/>
        </p:nvSpPr>
        <p:spPr>
          <a:xfrm>
            <a:off x="548640" y="1691640"/>
            <a:ext cx="2148840" cy="914400"/>
          </a:xfrm>
          <a:prstGeom prst="roundRect">
            <a:avLst>
              <a:gd name="adj" fmla="val 5000"/>
            </a:avLst>
          </a:prstGeom>
          <a:solidFill>
            <a:srgbClr val="02C39A"/>
          </a:solidFill>
          <a:ln/>
        </p:spPr>
        <p:txBody>
          <a:bodyPr/>
          <a:p/>
        </p:txBody>
      </p:sp>
      <p:sp>
        <p:nvSpPr>
          <p:cNvPr id="7" name="Text 5"/>
          <p:cNvSpPr txBox="1"/>
          <p:nvPr/>
        </p:nvSpPr>
        <p:spPr>
          <a:xfrm>
            <a:off x="548640" y="1691640"/>
            <a:ext cx="2148840" cy="914400"/>
          </a:xfrm>
          <a:prstGeom prst="rect">
            <a:avLst/>
          </a:prstGeom>
          <a:noFill/>
          <a:ln/>
        </p:spPr>
        <p:txBody>
          <a:bodyPr wrap="square" lIns="38100" tIns="38100" rIns="38100" bIns="38100" rtlCol="0" anchor="ctr"/>
          <a:lstStyle/>
          <a:p>
            <a:pPr algn="ctr" indent="0" marL="0">
              <a:buNone/>
            </a:pPr>
            <a:r>
              <a:rPr lang="en-US" sz="1600" b="1" dirty="0">
                <a:solidFill>
                  <a:srgbClr val="212121"/>
                </a:solidFill>
                <a:latin typeface="Calibri" pitchFamily="34" charset="0"/>
                <a:ea typeface="Calibri" pitchFamily="34" charset="-122"/>
                <a:cs typeface="Calibri" pitchFamily="34" charset="-120"/>
              </a:rPr>
              <a:t>bash</a:t>
            </a:r>
            <a:endParaRPr lang="en-US" sz="1600" dirty="0"/>
          </a:p>
          <a:p>
            <a:pPr algn="ctr" indent="0" marL="0">
              <a:buNone/>
            </a:pPr>
            <a:r>
              <a:rPr lang="en-US" sz="1100" dirty="0">
                <a:solidFill>
                  <a:srgbClr val="212121"/>
                </a:solidFill>
                <a:latin typeface="Calibri" pitchFamily="34" charset="0"/>
                <a:ea typeface="Calibri" pitchFamily="34" charset="-122"/>
                <a:cs typeface="Calibri" pitchFamily="34" charset="-120"/>
              </a:rPr>
              <a:t>the shell (parent)</a:t>
            </a:r>
            <a:endParaRPr lang="en-US" sz="1600" dirty="0"/>
          </a:p>
        </p:txBody>
      </p:sp>
      <p:sp>
        <p:nvSpPr>
          <p:cNvPr id="8" name="Shape 6"/>
          <p:cNvSpPr/>
          <p:nvPr/>
        </p:nvSpPr>
        <p:spPr>
          <a:xfrm>
            <a:off x="3520440" y="1691640"/>
            <a:ext cx="2148840" cy="914400"/>
          </a:xfrm>
          <a:prstGeom prst="roundRect">
            <a:avLst>
              <a:gd name="adj" fmla="val 5000"/>
            </a:avLst>
          </a:prstGeom>
          <a:solidFill>
            <a:srgbClr val="D7E9E6"/>
          </a:solidFill>
          <a:ln/>
        </p:spPr>
        <p:txBody>
          <a:bodyPr/>
          <a:p/>
        </p:txBody>
      </p:sp>
      <p:sp>
        <p:nvSpPr>
          <p:cNvPr id="9" name="Text 7"/>
          <p:cNvSpPr txBox="1"/>
          <p:nvPr/>
        </p:nvSpPr>
        <p:spPr>
          <a:xfrm>
            <a:off x="3520440" y="1691640"/>
            <a:ext cx="2148840" cy="91440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alibri" pitchFamily="34" charset="0"/>
                <a:ea typeface="Calibri" pitchFamily="34" charset="-122"/>
                <a:cs typeface="Calibri" pitchFamily="34" charset="-120"/>
              </a:rPr>
              <a:t>bash (copy)</a:t>
            </a:r>
            <a:endParaRPr lang="en-US" sz="1500" dirty="0"/>
          </a:p>
          <a:p>
            <a:pPr algn="ctr" indent="0" marL="0">
              <a:buNone/>
            </a:pPr>
            <a:r>
              <a:rPr lang="en-US" sz="1100" dirty="0">
                <a:solidFill>
                  <a:srgbClr val="212121"/>
                </a:solidFill>
                <a:latin typeface="Calibri" pitchFamily="34" charset="0"/>
                <a:ea typeface="Calibri" pitchFamily="34" charset="-122"/>
                <a:cs typeface="Calibri" pitchFamily="34" charset="-120"/>
              </a:rPr>
              <a:t>child after fork()</a:t>
            </a:r>
            <a:endParaRPr lang="en-US" sz="1500" dirty="0"/>
          </a:p>
        </p:txBody>
      </p:sp>
      <p:sp>
        <p:nvSpPr>
          <p:cNvPr id="10" name="Shape 8"/>
          <p:cNvSpPr/>
          <p:nvPr/>
        </p:nvSpPr>
        <p:spPr>
          <a:xfrm>
            <a:off x="6492240" y="1691640"/>
            <a:ext cx="2148840" cy="914400"/>
          </a:xfrm>
          <a:prstGeom prst="roundRect">
            <a:avLst>
              <a:gd name="adj" fmla="val 5000"/>
            </a:avLst>
          </a:prstGeom>
          <a:solidFill>
            <a:srgbClr val="36454F"/>
          </a:solidFill>
          <a:ln/>
        </p:spPr>
        <p:txBody>
          <a:bodyPr/>
          <a:p/>
        </p:txBody>
      </p:sp>
      <p:sp>
        <p:nvSpPr>
          <p:cNvPr id="11" name="Text 9"/>
          <p:cNvSpPr txBox="1"/>
          <p:nvPr/>
        </p:nvSpPr>
        <p:spPr>
          <a:xfrm>
            <a:off x="6492240" y="1691640"/>
            <a:ext cx="2148840" cy="91440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ls</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child after exec()</a:t>
            </a:r>
            <a:endParaRPr lang="en-US" sz="1600" dirty="0"/>
          </a:p>
        </p:txBody>
      </p:sp>
      <p:sp>
        <p:nvSpPr>
          <p:cNvPr id="12" name="Shape 10"/>
          <p:cNvSpPr/>
          <p:nvPr/>
        </p:nvSpPr>
        <p:spPr>
          <a:xfrm>
            <a:off x="2715768" y="2148840"/>
            <a:ext cx="786384" cy="91"/>
          </a:xfrm>
          <a:prstGeom prst="line">
            <a:avLst/>
          </a:prstGeom>
          <a:noFill/>
          <a:ln w="25400">
            <a:solidFill>
              <a:srgbClr val="028090"/>
            </a:solidFill>
            <a:prstDash val="solid"/>
            <a:tailEnd type="triangle"/>
          </a:ln>
        </p:spPr>
        <p:txBody>
          <a:bodyPr/>
          <a:p/>
        </p:txBody>
      </p:sp>
      <p:sp>
        <p:nvSpPr>
          <p:cNvPr id="13" name="Shape 11"/>
          <p:cNvSpPr/>
          <p:nvPr/>
        </p:nvSpPr>
        <p:spPr>
          <a:xfrm>
            <a:off x="5687568" y="2148840"/>
            <a:ext cx="786384" cy="91"/>
          </a:xfrm>
          <a:prstGeom prst="line">
            <a:avLst/>
          </a:prstGeom>
          <a:noFill/>
          <a:ln w="25400">
            <a:solidFill>
              <a:srgbClr val="028090"/>
            </a:solidFill>
            <a:prstDash val="solid"/>
            <a:tailEnd type="triangle"/>
          </a:ln>
        </p:spPr>
        <p:txBody>
          <a:bodyPr/>
          <a:p/>
        </p:txBody>
      </p:sp>
      <p:sp>
        <p:nvSpPr>
          <p:cNvPr id="14" name="Text 12"/>
          <p:cNvSpPr txBox="1"/>
          <p:nvPr/>
        </p:nvSpPr>
        <p:spPr>
          <a:xfrm>
            <a:off x="2697480" y="1737360"/>
            <a:ext cx="822960" cy="320040"/>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fork()</a:t>
            </a:r>
            <a:endParaRPr lang="en-US" sz="1200" dirty="0"/>
          </a:p>
        </p:txBody>
      </p:sp>
      <p:sp>
        <p:nvSpPr>
          <p:cNvPr id="15" name="Text 13"/>
          <p:cNvSpPr txBox="1"/>
          <p:nvPr/>
        </p:nvSpPr>
        <p:spPr>
          <a:xfrm>
            <a:off x="5669280" y="1737360"/>
            <a:ext cx="822960" cy="320040"/>
          </a:xfrm>
          <a:prstGeom prst="rect">
            <a:avLst/>
          </a:prstGeom>
          <a:noFill/>
          <a:ln/>
        </p:spPr>
        <p:txBody>
          <a:bodyPr wrap="square" lIns="0" tIns="0" rIns="0" bIns="0" rtlCol="0" anchor="t"/>
          <a:lstStyle/>
          <a:p>
            <a:pPr algn="ctr" indent="0" marL="0">
              <a:buNone/>
            </a:pPr>
            <a:r>
              <a:rPr lang="en-US" sz="1200" b="1" dirty="0">
                <a:solidFill>
                  <a:srgbClr val="028090"/>
                </a:solidFill>
                <a:latin typeface="Calibri" pitchFamily="34" charset="0"/>
                <a:ea typeface="Calibri" pitchFamily="34" charset="-122"/>
                <a:cs typeface="Calibri" pitchFamily="34" charset="-120"/>
              </a:rPr>
              <a:t>exec()</a:t>
            </a:r>
            <a:endParaRPr lang="en-US" sz="1200" dirty="0"/>
          </a:p>
        </p:txBody>
      </p:sp>
      <p:sp>
        <p:nvSpPr>
          <p:cNvPr id="16" name="Shape 14"/>
          <p:cNvSpPr/>
          <p:nvPr/>
        </p:nvSpPr>
        <p:spPr>
          <a:xfrm>
            <a:off x="7571232" y="2624328"/>
            <a:ext cx="91" cy="484632"/>
          </a:xfrm>
          <a:prstGeom prst="line">
            <a:avLst/>
          </a:prstGeom>
          <a:noFill/>
          <a:ln w="22225">
            <a:solidFill>
              <a:srgbClr val="50808E"/>
            </a:solidFill>
            <a:prstDash val="solid"/>
          </a:ln>
        </p:spPr>
        <p:txBody>
          <a:bodyPr/>
          <a:p/>
        </p:txBody>
      </p:sp>
      <p:sp>
        <p:nvSpPr>
          <p:cNvPr id="17" name="Shape 15"/>
          <p:cNvSpPr/>
          <p:nvPr/>
        </p:nvSpPr>
        <p:spPr>
          <a:xfrm flipH="1">
            <a:off x="1618488" y="3108960"/>
            <a:ext cx="5952744" cy="91"/>
          </a:xfrm>
          <a:prstGeom prst="line">
            <a:avLst/>
          </a:prstGeom>
          <a:noFill/>
          <a:ln w="22225">
            <a:solidFill>
              <a:srgbClr val="50808E"/>
            </a:solidFill>
            <a:prstDash val="solid"/>
          </a:ln>
        </p:spPr>
        <p:txBody>
          <a:bodyPr/>
          <a:p/>
        </p:txBody>
      </p:sp>
      <p:sp>
        <p:nvSpPr>
          <p:cNvPr id="18" name="Shape 16"/>
          <p:cNvSpPr/>
          <p:nvPr/>
        </p:nvSpPr>
        <p:spPr>
          <a:xfrm flipV="1">
            <a:off x="1618488" y="2633472"/>
            <a:ext cx="91" cy="475488"/>
          </a:xfrm>
          <a:prstGeom prst="line">
            <a:avLst/>
          </a:prstGeom>
          <a:noFill/>
          <a:ln w="22225">
            <a:solidFill>
              <a:srgbClr val="50808E"/>
            </a:solidFill>
            <a:prstDash val="solid"/>
            <a:tailEnd type="triangle"/>
          </a:ln>
        </p:spPr>
        <p:txBody>
          <a:bodyPr/>
          <a:p/>
        </p:txBody>
      </p:sp>
      <p:sp>
        <p:nvSpPr>
          <p:cNvPr id="19" name="Text 17"/>
          <p:cNvSpPr txBox="1"/>
          <p:nvPr/>
        </p:nvSpPr>
        <p:spPr>
          <a:xfrm>
            <a:off x="1828800" y="3154680"/>
            <a:ext cx="6035040" cy="320040"/>
          </a:xfrm>
          <a:prstGeom prst="rect">
            <a:avLst/>
          </a:prstGeom>
          <a:noFill/>
          <a:ln/>
        </p:spPr>
        <p:txBody>
          <a:bodyPr wrap="square" lIns="0" tIns="0" rIns="0" bIns="0" rtlCol="0" anchor="t"/>
          <a:lstStyle/>
          <a:p>
            <a:pPr indent="0" marL="0">
              <a:buNone/>
            </a:pPr>
            <a:r>
              <a:rPr lang="en-US" sz="1200" i="1" dirty="0">
                <a:solidFill>
                  <a:srgbClr val="50808E"/>
                </a:solidFill>
                <a:latin typeface="Calibri" pitchFamily="34" charset="0"/>
                <a:ea typeface="Calibri" pitchFamily="34" charset="-122"/>
                <a:cs typeface="Calibri" pitchFamily="34" charset="-120"/>
              </a:rPr>
              <a:t>ls calls exit(); the waiting shell's wait() returns → new prompt</a:t>
            </a:r>
            <a:endParaRPr lang="en-US" sz="1200" dirty="0"/>
          </a:p>
        </p:txBody>
      </p:sp>
      <p:sp>
        <p:nvSpPr>
          <p:cNvPr id="20" name="Shape 18"/>
          <p:cNvSpPr/>
          <p:nvPr/>
        </p:nvSpPr>
        <p:spPr>
          <a:xfrm>
            <a:off x="548640" y="3703320"/>
            <a:ext cx="8092440" cy="2560320"/>
          </a:xfrm>
          <a:prstGeom prst="roundRect">
            <a:avLst>
              <a:gd name="adj" fmla="val 214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1" name="Text 19"/>
          <p:cNvSpPr txBox="1"/>
          <p:nvPr/>
        </p:nvSpPr>
        <p:spPr>
          <a:xfrm>
            <a:off x="777240" y="3886200"/>
            <a:ext cx="76352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five steps</a:t>
            </a:r>
            <a:endParaRPr lang="en-US" sz="1500" dirty="0"/>
          </a:p>
        </p:txBody>
      </p:sp>
      <p:sp>
        <p:nvSpPr>
          <p:cNvPr id="22" name="Text 20"/>
          <p:cNvSpPr txBox="1"/>
          <p:nvPr/>
        </p:nvSpPr>
        <p:spPr>
          <a:xfrm>
            <a:off x="777240" y="4343400"/>
            <a:ext cx="7635240" cy="178308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1 Read:</a:t>
            </a:r>
            <a:r>
              <a:rPr lang="en-US" sz="1350" dirty="0">
                <a:solidFill>
                  <a:srgbClr val="3A464C"/>
                </a:solidFill>
                <a:latin typeface="Calibri" pitchFamily="34" charset="0"/>
                <a:ea typeface="Calibri" pitchFamily="34" charset="-122"/>
                <a:cs typeface="Calibri" pitchFamily="34" charset="-120"/>
              </a:rPr>
              <a:t> bash reads the line "ls" from the terminal.</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2 Find:</a:t>
            </a:r>
            <a:r>
              <a:rPr lang="en-US" sz="1350" dirty="0">
                <a:solidFill>
                  <a:srgbClr val="3A464C"/>
                </a:solidFill>
                <a:latin typeface="Calibri" pitchFamily="34" charset="0"/>
                <a:ea typeface="Calibri" pitchFamily="34" charset="-122"/>
                <a:cs typeface="Calibri" pitchFamily="34" charset="-120"/>
              </a:rPr>
              <a:t> ls is not built in, so bash searches the directories in $PATH and finds /usr/bin/ls.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3 fork():</a:t>
            </a:r>
            <a:r>
              <a:rPr lang="en-US" sz="1350" dirty="0">
                <a:solidFill>
                  <a:srgbClr val="3A464C"/>
                </a:solidFill>
                <a:latin typeface="Calibri" pitchFamily="34" charset="0"/>
                <a:ea typeface="Calibri" pitchFamily="34" charset="-122"/>
                <a:cs typeface="Calibri" pitchFamily="34" charset="-120"/>
              </a:rPr>
              <a:t> bash creates a child process, a copy of itself.</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4 exec():</a:t>
            </a:r>
            <a:r>
              <a:rPr lang="en-US" sz="1350" dirty="0">
                <a:solidFill>
                  <a:srgbClr val="3A464C"/>
                </a:solidFill>
                <a:latin typeface="Calibri" pitchFamily="34" charset="0"/>
                <a:ea typeface="Calibri" pitchFamily="34" charset="-122"/>
                <a:cs typeface="Calibri" pitchFamily="34" charset="-120"/>
              </a:rPr>
              <a:t> the child replaces its program with /usr/bin/ls; ls runs, prints, exits.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5 wait():</a:t>
            </a:r>
            <a:r>
              <a:rPr lang="en-US" sz="1350" dirty="0">
                <a:solidFill>
                  <a:srgbClr val="3A464C"/>
                </a:solidFill>
                <a:latin typeface="Calibri" pitchFamily="34" charset="0"/>
                <a:ea typeface="Calibri" pitchFamily="34" charset="-122"/>
                <a:cs typeface="Calibri" pitchFamily="34" charset="-120"/>
              </a:rPr>
              <a:t> the parent shell waits, then prints the next prompt.</a:t>
            </a:r>
            <a:endParaRPr lang="en-US" sz="1350" dirty="0"/>
          </a:p>
        </p:txBody>
      </p:sp>
      <p:sp>
        <p:nvSpPr>
          <p:cNvPr id="23" name="Shape 21"/>
          <p:cNvSpPr/>
          <p:nvPr/>
        </p:nvSpPr>
        <p:spPr>
          <a:xfrm>
            <a:off x="8869680" y="3703320"/>
            <a:ext cx="2788920" cy="2560320"/>
          </a:xfrm>
          <a:prstGeom prst="roundRect">
            <a:avLst>
              <a:gd name="adj" fmla="val 2143"/>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4" name="Text 22"/>
          <p:cNvSpPr txBox="1"/>
          <p:nvPr/>
        </p:nvSpPr>
        <p:spPr>
          <a:xfrm>
            <a:off x="9098280" y="3703320"/>
            <a:ext cx="2331720" cy="25603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This is exactly the fork–exec–wait pattern of Week 3. Every external command you type is a new process with its own PID.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LINK TO WEEK 2</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Commands Become System Calls: strace ls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12</a:t>
            </a:r>
            <a:endParaRPr lang="en-US" sz="900" dirty="0"/>
          </a:p>
        </p:txBody>
      </p:sp>
      <p:sp>
        <p:nvSpPr>
          <p:cNvPr id="6" name="Shape 4"/>
          <p:cNvSpPr/>
          <p:nvPr/>
        </p:nvSpPr>
        <p:spPr>
          <a:xfrm>
            <a:off x="548640" y="1508760"/>
            <a:ext cx="11109960" cy="2331720"/>
          </a:xfrm>
          <a:prstGeom prst="roundRect">
            <a:avLst>
              <a:gd name="adj" fmla="val 1961"/>
            </a:avLst>
          </a:prstGeom>
          <a:solidFill>
            <a:srgbClr val="212121"/>
          </a:solidFill>
          <a:ln/>
        </p:spPr>
        <p:txBody>
          <a:bodyPr/>
          <a:p/>
        </p:txBody>
      </p:sp>
      <p:sp>
        <p:nvSpPr>
          <p:cNvPr id="7" name="Text 5"/>
          <p:cNvSpPr txBox="1"/>
          <p:nvPr/>
        </p:nvSpPr>
        <p:spPr>
          <a:xfrm>
            <a:off x="731520" y="1618488"/>
            <a:ext cx="10744200" cy="211226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strace -e trace=execve,getdents64,write ls docs &gt; /dev/null</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execve("/usr/bin/ls", ["ls", "docs"], 0x7ffc5b53bce8 /* 13 vars */) = 0</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getdents64(3, 0x55fd38daa8e0 /* 9 entries */, 32768) = 288</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getdents64(3, 0x55fd38daa8e0 /* 0 entries */, 32768) = 0</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write(1, "final report.txt\nlinux_quotes.tx"..., 86) = 86</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 exited with 0 +++</a:t>
            </a:r>
            <a:endParaRPr lang="en-US" sz="1200" dirty="0"/>
          </a:p>
        </p:txBody>
      </p:sp>
      <p:sp>
        <p:nvSpPr>
          <p:cNvPr id="8" name="Shape 6"/>
          <p:cNvSpPr/>
          <p:nvPr/>
        </p:nvSpPr>
        <p:spPr>
          <a:xfrm>
            <a:off x="548640" y="4023360"/>
            <a:ext cx="548640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 y="4206240"/>
            <a:ext cx="5029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Reading the trace</a:t>
            </a:r>
            <a:endParaRPr lang="en-US" sz="1500" dirty="0"/>
          </a:p>
        </p:txBody>
      </p:sp>
      <p:sp>
        <p:nvSpPr>
          <p:cNvPr id="10" name="Text 8"/>
          <p:cNvSpPr txBox="1"/>
          <p:nvPr/>
        </p:nvSpPr>
        <p:spPr>
          <a:xfrm>
            <a:off x="777240" y="4663440"/>
            <a:ext cx="5029200" cy="14630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execve:</a:t>
            </a:r>
            <a:r>
              <a:rPr lang="en-US" sz="1350" dirty="0">
                <a:solidFill>
                  <a:srgbClr val="3A464C"/>
                </a:solidFill>
                <a:latin typeface="Calibri" pitchFamily="34" charset="0"/>
                <a:ea typeface="Calibri" pitchFamily="34" charset="-122"/>
                <a:cs typeface="Calibri" pitchFamily="34" charset="-120"/>
              </a:rPr>
              <a:t> the child turns into /usr/bin/ls with arguments ["ls", "docs"].</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getdents64:</a:t>
            </a:r>
            <a:r>
              <a:rPr lang="en-US" sz="1350" dirty="0">
                <a:solidFill>
                  <a:srgbClr val="3A464C"/>
                </a:solidFill>
                <a:latin typeface="Calibri" pitchFamily="34" charset="0"/>
                <a:ea typeface="Calibri" pitchFamily="34" charset="-122"/>
                <a:cs typeface="Calibri" pitchFamily="34" charset="-120"/>
              </a:rPr>
              <a:t> "get directory entries" — reads the directory: 9 entries (6 files, .settings, . and ..).</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write(1, …):</a:t>
            </a:r>
            <a:r>
              <a:rPr lang="en-US" sz="1350" dirty="0">
                <a:solidFill>
                  <a:srgbClr val="3A464C"/>
                </a:solidFill>
                <a:latin typeface="Calibri" pitchFamily="34" charset="0"/>
                <a:ea typeface="Calibri" pitchFamily="34" charset="-122"/>
                <a:cs typeface="Calibri" pitchFamily="34" charset="-120"/>
              </a:rPr>
              <a:t> prints 86 bytes to file descriptor 1 (standard output).</a:t>
            </a:r>
            <a:endParaRPr lang="en-US" sz="1350" dirty="0"/>
          </a:p>
        </p:txBody>
      </p:sp>
      <p:sp>
        <p:nvSpPr>
          <p:cNvPr id="11" name="Shape 9"/>
          <p:cNvSpPr/>
          <p:nvPr/>
        </p:nvSpPr>
        <p:spPr>
          <a:xfrm>
            <a:off x="6263640" y="4023360"/>
            <a:ext cx="539496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6492240" y="4206240"/>
            <a:ext cx="49377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Why this matters</a:t>
            </a:r>
            <a:endParaRPr lang="en-US" sz="1500" dirty="0"/>
          </a:p>
        </p:txBody>
      </p:sp>
      <p:sp>
        <p:nvSpPr>
          <p:cNvPr id="13" name="Text 11"/>
          <p:cNvSpPr txBox="1"/>
          <p:nvPr/>
        </p:nvSpPr>
        <p:spPr>
          <a:xfrm>
            <a:off x="6492240" y="4663440"/>
            <a:ext cx="4937760" cy="14630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ls cannot read the disk itself: it asks the kernel, as every program must (dual mode, Week 2).</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 directory is a file holding (name, inode) pairs (Week 7); getdents64 reads those pairs.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&gt; /dev/null hides ls's own output (Week 12), so only strace's report is shown.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READING THE SCREEN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Prompt and the Anatomy of a Command</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13</a:t>
            </a:r>
            <a:endParaRPr lang="en-US" sz="900" dirty="0"/>
          </a:p>
        </p:txBody>
      </p:sp>
      <p:sp>
        <p:nvSpPr>
          <p:cNvPr id="6" name="Shape 4"/>
          <p:cNvSpPr/>
          <p:nvPr/>
        </p:nvSpPr>
        <p:spPr>
          <a:xfrm>
            <a:off x="640080" y="1600200"/>
            <a:ext cx="1179576" cy="566928"/>
          </a:xfrm>
          <a:prstGeom prst="roundRect">
            <a:avLst>
              <a:gd name="adj" fmla="val 8065"/>
            </a:avLst>
          </a:prstGeom>
          <a:solidFill>
            <a:srgbClr val="36454F"/>
          </a:solidFill>
          <a:ln/>
        </p:spPr>
        <p:txBody>
          <a:bodyPr/>
          <a:p/>
        </p:txBody>
      </p:sp>
      <p:sp>
        <p:nvSpPr>
          <p:cNvPr id="7" name="Text 5"/>
          <p:cNvSpPr txBox="1"/>
          <p:nvPr/>
        </p:nvSpPr>
        <p:spPr>
          <a:xfrm>
            <a:off x="640080" y="1600200"/>
            <a:ext cx="1179576" cy="566928"/>
          </a:xfrm>
          <a:prstGeom prst="rect">
            <a:avLst/>
          </a:prstGeom>
          <a:noFill/>
          <a:ln/>
        </p:spPr>
        <p:txBody>
          <a:bodyPr wrap="square" lIns="38100" tIns="38100" rIns="38100" bIns="38100" rtlCol="0" anchor="ctr"/>
          <a:lstStyle/>
          <a:p>
            <a:pPr algn="ctr" indent="0" marL="0">
              <a:buNone/>
            </a:pPr>
            <a:r>
              <a:rPr lang="en-US" sz="1800" b="1" dirty="0">
                <a:solidFill>
                  <a:srgbClr val="02C39A"/>
                </a:solidFill>
                <a:latin typeface="Consolas" pitchFamily="34" charset="0"/>
                <a:ea typeface="Consolas" pitchFamily="34" charset="-122"/>
                <a:cs typeface="Consolas" pitchFamily="34" charset="-120"/>
              </a:rPr>
              <a:t>student</a:t>
            </a:r>
            <a:endParaRPr lang="en-US" sz="1800" dirty="0"/>
          </a:p>
        </p:txBody>
      </p:sp>
      <p:sp>
        <p:nvSpPr>
          <p:cNvPr id="8" name="Text 6"/>
          <p:cNvSpPr txBox="1"/>
          <p:nvPr/>
        </p:nvSpPr>
        <p:spPr>
          <a:xfrm>
            <a:off x="548640" y="2203704"/>
            <a:ext cx="1362456" cy="274320"/>
          </a:xfrm>
          <a:prstGeom prst="rect">
            <a:avLst/>
          </a:prstGeom>
          <a:noFill/>
          <a:ln/>
        </p:spPr>
        <p:txBody>
          <a:bodyPr wrap="square" lIns="0" tIns="0" rIns="0" bIns="0" rtlCol="0" anchor="t"/>
          <a:lstStyle/>
          <a:p>
            <a:pPr algn="ctr" indent="0" marL="0">
              <a:buNone/>
            </a:pPr>
            <a:r>
              <a:rPr lang="en-US" sz="1150" i="1" dirty="0">
                <a:solidFill>
                  <a:srgbClr val="6B7679"/>
                </a:solidFill>
                <a:latin typeface="Calibri" pitchFamily="34" charset="0"/>
                <a:ea typeface="Calibri" pitchFamily="34" charset="-122"/>
                <a:cs typeface="Calibri" pitchFamily="34" charset="-120"/>
              </a:rPr>
              <a:t>user</a:t>
            </a:r>
            <a:endParaRPr lang="en-US" sz="1150" dirty="0"/>
          </a:p>
        </p:txBody>
      </p:sp>
      <p:sp>
        <p:nvSpPr>
          <p:cNvPr id="9" name="Shape 7"/>
          <p:cNvSpPr/>
          <p:nvPr/>
        </p:nvSpPr>
        <p:spPr>
          <a:xfrm>
            <a:off x="1874520" y="1600200"/>
            <a:ext cx="265176" cy="566928"/>
          </a:xfrm>
          <a:prstGeom prst="roundRect">
            <a:avLst>
              <a:gd name="adj" fmla="val 17241"/>
            </a:avLst>
          </a:prstGeom>
          <a:solidFill>
            <a:srgbClr val="F2F2F2"/>
          </a:solidFill>
          <a:ln/>
        </p:spPr>
        <p:txBody>
          <a:bodyPr/>
          <a:p/>
        </p:txBody>
      </p:sp>
      <p:sp>
        <p:nvSpPr>
          <p:cNvPr id="10" name="Text 8"/>
          <p:cNvSpPr txBox="1"/>
          <p:nvPr/>
        </p:nvSpPr>
        <p:spPr>
          <a:xfrm>
            <a:off x="1874520" y="1600200"/>
            <a:ext cx="265176" cy="566928"/>
          </a:xfrm>
          <a:prstGeom prst="rect">
            <a:avLst/>
          </a:prstGeom>
          <a:noFill/>
          <a:ln/>
        </p:spPr>
        <p:txBody>
          <a:bodyPr wrap="square" lIns="38100" tIns="38100" rIns="38100" bIns="38100" rtlCol="0" anchor="ctr"/>
          <a:lstStyle/>
          <a:p>
            <a:pPr algn="ctr" indent="0" marL="0">
              <a:buNone/>
            </a:pPr>
            <a:r>
              <a:rPr lang="en-US" sz="1800" b="1" dirty="0">
                <a:solidFill>
                  <a:srgbClr val="212121"/>
                </a:solidFill>
                <a:latin typeface="Consolas" pitchFamily="34" charset="0"/>
                <a:ea typeface="Consolas" pitchFamily="34" charset="-122"/>
                <a:cs typeface="Consolas" pitchFamily="34" charset="-120"/>
              </a:rPr>
              <a:t>@</a:t>
            </a:r>
            <a:endParaRPr lang="en-US" sz="1800" dirty="0"/>
          </a:p>
        </p:txBody>
      </p:sp>
      <p:sp>
        <p:nvSpPr>
          <p:cNvPr id="11" name="Shape 9"/>
          <p:cNvSpPr/>
          <p:nvPr/>
        </p:nvSpPr>
        <p:spPr>
          <a:xfrm>
            <a:off x="2194560" y="1600200"/>
            <a:ext cx="1408176" cy="566928"/>
          </a:xfrm>
          <a:prstGeom prst="roundRect">
            <a:avLst>
              <a:gd name="adj" fmla="val 8065"/>
            </a:avLst>
          </a:prstGeom>
          <a:solidFill>
            <a:srgbClr val="36454F"/>
          </a:solidFill>
          <a:ln/>
        </p:spPr>
        <p:txBody>
          <a:bodyPr/>
          <a:p/>
        </p:txBody>
      </p:sp>
      <p:sp>
        <p:nvSpPr>
          <p:cNvPr id="12" name="Text 10"/>
          <p:cNvSpPr txBox="1"/>
          <p:nvPr/>
        </p:nvSpPr>
        <p:spPr>
          <a:xfrm>
            <a:off x="2194560" y="1600200"/>
            <a:ext cx="1408176" cy="566928"/>
          </a:xfrm>
          <a:prstGeom prst="rect">
            <a:avLst/>
          </a:prstGeom>
          <a:noFill/>
          <a:ln/>
        </p:spPr>
        <p:txBody>
          <a:bodyPr wrap="square" lIns="38100" tIns="38100" rIns="38100" bIns="38100" rtlCol="0" anchor="ctr"/>
          <a:lstStyle/>
          <a:p>
            <a:pPr algn="ctr" indent="0" marL="0">
              <a:buNone/>
            </a:pPr>
            <a:r>
              <a:rPr lang="en-US" sz="1800" b="1" dirty="0">
                <a:solidFill>
                  <a:srgbClr val="02C39A"/>
                </a:solidFill>
                <a:latin typeface="Consolas" pitchFamily="34" charset="0"/>
                <a:ea typeface="Consolas" pitchFamily="34" charset="-122"/>
                <a:cs typeface="Consolas" pitchFamily="34" charset="-120"/>
              </a:rPr>
              <a:t>okan-lab</a:t>
            </a:r>
            <a:endParaRPr lang="en-US" sz="1800" dirty="0"/>
          </a:p>
        </p:txBody>
      </p:sp>
      <p:sp>
        <p:nvSpPr>
          <p:cNvPr id="13" name="Text 11"/>
          <p:cNvSpPr txBox="1"/>
          <p:nvPr/>
        </p:nvSpPr>
        <p:spPr>
          <a:xfrm>
            <a:off x="2103120" y="2203704"/>
            <a:ext cx="1591056" cy="274320"/>
          </a:xfrm>
          <a:prstGeom prst="rect">
            <a:avLst/>
          </a:prstGeom>
          <a:noFill/>
          <a:ln/>
        </p:spPr>
        <p:txBody>
          <a:bodyPr wrap="square" lIns="0" tIns="0" rIns="0" bIns="0" rtlCol="0" anchor="t"/>
          <a:lstStyle/>
          <a:p>
            <a:pPr algn="ctr" indent="0" marL="0">
              <a:buNone/>
            </a:pPr>
            <a:r>
              <a:rPr lang="en-US" sz="1150" i="1" dirty="0">
                <a:solidFill>
                  <a:srgbClr val="6B7679"/>
                </a:solidFill>
                <a:latin typeface="Calibri" pitchFamily="34" charset="0"/>
                <a:ea typeface="Calibri" pitchFamily="34" charset="-122"/>
                <a:cs typeface="Calibri" pitchFamily="34" charset="-120"/>
              </a:rPr>
              <a:t>host</a:t>
            </a:r>
            <a:endParaRPr lang="en-US" sz="1150" dirty="0"/>
          </a:p>
        </p:txBody>
      </p:sp>
      <p:sp>
        <p:nvSpPr>
          <p:cNvPr id="14" name="Shape 12"/>
          <p:cNvSpPr/>
          <p:nvPr/>
        </p:nvSpPr>
        <p:spPr>
          <a:xfrm>
            <a:off x="3657600" y="1600200"/>
            <a:ext cx="265176" cy="566928"/>
          </a:xfrm>
          <a:prstGeom prst="roundRect">
            <a:avLst>
              <a:gd name="adj" fmla="val 17241"/>
            </a:avLst>
          </a:prstGeom>
          <a:solidFill>
            <a:srgbClr val="F2F2F2"/>
          </a:solidFill>
          <a:ln/>
        </p:spPr>
        <p:txBody>
          <a:bodyPr/>
          <a:p/>
        </p:txBody>
      </p:sp>
      <p:sp>
        <p:nvSpPr>
          <p:cNvPr id="15" name="Text 13"/>
          <p:cNvSpPr txBox="1"/>
          <p:nvPr/>
        </p:nvSpPr>
        <p:spPr>
          <a:xfrm>
            <a:off x="3657600" y="1600200"/>
            <a:ext cx="265176" cy="566928"/>
          </a:xfrm>
          <a:prstGeom prst="rect">
            <a:avLst/>
          </a:prstGeom>
          <a:noFill/>
          <a:ln/>
        </p:spPr>
        <p:txBody>
          <a:bodyPr wrap="square" lIns="38100" tIns="38100" rIns="38100" bIns="38100" rtlCol="0" anchor="ctr"/>
          <a:lstStyle/>
          <a:p>
            <a:pPr algn="ctr" indent="0" marL="0">
              <a:buNone/>
            </a:pPr>
            <a:r>
              <a:rPr lang="en-US" sz="1800" b="1" dirty="0">
                <a:solidFill>
                  <a:srgbClr val="212121"/>
                </a:solidFill>
                <a:latin typeface="Consolas" pitchFamily="34" charset="0"/>
                <a:ea typeface="Consolas" pitchFamily="34" charset="-122"/>
                <a:cs typeface="Consolas" pitchFamily="34" charset="-120"/>
              </a:rPr>
              <a:t>:</a:t>
            </a:r>
            <a:endParaRPr lang="en-US" sz="1800" dirty="0"/>
          </a:p>
        </p:txBody>
      </p:sp>
      <p:sp>
        <p:nvSpPr>
          <p:cNvPr id="16" name="Shape 14"/>
          <p:cNvSpPr/>
          <p:nvPr/>
        </p:nvSpPr>
        <p:spPr>
          <a:xfrm>
            <a:off x="3977640" y="1600200"/>
            <a:ext cx="1179576" cy="566928"/>
          </a:xfrm>
          <a:prstGeom prst="roundRect">
            <a:avLst>
              <a:gd name="adj" fmla="val 8065"/>
            </a:avLst>
          </a:prstGeom>
          <a:solidFill>
            <a:srgbClr val="36454F"/>
          </a:solidFill>
          <a:ln/>
        </p:spPr>
        <p:txBody>
          <a:bodyPr/>
          <a:p/>
        </p:txBody>
      </p:sp>
      <p:sp>
        <p:nvSpPr>
          <p:cNvPr id="17" name="Text 15"/>
          <p:cNvSpPr txBox="1"/>
          <p:nvPr/>
        </p:nvSpPr>
        <p:spPr>
          <a:xfrm>
            <a:off x="3977640" y="1600200"/>
            <a:ext cx="1179576" cy="566928"/>
          </a:xfrm>
          <a:prstGeom prst="rect">
            <a:avLst/>
          </a:prstGeom>
          <a:noFill/>
          <a:ln/>
        </p:spPr>
        <p:txBody>
          <a:bodyPr wrap="square" lIns="38100" tIns="38100" rIns="38100" bIns="38100" rtlCol="0" anchor="ctr"/>
          <a:lstStyle/>
          <a:p>
            <a:pPr algn="ctr" indent="0" marL="0">
              <a:buNone/>
            </a:pPr>
            <a:r>
              <a:rPr lang="en-US" sz="1800" b="1" dirty="0">
                <a:solidFill>
                  <a:srgbClr val="02C39A"/>
                </a:solidFill>
                <a:latin typeface="Consolas" pitchFamily="34" charset="0"/>
                <a:ea typeface="Consolas" pitchFamily="34" charset="-122"/>
                <a:cs typeface="Consolas" pitchFamily="34" charset="-120"/>
              </a:rPr>
              <a:t>~/lab</a:t>
            </a:r>
            <a:endParaRPr lang="en-US" sz="1800" dirty="0"/>
          </a:p>
        </p:txBody>
      </p:sp>
      <p:sp>
        <p:nvSpPr>
          <p:cNvPr id="18" name="Text 16"/>
          <p:cNvSpPr txBox="1"/>
          <p:nvPr/>
        </p:nvSpPr>
        <p:spPr>
          <a:xfrm>
            <a:off x="3886200" y="2203704"/>
            <a:ext cx="1362456" cy="274320"/>
          </a:xfrm>
          <a:prstGeom prst="rect">
            <a:avLst/>
          </a:prstGeom>
          <a:noFill/>
          <a:ln/>
        </p:spPr>
        <p:txBody>
          <a:bodyPr wrap="square" lIns="0" tIns="0" rIns="0" bIns="0" rtlCol="0" anchor="t"/>
          <a:lstStyle/>
          <a:p>
            <a:pPr algn="ctr" indent="0" marL="0">
              <a:buNone/>
            </a:pPr>
            <a:r>
              <a:rPr lang="en-US" sz="1150" i="1" dirty="0">
                <a:solidFill>
                  <a:srgbClr val="6B7679"/>
                </a:solidFill>
                <a:latin typeface="Calibri" pitchFamily="34" charset="0"/>
                <a:ea typeface="Calibri" pitchFamily="34" charset="-122"/>
                <a:cs typeface="Calibri" pitchFamily="34" charset="-120"/>
              </a:rPr>
              <a:t>current dir</a:t>
            </a:r>
            <a:endParaRPr lang="en-US" sz="1150" dirty="0"/>
          </a:p>
        </p:txBody>
      </p:sp>
      <p:sp>
        <p:nvSpPr>
          <p:cNvPr id="19" name="Shape 17"/>
          <p:cNvSpPr/>
          <p:nvPr/>
        </p:nvSpPr>
        <p:spPr>
          <a:xfrm>
            <a:off x="5212080" y="1600200"/>
            <a:ext cx="950976" cy="566928"/>
          </a:xfrm>
          <a:prstGeom prst="roundRect">
            <a:avLst>
              <a:gd name="adj" fmla="val 8065"/>
            </a:avLst>
          </a:prstGeom>
          <a:solidFill>
            <a:srgbClr val="36454F"/>
          </a:solidFill>
          <a:ln/>
        </p:spPr>
        <p:txBody>
          <a:bodyPr/>
          <a:p/>
        </p:txBody>
      </p:sp>
      <p:sp>
        <p:nvSpPr>
          <p:cNvPr id="20" name="Text 18"/>
          <p:cNvSpPr txBox="1"/>
          <p:nvPr/>
        </p:nvSpPr>
        <p:spPr>
          <a:xfrm>
            <a:off x="5212080" y="1600200"/>
            <a:ext cx="950976" cy="566928"/>
          </a:xfrm>
          <a:prstGeom prst="rect">
            <a:avLst/>
          </a:prstGeom>
          <a:noFill/>
          <a:ln/>
        </p:spPr>
        <p:txBody>
          <a:bodyPr wrap="square" lIns="38100" tIns="38100" rIns="38100" bIns="38100" rtlCol="0" anchor="ctr"/>
          <a:lstStyle/>
          <a:p>
            <a:pPr algn="ctr" indent="0" marL="0">
              <a:buNone/>
            </a:pPr>
            <a:r>
              <a:rPr lang="en-US" sz="1800" b="1" dirty="0">
                <a:solidFill>
                  <a:srgbClr val="02C39A"/>
                </a:solidFill>
                <a:latin typeface="Consolas" pitchFamily="34" charset="0"/>
                <a:ea typeface="Consolas" pitchFamily="34" charset="-122"/>
                <a:cs typeface="Consolas" pitchFamily="34" charset="-120"/>
              </a:rPr>
              <a:t>$</a:t>
            </a:r>
            <a:endParaRPr lang="en-US" sz="1800" dirty="0"/>
          </a:p>
        </p:txBody>
      </p:sp>
      <p:sp>
        <p:nvSpPr>
          <p:cNvPr id="21" name="Text 19"/>
          <p:cNvSpPr txBox="1"/>
          <p:nvPr/>
        </p:nvSpPr>
        <p:spPr>
          <a:xfrm>
            <a:off x="5120640" y="2203704"/>
            <a:ext cx="1133856" cy="274320"/>
          </a:xfrm>
          <a:prstGeom prst="rect">
            <a:avLst/>
          </a:prstGeom>
          <a:noFill/>
          <a:ln/>
        </p:spPr>
        <p:txBody>
          <a:bodyPr wrap="square" lIns="0" tIns="0" rIns="0" bIns="0" rtlCol="0" anchor="t"/>
          <a:lstStyle/>
          <a:p>
            <a:pPr algn="ctr" indent="0" marL="0">
              <a:buNone/>
            </a:pPr>
            <a:r>
              <a:rPr lang="en-US" sz="1150" i="1" dirty="0">
                <a:solidFill>
                  <a:srgbClr val="6B7679"/>
                </a:solidFill>
                <a:latin typeface="Calibri" pitchFamily="34" charset="0"/>
                <a:ea typeface="Calibri" pitchFamily="34" charset="-122"/>
                <a:cs typeface="Calibri" pitchFamily="34" charset="-120"/>
              </a:rPr>
              <a:t>normal user</a:t>
            </a:r>
            <a:endParaRPr lang="en-US" sz="1150" dirty="0"/>
          </a:p>
        </p:txBody>
      </p:sp>
      <p:sp>
        <p:nvSpPr>
          <p:cNvPr id="22" name="Text 20"/>
          <p:cNvSpPr txBox="1"/>
          <p:nvPr/>
        </p:nvSpPr>
        <p:spPr>
          <a:xfrm>
            <a:off x="640080" y="2514600"/>
            <a:ext cx="5212080" cy="548640"/>
          </a:xfrm>
          <a:prstGeom prst="rect">
            <a:avLst/>
          </a:prstGeom>
          <a:noFill/>
          <a:ln/>
        </p:spPr>
        <p:txBody>
          <a:bodyPr wrap="square" lIns="0" tIns="0" rIns="0" bIns="0" rtlCol="0" anchor="t"/>
          <a:lstStyle/>
          <a:p>
            <a:pPr indent="0" marL="0">
              <a:buNone/>
            </a:pPr>
            <a:r>
              <a:rPr lang="en-US" sz="1200" dirty="0">
                <a:solidFill>
                  <a:srgbClr val="6B7679"/>
                </a:solidFill>
                <a:latin typeface="Calibri" pitchFamily="34" charset="0"/>
                <a:ea typeface="Calibri" pitchFamily="34" charset="-122"/>
                <a:cs typeface="Calibri" pitchFamily="34" charset="-120"/>
              </a:rPr>
              <a:t>~ = your home directory /home/student  ·  # instead of $ = root (the administrator)</a:t>
            </a:r>
            <a:endParaRPr lang="en-US" sz="1200" dirty="0"/>
          </a:p>
        </p:txBody>
      </p:sp>
      <p:sp>
        <p:nvSpPr>
          <p:cNvPr id="23" name="Text 21"/>
          <p:cNvSpPr txBox="1"/>
          <p:nvPr/>
        </p:nvSpPr>
        <p:spPr>
          <a:xfrm>
            <a:off x="640080" y="2971800"/>
            <a:ext cx="5303520" cy="365760"/>
          </a:xfrm>
          <a:prstGeom prst="rect">
            <a:avLst/>
          </a:prstGeom>
          <a:noFill/>
          <a:ln/>
        </p:spPr>
        <p:txBody>
          <a:bodyPr wrap="square" lIns="0" tIns="0" rIns="0" bIns="0" rtlCol="0" anchor="t"/>
          <a:lstStyle/>
          <a:p>
            <a:pPr indent="0" marL="0">
              <a:buNone/>
            </a:pPr>
            <a:r>
              <a:rPr lang="en-US" sz="1500" b="1" dirty="0">
                <a:solidFill>
                  <a:srgbClr val="028090"/>
                </a:solidFill>
                <a:latin typeface="Calibri" pitchFamily="34" charset="0"/>
                <a:ea typeface="Calibri" pitchFamily="34" charset="-122"/>
                <a:cs typeface="Calibri" pitchFamily="34" charset="-120"/>
              </a:rPr>
              <a:t>command  -options  arguments</a:t>
            </a:r>
            <a:endParaRPr lang="en-US" sz="1500" dirty="0"/>
          </a:p>
        </p:txBody>
      </p:sp>
      <p:sp>
        <p:nvSpPr>
          <p:cNvPr id="24" name="Shape 22"/>
          <p:cNvSpPr/>
          <p:nvPr/>
        </p:nvSpPr>
        <p:spPr>
          <a:xfrm>
            <a:off x="640080" y="3429000"/>
            <a:ext cx="749808" cy="566928"/>
          </a:xfrm>
          <a:prstGeom prst="roundRect">
            <a:avLst>
              <a:gd name="adj" fmla="val 8065"/>
            </a:avLst>
          </a:prstGeom>
          <a:solidFill>
            <a:srgbClr val="02C39A"/>
          </a:solidFill>
          <a:ln/>
        </p:spPr>
        <p:txBody>
          <a:bodyPr/>
          <a:p/>
        </p:txBody>
      </p:sp>
      <p:sp>
        <p:nvSpPr>
          <p:cNvPr id="25" name="Text 23"/>
          <p:cNvSpPr txBox="1"/>
          <p:nvPr/>
        </p:nvSpPr>
        <p:spPr>
          <a:xfrm>
            <a:off x="640080" y="3429000"/>
            <a:ext cx="749808" cy="566928"/>
          </a:xfrm>
          <a:prstGeom prst="rect">
            <a:avLst/>
          </a:prstGeom>
          <a:noFill/>
          <a:ln/>
        </p:spPr>
        <p:txBody>
          <a:bodyPr wrap="square" lIns="38100" tIns="38100" rIns="38100" bIns="38100" rtlCol="0" anchor="ctr"/>
          <a:lstStyle/>
          <a:p>
            <a:pPr algn="ctr" indent="0" marL="0">
              <a:buNone/>
            </a:pPr>
            <a:r>
              <a:rPr lang="en-US" sz="1800" b="1" dirty="0">
                <a:solidFill>
                  <a:srgbClr val="212121"/>
                </a:solidFill>
                <a:latin typeface="Consolas" pitchFamily="34" charset="0"/>
                <a:ea typeface="Consolas" pitchFamily="34" charset="-122"/>
                <a:cs typeface="Consolas" pitchFamily="34" charset="-120"/>
              </a:rPr>
              <a:t>ls</a:t>
            </a:r>
            <a:endParaRPr lang="en-US" sz="1800" dirty="0"/>
          </a:p>
        </p:txBody>
      </p:sp>
      <p:sp>
        <p:nvSpPr>
          <p:cNvPr id="26" name="Text 24"/>
          <p:cNvSpPr txBox="1"/>
          <p:nvPr/>
        </p:nvSpPr>
        <p:spPr>
          <a:xfrm>
            <a:off x="640080" y="4032504"/>
            <a:ext cx="749808" cy="274320"/>
          </a:xfrm>
          <a:prstGeom prst="rect">
            <a:avLst/>
          </a:prstGeom>
          <a:noFill/>
          <a:ln/>
        </p:spPr>
        <p:txBody>
          <a:bodyPr wrap="square" lIns="0" tIns="0" rIns="0" bIns="0" rtlCol="0" anchor="t"/>
          <a:lstStyle/>
          <a:p>
            <a:pPr algn="ctr" indent="0" marL="0">
              <a:buNone/>
            </a:pPr>
            <a:r>
              <a:rPr lang="en-US" sz="1150" i="1" dirty="0">
                <a:solidFill>
                  <a:srgbClr val="6B7679"/>
                </a:solidFill>
                <a:latin typeface="Calibri" pitchFamily="34" charset="0"/>
                <a:ea typeface="Calibri" pitchFamily="34" charset="-122"/>
                <a:cs typeface="Calibri" pitchFamily="34" charset="-120"/>
              </a:rPr>
              <a:t>command</a:t>
            </a:r>
            <a:endParaRPr lang="en-US" sz="1150" dirty="0"/>
          </a:p>
        </p:txBody>
      </p:sp>
      <p:sp>
        <p:nvSpPr>
          <p:cNvPr id="27" name="Shape 25"/>
          <p:cNvSpPr/>
          <p:nvPr/>
        </p:nvSpPr>
        <p:spPr>
          <a:xfrm>
            <a:off x="1463040" y="3429000"/>
            <a:ext cx="1298448" cy="566928"/>
          </a:xfrm>
          <a:prstGeom prst="roundRect">
            <a:avLst>
              <a:gd name="adj" fmla="val 8065"/>
            </a:avLst>
          </a:prstGeom>
          <a:solidFill>
            <a:srgbClr val="D7E9E6"/>
          </a:solidFill>
          <a:ln/>
        </p:spPr>
        <p:txBody>
          <a:bodyPr/>
          <a:p/>
        </p:txBody>
      </p:sp>
      <p:sp>
        <p:nvSpPr>
          <p:cNvPr id="28" name="Text 26"/>
          <p:cNvSpPr txBox="1"/>
          <p:nvPr/>
        </p:nvSpPr>
        <p:spPr>
          <a:xfrm>
            <a:off x="1463040" y="3429000"/>
            <a:ext cx="1298448" cy="566928"/>
          </a:xfrm>
          <a:prstGeom prst="rect">
            <a:avLst/>
          </a:prstGeom>
          <a:noFill/>
          <a:ln/>
        </p:spPr>
        <p:txBody>
          <a:bodyPr wrap="square" lIns="38100" tIns="38100" rIns="38100" bIns="38100" rtlCol="0" anchor="ctr"/>
          <a:lstStyle/>
          <a:p>
            <a:pPr algn="ctr" indent="0" marL="0">
              <a:buNone/>
            </a:pPr>
            <a:r>
              <a:rPr lang="en-US" sz="1800" b="1" dirty="0">
                <a:solidFill>
                  <a:srgbClr val="212121"/>
                </a:solidFill>
                <a:latin typeface="Consolas" pitchFamily="34" charset="0"/>
                <a:ea typeface="Consolas" pitchFamily="34" charset="-122"/>
                <a:cs typeface="Consolas" pitchFamily="34" charset="-120"/>
              </a:rPr>
              <a:t>-l -a</a:t>
            </a:r>
            <a:endParaRPr lang="en-US" sz="1800" dirty="0"/>
          </a:p>
        </p:txBody>
      </p:sp>
      <p:sp>
        <p:nvSpPr>
          <p:cNvPr id="29" name="Text 27"/>
          <p:cNvSpPr txBox="1"/>
          <p:nvPr/>
        </p:nvSpPr>
        <p:spPr>
          <a:xfrm>
            <a:off x="1463040" y="4032504"/>
            <a:ext cx="1298448" cy="274320"/>
          </a:xfrm>
          <a:prstGeom prst="rect">
            <a:avLst/>
          </a:prstGeom>
          <a:noFill/>
          <a:ln/>
        </p:spPr>
        <p:txBody>
          <a:bodyPr wrap="square" lIns="0" tIns="0" rIns="0" bIns="0" rtlCol="0" anchor="t"/>
          <a:lstStyle/>
          <a:p>
            <a:pPr algn="ctr" indent="0" marL="0">
              <a:buNone/>
            </a:pPr>
            <a:r>
              <a:rPr lang="en-US" sz="1150" i="1" dirty="0">
                <a:solidFill>
                  <a:srgbClr val="6B7679"/>
                </a:solidFill>
                <a:latin typeface="Calibri" pitchFamily="34" charset="0"/>
                <a:ea typeface="Calibri" pitchFamily="34" charset="-122"/>
                <a:cs typeface="Calibri" pitchFamily="34" charset="-120"/>
              </a:rPr>
              <a:t>options</a:t>
            </a:r>
            <a:endParaRPr lang="en-US" sz="1150" dirty="0"/>
          </a:p>
        </p:txBody>
      </p:sp>
      <p:sp>
        <p:nvSpPr>
          <p:cNvPr id="30" name="Shape 28"/>
          <p:cNvSpPr/>
          <p:nvPr/>
        </p:nvSpPr>
        <p:spPr>
          <a:xfrm>
            <a:off x="2834640" y="3429000"/>
            <a:ext cx="2304288" cy="566928"/>
          </a:xfrm>
          <a:prstGeom prst="roundRect">
            <a:avLst>
              <a:gd name="adj" fmla="val 8065"/>
            </a:avLst>
          </a:prstGeom>
          <a:solidFill>
            <a:srgbClr val="F2F2F2"/>
          </a:solidFill>
          <a:ln/>
        </p:spPr>
        <p:txBody>
          <a:bodyPr/>
          <a:p/>
        </p:txBody>
      </p:sp>
      <p:sp>
        <p:nvSpPr>
          <p:cNvPr id="31" name="Text 29"/>
          <p:cNvSpPr txBox="1"/>
          <p:nvPr/>
        </p:nvSpPr>
        <p:spPr>
          <a:xfrm>
            <a:off x="2834640" y="3429000"/>
            <a:ext cx="2304288" cy="566928"/>
          </a:xfrm>
          <a:prstGeom prst="rect">
            <a:avLst/>
          </a:prstGeom>
          <a:noFill/>
          <a:ln/>
        </p:spPr>
        <p:txBody>
          <a:bodyPr wrap="square" lIns="38100" tIns="38100" rIns="38100" bIns="38100" rtlCol="0" anchor="ctr"/>
          <a:lstStyle/>
          <a:p>
            <a:pPr algn="ctr" indent="0" marL="0">
              <a:buNone/>
            </a:pPr>
            <a:r>
              <a:rPr lang="en-US" sz="1800" b="1" dirty="0">
                <a:solidFill>
                  <a:srgbClr val="212121"/>
                </a:solidFill>
                <a:latin typeface="Consolas" pitchFamily="34" charset="0"/>
                <a:ea typeface="Consolas" pitchFamily="34" charset="-122"/>
                <a:cs typeface="Consolas" pitchFamily="34" charset="-120"/>
              </a:rPr>
              <a:t>docs  /etc</a:t>
            </a:r>
            <a:endParaRPr lang="en-US" sz="1800" dirty="0"/>
          </a:p>
        </p:txBody>
      </p:sp>
      <p:sp>
        <p:nvSpPr>
          <p:cNvPr id="32" name="Text 30"/>
          <p:cNvSpPr txBox="1"/>
          <p:nvPr/>
        </p:nvSpPr>
        <p:spPr>
          <a:xfrm>
            <a:off x="2834640" y="4032504"/>
            <a:ext cx="2304288" cy="274320"/>
          </a:xfrm>
          <a:prstGeom prst="rect">
            <a:avLst/>
          </a:prstGeom>
          <a:noFill/>
          <a:ln/>
        </p:spPr>
        <p:txBody>
          <a:bodyPr wrap="square" lIns="0" tIns="0" rIns="0" bIns="0" rtlCol="0" anchor="t"/>
          <a:lstStyle/>
          <a:p>
            <a:pPr algn="ctr" indent="0" marL="0">
              <a:buNone/>
            </a:pPr>
            <a:r>
              <a:rPr lang="en-US" sz="1150" i="1" dirty="0">
                <a:solidFill>
                  <a:srgbClr val="6B7679"/>
                </a:solidFill>
                <a:latin typeface="Calibri" pitchFamily="34" charset="0"/>
                <a:ea typeface="Calibri" pitchFamily="34" charset="-122"/>
                <a:cs typeface="Calibri" pitchFamily="34" charset="-120"/>
              </a:rPr>
              <a:t>arguments</a:t>
            </a:r>
            <a:endParaRPr lang="en-US" sz="1150" dirty="0"/>
          </a:p>
        </p:txBody>
      </p:sp>
      <p:sp>
        <p:nvSpPr>
          <p:cNvPr id="33" name="Text 31"/>
          <p:cNvSpPr txBox="1"/>
          <p:nvPr/>
        </p:nvSpPr>
        <p:spPr>
          <a:xfrm>
            <a:off x="640080" y="4389120"/>
            <a:ext cx="5303520" cy="320040"/>
          </a:xfrm>
          <a:prstGeom prst="rect">
            <a:avLst/>
          </a:prstGeom>
          <a:noFill/>
          <a:ln/>
        </p:spPr>
        <p:txBody>
          <a:bodyPr wrap="square" lIns="0" tIns="0" rIns="0" bIns="0" rtlCol="0" anchor="t"/>
          <a:lstStyle/>
          <a:p>
            <a:pPr indent="0" marL="0">
              <a:buNone/>
            </a:pPr>
            <a:r>
              <a:rPr lang="en-US" sz="1200" dirty="0">
                <a:solidFill>
                  <a:srgbClr val="6B7679"/>
                </a:solidFill>
                <a:latin typeface="Calibri" pitchFamily="34" charset="0"/>
                <a:ea typeface="Calibri" pitchFamily="34" charset="-122"/>
                <a:cs typeface="Calibri" pitchFamily="34" charset="-120"/>
              </a:rPr>
              <a:t>separated by spaces · case matters: ls ≠ LS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309360" y="1554480"/>
          <a:ext cx="5349240" cy="914400"/>
        </p:xfrm>
        <a:graphic>
          <a:graphicData uri="http://schemas.openxmlformats.org/drawingml/2006/table">
            <a:tbl>
              <a:tblPr/>
              <a:tblGrid>
                <a:gridCol w="1600200"/>
                <a:gridCol w="914400"/>
                <a:gridCol w="1600200"/>
                <a:gridCol w="1234440"/>
              </a:tblGrid>
              <a:tr h="0">
                <a:tc>
                  <a:txBody>
                    <a:bodyPr/>
                    <a:lstStyle/>
                    <a:p>
                      <a:pPr indent="0" marL="0">
                        <a:buNone/>
                      </a:pPr>
                      <a:r>
                        <a:rPr lang="en-US" sz="1300" b="1" dirty="0">
                          <a:solidFill>
                            <a:srgbClr val="FFFFFF"/>
                          </a:solidFill>
                          <a:latin typeface="Cambria" pitchFamily="34" charset="0"/>
                          <a:ea typeface="Cambria" pitchFamily="34" charset="-122"/>
                          <a:cs typeface="Cambria" pitchFamily="34" charset="-120"/>
                        </a:rPr>
                        <a:t>Example</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00" b="1" dirty="0">
                          <a:solidFill>
                            <a:srgbClr val="FFFFFF"/>
                          </a:solidFill>
                          <a:latin typeface="Cambria" pitchFamily="34" charset="0"/>
                          <a:ea typeface="Cambria" pitchFamily="34" charset="-122"/>
                          <a:cs typeface="Cambria" pitchFamily="34" charset="-120"/>
                        </a:rPr>
                        <a:t>Command</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00" b="1" dirty="0">
                          <a:solidFill>
                            <a:srgbClr val="FFFFFF"/>
                          </a:solidFill>
                          <a:latin typeface="Cambria" pitchFamily="34" charset="0"/>
                          <a:ea typeface="Cambria" pitchFamily="34" charset="-122"/>
                          <a:cs typeface="Cambria" pitchFamily="34" charset="-120"/>
                        </a:rPr>
                        <a:t>Options</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00" b="1" dirty="0">
                          <a:solidFill>
                            <a:srgbClr val="FFFFFF"/>
                          </a:solidFill>
                          <a:latin typeface="Cambria" pitchFamily="34" charset="0"/>
                          <a:ea typeface="Cambria" pitchFamily="34" charset="-122"/>
                          <a:cs typeface="Cambria" pitchFamily="34" charset="-120"/>
                        </a:rPr>
                        <a:t>Arguments</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pwd</a:t>
                      </a:r>
                      <a:endParaRPr lang="en-US"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pwd</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ls -la docs</a:t>
                      </a:r>
                      <a:endParaRPr lang="en-US"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ls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-l -a (combined)</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docs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ls --all docs</a:t>
                      </a:r>
                      <a:endParaRPr lang="en-US"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ls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--all (long form)</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docs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cd ../src</a:t>
                      </a:r>
                      <a:endParaRPr lang="en-US"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cd</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../src</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uname -r</a:t>
                      </a:r>
                      <a:endParaRPr lang="en-US"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uname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-r</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dirty="0">
                          <a:solidFill>
                            <a:srgbClr val="3A464C"/>
                          </a:solidFill>
                          <a:latin typeface="Consolas" pitchFamily="34" charset="0"/>
                          <a:ea typeface="Consolas" pitchFamily="34" charset="-122"/>
                          <a:cs typeface="Consolas" pitchFamily="34" charset="-120"/>
                        </a:rPr>
                        <a:t>head -n 4 file</a:t>
                      </a:r>
                      <a:endParaRPr lang="en-US" sz="12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head</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-n with value 4</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file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35" name="Shape 32"/>
          <p:cNvSpPr/>
          <p:nvPr/>
        </p:nvSpPr>
        <p:spPr>
          <a:xfrm>
            <a:off x="6309360" y="5074920"/>
            <a:ext cx="534924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6" name="Text 33"/>
          <p:cNvSpPr txBox="1"/>
          <p:nvPr/>
        </p:nvSpPr>
        <p:spPr>
          <a:xfrm>
            <a:off x="6537960" y="5074920"/>
            <a:ext cx="4892040" cy="1188720"/>
          </a:xfrm>
          <a:prstGeom prst="rect">
            <a:avLst/>
          </a:prstGeom>
          <a:noFill/>
          <a:ln/>
        </p:spPr>
        <p:txBody>
          <a:bodyPr wrap="square" lIns="0" tIns="0" rIns="0" bIns="0" rtlCol="0" anchor="ctr"/>
          <a:lstStyle/>
          <a:p>
            <a:pPr indent="0" marL="0">
              <a:buNone/>
            </a:pPr>
            <a:r>
              <a:rPr lang="en-US" sz="1350" dirty="0">
                <a:solidFill>
                  <a:srgbClr val="F2F2F2"/>
                </a:solidFill>
                <a:latin typeface="Calibri" pitchFamily="34" charset="0"/>
                <a:ea typeface="Calibri" pitchFamily="34" charset="-122"/>
                <a:cs typeface="Calibri" pitchFamily="34" charset="-120"/>
              </a:rPr>
              <a:t>Options change HOW a command works (usually start with - or --); arguments say WHAT it works on (files, directories, text).</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First Commands: Who, Where, When, What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14</a:t>
            </a:r>
            <a:endParaRPr lang="en-US" sz="900" dirty="0"/>
          </a:p>
        </p:txBody>
      </p:sp>
      <p:sp>
        <p:nvSpPr>
          <p:cNvPr id="6" name="Shape 4"/>
          <p:cNvSpPr/>
          <p:nvPr/>
        </p:nvSpPr>
        <p:spPr>
          <a:xfrm>
            <a:off x="548640" y="1508760"/>
            <a:ext cx="11109960" cy="3383280"/>
          </a:xfrm>
          <a:prstGeom prst="roundRect">
            <a:avLst>
              <a:gd name="adj" fmla="val 1351"/>
            </a:avLst>
          </a:prstGeom>
          <a:solidFill>
            <a:srgbClr val="212121"/>
          </a:solidFill>
          <a:ln/>
        </p:spPr>
        <p:txBody>
          <a:bodyPr/>
          <a:p/>
        </p:txBody>
      </p:sp>
      <p:sp>
        <p:nvSpPr>
          <p:cNvPr id="7" name="Text 5"/>
          <p:cNvSpPr txBox="1"/>
          <p:nvPr/>
        </p:nvSpPr>
        <p:spPr>
          <a:xfrm>
            <a:off x="731520" y="1618488"/>
            <a:ext cx="10744200" cy="316382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whoami</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student</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hostname</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okan-lab</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date</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Mon Oct 12 08:49:13 UTC 2026</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echo Hello from the shell</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Hello from the shell</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echo My shell is $SHELL and my home is ~</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My shell is /bin/bash and my home is /home/student</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uname</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Linux</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uname -r</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6.18.44-fc-v114</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uname -a</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Linux okan-lab 6.18.44-fc-v114 #1 SMP PREEMPT_DYNAMIC @0 x86_64 x86_64 x86_64 GNU/Linux</a:t>
            </a:r>
            <a:endParaRPr lang="en-US" sz="1200" dirty="0"/>
          </a:p>
        </p:txBody>
      </p:sp>
      <p:sp>
        <p:nvSpPr>
          <p:cNvPr id="8" name="Shape 6"/>
          <p:cNvSpPr/>
          <p:nvPr/>
        </p:nvSpPr>
        <p:spPr>
          <a:xfrm>
            <a:off x="548640" y="5074920"/>
            <a:ext cx="11109960" cy="1188720"/>
          </a:xfrm>
          <a:prstGeom prst="roundRect">
            <a:avLst>
              <a:gd name="adj" fmla="val 461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 y="5074920"/>
            <a:ext cx="10652760" cy="11887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whoami: your user name  ·  hostname: the computer's name  ·  date: date and time  ·  echo: prints its arguments (the shell replaced $SHELL and ~ before echo ran)  ·  uname -r / -a: kernel version / everything  ·  clear or Ctrl+L: clear the screen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3</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Where Am I? What Is Here?</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pwd prints your position in the tree; ls lists what is there.</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9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pwd and ls in the Lab Folder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16</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cd ~/lab</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pwd</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/home/student/lab</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ls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README.txt  backup  data  docs  logs  photos  projects  scripts  src</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ls -F</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README.txt  backup/  data/  docs/  logs/  photos/  projects/  scripts/  src/</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ls docs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'final report.txt'   notes_01.txt   notes_03.txt</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linux_quotes.txt    notes_02.txt   syllabus.txt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ls -a docs</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    .settings           linux_quotes.txt   notes_02.txt   syllabus.txt</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  'final report.txt'   notes_01.txt       notes_03.txt</a:t>
            </a:r>
            <a:endParaRPr lang="en-US" sz="1100" dirty="0"/>
          </a:p>
        </p:txBody>
      </p:sp>
      <p:sp>
        <p:nvSpPr>
          <p:cNvPr id="8" name="Shape 6"/>
          <p:cNvSpPr/>
          <p:nvPr/>
        </p:nvSpPr>
        <p:spPr>
          <a:xfrm>
            <a:off x="7772400" y="1508760"/>
            <a:ext cx="3886200" cy="4754880"/>
          </a:xfrm>
          <a:prstGeom prst="roundRect">
            <a:avLst>
              <a:gd name="adj" fmla="val 141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001000" y="2148840"/>
            <a:ext cx="3429000" cy="397764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pwd</a:t>
            </a:r>
            <a:r>
              <a:rPr lang="en-US" sz="1350" dirty="0">
                <a:solidFill>
                  <a:srgbClr val="3A464C"/>
                </a:solidFill>
                <a:latin typeface="Calibri" pitchFamily="34" charset="0"/>
                <a:ea typeface="Calibri" pitchFamily="34" charset="-122"/>
                <a:cs typeface="Calibri" pitchFamily="34" charset="-120"/>
              </a:rPr>
              <a:t> = print working directory: an absolute path.</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ls</a:t>
            </a:r>
            <a:r>
              <a:rPr lang="en-US" sz="1350" dirty="0">
                <a:solidFill>
                  <a:srgbClr val="3A464C"/>
                </a:solidFill>
                <a:latin typeface="Calibri" pitchFamily="34" charset="0"/>
                <a:ea typeface="Calibri" pitchFamily="34" charset="-122"/>
                <a:cs typeface="Calibri" pitchFamily="34" charset="-120"/>
              </a:rPr>
              <a:t> lists the current directory; ls docs lists another one.</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-F</a:t>
            </a:r>
            <a:r>
              <a:rPr lang="en-US" sz="1350" dirty="0">
                <a:solidFill>
                  <a:srgbClr val="3A464C"/>
                </a:solidFill>
                <a:latin typeface="Calibri" pitchFamily="34" charset="0"/>
                <a:ea typeface="Calibri" pitchFamily="34" charset="-122"/>
                <a:cs typeface="Calibri" pitchFamily="34" charset="-120"/>
              </a:rPr>
              <a:t> marks directories with /.</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-a</a:t>
            </a:r>
            <a:r>
              <a:rPr lang="en-US" sz="1350" dirty="0">
                <a:solidFill>
                  <a:srgbClr val="3A464C"/>
                </a:solidFill>
                <a:latin typeface="Calibri" pitchFamily="34" charset="0"/>
                <a:ea typeface="Calibri" pitchFamily="34" charset="-122"/>
                <a:cs typeface="Calibri" pitchFamily="34" charset="-120"/>
              </a:rPr>
              <a:t> shows hidden names starting with a dot: .settings, . and ..</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Quotes:</a:t>
            </a:r>
            <a:r>
              <a:rPr lang="en-US" sz="1350" dirty="0">
                <a:solidFill>
                  <a:srgbClr val="3A464C"/>
                </a:solidFill>
                <a:latin typeface="Calibri" pitchFamily="34" charset="0"/>
                <a:ea typeface="Calibri" pitchFamily="34" charset="-122"/>
                <a:cs typeface="Calibri" pitchFamily="34" charset="-120"/>
              </a:rPr>
              <a:t> ls shows 'final report.txt' in quotes because the name has a space.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LS -L</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Reading One Line of ls -l</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17</a:t>
            </a:r>
            <a:endParaRPr lang="en-US" sz="900" dirty="0"/>
          </a:p>
        </p:txBody>
      </p:sp>
      <p:sp>
        <p:nvSpPr>
          <p:cNvPr id="6" name="Shape 4"/>
          <p:cNvSpPr/>
          <p:nvPr/>
        </p:nvSpPr>
        <p:spPr>
          <a:xfrm>
            <a:off x="640080" y="1691640"/>
            <a:ext cx="1801368" cy="640080"/>
          </a:xfrm>
          <a:prstGeom prst="roundRect">
            <a:avLst>
              <a:gd name="adj" fmla="val 7143"/>
            </a:avLst>
          </a:prstGeom>
          <a:solidFill>
            <a:srgbClr val="212121"/>
          </a:solidFill>
          <a:ln/>
        </p:spPr>
        <p:txBody>
          <a:bodyPr/>
          <a:p/>
        </p:txBody>
      </p:sp>
      <p:sp>
        <p:nvSpPr>
          <p:cNvPr id="7" name="Text 5"/>
          <p:cNvSpPr txBox="1"/>
          <p:nvPr/>
        </p:nvSpPr>
        <p:spPr>
          <a:xfrm>
            <a:off x="640080" y="1691640"/>
            <a:ext cx="1801368" cy="640080"/>
          </a:xfrm>
          <a:prstGeom prst="rect">
            <a:avLst/>
          </a:prstGeom>
          <a:noFill/>
          <a:ln/>
        </p:spPr>
        <p:txBody>
          <a:bodyPr wrap="square" lIns="38100" tIns="38100" rIns="38100" bIns="38100" rtlCol="0" anchor="ctr"/>
          <a:lstStyle/>
          <a:p>
            <a:pPr algn="ctr" indent="0" marL="0">
              <a:buNone/>
            </a:pPr>
            <a:r>
              <a:rPr lang="en-US" sz="1700" dirty="0">
                <a:solidFill>
                  <a:srgbClr val="02C39A"/>
                </a:solidFill>
                <a:latin typeface="Consolas" pitchFamily="34" charset="0"/>
                <a:ea typeface="Consolas" pitchFamily="34" charset="-122"/>
                <a:cs typeface="Consolas" pitchFamily="34" charset="-120"/>
              </a:rPr>
              <a:t>-rw-rw-r--</a:t>
            </a:r>
            <a:endParaRPr lang="en-US" sz="1700" dirty="0"/>
          </a:p>
        </p:txBody>
      </p:sp>
      <p:sp>
        <p:nvSpPr>
          <p:cNvPr id="8" name="Shape 6"/>
          <p:cNvSpPr/>
          <p:nvPr/>
        </p:nvSpPr>
        <p:spPr>
          <a:xfrm>
            <a:off x="1540764" y="2350008"/>
            <a:ext cx="91" cy="237744"/>
          </a:xfrm>
          <a:prstGeom prst="line">
            <a:avLst/>
          </a:prstGeom>
          <a:noFill/>
          <a:ln w="19050">
            <a:solidFill>
              <a:srgbClr val="028090"/>
            </a:solidFill>
            <a:prstDash val="solid"/>
          </a:ln>
        </p:spPr>
        <p:txBody>
          <a:bodyPr/>
          <a:p/>
        </p:txBody>
      </p:sp>
      <p:sp>
        <p:nvSpPr>
          <p:cNvPr id="9" name="Shape 7"/>
          <p:cNvSpPr/>
          <p:nvPr/>
        </p:nvSpPr>
        <p:spPr>
          <a:xfrm>
            <a:off x="640080" y="2606040"/>
            <a:ext cx="1801368" cy="457200"/>
          </a:xfrm>
          <a:prstGeom prst="roundRect">
            <a:avLst>
              <a:gd name="adj" fmla="val 10000"/>
            </a:avLst>
          </a:prstGeom>
          <a:solidFill>
            <a:srgbClr val="D7E9E6"/>
          </a:solidFill>
          <a:ln/>
        </p:spPr>
        <p:txBody>
          <a:bodyPr/>
          <a:p/>
        </p:txBody>
      </p:sp>
      <p:sp>
        <p:nvSpPr>
          <p:cNvPr id="10" name="Text 8"/>
          <p:cNvSpPr txBox="1"/>
          <p:nvPr/>
        </p:nvSpPr>
        <p:spPr>
          <a:xfrm>
            <a:off x="640080" y="2606040"/>
            <a:ext cx="1801368" cy="45720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type + permissions</a:t>
            </a:r>
            <a:endParaRPr lang="en-US" sz="1250" dirty="0"/>
          </a:p>
        </p:txBody>
      </p:sp>
      <p:sp>
        <p:nvSpPr>
          <p:cNvPr id="11" name="Text 9"/>
          <p:cNvSpPr txBox="1"/>
          <p:nvPr/>
        </p:nvSpPr>
        <p:spPr>
          <a:xfrm>
            <a:off x="640080" y="3108960"/>
            <a:ext cx="1801368" cy="1051560"/>
          </a:xfrm>
          <a:prstGeom prst="rect">
            <a:avLst/>
          </a:prstGeom>
          <a:noFill/>
          <a:ln/>
        </p:spPr>
        <p:txBody>
          <a:bodyPr wrap="square" lIns="0" tIns="0" rIns="0" bIns="0" rtlCol="0" anchor="t"/>
          <a:lstStyle/>
          <a:p>
            <a:pPr algn="ctr" indent="0" marL="0">
              <a:buNone/>
            </a:pPr>
            <a:r>
              <a:rPr lang="en-US" sz="1150" dirty="0">
                <a:solidFill>
                  <a:srgbClr val="3A464C"/>
                </a:solidFill>
                <a:latin typeface="Calibri" pitchFamily="34" charset="0"/>
                <a:ea typeface="Calibri" pitchFamily="34" charset="-122"/>
                <a:cs typeface="Calibri" pitchFamily="34" charset="-120"/>
              </a:rPr>
              <a:t>- file, d directory, l link; rwx for owner, group, others → Week 11</a:t>
            </a:r>
            <a:endParaRPr lang="en-US" sz="1150" dirty="0"/>
          </a:p>
        </p:txBody>
      </p:sp>
      <p:sp>
        <p:nvSpPr>
          <p:cNvPr id="12" name="Shape 10"/>
          <p:cNvSpPr/>
          <p:nvPr/>
        </p:nvSpPr>
        <p:spPr>
          <a:xfrm>
            <a:off x="2514600" y="1691640"/>
            <a:ext cx="841248" cy="640080"/>
          </a:xfrm>
          <a:prstGeom prst="roundRect">
            <a:avLst>
              <a:gd name="adj" fmla="val 7143"/>
            </a:avLst>
          </a:prstGeom>
          <a:solidFill>
            <a:srgbClr val="212121"/>
          </a:solidFill>
          <a:ln/>
        </p:spPr>
        <p:txBody>
          <a:bodyPr/>
          <a:p/>
        </p:txBody>
      </p:sp>
      <p:sp>
        <p:nvSpPr>
          <p:cNvPr id="13" name="Text 11"/>
          <p:cNvSpPr txBox="1"/>
          <p:nvPr/>
        </p:nvSpPr>
        <p:spPr>
          <a:xfrm>
            <a:off x="2514600" y="1691640"/>
            <a:ext cx="841248" cy="640080"/>
          </a:xfrm>
          <a:prstGeom prst="rect">
            <a:avLst/>
          </a:prstGeom>
          <a:noFill/>
          <a:ln/>
        </p:spPr>
        <p:txBody>
          <a:bodyPr wrap="square" lIns="38100" tIns="38100" rIns="38100" bIns="38100" rtlCol="0" anchor="ctr"/>
          <a:lstStyle/>
          <a:p>
            <a:pPr algn="ctr" indent="0" marL="0">
              <a:buNone/>
            </a:pPr>
            <a:r>
              <a:rPr lang="en-US" sz="1700" dirty="0">
                <a:solidFill>
                  <a:srgbClr val="02C39A"/>
                </a:solidFill>
                <a:latin typeface="Consolas" pitchFamily="34" charset="0"/>
                <a:ea typeface="Consolas" pitchFamily="34" charset="-122"/>
                <a:cs typeface="Consolas" pitchFamily="34" charset="-120"/>
              </a:rPr>
              <a:t>1</a:t>
            </a:r>
            <a:endParaRPr lang="en-US" sz="1700" dirty="0"/>
          </a:p>
        </p:txBody>
      </p:sp>
      <p:sp>
        <p:nvSpPr>
          <p:cNvPr id="14" name="Shape 12"/>
          <p:cNvSpPr/>
          <p:nvPr/>
        </p:nvSpPr>
        <p:spPr>
          <a:xfrm>
            <a:off x="2935224" y="2350008"/>
            <a:ext cx="91" cy="237744"/>
          </a:xfrm>
          <a:prstGeom prst="line">
            <a:avLst/>
          </a:prstGeom>
          <a:noFill/>
          <a:ln w="19050">
            <a:solidFill>
              <a:srgbClr val="028090"/>
            </a:solidFill>
            <a:prstDash val="solid"/>
          </a:ln>
        </p:spPr>
        <p:txBody>
          <a:bodyPr/>
          <a:p/>
        </p:txBody>
      </p:sp>
      <p:sp>
        <p:nvSpPr>
          <p:cNvPr id="15" name="Shape 13"/>
          <p:cNvSpPr/>
          <p:nvPr/>
        </p:nvSpPr>
        <p:spPr>
          <a:xfrm>
            <a:off x="2514600" y="2606040"/>
            <a:ext cx="841248" cy="457200"/>
          </a:xfrm>
          <a:prstGeom prst="roundRect">
            <a:avLst>
              <a:gd name="adj" fmla="val 10000"/>
            </a:avLst>
          </a:prstGeom>
          <a:solidFill>
            <a:srgbClr val="D7E9E6"/>
          </a:solidFill>
          <a:ln/>
        </p:spPr>
        <p:txBody>
          <a:bodyPr/>
          <a:p/>
        </p:txBody>
      </p:sp>
      <p:sp>
        <p:nvSpPr>
          <p:cNvPr id="16" name="Text 14"/>
          <p:cNvSpPr txBox="1"/>
          <p:nvPr/>
        </p:nvSpPr>
        <p:spPr>
          <a:xfrm>
            <a:off x="2514600" y="2606040"/>
            <a:ext cx="841248" cy="45720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links</a:t>
            </a:r>
            <a:endParaRPr lang="en-US" sz="1250" dirty="0"/>
          </a:p>
        </p:txBody>
      </p:sp>
      <p:sp>
        <p:nvSpPr>
          <p:cNvPr id="17" name="Text 15"/>
          <p:cNvSpPr txBox="1"/>
          <p:nvPr/>
        </p:nvSpPr>
        <p:spPr>
          <a:xfrm>
            <a:off x="2514600" y="3108960"/>
            <a:ext cx="841248" cy="1051560"/>
          </a:xfrm>
          <a:prstGeom prst="rect">
            <a:avLst/>
          </a:prstGeom>
          <a:noFill/>
          <a:ln/>
        </p:spPr>
        <p:txBody>
          <a:bodyPr wrap="square" lIns="0" tIns="0" rIns="0" bIns="0" rtlCol="0" anchor="t"/>
          <a:lstStyle/>
          <a:p>
            <a:pPr algn="ctr" indent="0" marL="0">
              <a:buNone/>
            </a:pPr>
            <a:r>
              <a:rPr lang="en-US" sz="1150" dirty="0">
                <a:solidFill>
                  <a:srgbClr val="3A464C"/>
                </a:solidFill>
                <a:latin typeface="Calibri" pitchFamily="34" charset="0"/>
                <a:ea typeface="Calibri" pitchFamily="34" charset="-122"/>
                <a:cs typeface="Calibri" pitchFamily="34" charset="-120"/>
              </a:rPr>
              <a:t>hard-link count (Week 7)</a:t>
            </a:r>
            <a:endParaRPr lang="en-US" sz="1150" dirty="0"/>
          </a:p>
        </p:txBody>
      </p:sp>
      <p:sp>
        <p:nvSpPr>
          <p:cNvPr id="18" name="Shape 16"/>
          <p:cNvSpPr/>
          <p:nvPr/>
        </p:nvSpPr>
        <p:spPr>
          <a:xfrm>
            <a:off x="3429000" y="1691640"/>
            <a:ext cx="1252728" cy="640080"/>
          </a:xfrm>
          <a:prstGeom prst="roundRect">
            <a:avLst>
              <a:gd name="adj" fmla="val 7143"/>
            </a:avLst>
          </a:prstGeom>
          <a:solidFill>
            <a:srgbClr val="212121"/>
          </a:solidFill>
          <a:ln/>
        </p:spPr>
        <p:txBody>
          <a:bodyPr/>
          <a:p/>
        </p:txBody>
      </p:sp>
      <p:sp>
        <p:nvSpPr>
          <p:cNvPr id="19" name="Text 17"/>
          <p:cNvSpPr txBox="1"/>
          <p:nvPr/>
        </p:nvSpPr>
        <p:spPr>
          <a:xfrm>
            <a:off x="3429000" y="1691640"/>
            <a:ext cx="1252728" cy="640080"/>
          </a:xfrm>
          <a:prstGeom prst="rect">
            <a:avLst/>
          </a:prstGeom>
          <a:noFill/>
          <a:ln/>
        </p:spPr>
        <p:txBody>
          <a:bodyPr wrap="square" lIns="38100" tIns="38100" rIns="38100" bIns="38100" rtlCol="0" anchor="ctr"/>
          <a:lstStyle/>
          <a:p>
            <a:pPr algn="ctr" indent="0" marL="0">
              <a:buNone/>
            </a:pPr>
            <a:r>
              <a:rPr lang="en-US" sz="1700" dirty="0">
                <a:solidFill>
                  <a:srgbClr val="02C39A"/>
                </a:solidFill>
                <a:latin typeface="Consolas" pitchFamily="34" charset="0"/>
                <a:ea typeface="Consolas" pitchFamily="34" charset="-122"/>
                <a:cs typeface="Consolas" pitchFamily="34" charset="-120"/>
              </a:rPr>
              <a:t>student</a:t>
            </a:r>
            <a:endParaRPr lang="en-US" sz="1700" dirty="0"/>
          </a:p>
        </p:txBody>
      </p:sp>
      <p:sp>
        <p:nvSpPr>
          <p:cNvPr id="20" name="Shape 18"/>
          <p:cNvSpPr/>
          <p:nvPr/>
        </p:nvSpPr>
        <p:spPr>
          <a:xfrm>
            <a:off x="4055364" y="2350008"/>
            <a:ext cx="91" cy="237744"/>
          </a:xfrm>
          <a:prstGeom prst="line">
            <a:avLst/>
          </a:prstGeom>
          <a:noFill/>
          <a:ln w="19050">
            <a:solidFill>
              <a:srgbClr val="028090"/>
            </a:solidFill>
            <a:prstDash val="solid"/>
          </a:ln>
        </p:spPr>
        <p:txBody>
          <a:bodyPr/>
          <a:p/>
        </p:txBody>
      </p:sp>
      <p:sp>
        <p:nvSpPr>
          <p:cNvPr id="21" name="Shape 19"/>
          <p:cNvSpPr/>
          <p:nvPr/>
        </p:nvSpPr>
        <p:spPr>
          <a:xfrm>
            <a:off x="3429000" y="2606040"/>
            <a:ext cx="1252728" cy="457200"/>
          </a:xfrm>
          <a:prstGeom prst="roundRect">
            <a:avLst>
              <a:gd name="adj" fmla="val 10000"/>
            </a:avLst>
          </a:prstGeom>
          <a:solidFill>
            <a:srgbClr val="D7E9E6"/>
          </a:solidFill>
          <a:ln/>
        </p:spPr>
        <p:txBody>
          <a:bodyPr/>
          <a:p/>
        </p:txBody>
      </p:sp>
      <p:sp>
        <p:nvSpPr>
          <p:cNvPr id="22" name="Text 20"/>
          <p:cNvSpPr txBox="1"/>
          <p:nvPr/>
        </p:nvSpPr>
        <p:spPr>
          <a:xfrm>
            <a:off x="3429000" y="2606040"/>
            <a:ext cx="1252728" cy="45720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owner</a:t>
            </a:r>
            <a:endParaRPr lang="en-US" sz="1250" dirty="0"/>
          </a:p>
        </p:txBody>
      </p:sp>
      <p:sp>
        <p:nvSpPr>
          <p:cNvPr id="23" name="Text 21"/>
          <p:cNvSpPr txBox="1"/>
          <p:nvPr/>
        </p:nvSpPr>
        <p:spPr>
          <a:xfrm>
            <a:off x="3429000" y="3108960"/>
            <a:ext cx="1252728" cy="1051560"/>
          </a:xfrm>
          <a:prstGeom prst="rect">
            <a:avLst/>
          </a:prstGeom>
          <a:noFill/>
          <a:ln/>
        </p:spPr>
        <p:txBody>
          <a:bodyPr wrap="square" lIns="0" tIns="0" rIns="0" bIns="0" rtlCol="0" anchor="t"/>
          <a:lstStyle/>
          <a:p>
            <a:pPr algn="ctr" indent="0" marL="0">
              <a:buNone/>
            </a:pPr>
            <a:r>
              <a:rPr lang="en-US" sz="1150" dirty="0">
                <a:solidFill>
                  <a:srgbClr val="3A464C"/>
                </a:solidFill>
                <a:latin typeface="Calibri" pitchFamily="34" charset="0"/>
                <a:ea typeface="Calibri" pitchFamily="34" charset="-122"/>
                <a:cs typeface="Calibri" pitchFamily="34" charset="-120"/>
              </a:rPr>
              <a:t>user who owns it</a:t>
            </a:r>
            <a:endParaRPr lang="en-US" sz="1150" dirty="0"/>
          </a:p>
        </p:txBody>
      </p:sp>
      <p:sp>
        <p:nvSpPr>
          <p:cNvPr id="24" name="Shape 22"/>
          <p:cNvSpPr/>
          <p:nvPr/>
        </p:nvSpPr>
        <p:spPr>
          <a:xfrm>
            <a:off x="4754880" y="1691640"/>
            <a:ext cx="1252728" cy="640080"/>
          </a:xfrm>
          <a:prstGeom prst="roundRect">
            <a:avLst>
              <a:gd name="adj" fmla="val 7143"/>
            </a:avLst>
          </a:prstGeom>
          <a:solidFill>
            <a:srgbClr val="212121"/>
          </a:solidFill>
          <a:ln/>
        </p:spPr>
        <p:txBody>
          <a:bodyPr/>
          <a:p/>
        </p:txBody>
      </p:sp>
      <p:sp>
        <p:nvSpPr>
          <p:cNvPr id="25" name="Text 23"/>
          <p:cNvSpPr txBox="1"/>
          <p:nvPr/>
        </p:nvSpPr>
        <p:spPr>
          <a:xfrm>
            <a:off x="4754880" y="1691640"/>
            <a:ext cx="1252728" cy="640080"/>
          </a:xfrm>
          <a:prstGeom prst="rect">
            <a:avLst/>
          </a:prstGeom>
          <a:noFill/>
          <a:ln/>
        </p:spPr>
        <p:txBody>
          <a:bodyPr wrap="square" lIns="38100" tIns="38100" rIns="38100" bIns="38100" rtlCol="0" anchor="ctr"/>
          <a:lstStyle/>
          <a:p>
            <a:pPr algn="ctr" indent="0" marL="0">
              <a:buNone/>
            </a:pPr>
            <a:r>
              <a:rPr lang="en-US" sz="1700" dirty="0">
                <a:solidFill>
                  <a:srgbClr val="02C39A"/>
                </a:solidFill>
                <a:latin typeface="Consolas" pitchFamily="34" charset="0"/>
                <a:ea typeface="Consolas" pitchFamily="34" charset="-122"/>
                <a:cs typeface="Consolas" pitchFamily="34" charset="-120"/>
              </a:rPr>
              <a:t>student</a:t>
            </a:r>
            <a:endParaRPr lang="en-US" sz="1700" dirty="0"/>
          </a:p>
        </p:txBody>
      </p:sp>
      <p:sp>
        <p:nvSpPr>
          <p:cNvPr id="26" name="Shape 24"/>
          <p:cNvSpPr/>
          <p:nvPr/>
        </p:nvSpPr>
        <p:spPr>
          <a:xfrm>
            <a:off x="5381244" y="2350008"/>
            <a:ext cx="91" cy="237744"/>
          </a:xfrm>
          <a:prstGeom prst="line">
            <a:avLst/>
          </a:prstGeom>
          <a:noFill/>
          <a:ln w="19050">
            <a:solidFill>
              <a:srgbClr val="028090"/>
            </a:solidFill>
            <a:prstDash val="solid"/>
          </a:ln>
        </p:spPr>
        <p:txBody>
          <a:bodyPr/>
          <a:p/>
        </p:txBody>
      </p:sp>
      <p:sp>
        <p:nvSpPr>
          <p:cNvPr id="27" name="Shape 25"/>
          <p:cNvSpPr/>
          <p:nvPr/>
        </p:nvSpPr>
        <p:spPr>
          <a:xfrm>
            <a:off x="4754880" y="2606040"/>
            <a:ext cx="1252728" cy="457200"/>
          </a:xfrm>
          <a:prstGeom prst="roundRect">
            <a:avLst>
              <a:gd name="adj" fmla="val 10000"/>
            </a:avLst>
          </a:prstGeom>
          <a:solidFill>
            <a:srgbClr val="D7E9E6"/>
          </a:solidFill>
          <a:ln/>
        </p:spPr>
        <p:txBody>
          <a:bodyPr/>
          <a:p/>
        </p:txBody>
      </p:sp>
      <p:sp>
        <p:nvSpPr>
          <p:cNvPr id="28" name="Text 26"/>
          <p:cNvSpPr txBox="1"/>
          <p:nvPr/>
        </p:nvSpPr>
        <p:spPr>
          <a:xfrm>
            <a:off x="4754880" y="2606040"/>
            <a:ext cx="1252728" cy="45720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group</a:t>
            </a:r>
            <a:endParaRPr lang="en-US" sz="1250" dirty="0"/>
          </a:p>
        </p:txBody>
      </p:sp>
      <p:sp>
        <p:nvSpPr>
          <p:cNvPr id="29" name="Text 27"/>
          <p:cNvSpPr txBox="1"/>
          <p:nvPr/>
        </p:nvSpPr>
        <p:spPr>
          <a:xfrm>
            <a:off x="4754880" y="3108960"/>
            <a:ext cx="1252728" cy="1051560"/>
          </a:xfrm>
          <a:prstGeom prst="rect">
            <a:avLst/>
          </a:prstGeom>
          <a:noFill/>
          <a:ln/>
        </p:spPr>
        <p:txBody>
          <a:bodyPr wrap="square" lIns="0" tIns="0" rIns="0" bIns="0" rtlCol="0" anchor="t"/>
          <a:lstStyle/>
          <a:p>
            <a:pPr algn="ctr" indent="0" marL="0">
              <a:buNone/>
            </a:pPr>
            <a:r>
              <a:rPr lang="en-US" sz="1150" dirty="0">
                <a:solidFill>
                  <a:srgbClr val="3A464C"/>
                </a:solidFill>
                <a:latin typeface="Calibri" pitchFamily="34" charset="0"/>
                <a:ea typeface="Calibri" pitchFamily="34" charset="-122"/>
                <a:cs typeface="Calibri" pitchFamily="34" charset="-120"/>
              </a:rPr>
              <a:t>group of the file</a:t>
            </a:r>
            <a:endParaRPr lang="en-US" sz="1150" dirty="0"/>
          </a:p>
        </p:txBody>
      </p:sp>
      <p:sp>
        <p:nvSpPr>
          <p:cNvPr id="30" name="Shape 28"/>
          <p:cNvSpPr/>
          <p:nvPr/>
        </p:nvSpPr>
        <p:spPr>
          <a:xfrm>
            <a:off x="6080760" y="1691640"/>
            <a:ext cx="841248" cy="640080"/>
          </a:xfrm>
          <a:prstGeom prst="roundRect">
            <a:avLst>
              <a:gd name="adj" fmla="val 7143"/>
            </a:avLst>
          </a:prstGeom>
          <a:solidFill>
            <a:srgbClr val="212121"/>
          </a:solidFill>
          <a:ln/>
        </p:spPr>
        <p:txBody>
          <a:bodyPr/>
          <a:p/>
        </p:txBody>
      </p:sp>
      <p:sp>
        <p:nvSpPr>
          <p:cNvPr id="31" name="Text 29"/>
          <p:cNvSpPr txBox="1"/>
          <p:nvPr/>
        </p:nvSpPr>
        <p:spPr>
          <a:xfrm>
            <a:off x="6080760" y="1691640"/>
            <a:ext cx="841248" cy="640080"/>
          </a:xfrm>
          <a:prstGeom prst="rect">
            <a:avLst/>
          </a:prstGeom>
          <a:noFill/>
          <a:ln/>
        </p:spPr>
        <p:txBody>
          <a:bodyPr wrap="square" lIns="38100" tIns="38100" rIns="38100" bIns="38100" rtlCol="0" anchor="ctr"/>
          <a:lstStyle/>
          <a:p>
            <a:pPr algn="ctr" indent="0" marL="0">
              <a:buNone/>
            </a:pPr>
            <a:r>
              <a:rPr lang="en-US" sz="1700" dirty="0">
                <a:solidFill>
                  <a:srgbClr val="02C39A"/>
                </a:solidFill>
                <a:latin typeface="Consolas" pitchFamily="34" charset="0"/>
                <a:ea typeface="Consolas" pitchFamily="34" charset="-122"/>
                <a:cs typeface="Consolas" pitchFamily="34" charset="-120"/>
              </a:rPr>
              <a:t>578</a:t>
            </a:r>
            <a:endParaRPr lang="en-US" sz="1700" dirty="0"/>
          </a:p>
        </p:txBody>
      </p:sp>
      <p:sp>
        <p:nvSpPr>
          <p:cNvPr id="32" name="Shape 30"/>
          <p:cNvSpPr/>
          <p:nvPr/>
        </p:nvSpPr>
        <p:spPr>
          <a:xfrm>
            <a:off x="6501384" y="2350008"/>
            <a:ext cx="91" cy="237744"/>
          </a:xfrm>
          <a:prstGeom prst="line">
            <a:avLst/>
          </a:prstGeom>
          <a:noFill/>
          <a:ln w="19050">
            <a:solidFill>
              <a:srgbClr val="028090"/>
            </a:solidFill>
            <a:prstDash val="solid"/>
          </a:ln>
        </p:spPr>
        <p:txBody>
          <a:bodyPr/>
          <a:p/>
        </p:txBody>
      </p:sp>
      <p:sp>
        <p:nvSpPr>
          <p:cNvPr id="33" name="Shape 31"/>
          <p:cNvSpPr/>
          <p:nvPr/>
        </p:nvSpPr>
        <p:spPr>
          <a:xfrm>
            <a:off x="6080760" y="2606040"/>
            <a:ext cx="841248" cy="457200"/>
          </a:xfrm>
          <a:prstGeom prst="roundRect">
            <a:avLst>
              <a:gd name="adj" fmla="val 10000"/>
            </a:avLst>
          </a:prstGeom>
          <a:solidFill>
            <a:srgbClr val="D7E9E6"/>
          </a:solidFill>
          <a:ln/>
        </p:spPr>
        <p:txBody>
          <a:bodyPr/>
          <a:p/>
        </p:txBody>
      </p:sp>
      <p:sp>
        <p:nvSpPr>
          <p:cNvPr id="34" name="Text 32"/>
          <p:cNvSpPr txBox="1"/>
          <p:nvPr/>
        </p:nvSpPr>
        <p:spPr>
          <a:xfrm>
            <a:off x="6080760" y="2606040"/>
            <a:ext cx="841248" cy="45720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size</a:t>
            </a:r>
            <a:endParaRPr lang="en-US" sz="1250" dirty="0"/>
          </a:p>
        </p:txBody>
      </p:sp>
      <p:sp>
        <p:nvSpPr>
          <p:cNvPr id="35" name="Text 33"/>
          <p:cNvSpPr txBox="1"/>
          <p:nvPr/>
        </p:nvSpPr>
        <p:spPr>
          <a:xfrm>
            <a:off x="6080760" y="3108960"/>
            <a:ext cx="841248" cy="1051560"/>
          </a:xfrm>
          <a:prstGeom prst="rect">
            <a:avLst/>
          </a:prstGeom>
          <a:noFill/>
          <a:ln/>
        </p:spPr>
        <p:txBody>
          <a:bodyPr wrap="square" lIns="0" tIns="0" rIns="0" bIns="0" rtlCol="0" anchor="t"/>
          <a:lstStyle/>
          <a:p>
            <a:pPr algn="ctr" indent="0" marL="0">
              <a:buNone/>
            </a:pPr>
            <a:r>
              <a:rPr lang="en-US" sz="1150" dirty="0">
                <a:solidFill>
                  <a:srgbClr val="3A464C"/>
                </a:solidFill>
                <a:latin typeface="Calibri" pitchFamily="34" charset="0"/>
                <a:ea typeface="Calibri" pitchFamily="34" charset="-122"/>
                <a:cs typeface="Calibri" pitchFamily="34" charset="-120"/>
              </a:rPr>
              <a:t>in bytes</a:t>
            </a:r>
            <a:endParaRPr lang="en-US" sz="1150" dirty="0"/>
          </a:p>
        </p:txBody>
      </p:sp>
      <p:sp>
        <p:nvSpPr>
          <p:cNvPr id="36" name="Shape 34"/>
          <p:cNvSpPr/>
          <p:nvPr/>
        </p:nvSpPr>
        <p:spPr>
          <a:xfrm>
            <a:off x="6995160" y="1691640"/>
            <a:ext cx="1984248" cy="640080"/>
          </a:xfrm>
          <a:prstGeom prst="roundRect">
            <a:avLst>
              <a:gd name="adj" fmla="val 7143"/>
            </a:avLst>
          </a:prstGeom>
          <a:solidFill>
            <a:srgbClr val="212121"/>
          </a:solidFill>
          <a:ln/>
        </p:spPr>
        <p:txBody>
          <a:bodyPr/>
          <a:p/>
        </p:txBody>
      </p:sp>
      <p:sp>
        <p:nvSpPr>
          <p:cNvPr id="37" name="Text 35"/>
          <p:cNvSpPr txBox="1"/>
          <p:nvPr/>
        </p:nvSpPr>
        <p:spPr>
          <a:xfrm>
            <a:off x="6995160" y="1691640"/>
            <a:ext cx="1984248" cy="640080"/>
          </a:xfrm>
          <a:prstGeom prst="rect">
            <a:avLst/>
          </a:prstGeom>
          <a:noFill/>
          <a:ln/>
        </p:spPr>
        <p:txBody>
          <a:bodyPr wrap="square" lIns="38100" tIns="38100" rIns="38100" bIns="38100" rtlCol="0" anchor="ctr"/>
          <a:lstStyle/>
          <a:p>
            <a:pPr algn="ctr" indent="0" marL="0">
              <a:buNone/>
            </a:pPr>
            <a:r>
              <a:rPr lang="en-US" sz="1700" dirty="0">
                <a:solidFill>
                  <a:srgbClr val="02C39A"/>
                </a:solidFill>
                <a:latin typeface="Consolas" pitchFamily="34" charset="0"/>
                <a:ea typeface="Consolas" pitchFamily="34" charset="-122"/>
                <a:cs typeface="Consolas" pitchFamily="34" charset="-120"/>
              </a:rPr>
              <a:t>Oct 12 08:49</a:t>
            </a:r>
            <a:endParaRPr lang="en-US" sz="1700" dirty="0"/>
          </a:p>
        </p:txBody>
      </p:sp>
      <p:sp>
        <p:nvSpPr>
          <p:cNvPr id="38" name="Shape 36"/>
          <p:cNvSpPr/>
          <p:nvPr/>
        </p:nvSpPr>
        <p:spPr>
          <a:xfrm>
            <a:off x="7987284" y="2350008"/>
            <a:ext cx="91" cy="237744"/>
          </a:xfrm>
          <a:prstGeom prst="line">
            <a:avLst/>
          </a:prstGeom>
          <a:noFill/>
          <a:ln w="19050">
            <a:solidFill>
              <a:srgbClr val="028090"/>
            </a:solidFill>
            <a:prstDash val="solid"/>
          </a:ln>
        </p:spPr>
        <p:txBody>
          <a:bodyPr/>
          <a:p/>
        </p:txBody>
      </p:sp>
      <p:sp>
        <p:nvSpPr>
          <p:cNvPr id="39" name="Shape 37"/>
          <p:cNvSpPr/>
          <p:nvPr/>
        </p:nvSpPr>
        <p:spPr>
          <a:xfrm>
            <a:off x="6995160" y="2606040"/>
            <a:ext cx="1984248" cy="457200"/>
          </a:xfrm>
          <a:prstGeom prst="roundRect">
            <a:avLst>
              <a:gd name="adj" fmla="val 10000"/>
            </a:avLst>
          </a:prstGeom>
          <a:solidFill>
            <a:srgbClr val="D7E9E6"/>
          </a:solidFill>
          <a:ln/>
        </p:spPr>
        <p:txBody>
          <a:bodyPr/>
          <a:p/>
        </p:txBody>
      </p:sp>
      <p:sp>
        <p:nvSpPr>
          <p:cNvPr id="40" name="Text 38"/>
          <p:cNvSpPr txBox="1"/>
          <p:nvPr/>
        </p:nvSpPr>
        <p:spPr>
          <a:xfrm>
            <a:off x="6995160" y="2606040"/>
            <a:ext cx="1984248" cy="45720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modified</a:t>
            </a:r>
            <a:endParaRPr lang="en-US" sz="1250" dirty="0"/>
          </a:p>
        </p:txBody>
      </p:sp>
      <p:sp>
        <p:nvSpPr>
          <p:cNvPr id="41" name="Text 39"/>
          <p:cNvSpPr txBox="1"/>
          <p:nvPr/>
        </p:nvSpPr>
        <p:spPr>
          <a:xfrm>
            <a:off x="6995160" y="3108960"/>
            <a:ext cx="1984248" cy="1051560"/>
          </a:xfrm>
          <a:prstGeom prst="rect">
            <a:avLst/>
          </a:prstGeom>
          <a:noFill/>
          <a:ln/>
        </p:spPr>
        <p:txBody>
          <a:bodyPr wrap="square" lIns="0" tIns="0" rIns="0" bIns="0" rtlCol="0" anchor="t"/>
          <a:lstStyle/>
          <a:p>
            <a:pPr algn="ctr" indent="0" marL="0">
              <a:buNone/>
            </a:pPr>
            <a:r>
              <a:rPr lang="en-US" sz="1150" dirty="0">
                <a:solidFill>
                  <a:srgbClr val="3A464C"/>
                </a:solidFill>
                <a:latin typeface="Calibri" pitchFamily="34" charset="0"/>
                <a:ea typeface="Calibri" pitchFamily="34" charset="-122"/>
                <a:cs typeface="Calibri" pitchFamily="34" charset="-120"/>
              </a:rPr>
              <a:t>last change of the contents (mtime)</a:t>
            </a:r>
            <a:endParaRPr lang="en-US" sz="1150" dirty="0"/>
          </a:p>
        </p:txBody>
      </p:sp>
      <p:sp>
        <p:nvSpPr>
          <p:cNvPr id="42" name="Shape 40"/>
          <p:cNvSpPr/>
          <p:nvPr/>
        </p:nvSpPr>
        <p:spPr>
          <a:xfrm>
            <a:off x="9052560" y="1691640"/>
            <a:ext cx="2121408" cy="640080"/>
          </a:xfrm>
          <a:prstGeom prst="roundRect">
            <a:avLst>
              <a:gd name="adj" fmla="val 7143"/>
            </a:avLst>
          </a:prstGeom>
          <a:solidFill>
            <a:srgbClr val="212121"/>
          </a:solidFill>
          <a:ln/>
        </p:spPr>
        <p:txBody>
          <a:bodyPr/>
          <a:p/>
        </p:txBody>
      </p:sp>
      <p:sp>
        <p:nvSpPr>
          <p:cNvPr id="43" name="Text 41"/>
          <p:cNvSpPr txBox="1"/>
          <p:nvPr/>
        </p:nvSpPr>
        <p:spPr>
          <a:xfrm>
            <a:off x="9052560" y="1691640"/>
            <a:ext cx="2121408" cy="640080"/>
          </a:xfrm>
          <a:prstGeom prst="rect">
            <a:avLst/>
          </a:prstGeom>
          <a:noFill/>
          <a:ln/>
        </p:spPr>
        <p:txBody>
          <a:bodyPr wrap="square" lIns="38100" tIns="38100" rIns="38100" bIns="38100" rtlCol="0" anchor="ctr"/>
          <a:lstStyle/>
          <a:p>
            <a:pPr algn="ctr" indent="0" marL="0">
              <a:buNone/>
            </a:pPr>
            <a:r>
              <a:rPr lang="en-US" sz="1700" dirty="0">
                <a:solidFill>
                  <a:srgbClr val="02C39A"/>
                </a:solidFill>
                <a:latin typeface="Consolas" pitchFamily="34" charset="0"/>
                <a:ea typeface="Consolas" pitchFamily="34" charset="-122"/>
                <a:cs typeface="Consolas" pitchFamily="34" charset="-120"/>
              </a:rPr>
              <a:t>syllabus.txt</a:t>
            </a:r>
            <a:endParaRPr lang="en-US" sz="1700" dirty="0"/>
          </a:p>
        </p:txBody>
      </p:sp>
      <p:sp>
        <p:nvSpPr>
          <p:cNvPr id="44" name="Shape 42"/>
          <p:cNvSpPr/>
          <p:nvPr/>
        </p:nvSpPr>
        <p:spPr>
          <a:xfrm>
            <a:off x="10113264" y="2350008"/>
            <a:ext cx="91" cy="237744"/>
          </a:xfrm>
          <a:prstGeom prst="line">
            <a:avLst/>
          </a:prstGeom>
          <a:noFill/>
          <a:ln w="19050">
            <a:solidFill>
              <a:srgbClr val="028090"/>
            </a:solidFill>
            <a:prstDash val="solid"/>
          </a:ln>
        </p:spPr>
        <p:txBody>
          <a:bodyPr/>
          <a:p/>
        </p:txBody>
      </p:sp>
      <p:sp>
        <p:nvSpPr>
          <p:cNvPr id="45" name="Shape 43"/>
          <p:cNvSpPr/>
          <p:nvPr/>
        </p:nvSpPr>
        <p:spPr>
          <a:xfrm>
            <a:off x="9052560" y="2606040"/>
            <a:ext cx="2121408" cy="457200"/>
          </a:xfrm>
          <a:prstGeom prst="roundRect">
            <a:avLst>
              <a:gd name="adj" fmla="val 10000"/>
            </a:avLst>
          </a:prstGeom>
          <a:solidFill>
            <a:srgbClr val="D7E9E6"/>
          </a:solidFill>
          <a:ln/>
        </p:spPr>
        <p:txBody>
          <a:bodyPr/>
          <a:p/>
        </p:txBody>
      </p:sp>
      <p:sp>
        <p:nvSpPr>
          <p:cNvPr id="46" name="Text 44"/>
          <p:cNvSpPr txBox="1"/>
          <p:nvPr/>
        </p:nvSpPr>
        <p:spPr>
          <a:xfrm>
            <a:off x="9052560" y="2606040"/>
            <a:ext cx="2121408" cy="457200"/>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alibri" pitchFamily="34" charset="0"/>
                <a:ea typeface="Calibri" pitchFamily="34" charset="-122"/>
                <a:cs typeface="Calibri" pitchFamily="34" charset="-120"/>
              </a:rPr>
              <a:t>name</a:t>
            </a:r>
            <a:endParaRPr lang="en-US" sz="1250" dirty="0"/>
          </a:p>
        </p:txBody>
      </p:sp>
      <p:sp>
        <p:nvSpPr>
          <p:cNvPr id="47" name="Text 45"/>
          <p:cNvSpPr txBox="1"/>
          <p:nvPr/>
        </p:nvSpPr>
        <p:spPr>
          <a:xfrm>
            <a:off x="9052560" y="3108960"/>
            <a:ext cx="2121408" cy="1051560"/>
          </a:xfrm>
          <a:prstGeom prst="rect">
            <a:avLst/>
          </a:prstGeom>
          <a:noFill/>
          <a:ln/>
        </p:spPr>
        <p:txBody>
          <a:bodyPr wrap="square" lIns="0" tIns="0" rIns="0" bIns="0" rtlCol="0" anchor="t"/>
          <a:lstStyle/>
          <a:p>
            <a:pPr algn="ctr" indent="0" marL="0">
              <a:buNone/>
            </a:pPr>
            <a:r>
              <a:rPr lang="en-US" sz="1150" dirty="0">
                <a:solidFill>
                  <a:srgbClr val="3A464C"/>
                </a:solidFill>
                <a:latin typeface="Calibri" pitchFamily="34" charset="0"/>
                <a:ea typeface="Calibri" pitchFamily="34" charset="-122"/>
                <a:cs typeface="Calibri" pitchFamily="34" charset="-120"/>
              </a:rPr>
              <a:t>kept in the directory, not in the inode</a:t>
            </a:r>
            <a:endParaRPr lang="en-US" sz="1150" dirty="0"/>
          </a:p>
        </p:txBody>
      </p:sp>
      <p:sp>
        <p:nvSpPr>
          <p:cNvPr id="48" name="Shape 46"/>
          <p:cNvSpPr/>
          <p:nvPr/>
        </p:nvSpPr>
        <p:spPr>
          <a:xfrm>
            <a:off x="548640" y="4343400"/>
            <a:ext cx="544068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9" name="Text 47"/>
          <p:cNvSpPr txBox="1"/>
          <p:nvPr/>
        </p:nvSpPr>
        <p:spPr>
          <a:xfrm>
            <a:off x="777240" y="452628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Directories look like this</a:t>
            </a:r>
            <a:endParaRPr lang="en-US" sz="1500" dirty="0"/>
          </a:p>
        </p:txBody>
      </p:sp>
      <p:sp>
        <p:nvSpPr>
          <p:cNvPr id="50" name="Text 48"/>
          <p:cNvSpPr txBox="1"/>
          <p:nvPr/>
        </p:nvSpPr>
        <p:spPr>
          <a:xfrm>
            <a:off x="777240" y="4983480"/>
            <a:ext cx="4983480" cy="11430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drwxrwxr-x 4 student student 4096 … projects</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d = directory; size 4096 = one block of entries; link count 4 = 2 + its 2 subdirectories.</a:t>
            </a:r>
            <a:endParaRPr lang="en-US" sz="1350" dirty="0"/>
          </a:p>
        </p:txBody>
      </p:sp>
      <p:sp>
        <p:nvSpPr>
          <p:cNvPr id="51" name="Shape 49"/>
          <p:cNvSpPr/>
          <p:nvPr/>
        </p:nvSpPr>
        <p:spPr>
          <a:xfrm>
            <a:off x="6217920" y="4343400"/>
            <a:ext cx="544068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52" name="Text 50"/>
          <p:cNvSpPr txBox="1"/>
          <p:nvPr/>
        </p:nvSpPr>
        <p:spPr>
          <a:xfrm>
            <a:off x="6446520" y="452628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Almost all of it is the inode</a:t>
            </a:r>
            <a:endParaRPr lang="en-US" sz="1500" dirty="0"/>
          </a:p>
        </p:txBody>
      </p:sp>
      <p:sp>
        <p:nvSpPr>
          <p:cNvPr id="53" name="Text 51"/>
          <p:cNvSpPr txBox="1"/>
          <p:nvPr/>
        </p:nvSpPr>
        <p:spPr>
          <a:xfrm>
            <a:off x="6446520" y="4983480"/>
            <a:ext cx="4983480" cy="11430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Type, permissions, links, owner, group, size and times are inode fields (Week 7).</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Only the name comes from the directory entry. stat shows the full inode (Week 10).</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ls -l and ls -lh: Sizes Humans Can Read</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18</a:t>
            </a:r>
            <a:endParaRPr lang="en-US" sz="900" dirty="0"/>
          </a:p>
        </p:txBody>
      </p:sp>
      <p:sp>
        <p:nvSpPr>
          <p:cNvPr id="6" name="Shape 4"/>
          <p:cNvSpPr/>
          <p:nvPr/>
        </p:nvSpPr>
        <p:spPr>
          <a:xfrm>
            <a:off x="548640" y="1508760"/>
            <a:ext cx="6949440" cy="4754880"/>
          </a:xfrm>
          <a:prstGeom prst="roundRect">
            <a:avLst>
              <a:gd name="adj" fmla="val 962"/>
            </a:avLst>
          </a:prstGeom>
          <a:solidFill>
            <a:srgbClr val="212121"/>
          </a:solidFill>
          <a:ln/>
        </p:spPr>
        <p:txBody>
          <a:bodyPr/>
          <a:p/>
        </p:txBody>
      </p:sp>
      <p:sp>
        <p:nvSpPr>
          <p:cNvPr id="7" name="Text 5"/>
          <p:cNvSpPr txBox="1"/>
          <p:nvPr/>
        </p:nvSpPr>
        <p:spPr>
          <a:xfrm>
            <a:off x="731520" y="1618488"/>
            <a:ext cx="6583680" cy="453542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-l docs</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total 24</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53 Oct 12 08:49 'final report.txt'</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302 Oct 12 08:49  linux_quotes.txt</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16 Oct 12 08:49  notes_01.txt</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16 Oct 12 08:49  notes_02.txt</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16 Oct 12 08:49  notes_03.txt</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578 Oct 12 08:49  syllabus.txt</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ls -lh logs data</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data:</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total 12K</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227 Oct 12 08:49 cities.txt</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80 Oct 12 08:49 numbers.txt</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1.2K Oct 12 08:49 students.csv</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logs:</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total 32K</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24K Oct 12 08:49 access.log</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-rw-rw-r-- 1 student student 5.1K Oct 12 08:49 system.log</a:t>
            </a:r>
            <a:endParaRPr lang="en-US" sz="1200" dirty="0"/>
          </a:p>
        </p:txBody>
      </p:sp>
      <p:sp>
        <p:nvSpPr>
          <p:cNvPr id="8" name="Shape 6"/>
          <p:cNvSpPr/>
          <p:nvPr/>
        </p:nvSpPr>
        <p:spPr>
          <a:xfrm>
            <a:off x="7772400" y="1508760"/>
            <a:ext cx="3886200" cy="2697480"/>
          </a:xfrm>
          <a:prstGeom prst="roundRect">
            <a:avLst>
              <a:gd name="adj" fmla="val 203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001000" y="169164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-h = human-readable</a:t>
            </a:r>
            <a:endParaRPr lang="en-US" sz="1500" dirty="0"/>
          </a:p>
        </p:txBody>
      </p:sp>
      <p:sp>
        <p:nvSpPr>
          <p:cNvPr id="10" name="Text 8"/>
          <p:cNvSpPr txBox="1"/>
          <p:nvPr/>
        </p:nvSpPr>
        <p:spPr>
          <a:xfrm>
            <a:off x="8001000" y="2148840"/>
            <a:ext cx="3429000" cy="19202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K, M, G are powers of 1024: 1K = 2¹⁰ bytes.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access.log: 23,604 B ÷ 1024 ≈ 23.05 → shown as 24K (ls rounds up).</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system.log: 5,207 B ÷ 1024 ≈ 5.09 → 5.1K.</a:t>
            </a:r>
            <a:endParaRPr lang="en-US" sz="1300" dirty="0"/>
          </a:p>
        </p:txBody>
      </p:sp>
      <p:sp>
        <p:nvSpPr>
          <p:cNvPr id="11" name="Shape 9"/>
          <p:cNvSpPr/>
          <p:nvPr/>
        </p:nvSpPr>
        <p:spPr>
          <a:xfrm>
            <a:off x="7772400" y="4389120"/>
            <a:ext cx="3886200" cy="1874520"/>
          </a:xfrm>
          <a:prstGeom prst="roundRect">
            <a:avLst>
              <a:gd name="adj" fmla="val 292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8001000" y="4572000"/>
            <a:ext cx="34290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"total" line</a:t>
            </a:r>
            <a:endParaRPr lang="en-US" sz="1500" dirty="0"/>
          </a:p>
        </p:txBody>
      </p:sp>
      <p:sp>
        <p:nvSpPr>
          <p:cNvPr id="13" name="Text 11"/>
          <p:cNvSpPr txBox="1"/>
          <p:nvPr/>
        </p:nvSpPr>
        <p:spPr>
          <a:xfrm>
            <a:off x="8001000" y="5029200"/>
            <a:ext cx="3429000" cy="109728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Disk space used by the listed files, in 1K blocks. Each small file takes a whole 4K block: 6 × 4 = 24.</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Whole Subtrees: ls -R and tree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19</a:t>
            </a:r>
            <a:endParaRPr lang="en-US" sz="900" dirty="0"/>
          </a:p>
        </p:txBody>
      </p:sp>
      <p:sp>
        <p:nvSpPr>
          <p:cNvPr id="6" name="Shape 4"/>
          <p:cNvSpPr/>
          <p:nvPr/>
        </p:nvSpPr>
        <p:spPr>
          <a:xfrm>
            <a:off x="548640" y="1508760"/>
            <a:ext cx="4572000" cy="4754880"/>
          </a:xfrm>
          <a:prstGeom prst="roundRect">
            <a:avLst>
              <a:gd name="adj" fmla="val 1000"/>
            </a:avLst>
          </a:prstGeom>
          <a:solidFill>
            <a:srgbClr val="212121"/>
          </a:solidFill>
          <a:ln/>
        </p:spPr>
        <p:txBody>
          <a:bodyPr/>
          <a:p/>
        </p:txBody>
      </p:sp>
      <p:sp>
        <p:nvSpPr>
          <p:cNvPr id="7" name="Text 5"/>
          <p:cNvSpPr txBox="1"/>
          <p:nvPr/>
        </p:nvSpPr>
        <p:spPr>
          <a:xfrm>
            <a:off x="731520" y="1618488"/>
            <a:ext cx="4206240" cy="45354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ls -R projects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projects: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alpha  beta</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projects/alpha:</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README.md  docs  src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projects/alpha/docs: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design.txt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projects/alpha/src: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main.c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projects/beta:</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README.md  docs  src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projects/beta/docs: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design.txt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projects/beta/src: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main.c</a:t>
            </a:r>
            <a:endParaRPr lang="en-US" sz="1150" dirty="0"/>
          </a:p>
        </p:txBody>
      </p:sp>
      <p:sp>
        <p:nvSpPr>
          <p:cNvPr id="8" name="Shape 6"/>
          <p:cNvSpPr/>
          <p:nvPr/>
        </p:nvSpPr>
        <p:spPr>
          <a:xfrm>
            <a:off x="5349240" y="1508760"/>
            <a:ext cx="3657600" cy="4754880"/>
          </a:xfrm>
          <a:prstGeom prst="roundRect">
            <a:avLst>
              <a:gd name="adj" fmla="val 1250"/>
            </a:avLst>
          </a:prstGeom>
          <a:solidFill>
            <a:srgbClr val="212121"/>
          </a:solidFill>
          <a:ln/>
        </p:spPr>
        <p:txBody>
          <a:bodyPr/>
          <a:p/>
        </p:txBody>
      </p:sp>
      <p:sp>
        <p:nvSpPr>
          <p:cNvPr id="9" name="Text 7"/>
          <p:cNvSpPr txBox="1"/>
          <p:nvPr/>
        </p:nvSpPr>
        <p:spPr>
          <a:xfrm>
            <a:off x="5532120" y="1618488"/>
            <a:ext cx="3291840" cy="4535424"/>
          </a:xfrm>
          <a:prstGeom prst="rect">
            <a:avLst/>
          </a:prstGeom>
          <a:noFill/>
          <a:ln/>
        </p:spPr>
        <p:txBody>
          <a:bodyPr wrap="square" lIns="0" tIns="0" rIns="0" bIns="0" rtlCol="0" anchor="t"/>
          <a:lstStyle/>
          <a:p>
            <a:pPr indent="0" marL="0">
              <a:lnSpc>
                <a:spcPct val="100000"/>
              </a:lnSpc>
              <a:buNone/>
            </a:pPr>
            <a:r>
              <a:rPr lang="en-US" sz="1150" dirty="0">
                <a:solidFill>
                  <a:srgbClr val="02C39A"/>
                </a:solidFill>
                <a:latin typeface="Consolas" pitchFamily="34" charset="0"/>
                <a:ea typeface="Consolas" pitchFamily="34" charset="-122"/>
                <a:cs typeface="Consolas" pitchFamily="34" charset="-120"/>
              </a:rPr>
              <a:t>student@okan-lab:~/lab$ </a:t>
            </a:r>
            <a:r>
              <a:rPr lang="en-US" sz="1150" b="1" dirty="0">
                <a:solidFill>
                  <a:srgbClr val="FFFFFF"/>
                </a:solidFill>
                <a:latin typeface="Consolas" pitchFamily="34" charset="0"/>
                <a:ea typeface="Consolas" pitchFamily="34" charset="-122"/>
                <a:cs typeface="Consolas" pitchFamily="34" charset="-120"/>
              </a:rPr>
              <a:t>tree projects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projects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alpha</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README.md</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docs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 design.txt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src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main.c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beta</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README.md</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docs</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 design.txt</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src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 main.c</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F2F2F2"/>
                </a:solidFill>
                <a:latin typeface="Consolas" pitchFamily="34" charset="0"/>
                <a:ea typeface="Consolas" pitchFamily="34" charset="-122"/>
                <a:cs typeface="Consolas" pitchFamily="34" charset="-120"/>
              </a:rPr>
              <a:t>7 directories, 6 files</a:t>
            </a:r>
            <a:endParaRPr lang="en-US" sz="1150" dirty="0"/>
          </a:p>
        </p:txBody>
      </p:sp>
      <p:sp>
        <p:nvSpPr>
          <p:cNvPr id="10" name="Shape 8"/>
          <p:cNvSpPr/>
          <p:nvPr/>
        </p:nvSpPr>
        <p:spPr>
          <a:xfrm>
            <a:off x="9235440" y="1508760"/>
            <a:ext cx="2423160" cy="4754880"/>
          </a:xfrm>
          <a:prstGeom prst="roundRect">
            <a:avLst>
              <a:gd name="adj" fmla="val 226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9464040" y="1691640"/>
            <a:ext cx="1965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Compare</a:t>
            </a:r>
            <a:endParaRPr lang="en-US" sz="1500" dirty="0"/>
          </a:p>
        </p:txBody>
      </p:sp>
      <p:sp>
        <p:nvSpPr>
          <p:cNvPr id="12" name="Text 10"/>
          <p:cNvSpPr txBox="1"/>
          <p:nvPr/>
        </p:nvSpPr>
        <p:spPr>
          <a:xfrm>
            <a:off x="9464040" y="2148840"/>
            <a:ext cx="1965960" cy="397764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ls -R:</a:t>
            </a:r>
            <a:r>
              <a:rPr lang="en-US" sz="1300" dirty="0">
                <a:solidFill>
                  <a:srgbClr val="3A464C"/>
                </a:solidFill>
                <a:latin typeface="Calibri" pitchFamily="34" charset="0"/>
                <a:ea typeface="Calibri" pitchFamily="34" charset="-122"/>
                <a:cs typeface="Calibri" pitchFamily="34" charset="-120"/>
              </a:rPr>
              <a:t> recursive; one block per directory.</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tree:</a:t>
            </a:r>
            <a:r>
              <a:rPr lang="en-US" sz="1300" dirty="0">
                <a:solidFill>
                  <a:srgbClr val="3A464C"/>
                </a:solidFill>
                <a:latin typeface="Calibri" pitchFamily="34" charset="0"/>
                <a:ea typeface="Calibri" pitchFamily="34" charset="-122"/>
                <a:cs typeface="Calibri" pitchFamily="34" charset="-120"/>
              </a:rPr>
              <a:t> the same as a picture — the Week 7 tree.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Install: sudo apt install tree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Careful: ls -R / lists the whole disk. Ctrl+C stops it.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CHEAT SHEET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ls Options You Will Use All Semester</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463040"/>
                <a:gridCol w="5669280"/>
                <a:gridCol w="3977640"/>
              </a:tblGrid>
              <a:tr h="0">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Option</a:t>
                      </a:r>
                      <a:endParaRPr lang="en-US"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Meaning</a:t>
                      </a:r>
                      <a:endParaRPr lang="en-US"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50" b="1" dirty="0">
                          <a:solidFill>
                            <a:srgbClr val="FFFFFF"/>
                          </a:solidFill>
                          <a:latin typeface="Cambria" pitchFamily="34" charset="0"/>
                          <a:ea typeface="Cambria" pitchFamily="34" charset="-122"/>
                          <a:cs typeface="Cambria" pitchFamily="34" charset="-120"/>
                        </a:rPr>
                        <a:t>Example</a:t>
                      </a:r>
                      <a:endParaRPr lang="en-US" sz="14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-l</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long listing: type, permissions, links, owner, group, size, time, name</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ls -l docs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-a / -A</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all, including hidden dot-files (-A: without . and ..)</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ls -a ~</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-h</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human-readable sizes (with -l)</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ls -lh logs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-R</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recursive: also list every subdirectory</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ls -R projects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-F</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append / to directories (* to executables, @ to links)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ls -F</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-d</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the directory itself, not its contents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ls -ld projects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-S / -t / -r</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sort by size / by time (newest first) / reverse the order</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ls -lS docs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-1 / -i</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one name per line / show inode numbers (Week 7)</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ls -1 photos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the Linux directory tree, cd, paths, getting help — then the lab.</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9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4</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Moving Around the Tree</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One tree, one root: /. No drive letters.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9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FILESYSTEM HIERARCHY STANDARD</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Linux Directory Tree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23</a:t>
            </a:r>
            <a:endParaRPr lang="en-US" sz="900" dirty="0"/>
          </a:p>
        </p:txBody>
      </p:sp>
      <p:sp>
        <p:nvSpPr>
          <p:cNvPr id="6" name="Shape 4"/>
          <p:cNvSpPr/>
          <p:nvPr/>
        </p:nvSpPr>
        <p:spPr>
          <a:xfrm>
            <a:off x="5623560" y="1600200"/>
            <a:ext cx="960120" cy="502920"/>
          </a:xfrm>
          <a:prstGeom prst="roundRect">
            <a:avLst>
              <a:gd name="adj" fmla="val 9091"/>
            </a:avLst>
          </a:prstGeom>
          <a:solidFill>
            <a:srgbClr val="36454F"/>
          </a:solidFill>
          <a:ln/>
        </p:spPr>
        <p:txBody>
          <a:bodyPr/>
          <a:p/>
        </p:txBody>
      </p:sp>
      <p:sp>
        <p:nvSpPr>
          <p:cNvPr id="7" name="Text 5"/>
          <p:cNvSpPr txBox="1"/>
          <p:nvPr/>
        </p:nvSpPr>
        <p:spPr>
          <a:xfrm>
            <a:off x="5623560" y="1600200"/>
            <a:ext cx="960120" cy="502920"/>
          </a:xfrm>
          <a:prstGeom prst="rect">
            <a:avLst/>
          </a:prstGeom>
          <a:noFill/>
          <a:ln/>
        </p:spPr>
        <p:txBody>
          <a:bodyPr wrap="square" lIns="38100" tIns="38100" rIns="38100" bIns="3810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a:t>
            </a:r>
            <a:endParaRPr lang="en-US" sz="2000" dirty="0"/>
          </a:p>
        </p:txBody>
      </p:sp>
      <p:sp>
        <p:nvSpPr>
          <p:cNvPr id="8" name="Shape 6"/>
          <p:cNvSpPr/>
          <p:nvPr/>
        </p:nvSpPr>
        <p:spPr>
          <a:xfrm flipH="1">
            <a:off x="1129284" y="2103120"/>
            <a:ext cx="4974336" cy="411480"/>
          </a:xfrm>
          <a:prstGeom prst="line">
            <a:avLst/>
          </a:prstGeom>
          <a:noFill/>
          <a:ln w="15875">
            <a:solidFill>
              <a:srgbClr val="50808E"/>
            </a:solidFill>
            <a:prstDash val="solid"/>
          </a:ln>
        </p:spPr>
        <p:txBody>
          <a:bodyPr/>
          <a:p/>
        </p:txBody>
      </p:sp>
      <p:sp>
        <p:nvSpPr>
          <p:cNvPr id="9" name="Shape 7"/>
          <p:cNvSpPr/>
          <p:nvPr/>
        </p:nvSpPr>
        <p:spPr>
          <a:xfrm>
            <a:off x="548640" y="2514600"/>
            <a:ext cx="1161288" cy="777240"/>
          </a:xfrm>
          <a:prstGeom prst="roundRect">
            <a:avLst>
              <a:gd name="adj" fmla="val 5882"/>
            </a:avLst>
          </a:prstGeom>
          <a:solidFill>
            <a:srgbClr val="D7E9E6"/>
          </a:solidFill>
          <a:ln/>
        </p:spPr>
        <p:txBody>
          <a:bodyPr/>
          <a:p/>
        </p:txBody>
      </p:sp>
      <p:sp>
        <p:nvSpPr>
          <p:cNvPr id="10" name="Text 8"/>
          <p:cNvSpPr txBox="1"/>
          <p:nvPr/>
        </p:nvSpPr>
        <p:spPr>
          <a:xfrm>
            <a:off x="548640" y="2514600"/>
            <a:ext cx="1161288" cy="77724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bin</a:t>
            </a:r>
            <a:endParaRPr lang="en-US" sz="1500" dirty="0"/>
          </a:p>
          <a:p>
            <a:pPr algn="ctr" indent="0" marL="0">
              <a:buNone/>
            </a:pPr>
            <a:r>
              <a:rPr lang="en-US" sz="1050" dirty="0">
                <a:solidFill>
                  <a:srgbClr val="212121"/>
                </a:solidFill>
                <a:latin typeface="Calibri" pitchFamily="34" charset="0"/>
                <a:ea typeface="Calibri" pitchFamily="34" charset="-122"/>
                <a:cs typeface="Calibri" pitchFamily="34" charset="-120"/>
              </a:rPr>
              <a:t>→ usr/bin</a:t>
            </a:r>
            <a:endParaRPr lang="en-US" sz="1500" dirty="0"/>
          </a:p>
        </p:txBody>
      </p:sp>
      <p:sp>
        <p:nvSpPr>
          <p:cNvPr id="11" name="Shape 9"/>
          <p:cNvSpPr/>
          <p:nvPr/>
        </p:nvSpPr>
        <p:spPr>
          <a:xfrm flipH="1">
            <a:off x="2363724" y="2103120"/>
            <a:ext cx="3739896" cy="411480"/>
          </a:xfrm>
          <a:prstGeom prst="line">
            <a:avLst/>
          </a:prstGeom>
          <a:noFill/>
          <a:ln w="15875">
            <a:solidFill>
              <a:srgbClr val="50808E"/>
            </a:solidFill>
            <a:prstDash val="solid"/>
          </a:ln>
        </p:spPr>
        <p:txBody>
          <a:bodyPr/>
          <a:p/>
        </p:txBody>
      </p:sp>
      <p:sp>
        <p:nvSpPr>
          <p:cNvPr id="12" name="Shape 10"/>
          <p:cNvSpPr/>
          <p:nvPr/>
        </p:nvSpPr>
        <p:spPr>
          <a:xfrm>
            <a:off x="1783080" y="2514600"/>
            <a:ext cx="1161288" cy="777240"/>
          </a:xfrm>
          <a:prstGeom prst="roundRect">
            <a:avLst>
              <a:gd name="adj" fmla="val 5882"/>
            </a:avLst>
          </a:prstGeom>
          <a:solidFill>
            <a:srgbClr val="D7E9E6"/>
          </a:solidFill>
          <a:ln/>
        </p:spPr>
        <p:txBody>
          <a:bodyPr/>
          <a:p/>
        </p:txBody>
      </p:sp>
      <p:sp>
        <p:nvSpPr>
          <p:cNvPr id="13" name="Text 11"/>
          <p:cNvSpPr txBox="1"/>
          <p:nvPr/>
        </p:nvSpPr>
        <p:spPr>
          <a:xfrm>
            <a:off x="1783080" y="2514600"/>
            <a:ext cx="1161288" cy="77724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etc</a:t>
            </a:r>
            <a:endParaRPr lang="en-US" sz="1500" dirty="0"/>
          </a:p>
          <a:p>
            <a:pPr algn="ctr" indent="0" marL="0">
              <a:buNone/>
            </a:pPr>
            <a:r>
              <a:rPr lang="en-US" sz="1050" dirty="0">
                <a:solidFill>
                  <a:srgbClr val="212121"/>
                </a:solidFill>
                <a:latin typeface="Calibri" pitchFamily="34" charset="0"/>
                <a:ea typeface="Calibri" pitchFamily="34" charset="-122"/>
                <a:cs typeface="Calibri" pitchFamily="34" charset="-120"/>
              </a:rPr>
              <a:t>settings</a:t>
            </a:r>
            <a:endParaRPr lang="en-US" sz="1500" dirty="0"/>
          </a:p>
        </p:txBody>
      </p:sp>
      <p:sp>
        <p:nvSpPr>
          <p:cNvPr id="14" name="Shape 12"/>
          <p:cNvSpPr/>
          <p:nvPr/>
        </p:nvSpPr>
        <p:spPr>
          <a:xfrm flipH="1">
            <a:off x="3598164" y="2103120"/>
            <a:ext cx="2505456" cy="411480"/>
          </a:xfrm>
          <a:prstGeom prst="line">
            <a:avLst/>
          </a:prstGeom>
          <a:noFill/>
          <a:ln w="15875">
            <a:solidFill>
              <a:srgbClr val="50808E"/>
            </a:solidFill>
            <a:prstDash val="solid"/>
          </a:ln>
        </p:spPr>
        <p:txBody>
          <a:bodyPr/>
          <a:p/>
        </p:txBody>
      </p:sp>
      <p:sp>
        <p:nvSpPr>
          <p:cNvPr id="15" name="Shape 13"/>
          <p:cNvSpPr/>
          <p:nvPr/>
        </p:nvSpPr>
        <p:spPr>
          <a:xfrm>
            <a:off x="3017520" y="2514600"/>
            <a:ext cx="1161288" cy="777240"/>
          </a:xfrm>
          <a:prstGeom prst="roundRect">
            <a:avLst>
              <a:gd name="adj" fmla="val 5882"/>
            </a:avLst>
          </a:prstGeom>
          <a:solidFill>
            <a:srgbClr val="02C39A"/>
          </a:solidFill>
          <a:ln/>
        </p:spPr>
        <p:txBody>
          <a:bodyPr/>
          <a:p/>
        </p:txBody>
      </p:sp>
      <p:sp>
        <p:nvSpPr>
          <p:cNvPr id="16" name="Text 14"/>
          <p:cNvSpPr txBox="1"/>
          <p:nvPr/>
        </p:nvSpPr>
        <p:spPr>
          <a:xfrm>
            <a:off x="3017520" y="2514600"/>
            <a:ext cx="1161288" cy="77724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home</a:t>
            </a:r>
            <a:endParaRPr lang="en-US" sz="1500" dirty="0"/>
          </a:p>
          <a:p>
            <a:pPr algn="ctr" indent="0" marL="0">
              <a:buNone/>
            </a:pPr>
            <a:r>
              <a:rPr lang="en-US" sz="1050" dirty="0">
                <a:solidFill>
                  <a:srgbClr val="212121"/>
                </a:solidFill>
                <a:latin typeface="Calibri" pitchFamily="34" charset="0"/>
                <a:ea typeface="Calibri" pitchFamily="34" charset="-122"/>
                <a:cs typeface="Calibri" pitchFamily="34" charset="-120"/>
              </a:rPr>
              <a:t>users</a:t>
            </a:r>
            <a:endParaRPr lang="en-US" sz="1500" dirty="0"/>
          </a:p>
        </p:txBody>
      </p:sp>
      <p:sp>
        <p:nvSpPr>
          <p:cNvPr id="17" name="Shape 15"/>
          <p:cNvSpPr/>
          <p:nvPr/>
        </p:nvSpPr>
        <p:spPr>
          <a:xfrm flipH="1">
            <a:off x="4832604" y="2103120"/>
            <a:ext cx="1271016" cy="411480"/>
          </a:xfrm>
          <a:prstGeom prst="line">
            <a:avLst/>
          </a:prstGeom>
          <a:noFill/>
          <a:ln w="15875">
            <a:solidFill>
              <a:srgbClr val="50808E"/>
            </a:solidFill>
            <a:prstDash val="solid"/>
          </a:ln>
        </p:spPr>
        <p:txBody>
          <a:bodyPr/>
          <a:p/>
        </p:txBody>
      </p:sp>
      <p:sp>
        <p:nvSpPr>
          <p:cNvPr id="18" name="Shape 16"/>
          <p:cNvSpPr/>
          <p:nvPr/>
        </p:nvSpPr>
        <p:spPr>
          <a:xfrm>
            <a:off x="4251960" y="2514600"/>
            <a:ext cx="1161288" cy="777240"/>
          </a:xfrm>
          <a:prstGeom prst="roundRect">
            <a:avLst>
              <a:gd name="adj" fmla="val 5882"/>
            </a:avLst>
          </a:prstGeom>
          <a:solidFill>
            <a:srgbClr val="D7E9E6"/>
          </a:solidFill>
          <a:ln/>
        </p:spPr>
        <p:txBody>
          <a:bodyPr/>
          <a:p/>
        </p:txBody>
      </p:sp>
      <p:sp>
        <p:nvSpPr>
          <p:cNvPr id="19" name="Text 17"/>
          <p:cNvSpPr txBox="1"/>
          <p:nvPr/>
        </p:nvSpPr>
        <p:spPr>
          <a:xfrm>
            <a:off x="4251960" y="2514600"/>
            <a:ext cx="1161288" cy="77724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tmp</a:t>
            </a:r>
            <a:endParaRPr lang="en-US" sz="1500" dirty="0"/>
          </a:p>
          <a:p>
            <a:pPr algn="ctr" indent="0" marL="0">
              <a:buNone/>
            </a:pPr>
            <a:r>
              <a:rPr lang="en-US" sz="1050" dirty="0">
                <a:solidFill>
                  <a:srgbClr val="212121"/>
                </a:solidFill>
                <a:latin typeface="Calibri" pitchFamily="34" charset="0"/>
                <a:ea typeface="Calibri" pitchFamily="34" charset="-122"/>
                <a:cs typeface="Calibri" pitchFamily="34" charset="-120"/>
              </a:rPr>
              <a:t>temporary</a:t>
            </a:r>
            <a:endParaRPr lang="en-US" sz="1500" dirty="0"/>
          </a:p>
        </p:txBody>
      </p:sp>
      <p:sp>
        <p:nvSpPr>
          <p:cNvPr id="20" name="Shape 18"/>
          <p:cNvSpPr/>
          <p:nvPr/>
        </p:nvSpPr>
        <p:spPr>
          <a:xfrm flipH="1">
            <a:off x="6067044" y="2103120"/>
            <a:ext cx="36576" cy="411480"/>
          </a:xfrm>
          <a:prstGeom prst="line">
            <a:avLst/>
          </a:prstGeom>
          <a:noFill/>
          <a:ln w="15875">
            <a:solidFill>
              <a:srgbClr val="50808E"/>
            </a:solidFill>
            <a:prstDash val="solid"/>
          </a:ln>
        </p:spPr>
        <p:txBody>
          <a:bodyPr/>
          <a:p/>
        </p:txBody>
      </p:sp>
      <p:sp>
        <p:nvSpPr>
          <p:cNvPr id="21" name="Shape 19"/>
          <p:cNvSpPr/>
          <p:nvPr/>
        </p:nvSpPr>
        <p:spPr>
          <a:xfrm>
            <a:off x="5486400" y="2514600"/>
            <a:ext cx="1161288" cy="777240"/>
          </a:xfrm>
          <a:prstGeom prst="roundRect">
            <a:avLst>
              <a:gd name="adj" fmla="val 5882"/>
            </a:avLst>
          </a:prstGeom>
          <a:solidFill>
            <a:srgbClr val="D7E9E6"/>
          </a:solidFill>
          <a:ln/>
        </p:spPr>
        <p:txBody>
          <a:bodyPr/>
          <a:p/>
        </p:txBody>
      </p:sp>
      <p:sp>
        <p:nvSpPr>
          <p:cNvPr id="22" name="Text 20"/>
          <p:cNvSpPr txBox="1"/>
          <p:nvPr/>
        </p:nvSpPr>
        <p:spPr>
          <a:xfrm>
            <a:off x="5486400" y="2514600"/>
            <a:ext cx="1161288" cy="77724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usr</a:t>
            </a:r>
            <a:endParaRPr lang="en-US" sz="1500" dirty="0"/>
          </a:p>
          <a:p>
            <a:pPr algn="ctr" indent="0" marL="0">
              <a:buNone/>
            </a:pPr>
            <a:r>
              <a:rPr lang="en-US" sz="1050" dirty="0">
                <a:solidFill>
                  <a:srgbClr val="212121"/>
                </a:solidFill>
                <a:latin typeface="Calibri" pitchFamily="34" charset="0"/>
                <a:ea typeface="Calibri" pitchFamily="34" charset="-122"/>
                <a:cs typeface="Calibri" pitchFamily="34" charset="-120"/>
              </a:rPr>
              <a:t>programs</a:t>
            </a:r>
            <a:endParaRPr lang="en-US" sz="1500" dirty="0"/>
          </a:p>
        </p:txBody>
      </p:sp>
      <p:sp>
        <p:nvSpPr>
          <p:cNvPr id="23" name="Shape 21"/>
          <p:cNvSpPr/>
          <p:nvPr/>
        </p:nvSpPr>
        <p:spPr>
          <a:xfrm>
            <a:off x="6103620" y="2103120"/>
            <a:ext cx="1197864" cy="411480"/>
          </a:xfrm>
          <a:prstGeom prst="line">
            <a:avLst/>
          </a:prstGeom>
          <a:noFill/>
          <a:ln w="15875">
            <a:solidFill>
              <a:srgbClr val="50808E"/>
            </a:solidFill>
            <a:prstDash val="solid"/>
          </a:ln>
        </p:spPr>
        <p:txBody>
          <a:bodyPr/>
          <a:p/>
        </p:txBody>
      </p:sp>
      <p:sp>
        <p:nvSpPr>
          <p:cNvPr id="24" name="Shape 22"/>
          <p:cNvSpPr/>
          <p:nvPr/>
        </p:nvSpPr>
        <p:spPr>
          <a:xfrm>
            <a:off x="6720840" y="2514600"/>
            <a:ext cx="1161288" cy="777240"/>
          </a:xfrm>
          <a:prstGeom prst="roundRect">
            <a:avLst>
              <a:gd name="adj" fmla="val 5882"/>
            </a:avLst>
          </a:prstGeom>
          <a:solidFill>
            <a:srgbClr val="D7E9E6"/>
          </a:solidFill>
          <a:ln/>
        </p:spPr>
        <p:txBody>
          <a:bodyPr/>
          <a:p/>
        </p:txBody>
      </p:sp>
      <p:sp>
        <p:nvSpPr>
          <p:cNvPr id="25" name="Text 23"/>
          <p:cNvSpPr txBox="1"/>
          <p:nvPr/>
        </p:nvSpPr>
        <p:spPr>
          <a:xfrm>
            <a:off x="6720840" y="2514600"/>
            <a:ext cx="1161288" cy="77724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var</a:t>
            </a:r>
            <a:endParaRPr lang="en-US" sz="1500" dirty="0"/>
          </a:p>
          <a:p>
            <a:pPr algn="ctr" indent="0" marL="0">
              <a:buNone/>
            </a:pPr>
            <a:r>
              <a:rPr lang="en-US" sz="1050" dirty="0">
                <a:solidFill>
                  <a:srgbClr val="212121"/>
                </a:solidFill>
                <a:latin typeface="Calibri" pitchFamily="34" charset="0"/>
                <a:ea typeface="Calibri" pitchFamily="34" charset="-122"/>
                <a:cs typeface="Calibri" pitchFamily="34" charset="-120"/>
              </a:rPr>
              <a:t>changing data</a:t>
            </a:r>
            <a:endParaRPr lang="en-US" sz="1500" dirty="0"/>
          </a:p>
        </p:txBody>
      </p:sp>
      <p:sp>
        <p:nvSpPr>
          <p:cNvPr id="26" name="Shape 24"/>
          <p:cNvSpPr/>
          <p:nvPr/>
        </p:nvSpPr>
        <p:spPr>
          <a:xfrm>
            <a:off x="6103620" y="2103120"/>
            <a:ext cx="2432304" cy="411480"/>
          </a:xfrm>
          <a:prstGeom prst="line">
            <a:avLst/>
          </a:prstGeom>
          <a:noFill/>
          <a:ln w="15875">
            <a:solidFill>
              <a:srgbClr val="50808E"/>
            </a:solidFill>
            <a:prstDash val="solid"/>
          </a:ln>
        </p:spPr>
        <p:txBody>
          <a:bodyPr/>
          <a:p/>
        </p:txBody>
      </p:sp>
      <p:sp>
        <p:nvSpPr>
          <p:cNvPr id="27" name="Shape 25"/>
          <p:cNvSpPr/>
          <p:nvPr/>
        </p:nvSpPr>
        <p:spPr>
          <a:xfrm>
            <a:off x="7955280" y="2514600"/>
            <a:ext cx="1161288" cy="777240"/>
          </a:xfrm>
          <a:prstGeom prst="roundRect">
            <a:avLst>
              <a:gd name="adj" fmla="val 5882"/>
            </a:avLst>
          </a:prstGeom>
          <a:solidFill>
            <a:srgbClr val="E4E8E9"/>
          </a:solidFill>
          <a:ln/>
        </p:spPr>
        <p:txBody>
          <a:bodyPr/>
          <a:p/>
        </p:txBody>
      </p:sp>
      <p:sp>
        <p:nvSpPr>
          <p:cNvPr id="28" name="Text 26"/>
          <p:cNvSpPr txBox="1"/>
          <p:nvPr/>
        </p:nvSpPr>
        <p:spPr>
          <a:xfrm>
            <a:off x="7955280" y="2514600"/>
            <a:ext cx="1161288" cy="77724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dev</a:t>
            </a:r>
            <a:endParaRPr lang="en-US" sz="1500" dirty="0"/>
          </a:p>
          <a:p>
            <a:pPr algn="ctr" indent="0" marL="0">
              <a:buNone/>
            </a:pPr>
            <a:r>
              <a:rPr lang="en-US" sz="1050" dirty="0">
                <a:solidFill>
                  <a:srgbClr val="212121"/>
                </a:solidFill>
                <a:latin typeface="Calibri" pitchFamily="34" charset="0"/>
                <a:ea typeface="Calibri" pitchFamily="34" charset="-122"/>
                <a:cs typeface="Calibri" pitchFamily="34" charset="-120"/>
              </a:rPr>
              <a:t>devices</a:t>
            </a:r>
            <a:endParaRPr lang="en-US" sz="1500" dirty="0"/>
          </a:p>
        </p:txBody>
      </p:sp>
      <p:sp>
        <p:nvSpPr>
          <p:cNvPr id="29" name="Shape 27"/>
          <p:cNvSpPr/>
          <p:nvPr/>
        </p:nvSpPr>
        <p:spPr>
          <a:xfrm>
            <a:off x="6103620" y="2103120"/>
            <a:ext cx="3666744" cy="411480"/>
          </a:xfrm>
          <a:prstGeom prst="line">
            <a:avLst/>
          </a:prstGeom>
          <a:noFill/>
          <a:ln w="15875">
            <a:solidFill>
              <a:srgbClr val="50808E"/>
            </a:solidFill>
            <a:prstDash val="solid"/>
          </a:ln>
        </p:spPr>
        <p:txBody>
          <a:bodyPr/>
          <a:p/>
        </p:txBody>
      </p:sp>
      <p:sp>
        <p:nvSpPr>
          <p:cNvPr id="30" name="Shape 28"/>
          <p:cNvSpPr/>
          <p:nvPr/>
        </p:nvSpPr>
        <p:spPr>
          <a:xfrm>
            <a:off x="9189720" y="2514600"/>
            <a:ext cx="1161288" cy="777240"/>
          </a:xfrm>
          <a:prstGeom prst="roundRect">
            <a:avLst>
              <a:gd name="adj" fmla="val 5882"/>
            </a:avLst>
          </a:prstGeom>
          <a:solidFill>
            <a:srgbClr val="E4E8E9"/>
          </a:solidFill>
          <a:ln/>
        </p:spPr>
        <p:txBody>
          <a:bodyPr/>
          <a:p/>
        </p:txBody>
      </p:sp>
      <p:sp>
        <p:nvSpPr>
          <p:cNvPr id="31" name="Text 29"/>
          <p:cNvSpPr txBox="1"/>
          <p:nvPr/>
        </p:nvSpPr>
        <p:spPr>
          <a:xfrm>
            <a:off x="9189720" y="2514600"/>
            <a:ext cx="1161288" cy="77724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proc</a:t>
            </a:r>
            <a:endParaRPr lang="en-US" sz="1500" dirty="0"/>
          </a:p>
          <a:p>
            <a:pPr algn="ctr" indent="0" marL="0">
              <a:buNone/>
            </a:pPr>
            <a:r>
              <a:rPr lang="en-US" sz="1050" dirty="0">
                <a:solidFill>
                  <a:srgbClr val="212121"/>
                </a:solidFill>
                <a:latin typeface="Calibri" pitchFamily="34" charset="0"/>
                <a:ea typeface="Calibri" pitchFamily="34" charset="-122"/>
                <a:cs typeface="Calibri" pitchFamily="34" charset="-120"/>
              </a:rPr>
              <a:t>kernel info</a:t>
            </a:r>
            <a:endParaRPr lang="en-US" sz="1500" dirty="0"/>
          </a:p>
        </p:txBody>
      </p:sp>
      <p:sp>
        <p:nvSpPr>
          <p:cNvPr id="32" name="Shape 30"/>
          <p:cNvSpPr/>
          <p:nvPr/>
        </p:nvSpPr>
        <p:spPr>
          <a:xfrm>
            <a:off x="6103620" y="2103120"/>
            <a:ext cx="4901184" cy="411480"/>
          </a:xfrm>
          <a:prstGeom prst="line">
            <a:avLst/>
          </a:prstGeom>
          <a:noFill/>
          <a:ln w="15875">
            <a:solidFill>
              <a:srgbClr val="50808E"/>
            </a:solidFill>
            <a:prstDash val="solid"/>
          </a:ln>
        </p:spPr>
        <p:txBody>
          <a:bodyPr/>
          <a:p/>
        </p:txBody>
      </p:sp>
      <p:sp>
        <p:nvSpPr>
          <p:cNvPr id="33" name="Shape 31"/>
          <p:cNvSpPr/>
          <p:nvPr/>
        </p:nvSpPr>
        <p:spPr>
          <a:xfrm>
            <a:off x="10424160" y="2514600"/>
            <a:ext cx="1161288" cy="777240"/>
          </a:xfrm>
          <a:prstGeom prst="roundRect">
            <a:avLst>
              <a:gd name="adj" fmla="val 5882"/>
            </a:avLst>
          </a:prstGeom>
          <a:solidFill>
            <a:srgbClr val="D7E9E6"/>
          </a:solidFill>
          <a:ln/>
        </p:spPr>
        <p:txBody>
          <a:bodyPr/>
          <a:p/>
        </p:txBody>
      </p:sp>
      <p:sp>
        <p:nvSpPr>
          <p:cNvPr id="34" name="Text 32"/>
          <p:cNvSpPr txBox="1"/>
          <p:nvPr/>
        </p:nvSpPr>
        <p:spPr>
          <a:xfrm>
            <a:off x="10424160" y="2514600"/>
            <a:ext cx="1161288" cy="777240"/>
          </a:xfrm>
          <a:prstGeom prst="rect">
            <a:avLst/>
          </a:prstGeom>
          <a:noFill/>
          <a:ln/>
        </p:spPr>
        <p:txBody>
          <a:bodyPr wrap="square" lIns="38100" tIns="38100" rIns="38100" bIns="38100" rtlCol="0" anchor="ctr"/>
          <a:lstStyle/>
          <a:p>
            <a:pPr algn="ctr" indent="0" marL="0">
              <a:buNone/>
            </a:pPr>
            <a:r>
              <a:rPr lang="en-US" sz="1500" b="1" dirty="0">
                <a:solidFill>
                  <a:srgbClr val="212121"/>
                </a:solidFill>
                <a:latin typeface="Consolas" pitchFamily="34" charset="0"/>
                <a:ea typeface="Consolas" pitchFamily="34" charset="-122"/>
                <a:cs typeface="Consolas" pitchFamily="34" charset="-120"/>
              </a:rPr>
              <a:t>root</a:t>
            </a:r>
            <a:endParaRPr lang="en-US" sz="1500" dirty="0"/>
          </a:p>
          <a:p>
            <a:pPr algn="ctr" indent="0" marL="0">
              <a:buNone/>
            </a:pPr>
            <a:r>
              <a:rPr lang="en-US" sz="1050" dirty="0">
                <a:solidFill>
                  <a:srgbClr val="212121"/>
                </a:solidFill>
                <a:latin typeface="Calibri" pitchFamily="34" charset="0"/>
                <a:ea typeface="Calibri" pitchFamily="34" charset="-122"/>
                <a:cs typeface="Calibri" pitchFamily="34" charset="-120"/>
              </a:rPr>
              <a:t>root's home</a:t>
            </a:r>
            <a:endParaRPr lang="en-US" sz="1500" dirty="0"/>
          </a:p>
        </p:txBody>
      </p:sp>
      <p:sp>
        <p:nvSpPr>
          <p:cNvPr id="35" name="Shape 33"/>
          <p:cNvSpPr/>
          <p:nvPr/>
        </p:nvSpPr>
        <p:spPr>
          <a:xfrm>
            <a:off x="3598164" y="3291840"/>
            <a:ext cx="91" cy="457200"/>
          </a:xfrm>
          <a:prstGeom prst="line">
            <a:avLst/>
          </a:prstGeom>
          <a:noFill/>
          <a:ln w="15875">
            <a:solidFill>
              <a:srgbClr val="50808E"/>
            </a:solidFill>
            <a:prstDash val="solid"/>
          </a:ln>
        </p:spPr>
        <p:txBody>
          <a:bodyPr/>
          <a:p/>
        </p:txBody>
      </p:sp>
      <p:sp>
        <p:nvSpPr>
          <p:cNvPr id="36" name="Shape 34"/>
          <p:cNvSpPr/>
          <p:nvPr/>
        </p:nvSpPr>
        <p:spPr>
          <a:xfrm>
            <a:off x="3017520" y="3749040"/>
            <a:ext cx="1161288" cy="457200"/>
          </a:xfrm>
          <a:prstGeom prst="roundRect">
            <a:avLst>
              <a:gd name="adj" fmla="val 10000"/>
            </a:avLst>
          </a:prstGeom>
          <a:solidFill>
            <a:srgbClr val="02C39A"/>
          </a:solidFill>
          <a:ln/>
        </p:spPr>
        <p:txBody>
          <a:bodyPr/>
          <a:p/>
        </p:txBody>
      </p:sp>
      <p:sp>
        <p:nvSpPr>
          <p:cNvPr id="37" name="Text 35"/>
          <p:cNvSpPr txBox="1"/>
          <p:nvPr/>
        </p:nvSpPr>
        <p:spPr>
          <a:xfrm>
            <a:off x="3017520" y="3749040"/>
            <a:ext cx="1161288" cy="45720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onsolas" pitchFamily="34" charset="0"/>
                <a:ea typeface="Consolas" pitchFamily="34" charset="-122"/>
                <a:cs typeface="Consolas" pitchFamily="34" charset="-120"/>
              </a:rPr>
              <a:t>student</a:t>
            </a:r>
            <a:endParaRPr lang="en-US" sz="1300" dirty="0"/>
          </a:p>
        </p:txBody>
      </p:sp>
      <p:sp>
        <p:nvSpPr>
          <p:cNvPr id="38" name="Shape 36"/>
          <p:cNvSpPr/>
          <p:nvPr/>
        </p:nvSpPr>
        <p:spPr>
          <a:xfrm>
            <a:off x="3598164" y="4206240"/>
            <a:ext cx="91" cy="320040"/>
          </a:xfrm>
          <a:prstGeom prst="line">
            <a:avLst/>
          </a:prstGeom>
          <a:noFill/>
          <a:ln w="15875">
            <a:solidFill>
              <a:srgbClr val="50808E"/>
            </a:solidFill>
            <a:prstDash val="solid"/>
          </a:ln>
        </p:spPr>
        <p:txBody>
          <a:bodyPr/>
          <a:p/>
        </p:txBody>
      </p:sp>
      <p:sp>
        <p:nvSpPr>
          <p:cNvPr id="39" name="Shape 37"/>
          <p:cNvSpPr/>
          <p:nvPr/>
        </p:nvSpPr>
        <p:spPr>
          <a:xfrm>
            <a:off x="3017520" y="4526280"/>
            <a:ext cx="1161288" cy="457200"/>
          </a:xfrm>
          <a:prstGeom prst="roundRect">
            <a:avLst>
              <a:gd name="adj" fmla="val 10000"/>
            </a:avLst>
          </a:prstGeom>
          <a:solidFill>
            <a:srgbClr val="02C39A"/>
          </a:solidFill>
          <a:ln/>
        </p:spPr>
        <p:txBody>
          <a:bodyPr/>
          <a:p/>
        </p:txBody>
      </p:sp>
      <p:sp>
        <p:nvSpPr>
          <p:cNvPr id="40" name="Text 38"/>
          <p:cNvSpPr txBox="1"/>
          <p:nvPr/>
        </p:nvSpPr>
        <p:spPr>
          <a:xfrm>
            <a:off x="3017520" y="4526280"/>
            <a:ext cx="1161288" cy="45720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onsolas" pitchFamily="34" charset="0"/>
                <a:ea typeface="Consolas" pitchFamily="34" charset="-122"/>
                <a:cs typeface="Consolas" pitchFamily="34" charset="-120"/>
              </a:rPr>
              <a:t>lab</a:t>
            </a:r>
            <a:endParaRPr lang="en-US" sz="1300" dirty="0"/>
          </a:p>
        </p:txBody>
      </p:sp>
      <p:sp>
        <p:nvSpPr>
          <p:cNvPr id="41" name="Shape 39"/>
          <p:cNvSpPr/>
          <p:nvPr/>
        </p:nvSpPr>
        <p:spPr>
          <a:xfrm flipH="1">
            <a:off x="5349240" y="3291840"/>
            <a:ext cx="717804" cy="457200"/>
          </a:xfrm>
          <a:prstGeom prst="line">
            <a:avLst/>
          </a:prstGeom>
          <a:noFill/>
          <a:ln w="15875">
            <a:solidFill>
              <a:srgbClr val="50808E"/>
            </a:solidFill>
            <a:prstDash val="solid"/>
          </a:ln>
        </p:spPr>
        <p:txBody>
          <a:bodyPr/>
          <a:p/>
        </p:txBody>
      </p:sp>
      <p:sp>
        <p:nvSpPr>
          <p:cNvPr id="42" name="Shape 40"/>
          <p:cNvSpPr/>
          <p:nvPr/>
        </p:nvSpPr>
        <p:spPr>
          <a:xfrm>
            <a:off x="4983480" y="3749040"/>
            <a:ext cx="731520" cy="457200"/>
          </a:xfrm>
          <a:prstGeom prst="roundRect">
            <a:avLst>
              <a:gd name="adj" fmla="val 10000"/>
            </a:avLst>
          </a:prstGeom>
          <a:solidFill>
            <a:srgbClr val="D7E9E6"/>
          </a:solidFill>
          <a:ln/>
        </p:spPr>
        <p:txBody>
          <a:bodyPr/>
          <a:p/>
        </p:txBody>
      </p:sp>
      <p:sp>
        <p:nvSpPr>
          <p:cNvPr id="43" name="Text 41"/>
          <p:cNvSpPr txBox="1"/>
          <p:nvPr/>
        </p:nvSpPr>
        <p:spPr>
          <a:xfrm>
            <a:off x="4983480" y="3749040"/>
            <a:ext cx="731520" cy="457200"/>
          </a:xfrm>
          <a:prstGeom prst="rect">
            <a:avLst/>
          </a:prstGeom>
          <a:noFill/>
          <a:ln/>
        </p:spPr>
        <p:txBody>
          <a:bodyPr wrap="square" lIns="38100" tIns="38100" rIns="38100" bIns="38100" rtlCol="0" anchor="ctr"/>
          <a:lstStyle/>
          <a:p>
            <a:pPr algn="ctr" indent="0" marL="0">
              <a:buNone/>
            </a:pPr>
            <a:r>
              <a:rPr lang="en-US" sz="1150" b="1" dirty="0">
                <a:solidFill>
                  <a:srgbClr val="212121"/>
                </a:solidFill>
                <a:latin typeface="Consolas" pitchFamily="34" charset="0"/>
                <a:ea typeface="Consolas" pitchFamily="34" charset="-122"/>
                <a:cs typeface="Consolas" pitchFamily="34" charset="-120"/>
              </a:rPr>
              <a:t>bin</a:t>
            </a:r>
            <a:endParaRPr lang="en-US" sz="1150" dirty="0"/>
          </a:p>
        </p:txBody>
      </p:sp>
      <p:sp>
        <p:nvSpPr>
          <p:cNvPr id="44" name="Shape 42"/>
          <p:cNvSpPr/>
          <p:nvPr/>
        </p:nvSpPr>
        <p:spPr>
          <a:xfrm>
            <a:off x="6067044" y="3291840"/>
            <a:ext cx="105156" cy="457200"/>
          </a:xfrm>
          <a:prstGeom prst="line">
            <a:avLst/>
          </a:prstGeom>
          <a:noFill/>
          <a:ln w="15875">
            <a:solidFill>
              <a:srgbClr val="50808E"/>
            </a:solidFill>
            <a:prstDash val="solid"/>
          </a:ln>
        </p:spPr>
        <p:txBody>
          <a:bodyPr/>
          <a:p/>
        </p:txBody>
      </p:sp>
      <p:sp>
        <p:nvSpPr>
          <p:cNvPr id="45" name="Shape 43"/>
          <p:cNvSpPr/>
          <p:nvPr/>
        </p:nvSpPr>
        <p:spPr>
          <a:xfrm>
            <a:off x="5806440" y="3749040"/>
            <a:ext cx="731520" cy="457200"/>
          </a:xfrm>
          <a:prstGeom prst="roundRect">
            <a:avLst>
              <a:gd name="adj" fmla="val 10000"/>
            </a:avLst>
          </a:prstGeom>
          <a:solidFill>
            <a:srgbClr val="D7E9E6"/>
          </a:solidFill>
          <a:ln/>
        </p:spPr>
        <p:txBody>
          <a:bodyPr/>
          <a:p/>
        </p:txBody>
      </p:sp>
      <p:sp>
        <p:nvSpPr>
          <p:cNvPr id="46" name="Text 44"/>
          <p:cNvSpPr txBox="1"/>
          <p:nvPr/>
        </p:nvSpPr>
        <p:spPr>
          <a:xfrm>
            <a:off x="5806440" y="3749040"/>
            <a:ext cx="731520" cy="457200"/>
          </a:xfrm>
          <a:prstGeom prst="rect">
            <a:avLst/>
          </a:prstGeom>
          <a:noFill/>
          <a:ln/>
        </p:spPr>
        <p:txBody>
          <a:bodyPr wrap="square" lIns="38100" tIns="38100" rIns="38100" bIns="38100" rtlCol="0" anchor="ctr"/>
          <a:lstStyle/>
          <a:p>
            <a:pPr algn="ctr" indent="0" marL="0">
              <a:buNone/>
            </a:pPr>
            <a:r>
              <a:rPr lang="en-US" sz="1150" b="1" dirty="0">
                <a:solidFill>
                  <a:srgbClr val="212121"/>
                </a:solidFill>
                <a:latin typeface="Consolas" pitchFamily="34" charset="0"/>
                <a:ea typeface="Consolas" pitchFamily="34" charset="-122"/>
                <a:cs typeface="Consolas" pitchFamily="34" charset="-120"/>
              </a:rPr>
              <a:t>lib</a:t>
            </a:r>
            <a:endParaRPr lang="en-US" sz="1150" dirty="0"/>
          </a:p>
        </p:txBody>
      </p:sp>
      <p:sp>
        <p:nvSpPr>
          <p:cNvPr id="47" name="Shape 45"/>
          <p:cNvSpPr/>
          <p:nvPr/>
        </p:nvSpPr>
        <p:spPr>
          <a:xfrm>
            <a:off x="6067044" y="3291840"/>
            <a:ext cx="928116" cy="457200"/>
          </a:xfrm>
          <a:prstGeom prst="line">
            <a:avLst/>
          </a:prstGeom>
          <a:noFill/>
          <a:ln w="15875">
            <a:solidFill>
              <a:srgbClr val="50808E"/>
            </a:solidFill>
            <a:prstDash val="solid"/>
          </a:ln>
        </p:spPr>
        <p:txBody>
          <a:bodyPr/>
          <a:p/>
        </p:txBody>
      </p:sp>
      <p:sp>
        <p:nvSpPr>
          <p:cNvPr id="48" name="Shape 46"/>
          <p:cNvSpPr/>
          <p:nvPr/>
        </p:nvSpPr>
        <p:spPr>
          <a:xfrm>
            <a:off x="6629400" y="3749040"/>
            <a:ext cx="731520" cy="457200"/>
          </a:xfrm>
          <a:prstGeom prst="roundRect">
            <a:avLst>
              <a:gd name="adj" fmla="val 10000"/>
            </a:avLst>
          </a:prstGeom>
          <a:solidFill>
            <a:srgbClr val="D7E9E6"/>
          </a:solidFill>
          <a:ln/>
        </p:spPr>
        <p:txBody>
          <a:bodyPr/>
          <a:p/>
        </p:txBody>
      </p:sp>
      <p:sp>
        <p:nvSpPr>
          <p:cNvPr id="49" name="Text 47"/>
          <p:cNvSpPr txBox="1"/>
          <p:nvPr/>
        </p:nvSpPr>
        <p:spPr>
          <a:xfrm>
            <a:off x="6629400" y="3749040"/>
            <a:ext cx="731520" cy="457200"/>
          </a:xfrm>
          <a:prstGeom prst="rect">
            <a:avLst/>
          </a:prstGeom>
          <a:noFill/>
          <a:ln/>
        </p:spPr>
        <p:txBody>
          <a:bodyPr wrap="square" lIns="38100" tIns="38100" rIns="38100" bIns="38100" rtlCol="0" anchor="ctr"/>
          <a:lstStyle/>
          <a:p>
            <a:pPr algn="ctr" indent="0" marL="0">
              <a:buNone/>
            </a:pPr>
            <a:r>
              <a:rPr lang="en-US" sz="1150" b="1" dirty="0">
                <a:solidFill>
                  <a:srgbClr val="212121"/>
                </a:solidFill>
                <a:latin typeface="Consolas" pitchFamily="34" charset="0"/>
                <a:ea typeface="Consolas" pitchFamily="34" charset="-122"/>
                <a:cs typeface="Consolas" pitchFamily="34" charset="-120"/>
              </a:rPr>
              <a:t>share</a:t>
            </a:r>
            <a:endParaRPr lang="en-US" sz="1150" dirty="0"/>
          </a:p>
        </p:txBody>
      </p:sp>
      <p:sp>
        <p:nvSpPr>
          <p:cNvPr id="50" name="Shape 48"/>
          <p:cNvSpPr/>
          <p:nvPr/>
        </p:nvSpPr>
        <p:spPr>
          <a:xfrm>
            <a:off x="7575804" y="3291840"/>
            <a:ext cx="274320" cy="457200"/>
          </a:xfrm>
          <a:prstGeom prst="line">
            <a:avLst/>
          </a:prstGeom>
          <a:noFill/>
          <a:ln w="15875">
            <a:solidFill>
              <a:srgbClr val="50808E"/>
            </a:solidFill>
            <a:prstDash val="solid"/>
          </a:ln>
        </p:spPr>
        <p:txBody>
          <a:bodyPr/>
          <a:p/>
        </p:txBody>
      </p:sp>
      <p:sp>
        <p:nvSpPr>
          <p:cNvPr id="51" name="Shape 49"/>
          <p:cNvSpPr/>
          <p:nvPr/>
        </p:nvSpPr>
        <p:spPr>
          <a:xfrm>
            <a:off x="7484364" y="3749040"/>
            <a:ext cx="731520" cy="457200"/>
          </a:xfrm>
          <a:prstGeom prst="roundRect">
            <a:avLst>
              <a:gd name="adj" fmla="val 10000"/>
            </a:avLst>
          </a:prstGeom>
          <a:solidFill>
            <a:srgbClr val="D7E9E6"/>
          </a:solidFill>
          <a:ln/>
        </p:spPr>
        <p:txBody>
          <a:bodyPr/>
          <a:p/>
        </p:txBody>
      </p:sp>
      <p:sp>
        <p:nvSpPr>
          <p:cNvPr id="52" name="Text 50"/>
          <p:cNvSpPr txBox="1"/>
          <p:nvPr/>
        </p:nvSpPr>
        <p:spPr>
          <a:xfrm>
            <a:off x="7484364" y="3749040"/>
            <a:ext cx="731520" cy="457200"/>
          </a:xfrm>
          <a:prstGeom prst="rect">
            <a:avLst/>
          </a:prstGeom>
          <a:noFill/>
          <a:ln/>
        </p:spPr>
        <p:txBody>
          <a:bodyPr wrap="square" lIns="38100" tIns="38100" rIns="38100" bIns="38100" rtlCol="0" anchor="ctr"/>
          <a:lstStyle/>
          <a:p>
            <a:pPr algn="ctr" indent="0" marL="0">
              <a:buNone/>
            </a:pPr>
            <a:r>
              <a:rPr lang="en-US" sz="1150" b="1" dirty="0">
                <a:solidFill>
                  <a:srgbClr val="212121"/>
                </a:solidFill>
                <a:latin typeface="Consolas" pitchFamily="34" charset="0"/>
                <a:ea typeface="Consolas" pitchFamily="34" charset="-122"/>
                <a:cs typeface="Consolas" pitchFamily="34" charset="-120"/>
              </a:rPr>
              <a:t>log</a:t>
            </a:r>
            <a:endParaRPr lang="en-US" sz="1150" dirty="0"/>
          </a:p>
        </p:txBody>
      </p:sp>
      <p:sp>
        <p:nvSpPr>
          <p:cNvPr id="53" name="Text 51"/>
          <p:cNvSpPr txBox="1"/>
          <p:nvPr/>
        </p:nvSpPr>
        <p:spPr>
          <a:xfrm>
            <a:off x="548640" y="5074920"/>
            <a:ext cx="3840480" cy="320040"/>
          </a:xfrm>
          <a:prstGeom prst="rect">
            <a:avLst/>
          </a:prstGeom>
          <a:noFill/>
          <a:ln/>
        </p:spPr>
        <p:txBody>
          <a:bodyPr wrap="square" lIns="0" tIns="0" rIns="0" bIns="0" rtlCol="0" anchor="t"/>
          <a:lstStyle/>
          <a:p>
            <a:pPr indent="0" marL="0">
              <a:buNone/>
            </a:pPr>
            <a:r>
              <a:rPr lang="en-US" sz="1300" b="1" dirty="0">
                <a:solidFill>
                  <a:srgbClr val="028090"/>
                </a:solidFill>
                <a:latin typeface="Calibri" pitchFamily="34" charset="0"/>
                <a:ea typeface="Calibri" pitchFamily="34" charset="-122"/>
                <a:cs typeface="Calibri" pitchFamily="34" charset="-120"/>
              </a:rPr>
              <a:t>/home/student/lab  =  ~/lab</a:t>
            </a:r>
            <a:endParaRPr lang="en-US" sz="1300" dirty="0"/>
          </a:p>
        </p:txBody>
      </p:sp>
      <p:sp>
        <p:nvSpPr>
          <p:cNvPr id="54" name="Text 52"/>
          <p:cNvSpPr txBox="1"/>
          <p:nvPr/>
        </p:nvSpPr>
        <p:spPr>
          <a:xfrm>
            <a:off x="6583680" y="4526280"/>
            <a:ext cx="5029200" cy="320040"/>
          </a:xfrm>
          <a:prstGeom prst="rect">
            <a:avLst/>
          </a:prstGeom>
          <a:noFill/>
          <a:ln/>
        </p:spPr>
        <p:txBody>
          <a:bodyPr wrap="square" lIns="0" tIns="0" rIns="0" bIns="0" rtlCol="0" anchor="t"/>
          <a:lstStyle/>
          <a:p>
            <a:pPr algn="r" indent="0" marL="0">
              <a:buNone/>
            </a:pPr>
            <a:r>
              <a:rPr lang="en-US" sz="1200" i="1" dirty="0">
                <a:solidFill>
                  <a:srgbClr val="6B7679"/>
                </a:solidFill>
                <a:latin typeface="Calibri" pitchFamily="34" charset="0"/>
                <a:ea typeface="Calibri" pitchFamily="34" charset="-122"/>
                <a:cs typeface="Calibri" pitchFamily="34" charset="-120"/>
              </a:rPr>
              <a:t>grey = virtual: made by the kernel, not stored on the disk</a:t>
            </a:r>
            <a:endParaRPr lang="en-US" sz="1200" dirty="0"/>
          </a:p>
        </p:txBody>
      </p:sp>
      <p:sp>
        <p:nvSpPr>
          <p:cNvPr id="55" name="Shape 53"/>
          <p:cNvSpPr/>
          <p:nvPr/>
        </p:nvSpPr>
        <p:spPr>
          <a:xfrm>
            <a:off x="548640" y="5532120"/>
            <a:ext cx="11109960" cy="731520"/>
          </a:xfrm>
          <a:prstGeom prst="roundRect">
            <a:avLst>
              <a:gd name="adj" fmla="val 75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56" name="Text 54"/>
          <p:cNvSpPr txBox="1"/>
          <p:nvPr/>
        </p:nvSpPr>
        <p:spPr>
          <a:xfrm>
            <a:off x="777240" y="5532120"/>
            <a:ext cx="10652760" cy="73152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Everything — disks, USB sticks, even devices and kernel data — appears somewhere under the single root /. Windows has one tree per drive (C:\, 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 Tour of the Tree: /, /bin, /etc, /var, /tmp</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24</a:t>
            </a:r>
            <a:endParaRPr lang="en-US" sz="900" dirty="0"/>
          </a:p>
        </p:txBody>
      </p:sp>
      <p:sp>
        <p:nvSpPr>
          <p:cNvPr id="6" name="Shape 4"/>
          <p:cNvSpPr/>
          <p:nvPr/>
        </p:nvSpPr>
        <p:spPr>
          <a:xfrm>
            <a:off x="548640" y="1508760"/>
            <a:ext cx="7726680" cy="4754880"/>
          </a:xfrm>
          <a:prstGeom prst="roundRect">
            <a:avLst>
              <a:gd name="adj" fmla="val 962"/>
            </a:avLst>
          </a:prstGeom>
          <a:solidFill>
            <a:srgbClr val="212121"/>
          </a:solidFill>
          <a:ln/>
        </p:spPr>
        <p:txBody>
          <a:bodyPr/>
          <a:p/>
        </p:txBody>
      </p:sp>
      <p:sp>
        <p:nvSpPr>
          <p:cNvPr id="7" name="Text 5"/>
          <p:cNvSpPr txBox="1"/>
          <p:nvPr/>
        </p:nvSpPr>
        <p:spPr>
          <a:xfrm>
            <a:off x="731520" y="1618488"/>
            <a:ext cx="7360920" cy="4535424"/>
          </a:xfrm>
          <a:prstGeom prst="rect">
            <a:avLst/>
          </a:prstGeom>
          <a:noFill/>
          <a:ln/>
        </p:spPr>
        <p:txBody>
          <a:bodyPr wrap="square" lIns="0" tIns="0" rIns="0" bIns="0" rtlCol="0" anchor="t"/>
          <a:lstStyle/>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type ls</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ls is /usr/bin/ls</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cd /</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ls</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bin                etc                lib64       opt   sbin                tmp</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bin.usr-is-merged  home               lost+found  proc  sbin.usr-is-merged  usr</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boot               lib                media       root  srv                 var</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dev                lib.usr-is-merged  mnt         run   sys</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ls -ld /bin /sbin /lib</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lrwxrwxrwx 1 root root 7 Apr 22  2024 /bin -&gt; usr/bin</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lrwxrwxrwx 1 root root 7 Apr 22  2024 /lib -&gt; usr/lib</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lrwxrwxrwx 1 root root 8 Apr 22  2024 /sbin -&gt; usr/sbin</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ls -l /usr/bin/ls</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-rwxr-xr-x 1 root root 142312 Jan 23  2026 /usr/bin/ls</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head -n 4 /etc/os-release</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PRETTY_NAME="Ubuntu 24.04.4 LTS"</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NAME="Ubuntu"</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VERSION_ID="24.04"</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VERSION="24.04.4 LTS (Noble Numbat)"</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ls /var</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backups  cache  lib  local  lock  log  mail  opt  run  spool  tmp</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ls -ld /tmp</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drwxrwxrwt 16 root root 4096 Oct 12 08:49 /tmp</a:t>
            </a:r>
            <a:endParaRPr lang="en-US" sz="1000" dirty="0"/>
          </a:p>
        </p:txBody>
      </p:sp>
      <p:sp>
        <p:nvSpPr>
          <p:cNvPr id="8" name="Shape 6"/>
          <p:cNvSpPr/>
          <p:nvPr/>
        </p:nvSpPr>
        <p:spPr>
          <a:xfrm>
            <a:off x="8503920" y="1508760"/>
            <a:ext cx="3154680" cy="47548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732520" y="1691640"/>
            <a:ext cx="2697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732520" y="2148840"/>
            <a:ext cx="2697480" cy="397764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/bin -&gt; usr/bin:</a:t>
            </a:r>
            <a:r>
              <a:rPr lang="en-US" sz="1300" dirty="0">
                <a:solidFill>
                  <a:srgbClr val="3A464C"/>
                </a:solidFill>
                <a:latin typeface="Calibri" pitchFamily="34" charset="0"/>
                <a:ea typeface="Calibri" pitchFamily="34" charset="-122"/>
                <a:cs typeface="Calibri" pitchFamily="34" charset="-120"/>
              </a:rPr>
              <a:t> a symbolic link (l); programs really live in /usr/bin.</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/usr/bin/ls:</a:t>
            </a:r>
            <a:r>
              <a:rPr lang="en-US" sz="1300" dirty="0">
                <a:solidFill>
                  <a:srgbClr val="3A464C"/>
                </a:solidFill>
                <a:latin typeface="Calibri" pitchFamily="34" charset="0"/>
                <a:ea typeface="Calibri" pitchFamily="34" charset="-122"/>
                <a:cs typeface="Calibri" pitchFamily="34" charset="-120"/>
              </a:rPr>
              <a:t> the ls program is just a file (142,312 bytes).</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/etc:</a:t>
            </a:r>
            <a:r>
              <a:rPr lang="en-US" sz="1300" dirty="0">
                <a:solidFill>
                  <a:srgbClr val="3A464C"/>
                </a:solidFill>
                <a:latin typeface="Calibri" pitchFamily="34" charset="0"/>
                <a:ea typeface="Calibri" pitchFamily="34" charset="-122"/>
                <a:cs typeface="Calibri" pitchFamily="34" charset="-120"/>
              </a:rPr>
              <a:t> text configuration files — os-release names the distribution.</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/var:</a:t>
            </a:r>
            <a:r>
              <a:rPr lang="en-US" sz="1300" dirty="0">
                <a:solidFill>
                  <a:srgbClr val="3A464C"/>
                </a:solidFill>
                <a:latin typeface="Calibri" pitchFamily="34" charset="0"/>
                <a:ea typeface="Calibri" pitchFamily="34" charset="-122"/>
                <a:cs typeface="Calibri" pitchFamily="34" charset="-120"/>
              </a:rPr>
              <a:t> data that grows: log, cache, spool.</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/tmp:</a:t>
            </a:r>
            <a:r>
              <a:rPr lang="en-US" sz="1300" dirty="0">
                <a:solidFill>
                  <a:srgbClr val="3A464C"/>
                </a:solidFill>
                <a:latin typeface="Calibri" pitchFamily="34" charset="0"/>
                <a:ea typeface="Calibri" pitchFamily="34" charset="-122"/>
                <a:cs typeface="Calibri" pitchFamily="34" charset="-120"/>
              </a:rPr>
              <a:t> everyone may write (the t: sticky bit, Week 11).</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 · LINKS TO WEEKS 2 AND 3</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/dev and /proc: Devices and the Kernel as Files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25</a:t>
            </a:r>
            <a:endParaRPr lang="en-US" sz="900" dirty="0"/>
          </a:p>
        </p:txBody>
      </p:sp>
      <p:sp>
        <p:nvSpPr>
          <p:cNvPr id="6" name="Shape 4"/>
          <p:cNvSpPr/>
          <p:nvPr/>
        </p:nvSpPr>
        <p:spPr>
          <a:xfrm>
            <a:off x="548640" y="1508760"/>
            <a:ext cx="6400800" cy="4754880"/>
          </a:xfrm>
          <a:prstGeom prst="roundRect">
            <a:avLst>
              <a:gd name="adj" fmla="val 962"/>
            </a:avLst>
          </a:prstGeom>
          <a:solidFill>
            <a:srgbClr val="212121"/>
          </a:solidFill>
          <a:ln/>
        </p:spPr>
        <p:txBody>
          <a:bodyPr/>
          <a:p/>
        </p:txBody>
      </p:sp>
      <p:sp>
        <p:nvSpPr>
          <p:cNvPr id="7" name="Text 5"/>
          <p:cNvSpPr txBox="1"/>
          <p:nvPr/>
        </p:nvSpPr>
        <p:spPr>
          <a:xfrm>
            <a:off x="731520" y="1618488"/>
            <a:ext cx="6035040" cy="453542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ls -l /dev/null /dev/tty /dev/zero</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crw-rw-rw- 1 root root 1, 3 Oct  9 23:24 /dev/null</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crw-rw-rw- 1 root root 5, 0 Oct  9 23:24 /dev/tty</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crw-rw-rw- 1 root root 1, 5 Oct  9 23:24 /dev/zero</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head -n 3 /proc/meminfo</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MemTotal:        8222320 kB</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MemFree:         7069620 kB</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MemAvailable:    7539020 kB</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echo $$</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18432</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 </a:t>
            </a:r>
            <a:r>
              <a:rPr lang="en-US" sz="1200" b="1" dirty="0">
                <a:solidFill>
                  <a:srgbClr val="FFFFFF"/>
                </a:solidFill>
                <a:latin typeface="Consolas" pitchFamily="34" charset="0"/>
                <a:ea typeface="Consolas" pitchFamily="34" charset="-122"/>
                <a:cs typeface="Consolas" pitchFamily="34" charset="-120"/>
              </a:rPr>
              <a:t>head -n 7 /proc/$$/status</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Name:   bash</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Umask:  0002</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State:  S (sleeping)</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Tgid:   18432</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Ngid:   0</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Pid:    18432</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PPid:   18377</a:t>
            </a:r>
            <a:endParaRPr lang="en-US" sz="1200" dirty="0"/>
          </a:p>
        </p:txBody>
      </p:sp>
      <p:sp>
        <p:nvSpPr>
          <p:cNvPr id="8" name="Shape 6"/>
          <p:cNvSpPr/>
          <p:nvPr/>
        </p:nvSpPr>
        <p:spPr>
          <a:xfrm>
            <a:off x="7178040" y="1508760"/>
            <a:ext cx="4480560" cy="2194560"/>
          </a:xfrm>
          <a:prstGeom prst="roundRect">
            <a:avLst>
              <a:gd name="adj" fmla="val 25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406640" y="1691640"/>
            <a:ext cx="40233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/dev: device files</a:t>
            </a:r>
            <a:endParaRPr lang="en-US" sz="1500" dirty="0"/>
          </a:p>
        </p:txBody>
      </p:sp>
      <p:sp>
        <p:nvSpPr>
          <p:cNvPr id="10" name="Text 8"/>
          <p:cNvSpPr txBox="1"/>
          <p:nvPr/>
        </p:nvSpPr>
        <p:spPr>
          <a:xfrm>
            <a:off x="7406640" y="2148840"/>
            <a:ext cx="4023360" cy="141732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 = character device; "1, 3" are the driver numbers, not a size.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/dev/null swallows everything written to it (Week 12).</a:t>
            </a:r>
            <a:endParaRPr lang="en-US" sz="1300" dirty="0"/>
          </a:p>
        </p:txBody>
      </p:sp>
      <p:sp>
        <p:nvSpPr>
          <p:cNvPr id="11" name="Shape 9"/>
          <p:cNvSpPr/>
          <p:nvPr/>
        </p:nvSpPr>
        <p:spPr>
          <a:xfrm>
            <a:off x="7178040" y="3886200"/>
            <a:ext cx="448056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406640" y="4069080"/>
            <a:ext cx="40233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/proc: a window into the kernel</a:t>
            </a:r>
            <a:endParaRPr lang="en-US" sz="1500" dirty="0"/>
          </a:p>
        </p:txBody>
      </p:sp>
      <p:sp>
        <p:nvSpPr>
          <p:cNvPr id="13" name="Text 11"/>
          <p:cNvSpPr txBox="1"/>
          <p:nvPr/>
        </p:nvSpPr>
        <p:spPr>
          <a:xfrm>
            <a:off x="7406640" y="4526280"/>
            <a:ext cx="4023360" cy="160020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Not on disk: the kernel writes the text when you read it.</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 = PID of this shell. /proc/&lt;PID&gt;/status shows part of its PCB: name, state S (sleeping), PID, parent PID (Week 3).</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PATHS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Absolute and Relative Paths in ~/lab</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26</a:t>
            </a:r>
            <a:endParaRPr lang="en-US" sz="900" dirty="0"/>
          </a:p>
        </p:txBody>
      </p:sp>
      <p:sp>
        <p:nvSpPr>
          <p:cNvPr id="6" name="Shape 4"/>
          <p:cNvSpPr/>
          <p:nvPr/>
        </p:nvSpPr>
        <p:spPr>
          <a:xfrm>
            <a:off x="2926080" y="1600200"/>
            <a:ext cx="1828800" cy="420624"/>
          </a:xfrm>
          <a:prstGeom prst="roundRect">
            <a:avLst>
              <a:gd name="adj" fmla="val 10870"/>
            </a:avLst>
          </a:prstGeom>
          <a:solidFill>
            <a:srgbClr val="36454F"/>
          </a:solidFill>
          <a:ln/>
        </p:spPr>
        <p:txBody>
          <a:bodyPr/>
          <a:p/>
        </p:txBody>
      </p:sp>
      <p:sp>
        <p:nvSpPr>
          <p:cNvPr id="7" name="Text 5"/>
          <p:cNvSpPr txBox="1"/>
          <p:nvPr/>
        </p:nvSpPr>
        <p:spPr>
          <a:xfrm>
            <a:off x="2926080" y="1600200"/>
            <a:ext cx="1828800" cy="420624"/>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onsolas" pitchFamily="34" charset="0"/>
                <a:ea typeface="Consolas" pitchFamily="34" charset="-122"/>
                <a:cs typeface="Consolas" pitchFamily="34" charset="-120"/>
              </a:rPr>
              <a:t>/home/student</a:t>
            </a:r>
            <a:endParaRPr lang="en-US" sz="1250" dirty="0"/>
          </a:p>
        </p:txBody>
      </p:sp>
      <p:sp>
        <p:nvSpPr>
          <p:cNvPr id="8" name="Shape 6"/>
          <p:cNvSpPr/>
          <p:nvPr/>
        </p:nvSpPr>
        <p:spPr>
          <a:xfrm>
            <a:off x="3246120" y="2331720"/>
            <a:ext cx="1188720" cy="420624"/>
          </a:xfrm>
          <a:prstGeom prst="roundRect">
            <a:avLst>
              <a:gd name="adj" fmla="val 10870"/>
            </a:avLst>
          </a:prstGeom>
          <a:solidFill>
            <a:srgbClr val="D7E9E6"/>
          </a:solidFill>
          <a:ln/>
        </p:spPr>
        <p:txBody>
          <a:bodyPr/>
          <a:p/>
        </p:txBody>
      </p:sp>
      <p:sp>
        <p:nvSpPr>
          <p:cNvPr id="9" name="Text 7"/>
          <p:cNvSpPr txBox="1"/>
          <p:nvPr/>
        </p:nvSpPr>
        <p:spPr>
          <a:xfrm>
            <a:off x="3246120" y="2331720"/>
            <a:ext cx="1188720" cy="420624"/>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onsolas" pitchFamily="34" charset="0"/>
                <a:ea typeface="Consolas" pitchFamily="34" charset="-122"/>
                <a:cs typeface="Consolas" pitchFamily="34" charset="-120"/>
              </a:rPr>
              <a:t>lab</a:t>
            </a:r>
            <a:endParaRPr lang="en-US" sz="1250" dirty="0"/>
          </a:p>
        </p:txBody>
      </p:sp>
      <p:sp>
        <p:nvSpPr>
          <p:cNvPr id="10" name="Shape 8"/>
          <p:cNvSpPr/>
          <p:nvPr/>
        </p:nvSpPr>
        <p:spPr>
          <a:xfrm>
            <a:off x="3840480" y="2020824"/>
            <a:ext cx="91" cy="310896"/>
          </a:xfrm>
          <a:prstGeom prst="line">
            <a:avLst/>
          </a:prstGeom>
          <a:noFill/>
          <a:ln w="15875">
            <a:solidFill>
              <a:srgbClr val="50808E"/>
            </a:solidFill>
            <a:prstDash val="solid"/>
          </a:ln>
        </p:spPr>
        <p:txBody>
          <a:bodyPr/>
          <a:p/>
        </p:txBody>
      </p:sp>
      <p:sp>
        <p:nvSpPr>
          <p:cNvPr id="11" name="Shape 9"/>
          <p:cNvSpPr/>
          <p:nvPr/>
        </p:nvSpPr>
        <p:spPr>
          <a:xfrm>
            <a:off x="1280160" y="3063240"/>
            <a:ext cx="1188720" cy="420624"/>
          </a:xfrm>
          <a:prstGeom prst="roundRect">
            <a:avLst>
              <a:gd name="adj" fmla="val 10870"/>
            </a:avLst>
          </a:prstGeom>
          <a:solidFill>
            <a:srgbClr val="D7E9E6"/>
          </a:solidFill>
          <a:ln/>
        </p:spPr>
        <p:txBody>
          <a:bodyPr/>
          <a:p/>
        </p:txBody>
      </p:sp>
      <p:sp>
        <p:nvSpPr>
          <p:cNvPr id="12" name="Text 10"/>
          <p:cNvSpPr txBox="1"/>
          <p:nvPr/>
        </p:nvSpPr>
        <p:spPr>
          <a:xfrm>
            <a:off x="1280160" y="3063240"/>
            <a:ext cx="1188720" cy="420624"/>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onsolas" pitchFamily="34" charset="0"/>
                <a:ea typeface="Consolas" pitchFamily="34" charset="-122"/>
                <a:cs typeface="Consolas" pitchFamily="34" charset="-120"/>
              </a:rPr>
              <a:t>docs</a:t>
            </a:r>
            <a:endParaRPr lang="en-US" sz="1250" dirty="0"/>
          </a:p>
        </p:txBody>
      </p:sp>
      <p:sp>
        <p:nvSpPr>
          <p:cNvPr id="13" name="Shape 11"/>
          <p:cNvSpPr/>
          <p:nvPr/>
        </p:nvSpPr>
        <p:spPr>
          <a:xfrm>
            <a:off x="5120640" y="3063240"/>
            <a:ext cx="1188720" cy="420624"/>
          </a:xfrm>
          <a:prstGeom prst="roundRect">
            <a:avLst>
              <a:gd name="adj" fmla="val 10870"/>
            </a:avLst>
          </a:prstGeom>
          <a:solidFill>
            <a:srgbClr val="D7E9E6"/>
          </a:solidFill>
          <a:ln/>
        </p:spPr>
        <p:txBody>
          <a:bodyPr/>
          <a:p/>
        </p:txBody>
      </p:sp>
      <p:sp>
        <p:nvSpPr>
          <p:cNvPr id="14" name="Text 12"/>
          <p:cNvSpPr txBox="1"/>
          <p:nvPr/>
        </p:nvSpPr>
        <p:spPr>
          <a:xfrm>
            <a:off x="5120640" y="3063240"/>
            <a:ext cx="1188720" cy="420624"/>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onsolas" pitchFamily="34" charset="0"/>
                <a:ea typeface="Consolas" pitchFamily="34" charset="-122"/>
                <a:cs typeface="Consolas" pitchFamily="34" charset="-120"/>
              </a:rPr>
              <a:t>projects</a:t>
            </a:r>
            <a:endParaRPr lang="en-US" sz="1250" dirty="0"/>
          </a:p>
        </p:txBody>
      </p:sp>
      <p:sp>
        <p:nvSpPr>
          <p:cNvPr id="15" name="Shape 13"/>
          <p:cNvSpPr/>
          <p:nvPr/>
        </p:nvSpPr>
        <p:spPr>
          <a:xfrm flipH="1">
            <a:off x="1874520" y="2752344"/>
            <a:ext cx="1965960" cy="310896"/>
          </a:xfrm>
          <a:prstGeom prst="line">
            <a:avLst/>
          </a:prstGeom>
          <a:noFill/>
          <a:ln w="15875">
            <a:solidFill>
              <a:srgbClr val="50808E"/>
            </a:solidFill>
            <a:prstDash val="solid"/>
          </a:ln>
        </p:spPr>
        <p:txBody>
          <a:bodyPr/>
          <a:p/>
        </p:txBody>
      </p:sp>
      <p:sp>
        <p:nvSpPr>
          <p:cNvPr id="16" name="Shape 14"/>
          <p:cNvSpPr/>
          <p:nvPr/>
        </p:nvSpPr>
        <p:spPr>
          <a:xfrm>
            <a:off x="3840480" y="2752344"/>
            <a:ext cx="1874520" cy="310896"/>
          </a:xfrm>
          <a:prstGeom prst="line">
            <a:avLst/>
          </a:prstGeom>
          <a:noFill/>
          <a:ln w="15875">
            <a:solidFill>
              <a:srgbClr val="50808E"/>
            </a:solidFill>
            <a:prstDash val="solid"/>
          </a:ln>
        </p:spPr>
        <p:txBody>
          <a:bodyPr/>
          <a:p/>
        </p:txBody>
      </p:sp>
      <p:sp>
        <p:nvSpPr>
          <p:cNvPr id="17" name="Shape 15"/>
          <p:cNvSpPr/>
          <p:nvPr/>
        </p:nvSpPr>
        <p:spPr>
          <a:xfrm>
            <a:off x="3840480" y="3794760"/>
            <a:ext cx="1188720" cy="420624"/>
          </a:xfrm>
          <a:prstGeom prst="roundRect">
            <a:avLst>
              <a:gd name="adj" fmla="val 10870"/>
            </a:avLst>
          </a:prstGeom>
          <a:solidFill>
            <a:srgbClr val="D7E9E6"/>
          </a:solidFill>
          <a:ln/>
        </p:spPr>
        <p:txBody>
          <a:bodyPr/>
          <a:p/>
        </p:txBody>
      </p:sp>
      <p:sp>
        <p:nvSpPr>
          <p:cNvPr id="18" name="Text 16"/>
          <p:cNvSpPr txBox="1"/>
          <p:nvPr/>
        </p:nvSpPr>
        <p:spPr>
          <a:xfrm>
            <a:off x="3840480" y="3794760"/>
            <a:ext cx="1188720" cy="420624"/>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onsolas" pitchFamily="34" charset="0"/>
                <a:ea typeface="Consolas" pitchFamily="34" charset="-122"/>
                <a:cs typeface="Consolas" pitchFamily="34" charset="-120"/>
              </a:rPr>
              <a:t>alpha</a:t>
            </a:r>
            <a:endParaRPr lang="en-US" sz="1250" dirty="0"/>
          </a:p>
        </p:txBody>
      </p:sp>
      <p:sp>
        <p:nvSpPr>
          <p:cNvPr id="19" name="Shape 17"/>
          <p:cNvSpPr/>
          <p:nvPr/>
        </p:nvSpPr>
        <p:spPr>
          <a:xfrm>
            <a:off x="6309360" y="3794760"/>
            <a:ext cx="1188720" cy="420624"/>
          </a:xfrm>
          <a:prstGeom prst="roundRect">
            <a:avLst>
              <a:gd name="adj" fmla="val 10870"/>
            </a:avLst>
          </a:prstGeom>
          <a:solidFill>
            <a:srgbClr val="D7E9E6"/>
          </a:solidFill>
          <a:ln/>
        </p:spPr>
        <p:txBody>
          <a:bodyPr/>
          <a:p/>
        </p:txBody>
      </p:sp>
      <p:sp>
        <p:nvSpPr>
          <p:cNvPr id="20" name="Text 18"/>
          <p:cNvSpPr txBox="1"/>
          <p:nvPr/>
        </p:nvSpPr>
        <p:spPr>
          <a:xfrm>
            <a:off x="6309360" y="3794760"/>
            <a:ext cx="1188720" cy="420624"/>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onsolas" pitchFamily="34" charset="0"/>
                <a:ea typeface="Consolas" pitchFamily="34" charset="-122"/>
                <a:cs typeface="Consolas" pitchFamily="34" charset="-120"/>
              </a:rPr>
              <a:t>beta</a:t>
            </a:r>
            <a:endParaRPr lang="en-US" sz="1250" dirty="0"/>
          </a:p>
        </p:txBody>
      </p:sp>
      <p:sp>
        <p:nvSpPr>
          <p:cNvPr id="21" name="Shape 19"/>
          <p:cNvSpPr/>
          <p:nvPr/>
        </p:nvSpPr>
        <p:spPr>
          <a:xfrm flipH="1">
            <a:off x="4434840" y="3483864"/>
            <a:ext cx="1280160" cy="310896"/>
          </a:xfrm>
          <a:prstGeom prst="line">
            <a:avLst/>
          </a:prstGeom>
          <a:noFill/>
          <a:ln w="15875">
            <a:solidFill>
              <a:srgbClr val="50808E"/>
            </a:solidFill>
            <a:prstDash val="solid"/>
          </a:ln>
        </p:spPr>
        <p:txBody>
          <a:bodyPr/>
          <a:p/>
        </p:txBody>
      </p:sp>
      <p:sp>
        <p:nvSpPr>
          <p:cNvPr id="22" name="Shape 20"/>
          <p:cNvSpPr/>
          <p:nvPr/>
        </p:nvSpPr>
        <p:spPr>
          <a:xfrm>
            <a:off x="5715000" y="3483864"/>
            <a:ext cx="1188720" cy="310896"/>
          </a:xfrm>
          <a:prstGeom prst="line">
            <a:avLst/>
          </a:prstGeom>
          <a:noFill/>
          <a:ln w="15875">
            <a:solidFill>
              <a:srgbClr val="50808E"/>
            </a:solidFill>
            <a:prstDash val="solid"/>
          </a:ln>
        </p:spPr>
        <p:txBody>
          <a:bodyPr/>
          <a:p/>
        </p:txBody>
      </p:sp>
      <p:sp>
        <p:nvSpPr>
          <p:cNvPr id="23" name="Shape 21"/>
          <p:cNvSpPr/>
          <p:nvPr/>
        </p:nvSpPr>
        <p:spPr>
          <a:xfrm>
            <a:off x="3154680" y="4526280"/>
            <a:ext cx="1188720" cy="420624"/>
          </a:xfrm>
          <a:prstGeom prst="roundRect">
            <a:avLst>
              <a:gd name="adj" fmla="val 10870"/>
            </a:avLst>
          </a:prstGeom>
          <a:solidFill>
            <a:srgbClr val="02C39A"/>
          </a:solidFill>
          <a:ln/>
        </p:spPr>
        <p:txBody>
          <a:bodyPr/>
          <a:p/>
        </p:txBody>
      </p:sp>
      <p:sp>
        <p:nvSpPr>
          <p:cNvPr id="24" name="Text 22"/>
          <p:cNvSpPr txBox="1"/>
          <p:nvPr/>
        </p:nvSpPr>
        <p:spPr>
          <a:xfrm>
            <a:off x="3154680" y="4526280"/>
            <a:ext cx="1188720" cy="420624"/>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onsolas" pitchFamily="34" charset="0"/>
                <a:ea typeface="Consolas" pitchFamily="34" charset="-122"/>
                <a:cs typeface="Consolas" pitchFamily="34" charset="-120"/>
              </a:rPr>
              <a:t>src</a:t>
            </a:r>
            <a:endParaRPr lang="en-US" sz="1250" dirty="0"/>
          </a:p>
        </p:txBody>
      </p:sp>
      <p:sp>
        <p:nvSpPr>
          <p:cNvPr id="25" name="Shape 23"/>
          <p:cNvSpPr/>
          <p:nvPr/>
        </p:nvSpPr>
        <p:spPr>
          <a:xfrm>
            <a:off x="4526280" y="4526280"/>
            <a:ext cx="1188720" cy="420624"/>
          </a:xfrm>
          <a:prstGeom prst="roundRect">
            <a:avLst>
              <a:gd name="adj" fmla="val 10870"/>
            </a:avLst>
          </a:prstGeom>
          <a:solidFill>
            <a:srgbClr val="D7E9E6"/>
          </a:solidFill>
          <a:ln/>
        </p:spPr>
        <p:txBody>
          <a:bodyPr/>
          <a:p/>
        </p:txBody>
      </p:sp>
      <p:sp>
        <p:nvSpPr>
          <p:cNvPr id="26" name="Text 24"/>
          <p:cNvSpPr txBox="1"/>
          <p:nvPr/>
        </p:nvSpPr>
        <p:spPr>
          <a:xfrm>
            <a:off x="4526280" y="4526280"/>
            <a:ext cx="1188720" cy="420624"/>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onsolas" pitchFamily="34" charset="0"/>
                <a:ea typeface="Consolas" pitchFamily="34" charset="-122"/>
                <a:cs typeface="Consolas" pitchFamily="34" charset="-120"/>
              </a:rPr>
              <a:t>docs</a:t>
            </a:r>
            <a:endParaRPr lang="en-US" sz="1250" dirty="0"/>
          </a:p>
        </p:txBody>
      </p:sp>
      <p:sp>
        <p:nvSpPr>
          <p:cNvPr id="27" name="Shape 25"/>
          <p:cNvSpPr/>
          <p:nvPr/>
        </p:nvSpPr>
        <p:spPr>
          <a:xfrm>
            <a:off x="5623560" y="4526280"/>
            <a:ext cx="1188720" cy="420624"/>
          </a:xfrm>
          <a:prstGeom prst="roundRect">
            <a:avLst>
              <a:gd name="adj" fmla="val 10870"/>
            </a:avLst>
          </a:prstGeom>
          <a:solidFill>
            <a:srgbClr val="D7E9E6"/>
          </a:solidFill>
          <a:ln/>
        </p:spPr>
        <p:txBody>
          <a:bodyPr/>
          <a:p/>
        </p:txBody>
      </p:sp>
      <p:sp>
        <p:nvSpPr>
          <p:cNvPr id="28" name="Text 26"/>
          <p:cNvSpPr txBox="1"/>
          <p:nvPr/>
        </p:nvSpPr>
        <p:spPr>
          <a:xfrm>
            <a:off x="5623560" y="4526280"/>
            <a:ext cx="1188720" cy="420624"/>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onsolas" pitchFamily="34" charset="0"/>
                <a:ea typeface="Consolas" pitchFamily="34" charset="-122"/>
                <a:cs typeface="Consolas" pitchFamily="34" charset="-120"/>
              </a:rPr>
              <a:t>src</a:t>
            </a:r>
            <a:endParaRPr lang="en-US" sz="1250" dirty="0"/>
          </a:p>
        </p:txBody>
      </p:sp>
      <p:sp>
        <p:nvSpPr>
          <p:cNvPr id="29" name="Shape 27"/>
          <p:cNvSpPr/>
          <p:nvPr/>
        </p:nvSpPr>
        <p:spPr>
          <a:xfrm>
            <a:off x="6995160" y="4526280"/>
            <a:ext cx="1188720" cy="420624"/>
          </a:xfrm>
          <a:prstGeom prst="roundRect">
            <a:avLst>
              <a:gd name="adj" fmla="val 10870"/>
            </a:avLst>
          </a:prstGeom>
          <a:solidFill>
            <a:srgbClr val="02C39A"/>
          </a:solidFill>
          <a:ln/>
        </p:spPr>
        <p:txBody>
          <a:bodyPr/>
          <a:p/>
        </p:txBody>
      </p:sp>
      <p:sp>
        <p:nvSpPr>
          <p:cNvPr id="30" name="Text 28"/>
          <p:cNvSpPr txBox="1"/>
          <p:nvPr/>
        </p:nvSpPr>
        <p:spPr>
          <a:xfrm>
            <a:off x="6995160" y="4526280"/>
            <a:ext cx="1188720" cy="420624"/>
          </a:xfrm>
          <a:prstGeom prst="rect">
            <a:avLst/>
          </a:prstGeom>
          <a:noFill/>
          <a:ln/>
        </p:spPr>
        <p:txBody>
          <a:bodyPr wrap="square" lIns="38100" tIns="38100" rIns="38100" bIns="38100" rtlCol="0" anchor="ctr"/>
          <a:lstStyle/>
          <a:p>
            <a:pPr algn="ctr" indent="0" marL="0">
              <a:buNone/>
            </a:pPr>
            <a:r>
              <a:rPr lang="en-US" sz="1250" b="1" dirty="0">
                <a:solidFill>
                  <a:srgbClr val="212121"/>
                </a:solidFill>
                <a:latin typeface="Consolas" pitchFamily="34" charset="0"/>
                <a:ea typeface="Consolas" pitchFamily="34" charset="-122"/>
                <a:cs typeface="Consolas" pitchFamily="34" charset="-120"/>
              </a:rPr>
              <a:t>docs</a:t>
            </a:r>
            <a:endParaRPr lang="en-US" sz="1250" dirty="0"/>
          </a:p>
        </p:txBody>
      </p:sp>
      <p:sp>
        <p:nvSpPr>
          <p:cNvPr id="31" name="Shape 29"/>
          <p:cNvSpPr/>
          <p:nvPr/>
        </p:nvSpPr>
        <p:spPr>
          <a:xfrm flipH="1">
            <a:off x="3749040" y="4215384"/>
            <a:ext cx="685800" cy="310896"/>
          </a:xfrm>
          <a:prstGeom prst="line">
            <a:avLst/>
          </a:prstGeom>
          <a:noFill/>
          <a:ln w="15875">
            <a:solidFill>
              <a:srgbClr val="50808E"/>
            </a:solidFill>
            <a:prstDash val="solid"/>
          </a:ln>
        </p:spPr>
        <p:txBody>
          <a:bodyPr/>
          <a:p/>
        </p:txBody>
      </p:sp>
      <p:sp>
        <p:nvSpPr>
          <p:cNvPr id="32" name="Shape 30"/>
          <p:cNvSpPr/>
          <p:nvPr/>
        </p:nvSpPr>
        <p:spPr>
          <a:xfrm>
            <a:off x="4434840" y="4215384"/>
            <a:ext cx="685800" cy="310896"/>
          </a:xfrm>
          <a:prstGeom prst="line">
            <a:avLst/>
          </a:prstGeom>
          <a:noFill/>
          <a:ln w="15875">
            <a:solidFill>
              <a:srgbClr val="50808E"/>
            </a:solidFill>
            <a:prstDash val="solid"/>
          </a:ln>
        </p:spPr>
        <p:txBody>
          <a:bodyPr/>
          <a:p/>
        </p:txBody>
      </p:sp>
      <p:sp>
        <p:nvSpPr>
          <p:cNvPr id="33" name="Shape 31"/>
          <p:cNvSpPr/>
          <p:nvPr/>
        </p:nvSpPr>
        <p:spPr>
          <a:xfrm flipH="1">
            <a:off x="6217920" y="4215384"/>
            <a:ext cx="685800" cy="310896"/>
          </a:xfrm>
          <a:prstGeom prst="line">
            <a:avLst/>
          </a:prstGeom>
          <a:noFill/>
          <a:ln w="15875">
            <a:solidFill>
              <a:srgbClr val="50808E"/>
            </a:solidFill>
            <a:prstDash val="solid"/>
          </a:ln>
        </p:spPr>
        <p:txBody>
          <a:bodyPr/>
          <a:p/>
        </p:txBody>
      </p:sp>
      <p:sp>
        <p:nvSpPr>
          <p:cNvPr id="34" name="Shape 32"/>
          <p:cNvSpPr/>
          <p:nvPr/>
        </p:nvSpPr>
        <p:spPr>
          <a:xfrm>
            <a:off x="6903720" y="4215384"/>
            <a:ext cx="685800" cy="310896"/>
          </a:xfrm>
          <a:prstGeom prst="line">
            <a:avLst/>
          </a:prstGeom>
          <a:noFill/>
          <a:ln w="15875">
            <a:solidFill>
              <a:srgbClr val="50808E"/>
            </a:solidFill>
            <a:prstDash val="solid"/>
          </a:ln>
        </p:spPr>
        <p:txBody>
          <a:bodyPr/>
          <a:p/>
        </p:txBody>
      </p:sp>
      <p:sp>
        <p:nvSpPr>
          <p:cNvPr id="35" name="Shape 33"/>
          <p:cNvSpPr/>
          <p:nvPr/>
        </p:nvSpPr>
        <p:spPr>
          <a:xfrm flipV="1">
            <a:off x="3474720" y="4251960"/>
            <a:ext cx="548640" cy="256032"/>
          </a:xfrm>
          <a:prstGeom prst="line">
            <a:avLst/>
          </a:prstGeom>
          <a:noFill/>
          <a:ln w="28575">
            <a:solidFill>
              <a:srgbClr val="B5453A"/>
            </a:solidFill>
            <a:prstDash val="solid"/>
            <a:tailEnd type="triangle"/>
          </a:ln>
        </p:spPr>
        <p:txBody>
          <a:bodyPr/>
          <a:p/>
        </p:txBody>
      </p:sp>
      <p:sp>
        <p:nvSpPr>
          <p:cNvPr id="36" name="Shape 34"/>
          <p:cNvSpPr/>
          <p:nvPr/>
        </p:nvSpPr>
        <p:spPr>
          <a:xfrm flipV="1">
            <a:off x="4663440" y="3520440"/>
            <a:ext cx="640080" cy="256032"/>
          </a:xfrm>
          <a:prstGeom prst="line">
            <a:avLst/>
          </a:prstGeom>
          <a:noFill/>
          <a:ln w="28575">
            <a:solidFill>
              <a:srgbClr val="B5453A"/>
            </a:solidFill>
            <a:prstDash val="solid"/>
            <a:tailEnd type="triangle"/>
          </a:ln>
        </p:spPr>
        <p:txBody>
          <a:bodyPr/>
          <a:p/>
        </p:txBody>
      </p:sp>
      <p:sp>
        <p:nvSpPr>
          <p:cNvPr id="37" name="Shape 35"/>
          <p:cNvSpPr/>
          <p:nvPr/>
        </p:nvSpPr>
        <p:spPr>
          <a:xfrm>
            <a:off x="6172200" y="3520440"/>
            <a:ext cx="548640" cy="256032"/>
          </a:xfrm>
          <a:prstGeom prst="line">
            <a:avLst/>
          </a:prstGeom>
          <a:noFill/>
          <a:ln w="28575">
            <a:solidFill>
              <a:srgbClr val="B5453A"/>
            </a:solidFill>
            <a:prstDash val="solid"/>
            <a:tailEnd type="triangle"/>
          </a:ln>
        </p:spPr>
        <p:txBody>
          <a:bodyPr/>
          <a:p/>
        </p:txBody>
      </p:sp>
      <p:sp>
        <p:nvSpPr>
          <p:cNvPr id="38" name="Shape 36"/>
          <p:cNvSpPr/>
          <p:nvPr/>
        </p:nvSpPr>
        <p:spPr>
          <a:xfrm>
            <a:off x="7178040" y="4251960"/>
            <a:ext cx="274320" cy="256032"/>
          </a:xfrm>
          <a:prstGeom prst="line">
            <a:avLst/>
          </a:prstGeom>
          <a:noFill/>
          <a:ln w="28575">
            <a:solidFill>
              <a:srgbClr val="B5453A"/>
            </a:solidFill>
            <a:prstDash val="solid"/>
            <a:tailEnd type="triangle"/>
          </a:ln>
        </p:spPr>
        <p:txBody>
          <a:bodyPr/>
          <a:p/>
        </p:txBody>
      </p:sp>
      <p:sp>
        <p:nvSpPr>
          <p:cNvPr id="39" name="Text 37"/>
          <p:cNvSpPr txBox="1"/>
          <p:nvPr/>
        </p:nvSpPr>
        <p:spPr>
          <a:xfrm>
            <a:off x="3246120" y="4069080"/>
            <a:ext cx="457200" cy="274320"/>
          </a:xfrm>
          <a:prstGeom prst="rect">
            <a:avLst/>
          </a:prstGeom>
          <a:noFill/>
          <a:ln/>
        </p:spPr>
        <p:txBody>
          <a:bodyPr wrap="square" lIns="0" tIns="0" rIns="0" bIns="0" rtlCol="0" anchor="t"/>
          <a:lstStyle/>
          <a:p>
            <a:pPr indent="0" marL="0">
              <a:buNone/>
            </a:pPr>
            <a:r>
              <a:rPr lang="en-US" sz="1400" b="1" dirty="0">
                <a:solidFill>
                  <a:srgbClr val="B5453A"/>
                </a:solidFill>
                <a:latin typeface="Calibri" pitchFamily="34" charset="0"/>
                <a:ea typeface="Calibri" pitchFamily="34" charset="-122"/>
                <a:cs typeface="Calibri" pitchFamily="34" charset="-120"/>
              </a:rPr>
              <a:t>..</a:t>
            </a:r>
            <a:endParaRPr lang="en-US" sz="1400" dirty="0"/>
          </a:p>
        </p:txBody>
      </p:sp>
      <p:sp>
        <p:nvSpPr>
          <p:cNvPr id="40" name="Text 38"/>
          <p:cNvSpPr txBox="1"/>
          <p:nvPr/>
        </p:nvSpPr>
        <p:spPr>
          <a:xfrm>
            <a:off x="4434840" y="3337560"/>
            <a:ext cx="457200" cy="274320"/>
          </a:xfrm>
          <a:prstGeom prst="rect">
            <a:avLst/>
          </a:prstGeom>
          <a:noFill/>
          <a:ln/>
        </p:spPr>
        <p:txBody>
          <a:bodyPr wrap="square" lIns="0" tIns="0" rIns="0" bIns="0" rtlCol="0" anchor="t"/>
          <a:lstStyle/>
          <a:p>
            <a:pPr indent="0" marL="0">
              <a:buNone/>
            </a:pPr>
            <a:r>
              <a:rPr lang="en-US" sz="1400" b="1" dirty="0">
                <a:solidFill>
                  <a:srgbClr val="B5453A"/>
                </a:solidFill>
                <a:latin typeface="Calibri" pitchFamily="34" charset="0"/>
                <a:ea typeface="Calibri" pitchFamily="34" charset="-122"/>
                <a:cs typeface="Calibri" pitchFamily="34" charset="-120"/>
              </a:rPr>
              <a:t>..</a:t>
            </a:r>
            <a:endParaRPr lang="en-US" sz="1400" dirty="0"/>
          </a:p>
        </p:txBody>
      </p:sp>
      <p:sp>
        <p:nvSpPr>
          <p:cNvPr id="41" name="Text 39"/>
          <p:cNvSpPr txBox="1"/>
          <p:nvPr/>
        </p:nvSpPr>
        <p:spPr>
          <a:xfrm>
            <a:off x="6583680" y="3474720"/>
            <a:ext cx="640080" cy="274320"/>
          </a:xfrm>
          <a:prstGeom prst="rect">
            <a:avLst/>
          </a:prstGeom>
          <a:noFill/>
          <a:ln/>
        </p:spPr>
        <p:txBody>
          <a:bodyPr wrap="square" lIns="0" tIns="0" rIns="0" bIns="0" rtlCol="0" anchor="t"/>
          <a:lstStyle/>
          <a:p>
            <a:pPr indent="0" marL="0">
              <a:buNone/>
            </a:pPr>
            <a:r>
              <a:rPr lang="en-US" sz="1200" b="1" dirty="0">
                <a:solidFill>
                  <a:srgbClr val="B5453A"/>
                </a:solidFill>
                <a:latin typeface="Calibri" pitchFamily="34" charset="0"/>
                <a:ea typeface="Calibri" pitchFamily="34" charset="-122"/>
                <a:cs typeface="Calibri" pitchFamily="34" charset="-120"/>
              </a:rPr>
              <a:t>beta</a:t>
            </a:r>
            <a:endParaRPr lang="en-US" sz="1200" dirty="0"/>
          </a:p>
        </p:txBody>
      </p:sp>
      <p:sp>
        <p:nvSpPr>
          <p:cNvPr id="42" name="Text 40"/>
          <p:cNvSpPr txBox="1"/>
          <p:nvPr/>
        </p:nvSpPr>
        <p:spPr>
          <a:xfrm>
            <a:off x="7498080" y="4297680"/>
            <a:ext cx="640080" cy="274320"/>
          </a:xfrm>
          <a:prstGeom prst="rect">
            <a:avLst/>
          </a:prstGeom>
          <a:noFill/>
          <a:ln/>
        </p:spPr>
        <p:txBody>
          <a:bodyPr wrap="square" lIns="0" tIns="0" rIns="0" bIns="0" rtlCol="0" anchor="t"/>
          <a:lstStyle/>
          <a:p>
            <a:pPr indent="0" marL="0">
              <a:buNone/>
            </a:pPr>
            <a:r>
              <a:rPr lang="en-US" sz="1200" b="1" dirty="0">
                <a:solidFill>
                  <a:srgbClr val="B5453A"/>
                </a:solidFill>
                <a:latin typeface="Calibri" pitchFamily="34" charset="0"/>
                <a:ea typeface="Calibri" pitchFamily="34" charset="-122"/>
                <a:cs typeface="Calibri" pitchFamily="34" charset="-120"/>
              </a:rPr>
              <a:t>docs</a:t>
            </a:r>
            <a:endParaRPr lang="en-US" sz="1200" dirty="0"/>
          </a:p>
        </p:txBody>
      </p:sp>
      <p:sp>
        <p:nvSpPr>
          <p:cNvPr id="43" name="Text 41"/>
          <p:cNvSpPr txBox="1"/>
          <p:nvPr/>
        </p:nvSpPr>
        <p:spPr>
          <a:xfrm>
            <a:off x="548640" y="5166360"/>
            <a:ext cx="7498080" cy="320040"/>
          </a:xfrm>
          <a:prstGeom prst="rect">
            <a:avLst/>
          </a:prstGeom>
          <a:noFill/>
          <a:ln/>
        </p:spPr>
        <p:txBody>
          <a:bodyPr wrap="square" lIns="0" tIns="0" rIns="0" bIns="0" rtlCol="0" anchor="t"/>
          <a:lstStyle/>
          <a:p>
            <a:pPr indent="0" marL="0">
              <a:buNone/>
            </a:pPr>
            <a:r>
              <a:rPr lang="en-US" sz="1300" b="1" dirty="0">
                <a:solidFill>
                  <a:srgbClr val="B5453A"/>
                </a:solidFill>
                <a:latin typeface="Calibri" pitchFamily="34" charset="0"/>
                <a:ea typeface="Calibri" pitchFamily="34" charset="-122"/>
                <a:cs typeface="Calibri" pitchFamily="34" charset="-120"/>
              </a:rPr>
              <a:t>from projects/alpha/src to projects/beta/docs:  ../../beta/docs</a:t>
            </a:r>
            <a:endParaRPr lang="en-US" sz="1300" dirty="0"/>
          </a:p>
        </p:txBody>
      </p:sp>
      <p:sp>
        <p:nvSpPr>
          <p:cNvPr id="44" name="Shape 42"/>
          <p:cNvSpPr/>
          <p:nvPr/>
        </p:nvSpPr>
        <p:spPr>
          <a:xfrm>
            <a:off x="8275320" y="1508760"/>
            <a:ext cx="338328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5" name="Text 43"/>
          <p:cNvSpPr txBox="1"/>
          <p:nvPr/>
        </p:nvSpPr>
        <p:spPr>
          <a:xfrm>
            <a:off x="8503920" y="1691640"/>
            <a:ext cx="2926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Absolute</a:t>
            </a:r>
            <a:endParaRPr lang="en-US" sz="1500" dirty="0"/>
          </a:p>
        </p:txBody>
      </p:sp>
      <p:sp>
        <p:nvSpPr>
          <p:cNvPr id="46" name="Text 44"/>
          <p:cNvSpPr txBox="1"/>
          <p:nvPr/>
        </p:nvSpPr>
        <p:spPr>
          <a:xfrm>
            <a:off x="8503920" y="2148840"/>
            <a:ext cx="2926080" cy="155448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Starts with / (or ~).</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Same meaning from anywhere.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/home/student/lab/projects/beta/docs</a:t>
            </a:r>
            <a:endParaRPr lang="en-US" sz="1300" dirty="0"/>
          </a:p>
        </p:txBody>
      </p:sp>
      <p:sp>
        <p:nvSpPr>
          <p:cNvPr id="47" name="Shape 45"/>
          <p:cNvSpPr/>
          <p:nvPr/>
        </p:nvSpPr>
        <p:spPr>
          <a:xfrm>
            <a:off x="8275320" y="4023360"/>
            <a:ext cx="338328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8" name="Text 46"/>
          <p:cNvSpPr txBox="1"/>
          <p:nvPr/>
        </p:nvSpPr>
        <p:spPr>
          <a:xfrm>
            <a:off x="8503920" y="4206240"/>
            <a:ext cx="2926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Relative</a:t>
            </a:r>
            <a:endParaRPr lang="en-US" sz="1500" dirty="0"/>
          </a:p>
        </p:txBody>
      </p:sp>
      <p:sp>
        <p:nvSpPr>
          <p:cNvPr id="49" name="Text 47"/>
          <p:cNvSpPr txBox="1"/>
          <p:nvPr/>
        </p:nvSpPr>
        <p:spPr>
          <a:xfrm>
            <a:off x="8503920" y="4663440"/>
            <a:ext cx="2926080" cy="14630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No leading /: starts at the current directory.</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 = one level up.</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Short, but depends on where you are.</a:t>
            </a:r>
            <a:endParaRPr lang="en-US" sz="1300" dirty="0"/>
          </a:p>
        </p:txBody>
      </p:sp>
      <p:sp>
        <p:nvSpPr>
          <p:cNvPr id="50" name="Shape 48"/>
          <p:cNvSpPr/>
          <p:nvPr/>
        </p:nvSpPr>
        <p:spPr>
          <a:xfrm>
            <a:off x="548640" y="5577840"/>
            <a:ext cx="7498080" cy="685800"/>
          </a:xfrm>
          <a:prstGeom prst="roundRect">
            <a:avLst>
              <a:gd name="adj" fmla="val 8000"/>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51" name="Text 49"/>
          <p:cNvSpPr txBox="1"/>
          <p:nvPr/>
        </p:nvSpPr>
        <p:spPr>
          <a:xfrm>
            <a:off x="777240" y="5577840"/>
            <a:ext cx="7040880" cy="685800"/>
          </a:xfrm>
          <a:prstGeom prst="rect">
            <a:avLst/>
          </a:prstGeom>
          <a:noFill/>
          <a:ln/>
        </p:spPr>
        <p:txBody>
          <a:bodyPr wrap="square" lIns="0" tIns="0" rIns="0" bIns="0" rtlCol="0" anchor="ctr"/>
          <a:lstStyle/>
          <a:p>
            <a:pPr indent="0" marL="0">
              <a:buNone/>
            </a:pPr>
            <a:r>
              <a:rPr lang="en-US" sz="1300" dirty="0">
                <a:solidFill>
                  <a:srgbClr val="F2F2F2"/>
                </a:solidFill>
                <a:latin typeface="Calibri" pitchFamily="34" charset="0"/>
                <a:ea typeface="Calibri" pitchFamily="34" charset="-122"/>
                <a:cs typeface="Calibri" pitchFamily="34" charset="-120"/>
              </a:rPr>
              <a:t>Same idea as Week 7: an absolute path walks from the root, a relative path from the current directory.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cd: Change Directory</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27</a:t>
            </a:r>
            <a:endParaRPr lang="en-US" sz="900" dirty="0"/>
          </a:p>
        </p:txBody>
      </p:sp>
      <p:sp>
        <p:nvSpPr>
          <p:cNvPr id="6" name="Shape 4"/>
          <p:cNvSpPr/>
          <p:nvPr/>
        </p:nvSpPr>
        <p:spPr>
          <a:xfrm>
            <a:off x="548640" y="1508760"/>
            <a:ext cx="7086600" cy="4754880"/>
          </a:xfrm>
          <a:prstGeom prst="roundRect">
            <a:avLst>
              <a:gd name="adj" fmla="val 962"/>
            </a:avLst>
          </a:prstGeom>
          <a:solidFill>
            <a:srgbClr val="212121"/>
          </a:solidFill>
          <a:ln/>
        </p:spPr>
        <p:txBody>
          <a:bodyPr/>
          <a:p/>
        </p:txBody>
      </p:sp>
      <p:sp>
        <p:nvSpPr>
          <p:cNvPr id="7" name="Text 5"/>
          <p:cNvSpPr txBox="1"/>
          <p:nvPr/>
        </p:nvSpPr>
        <p:spPr>
          <a:xfrm>
            <a:off x="731520" y="1618488"/>
            <a:ext cx="6720840" cy="4535424"/>
          </a:xfrm>
          <a:prstGeom prst="rect">
            <a:avLst/>
          </a:prstGeom>
          <a:noFill/>
          <a:ln/>
        </p:spPr>
        <p:txBody>
          <a:bodyPr wrap="square" lIns="0" tIns="0" rIns="0" bIns="0" rtlCol="0" anchor="t"/>
          <a:lstStyle/>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cd projects/alpha/src</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student@okan-lab:~/lab/projects/alpha/src$ </a:t>
            </a:r>
            <a:r>
              <a:rPr lang="en-US" sz="1050" b="1" dirty="0">
                <a:solidFill>
                  <a:srgbClr val="FFFFFF"/>
                </a:solidFill>
                <a:latin typeface="Consolas" pitchFamily="34" charset="0"/>
                <a:ea typeface="Consolas" pitchFamily="34" charset="-122"/>
                <a:cs typeface="Consolas" pitchFamily="34" charset="-120"/>
              </a:rPr>
              <a:t>pwd</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/home/student/lab/projects/alpha/src</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student@okan-lab:~/lab/projects/alpha/src$ </a:t>
            </a:r>
            <a:r>
              <a:rPr lang="en-US" sz="1050" b="1" dirty="0">
                <a:solidFill>
                  <a:srgbClr val="FFFFFF"/>
                </a:solidFill>
                <a:latin typeface="Consolas" pitchFamily="34" charset="0"/>
                <a:ea typeface="Consolas" pitchFamily="34" charset="-122"/>
                <a:cs typeface="Consolas" pitchFamily="34" charset="-120"/>
              </a:rPr>
              <a:t>cd ..</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student@okan-lab:~/lab/projects/alpha$ </a:t>
            </a:r>
            <a:r>
              <a:rPr lang="en-US" sz="1050" b="1" dirty="0">
                <a:solidFill>
                  <a:srgbClr val="FFFFFF"/>
                </a:solidFill>
                <a:latin typeface="Consolas" pitchFamily="34" charset="0"/>
                <a:ea typeface="Consolas" pitchFamily="34" charset="-122"/>
                <a:cs typeface="Consolas" pitchFamily="34" charset="-120"/>
              </a:rPr>
              <a:t>pwd</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/home/student/lab/projects/alpha</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student@okan-lab:~/lab/projects/alpha$ </a:t>
            </a:r>
            <a:r>
              <a:rPr lang="en-US" sz="1050" b="1" dirty="0">
                <a:solidFill>
                  <a:srgbClr val="FFFFFF"/>
                </a:solidFill>
                <a:latin typeface="Consolas" pitchFamily="34" charset="0"/>
                <a:ea typeface="Consolas" pitchFamily="34" charset="-122"/>
                <a:cs typeface="Consolas" pitchFamily="34" charset="-120"/>
              </a:rPr>
              <a:t>cd ../../docs</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student@okan-lab:~/lab/docs$ </a:t>
            </a:r>
            <a:r>
              <a:rPr lang="en-US" sz="1050" b="1" dirty="0">
                <a:solidFill>
                  <a:srgbClr val="FFFFFF"/>
                </a:solidFill>
                <a:latin typeface="Consolas" pitchFamily="34" charset="0"/>
                <a:ea typeface="Consolas" pitchFamily="34" charset="-122"/>
                <a:cs typeface="Consolas" pitchFamily="34" charset="-120"/>
              </a:rPr>
              <a:t>pwd</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/home/student/lab/docs</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student@okan-lab:~/lab/docs$ </a:t>
            </a:r>
            <a:r>
              <a:rPr lang="en-US" sz="1050" b="1" dirty="0">
                <a:solidFill>
                  <a:srgbClr val="FFFFFF"/>
                </a:solidFill>
                <a:latin typeface="Consolas" pitchFamily="34" charset="0"/>
                <a:ea typeface="Consolas" pitchFamily="34" charset="-122"/>
                <a:cs typeface="Consolas" pitchFamily="34" charset="-120"/>
              </a:rPr>
              <a:t>cd /home/student/lab/projects/beta</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student@okan-lab:~/lab/projects/beta$ </a:t>
            </a:r>
            <a:r>
              <a:rPr lang="en-US" sz="1050" b="1" dirty="0">
                <a:solidFill>
                  <a:srgbClr val="FFFFFF"/>
                </a:solidFill>
                <a:latin typeface="Consolas" pitchFamily="34" charset="0"/>
                <a:ea typeface="Consolas" pitchFamily="34" charset="-122"/>
                <a:cs typeface="Consolas" pitchFamily="34" charset="-120"/>
              </a:rPr>
              <a:t>cd -</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/home/student/lab/docs</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student@okan-lab:~/lab/docs$ </a:t>
            </a:r>
            <a:r>
              <a:rPr lang="en-US" sz="1050" b="1" dirty="0">
                <a:solidFill>
                  <a:srgbClr val="FFFFFF"/>
                </a:solidFill>
                <a:latin typeface="Consolas" pitchFamily="34" charset="0"/>
                <a:ea typeface="Consolas" pitchFamily="34" charset="-122"/>
                <a:cs typeface="Consolas" pitchFamily="34" charset="-120"/>
              </a:rPr>
              <a:t>cd -</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/home/student/lab/projects/beta</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student@okan-lab:~/lab/projects/beta$ </a:t>
            </a:r>
            <a:r>
              <a:rPr lang="en-US" sz="1050" b="1" dirty="0">
                <a:solidFill>
                  <a:srgbClr val="FFFFFF"/>
                </a:solidFill>
                <a:latin typeface="Consolas" pitchFamily="34" charset="0"/>
                <a:ea typeface="Consolas" pitchFamily="34" charset="-122"/>
                <a:cs typeface="Consolas" pitchFamily="34" charset="-120"/>
              </a:rPr>
              <a:t>cd</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 </a:t>
            </a:r>
            <a:r>
              <a:rPr lang="en-US" sz="1050" b="1" dirty="0">
                <a:solidFill>
                  <a:srgbClr val="FFFFFF"/>
                </a:solidFill>
                <a:latin typeface="Consolas" pitchFamily="34" charset="0"/>
                <a:ea typeface="Consolas" pitchFamily="34" charset="-122"/>
                <a:cs typeface="Consolas" pitchFamily="34" charset="-120"/>
              </a:rPr>
              <a:t>pwd</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/home/student</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 </a:t>
            </a:r>
            <a:r>
              <a:rPr lang="en-US" sz="1050" b="1" dirty="0">
                <a:solidFill>
                  <a:srgbClr val="FFFFFF"/>
                </a:solidFill>
                <a:latin typeface="Consolas" pitchFamily="34" charset="0"/>
                <a:ea typeface="Consolas" pitchFamily="34" charset="-122"/>
                <a:cs typeface="Consolas" pitchFamily="34" charset="-120"/>
              </a:rPr>
              <a:t>cd /</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 </a:t>
            </a:r>
            <a:r>
              <a:rPr lang="en-US" sz="1050" b="1" dirty="0">
                <a:solidFill>
                  <a:srgbClr val="FFFFFF"/>
                </a:solidFill>
                <a:latin typeface="Consolas" pitchFamily="34" charset="0"/>
                <a:ea typeface="Consolas" pitchFamily="34" charset="-122"/>
                <a:cs typeface="Consolas" pitchFamily="34" charset="-120"/>
              </a:rPr>
              <a:t>cd ~/lab/projects/alpha/docs</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student@okan-lab:~/lab/projects/alpha/docs$ </a:t>
            </a:r>
            <a:r>
              <a:rPr lang="en-US" sz="1050" b="1" dirty="0">
                <a:solidFill>
                  <a:srgbClr val="FFFFFF"/>
                </a:solidFill>
                <a:latin typeface="Consolas" pitchFamily="34" charset="0"/>
                <a:ea typeface="Consolas" pitchFamily="34" charset="-122"/>
                <a:cs typeface="Consolas" pitchFamily="34" charset="-120"/>
              </a:rPr>
              <a:t>cd ../../beta/src</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student@okan-lab:~/lab/projects/beta/src$ </a:t>
            </a:r>
            <a:r>
              <a:rPr lang="en-US" sz="1050" b="1" dirty="0">
                <a:solidFill>
                  <a:srgbClr val="FFFFFF"/>
                </a:solidFill>
                <a:latin typeface="Consolas" pitchFamily="34" charset="0"/>
                <a:ea typeface="Consolas" pitchFamily="34" charset="-122"/>
                <a:cs typeface="Consolas" pitchFamily="34" charset="-120"/>
              </a:rPr>
              <a:t>pwd</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/home/student/lab/projects/beta/src</a:t>
            </a:r>
            <a:endParaRPr lang="en-US" sz="1050" dirty="0"/>
          </a:p>
        </p:txBody>
      </p:sp>
      <p:sp>
        <p:nvSpPr>
          <p:cNvPr id="8" name="Shape 6"/>
          <p:cNvSpPr/>
          <p:nvPr/>
        </p:nvSpPr>
        <p:spPr>
          <a:xfrm>
            <a:off x="7863840" y="1508760"/>
            <a:ext cx="3794760" cy="4754880"/>
          </a:xfrm>
          <a:prstGeom prst="roundRect">
            <a:avLst>
              <a:gd name="adj" fmla="val 14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092440" y="1691640"/>
            <a:ext cx="33375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092440" y="2148840"/>
            <a:ext cx="3337560" cy="397764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The prompt shows where you are after each cd.</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cd .. goes one level up; ../../docs goes up twice, then down.</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An absolute path works from anywhere.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cd - jumps back to the previous directory and prints it.</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cd alone takes you home; cd / to the root.</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cd prints nothing when it succeeds.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SHORTCUTS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Five Special Names for Directories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28</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1097280"/>
                <a:gridCol w="3291840"/>
                <a:gridCol w="2743200"/>
                <a:gridCol w="3977640"/>
              </a:tblGrid>
              <a:tr h="0">
                <a:tc>
                  <a:txBody>
                    <a:bodyPr/>
                    <a:lstStyle/>
                    <a:p>
                      <a:pPr indent="0" marL="0">
                        <a:buNone/>
                      </a:pPr>
                      <a:r>
                        <a:rPr lang="en-US" sz="1800" b="1" dirty="0">
                          <a:solidFill>
                            <a:srgbClr val="FFFFFF"/>
                          </a:solidFill>
                          <a:latin typeface="Cambria" pitchFamily="34" charset="0"/>
                          <a:ea typeface="Cambria" pitchFamily="34" charset="-122"/>
                          <a:cs typeface="Cambria" pitchFamily="34" charset="-120"/>
                        </a:rPr>
                        <a:t>Name</a:t>
                      </a:r>
                      <a:endParaRPr lang="en-US"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800" b="1" dirty="0">
                          <a:solidFill>
                            <a:srgbClr val="FFFFFF"/>
                          </a:solidFill>
                          <a:latin typeface="Cambria" pitchFamily="34" charset="0"/>
                          <a:ea typeface="Cambria" pitchFamily="34" charset="-122"/>
                          <a:cs typeface="Cambria" pitchFamily="34" charset="-120"/>
                        </a:rPr>
                        <a:t>Meaning</a:t>
                      </a:r>
                      <a:endParaRPr lang="en-US"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800" b="1" dirty="0">
                          <a:solidFill>
                            <a:srgbClr val="FFFFFF"/>
                          </a:solidFill>
                          <a:latin typeface="Cambria" pitchFamily="34" charset="0"/>
                          <a:ea typeface="Cambria" pitchFamily="34" charset="-122"/>
                          <a:cs typeface="Cambria" pitchFamily="34" charset="-120"/>
                        </a:rPr>
                        <a:t>Example</a:t>
                      </a:r>
                      <a:endParaRPr lang="en-US"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800" b="1" dirty="0">
                          <a:solidFill>
                            <a:srgbClr val="FFFFFF"/>
                          </a:solidFill>
                          <a:latin typeface="Cambria" pitchFamily="34" charset="0"/>
                          <a:ea typeface="Cambria" pitchFamily="34" charset="-122"/>
                          <a:cs typeface="Cambria" pitchFamily="34" charset="-120"/>
                        </a:rPr>
                        <a:t>Result (from ~/lab/projects/alpha)</a:t>
                      </a:r>
                      <a:endParaRPr lang="en-US" sz="18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the root of the whole tree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cd /</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your home directory</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cd ~/lab</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/home/student/lab</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the current directory</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ls .</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lists alpha (same as ls)</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the parent directory</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cd ../beta</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/home/student/lab/projects/beta</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700" b="1" dirty="0">
                          <a:solidFill>
                            <a:srgbClr val="3A464C"/>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the previous directory (cd only)</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cd -</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700" dirty="0">
                          <a:solidFill>
                            <a:srgbClr val="3A464C"/>
                          </a:solidFill>
                          <a:latin typeface="Calibri" pitchFamily="34" charset="0"/>
                          <a:ea typeface="Calibri" pitchFamily="34" charset="-122"/>
                          <a:cs typeface="Calibri" pitchFamily="34" charset="-120"/>
                        </a:rPr>
                        <a:t>back to where you were before</a:t>
                      </a:r>
                      <a:endParaRPr lang="en-US" sz="17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cd with no argument = cd ~. The ".." of / is / itself: you cannot go above the root.</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LINK TO WEEK 3</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Why cd Must Be Built into the Shell</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29</a:t>
            </a:r>
            <a:endParaRPr lang="en-US" sz="900" dirty="0"/>
          </a:p>
        </p:txBody>
      </p:sp>
      <p:sp>
        <p:nvSpPr>
          <p:cNvPr id="6" name="Shape 4"/>
          <p:cNvSpPr/>
          <p:nvPr/>
        </p:nvSpPr>
        <p:spPr>
          <a:xfrm>
            <a:off x="548640" y="1508760"/>
            <a:ext cx="6675120" cy="2788920"/>
          </a:xfrm>
          <a:prstGeom prst="roundRect">
            <a:avLst>
              <a:gd name="adj" fmla="val 1639"/>
            </a:avLst>
          </a:prstGeom>
          <a:solidFill>
            <a:srgbClr val="212121"/>
          </a:solidFill>
          <a:ln/>
        </p:spPr>
        <p:txBody>
          <a:bodyPr/>
          <a:p/>
        </p:txBody>
      </p:sp>
      <p:sp>
        <p:nvSpPr>
          <p:cNvPr id="7" name="Text 5"/>
          <p:cNvSpPr txBox="1"/>
          <p:nvPr/>
        </p:nvSpPr>
        <p:spPr>
          <a:xfrm>
            <a:off x="731520" y="1618488"/>
            <a:ext cx="6309360" cy="2569464"/>
          </a:xfrm>
          <a:prstGeom prst="rect">
            <a:avLst/>
          </a:prstGeom>
          <a:noFill/>
          <a:ln/>
        </p:spPr>
        <p:txBody>
          <a:bodyPr wrap="square" lIns="0" tIns="0" rIns="0" bIns="0" rtlCol="0" anchor="t"/>
          <a:lstStyle/>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/bin/pwd</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/home/student/lab</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strace -e trace=getcwd /bin/pwd</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getcwd("/home/student/lab", 4096)       = 18</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/home/student/lab</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 exited with 0 +++</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strace -e trace=chdir bash -c 'cd /tmp'</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chdir("/tmp")                           = 0</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 exited with 0 +++</a:t>
            </a:r>
            <a:endParaRPr lang="en-US" sz="1200" dirty="0"/>
          </a:p>
          <a:p>
            <a:pPr indent="0" marL="0">
              <a:lnSpc>
                <a:spcPct val="100000"/>
              </a:lnSpc>
              <a:buNone/>
            </a:pPr>
            <a:r>
              <a:rPr lang="en-US" sz="1200" dirty="0">
                <a:solidFill>
                  <a:srgbClr val="02C39A"/>
                </a:solidFill>
                <a:latin typeface="Consolas" pitchFamily="34" charset="0"/>
                <a:ea typeface="Consolas" pitchFamily="34" charset="-122"/>
                <a:cs typeface="Consolas" pitchFamily="34" charset="-120"/>
              </a:rPr>
              <a:t>student@okan-lab:~/lab$ </a:t>
            </a:r>
            <a:r>
              <a:rPr lang="en-US" sz="1200" b="1" dirty="0">
                <a:solidFill>
                  <a:srgbClr val="FFFFFF"/>
                </a:solidFill>
                <a:latin typeface="Consolas" pitchFamily="34" charset="0"/>
                <a:ea typeface="Consolas" pitchFamily="34" charset="-122"/>
                <a:cs typeface="Consolas" pitchFamily="34" charset="-120"/>
              </a:rPr>
              <a:t>pwd</a:t>
            </a:r>
            <a:endParaRPr lang="en-US" sz="1200" dirty="0"/>
          </a:p>
          <a:p>
            <a:pPr indent="0" marL="0">
              <a:lnSpc>
                <a:spcPct val="100000"/>
              </a:lnSpc>
              <a:buNone/>
            </a:pPr>
            <a:r>
              <a:rPr lang="en-US" sz="1200" dirty="0">
                <a:solidFill>
                  <a:srgbClr val="F2F2F2"/>
                </a:solidFill>
                <a:latin typeface="Consolas" pitchFamily="34" charset="0"/>
                <a:ea typeface="Consolas" pitchFamily="34" charset="-122"/>
                <a:cs typeface="Consolas" pitchFamily="34" charset="-120"/>
              </a:rPr>
              <a:t>/home/student/lab</a:t>
            </a:r>
            <a:endParaRPr lang="en-US" sz="1200" dirty="0"/>
          </a:p>
        </p:txBody>
      </p:sp>
      <p:sp>
        <p:nvSpPr>
          <p:cNvPr id="8" name="Shape 6"/>
          <p:cNvSpPr/>
          <p:nvPr/>
        </p:nvSpPr>
        <p:spPr>
          <a:xfrm>
            <a:off x="7452360" y="1508760"/>
            <a:ext cx="4206240" cy="2788920"/>
          </a:xfrm>
          <a:prstGeom prst="roundRect">
            <a:avLst>
              <a:gd name="adj" fmla="val 19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680960" y="169164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experiment</a:t>
            </a:r>
            <a:endParaRPr lang="en-US" sz="1500" dirty="0"/>
          </a:p>
        </p:txBody>
      </p:sp>
      <p:sp>
        <p:nvSpPr>
          <p:cNvPr id="10" name="Text 8"/>
          <p:cNvSpPr txBox="1"/>
          <p:nvPr/>
        </p:nvSpPr>
        <p:spPr>
          <a:xfrm>
            <a:off x="7680960" y="2148840"/>
            <a:ext cx="3749040" cy="201168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/bin/pwd is a separate program: it asks the kernel with getcwd().</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 child bash runs cd /tmp: the kernel's chdir("/tmp") succeeds …</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 but our shell is still in ~/lab.</a:t>
            </a:r>
            <a:endParaRPr lang="en-US" sz="1350" dirty="0"/>
          </a:p>
        </p:txBody>
      </p:sp>
      <p:sp>
        <p:nvSpPr>
          <p:cNvPr id="11" name="Shape 9"/>
          <p:cNvSpPr/>
          <p:nvPr/>
        </p:nvSpPr>
        <p:spPr>
          <a:xfrm>
            <a:off x="548640" y="4526280"/>
            <a:ext cx="11109960" cy="1737360"/>
          </a:xfrm>
          <a:prstGeom prst="roundRect">
            <a:avLst>
              <a:gd name="adj" fmla="val 3158"/>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77240" y="4526280"/>
            <a:ext cx="10652760" cy="173736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The current directory is part of each process's state (kept by the kernel next to the PCB, Week 3). A child can change only its own directory, never its parent's. If cd were a program in /usr/bin, it would change the directory of a child process that exits immediately — and nothing would happen. So cd is a builtin: bash calls chdir() on itself. type cd confirms it.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5</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Working Smarter</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Nobody remembers every option: know where to look, and let the shell type for you.</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9  ·  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GETTING HELP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Four Ways to Get Help</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31</a:t>
            </a:r>
            <a:endParaRPr lang="en-US" sz="900" dirty="0"/>
          </a:p>
        </p:txBody>
      </p:sp>
      <p:sp>
        <p:nvSpPr>
          <p:cNvPr id="6" name="Shape 4"/>
          <p:cNvSpPr/>
          <p:nvPr/>
        </p:nvSpPr>
        <p:spPr>
          <a:xfrm>
            <a:off x="548640" y="1508760"/>
            <a:ext cx="6675120" cy="4754880"/>
          </a:xfrm>
          <a:prstGeom prst="roundRect">
            <a:avLst>
              <a:gd name="adj" fmla="val 962"/>
            </a:avLst>
          </a:prstGeom>
          <a:solidFill>
            <a:srgbClr val="212121"/>
          </a:solidFill>
          <a:ln/>
        </p:spPr>
        <p:txBody>
          <a:bodyPr/>
          <a:p/>
        </p:txBody>
      </p:sp>
      <p:sp>
        <p:nvSpPr>
          <p:cNvPr id="7" name="Text 5"/>
          <p:cNvSpPr txBox="1"/>
          <p:nvPr/>
        </p:nvSpPr>
        <p:spPr>
          <a:xfrm>
            <a:off x="731520" y="1618488"/>
            <a:ext cx="6309360" cy="4535424"/>
          </a:xfrm>
          <a:prstGeom prst="rect">
            <a:avLst/>
          </a:prstGeom>
          <a:noFill/>
          <a:ln/>
        </p:spPr>
        <p:txBody>
          <a:bodyPr wrap="square" lIns="0" tIns="0" rIns="0" bIns="0" rtlCol="0" anchor="t"/>
          <a:lstStyle/>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ls --help | head -n 12</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Usage: ls [OPTION]... [FILE]...</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List information about the FILEs (the current directory by default).</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Sort entries alphabetically if none of -cftuvSUX nor --sort is specified.</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Mandatory arguments to long options are mandatory for short options too.</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-a, --all                  do not ignore entries starting with .</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-A, --almost-all           do not list implied . and ..</a:t>
            </a:r>
            <a:endParaRPr lang="en-US" sz="1000" dirty="0"/>
          </a:p>
          <a:p>
            <a:pPr indent="0" marL="0">
              <a:lnSpc>
                <a:spcPct val="100000"/>
              </a:lnSpc>
              <a:buNone/>
            </a:pPr>
            <a:r>
              <a:rPr lang="en-US" sz="1000" dirty="0">
                <a:solidFill>
                  <a:srgbClr val="8A9AA0"/>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type cd pwd ls</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cd is a shell builtin</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pwd is a shell builtin</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ls is /usr/bin/ls</a:t>
            </a:r>
            <a:endParaRPr lang="en-US" sz="1000" dirty="0"/>
          </a:p>
          <a:p>
            <a:pPr indent="0" marL="0">
              <a:lnSpc>
                <a:spcPct val="100000"/>
              </a:lnSpc>
              <a:buNone/>
            </a:pPr>
            <a:r>
              <a:rPr lang="en-US" sz="1000" dirty="0">
                <a:solidFill>
                  <a:srgbClr val="02C39A"/>
                </a:solidFill>
                <a:latin typeface="Consolas" pitchFamily="34" charset="0"/>
                <a:ea typeface="Consolas" pitchFamily="34" charset="-122"/>
                <a:cs typeface="Consolas" pitchFamily="34" charset="-120"/>
              </a:rPr>
              <a:t>student@okan-lab:~$ </a:t>
            </a:r>
            <a:r>
              <a:rPr lang="en-US" sz="1000" b="1" dirty="0">
                <a:solidFill>
                  <a:srgbClr val="FFFFFF"/>
                </a:solidFill>
                <a:latin typeface="Consolas" pitchFamily="34" charset="0"/>
                <a:ea typeface="Consolas" pitchFamily="34" charset="-122"/>
                <a:cs typeface="Consolas" pitchFamily="34" charset="-120"/>
              </a:rPr>
              <a:t>help cd | head -n 5</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cd: cd [-L|[-P [-e]] [-@]] [dir]</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Change the shell working directory.</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Change the current directory to DIR.  The default DIR is the value of the</a:t>
            </a:r>
            <a:endParaRPr lang="en-US" sz="1000" dirty="0"/>
          </a:p>
          <a:p>
            <a:pPr indent="0" marL="0">
              <a:lnSpc>
                <a:spcPct val="100000"/>
              </a:lnSpc>
              <a:buNone/>
            </a:pPr>
            <a:r>
              <a:rPr lang="en-US" sz="1000" dirty="0">
                <a:solidFill>
                  <a:srgbClr val="F2F2F2"/>
                </a:solidFill>
                <a:latin typeface="Consolas" pitchFamily="34" charset="0"/>
                <a:ea typeface="Consolas" pitchFamily="34" charset="-122"/>
                <a:cs typeface="Consolas" pitchFamily="34" charset="-120"/>
              </a:rPr>
              <a:t>    HOME shell variable. If DIR is "-", it is converted to $OLDPWD.</a:t>
            </a:r>
            <a:endParaRPr lang="en-US" sz="1000" dirty="0"/>
          </a:p>
        </p:txBody>
      </p:sp>
      <p:sp>
        <p:nvSpPr>
          <p:cNvPr id="8" name="Shape 6"/>
          <p:cNvSpPr/>
          <p:nvPr/>
        </p:nvSpPr>
        <p:spPr>
          <a:xfrm>
            <a:off x="7452360" y="1508760"/>
            <a:ext cx="4206240" cy="4754880"/>
          </a:xfrm>
          <a:prstGeom prst="roundRect">
            <a:avLst>
              <a:gd name="adj" fmla="val 130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680960" y="1691640"/>
            <a:ext cx="3749040" cy="443484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cmd --help:</a:t>
            </a:r>
            <a:r>
              <a:rPr lang="en-US" sz="1300" dirty="0">
                <a:solidFill>
                  <a:srgbClr val="3A464C"/>
                </a:solidFill>
                <a:latin typeface="Calibri" pitchFamily="34" charset="0"/>
                <a:ea typeface="Calibri" pitchFamily="34" charset="-122"/>
                <a:cs typeface="Calibri" pitchFamily="34" charset="-120"/>
              </a:rPr>
              <a:t> short summary of the options (most programs).</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man cmd:</a:t>
            </a:r>
            <a:r>
              <a:rPr lang="en-US" sz="1300" dirty="0">
                <a:solidFill>
                  <a:srgbClr val="3A464C"/>
                </a:solidFill>
                <a:latin typeface="Calibri" pitchFamily="34" charset="0"/>
                <a:ea typeface="Calibri" pitchFamily="34" charset="-122"/>
                <a:cs typeface="Calibri" pitchFamily="34" charset="-120"/>
              </a:rPr>
              <a:t> the full manual page — sections NAME, SYNOPSIS, DESCRIPTION. Space = next page, /word = search, q = quit.</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help cmd:</a:t>
            </a:r>
            <a:r>
              <a:rPr lang="en-US" sz="1300" dirty="0">
                <a:solidFill>
                  <a:srgbClr val="3A464C"/>
                </a:solidFill>
                <a:latin typeface="Calibri" pitchFamily="34" charset="0"/>
                <a:ea typeface="Calibri" pitchFamily="34" charset="-122"/>
                <a:cs typeface="Calibri" pitchFamily="34" charset="-120"/>
              </a:rPr>
              <a:t> for shell builtins (cd, pwd, history) — they have no program file.</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type cmd:</a:t>
            </a:r>
            <a:r>
              <a:rPr lang="en-US" sz="1300" dirty="0">
                <a:solidFill>
                  <a:srgbClr val="3A464C"/>
                </a:solidFill>
                <a:latin typeface="Calibri" pitchFamily="34" charset="0"/>
                <a:ea typeface="Calibri" pitchFamily="34" charset="-122"/>
                <a:cs typeface="Calibri" pitchFamily="34" charset="-120"/>
              </a:rPr>
              <a:t> builtin or program file?</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whatis / apropos:</a:t>
            </a:r>
            <a:r>
              <a:rPr lang="en-US" sz="1300" dirty="0">
                <a:solidFill>
                  <a:srgbClr val="3A464C"/>
                </a:solidFill>
                <a:latin typeface="Calibri" pitchFamily="34" charset="0"/>
                <a:ea typeface="Calibri" pitchFamily="34" charset="-122"/>
                <a:cs typeface="Calibri" pitchFamily="34" charset="-120"/>
              </a:rPr>
              <a:t> one-line description / search the manuals by keyword: apropos directory.</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tldr cmd</a:t>
            </a:r>
            <a:r>
              <a:rPr lang="en-US" sz="1300" dirty="0">
                <a:solidFill>
                  <a:srgbClr val="3A464C"/>
                </a:solidFill>
                <a:latin typeface="Calibri" pitchFamily="34" charset="0"/>
                <a:ea typeface="Calibri" pitchFamily="34" charset="-122"/>
                <a:cs typeface="Calibri" pitchFamily="34" charset="-120"/>
              </a:rPr>
              <a:t> (optional, sudo apt install tldr): short examples.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Tab Completion, History and Keyboard Shortcuts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32</a:t>
            </a:r>
            <a:endParaRPr lang="en-US" sz="900" dirty="0"/>
          </a:p>
        </p:txBody>
      </p:sp>
      <p:sp>
        <p:nvSpPr>
          <p:cNvPr id="6" name="Shape 4"/>
          <p:cNvSpPr/>
          <p:nvPr/>
        </p:nvSpPr>
        <p:spPr>
          <a:xfrm>
            <a:off x="548640" y="1508760"/>
            <a:ext cx="6035040" cy="4754880"/>
          </a:xfrm>
          <a:prstGeom prst="roundRect">
            <a:avLst>
              <a:gd name="adj" fmla="val 962"/>
            </a:avLst>
          </a:prstGeom>
          <a:solidFill>
            <a:srgbClr val="212121"/>
          </a:solidFill>
          <a:ln/>
        </p:spPr>
        <p:txBody>
          <a:bodyPr/>
          <a:p/>
        </p:txBody>
      </p:sp>
      <p:sp>
        <p:nvSpPr>
          <p:cNvPr id="7" name="Text 5"/>
          <p:cNvSpPr txBox="1"/>
          <p:nvPr/>
        </p:nvSpPr>
        <p:spPr>
          <a:xfrm>
            <a:off x="731520" y="1618488"/>
            <a:ext cx="5669280" cy="4535424"/>
          </a:xfrm>
          <a:prstGeom prst="rect">
            <a:avLst/>
          </a:prstGeom>
          <a:noFill/>
          <a:ln/>
        </p:spPr>
        <p:txBody>
          <a:bodyPr wrap="square" lIns="0" tIns="0" rIns="0" bIns="0" rtlCol="0" anchor="t"/>
          <a:lstStyle/>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cd ~/lab</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 </a:t>
            </a:r>
            <a:r>
              <a:rPr lang="en-US" sz="1100" b="1" dirty="0">
                <a:solidFill>
                  <a:srgbClr val="FFFFFF"/>
                </a:solidFill>
                <a:latin typeface="Consolas" pitchFamily="34" charset="0"/>
                <a:ea typeface="Consolas" pitchFamily="34" charset="-122"/>
                <a:cs typeface="Consolas" pitchFamily="34" charset="-120"/>
              </a:rPr>
              <a:t>cd projects/alpha/</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student@okan-lab:~/lab/projects/alpha$ </a:t>
            </a:r>
            <a:r>
              <a:rPr lang="en-US" sz="1100" b="1" dirty="0">
                <a:solidFill>
                  <a:srgbClr val="FFFFFF"/>
                </a:solidFill>
                <a:latin typeface="Consolas" pitchFamily="34" charset="0"/>
                <a:ea typeface="Consolas" pitchFamily="34" charset="-122"/>
                <a:cs typeface="Consolas" pitchFamily="34" charset="-120"/>
              </a:rPr>
              <a:t>pwd</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/home/student/lab/projects/alpha</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student@okan-lab:~/lab/projects/alpha$ </a:t>
            </a:r>
            <a:r>
              <a:rPr lang="en-US" sz="1100" b="1" dirty="0">
                <a:solidFill>
                  <a:srgbClr val="FFFFFF"/>
                </a:solidFill>
                <a:latin typeface="Consolas" pitchFamily="34" charset="0"/>
                <a:ea typeface="Consolas" pitchFamily="34" charset="-122"/>
                <a:cs typeface="Consolas" pitchFamily="34" charset="-120"/>
              </a:rPr>
              <a:t>cd</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ls ~/lab/docs/syllabus.txt </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/home/student/lab/docs/syllabus.txt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whoami</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student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whoami</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student</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history</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1  cd ~/lab</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2  cd projects/alpha/</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3  pwd</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4  cd</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5  ls ~/lab/docs/syllabus.txt </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6  whoami</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7  whoami</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    8  history</a:t>
            </a:r>
            <a:endParaRPr lang="en-US" sz="1100" dirty="0"/>
          </a:p>
          <a:p>
            <a:pPr indent="0" marL="0">
              <a:lnSpc>
                <a:spcPct val="100000"/>
              </a:lnSpc>
              <a:buNone/>
            </a:pPr>
            <a:r>
              <a:rPr lang="en-US" sz="1100" dirty="0">
                <a:solidFill>
                  <a:srgbClr val="02C39A"/>
                </a:solidFill>
                <a:latin typeface="Consolas" pitchFamily="34" charset="0"/>
                <a:ea typeface="Consolas" pitchFamily="34" charset="-122"/>
                <a:cs typeface="Consolas" pitchFamily="34" charset="-120"/>
              </a:rPr>
              <a:t>student@okan-lab:~$ </a:t>
            </a:r>
            <a:r>
              <a:rPr lang="en-US" sz="1100" b="1" dirty="0">
                <a:solidFill>
                  <a:srgbClr val="FFFFFF"/>
                </a:solidFill>
                <a:latin typeface="Consolas" pitchFamily="34" charset="0"/>
                <a:ea typeface="Consolas" pitchFamily="34" charset="-122"/>
                <a:cs typeface="Consolas" pitchFamily="34" charset="-120"/>
              </a:rPr>
              <a:t>!5</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ls ~/lab/docs/syllabus.txt </a:t>
            </a:r>
            <a:endParaRPr lang="en-US" sz="1100" dirty="0"/>
          </a:p>
          <a:p>
            <a:pPr indent="0" marL="0">
              <a:lnSpc>
                <a:spcPct val="100000"/>
              </a:lnSpc>
              <a:buNone/>
            </a:pPr>
            <a:r>
              <a:rPr lang="en-US" sz="1100" dirty="0">
                <a:solidFill>
                  <a:srgbClr val="F2F2F2"/>
                </a:solidFill>
                <a:latin typeface="Consolas" pitchFamily="34" charset="0"/>
                <a:ea typeface="Consolas" pitchFamily="34" charset="-122"/>
                <a:cs typeface="Consolas" pitchFamily="34" charset="-120"/>
              </a:rPr>
              <a:t>/home/student/lab/docs/syllabus.txt</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812280" y="1508760"/>
          <a:ext cx="4846320" cy="914400"/>
        </p:xfrm>
        <a:graphic>
          <a:graphicData uri="http://schemas.openxmlformats.org/drawingml/2006/table">
            <a:tbl>
              <a:tblPr/>
              <a:tblGrid>
                <a:gridCol w="1600200"/>
                <a:gridCol w="3246120"/>
              </a:tblGrid>
              <a:tr h="0">
                <a:tc>
                  <a:txBody>
                    <a:bodyPr/>
                    <a:lstStyle/>
                    <a:p>
                      <a:pPr indent="0" marL="0">
                        <a:buNone/>
                      </a:pPr>
                      <a:r>
                        <a:rPr lang="en-US" sz="1300" b="1" dirty="0">
                          <a:solidFill>
                            <a:srgbClr val="FFFFFF"/>
                          </a:solidFill>
                          <a:latin typeface="Cambria" pitchFamily="34" charset="0"/>
                          <a:ea typeface="Cambria" pitchFamily="34" charset="-122"/>
                          <a:cs typeface="Cambria" pitchFamily="34" charset="-120"/>
                        </a:rPr>
                        <a:t>Key / command</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300" b="1" dirty="0">
                          <a:solidFill>
                            <a:srgbClr val="FFFFFF"/>
                          </a:solidFill>
                          <a:latin typeface="Cambria" pitchFamily="34" charset="0"/>
                          <a:ea typeface="Cambria" pitchFamily="34" charset="-122"/>
                          <a:cs typeface="Cambria" pitchFamily="34" charset="-120"/>
                        </a:rPr>
                        <a:t>What it does</a:t>
                      </a:r>
                      <a:endParaRPr lang="en-US" sz="130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Tab</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complete a command, file or directory name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Tab Tab</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list all possible completions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 / ↓</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previous / next command from history</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history</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numbered list of your commands</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  ·  !n</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repeat the last command  ·  command number n</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Ctrl+C</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interrupt (stop) the running command</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Ctrl+L</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clear the screen (like clear)</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250" b="1" dirty="0">
                          <a:solidFill>
                            <a:srgbClr val="3A464C"/>
                          </a:solidFill>
                          <a:latin typeface="Calibri" pitchFamily="34" charset="0"/>
                          <a:ea typeface="Calibri" pitchFamily="34" charset="-122"/>
                          <a:cs typeface="Calibri" pitchFamily="34" charset="-120"/>
                        </a:rPr>
                        <a:t>Ctrl+A / Ctrl+E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250" dirty="0">
                          <a:solidFill>
                            <a:srgbClr val="3A464C"/>
                          </a:solidFill>
                          <a:latin typeface="Calibri" pitchFamily="34" charset="0"/>
                          <a:ea typeface="Calibri" pitchFamily="34" charset="-122"/>
                          <a:cs typeface="Calibri" pitchFamily="34" charset="-120"/>
                        </a:rPr>
                        <a:t>jump to start / end of the line</a:t>
                      </a:r>
                      <a:endParaRPr lang="en-US" sz="12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CHEAT SHEET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9 Command Reference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33</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691640"/>
                <a:gridCol w="3840480"/>
                <a:gridCol w="1783080"/>
                <a:gridCol w="379476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Command</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Purpose</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Command</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Purpose</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00" b="1" dirty="0">
                          <a:solidFill>
                            <a:srgbClr val="3A464C"/>
                          </a:solidFill>
                          <a:latin typeface="Calibri" pitchFamily="34" charset="0"/>
                          <a:ea typeface="Calibri" pitchFamily="34" charset="-122"/>
                          <a:cs typeface="Calibri" pitchFamily="34" charset="-120"/>
                        </a:rPr>
                        <a:t>whoami</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print your user name</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pwd</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print the working directory</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00" b="1" dirty="0">
                          <a:solidFill>
                            <a:srgbClr val="3A464C"/>
                          </a:solidFill>
                          <a:latin typeface="Calibri" pitchFamily="34" charset="0"/>
                          <a:ea typeface="Calibri" pitchFamily="34" charset="-122"/>
                          <a:cs typeface="Calibri" pitchFamily="34" charset="-120"/>
                        </a:rPr>
                        <a:t>hostname</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print the computer's name</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ls [-laRhF] [dir]</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list a directory</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A464C"/>
                          </a:solidFill>
                          <a:latin typeface="Calibri" pitchFamily="34" charset="0"/>
                          <a:ea typeface="Calibri" pitchFamily="34" charset="-122"/>
                          <a:cs typeface="Calibri" pitchFamily="34" charset="-120"/>
                        </a:rPr>
                        <a:t>date</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print date and time</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cd [dir]</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change directory (~ . .. - /)</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00" b="1" dirty="0">
                          <a:solidFill>
                            <a:srgbClr val="3A464C"/>
                          </a:solidFill>
                          <a:latin typeface="Calibri" pitchFamily="34" charset="0"/>
                          <a:ea typeface="Calibri" pitchFamily="34" charset="-122"/>
                          <a:cs typeface="Calibri" pitchFamily="34" charset="-120"/>
                        </a:rPr>
                        <a:t>echo text</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print text</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tree [dir]</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draw a directory tree</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A464C"/>
                          </a:solidFill>
                          <a:latin typeface="Calibri" pitchFamily="34" charset="0"/>
                          <a:ea typeface="Calibri" pitchFamily="34" charset="-122"/>
                          <a:cs typeface="Calibri" pitchFamily="34" charset="-120"/>
                        </a:rPr>
                        <a:t>uname -a</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kernel name, version, machine</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cat file</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print a file (Week 10)</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00" b="1" dirty="0">
                          <a:solidFill>
                            <a:srgbClr val="3A464C"/>
                          </a:solidFill>
                          <a:latin typeface="Calibri" pitchFamily="34" charset="0"/>
                          <a:ea typeface="Calibri" pitchFamily="34" charset="-122"/>
                          <a:cs typeface="Calibri" pitchFamily="34" charset="-120"/>
                        </a:rPr>
                        <a:t>clear</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clear the screen (Ctrl+L)</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type cmd</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builtin or program?</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3A464C"/>
                          </a:solidFill>
                          <a:latin typeface="Calibri" pitchFamily="34" charset="0"/>
                          <a:ea typeface="Calibri" pitchFamily="34" charset="-122"/>
                          <a:cs typeface="Calibri" pitchFamily="34" charset="-120"/>
                        </a:rPr>
                        <a:t>history</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list previous commands</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cmd --help</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short help</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00" b="1" dirty="0">
                          <a:solidFill>
                            <a:srgbClr val="3A464C"/>
                          </a:solidFill>
                          <a:latin typeface="Calibri" pitchFamily="34" charset="0"/>
                          <a:ea typeface="Calibri" pitchFamily="34" charset="-122"/>
                          <a:cs typeface="Calibri" pitchFamily="34" charset="-120"/>
                        </a:rPr>
                        <a:t>!!  !n</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repeat a command</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man cmd · help cmd</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00" dirty="0">
                          <a:solidFill>
                            <a:srgbClr val="3A464C"/>
                          </a:solidFill>
                          <a:latin typeface="Calibri" pitchFamily="34" charset="0"/>
                          <a:ea typeface="Calibri" pitchFamily="34" charset="-122"/>
                          <a:cs typeface="Calibri" pitchFamily="34" charset="-120"/>
                        </a:rPr>
                        <a:t>manual · builtin help</a:t>
                      </a:r>
                      <a:endParaRPr lang="en-US" sz="13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IN-CLASS LAB · 30–40 MINUTES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Lab Part A: Treasure Hunt in ~/lab</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34</a:t>
            </a:r>
            <a:endParaRPr lang="en-US" sz="900" dirty="0"/>
          </a:p>
        </p:txBody>
      </p:sp>
      <p:sp>
        <p:nvSpPr>
          <p:cNvPr id="6" name="Shape 4"/>
          <p:cNvSpPr/>
          <p:nvPr/>
        </p:nvSpPr>
        <p:spPr>
          <a:xfrm>
            <a:off x="548640" y="1508760"/>
            <a:ext cx="667512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62179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Follow the clues — use only cd, ls, pwd, cat</a:t>
            </a:r>
            <a:endParaRPr lang="en-US" sz="1500" dirty="0"/>
          </a:p>
        </p:txBody>
      </p:sp>
      <p:sp>
        <p:nvSpPr>
          <p:cNvPr id="8" name="Text 6"/>
          <p:cNvSpPr txBox="1"/>
          <p:nvPr/>
        </p:nvSpPr>
        <p:spPr>
          <a:xfrm>
            <a:off x="777240" y="2148840"/>
            <a:ext cx="6217920" cy="39776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Start:</a:t>
            </a:r>
            <a:r>
              <a:rPr lang="en-US" sz="1400" dirty="0">
                <a:solidFill>
                  <a:srgbClr val="3A464C"/>
                </a:solidFill>
                <a:latin typeface="Calibri" pitchFamily="34" charset="0"/>
                <a:ea typeface="Calibri" pitchFamily="34" charset="-122"/>
                <a:cs typeface="Calibri" pitchFamily="34" charset="-120"/>
              </a:rPr>
              <a:t> re-create the lab (bash mcmp117_lab_setup.sh), then cd ~/lab.</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Clue 1:</a:t>
            </a:r>
            <a:r>
              <a:rPr lang="en-US" sz="1400" dirty="0">
                <a:solidFill>
                  <a:srgbClr val="3A464C"/>
                </a:solidFill>
                <a:latin typeface="Calibri" pitchFamily="34" charset="0"/>
                <a:ea typeface="Calibri" pitchFamily="34" charset="-122"/>
                <a:cs typeface="Calibri" pitchFamily="34" charset="-120"/>
              </a:rPr>
              <a:t> read README.txt. Which directory holds "a small C program"? Go there.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Clue 2:</a:t>
            </a:r>
            <a:r>
              <a:rPr lang="en-US" sz="1400" dirty="0">
                <a:solidFill>
                  <a:srgbClr val="3A464C"/>
                </a:solidFill>
                <a:latin typeface="Calibri" pitchFamily="34" charset="0"/>
                <a:ea typeface="Calibri" pitchFamily="34" charset="-122"/>
                <a:cs typeface="Calibri" pitchFamily="34" charset="-120"/>
              </a:rPr>
              <a:t> list it and read the C file. What does the program print?</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Clue 3:</a:t>
            </a:r>
            <a:r>
              <a:rPr lang="en-US" sz="1400" dirty="0">
                <a:solidFill>
                  <a:srgbClr val="3A464C"/>
                </a:solidFill>
                <a:latin typeface="Calibri" pitchFamily="34" charset="0"/>
                <a:ea typeface="Calibri" pitchFamily="34" charset="-122"/>
                <a:cs typeface="Calibri" pitchFamily="34" charset="-120"/>
              </a:rPr>
              <a:t> with ONE relative cd, move to the directory of short text documents. Write the command.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Clue 4:</a:t>
            </a:r>
            <a:r>
              <a:rPr lang="en-US" sz="1400" dirty="0">
                <a:solidFill>
                  <a:srgbClr val="3A464C"/>
                </a:solidFill>
                <a:latin typeface="Calibri" pitchFamily="34" charset="0"/>
                <a:ea typeface="Calibri" pitchFamily="34" charset="-122"/>
                <a:cs typeface="Calibri" pitchFamily="34" charset="-120"/>
              </a:rPr>
              <a:t> one file there has a space in its name. Read it: its last line is the password.</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Clue 5:</a:t>
            </a:r>
            <a:r>
              <a:rPr lang="en-US" sz="1400" dirty="0">
                <a:solidFill>
                  <a:srgbClr val="3A464C"/>
                </a:solidFill>
                <a:latin typeface="Calibri" pitchFamily="34" charset="0"/>
                <a:ea typeface="Calibri" pitchFamily="34" charset="-122"/>
                <a:cs typeface="Calibri" pitchFamily="34" charset="-120"/>
              </a:rPr>
              <a:t> a hidden file is there too. Which editor does it set?</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Finish:</a:t>
            </a:r>
            <a:r>
              <a:rPr lang="en-US" sz="1400" dirty="0">
                <a:solidFill>
                  <a:srgbClr val="3A464C"/>
                </a:solidFill>
                <a:latin typeface="Calibri" pitchFamily="34" charset="0"/>
                <a:ea typeface="Calibri" pitchFamily="34" charset="-122"/>
                <a:cs typeface="Calibri" pitchFamily="34" charset="-120"/>
              </a:rPr>
              <a:t> cd to projects/beta/src with one relative cd, run pwd.</a:t>
            </a:r>
            <a:endParaRPr lang="en-US" sz="1400" dirty="0"/>
          </a:p>
        </p:txBody>
      </p:sp>
      <p:sp>
        <p:nvSpPr>
          <p:cNvPr id="9" name="Shape 7"/>
          <p:cNvSpPr/>
          <p:nvPr/>
        </p:nvSpPr>
        <p:spPr>
          <a:xfrm>
            <a:off x="7452360" y="1508760"/>
            <a:ext cx="4206240" cy="4754880"/>
          </a:xfrm>
          <a:prstGeom prst="roundRect">
            <a:avLst>
              <a:gd name="adj" fmla="val 1304"/>
            </a:avLst>
          </a:prstGeom>
          <a:solidFill>
            <a:srgbClr val="D7E9E6"/>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7680960" y="1691640"/>
            <a:ext cx="3749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Hand in (on paper or Telegram)</a:t>
            </a:r>
            <a:endParaRPr lang="en-US" sz="1500" dirty="0"/>
          </a:p>
        </p:txBody>
      </p:sp>
      <p:sp>
        <p:nvSpPr>
          <p:cNvPr id="11" name="Text 9"/>
          <p:cNvSpPr txBox="1"/>
          <p:nvPr/>
        </p:nvSpPr>
        <p:spPr>
          <a:xfrm>
            <a:off x="7680960" y="2148840"/>
            <a:ext cx="3749040" cy="39776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command you used for each clue.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answers to clues 2, 4 and 5.</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final pwd output.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Names with spaces need quotes: cat "final report.txt"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Stuck? ls -a, pwd and Tab are your friends.</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IN-CLASS LAB</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Lab Part B: Look, Count, Explain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35</a:t>
            </a:r>
            <a:endParaRPr lang="en-US" sz="900" dirty="0"/>
          </a:p>
        </p:txBody>
      </p:sp>
      <p:sp>
        <p:nvSpPr>
          <p:cNvPr id="6" name="Shape 4"/>
          <p:cNvSpPr/>
          <p:nvPr/>
        </p:nvSpPr>
        <p:spPr>
          <a:xfrm>
            <a:off x="54864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B1 · Count</a:t>
            </a:r>
            <a:endParaRPr lang="en-US" sz="1600" dirty="0"/>
          </a:p>
        </p:txBody>
      </p:sp>
      <p:sp>
        <p:nvSpPr>
          <p:cNvPr id="8" name="Text 6"/>
          <p:cNvSpPr txBox="1"/>
          <p:nvPr/>
        </p:nvSpPr>
        <p:spPr>
          <a:xfrm>
            <a:off x="777240" y="2148840"/>
            <a:ext cx="309372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In ~/lab: how many entries does ls show? How many are directories? (Use ls -F or ls -l.)</a:t>
            </a:r>
            <a:endParaRPr lang="en-US" sz="1400" dirty="0"/>
          </a:p>
        </p:txBody>
      </p:sp>
      <p:sp>
        <p:nvSpPr>
          <p:cNvPr id="9" name="Shape 7"/>
          <p:cNvSpPr/>
          <p:nvPr/>
        </p:nvSpPr>
        <p:spPr>
          <a:xfrm>
            <a:off x="432816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B2 · Biggest file</a:t>
            </a:r>
            <a:endParaRPr lang="en-US" sz="1600" dirty="0"/>
          </a:p>
        </p:txBody>
      </p:sp>
      <p:sp>
        <p:nvSpPr>
          <p:cNvPr id="11" name="Text 9"/>
          <p:cNvSpPr txBox="1"/>
          <p:nvPr/>
        </p:nvSpPr>
        <p:spPr>
          <a:xfrm>
            <a:off x="4556760" y="2148840"/>
            <a:ext cx="309372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Which file in docs is the largest, and how many bytes? Confirm with ls -lS docs.</a:t>
            </a:r>
            <a:endParaRPr lang="en-US" sz="1400" dirty="0"/>
          </a:p>
        </p:txBody>
      </p:sp>
      <p:sp>
        <p:nvSpPr>
          <p:cNvPr id="12" name="Shape 10"/>
          <p:cNvSpPr/>
          <p:nvPr/>
        </p:nvSpPr>
        <p:spPr>
          <a:xfrm>
            <a:off x="810768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B3 · Human sizes</a:t>
            </a:r>
            <a:endParaRPr lang="en-US" sz="1600" dirty="0"/>
          </a:p>
        </p:txBody>
      </p:sp>
      <p:sp>
        <p:nvSpPr>
          <p:cNvPr id="14" name="Text 12"/>
          <p:cNvSpPr txBox="1"/>
          <p:nvPr/>
        </p:nvSpPr>
        <p:spPr>
          <a:xfrm>
            <a:off x="8336280" y="2148840"/>
            <a:ext cx="309372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ls -l logs and ls -lh logs: write both sizes of access.log and explain the K.</a:t>
            </a:r>
            <a:endParaRPr lang="en-US" sz="1400" dirty="0"/>
          </a:p>
        </p:txBody>
      </p:sp>
      <p:sp>
        <p:nvSpPr>
          <p:cNvPr id="15" name="Shape 13"/>
          <p:cNvSpPr/>
          <p:nvPr/>
        </p:nvSpPr>
        <p:spPr>
          <a:xfrm>
            <a:off x="54864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777240" y="368046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B4 · Predict</a:t>
            </a:r>
            <a:endParaRPr lang="en-US" sz="1600" dirty="0"/>
          </a:p>
        </p:txBody>
      </p:sp>
      <p:sp>
        <p:nvSpPr>
          <p:cNvPr id="17" name="Text 15"/>
          <p:cNvSpPr txBox="1"/>
          <p:nvPr/>
        </p:nvSpPr>
        <p:spPr>
          <a:xfrm>
            <a:off x="777240" y="4137660"/>
            <a:ext cx="309372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From ~/lab/projects: cd alpha; cd ../beta/src; cd ..; cd -   Where are you now? Predict, then check.</a:t>
            </a:r>
            <a:endParaRPr lang="en-US" sz="1400" dirty="0"/>
          </a:p>
        </p:txBody>
      </p:sp>
      <p:sp>
        <p:nvSpPr>
          <p:cNvPr id="18" name="Shape 16"/>
          <p:cNvSpPr/>
          <p:nvPr/>
        </p:nvSpPr>
        <p:spPr>
          <a:xfrm>
            <a:off x="432816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4556760" y="368046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B5 · The system</a:t>
            </a:r>
            <a:endParaRPr lang="en-US" sz="1600" dirty="0"/>
          </a:p>
        </p:txBody>
      </p:sp>
      <p:sp>
        <p:nvSpPr>
          <p:cNvPr id="20" name="Text 18"/>
          <p:cNvSpPr txBox="1"/>
          <p:nvPr/>
        </p:nvSpPr>
        <p:spPr>
          <a:xfrm>
            <a:off x="4556760" y="4137660"/>
            <a:ext cx="309372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Where is the program ls? What is /bin really? Which Ubuntu version is installed?</a:t>
            </a:r>
            <a:endParaRPr lang="en-US" sz="1400" dirty="0"/>
          </a:p>
        </p:txBody>
      </p:sp>
      <p:sp>
        <p:nvSpPr>
          <p:cNvPr id="21" name="Shape 19"/>
          <p:cNvSpPr/>
          <p:nvPr/>
        </p:nvSpPr>
        <p:spPr>
          <a:xfrm>
            <a:off x="810768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8336280" y="3680460"/>
            <a:ext cx="309372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B6 · Challenge</a:t>
            </a:r>
            <a:endParaRPr lang="en-US" sz="1600" dirty="0"/>
          </a:p>
        </p:txBody>
      </p:sp>
      <p:sp>
        <p:nvSpPr>
          <p:cNvPr id="23" name="Text 21"/>
          <p:cNvSpPr txBox="1"/>
          <p:nvPr/>
        </p:nvSpPr>
        <p:spPr>
          <a:xfrm>
            <a:off x="8336280" y="4137660"/>
            <a:ext cx="309372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ls -ld ~/lab shows link count 10, docs shows 2. Explain both numbers.</a:t>
            </a:r>
            <a:endParaRPr lang="en-US" sz="1400" dirty="0"/>
          </a:p>
        </p:txBody>
      </p:sp>
      <p:sp>
        <p:nvSpPr>
          <p:cNvPr id="24" name="Shape 22"/>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The full Lab Sheet (18 graded exercises, 100 points) and its solutions are in this week's course notes.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COMMON MISTAKES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Error Messages and What They Mean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36</a:t>
            </a:r>
            <a:endParaRPr lang="en-US" sz="900" dirty="0"/>
          </a:p>
        </p:txBody>
      </p:sp>
      <p:sp>
        <p:nvSpPr>
          <p:cNvPr id="6" name="Shape 4"/>
          <p:cNvSpPr/>
          <p:nvPr/>
        </p:nvSpPr>
        <p:spPr>
          <a:xfrm>
            <a:off x="548640" y="1508760"/>
            <a:ext cx="6766560" cy="4754880"/>
          </a:xfrm>
          <a:prstGeom prst="roundRect">
            <a:avLst>
              <a:gd name="adj" fmla="val 962"/>
            </a:avLst>
          </a:prstGeom>
          <a:solidFill>
            <a:srgbClr val="212121"/>
          </a:solidFill>
          <a:ln/>
        </p:spPr>
        <p:txBody>
          <a:bodyPr/>
          <a:p/>
        </p:txBody>
      </p:sp>
      <p:sp>
        <p:nvSpPr>
          <p:cNvPr id="7" name="Text 5"/>
          <p:cNvSpPr txBox="1"/>
          <p:nvPr/>
        </p:nvSpPr>
        <p:spPr>
          <a:xfrm>
            <a:off x="731520" y="1618488"/>
            <a:ext cx="6400800" cy="4535424"/>
          </a:xfrm>
          <a:prstGeom prst="rect">
            <a:avLst/>
          </a:prstGeom>
          <a:noFill/>
          <a:ln/>
        </p:spPr>
        <p:txBody>
          <a:bodyPr wrap="square" lIns="0" tIns="0" rIns="0" bIns="0" rtlCol="0" anchor="t"/>
          <a:lstStyle/>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LS</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bash: LS: command not found</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ls -z</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ls: invalid option -- 'z'</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Try 'ls --help' for more information.</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ls Docs</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ls: cannot access 'Docs': No such file or directory</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cd nowhere</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bash: cd: nowhere: No such file or directory</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cd README.txt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bash: cd: README.txt: Not a directory</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ls docs/final report.txt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ls: cannot access 'docs/final': No such file or directory</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ls: cannot access 'report.txt': No such file or directory</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ls "docs/final report.txt"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'docs/final report.txt'</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cd docs/final report.txt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bash: cd: too many arguments</a:t>
            </a:r>
            <a:endParaRPr lang="en-US" sz="1050" dirty="0"/>
          </a:p>
          <a:p>
            <a:pPr indent="0" marL="0">
              <a:lnSpc>
                <a:spcPct val="100000"/>
              </a:lnSpc>
              <a:buNone/>
            </a:pPr>
            <a:r>
              <a:rPr lang="en-US" sz="1050" dirty="0">
                <a:solidFill>
                  <a:srgbClr val="02C39A"/>
                </a:solidFill>
                <a:latin typeface="Consolas" pitchFamily="34" charset="0"/>
                <a:ea typeface="Consolas" pitchFamily="34" charset="-122"/>
                <a:cs typeface="Consolas" pitchFamily="34" charset="-120"/>
              </a:rPr>
              <a:t>student@okan-lab:~/lab$ </a:t>
            </a:r>
            <a:r>
              <a:rPr lang="en-US" sz="1050" b="1" dirty="0">
                <a:solidFill>
                  <a:srgbClr val="FFFFFF"/>
                </a:solidFill>
                <a:latin typeface="Consolas" pitchFamily="34" charset="0"/>
                <a:ea typeface="Consolas" pitchFamily="34" charset="-122"/>
                <a:cs typeface="Consolas" pitchFamily="34" charset="-120"/>
              </a:rPr>
              <a:t>cd /root</a:t>
            </a:r>
            <a:endParaRPr lang="en-US" sz="1050" dirty="0"/>
          </a:p>
          <a:p>
            <a:pPr indent="0" marL="0">
              <a:lnSpc>
                <a:spcPct val="100000"/>
              </a:lnSpc>
              <a:buNone/>
            </a:pPr>
            <a:r>
              <a:rPr lang="en-US" sz="1050" dirty="0">
                <a:solidFill>
                  <a:srgbClr val="F2F2F2"/>
                </a:solidFill>
                <a:latin typeface="Consolas" pitchFamily="34" charset="0"/>
                <a:ea typeface="Consolas" pitchFamily="34" charset="-122"/>
                <a:cs typeface="Consolas" pitchFamily="34" charset="-120"/>
              </a:rPr>
              <a:t>bash: cd: /root: Permission denied</a:t>
            </a:r>
            <a:endParaRPr lang="en-US" sz="1050" dirty="0"/>
          </a:p>
        </p:txBody>
      </p:sp>
      <p:sp>
        <p:nvSpPr>
          <p:cNvPr id="8" name="Shape 6"/>
          <p:cNvSpPr/>
          <p:nvPr/>
        </p:nvSpPr>
        <p:spPr>
          <a:xfrm>
            <a:off x="7543800" y="1508760"/>
            <a:ext cx="4114800" cy="4754880"/>
          </a:xfrm>
          <a:prstGeom prst="roundRect">
            <a:avLst>
              <a:gd name="adj" fmla="val 133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772400" y="1691640"/>
            <a:ext cx="3657600" cy="4434840"/>
          </a:xfrm>
          <a:prstGeom prst="rect">
            <a:avLst/>
          </a:prstGeom>
          <a:noFill/>
          <a:ln/>
        </p:spPr>
        <p:txBody>
          <a:bodyPr wrap="square" lIns="0" tIns="0" rIns="0" bIns="0" rtlCol="0" anchor="t"/>
          <a:lstStyle/>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command not found:</a:t>
            </a:r>
            <a:r>
              <a:rPr lang="en-US" sz="1300" dirty="0">
                <a:solidFill>
                  <a:srgbClr val="3A464C"/>
                </a:solidFill>
                <a:latin typeface="Calibri" pitchFamily="34" charset="0"/>
                <a:ea typeface="Calibri" pitchFamily="34" charset="-122"/>
                <a:cs typeface="Calibri" pitchFamily="34" charset="-120"/>
              </a:rPr>
              <a:t> typo, wrong case (LS), or the program is not installed.</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invalid option:</a:t>
            </a:r>
            <a:r>
              <a:rPr lang="en-US" sz="1300" dirty="0">
                <a:solidFill>
                  <a:srgbClr val="3A464C"/>
                </a:solidFill>
                <a:latin typeface="Calibri" pitchFamily="34" charset="0"/>
                <a:ea typeface="Calibri" pitchFamily="34" charset="-122"/>
                <a:cs typeface="Calibri" pitchFamily="34" charset="-120"/>
              </a:rPr>
              <a:t> check cmd --help.</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No such file or directory:</a:t>
            </a:r>
            <a:r>
              <a:rPr lang="en-US" sz="1300" dirty="0">
                <a:solidFill>
                  <a:srgbClr val="3A464C"/>
                </a:solidFill>
                <a:latin typeface="Calibri" pitchFamily="34" charset="0"/>
                <a:ea typeface="Calibri" pitchFamily="34" charset="-122"/>
                <a:cs typeface="Calibri" pitchFamily="34" charset="-120"/>
              </a:rPr>
              <a:t> wrong name/case, or you are in a different directory — run pwd and ls.</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Not a directory:</a:t>
            </a:r>
            <a:r>
              <a:rPr lang="en-US" sz="1300" dirty="0">
                <a:solidFill>
                  <a:srgbClr val="3A464C"/>
                </a:solidFill>
                <a:latin typeface="Calibri" pitchFamily="34" charset="0"/>
                <a:ea typeface="Calibri" pitchFamily="34" charset="-122"/>
                <a:cs typeface="Calibri" pitchFamily="34" charset="-120"/>
              </a:rPr>
              <a:t> cd works on directories, not files.</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Space in a name:</a:t>
            </a:r>
            <a:r>
              <a:rPr lang="en-US" sz="1300" dirty="0">
                <a:solidFill>
                  <a:srgbClr val="3A464C"/>
                </a:solidFill>
                <a:latin typeface="Calibri" pitchFamily="34" charset="0"/>
                <a:ea typeface="Calibri" pitchFamily="34" charset="-122"/>
                <a:cs typeface="Calibri" pitchFamily="34" charset="-120"/>
              </a:rPr>
              <a:t> the shell splits it into two arguments → quote it "…" or escape it \ .</a:t>
            </a:r>
            <a:endParaRPr lang="en-US" sz="1300" dirty="0"/>
          </a:p>
          <a:p>
            <a:pPr marL="228600" indent="-228600">
              <a:spcAft>
                <a:spcPts val="400"/>
              </a:spcAft>
              <a:buSzPct val="100000"/>
              <a:buChar char="•"/>
            </a:pPr>
            <a:r>
              <a:rPr lang="en-US" sz="1300" b="1" dirty="0">
                <a:solidFill>
                  <a:srgbClr val="3A464C"/>
                </a:solidFill>
                <a:latin typeface="Calibri" pitchFamily="34" charset="0"/>
                <a:ea typeface="Calibri" pitchFamily="34" charset="-122"/>
                <a:cs typeface="Calibri" pitchFamily="34" charset="-120"/>
              </a:rPr>
              <a:t>Permission denied:</a:t>
            </a:r>
            <a:r>
              <a:rPr lang="en-US" sz="1300" dirty="0">
                <a:solidFill>
                  <a:srgbClr val="3A464C"/>
                </a:solidFill>
                <a:latin typeface="Calibri" pitchFamily="34" charset="0"/>
                <a:ea typeface="Calibri" pitchFamily="34" charset="-122"/>
                <a:cs typeface="Calibri" pitchFamily="34" charset="-120"/>
              </a:rPr>
              <a:t> not your directory (/root) — Week 11.</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37</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You are in /home/student/lab/projects/alpha. Where are you after cd ../beta/src? And after cd - ?</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In ls -lh /var/log, which part is the command, which are options and which is the argument?</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A file has 23,604 bytes. What size does ls -lh show, and why?</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Why is cd a shell builtin and not a program in /usr/bin? Which Week 3 idea explains it?</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9 — Key Takeaways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9  ·  38</a:t>
            </a:r>
            <a:endParaRPr lang="en-US" sz="900" dirty="0"/>
          </a:p>
        </p:txBody>
      </p:sp>
      <p:sp>
        <p:nvSpPr>
          <p:cNvPr id="6" name="Text 4"/>
          <p:cNvSpPr txBox="1"/>
          <p:nvPr/>
        </p:nvSpPr>
        <p:spPr>
          <a:xfrm>
            <a:off x="548640" y="1600200"/>
            <a:ext cx="11064240" cy="4663440"/>
          </a:xfrm>
          <a:prstGeom prst="rect">
            <a:avLst/>
          </a:prstGeom>
          <a:noFill/>
          <a:ln/>
        </p:spPr>
        <p:txBody>
          <a:bodyPr wrap="square" lIns="0" tIns="0" rIns="0" bIns="0" rtlCol="0" anchor="t"/>
          <a:lstStyle/>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Getting Linux:</a:t>
            </a:r>
            <a:r>
              <a:rPr lang="en-US" sz="1900" dirty="0">
                <a:solidFill>
                  <a:srgbClr val="3A464C"/>
                </a:solidFill>
                <a:latin typeface="Calibri" pitchFamily="34" charset="0"/>
                <a:ea typeface="Calibri" pitchFamily="34" charset="-122"/>
                <a:cs typeface="Calibri" pitchFamily="34" charset="-120"/>
              </a:rPr>
              <a:t> lab PCs, WSL (wsl --install) or a VirtualBox VM; ~/lab is created by mcmp117_lab_setup.sh.</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Terminal ≠ shell ≠ kernel:</a:t>
            </a:r>
            <a:r>
              <a:rPr lang="en-US" sz="1900" dirty="0">
                <a:solidFill>
                  <a:srgbClr val="3A464C"/>
                </a:solidFill>
                <a:latin typeface="Calibri" pitchFamily="34" charset="0"/>
                <a:ea typeface="Calibri" pitchFamily="34" charset="-122"/>
                <a:cs typeface="Calibri" pitchFamily="34" charset="-120"/>
              </a:rPr>
              <a:t> the terminal shows text, bash interprets commands, the kernel does the work via system calls.</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Commands are processes:</a:t>
            </a:r>
            <a:r>
              <a:rPr lang="en-US" sz="1900" dirty="0">
                <a:solidFill>
                  <a:srgbClr val="3A464C"/>
                </a:solidFill>
                <a:latin typeface="Calibri" pitchFamily="34" charset="0"/>
                <a:ea typeface="Calibri" pitchFamily="34" charset="-122"/>
                <a:cs typeface="Calibri" pitchFamily="34" charset="-120"/>
              </a:rPr>
              <a:t> bash forks, the child execs /usr/bin/ls, the shell waits (Week 3); builtins like cd run inside bash.</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Anatomy:</a:t>
            </a:r>
            <a:r>
              <a:rPr lang="en-US" sz="1900" dirty="0">
                <a:solidFill>
                  <a:srgbClr val="3A464C"/>
                </a:solidFill>
                <a:latin typeface="Calibri" pitchFamily="34" charset="0"/>
                <a:ea typeface="Calibri" pitchFamily="34" charset="-122"/>
                <a:cs typeface="Calibri" pitchFamily="34" charset="-120"/>
              </a:rPr>
              <a:t> command -options arguments; spaces separate words; case matters.</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Looking around:</a:t>
            </a:r>
            <a:r>
              <a:rPr lang="en-US" sz="1900" dirty="0">
                <a:solidFill>
                  <a:srgbClr val="3A464C"/>
                </a:solidFill>
                <a:latin typeface="Calibri" pitchFamily="34" charset="0"/>
                <a:ea typeface="Calibri" pitchFamily="34" charset="-122"/>
                <a:cs typeface="Calibri" pitchFamily="34" charset="-120"/>
              </a:rPr>
              <a:t> pwd, ls -l -a -h -R; ls -l shows the inode fields of Week 7.</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Moving:</a:t>
            </a:r>
            <a:r>
              <a:rPr lang="en-US" sz="1900" dirty="0">
                <a:solidFill>
                  <a:srgbClr val="3A464C"/>
                </a:solidFill>
                <a:latin typeface="Calibri" pitchFamily="34" charset="0"/>
                <a:ea typeface="Calibri" pitchFamily="34" charset="-122"/>
                <a:cs typeface="Calibri" pitchFamily="34" charset="-120"/>
              </a:rPr>
              <a:t> one tree from /; absolute vs relative paths; ~ . .. - with cd.</a:t>
            </a:r>
            <a:endParaRPr lang="en-US" sz="1900" dirty="0"/>
          </a:p>
          <a:p>
            <a:pPr marL="228600" indent="-228600">
              <a:spcAft>
                <a:spcPts val="1600"/>
              </a:spcAft>
              <a:buSzPct val="100000"/>
              <a:buChar char="•"/>
            </a:pPr>
            <a:r>
              <a:rPr lang="en-US" sz="1900" b="1" dirty="0">
                <a:solidFill>
                  <a:srgbClr val="3A464C"/>
                </a:solidFill>
                <a:latin typeface="Calibri" pitchFamily="34" charset="0"/>
                <a:ea typeface="Calibri" pitchFamily="34" charset="-122"/>
                <a:cs typeface="Calibri" pitchFamily="34" charset="-120"/>
              </a:rPr>
              <a:t>Working smarter:</a:t>
            </a:r>
            <a:r>
              <a:rPr lang="en-US" sz="1900" dirty="0">
                <a:solidFill>
                  <a:srgbClr val="3A464C"/>
                </a:solidFill>
                <a:latin typeface="Calibri" pitchFamily="34" charset="0"/>
                <a:ea typeface="Calibri" pitchFamily="34" charset="-122"/>
                <a:cs typeface="Calibri" pitchFamily="34" charset="-120"/>
              </a:rPr>
              <a:t> --help, man, help, type; Tab, history, !!, Ctrl+C, Ctrl+L.</a:t>
            </a:r>
            <a:endParaRPr lang="en-US" sz="1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NEXT WEEK</a:t>
            </a:r>
            <a:endParaRPr lang="en-US"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File &amp; Directory Operations</a:t>
            </a:r>
            <a:endParaRPr lang="en-US"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Week 10 will cover:</a:t>
            </a:r>
            <a:endParaRPr lang="en-US"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mkdir, touch, cp, mv, rm, rmdir — and why rm has no recycle bin</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Wildcards * ? [ ] and brace expansion { } — expanded by the shell</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Viewing files: cat, less, head, tail, wc, file, stat, du, df</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Hard and symbolic links with ln and ln -s (inodes from Week 7)</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Lab: organise photos/ and docs/ with wildcards, make backups</a:t>
            </a:r>
            <a:endParaRPr lang="en-US"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9  ·  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Discussion</a:t>
            </a:r>
            <a:endParaRPr lang="en-US"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en-US" sz="1400" i="1" dirty="0">
                <a:solidFill>
                  <a:srgbClr val="F2F2F2"/>
                </a:solidFill>
                <a:latin typeface="Calibri" pitchFamily="34" charset="0"/>
                <a:ea typeface="Calibri" pitchFamily="34" charset="-122"/>
                <a:cs typeface="Calibri" pitchFamily="34" charset="-120"/>
              </a:rPr>
              <a:t>If you have questions after class, ask them on the course Telegram channel — everyone benefits from the answer.</a:t>
            </a:r>
            <a:endParaRPr lang="en-US" sz="1400" dirty="0"/>
          </a:p>
        </p:txBody>
      </p:sp>
      <p:sp>
        <p:nvSpPr>
          <p:cNvPr id="7" name="Text 4"/>
          <p:cNvSpPr txBox="1"/>
          <p:nvPr/>
        </p:nvSpPr>
        <p:spPr>
          <a:xfrm>
            <a:off x="548640" y="370332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9  ·  40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9</dc:title>
  <dc:subject>PptxGenJS Presentation</dc:subject>
  <dc:creator>PptxGenJS</dc:creator>
  <cp:lastModifiedBy>PptxGenJS</cp:lastModifiedBy>
  <cp:revision>1</cp:revision>
  <dcterms:created xsi:type="dcterms:W3CDTF">2026-10-12T18:08:56Z</dcterms:created>
  <dcterms:modified xsi:type="dcterms:W3CDTF">2026-10-12T18:08:56Z</dcterms:modified>
</cp:coreProperties>
</file>