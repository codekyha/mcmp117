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  <p:sldId id="271" r:id="rId116"/>
    <p:sldId id="272" r:id="rId117"/>
    <p:sldId id="273" r:id="rId118"/>
    <p:sldId id="274" r:id="rId119"/>
    <p:sldId id="275" r:id="rId120"/>
    <p:sldId id="276" r:id="rId121"/>
    <p:sldId id="277" r:id="rId122"/>
    <p:sldId id="278" r:id="rId123"/>
    <p:sldId id="279" r:id="rId124"/>
    <p:sldId id="280" r:id="rId125"/>
    <p:sldId id="281" r:id="rId126"/>
    <p:sldId id="282" r:id="rId127"/>
    <p:sldId id="283" r:id="rId128"/>
    <p:sldId id="284" r:id="rId129"/>
    <p:sldId id="285" r:id="rId130"/>
    <p:sldId id="286" r:id="rId131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Relationship Id="rId128" Type="http://schemas.openxmlformats.org/officeDocument/2006/relationships/slide" Target="slides/slide28.xml"/><Relationship Id="rId129" Type="http://schemas.openxmlformats.org/officeDocument/2006/relationships/slide" Target="slides/slide29.xml"/><Relationship Id="rId130" Type="http://schemas.openxmlformats.org/officeDocument/2006/relationships/slide" Target="slides/slide30.xml"/><Relationship Id="rId131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b_image-5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b_image-6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b_image-18-1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b_image-30-1.png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01168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The Big Picture &amp; a History of Computing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89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computer? What is an operating system? And how did we get here?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Electronical Communication Technology Programme  ·  Vocational School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035040" cy="4572000"/>
          </a:xfrm>
          <a:prstGeom prst="roundRect">
            <a:avLst>
              <a:gd name="adj" fmla="val 16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18488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691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116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Asst. Prof. Dr. Hasan Oğuz, Ph.D.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420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the Electronical Communication Technology Programme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1927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lecture notes and example code for every week are in the course repository.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0" y="1417320"/>
            <a:ext cx="4800600" cy="4572000"/>
          </a:xfrm>
          <a:prstGeom prst="roundRect">
            <a:avLst>
              <a:gd name="adj" fmla="val 16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086600" y="1618488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16916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SEMESTER RUNS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1993392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1–7: how an operating system works (theory, small C experiments)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midterm exam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9–14: hands-on Linux and the Bash shell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15: final exam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Today’s 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37160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17320" y="1371600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691640" y="1371600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computer, really?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2212848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2212848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417320" y="2212848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691640" y="2212848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operating system? (a first, simple definition)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31520" y="3054096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3054096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3054096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691640" y="305409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one? — the purpose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31520" y="3895344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31520" y="3895344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417320" y="3895344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691640" y="3895344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extended history — from punch cards to the cloud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31520" y="4736592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31520" y="4736592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417320" y="4736592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691640" y="4736592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history matters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9893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formal definitions, OS goals, and how operating systems are structured.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Computer, Really?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away the screen, the keyboard, the apps — at its core, a computer is a machine that follows instructions.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text, a key press, a sensor reading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3877056"/>
            <a:ext cx="746608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95648" y="28346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678528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24248" y="37033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instructions — a program — acts on the input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96048" y="3877056"/>
            <a:ext cx="746608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42655" y="28346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625535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71255" y="37033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result: text on a screen, a file saved, a motor turning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computer you will ever meet — a phone, a laptop, a drone flight controller — is this same loop, over and over, billions of times a second.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Operating System?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581912"/>
            <a:ext cx="10652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DEFINITION (WE’LL SHARPEN THIS NEXT WEEK)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84248"/>
            <a:ext cx="10652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is the program that starts first when you turn the computer on, and manages everything else — so that other programs can run.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3685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starts first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87368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program to run when you power on a computer.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352044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526280" y="3685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manages everything else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4087368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programs — your browser, a game, a text editor — run with its help.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352044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75320" y="3685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hides the hard parts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087368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to know how the disk or memory works to save a file.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an Operating System? — The Purpose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5819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an 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84248"/>
            <a:ext cx="4937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program could use the computer at a time.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program would have to talk to the hardware directly — the disk, the screen, the keyboard — which is hard to get right and easy to break.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roughly how the very first computers worked, as we’ll see shortly.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0" y="15819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an 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84248"/>
            <a:ext cx="4937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programs can safely share the same hardware.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to understand the disk or the memory to use a program — the OS handles it.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people, or multiple programs, can use the same machine at once.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We Get Here?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machine with no software at all, to the operating system in your pocket.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0 · 1837–1941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There Were Computers, There Were Calculators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8</a:t>
            </a:r>
            <a:endParaRPr lang="en-US" sz="900" dirty="0"/>
          </a:p>
        </p:txBody>
      </p:sp>
      <p:sp>
        <p:nvSpPr>
          <p:cNvPr id="6" name="Shape 6"/>
          <p:cNvSpPr/>
          <p:nvPr/>
        </p:nvSpPr>
        <p:spPr>
          <a:xfrm>
            <a:off x="548640" y="1463040"/>
            <a:ext cx="3611880" cy="48920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7"/>
          <p:cNvSpPr txBox="1"/>
          <p:nvPr/>
        </p:nvSpPr>
        <p:spPr>
          <a:xfrm>
            <a:off x="777240" y="4160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1837–43 · Analytical Engine</a:t>
            </a:r>
            <a:endParaRPr lang="en-US" sz="1450" dirty="0"/>
          </a:p>
        </p:txBody>
      </p:sp>
      <p:sp>
        <p:nvSpPr>
          <p:cNvPr id="8" name="Text 8"/>
          <p:cNvSpPr txBox="1"/>
          <p:nvPr/>
        </p:nvSpPr>
        <p:spPr>
          <a:xfrm>
            <a:off x="777240" y="457200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Babbage designs a mechanical, general-purpose computer with a processor (“mill”) and memory (“store”), fed by punched cards. Ada Lovelace publishes the first program for it in 1843. Never fully built — shown is Babbage's trial model of the mill.</a:t>
            </a:r>
            <a:endParaRPr lang="en-US" sz="1250" dirty="0"/>
          </a:p>
        </p:txBody>
      </p:sp>
      <p:pic>
        <p:nvPicPr>
          <p:cNvPr id="9" name="Picture 10" descr="7046dfbc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14" y="1645920"/>
            <a:ext cx="2973531" cy="2331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97679" y="1463040"/>
            <a:ext cx="3611880" cy="48920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526279" y="4160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1890 · Hollerith Tabulator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526279" y="457200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 Hollerith's punch-card machine counts the U.S. Census: pins pass through the holes, close an electrical circuit, and advance a dial. Years of manual counting shrink to months; his company later becomes part of IBM.</a:t>
            </a:r>
            <a:endParaRPr lang="en-US" sz="1250" dirty="0"/>
          </a:p>
        </p:txBody>
      </p:sp>
      <p:pic>
        <p:nvPicPr>
          <p:cNvPr id="13" name="Picture 11" descr="c82a1204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1729740"/>
            <a:ext cx="3246120" cy="216408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8046719" y="1463040"/>
            <a:ext cx="3611880" cy="48920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7"/>
          <p:cNvSpPr txBox="1"/>
          <p:nvPr/>
        </p:nvSpPr>
        <p:spPr>
          <a:xfrm>
            <a:off x="8275319" y="4160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1936–41 · Zuse Z1–Z3</a:t>
            </a:r>
            <a:endParaRPr lang="en-US" sz="1450" dirty="0"/>
          </a:p>
        </p:txBody>
      </p:sp>
      <p:sp>
        <p:nvSpPr>
          <p:cNvPr id="16" name="Text 8"/>
          <p:cNvSpPr txBox="1"/>
          <p:nvPr/>
        </p:nvSpPr>
        <p:spPr>
          <a:xfrm>
            <a:off x="8275319" y="457200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Konrad Zuse builds a series of programmable machines in Berlin. The relay-based Z3 (1941) is among the first working programmable computers. The original was destroyed in 1943 — shown is a later museum replica.</a:t>
            </a:r>
            <a:endParaRPr lang="en-US" sz="1250" dirty="0"/>
          </a:p>
        </p:txBody>
      </p:sp>
      <p:pic>
        <p:nvPicPr>
          <p:cNvPr id="17" name="Picture 12" descr="d5035e5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79" y="1645920"/>
            <a:ext cx="3108959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0 · THE FIRST INPUT DEVICE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Punch Cards — Reading Data by the Hole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assets/punch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56184"/>
            <a:ext cx="4937760" cy="372851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92240" y="5486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punch card being read on a card-punch/verifier machine.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WORKED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288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punch card is a stiff paper card where the presence or absence of a small rectangular hole, at a specific row and column, encodes one character or digit.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Hollerith's 1890 census machine read holes mechanically, using spring-loaded pins that completed an electrical circuit through each hole.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1950s–60s, punch cards carried both data and program instructions — one card per line of code was completely normal.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dropped, out-of-order deck of cards was a real, career-defining disaster for a 1960s programmer — one motivation for later, friendlier interfaces.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1 · 1945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ENIAC — Room-Sized, and Utterly Alone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assets/eni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844" y="1645920"/>
            <a:ext cx="4808551" cy="3749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5486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ENIAC (Electronic Numerical Integrator and Computer), 1945.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WITH NO OS AT ALL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8288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 9m × 15m room and weighed about 30 tons; built at the University of Pennsylvania for the U.S. Army.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roughly 18,000 vacuum tubes instead of any transistor — tubes failed constantly and had to be hunted down by hand.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monitor, no keyboard: “programming” meant physically rewiring plugboards and setting switches, which could take days.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ran at a time, with total control of the machine — there is no concept of “operating system” yet, because there is no other software to manage.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1 · 1956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GM-NAA I/O — Arguably the First Operating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jointly by General Motors Research and North American Aviation for GM's IBM 704 mainframe, GM-NAA I/O automated the tedious, error-prone job of loading one program after another by hand.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it solved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one job finished on the IBM 704, an operator had to manually mount tapes and start the next one — the expensive computer sat idle in between.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small, permanent “monitor” program resident in memory, whose only job is to automatically load and run the next job in a queue.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counts as “first”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earliest widely-cited program built specifically to manage other programs — the defining trait of every OS since.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1–2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Processing, Step by Step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style of computing from the 1950s into the 1970s — jobs, not people, are what the computer sees.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Punch the cards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9864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programmer writes a job on a deck of punch cards — there is no typing directly into the machine.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3648456"/>
            <a:ext cx="137160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56616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Collect a batch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9864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collects many jobs from many people into one “batch” and loads them together.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3648456"/>
            <a:ext cx="137160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35508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Run automatically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89864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program runs the whole batch, job after job, with no interaction in between.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648456"/>
            <a:ext cx="137160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915400" y="23317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14400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Collect the printout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2898648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(or a day) later, the programmer collects a paper printout — and finds out then whether there was a typo.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77240" y="5458968"/>
            <a:ext cx="10652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why early programmers were so disciplined about checking their work by hand — a single mistake could cost an entire day's turnaround.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2 · 1964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System/360 — One Operating System, Many Machines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1964, each IBM computer model needed its own, incompatible software — upgrading meant rewriting everything.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4652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IBM's bet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one instruction-set architecture, System/360, spanning small machines to giant mainframes, all running the same family of software.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OS/360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operating system for the line — one of the largest software projects attempted up to that point, and famously over budget and late.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4652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proved that an OS could be a product line of its own — portable across hardware, not welded to one physical machine.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2 ·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Multiprogramming — Letting the CPU Multitask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insight: while one job waits for slow input/output (a tape, a disk, a printer), the CPU sits idle. Why not let another job use it in the meantime?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holds the CPU from start to finish — even while it waits, doing nothing, for a tape to rewind.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several jobs in memory at once. The moment one starts waiting on I/O, the OS switches the CPU to a job that has real work to 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1089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2735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payoff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675888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useful work per hour rises sharply — the same expensive mainframe gets far more done without any faster hardware.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2–3 ·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Time-Sharing — Many Users, One Machine, At Once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31546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batch job at a time, connect many terminals to one computer. The OS gives each user a tiny slice of CPU time, in rapid rotation.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526280" y="1627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feels instant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029968"/>
            <a:ext cx="31546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are milliseconds long and rotate dozens of times per second — far faster than a human can perceive, so each user feels like they have the whole machine.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75320" y="1627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led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029968"/>
            <a:ext cx="31546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Time-sharing systems (CTSS at MIT, then Multics, then UNIX) are the direct ancestors of every multi-user and multi-process system running today, phones included.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4956048"/>
            <a:ext cx="10652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the mechanism behind the CPU scheduling algorithms you will study in Weeks 4–5 (FCFS, SJF, Priority, Round Robin) — time-sharing is what makes a scheduling algorithm necessary in the first place.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INTERMISSION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Multics, UNIX, and the road from the personal computer to the cloud.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2 · 1965–1969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Multics — The Giant That Didn't Ship (On Time)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 Bell Labs, and General Electric set out to build Multics: a single time-sharing system meant to serve a whole city like a public utility — always on, endlessly expandable, deeply secure.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4107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promised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1304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operation, dynamic memory, hierarchical files and directories, and fine-grained security — genuinely ahead of its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32461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4107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81304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was so ambitious that it grew slower and more expensive than planned; Bell Labs pulled out of the project in 1969.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2461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4107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left behind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81304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Bell Labs researchers who had worked on it — Ken Thompson and Dennis Ritchie — kept many of its best ideas, and built something smaller instead.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2–3 · 1969–1973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UNIX Is Born From Multics' Ashes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Thompson writes the first version of UNIX at Bell Labs, on a spare PDP-7 minicomputer nobody else wanted — deliberately small and simple, the opposite of Multics.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4652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1970–72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and Dennis Ritchie grow it into a small set of powerful, composable tools that do one job well and can be chained together.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is rewritten in a new, portable language Ritchie designs for the purpose: C. This is the single decision that lets UNIX later run on almost any hardware.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4652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philosophy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programs that do one thing and do it well. Write programs to work together.” This idea still shapes every Linux command you will type in Week 9.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4 · 1977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II — The Home Computer Goes Mainstream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926080" cy="292608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][</a:t>
            </a:r>
            <a:endParaRPr lang="en-US" sz="1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][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463040"/>
            <a:ext cx="7818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Steve Wozniak, sold by Apple Computer (Jobs &amp; Wozniak) starting in 1977 — one of the first successful, mass-produced personal computers.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with color graphics and a built-in version of the BASIC programming language — ready to program the moment it was switched on.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open architecture (expansion slots anyone could build hardware for) created an entire third-party industry around one machine.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Popularized the idea that a computer could sit on a desk at home or in a classroom, not just in a company's machine room.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4 · 1981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IBM PC and MS-DOS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assets/ibm_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78635"/>
            <a:ext cx="4937760" cy="32836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92240" y="5486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IBM Personal Computer (5150), with monochrome/color display, 1981.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PERSON, ONE COMPUTER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288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person, one computer, on a desk — the arrangement this course, and almost every office since, still takes for granted.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MS-DOS from a removable floppy disk — no hard drive was required to get started.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through internal slots, which is part of why the IBM PC “platform” outlived any single model of it.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1991, a decade later — on hardware like this, in Helsinki, Linus Torvalds starts writing Linux.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4 · 1970S–1990S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Graphical Interfaces Arrive — Icons, Windows, a Mouse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Xerox PARC (1973)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build the Alto, the first computer with overlapping windows, icons, and a mouse — mostly a research machine, never sold widely.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4652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Macintosh (1984)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brings PARC's ideas to a mass-market product: point-and-click, a trash can icon, real desktop metaphors, all with no typed commands required.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Windows (1985–95)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layers a graphical shell on top of MS-DOS, refining it across versions until Windows 95 makes it the default way most people use a PC.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4652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lasting shift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users, “typing commands to the computer” stops being the norm — though, as we will see in Weeks 9–14, it never disappears underneath the surface.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4–5 · 1991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Is Born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doing a (free) operating system (just a hobby, won't be big and professional like GNU)” — Linus Torvalds, a 21-year-old student in Helsinki, in a 1991 Usenet post announcing his kernel.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5478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was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50208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kernel — the core of an operating system — written from scratch but deliberately UNIX-compatible in behavior and commands.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33832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5478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spread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950208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under the GNU General Public License: source code freely available to read, modify, and redistribute, by anyone, forever.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3832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5478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with GNU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950208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the GNU Project's existing free command-line tools (started by Richard Stallman in 1983), Linux plus GNU became a complete, free operating system.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5 · 1990S–2000S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Meanwhile: Unix and Linux Take the Server Room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Windows won the desktop, a different, quieter competition was happening on machines most people never see: servers and supercomputers.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 &amp; multi-user design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(and later Linux) was built from the start for many simultaneous users and long uninterrupted uptime — exactly what a server needs.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free to license, unlike commercial Unix or Windows Server — a decisive advantage once server farms grew into the thousands of machines.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2000s, Linux runs the overwhelming majority of the TOP500 supercomputers and a large share of the servers powering the internet.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6 · 2007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iPhone — A Phone Becomes a Computer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releases the iPhone in 2007, running a full, modified version of its desktop operating system (what becomes iOS) — not a stripped-down phone 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3649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new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6732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capacitive multi-touch screen (no stylus), a real mobile web browser, and — from 2008 — an App Store for installing new software.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20040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3649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an OS milestone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76732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proved a full, modern, multi-tasking operating system could run on a battery-powered device that fits in a pocket.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20040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3649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ripple effect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767328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phone maker follows within two years — this is the direct trigger for the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6 · 2008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— Linux Goes Into Your Pocket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Inc. is founded in 2003, bought by Google in 2005; the first commercial Android phone (the HTC Dream / T-Mobile G1) ships in 2008.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46520" y="16276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Linux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02996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Android's core is a modified Linux kernel — the same lineage from Slide 22 — wrapped in a new interface, app framework, and Java-based tools.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 strategy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iOS, Android is licensed to any phone manufacturer for free, which is why it now runs on the largest number of devices worldwide.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46520" y="3959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belongs in this course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61688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Android phone in this room is, underneath the app icons, running the same kernel family you will type commands into in Week 9.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7 · 2000S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 — One Machine, Acting Like Many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64208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hardware kept getting more powerful, but most programs did not need a whole physical machine to themselves. Virtualization answers the mismatch.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machines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hypervisor lets one physical server pretend to be several independent computers, each running its own guest operating system, isolated from the others.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cloud”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like Amazon (AWS, 2006) rent out virtual machines by the hour — you use someone else's data center as if it were your own computer.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here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584448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isolation idea behind the containers used for software development and deployment, which is where container platforms such as Kubernetes and OpenShift (2011) come in.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Timeline,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27</a:t>
            </a:r>
            <a:endParaRPr lang="en-US" sz="900" dirty="0"/>
          </a:p>
        </p:txBody>
      </p:sp>
      <p:pic>
        <p:nvPicPr>
          <p:cNvPr id="6" name="Image 0" descr="assets/timeline_infograp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2513" y="1417320"/>
            <a:ext cx="7582215" cy="3931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406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era from this deck, on one line — from IBM's earliest OS work in the 1950s to the container platforms of the 2010s.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History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1691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generation solved a real problem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214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OS → automation → sharing the CPU → sharing it interactively → sharing it across the world.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143000" y="3063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ideas never really disappear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930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still multiprograms, still time-shares, still batches background tasks.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143000" y="44348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course follows the same order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8646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study processes, scheduling, memory, and files roughly in the order they were invented to solve these problems.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— Key Takeaways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29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46304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computer, at its core, just follows instructions: input → process → output.</a:t>
            </a:r>
            <a:endParaRPr lang="en-US" sz="16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working definition: the OS is the program that starts first and manages everything else.</a:t>
            </a:r>
            <a:endParaRPr lang="en-US" sz="16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an OS so programs can safely share hardware, and so users don’t need to manage it themselves.</a:t>
            </a:r>
            <a:endParaRPr lang="en-US" sz="16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moved from no software (ENIAC) → batch → multiprogramming/time-sharing → personal computers → mobile/cloud.</a:t>
            </a:r>
            <a:endParaRPr lang="en-US" sz="16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dates worth remembering: UNIX, 1969; Linux, 1991 — the system we’ll use hands-on later this semester.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9202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 &amp; Structures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8686800" cy="2651760"/>
          </a:xfrm>
          <a:prstGeom prst="roundRect">
            <a:avLst>
              <a:gd name="adj" fmla="val 3448"/>
            </a:avLst>
          </a:prstGeom>
          <a:solidFill>
            <a:srgbClr val="2A343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will cover: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657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precise, formal definition of an operating system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OS’s design goals: convenience, efficiency, ability to evolve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components of a computer system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operating systems are built: monolithic, layered, microkernel, modular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600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603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questions after class, ask them on the course Telegram channel — everyone benefits from the answer.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2026-09-28T09:36:38Z</dcterms:created>
  <dcterms:modified xsi:type="dcterms:W3CDTF">2026-09-28T09:36:38Z</dcterms:modified>
</cp:coreProperties>
</file>