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we built the OS from the outside: definitions, goals, dual mode and structures. Today we look at the interface the OS offers (services and system calls, first hour) and at the most important thing the OS manages: the process (second hour). Break in the middle, as 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recap only. Ask: who remembers what strace showed for printf? (a write system call). Ask: why can't a program just talk to the disk itself? (dual mode: privileged instructions trap). We build directly on these two facts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and 2 before the break, parts 3 to 5 after it. The C programs are demonstrations; students are not expected to write C, only to read the comments and understand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an OS is defined largely by the services it offers. We sort them into two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figure from top to bottom: people and programs use an interface; every request crosses the system-call layer; behind it the OS offers its services on top of the hardware. This is the classic figure from Silberschatz,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concrete example for each card from the students' own experience: a phone app that crashes is error detection plus program termination; WhatsApp sending a message is communication through sockets; saving a file is file-system manipulation.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is internal (controlling access of processes to resources); security is defence against outside and inside attacks. Both depend on the dual-mode hardware from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shells: bash and zsh on Linux and macOS, cmd.exe and PowerShell on Windows. The point to stress: a shell is a system program, it uses exactly the same system calls as any other program. Week 9 starts the hands-on Linux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we saw that system calls exist and that they are expensive. Now: how exactly does a call get from your C code into the kernel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stack. The red dashed line is the user/kernel boundary from Week 2. Above it everything runs in user mode inside the process; below it in kernel mode. Stress that printf buffers: ten printf calls can produce one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argument: system-call numbers and details differ between operating systems and even between CPU architectures of the same OS. The API is stable; the library adapts. Numbers checked in the Linux kernel headers (unistd_64.h, unistd_32.h, asm-generic/unistd.h).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an array of function pointers inside the kernel (sys_call_table). Invalid numbers return the error ENOSYS. The numbers shown are the real x86-64 Linux numbers from unistd_64.h. Compare with the interrupt vector from Week 2: both are tables of handler addresses indexed by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snake: top row left to right, then down, then bottom row right to left. Steps 2 to 5 run in kernel mode (dark). Step 4 mentions that the kernel checks the buffer address: a program must not be able to trick the kernel into reading kernel memory on its behalf. Negative return values between -4095 and -1 mean an error; the wrapper stores the error code in errno and returns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2 and 3 have a hidden cost: the kernel must copy the parameters from user memory and check that the addresses really belong to the calling process. Even in method 1 the buffer itself (the 26 bytes) stays in user memory; only its address travels in a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for the curious: ordinary C function calls use rcx for the 4th argument, but the syscall instruction itself overwrites rcx (return address) and r11 (flags), so the kernel convention uses r10 instead. This is from the Linux x86-64 ABI; no need for students to memorise registers, the point is that parameters travel in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our test machine. The inline assembly is only for demonstration; nobody writes system calls this way in practice. The last line shows that printf with a number also ends up as a single write. x86-64 Linux only: on ARM the instruction is svc and the registers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Windows column lists Windows API functions; underneath, each calls one or more native Nt... system calls in ntdll.dll. Note that read() and write() appear twice: in UNIX a device looks like a file, so the same calls serve both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measurement with GNU coreutils cp 9.4 on our test machine; output reformatted and trimmed to the largest counts plus copy_file_range. The textbook loop of read/write is what an older cp, or your own copy program, would do. copy_file_range is a newer Linux system call that avoids copying the data through user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from Week 2: kernel vs system programs vs applications. Most users never see a system call; they see these programs. Background services are called daemons in UNIX and services in Windows. Many of them will be used hands-on in Weeks 9 to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Optional question to think about during the break: when you open two terminal windows, how many copies of bash are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now on until the midterm, nearly everything is about processes: how they are represented, scheduled, synchronised, and given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PIDs here are illustrative. Older books use the word job (from batch systems) for the same idea; the two words are used almost interchangeably. Answer the break question: two terminal windows means two bash processes from one program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bss is an old assembler name (block started by symbol); the point is that the executable file does not need to store zeros, only the size. A stack that grows too far gives a stack overflow (e.g. infinite recursion). Memory management in Weeks 6 and 7 revisits this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ASLR = address space layout randomisation. The data and bss variables are only 8 bytes apart: they sit next to each other, as in the diagram. The gap between heap and stack is many terabytes of virtual address space; virtual memory (Week 7) explains why this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as well, it is the most important figure of the week and a classic exam question. Ask: can a process go directly from waiting to running? No: when its I/O completes it joins the ready queue and must be dispatched by the scheduler. Linux ps uses R for both running and runnable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Part 2: a process enters the waiting state by making a system call (read, wait, sleep). Connect to Week 2: the timer interrupt and the disk interrupt cause the other transitions. The OS is interrupt-driven.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multiprogramming argument from Week 1, now in terms of states. While A waits for the disk, B uses the CPU. Numbers verified: sequential total 3+4+2 = 9 ms for A, then 7 ms for B, 16 ms; CPU busy 12 of 16 ms. Ask students to check that at every moment exactly one process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PCB is also called a task control block. When a process is not running, the PCB is the process as far as the CPU is concerned: everything needed to resume it later. task_struct is defined in include/linux/sched.h in the kernel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our test machine; grep pattern line-wrapped here for space (type it on one line). $! is the PID of the last background command. sleep is waiting (S) because it asked the kernel to wake it after 30 s. /proc is not a real disk directory: the kernel generates the text on the fly from the task_struct. Students will use /proc again in Week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figure (Silberschatz Fig. 3.6) drawn horizontally: time runs left to right. The red arrows are the moments the CPU enters the kernel. Hidden extra cost: after a switch the caches and the TLB are full of the old process's data, so the new process runs slowly for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computed with a short Python check: overhead = s/(q+s) with s = 5 microseconds. E.g. q = 1 ms: 5/1005 = 0.4975 %, about 0.50 %. For q = 0.1 ms: 5/105 = 4.76 %. When q equals s, half of the CPU is wasted.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what a shell does for every command you type: fork a copy of itself, the copy execs the command, the shell waits. The PIDs are the ones from the real run on the next slide. Why two steps? Between fork and exec the child can prepare its environment, for example redirect its output to a file (Week 12, pipes and redirection).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(PIDs vary each run; the last line wrapped for space). STAT column: the parent is S (sleeping = waiting in wait()), the child is R (running, it is ps itself listing). Under strace -f the three calls appear as clone(...) = &lt;child PID&gt;, execve("/usr/bin/ps", ...) = 0 and wait4(&lt;child PID&gt;, ...) = &lt;child PID&gt;: glibc implements fork() with the clone system call. fflush before fork matters: otherwise the buffered text would be copied into the child and printed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pstree output on the right (our test machine has no systemd, so the left tree is a typical example with illustrative PIDs). On your own Linux: pstree -p | less. Windows also records the parent process, but does not maintain a strict tree the way UNIX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demonstration: sh -c 'sleep 1 &amp; exec sleep 4' starts sleep 1 in the background and then replaces the shell with sleep 4, which never calls wait(). After one second the first sleep is a zombie (real captured output on the slide). After four seconds the parent ends too; the zombie becomes an orphan and is reaped.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./fork_count 3 live. Read the tree with the real output: 1937 is the original; it created 1938, 1939, 1940 in forks 1, 2, 3. The verification loop output has been put on one line here; the program prints one number per line. Exam-style question: how many times is the printf executed for n = 4?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is the shell's own PID. Expected answer for the second question: usually only one or two R processes (ps itself), because most processes are waiting for input most of the time. voluntary_ctxt_switches counts how often the process gave up the CPU by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sentences to remember. Ask students to name, for each line, the slide or demo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No: library function; it formats into a buffer, then the write() wrapper traps into the kernel, sys_write passes the bytes to the terminal driver. 2) Registers, memory block, stack; registers (rdi, rsi, rdx, number in rax). 3) It must first be put in the ready queue and dispatched by the scheduler. 4) 10/(1000+10) = 0.99 %, about 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continues directly from today: the Threads line in /proc/&lt;pid&gt;/status, and the scheduler that chooses among ready processes. Read Silberschatz chapter 4 and section 5.1 before class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Remind students of the Telegram channel and that the code for today is in the week03/code folder with a Makefile.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3</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3  ·  OS Services, System Calls &amp; Processes</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What does the OS do for a program — and what exactly is a running program?</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LAST WEEK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2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a:t>
            </a:r>
            <a:endParaRPr lang="en-US"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Two views of the OS</a:t>
            </a:r>
            <a:endParaRPr lang="en-US"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An extended machine (clean abstractions) and a resource manager (sharing the hardware).</a:t>
            </a:r>
            <a:endParaRPr lang="en-US" sz="17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Dual mode</a:t>
            </a:r>
            <a:endParaRPr lang="en-US"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A mode bit in the CPU: user mode is restricted, kernel mode may do everything.</a:t>
            </a:r>
            <a:endParaRPr lang="en-US" sz="17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A first system call</a:t>
            </a:r>
            <a:endParaRPr lang="en-US"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printf() ended up as write(1, …); strace showed us every request to the kernel.</a:t>
            </a:r>
            <a:endParaRPr lang="en-US" sz="17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Calls are expensive</a:t>
            </a:r>
            <a:endParaRPr lang="en-US"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On our test machine a getpid() system call cost ≈ 116 ns, about 76 × a function call.</a:t>
            </a:r>
            <a:endParaRPr lang="en-US" sz="17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Today: which services sit behind that system-call door, how a call actually travels into the kernel — and what a "process" 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3</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a:t>
            </a:r>
            <a:endParaRPr lang="en-US" sz="900" dirty="0"/>
          </a:p>
        </p:txBody>
      </p:sp>
      <p:sp>
        <p:nvSpPr>
          <p:cNvPr id="6" name="Shape 4"/>
          <p:cNvSpPr/>
          <p:nvPr/>
        </p:nvSpPr>
        <p:spPr>
          <a:xfrm>
            <a:off x="548640" y="1554480"/>
            <a:ext cx="731520" cy="731520"/>
          </a:xfrm>
          <a:prstGeom prst="roundRect">
            <a:avLst>
              <a:gd name="adj" fmla="val 6250"/>
            </a:avLst>
          </a:prstGeom>
          <a:solidFill>
            <a:srgbClr val="02C39A"/>
          </a:solidFill>
          <a:ln/>
        </p:spPr>
        <p:txBody>
          <a:bodyPr/>
          <a:p/>
        </p:txBody>
      </p:sp>
      <p:sp>
        <p:nvSpPr>
          <p:cNvPr id="7" name="Text 5"/>
          <p:cNvSpPr txBox="1"/>
          <p:nvPr/>
        </p:nvSpPr>
        <p:spPr>
          <a:xfrm>
            <a:off x="548640" y="15544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463040" y="1554480"/>
            <a:ext cx="10195560" cy="731520"/>
          </a:xfrm>
          <a:prstGeom prst="roundRect">
            <a:avLst>
              <a:gd name="adj" fmla="val 6250"/>
            </a:avLst>
          </a:prstGeom>
          <a:solidFill>
            <a:srgbClr val="F2F2F2"/>
          </a:solidFill>
          <a:ln/>
        </p:spPr>
        <p:txBody>
          <a:bodyPr/>
          <a:p/>
        </p:txBody>
      </p:sp>
      <p:sp>
        <p:nvSpPr>
          <p:cNvPr id="9" name="Text 7"/>
          <p:cNvSpPr txBox="1"/>
          <p:nvPr/>
        </p:nvSpPr>
        <p:spPr>
          <a:xfrm>
            <a:off x="1737360" y="15544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OS services   </a:t>
            </a:r>
            <a:r>
              <a:rPr lang="en-US" sz="1500" dirty="0">
                <a:solidFill>
                  <a:srgbClr val="3A464C"/>
                </a:solidFill>
                <a:latin typeface="Calibri" pitchFamily="34" charset="0"/>
                <a:ea typeface="Calibri" pitchFamily="34" charset="-122"/>
                <a:cs typeface="Calibri" pitchFamily="34" charset="-120"/>
              </a:rPr>
              <a:t>What the OS offers to users, to programs, and to the system itself.</a:t>
            </a:r>
            <a:endParaRPr lang="en-US" sz="1400" dirty="0"/>
          </a:p>
        </p:txBody>
      </p:sp>
      <p:sp>
        <p:nvSpPr>
          <p:cNvPr id="10" name="Shape 8"/>
          <p:cNvSpPr/>
          <p:nvPr/>
        </p:nvSpPr>
        <p:spPr>
          <a:xfrm>
            <a:off x="548640" y="2468880"/>
            <a:ext cx="731520" cy="731520"/>
          </a:xfrm>
          <a:prstGeom prst="roundRect">
            <a:avLst>
              <a:gd name="adj" fmla="val 6250"/>
            </a:avLst>
          </a:prstGeom>
          <a:solidFill>
            <a:srgbClr val="02C39A"/>
          </a:solidFill>
          <a:ln/>
        </p:spPr>
        <p:txBody>
          <a:bodyPr/>
          <a:p/>
        </p:txBody>
      </p:sp>
      <p:sp>
        <p:nvSpPr>
          <p:cNvPr id="11" name="Text 9"/>
          <p:cNvSpPr txBox="1"/>
          <p:nvPr/>
        </p:nvSpPr>
        <p:spPr>
          <a:xfrm>
            <a:off x="548640" y="24688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463040" y="2468880"/>
            <a:ext cx="10195560" cy="731520"/>
          </a:xfrm>
          <a:prstGeom prst="roundRect">
            <a:avLst>
              <a:gd name="adj" fmla="val 6250"/>
            </a:avLst>
          </a:prstGeom>
          <a:solidFill>
            <a:srgbClr val="F2F2F2"/>
          </a:solidFill>
          <a:ln/>
        </p:spPr>
        <p:txBody>
          <a:bodyPr/>
          <a:p/>
        </p:txBody>
      </p:sp>
      <p:sp>
        <p:nvSpPr>
          <p:cNvPr id="13" name="Text 11"/>
          <p:cNvSpPr txBox="1"/>
          <p:nvPr/>
        </p:nvSpPr>
        <p:spPr>
          <a:xfrm>
            <a:off x="1737360" y="24688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System calls   </a:t>
            </a:r>
            <a:r>
              <a:rPr lang="en-US" sz="1500" dirty="0">
                <a:solidFill>
                  <a:srgbClr val="3A464C"/>
                </a:solidFill>
                <a:latin typeface="Calibri" pitchFamily="34" charset="0"/>
                <a:ea typeface="Calibri" pitchFamily="34" charset="-122"/>
                <a:cs typeface="Calibri" pitchFamily="34" charset="-120"/>
              </a:rPr>
              <a:t>API vs. system call, the system-call table, the trap, passing parameters.</a:t>
            </a:r>
            <a:endParaRPr lang="en-US" sz="1400" dirty="0"/>
          </a:p>
        </p:txBody>
      </p:sp>
      <p:sp>
        <p:nvSpPr>
          <p:cNvPr id="14" name="Shape 12"/>
          <p:cNvSpPr/>
          <p:nvPr/>
        </p:nvSpPr>
        <p:spPr>
          <a:xfrm>
            <a:off x="548640" y="3383280"/>
            <a:ext cx="731520" cy="731520"/>
          </a:xfrm>
          <a:prstGeom prst="roundRect">
            <a:avLst>
              <a:gd name="adj" fmla="val 6250"/>
            </a:avLst>
          </a:prstGeom>
          <a:solidFill>
            <a:srgbClr val="02C39A"/>
          </a:solidFill>
          <a:ln/>
        </p:spPr>
        <p:txBody>
          <a:bodyPr/>
          <a:p/>
        </p:txBody>
      </p:sp>
      <p:sp>
        <p:nvSpPr>
          <p:cNvPr id="15" name="Text 13"/>
          <p:cNvSpPr txBox="1"/>
          <p:nvPr/>
        </p:nvSpPr>
        <p:spPr>
          <a:xfrm>
            <a:off x="548640" y="33832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463040" y="3383280"/>
            <a:ext cx="10195560" cy="731520"/>
          </a:xfrm>
          <a:prstGeom prst="roundRect">
            <a:avLst>
              <a:gd name="adj" fmla="val 6250"/>
            </a:avLst>
          </a:prstGeom>
          <a:solidFill>
            <a:srgbClr val="F2F2F2"/>
          </a:solidFill>
          <a:ln/>
        </p:spPr>
        <p:txBody>
          <a:bodyPr/>
          <a:p/>
        </p:txBody>
      </p:sp>
      <p:sp>
        <p:nvSpPr>
          <p:cNvPr id="17" name="Text 15"/>
          <p:cNvSpPr txBox="1"/>
          <p:nvPr/>
        </p:nvSpPr>
        <p:spPr>
          <a:xfrm>
            <a:off x="1737360" y="33832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Processes   </a:t>
            </a:r>
            <a:r>
              <a:rPr lang="en-US" sz="1500" dirty="0">
                <a:solidFill>
                  <a:srgbClr val="3A464C"/>
                </a:solidFill>
                <a:latin typeface="Calibri" pitchFamily="34" charset="0"/>
                <a:ea typeface="Calibri" pitchFamily="34" charset="-122"/>
                <a:cs typeface="Calibri" pitchFamily="34" charset="-120"/>
              </a:rPr>
              <a:t>Program vs. process, memory layout, the five states, the PCB.</a:t>
            </a:r>
            <a:endParaRPr lang="en-US" sz="1400" dirty="0"/>
          </a:p>
        </p:txBody>
      </p:sp>
      <p:sp>
        <p:nvSpPr>
          <p:cNvPr id="18" name="Shape 16"/>
          <p:cNvSpPr/>
          <p:nvPr/>
        </p:nvSpPr>
        <p:spPr>
          <a:xfrm>
            <a:off x="548640" y="4297680"/>
            <a:ext cx="731520" cy="731520"/>
          </a:xfrm>
          <a:prstGeom prst="roundRect">
            <a:avLst>
              <a:gd name="adj" fmla="val 6250"/>
            </a:avLst>
          </a:prstGeom>
          <a:solidFill>
            <a:srgbClr val="02C39A"/>
          </a:solidFill>
          <a:ln/>
        </p:spPr>
        <p:txBody>
          <a:bodyPr/>
          <a:p/>
        </p:txBody>
      </p:sp>
      <p:sp>
        <p:nvSpPr>
          <p:cNvPr id="19" name="Text 17"/>
          <p:cNvSpPr txBox="1"/>
          <p:nvPr/>
        </p:nvSpPr>
        <p:spPr>
          <a:xfrm>
            <a:off x="548640" y="42976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463040" y="4297680"/>
            <a:ext cx="10195560" cy="731520"/>
          </a:xfrm>
          <a:prstGeom prst="roundRect">
            <a:avLst>
              <a:gd name="adj" fmla="val 6250"/>
            </a:avLst>
          </a:prstGeom>
          <a:solidFill>
            <a:srgbClr val="F2F2F2"/>
          </a:solidFill>
          <a:ln/>
        </p:spPr>
        <p:txBody>
          <a:bodyPr/>
          <a:p/>
        </p:txBody>
      </p:sp>
      <p:sp>
        <p:nvSpPr>
          <p:cNvPr id="21" name="Text 19"/>
          <p:cNvSpPr txBox="1"/>
          <p:nvPr/>
        </p:nvSpPr>
        <p:spPr>
          <a:xfrm>
            <a:off x="1737360" y="42976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Context switch   </a:t>
            </a:r>
            <a:r>
              <a:rPr lang="en-US" sz="1500" dirty="0">
                <a:solidFill>
                  <a:srgbClr val="3A464C"/>
                </a:solidFill>
                <a:latin typeface="Calibri" pitchFamily="34" charset="0"/>
                <a:ea typeface="Calibri" pitchFamily="34" charset="-122"/>
                <a:cs typeface="Calibri" pitchFamily="34" charset="-120"/>
              </a:rPr>
              <a:t>What is saved, why it is pure overhead, and how much it costs.</a:t>
            </a:r>
            <a:endParaRPr lang="en-US" sz="1400" dirty="0"/>
          </a:p>
        </p:txBody>
      </p:sp>
      <p:sp>
        <p:nvSpPr>
          <p:cNvPr id="22" name="Shape 20"/>
          <p:cNvSpPr/>
          <p:nvPr/>
        </p:nvSpPr>
        <p:spPr>
          <a:xfrm>
            <a:off x="548640" y="5212080"/>
            <a:ext cx="731520" cy="731520"/>
          </a:xfrm>
          <a:prstGeom prst="roundRect">
            <a:avLst>
              <a:gd name="adj" fmla="val 6250"/>
            </a:avLst>
          </a:prstGeom>
          <a:solidFill>
            <a:srgbClr val="02C39A"/>
          </a:solidFill>
          <a:ln/>
        </p:spPr>
        <p:txBody>
          <a:bodyPr/>
          <a:p/>
        </p:txBody>
      </p:sp>
      <p:sp>
        <p:nvSpPr>
          <p:cNvPr id="23" name="Text 21"/>
          <p:cNvSpPr txBox="1"/>
          <p:nvPr/>
        </p:nvSpPr>
        <p:spPr>
          <a:xfrm>
            <a:off x="548640" y="52120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463040" y="5212080"/>
            <a:ext cx="10195560" cy="731520"/>
          </a:xfrm>
          <a:prstGeom prst="roundRect">
            <a:avLst>
              <a:gd name="adj" fmla="val 6250"/>
            </a:avLst>
          </a:prstGeom>
          <a:solidFill>
            <a:srgbClr val="F2F2F2"/>
          </a:solidFill>
          <a:ln/>
        </p:spPr>
        <p:txBody>
          <a:bodyPr/>
          <a:p/>
        </p:txBody>
      </p:sp>
      <p:sp>
        <p:nvSpPr>
          <p:cNvPr id="25" name="Text 23"/>
          <p:cNvSpPr txBox="1"/>
          <p:nvPr/>
        </p:nvSpPr>
        <p:spPr>
          <a:xfrm>
            <a:off x="1737360" y="52120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Hands-on   </a:t>
            </a:r>
            <a:r>
              <a:rPr lang="en-US" sz="1500" dirty="0">
                <a:solidFill>
                  <a:srgbClr val="3A464C"/>
                </a:solidFill>
                <a:latin typeface="Calibri" pitchFamily="34" charset="0"/>
                <a:ea typeface="Calibri" pitchFamily="34" charset="-122"/>
                <a:cs typeface="Calibri" pitchFamily="34" charset="-120"/>
              </a:rPr>
              <a:t>C programs: raw syscall, memory map, fork / exec / wait, fork trees.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Operating-System Services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What the OS provides — to you, to your programs, and to itself.</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3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SERVICES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 View of Operating-System Services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5</a:t>
            </a:r>
            <a:endParaRPr lang="en-US" sz="900" dirty="0"/>
          </a:p>
        </p:txBody>
      </p:sp>
      <p:sp>
        <p:nvSpPr>
          <p:cNvPr id="6" name="Shape 4"/>
          <p:cNvSpPr/>
          <p:nvPr/>
        </p:nvSpPr>
        <p:spPr>
          <a:xfrm>
            <a:off x="548640" y="1508760"/>
            <a:ext cx="7040880" cy="457200"/>
          </a:xfrm>
          <a:prstGeom prst="roundRect">
            <a:avLst>
              <a:gd name="adj" fmla="val 10000"/>
            </a:avLst>
          </a:prstGeom>
          <a:solidFill>
            <a:srgbClr val="F2F2F2"/>
          </a:solidFill>
          <a:ln/>
        </p:spPr>
        <p:txBody>
          <a:bodyPr/>
          <a:p/>
        </p:txBody>
      </p:sp>
      <p:sp>
        <p:nvSpPr>
          <p:cNvPr id="7" name="Text 5"/>
          <p:cNvSpPr txBox="1"/>
          <p:nvPr/>
        </p:nvSpPr>
        <p:spPr>
          <a:xfrm>
            <a:off x="548640" y="1508760"/>
            <a:ext cx="7040880" cy="457200"/>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User and other system programs</a:t>
            </a:r>
            <a:endParaRPr lang="en-US" sz="1300" dirty="0"/>
          </a:p>
        </p:txBody>
      </p:sp>
      <p:sp>
        <p:nvSpPr>
          <p:cNvPr id="8" name="Shape 6"/>
          <p:cNvSpPr/>
          <p:nvPr/>
        </p:nvSpPr>
        <p:spPr>
          <a:xfrm>
            <a:off x="548640" y="2103120"/>
            <a:ext cx="2286000" cy="457200"/>
          </a:xfrm>
          <a:prstGeom prst="roundRect">
            <a:avLst>
              <a:gd name="adj" fmla="val 10000"/>
            </a:avLst>
          </a:prstGeom>
          <a:solidFill>
            <a:srgbClr val="D7E9E6"/>
          </a:solidFill>
          <a:ln/>
        </p:spPr>
        <p:txBody>
          <a:bodyPr/>
          <a:p/>
        </p:txBody>
      </p:sp>
      <p:sp>
        <p:nvSpPr>
          <p:cNvPr id="9" name="Text 7"/>
          <p:cNvSpPr txBox="1"/>
          <p:nvPr/>
        </p:nvSpPr>
        <p:spPr>
          <a:xfrm>
            <a:off x="548640" y="2103120"/>
            <a:ext cx="2286000" cy="4572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GUI</a:t>
            </a:r>
            <a:endParaRPr lang="en-US" sz="1200" dirty="0"/>
          </a:p>
        </p:txBody>
      </p:sp>
      <p:sp>
        <p:nvSpPr>
          <p:cNvPr id="10" name="Shape 8"/>
          <p:cNvSpPr/>
          <p:nvPr/>
        </p:nvSpPr>
        <p:spPr>
          <a:xfrm>
            <a:off x="2926080" y="2103120"/>
            <a:ext cx="2286000" cy="457200"/>
          </a:xfrm>
          <a:prstGeom prst="roundRect">
            <a:avLst>
              <a:gd name="adj" fmla="val 10000"/>
            </a:avLst>
          </a:prstGeom>
          <a:solidFill>
            <a:srgbClr val="D7E9E6"/>
          </a:solidFill>
          <a:ln/>
        </p:spPr>
        <p:txBody>
          <a:bodyPr/>
          <a:p/>
        </p:txBody>
      </p:sp>
      <p:sp>
        <p:nvSpPr>
          <p:cNvPr id="11" name="Text 9"/>
          <p:cNvSpPr txBox="1"/>
          <p:nvPr/>
        </p:nvSpPr>
        <p:spPr>
          <a:xfrm>
            <a:off x="2926080" y="2103120"/>
            <a:ext cx="2286000" cy="4572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Touch screen</a:t>
            </a:r>
            <a:endParaRPr lang="en-US" sz="1200" dirty="0"/>
          </a:p>
        </p:txBody>
      </p:sp>
      <p:sp>
        <p:nvSpPr>
          <p:cNvPr id="12" name="Shape 10"/>
          <p:cNvSpPr/>
          <p:nvPr/>
        </p:nvSpPr>
        <p:spPr>
          <a:xfrm>
            <a:off x="5303520" y="2103120"/>
            <a:ext cx="2286000" cy="457200"/>
          </a:xfrm>
          <a:prstGeom prst="roundRect">
            <a:avLst>
              <a:gd name="adj" fmla="val 10000"/>
            </a:avLst>
          </a:prstGeom>
          <a:solidFill>
            <a:srgbClr val="D7E9E6"/>
          </a:solidFill>
          <a:ln/>
        </p:spPr>
        <p:txBody>
          <a:bodyPr/>
          <a:p/>
        </p:txBody>
      </p:sp>
      <p:sp>
        <p:nvSpPr>
          <p:cNvPr id="13" name="Text 11"/>
          <p:cNvSpPr txBox="1"/>
          <p:nvPr/>
        </p:nvSpPr>
        <p:spPr>
          <a:xfrm>
            <a:off x="5303520" y="2103120"/>
            <a:ext cx="2286000" cy="4572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Command line</a:t>
            </a:r>
            <a:endParaRPr lang="en-US" sz="1200" dirty="0"/>
          </a:p>
        </p:txBody>
      </p:sp>
      <p:sp>
        <p:nvSpPr>
          <p:cNvPr id="14" name="Text 12"/>
          <p:cNvSpPr txBox="1"/>
          <p:nvPr/>
        </p:nvSpPr>
        <p:spPr>
          <a:xfrm>
            <a:off x="5349240" y="2578608"/>
            <a:ext cx="2240280" cy="228600"/>
          </a:xfrm>
          <a:prstGeom prst="rect">
            <a:avLst/>
          </a:prstGeom>
          <a:noFill/>
          <a:ln/>
        </p:spPr>
        <p:txBody>
          <a:bodyPr wrap="square" lIns="0" tIns="0" rIns="0" bIns="0" rtlCol="0" anchor="t"/>
          <a:lstStyle/>
          <a:p>
            <a:pPr algn="r" indent="0" marL="0">
              <a:buNone/>
            </a:pPr>
            <a:r>
              <a:rPr lang="en-US" sz="1000" i="1" dirty="0">
                <a:solidFill>
                  <a:srgbClr val="6B7679"/>
                </a:solidFill>
                <a:latin typeface="Calibri" pitchFamily="34" charset="0"/>
                <a:ea typeface="Calibri" pitchFamily="34" charset="-122"/>
                <a:cs typeface="Calibri" pitchFamily="34" charset="-120"/>
              </a:rPr>
              <a:t>user interfaces</a:t>
            </a:r>
            <a:endParaRPr lang="en-US" sz="1000" dirty="0"/>
          </a:p>
        </p:txBody>
      </p:sp>
      <p:sp>
        <p:nvSpPr>
          <p:cNvPr id="15" name="Shape 13"/>
          <p:cNvSpPr/>
          <p:nvPr/>
        </p:nvSpPr>
        <p:spPr>
          <a:xfrm>
            <a:off x="548640" y="2852928"/>
            <a:ext cx="7040880" cy="411480"/>
          </a:xfrm>
          <a:prstGeom prst="roundRect">
            <a:avLst>
              <a:gd name="adj" fmla="val 11111"/>
            </a:avLst>
          </a:prstGeom>
          <a:solidFill>
            <a:srgbClr val="50808E"/>
          </a:solidFill>
          <a:ln/>
        </p:spPr>
        <p:txBody>
          <a:bodyPr/>
          <a:p/>
        </p:txBody>
      </p:sp>
      <p:sp>
        <p:nvSpPr>
          <p:cNvPr id="16" name="Text 14"/>
          <p:cNvSpPr txBox="1"/>
          <p:nvPr/>
        </p:nvSpPr>
        <p:spPr>
          <a:xfrm>
            <a:off x="548640" y="2852928"/>
            <a:ext cx="7040880" cy="4114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System calls</a:t>
            </a:r>
            <a:endParaRPr lang="en-US" sz="1300" dirty="0"/>
          </a:p>
        </p:txBody>
      </p:sp>
      <p:sp>
        <p:nvSpPr>
          <p:cNvPr id="17" name="Shape 15"/>
          <p:cNvSpPr/>
          <p:nvPr/>
        </p:nvSpPr>
        <p:spPr>
          <a:xfrm>
            <a:off x="548640" y="3401568"/>
            <a:ext cx="7040880" cy="2240280"/>
          </a:xfrm>
          <a:prstGeom prst="roundRect">
            <a:avLst>
              <a:gd name="adj" fmla="val 2041"/>
            </a:avLst>
          </a:prstGeom>
          <a:solidFill>
            <a:srgbClr val="36454F"/>
          </a:solidFill>
          <a:ln/>
        </p:spPr>
        <p:txBody>
          <a:bodyPr/>
          <a:p/>
        </p:txBody>
      </p:sp>
      <p:sp>
        <p:nvSpPr>
          <p:cNvPr id="18" name="Text 16"/>
          <p:cNvSpPr txBox="1"/>
          <p:nvPr/>
        </p:nvSpPr>
        <p:spPr>
          <a:xfrm>
            <a:off x="731520" y="3474720"/>
            <a:ext cx="3657600" cy="274320"/>
          </a:xfrm>
          <a:prstGeom prst="rect">
            <a:avLst/>
          </a:prstGeom>
          <a:noFill/>
          <a:ln/>
        </p:spPr>
        <p:txBody>
          <a:bodyPr wrap="square" lIns="0" tIns="0" rIns="0" bIns="0" rtlCol="0" anchor="t"/>
          <a:lstStyle/>
          <a:p>
            <a:pPr indent="0" marL="0">
              <a:buNone/>
            </a:pPr>
            <a:r>
              <a:rPr lang="en-US" sz="1100" b="1" dirty="0">
                <a:solidFill>
                  <a:srgbClr val="02C39A"/>
                </a:solidFill>
                <a:latin typeface="Calibri" pitchFamily="34" charset="0"/>
                <a:ea typeface="Calibri" pitchFamily="34" charset="-122"/>
                <a:cs typeface="Calibri" pitchFamily="34" charset="-120"/>
              </a:rPr>
              <a:t>OPERATING SYSTEM</a:t>
            </a:r>
            <a:endParaRPr lang="en-US" sz="1100" dirty="0"/>
          </a:p>
        </p:txBody>
      </p:sp>
      <p:sp>
        <p:nvSpPr>
          <p:cNvPr id="19" name="Shape 17"/>
          <p:cNvSpPr/>
          <p:nvPr/>
        </p:nvSpPr>
        <p:spPr>
          <a:xfrm>
            <a:off x="731520" y="3794760"/>
            <a:ext cx="1247242" cy="731520"/>
          </a:xfrm>
          <a:prstGeom prst="roundRect">
            <a:avLst>
              <a:gd name="adj" fmla="val 6250"/>
            </a:avLst>
          </a:prstGeom>
          <a:solidFill>
            <a:srgbClr val="02C39A"/>
          </a:solidFill>
          <a:ln/>
        </p:spPr>
        <p:txBody>
          <a:bodyPr/>
          <a:p/>
        </p:txBody>
      </p:sp>
      <p:sp>
        <p:nvSpPr>
          <p:cNvPr id="20" name="Text 18"/>
          <p:cNvSpPr txBox="1"/>
          <p:nvPr/>
        </p:nvSpPr>
        <p:spPr>
          <a:xfrm>
            <a:off x="731520" y="3794760"/>
            <a:ext cx="1247242" cy="73152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Program execution</a:t>
            </a:r>
            <a:endParaRPr lang="en-US" sz="1200" dirty="0"/>
          </a:p>
        </p:txBody>
      </p:sp>
      <p:sp>
        <p:nvSpPr>
          <p:cNvPr id="21" name="Shape 19"/>
          <p:cNvSpPr/>
          <p:nvPr/>
        </p:nvSpPr>
        <p:spPr>
          <a:xfrm>
            <a:off x="2088490" y="3794760"/>
            <a:ext cx="1247242" cy="731520"/>
          </a:xfrm>
          <a:prstGeom prst="roundRect">
            <a:avLst>
              <a:gd name="adj" fmla="val 6250"/>
            </a:avLst>
          </a:prstGeom>
          <a:solidFill>
            <a:srgbClr val="02C39A"/>
          </a:solidFill>
          <a:ln/>
        </p:spPr>
        <p:txBody>
          <a:bodyPr/>
          <a:p/>
        </p:txBody>
      </p:sp>
      <p:sp>
        <p:nvSpPr>
          <p:cNvPr id="22" name="Text 20"/>
          <p:cNvSpPr txBox="1"/>
          <p:nvPr/>
        </p:nvSpPr>
        <p:spPr>
          <a:xfrm>
            <a:off x="2088490" y="3794760"/>
            <a:ext cx="1247242" cy="73152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I/O operations</a:t>
            </a:r>
            <a:endParaRPr lang="en-US" sz="1200" dirty="0"/>
          </a:p>
        </p:txBody>
      </p:sp>
      <p:sp>
        <p:nvSpPr>
          <p:cNvPr id="23" name="Shape 21"/>
          <p:cNvSpPr/>
          <p:nvPr/>
        </p:nvSpPr>
        <p:spPr>
          <a:xfrm>
            <a:off x="3445459" y="3794760"/>
            <a:ext cx="1247242" cy="731520"/>
          </a:xfrm>
          <a:prstGeom prst="roundRect">
            <a:avLst>
              <a:gd name="adj" fmla="val 6250"/>
            </a:avLst>
          </a:prstGeom>
          <a:solidFill>
            <a:srgbClr val="02C39A"/>
          </a:solidFill>
          <a:ln/>
        </p:spPr>
        <p:txBody>
          <a:bodyPr/>
          <a:p/>
        </p:txBody>
      </p:sp>
      <p:sp>
        <p:nvSpPr>
          <p:cNvPr id="24" name="Text 22"/>
          <p:cNvSpPr txBox="1"/>
          <p:nvPr/>
        </p:nvSpPr>
        <p:spPr>
          <a:xfrm>
            <a:off x="3445459" y="3794760"/>
            <a:ext cx="1247242" cy="73152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File systems</a:t>
            </a:r>
            <a:endParaRPr lang="en-US" sz="1200" dirty="0"/>
          </a:p>
        </p:txBody>
      </p:sp>
      <p:sp>
        <p:nvSpPr>
          <p:cNvPr id="25" name="Shape 23"/>
          <p:cNvSpPr/>
          <p:nvPr/>
        </p:nvSpPr>
        <p:spPr>
          <a:xfrm>
            <a:off x="4802429" y="3794760"/>
            <a:ext cx="1247242" cy="731520"/>
          </a:xfrm>
          <a:prstGeom prst="roundRect">
            <a:avLst>
              <a:gd name="adj" fmla="val 6250"/>
            </a:avLst>
          </a:prstGeom>
          <a:solidFill>
            <a:srgbClr val="02C39A"/>
          </a:solidFill>
          <a:ln/>
        </p:spPr>
        <p:txBody>
          <a:bodyPr/>
          <a:p/>
        </p:txBody>
      </p:sp>
      <p:sp>
        <p:nvSpPr>
          <p:cNvPr id="26" name="Text 24"/>
          <p:cNvSpPr txBox="1"/>
          <p:nvPr/>
        </p:nvSpPr>
        <p:spPr>
          <a:xfrm>
            <a:off x="4802429" y="3794760"/>
            <a:ext cx="1247242" cy="73152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Communication</a:t>
            </a:r>
            <a:endParaRPr lang="en-US" sz="1200" dirty="0"/>
          </a:p>
        </p:txBody>
      </p:sp>
      <p:sp>
        <p:nvSpPr>
          <p:cNvPr id="27" name="Shape 25"/>
          <p:cNvSpPr/>
          <p:nvPr/>
        </p:nvSpPr>
        <p:spPr>
          <a:xfrm>
            <a:off x="6159398" y="3794760"/>
            <a:ext cx="1247242" cy="731520"/>
          </a:xfrm>
          <a:prstGeom prst="roundRect">
            <a:avLst>
              <a:gd name="adj" fmla="val 6250"/>
            </a:avLst>
          </a:prstGeom>
          <a:solidFill>
            <a:srgbClr val="02C39A"/>
          </a:solidFill>
          <a:ln/>
        </p:spPr>
        <p:txBody>
          <a:bodyPr/>
          <a:p/>
        </p:txBody>
      </p:sp>
      <p:sp>
        <p:nvSpPr>
          <p:cNvPr id="28" name="Text 26"/>
          <p:cNvSpPr txBox="1"/>
          <p:nvPr/>
        </p:nvSpPr>
        <p:spPr>
          <a:xfrm>
            <a:off x="6159398" y="3794760"/>
            <a:ext cx="1247242" cy="73152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Error detection</a:t>
            </a:r>
            <a:endParaRPr lang="en-US" sz="1200" dirty="0"/>
          </a:p>
        </p:txBody>
      </p:sp>
      <p:sp>
        <p:nvSpPr>
          <p:cNvPr id="29" name="Shape 27"/>
          <p:cNvSpPr/>
          <p:nvPr/>
        </p:nvSpPr>
        <p:spPr>
          <a:xfrm>
            <a:off x="731520" y="4663440"/>
            <a:ext cx="2151888" cy="731520"/>
          </a:xfrm>
          <a:prstGeom prst="roundRect">
            <a:avLst>
              <a:gd name="adj" fmla="val 6250"/>
            </a:avLst>
          </a:prstGeom>
          <a:solidFill>
            <a:srgbClr val="50808E"/>
          </a:solidFill>
          <a:ln/>
        </p:spPr>
        <p:txBody>
          <a:bodyPr/>
          <a:p/>
        </p:txBody>
      </p:sp>
      <p:sp>
        <p:nvSpPr>
          <p:cNvPr id="30" name="Text 28"/>
          <p:cNvSpPr txBox="1"/>
          <p:nvPr/>
        </p:nvSpPr>
        <p:spPr>
          <a:xfrm>
            <a:off x="731520" y="4663440"/>
            <a:ext cx="2151888" cy="73152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Resource allocation</a:t>
            </a:r>
            <a:endParaRPr lang="en-US" sz="1200" dirty="0"/>
          </a:p>
        </p:txBody>
      </p:sp>
      <p:sp>
        <p:nvSpPr>
          <p:cNvPr id="31" name="Shape 29"/>
          <p:cNvSpPr/>
          <p:nvPr/>
        </p:nvSpPr>
        <p:spPr>
          <a:xfrm>
            <a:off x="2993136" y="4663440"/>
            <a:ext cx="2151888" cy="731520"/>
          </a:xfrm>
          <a:prstGeom prst="roundRect">
            <a:avLst>
              <a:gd name="adj" fmla="val 6250"/>
            </a:avLst>
          </a:prstGeom>
          <a:solidFill>
            <a:srgbClr val="50808E"/>
          </a:solidFill>
          <a:ln/>
        </p:spPr>
        <p:txBody>
          <a:bodyPr/>
          <a:p/>
        </p:txBody>
      </p:sp>
      <p:sp>
        <p:nvSpPr>
          <p:cNvPr id="32" name="Text 30"/>
          <p:cNvSpPr txBox="1"/>
          <p:nvPr/>
        </p:nvSpPr>
        <p:spPr>
          <a:xfrm>
            <a:off x="2993136" y="4663440"/>
            <a:ext cx="2151888" cy="73152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Accounting</a:t>
            </a:r>
            <a:endParaRPr lang="en-US" sz="1200" dirty="0"/>
          </a:p>
        </p:txBody>
      </p:sp>
      <p:sp>
        <p:nvSpPr>
          <p:cNvPr id="33" name="Shape 31"/>
          <p:cNvSpPr/>
          <p:nvPr/>
        </p:nvSpPr>
        <p:spPr>
          <a:xfrm>
            <a:off x="5254752" y="4663440"/>
            <a:ext cx="2151888" cy="731520"/>
          </a:xfrm>
          <a:prstGeom prst="roundRect">
            <a:avLst>
              <a:gd name="adj" fmla="val 6250"/>
            </a:avLst>
          </a:prstGeom>
          <a:solidFill>
            <a:srgbClr val="50808E"/>
          </a:solidFill>
          <a:ln/>
        </p:spPr>
        <p:txBody>
          <a:bodyPr/>
          <a:p/>
        </p:txBody>
      </p:sp>
      <p:sp>
        <p:nvSpPr>
          <p:cNvPr id="34" name="Text 32"/>
          <p:cNvSpPr txBox="1"/>
          <p:nvPr/>
        </p:nvSpPr>
        <p:spPr>
          <a:xfrm>
            <a:off x="5254752" y="4663440"/>
            <a:ext cx="2151888" cy="73152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Protection &amp; security</a:t>
            </a:r>
            <a:endParaRPr lang="en-US" sz="1200" dirty="0"/>
          </a:p>
        </p:txBody>
      </p:sp>
      <p:sp>
        <p:nvSpPr>
          <p:cNvPr id="35" name="Shape 33"/>
          <p:cNvSpPr/>
          <p:nvPr/>
        </p:nvSpPr>
        <p:spPr>
          <a:xfrm>
            <a:off x="548640" y="5760720"/>
            <a:ext cx="7040880" cy="457200"/>
          </a:xfrm>
          <a:prstGeom prst="roundRect">
            <a:avLst>
              <a:gd name="adj" fmla="val 10000"/>
            </a:avLst>
          </a:prstGeom>
          <a:solidFill>
            <a:srgbClr val="212121"/>
          </a:solidFill>
          <a:ln/>
        </p:spPr>
        <p:txBody>
          <a:bodyPr/>
          <a:p/>
        </p:txBody>
      </p:sp>
      <p:sp>
        <p:nvSpPr>
          <p:cNvPr id="36" name="Text 34"/>
          <p:cNvSpPr txBox="1"/>
          <p:nvPr/>
        </p:nvSpPr>
        <p:spPr>
          <a:xfrm>
            <a:off x="548640" y="5760720"/>
            <a:ext cx="7040880" cy="45720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Hardware</a:t>
            </a:r>
            <a:endParaRPr lang="en-US" sz="1300" dirty="0"/>
          </a:p>
        </p:txBody>
      </p:sp>
      <p:sp>
        <p:nvSpPr>
          <p:cNvPr id="37" name="Shape 35"/>
          <p:cNvSpPr/>
          <p:nvPr/>
        </p:nvSpPr>
        <p:spPr>
          <a:xfrm>
            <a:off x="7863840" y="1508760"/>
            <a:ext cx="3794760" cy="470916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8" name="Text 36"/>
          <p:cNvSpPr txBox="1"/>
          <p:nvPr/>
        </p:nvSpPr>
        <p:spPr>
          <a:xfrm>
            <a:off x="8092440" y="1691640"/>
            <a:ext cx="33375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Two groups</a:t>
            </a:r>
            <a:endParaRPr lang="en-US" sz="1500" dirty="0"/>
          </a:p>
        </p:txBody>
      </p:sp>
      <p:sp>
        <p:nvSpPr>
          <p:cNvPr id="39" name="Text 37"/>
          <p:cNvSpPr txBox="1"/>
          <p:nvPr/>
        </p:nvSpPr>
        <p:spPr>
          <a:xfrm>
            <a:off x="8092440" y="2148840"/>
            <a:ext cx="3337560" cy="393192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Mint row:</a:t>
            </a:r>
            <a:r>
              <a:rPr lang="en-US" sz="1400" dirty="0">
                <a:solidFill>
                  <a:srgbClr val="3A464C"/>
                </a:solidFill>
                <a:latin typeface="Calibri" pitchFamily="34" charset="0"/>
                <a:ea typeface="Calibri" pitchFamily="34" charset="-122"/>
                <a:cs typeface="Calibri" pitchFamily="34" charset="-120"/>
              </a:rPr>
              <a:t> services that help the user and the user's programs get work done.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Slate row:</a:t>
            </a:r>
            <a:r>
              <a:rPr lang="en-US" sz="1400" dirty="0">
                <a:solidFill>
                  <a:srgbClr val="3A464C"/>
                </a:solidFill>
                <a:latin typeface="Calibri" pitchFamily="34" charset="0"/>
                <a:ea typeface="Calibri" pitchFamily="34" charset="-122"/>
                <a:cs typeface="Calibri" pitchFamily="34" charset="-120"/>
              </a:rPr>
              <a:t> services that keep the system itself efficient and safe when many users and programs share 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Programs reach every service through the same door: system calls.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SERVICES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Services That Help the User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6</a:t>
            </a:r>
            <a:endParaRPr lang="en-US"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User interface</a:t>
            </a:r>
            <a:endParaRPr lang="en-US"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Command line (bash, PowerShell), graphical desktop, touch screen — or a batch file of commands.</a:t>
            </a:r>
            <a:endParaRPr lang="en-US" sz="140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Program execution</a:t>
            </a:r>
            <a:endParaRPr lang="en-US"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Load a program into memory, run it, and end it — normally or with an error code.</a:t>
            </a:r>
            <a:endParaRPr lang="en-US" sz="140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I/O operations</a:t>
            </a:r>
            <a:endParaRPr lang="en-US"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Programs never drive devices directly; the OS does the I/O for them (Week 2: dual mode).</a:t>
            </a:r>
            <a:endParaRPr lang="en-US" sz="140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File-system manipulation</a:t>
            </a:r>
            <a:endParaRPr lang="en-US"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Create, delete, read, write and search files and directories; manage permissions.</a:t>
            </a:r>
            <a:endParaRPr lang="en-US" sz="140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Communication</a:t>
            </a:r>
            <a:endParaRPr lang="en-US"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Exchange data between processes: on one computer (pipes, shared memory) or across a network (sockets).</a:t>
            </a:r>
            <a:endParaRPr lang="en-US" sz="140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Error detection</a:t>
            </a:r>
            <a:endParaRPr lang="en-US"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Notice and handle errors: a disk read fails, the printer is out of paper, a program divides by zero.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SERVICES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Services That Keep the System Running Well</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With many users and programs on one machine, the OS also needs services for itself.</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7</a:t>
            </a:r>
            <a:endParaRPr lang="en-US" sz="900" dirty="0"/>
          </a:p>
        </p:txBody>
      </p:sp>
      <p:sp>
        <p:nvSpPr>
          <p:cNvPr id="7" name="Shape 5"/>
          <p:cNvSpPr/>
          <p:nvPr/>
        </p:nvSpPr>
        <p:spPr>
          <a:xfrm>
            <a:off x="548640" y="2103120"/>
            <a:ext cx="3566160" cy="3063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Resource allocation</a:t>
            </a:r>
            <a:endParaRPr lang="en-US" sz="1500" dirty="0"/>
          </a:p>
        </p:txBody>
      </p:sp>
      <p:sp>
        <p:nvSpPr>
          <p:cNvPr id="9" name="Text 7"/>
          <p:cNvSpPr txBox="1"/>
          <p:nvPr/>
        </p:nvSpPr>
        <p:spPr>
          <a:xfrm>
            <a:off x="777240" y="2743200"/>
            <a:ext cx="3108960" cy="22860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Who gets the CPU, how much memory, which printer? Done by schedulers and allocators (Weeks 4–7).</a:t>
            </a:r>
            <a:endParaRPr lang="en-US" sz="1500" dirty="0"/>
          </a:p>
        </p:txBody>
      </p:sp>
      <p:sp>
        <p:nvSpPr>
          <p:cNvPr id="10" name="Text 8"/>
          <p:cNvSpPr txBox="1"/>
          <p:nvPr/>
        </p:nvSpPr>
        <p:spPr>
          <a:xfrm>
            <a:off x="777240" y="4526280"/>
            <a:ext cx="3108960" cy="50292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Linux: ulimit -a shows per-process limits.</a:t>
            </a:r>
            <a:endParaRPr lang="en-US" sz="1200" dirty="0"/>
          </a:p>
        </p:txBody>
      </p:sp>
      <p:sp>
        <p:nvSpPr>
          <p:cNvPr id="11" name="Shape 9"/>
          <p:cNvSpPr/>
          <p:nvPr/>
        </p:nvSpPr>
        <p:spPr>
          <a:xfrm>
            <a:off x="4325112" y="2103120"/>
            <a:ext cx="3566160" cy="3063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4553712" y="228600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Accounting &amp; logging</a:t>
            </a:r>
            <a:endParaRPr lang="en-US" sz="1500" dirty="0"/>
          </a:p>
        </p:txBody>
      </p:sp>
      <p:sp>
        <p:nvSpPr>
          <p:cNvPr id="13" name="Text 11"/>
          <p:cNvSpPr txBox="1"/>
          <p:nvPr/>
        </p:nvSpPr>
        <p:spPr>
          <a:xfrm>
            <a:off x="4553712" y="2743200"/>
            <a:ext cx="3108960" cy="22860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Keep track of who used how much CPU time, memory and disk — for billing, statistics and tuning.</a:t>
            </a:r>
            <a:endParaRPr lang="en-US" sz="1500" dirty="0"/>
          </a:p>
        </p:txBody>
      </p:sp>
      <p:sp>
        <p:nvSpPr>
          <p:cNvPr id="14" name="Text 12"/>
          <p:cNvSpPr txBox="1"/>
          <p:nvPr/>
        </p:nvSpPr>
        <p:spPr>
          <a:xfrm>
            <a:off x="4553712" y="4526280"/>
            <a:ext cx="3108960" cy="50292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Linux: ps, top, journalctl; Windows: Event Viewer.</a:t>
            </a:r>
            <a:endParaRPr lang="en-US" sz="1200" dirty="0"/>
          </a:p>
        </p:txBody>
      </p:sp>
      <p:sp>
        <p:nvSpPr>
          <p:cNvPr id="15" name="Shape 13"/>
          <p:cNvSpPr/>
          <p:nvPr/>
        </p:nvSpPr>
        <p:spPr>
          <a:xfrm>
            <a:off x="8101584" y="2103120"/>
            <a:ext cx="3566160" cy="3063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8330184" y="228600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Protection &amp; security</a:t>
            </a:r>
            <a:endParaRPr lang="en-US" sz="1500" dirty="0"/>
          </a:p>
        </p:txBody>
      </p:sp>
      <p:sp>
        <p:nvSpPr>
          <p:cNvPr id="17" name="Text 15"/>
          <p:cNvSpPr txBox="1"/>
          <p:nvPr/>
        </p:nvSpPr>
        <p:spPr>
          <a:xfrm>
            <a:off x="8330184" y="2743200"/>
            <a:ext cx="3108960" cy="22860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Protection: processes cannot touch each other's memory. Security: users must authenticate; attacks are logged.</a:t>
            </a:r>
            <a:endParaRPr lang="en-US" sz="1500" dirty="0"/>
          </a:p>
        </p:txBody>
      </p:sp>
      <p:sp>
        <p:nvSpPr>
          <p:cNvPr id="18" name="Text 16"/>
          <p:cNvSpPr txBox="1"/>
          <p:nvPr/>
        </p:nvSpPr>
        <p:spPr>
          <a:xfrm>
            <a:off x="8330184" y="4526280"/>
            <a:ext cx="3108960" cy="50292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Linux: file permissions (Week 11), passwords.</a:t>
            </a:r>
            <a:endParaRPr lang="en-US" sz="1200" dirty="0"/>
          </a:p>
        </p:txBody>
      </p:sp>
      <p:sp>
        <p:nvSpPr>
          <p:cNvPr id="19" name="Shape 17"/>
          <p:cNvSpPr/>
          <p:nvPr/>
        </p:nvSpPr>
        <p:spPr>
          <a:xfrm>
            <a:off x="548640" y="5394960"/>
            <a:ext cx="1110996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777240" y="5394960"/>
            <a:ext cx="10652760" cy="86868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A chain is only as strong as its weakest link: one guessed password defeats all of the protection hardware we met last week.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USER INTERFACES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Command Line vs. Graphical Interface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8</a:t>
            </a:r>
            <a:endParaRPr lang="en-US" sz="900" dirty="0"/>
          </a:p>
        </p:txBody>
      </p:sp>
      <p:sp>
        <p:nvSpPr>
          <p:cNvPr id="6" name="Shape 4"/>
          <p:cNvSpPr/>
          <p:nvPr/>
        </p:nvSpPr>
        <p:spPr>
          <a:xfrm>
            <a:off x="548640" y="1508760"/>
            <a:ext cx="5760720" cy="3291840"/>
          </a:xfrm>
          <a:prstGeom prst="roundRect">
            <a:avLst>
              <a:gd name="adj" fmla="val 1389"/>
            </a:avLst>
          </a:prstGeom>
          <a:solidFill>
            <a:srgbClr val="212121"/>
          </a:solidFill>
          <a:ln/>
        </p:spPr>
        <p:txBody>
          <a:bodyPr/>
          <a:p/>
        </p:txBody>
      </p:sp>
      <p:sp>
        <p:nvSpPr>
          <p:cNvPr id="7" name="Text 5"/>
          <p:cNvSpPr txBox="1"/>
          <p:nvPr/>
        </p:nvSpPr>
        <p:spPr>
          <a:xfrm>
            <a:off x="731520" y="1618488"/>
            <a:ext cx="5394960" cy="307238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a command-line session (bash on Linux)</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ls -l report.txt      # file-system service</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cp report.txt backup/ # file-system service</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./myprog &amp;            # program execution</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ps                    # status information</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kill 4242             # process control</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each command is a separate program that</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the shell starts for you (Part 3: fork/exec)</a:t>
            </a:r>
            <a:endParaRPr lang="en-US" sz="1300" dirty="0"/>
          </a:p>
        </p:txBody>
      </p:sp>
      <p:sp>
        <p:nvSpPr>
          <p:cNvPr id="8" name="Shape 6"/>
          <p:cNvSpPr/>
          <p:nvPr/>
        </p:nvSpPr>
        <p:spPr>
          <a:xfrm>
            <a:off x="548640" y="4983480"/>
            <a:ext cx="5760720" cy="1280160"/>
          </a:xfrm>
          <a:prstGeom prst="roundRect">
            <a:avLst>
              <a:gd name="adj" fmla="val 428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4983480"/>
            <a:ext cx="5303520" cy="12801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The shell is not part of the kernel: it is an ordinary program that reads a command and asks the OS to run it.</a:t>
            </a:r>
            <a:endParaRPr lang="en-US" sz="1400" dirty="0"/>
          </a:p>
        </p:txBody>
      </p:sp>
      <p:sp>
        <p:nvSpPr>
          <p:cNvPr id="10" name="Shape 8"/>
          <p:cNvSpPr/>
          <p:nvPr/>
        </p:nvSpPr>
        <p:spPr>
          <a:xfrm>
            <a:off x="6583680" y="1508760"/>
            <a:ext cx="507492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812280" y="1691640"/>
            <a:ext cx="4617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Which one is better?</a:t>
            </a:r>
            <a:endParaRPr lang="en-US" sz="1500" dirty="0"/>
          </a:p>
        </p:txBody>
      </p:sp>
      <p:sp>
        <p:nvSpPr>
          <p:cNvPr id="12" name="Text 10"/>
          <p:cNvSpPr txBox="1"/>
          <p:nvPr/>
        </p:nvSpPr>
        <p:spPr>
          <a:xfrm>
            <a:off x="6812280" y="2148840"/>
            <a:ext cx="461772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Command line (CLI):</a:t>
            </a:r>
            <a:r>
              <a:rPr lang="en-US" sz="1400" dirty="0">
                <a:solidFill>
                  <a:srgbClr val="3A464C"/>
                </a:solidFill>
                <a:latin typeface="Calibri" pitchFamily="34" charset="0"/>
                <a:ea typeface="Calibri" pitchFamily="34" charset="-122"/>
                <a:cs typeface="Calibri" pitchFamily="34" charset="-120"/>
              </a:rPr>
              <a:t> fast for experts, scriptable, works over a slow network connection; must remember commands.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Graphical (GUI):</a:t>
            </a:r>
            <a:r>
              <a:rPr lang="en-US" sz="1400" dirty="0">
                <a:solidFill>
                  <a:srgbClr val="3A464C"/>
                </a:solidFill>
                <a:latin typeface="Calibri" pitchFamily="34" charset="0"/>
                <a:ea typeface="Calibri" pitchFamily="34" charset="-122"/>
                <a:cs typeface="Calibri" pitchFamily="34" charset="-120"/>
              </a:rPr>
              <a:t> windows, icons, mouse; easy to learn; hard to automate.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Touch screen:</a:t>
            </a:r>
            <a:r>
              <a:rPr lang="en-US" sz="1400" dirty="0">
                <a:solidFill>
                  <a:srgbClr val="3A464C"/>
                </a:solidFill>
                <a:latin typeface="Calibri" pitchFamily="34" charset="0"/>
                <a:ea typeface="Calibri" pitchFamily="34" charset="-122"/>
                <a:cs typeface="Calibri" pitchFamily="34" charset="-120"/>
              </a:rPr>
              <a:t> gestures instead of a mouse; phones and tablets.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Most system administrators use both. From Week 9 on we work in the Linux shell.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System Calls in Detail</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The only door from a user program into the kernel.</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3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SYSTEM CALLS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API, Library Wrapper and System Call</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Programmers almost never execute a system call directly. Three layers sit between printf() and the hardware.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10</a:t>
            </a:r>
            <a:endParaRPr lang="en-US" sz="900" dirty="0"/>
          </a:p>
        </p:txBody>
      </p:sp>
      <p:sp>
        <p:nvSpPr>
          <p:cNvPr id="7" name="Shape 5"/>
          <p:cNvSpPr/>
          <p:nvPr/>
        </p:nvSpPr>
        <p:spPr>
          <a:xfrm>
            <a:off x="548640" y="2103120"/>
            <a:ext cx="6035040" cy="658368"/>
          </a:xfrm>
          <a:prstGeom prst="roundRect">
            <a:avLst>
              <a:gd name="adj" fmla="val 6944"/>
            </a:avLst>
          </a:prstGeom>
          <a:solidFill>
            <a:srgbClr val="F2F2F2"/>
          </a:solidFill>
          <a:ln/>
        </p:spPr>
        <p:txBody>
          <a:bodyPr/>
          <a:p/>
        </p:txBody>
      </p:sp>
      <p:sp>
        <p:nvSpPr>
          <p:cNvPr id="8" name="Text 6"/>
          <p:cNvSpPr txBox="1"/>
          <p:nvPr/>
        </p:nvSpPr>
        <p:spPr>
          <a:xfrm>
            <a:off x="548640" y="2103120"/>
            <a:ext cx="6035040" cy="658368"/>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Your program</a:t>
            </a:r>
            <a:endParaRPr lang="en-US" sz="1300" dirty="0"/>
          </a:p>
          <a:p>
            <a:pPr algn="ctr" indent="0" marL="0">
              <a:buNone/>
            </a:pPr>
            <a:r>
              <a:rPr lang="en-US" sz="1200" dirty="0">
                <a:solidFill>
                  <a:srgbClr val="36454F"/>
                </a:solidFill>
                <a:latin typeface="Calibri" pitchFamily="34" charset="0"/>
                <a:ea typeface="Calibri" pitchFamily="34" charset="-122"/>
                <a:cs typeface="Calibri" pitchFamily="34" charset="-120"/>
              </a:rPr>
              <a:t>printf("x = %d\n", x);</a:t>
            </a:r>
            <a:endParaRPr lang="en-US" sz="1300" dirty="0"/>
          </a:p>
        </p:txBody>
      </p:sp>
      <p:sp>
        <p:nvSpPr>
          <p:cNvPr id="9" name="Shape 7"/>
          <p:cNvSpPr/>
          <p:nvPr/>
        </p:nvSpPr>
        <p:spPr>
          <a:xfrm>
            <a:off x="1005840" y="2770632"/>
            <a:ext cx="91" cy="146304"/>
          </a:xfrm>
          <a:prstGeom prst="line">
            <a:avLst/>
          </a:prstGeom>
          <a:noFill/>
          <a:ln w="19050">
            <a:solidFill>
              <a:srgbClr val="50808E"/>
            </a:solidFill>
            <a:prstDash val="solid"/>
            <a:tailEnd type="triangle"/>
          </a:ln>
        </p:spPr>
        <p:txBody>
          <a:bodyPr/>
          <a:p/>
        </p:txBody>
      </p:sp>
      <p:sp>
        <p:nvSpPr>
          <p:cNvPr id="10" name="Shape 8"/>
          <p:cNvSpPr/>
          <p:nvPr/>
        </p:nvSpPr>
        <p:spPr>
          <a:xfrm>
            <a:off x="548640" y="2926080"/>
            <a:ext cx="6035040" cy="658368"/>
          </a:xfrm>
          <a:prstGeom prst="roundRect">
            <a:avLst>
              <a:gd name="adj" fmla="val 6944"/>
            </a:avLst>
          </a:prstGeom>
          <a:solidFill>
            <a:srgbClr val="D7E9E6"/>
          </a:solidFill>
          <a:ln/>
        </p:spPr>
        <p:txBody>
          <a:bodyPr/>
          <a:p/>
        </p:txBody>
      </p:sp>
      <p:sp>
        <p:nvSpPr>
          <p:cNvPr id="11" name="Text 9"/>
          <p:cNvSpPr txBox="1"/>
          <p:nvPr/>
        </p:nvSpPr>
        <p:spPr>
          <a:xfrm>
            <a:off x="548640" y="2926080"/>
            <a:ext cx="6035040" cy="658368"/>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C library (API function)</a:t>
            </a:r>
            <a:endParaRPr lang="en-US" sz="1300" dirty="0"/>
          </a:p>
          <a:p>
            <a:pPr algn="ctr" indent="0" marL="0">
              <a:buNone/>
            </a:pPr>
            <a:r>
              <a:rPr lang="en-US" sz="1200" dirty="0">
                <a:solidFill>
                  <a:srgbClr val="36454F"/>
                </a:solidFill>
                <a:latin typeface="Calibri" pitchFamily="34" charset="0"/>
                <a:ea typeface="Calibri" pitchFamily="34" charset="-122"/>
                <a:cs typeface="Calibri" pitchFamily="34" charset="-120"/>
              </a:rPr>
              <a:t>printf formats the text into a buffer</a:t>
            </a:r>
            <a:endParaRPr lang="en-US" sz="1300" dirty="0"/>
          </a:p>
        </p:txBody>
      </p:sp>
      <p:sp>
        <p:nvSpPr>
          <p:cNvPr id="12" name="Shape 10"/>
          <p:cNvSpPr/>
          <p:nvPr/>
        </p:nvSpPr>
        <p:spPr>
          <a:xfrm>
            <a:off x="1005840" y="3593592"/>
            <a:ext cx="91" cy="146304"/>
          </a:xfrm>
          <a:prstGeom prst="line">
            <a:avLst/>
          </a:prstGeom>
          <a:noFill/>
          <a:ln w="19050">
            <a:solidFill>
              <a:srgbClr val="50808E"/>
            </a:solidFill>
            <a:prstDash val="solid"/>
            <a:tailEnd type="triangle"/>
          </a:ln>
        </p:spPr>
        <p:txBody>
          <a:bodyPr/>
          <a:p/>
        </p:txBody>
      </p:sp>
      <p:sp>
        <p:nvSpPr>
          <p:cNvPr id="13" name="Shape 11"/>
          <p:cNvSpPr/>
          <p:nvPr/>
        </p:nvSpPr>
        <p:spPr>
          <a:xfrm>
            <a:off x="548640" y="3749040"/>
            <a:ext cx="6035040" cy="658368"/>
          </a:xfrm>
          <a:prstGeom prst="roundRect">
            <a:avLst>
              <a:gd name="adj" fmla="val 6944"/>
            </a:avLst>
          </a:prstGeom>
          <a:solidFill>
            <a:srgbClr val="D7E9E6"/>
          </a:solidFill>
          <a:ln/>
        </p:spPr>
        <p:txBody>
          <a:bodyPr/>
          <a:p/>
        </p:txBody>
      </p:sp>
      <p:sp>
        <p:nvSpPr>
          <p:cNvPr id="14" name="Text 12"/>
          <p:cNvSpPr txBox="1"/>
          <p:nvPr/>
        </p:nvSpPr>
        <p:spPr>
          <a:xfrm>
            <a:off x="548640" y="3749040"/>
            <a:ext cx="6035040" cy="658368"/>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C library (wrapper)</a:t>
            </a:r>
            <a:endParaRPr lang="en-US" sz="1300" dirty="0"/>
          </a:p>
          <a:p>
            <a:pPr algn="ctr" indent="0" marL="0">
              <a:buNone/>
            </a:pPr>
            <a:r>
              <a:rPr lang="en-US" sz="1200" dirty="0">
                <a:solidFill>
                  <a:srgbClr val="36454F"/>
                </a:solidFill>
                <a:latin typeface="Calibri" pitchFamily="34" charset="0"/>
                <a:ea typeface="Calibri" pitchFamily="34" charset="-122"/>
                <a:cs typeface="Calibri" pitchFamily="34" charset="-120"/>
              </a:rPr>
              <a:t>write(1, buf, n): number → rax, arguments → registers</a:t>
            </a:r>
            <a:endParaRPr lang="en-US" sz="1300" dirty="0"/>
          </a:p>
        </p:txBody>
      </p:sp>
      <p:sp>
        <p:nvSpPr>
          <p:cNvPr id="15" name="Shape 13"/>
          <p:cNvSpPr/>
          <p:nvPr/>
        </p:nvSpPr>
        <p:spPr>
          <a:xfrm>
            <a:off x="1005840" y="4416552"/>
            <a:ext cx="91" cy="329184"/>
          </a:xfrm>
          <a:prstGeom prst="line">
            <a:avLst/>
          </a:prstGeom>
          <a:noFill/>
          <a:ln w="19050">
            <a:solidFill>
              <a:srgbClr val="50808E"/>
            </a:solidFill>
            <a:prstDash val="solid"/>
            <a:tailEnd type="triangle"/>
          </a:ln>
        </p:spPr>
        <p:txBody>
          <a:bodyPr/>
          <a:p/>
        </p:txBody>
      </p:sp>
      <p:sp>
        <p:nvSpPr>
          <p:cNvPr id="16" name="Shape 14"/>
          <p:cNvSpPr/>
          <p:nvPr/>
        </p:nvSpPr>
        <p:spPr>
          <a:xfrm>
            <a:off x="548640" y="4754880"/>
            <a:ext cx="6035040" cy="658368"/>
          </a:xfrm>
          <a:prstGeom prst="roundRect">
            <a:avLst>
              <a:gd name="adj" fmla="val 6944"/>
            </a:avLst>
          </a:prstGeom>
          <a:solidFill>
            <a:srgbClr val="36454F"/>
          </a:solidFill>
          <a:ln/>
        </p:spPr>
        <p:txBody>
          <a:bodyPr/>
          <a:p/>
        </p:txBody>
      </p:sp>
      <p:sp>
        <p:nvSpPr>
          <p:cNvPr id="17" name="Text 15"/>
          <p:cNvSpPr txBox="1"/>
          <p:nvPr/>
        </p:nvSpPr>
        <p:spPr>
          <a:xfrm>
            <a:off x="548640" y="4754880"/>
            <a:ext cx="6035040" cy="65836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System-call handler</a:t>
            </a:r>
            <a:endParaRPr lang="en-US" sz="1300" dirty="0"/>
          </a:p>
          <a:p>
            <a:pPr algn="ctr" indent="0" marL="0">
              <a:buNone/>
            </a:pPr>
            <a:r>
              <a:rPr lang="en-US" sz="1200" dirty="0">
                <a:solidFill>
                  <a:srgbClr val="FFFFFF"/>
                </a:solidFill>
                <a:latin typeface="Calibri" pitchFamily="34" charset="0"/>
                <a:ea typeface="Calibri" pitchFamily="34" charset="-122"/>
                <a:cs typeface="Calibri" pitchFamily="34" charset="-120"/>
              </a:rPr>
              <a:t>looks up entry 1 in the system-call table</a:t>
            </a:r>
            <a:endParaRPr lang="en-US" sz="1300" dirty="0"/>
          </a:p>
        </p:txBody>
      </p:sp>
      <p:sp>
        <p:nvSpPr>
          <p:cNvPr id="18" name="Shape 16"/>
          <p:cNvSpPr/>
          <p:nvPr/>
        </p:nvSpPr>
        <p:spPr>
          <a:xfrm>
            <a:off x="1005840" y="5422392"/>
            <a:ext cx="91" cy="146304"/>
          </a:xfrm>
          <a:prstGeom prst="line">
            <a:avLst/>
          </a:prstGeom>
          <a:noFill/>
          <a:ln w="19050">
            <a:solidFill>
              <a:srgbClr val="50808E"/>
            </a:solidFill>
            <a:prstDash val="solid"/>
            <a:tailEnd type="triangle"/>
          </a:ln>
        </p:spPr>
        <p:txBody>
          <a:bodyPr/>
          <a:p/>
        </p:txBody>
      </p:sp>
      <p:sp>
        <p:nvSpPr>
          <p:cNvPr id="19" name="Shape 17"/>
          <p:cNvSpPr/>
          <p:nvPr/>
        </p:nvSpPr>
        <p:spPr>
          <a:xfrm>
            <a:off x="548640" y="5577840"/>
            <a:ext cx="6035040" cy="658368"/>
          </a:xfrm>
          <a:prstGeom prst="roundRect">
            <a:avLst>
              <a:gd name="adj" fmla="val 6944"/>
            </a:avLst>
          </a:prstGeom>
          <a:solidFill>
            <a:srgbClr val="36454F"/>
          </a:solidFill>
          <a:ln/>
        </p:spPr>
        <p:txBody>
          <a:bodyPr/>
          <a:p/>
        </p:txBody>
      </p:sp>
      <p:sp>
        <p:nvSpPr>
          <p:cNvPr id="20" name="Text 18"/>
          <p:cNvSpPr txBox="1"/>
          <p:nvPr/>
        </p:nvSpPr>
        <p:spPr>
          <a:xfrm>
            <a:off x="548640" y="5577840"/>
            <a:ext cx="6035040" cy="65836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Kernel function</a:t>
            </a:r>
            <a:endParaRPr lang="en-US" sz="1300" dirty="0"/>
          </a:p>
          <a:p>
            <a:pPr algn="ctr" indent="0" marL="0">
              <a:buNone/>
            </a:pPr>
            <a:r>
              <a:rPr lang="en-US" sz="1200" dirty="0">
                <a:solidFill>
                  <a:srgbClr val="FFFFFF"/>
                </a:solidFill>
                <a:latin typeface="Calibri" pitchFamily="34" charset="0"/>
                <a:ea typeface="Calibri" pitchFamily="34" charset="-122"/>
                <a:cs typeface="Calibri" pitchFamily="34" charset="-120"/>
              </a:rPr>
              <a:t>sys_write() → terminal driver → screen</a:t>
            </a:r>
            <a:endParaRPr lang="en-US" sz="1300" dirty="0"/>
          </a:p>
        </p:txBody>
      </p:sp>
      <p:sp>
        <p:nvSpPr>
          <p:cNvPr id="21" name="Shape 19"/>
          <p:cNvSpPr/>
          <p:nvPr/>
        </p:nvSpPr>
        <p:spPr>
          <a:xfrm>
            <a:off x="548640" y="4608576"/>
            <a:ext cx="6035040" cy="0"/>
          </a:xfrm>
          <a:prstGeom prst="line">
            <a:avLst/>
          </a:prstGeom>
          <a:noFill/>
          <a:ln w="15875">
            <a:solidFill>
              <a:srgbClr val="B5453A"/>
            </a:solidFill>
            <a:prstDash val="dash"/>
          </a:ln>
        </p:spPr>
        <p:txBody>
          <a:bodyPr/>
          <a:p/>
        </p:txBody>
      </p:sp>
      <p:sp>
        <p:nvSpPr>
          <p:cNvPr id="22" name="Text 20"/>
          <p:cNvSpPr txBox="1"/>
          <p:nvPr/>
        </p:nvSpPr>
        <p:spPr>
          <a:xfrm>
            <a:off x="1463040" y="4389120"/>
            <a:ext cx="5029200" cy="201168"/>
          </a:xfrm>
          <a:prstGeom prst="rect">
            <a:avLst/>
          </a:prstGeom>
          <a:noFill/>
          <a:ln/>
        </p:spPr>
        <p:txBody>
          <a:bodyPr wrap="square" lIns="0" tIns="0" rIns="0" bIns="0" rtlCol="0" anchor="t"/>
          <a:lstStyle/>
          <a:p>
            <a:pPr algn="r" indent="0" marL="0">
              <a:buNone/>
            </a:pPr>
            <a:r>
              <a:rPr lang="en-US" sz="1100" b="1" i="1" dirty="0">
                <a:solidFill>
                  <a:srgbClr val="B5453A"/>
                </a:solidFill>
                <a:latin typeface="Calibri" pitchFamily="34" charset="0"/>
                <a:ea typeface="Calibri" pitchFamily="34" charset="-122"/>
                <a:cs typeface="Calibri" pitchFamily="34" charset="-120"/>
              </a:rPr>
              <a:t>syscall instruction: user mode → kernel mode</a:t>
            </a:r>
            <a:endParaRPr lang="en-US" sz="1100" dirty="0"/>
          </a:p>
        </p:txBody>
      </p:sp>
      <p:sp>
        <p:nvSpPr>
          <p:cNvPr id="23" name="Shape 21"/>
          <p:cNvSpPr/>
          <p:nvPr/>
        </p:nvSpPr>
        <p:spPr>
          <a:xfrm>
            <a:off x="6858000" y="2103120"/>
            <a:ext cx="480060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4" name="Text 22"/>
          <p:cNvSpPr txBox="1"/>
          <p:nvPr/>
        </p:nvSpPr>
        <p:spPr>
          <a:xfrm>
            <a:off x="7086600" y="228600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Three words, three meanings</a:t>
            </a:r>
            <a:endParaRPr lang="en-US" sz="1500" dirty="0"/>
          </a:p>
        </p:txBody>
      </p:sp>
      <p:sp>
        <p:nvSpPr>
          <p:cNvPr id="25" name="Text 23"/>
          <p:cNvSpPr txBox="1"/>
          <p:nvPr/>
        </p:nvSpPr>
        <p:spPr>
          <a:xfrm>
            <a:off x="7086600" y="2743200"/>
            <a:ext cx="4343400" cy="338328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API</a:t>
            </a:r>
            <a:r>
              <a:rPr lang="en-US" sz="1350" dirty="0">
                <a:solidFill>
                  <a:srgbClr val="3A464C"/>
                </a:solidFill>
                <a:latin typeface="Calibri" pitchFamily="34" charset="0"/>
                <a:ea typeface="Calibri" pitchFamily="34" charset="-122"/>
                <a:cs typeface="Calibri" pitchFamily="34" charset="-120"/>
              </a:rPr>
              <a:t> (application programming interface): the documented functions a programmer calls, e.g. POSIX or the Windows API.</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Wrapper:</a:t>
            </a:r>
            <a:r>
              <a:rPr lang="en-US" sz="1350" dirty="0">
                <a:solidFill>
                  <a:srgbClr val="3A464C"/>
                </a:solidFill>
                <a:latin typeface="Calibri" pitchFamily="34" charset="0"/>
                <a:ea typeface="Calibri" pitchFamily="34" charset="-122"/>
                <a:cs typeface="Calibri" pitchFamily="34" charset="-120"/>
              </a:rPr>
              <a:t> a tiny library function with the same name as the system call; it only loads registers and traps.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System call:</a:t>
            </a:r>
            <a:r>
              <a:rPr lang="en-US" sz="1350" dirty="0">
                <a:solidFill>
                  <a:srgbClr val="3A464C"/>
                </a:solidFill>
                <a:latin typeface="Calibri" pitchFamily="34" charset="0"/>
                <a:ea typeface="Calibri" pitchFamily="34" charset="-122"/>
                <a:cs typeface="Calibri" pitchFamily="34" charset="-120"/>
              </a:rPr>
              <a:t> the actual entry into the kernel.</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Not every API function makes a system call: strlen() and sqrt() never do; printf() only when its buffer is flushed.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SYSTEM CALLS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Program Against an API?</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Three widely used APIs — each one hides the real system calls of its platform.</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11</a:t>
            </a:r>
            <a:endParaRPr lang="en-US"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POSIX API</a:t>
            </a:r>
            <a:endParaRPr lang="en-US"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Linux, macOS, the BSDs.</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Provided by the C library (glibc, musl, …).</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write(), fork(), open()…</a:t>
            </a:r>
            <a:endParaRPr lang="en-US" sz="150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Windows API</a:t>
            </a:r>
            <a:endParaRPr lang="en-US"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Windows.</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CreateProcess(), ReadFile()…</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Internally calls ntdll.dll, which makes the real kernel calls (NtCreateUserProcess…).</a:t>
            </a:r>
            <a:endParaRPr lang="en-US" sz="150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Java API</a:t>
            </a:r>
            <a:endParaRPr lang="en-US"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Any OS with a Java Virtual Machine.</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Files.readAllBytes(), ProcessBuilder…</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The JVM translates them into the host OS's system calls.</a:t>
            </a:r>
            <a:endParaRPr lang="en-US" sz="150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Portability: write is system call number 1 on 64-bit x86 Linux, 4 on 32-bit x86 Linux and 64 on ARM64 Linux. The API name write() stays the same everywhere.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SYSTEM CALLS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Every System Call Has a Number</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The kernel keeps a table: system-call number → address of the kernel function that does the work.</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12</a:t>
            </a:r>
            <a:endParaRPr lang="en-US" sz="900" dirty="0"/>
          </a:p>
        </p:txBody>
      </p:sp>
      <p:sp>
        <p:nvSpPr>
          <p:cNvPr id="7" name="Shape 5"/>
          <p:cNvSpPr/>
          <p:nvPr/>
        </p:nvSpPr>
        <p:spPr>
          <a:xfrm>
            <a:off x="548640" y="3566160"/>
            <a:ext cx="1554480" cy="731520"/>
          </a:xfrm>
          <a:prstGeom prst="roundRect">
            <a:avLst>
              <a:gd name="adj" fmla="val 6250"/>
            </a:avLst>
          </a:prstGeom>
          <a:solidFill>
            <a:srgbClr val="02C39A"/>
          </a:solidFill>
          <a:ln/>
        </p:spPr>
        <p:txBody>
          <a:bodyPr/>
          <a:p/>
        </p:txBody>
      </p:sp>
      <p:sp>
        <p:nvSpPr>
          <p:cNvPr id="8" name="Text 6"/>
          <p:cNvSpPr txBox="1"/>
          <p:nvPr/>
        </p:nvSpPr>
        <p:spPr>
          <a:xfrm>
            <a:off x="548640" y="3566160"/>
            <a:ext cx="1554480" cy="73152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onsolas" pitchFamily="34" charset="0"/>
                <a:ea typeface="Consolas" pitchFamily="34" charset="-122"/>
                <a:cs typeface="Consolas" pitchFamily="34" charset="-120"/>
              </a:rPr>
              <a:t>rax = 1</a:t>
            </a:r>
            <a:endParaRPr lang="en-US" sz="1600" dirty="0"/>
          </a:p>
        </p:txBody>
      </p:sp>
      <p:sp>
        <p:nvSpPr>
          <p:cNvPr id="9" name="Text 7"/>
          <p:cNvSpPr txBox="1"/>
          <p:nvPr/>
        </p:nvSpPr>
        <p:spPr>
          <a:xfrm>
            <a:off x="548640" y="4361688"/>
            <a:ext cx="1737360" cy="54864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number placed by the write() wrapper</a:t>
            </a:r>
            <a:endParaRPr lang="en-US" sz="1100" dirty="0"/>
          </a:p>
        </p:txBody>
      </p:sp>
      <p:sp>
        <p:nvSpPr>
          <p:cNvPr id="10" name="Shape 8"/>
          <p:cNvSpPr/>
          <p:nvPr/>
        </p:nvSpPr>
        <p:spPr>
          <a:xfrm>
            <a:off x="2743200" y="2148840"/>
            <a:ext cx="640080" cy="347472"/>
          </a:xfrm>
          <a:prstGeom prst="roundRect">
            <a:avLst>
              <a:gd name="adj" fmla="val 13158"/>
            </a:avLst>
          </a:prstGeom>
          <a:solidFill>
            <a:srgbClr val="F2F2F2"/>
          </a:solidFill>
          <a:ln/>
        </p:spPr>
        <p:txBody>
          <a:bodyPr/>
          <a:p/>
        </p:txBody>
      </p:sp>
      <p:sp>
        <p:nvSpPr>
          <p:cNvPr id="11" name="Text 9"/>
          <p:cNvSpPr txBox="1"/>
          <p:nvPr/>
        </p:nvSpPr>
        <p:spPr>
          <a:xfrm>
            <a:off x="2743200" y="2148840"/>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0</a:t>
            </a:r>
            <a:endParaRPr lang="en-US" sz="1200" dirty="0"/>
          </a:p>
        </p:txBody>
      </p:sp>
      <p:sp>
        <p:nvSpPr>
          <p:cNvPr id="12" name="Shape 10"/>
          <p:cNvSpPr/>
          <p:nvPr/>
        </p:nvSpPr>
        <p:spPr>
          <a:xfrm>
            <a:off x="3429000" y="2148840"/>
            <a:ext cx="1737360" cy="347472"/>
          </a:xfrm>
          <a:prstGeom prst="roundRect">
            <a:avLst>
              <a:gd name="adj" fmla="val 13158"/>
            </a:avLst>
          </a:prstGeom>
          <a:solidFill>
            <a:srgbClr val="F2F2F2"/>
          </a:solidFill>
          <a:ln/>
        </p:spPr>
        <p:txBody>
          <a:bodyPr/>
          <a:p/>
        </p:txBody>
      </p:sp>
      <p:sp>
        <p:nvSpPr>
          <p:cNvPr id="13" name="Text 11"/>
          <p:cNvSpPr txBox="1"/>
          <p:nvPr/>
        </p:nvSpPr>
        <p:spPr>
          <a:xfrm>
            <a:off x="3429000" y="2148840"/>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sys_read</a:t>
            </a:r>
            <a:endParaRPr lang="en-US" sz="1200" dirty="0"/>
          </a:p>
        </p:txBody>
      </p:sp>
      <p:sp>
        <p:nvSpPr>
          <p:cNvPr id="14" name="Shape 12"/>
          <p:cNvSpPr/>
          <p:nvPr/>
        </p:nvSpPr>
        <p:spPr>
          <a:xfrm>
            <a:off x="2743200" y="2532888"/>
            <a:ext cx="640080" cy="347472"/>
          </a:xfrm>
          <a:prstGeom prst="roundRect">
            <a:avLst>
              <a:gd name="adj" fmla="val 13158"/>
            </a:avLst>
          </a:prstGeom>
          <a:solidFill>
            <a:srgbClr val="02C39A"/>
          </a:solidFill>
          <a:ln/>
        </p:spPr>
        <p:txBody>
          <a:bodyPr/>
          <a:p/>
        </p:txBody>
      </p:sp>
      <p:sp>
        <p:nvSpPr>
          <p:cNvPr id="15" name="Text 13"/>
          <p:cNvSpPr txBox="1"/>
          <p:nvPr/>
        </p:nvSpPr>
        <p:spPr>
          <a:xfrm>
            <a:off x="2743200" y="2532888"/>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1</a:t>
            </a:r>
            <a:endParaRPr lang="en-US" sz="1200" dirty="0"/>
          </a:p>
        </p:txBody>
      </p:sp>
      <p:sp>
        <p:nvSpPr>
          <p:cNvPr id="16" name="Shape 14"/>
          <p:cNvSpPr/>
          <p:nvPr/>
        </p:nvSpPr>
        <p:spPr>
          <a:xfrm>
            <a:off x="3429000" y="2532888"/>
            <a:ext cx="1737360" cy="347472"/>
          </a:xfrm>
          <a:prstGeom prst="roundRect">
            <a:avLst>
              <a:gd name="adj" fmla="val 13158"/>
            </a:avLst>
          </a:prstGeom>
          <a:solidFill>
            <a:srgbClr val="02C39A"/>
          </a:solidFill>
          <a:ln/>
        </p:spPr>
        <p:txBody>
          <a:bodyPr/>
          <a:p/>
        </p:txBody>
      </p:sp>
      <p:sp>
        <p:nvSpPr>
          <p:cNvPr id="17" name="Text 15"/>
          <p:cNvSpPr txBox="1"/>
          <p:nvPr/>
        </p:nvSpPr>
        <p:spPr>
          <a:xfrm>
            <a:off x="3429000" y="2532888"/>
            <a:ext cx="173736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sys_write</a:t>
            </a:r>
            <a:endParaRPr lang="en-US" sz="1200" dirty="0"/>
          </a:p>
        </p:txBody>
      </p:sp>
      <p:sp>
        <p:nvSpPr>
          <p:cNvPr id="18" name="Shape 16"/>
          <p:cNvSpPr/>
          <p:nvPr/>
        </p:nvSpPr>
        <p:spPr>
          <a:xfrm>
            <a:off x="2743200" y="2916936"/>
            <a:ext cx="640080" cy="347472"/>
          </a:xfrm>
          <a:prstGeom prst="roundRect">
            <a:avLst>
              <a:gd name="adj" fmla="val 13158"/>
            </a:avLst>
          </a:prstGeom>
          <a:solidFill>
            <a:srgbClr val="F2F2F2"/>
          </a:solidFill>
          <a:ln/>
        </p:spPr>
        <p:txBody>
          <a:bodyPr/>
          <a:p/>
        </p:txBody>
      </p:sp>
      <p:sp>
        <p:nvSpPr>
          <p:cNvPr id="19" name="Text 17"/>
          <p:cNvSpPr txBox="1"/>
          <p:nvPr/>
        </p:nvSpPr>
        <p:spPr>
          <a:xfrm>
            <a:off x="2743200" y="2916936"/>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2</a:t>
            </a:r>
            <a:endParaRPr lang="en-US" sz="1200" dirty="0"/>
          </a:p>
        </p:txBody>
      </p:sp>
      <p:sp>
        <p:nvSpPr>
          <p:cNvPr id="20" name="Shape 18"/>
          <p:cNvSpPr/>
          <p:nvPr/>
        </p:nvSpPr>
        <p:spPr>
          <a:xfrm>
            <a:off x="3429000" y="2916936"/>
            <a:ext cx="1737360" cy="347472"/>
          </a:xfrm>
          <a:prstGeom prst="roundRect">
            <a:avLst>
              <a:gd name="adj" fmla="val 13158"/>
            </a:avLst>
          </a:prstGeom>
          <a:solidFill>
            <a:srgbClr val="F2F2F2"/>
          </a:solidFill>
          <a:ln/>
        </p:spPr>
        <p:txBody>
          <a:bodyPr/>
          <a:p/>
        </p:txBody>
      </p:sp>
      <p:sp>
        <p:nvSpPr>
          <p:cNvPr id="21" name="Text 19"/>
          <p:cNvSpPr txBox="1"/>
          <p:nvPr/>
        </p:nvSpPr>
        <p:spPr>
          <a:xfrm>
            <a:off x="3429000" y="2916936"/>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sys_open</a:t>
            </a:r>
            <a:endParaRPr lang="en-US" sz="1200" dirty="0"/>
          </a:p>
        </p:txBody>
      </p:sp>
      <p:sp>
        <p:nvSpPr>
          <p:cNvPr id="22" name="Shape 20"/>
          <p:cNvSpPr/>
          <p:nvPr/>
        </p:nvSpPr>
        <p:spPr>
          <a:xfrm>
            <a:off x="2743200" y="3300984"/>
            <a:ext cx="640080" cy="347472"/>
          </a:xfrm>
          <a:prstGeom prst="roundRect">
            <a:avLst>
              <a:gd name="adj" fmla="val 13158"/>
            </a:avLst>
          </a:prstGeom>
          <a:solidFill>
            <a:srgbClr val="F2F2F2"/>
          </a:solidFill>
          <a:ln/>
        </p:spPr>
        <p:txBody>
          <a:bodyPr/>
          <a:p/>
        </p:txBody>
      </p:sp>
      <p:sp>
        <p:nvSpPr>
          <p:cNvPr id="23" name="Text 21"/>
          <p:cNvSpPr txBox="1"/>
          <p:nvPr/>
        </p:nvSpPr>
        <p:spPr>
          <a:xfrm>
            <a:off x="2743200" y="3300984"/>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3</a:t>
            </a:r>
            <a:endParaRPr lang="en-US" sz="1200" dirty="0"/>
          </a:p>
        </p:txBody>
      </p:sp>
      <p:sp>
        <p:nvSpPr>
          <p:cNvPr id="24" name="Shape 22"/>
          <p:cNvSpPr/>
          <p:nvPr/>
        </p:nvSpPr>
        <p:spPr>
          <a:xfrm>
            <a:off x="3429000" y="3300984"/>
            <a:ext cx="1737360" cy="347472"/>
          </a:xfrm>
          <a:prstGeom prst="roundRect">
            <a:avLst>
              <a:gd name="adj" fmla="val 13158"/>
            </a:avLst>
          </a:prstGeom>
          <a:solidFill>
            <a:srgbClr val="F2F2F2"/>
          </a:solidFill>
          <a:ln/>
        </p:spPr>
        <p:txBody>
          <a:bodyPr/>
          <a:p/>
        </p:txBody>
      </p:sp>
      <p:sp>
        <p:nvSpPr>
          <p:cNvPr id="25" name="Text 23"/>
          <p:cNvSpPr txBox="1"/>
          <p:nvPr/>
        </p:nvSpPr>
        <p:spPr>
          <a:xfrm>
            <a:off x="3429000" y="3300984"/>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sys_close</a:t>
            </a:r>
            <a:endParaRPr lang="en-US" sz="1200" dirty="0"/>
          </a:p>
        </p:txBody>
      </p:sp>
      <p:sp>
        <p:nvSpPr>
          <p:cNvPr id="26" name="Shape 24"/>
          <p:cNvSpPr/>
          <p:nvPr/>
        </p:nvSpPr>
        <p:spPr>
          <a:xfrm>
            <a:off x="2743200" y="3685032"/>
            <a:ext cx="640080" cy="347472"/>
          </a:xfrm>
          <a:prstGeom prst="roundRect">
            <a:avLst>
              <a:gd name="adj" fmla="val 13158"/>
            </a:avLst>
          </a:prstGeom>
          <a:solidFill>
            <a:srgbClr val="F2F2F2"/>
          </a:solidFill>
          <a:ln/>
        </p:spPr>
        <p:txBody>
          <a:bodyPr/>
          <a:p/>
        </p:txBody>
      </p:sp>
      <p:sp>
        <p:nvSpPr>
          <p:cNvPr id="27" name="Text 25"/>
          <p:cNvSpPr txBox="1"/>
          <p:nvPr/>
        </p:nvSpPr>
        <p:spPr>
          <a:xfrm>
            <a:off x="2743200" y="3685032"/>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a:t>
            </a:r>
            <a:endParaRPr lang="en-US" sz="1200" dirty="0"/>
          </a:p>
        </p:txBody>
      </p:sp>
      <p:sp>
        <p:nvSpPr>
          <p:cNvPr id="28" name="Shape 26"/>
          <p:cNvSpPr/>
          <p:nvPr/>
        </p:nvSpPr>
        <p:spPr>
          <a:xfrm>
            <a:off x="3429000" y="3685032"/>
            <a:ext cx="1737360" cy="347472"/>
          </a:xfrm>
          <a:prstGeom prst="roundRect">
            <a:avLst>
              <a:gd name="adj" fmla="val 13158"/>
            </a:avLst>
          </a:prstGeom>
          <a:solidFill>
            <a:srgbClr val="F2F2F2"/>
          </a:solidFill>
          <a:ln/>
        </p:spPr>
        <p:txBody>
          <a:bodyPr/>
          <a:p/>
        </p:txBody>
      </p:sp>
      <p:sp>
        <p:nvSpPr>
          <p:cNvPr id="29" name="Text 27"/>
          <p:cNvSpPr txBox="1"/>
          <p:nvPr/>
        </p:nvSpPr>
        <p:spPr>
          <a:xfrm>
            <a:off x="3429000" y="3685032"/>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a:t>
            </a:r>
            <a:endParaRPr lang="en-US" sz="1200" dirty="0"/>
          </a:p>
        </p:txBody>
      </p:sp>
      <p:sp>
        <p:nvSpPr>
          <p:cNvPr id="30" name="Shape 28"/>
          <p:cNvSpPr/>
          <p:nvPr/>
        </p:nvSpPr>
        <p:spPr>
          <a:xfrm>
            <a:off x="2743200" y="4069080"/>
            <a:ext cx="640080" cy="347472"/>
          </a:xfrm>
          <a:prstGeom prst="roundRect">
            <a:avLst>
              <a:gd name="adj" fmla="val 13158"/>
            </a:avLst>
          </a:prstGeom>
          <a:solidFill>
            <a:srgbClr val="F2F2F2"/>
          </a:solidFill>
          <a:ln/>
        </p:spPr>
        <p:txBody>
          <a:bodyPr/>
          <a:p/>
        </p:txBody>
      </p:sp>
      <p:sp>
        <p:nvSpPr>
          <p:cNvPr id="31" name="Text 29"/>
          <p:cNvSpPr txBox="1"/>
          <p:nvPr/>
        </p:nvSpPr>
        <p:spPr>
          <a:xfrm>
            <a:off x="2743200" y="4069080"/>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39</a:t>
            </a:r>
            <a:endParaRPr lang="en-US" sz="1200" dirty="0"/>
          </a:p>
        </p:txBody>
      </p:sp>
      <p:sp>
        <p:nvSpPr>
          <p:cNvPr id="32" name="Shape 30"/>
          <p:cNvSpPr/>
          <p:nvPr/>
        </p:nvSpPr>
        <p:spPr>
          <a:xfrm>
            <a:off x="3429000" y="4069080"/>
            <a:ext cx="1737360" cy="347472"/>
          </a:xfrm>
          <a:prstGeom prst="roundRect">
            <a:avLst>
              <a:gd name="adj" fmla="val 13158"/>
            </a:avLst>
          </a:prstGeom>
          <a:solidFill>
            <a:srgbClr val="F2F2F2"/>
          </a:solidFill>
          <a:ln/>
        </p:spPr>
        <p:txBody>
          <a:bodyPr/>
          <a:p/>
        </p:txBody>
      </p:sp>
      <p:sp>
        <p:nvSpPr>
          <p:cNvPr id="33" name="Text 31"/>
          <p:cNvSpPr txBox="1"/>
          <p:nvPr/>
        </p:nvSpPr>
        <p:spPr>
          <a:xfrm>
            <a:off x="3429000" y="4069080"/>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sys_getpid</a:t>
            </a:r>
            <a:endParaRPr lang="en-US" sz="1200" dirty="0"/>
          </a:p>
        </p:txBody>
      </p:sp>
      <p:sp>
        <p:nvSpPr>
          <p:cNvPr id="34" name="Shape 32"/>
          <p:cNvSpPr/>
          <p:nvPr/>
        </p:nvSpPr>
        <p:spPr>
          <a:xfrm>
            <a:off x="2743200" y="4453128"/>
            <a:ext cx="640080" cy="347472"/>
          </a:xfrm>
          <a:prstGeom prst="roundRect">
            <a:avLst>
              <a:gd name="adj" fmla="val 13158"/>
            </a:avLst>
          </a:prstGeom>
          <a:solidFill>
            <a:srgbClr val="F2F2F2"/>
          </a:solidFill>
          <a:ln/>
        </p:spPr>
        <p:txBody>
          <a:bodyPr/>
          <a:p/>
        </p:txBody>
      </p:sp>
      <p:sp>
        <p:nvSpPr>
          <p:cNvPr id="35" name="Text 33"/>
          <p:cNvSpPr txBox="1"/>
          <p:nvPr/>
        </p:nvSpPr>
        <p:spPr>
          <a:xfrm>
            <a:off x="2743200" y="4453128"/>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57</a:t>
            </a:r>
            <a:endParaRPr lang="en-US" sz="1200" dirty="0"/>
          </a:p>
        </p:txBody>
      </p:sp>
      <p:sp>
        <p:nvSpPr>
          <p:cNvPr id="36" name="Shape 34"/>
          <p:cNvSpPr/>
          <p:nvPr/>
        </p:nvSpPr>
        <p:spPr>
          <a:xfrm>
            <a:off x="3429000" y="4453128"/>
            <a:ext cx="1737360" cy="347472"/>
          </a:xfrm>
          <a:prstGeom prst="roundRect">
            <a:avLst>
              <a:gd name="adj" fmla="val 13158"/>
            </a:avLst>
          </a:prstGeom>
          <a:solidFill>
            <a:srgbClr val="F2F2F2"/>
          </a:solidFill>
          <a:ln/>
        </p:spPr>
        <p:txBody>
          <a:bodyPr/>
          <a:p/>
        </p:txBody>
      </p:sp>
      <p:sp>
        <p:nvSpPr>
          <p:cNvPr id="37" name="Text 35"/>
          <p:cNvSpPr txBox="1"/>
          <p:nvPr/>
        </p:nvSpPr>
        <p:spPr>
          <a:xfrm>
            <a:off x="3429000" y="4453128"/>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sys_fork</a:t>
            </a:r>
            <a:endParaRPr lang="en-US" sz="1200" dirty="0"/>
          </a:p>
        </p:txBody>
      </p:sp>
      <p:sp>
        <p:nvSpPr>
          <p:cNvPr id="38" name="Shape 36"/>
          <p:cNvSpPr/>
          <p:nvPr/>
        </p:nvSpPr>
        <p:spPr>
          <a:xfrm>
            <a:off x="2743200" y="4837176"/>
            <a:ext cx="640080" cy="347472"/>
          </a:xfrm>
          <a:prstGeom prst="roundRect">
            <a:avLst>
              <a:gd name="adj" fmla="val 13158"/>
            </a:avLst>
          </a:prstGeom>
          <a:solidFill>
            <a:srgbClr val="F2F2F2"/>
          </a:solidFill>
          <a:ln/>
        </p:spPr>
        <p:txBody>
          <a:bodyPr/>
          <a:p/>
        </p:txBody>
      </p:sp>
      <p:sp>
        <p:nvSpPr>
          <p:cNvPr id="39" name="Text 37"/>
          <p:cNvSpPr txBox="1"/>
          <p:nvPr/>
        </p:nvSpPr>
        <p:spPr>
          <a:xfrm>
            <a:off x="2743200" y="4837176"/>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59</a:t>
            </a:r>
            <a:endParaRPr lang="en-US" sz="1200" dirty="0"/>
          </a:p>
        </p:txBody>
      </p:sp>
      <p:sp>
        <p:nvSpPr>
          <p:cNvPr id="40" name="Shape 38"/>
          <p:cNvSpPr/>
          <p:nvPr/>
        </p:nvSpPr>
        <p:spPr>
          <a:xfrm>
            <a:off x="3429000" y="4837176"/>
            <a:ext cx="1737360" cy="347472"/>
          </a:xfrm>
          <a:prstGeom prst="roundRect">
            <a:avLst>
              <a:gd name="adj" fmla="val 13158"/>
            </a:avLst>
          </a:prstGeom>
          <a:solidFill>
            <a:srgbClr val="F2F2F2"/>
          </a:solidFill>
          <a:ln/>
        </p:spPr>
        <p:txBody>
          <a:bodyPr/>
          <a:p/>
        </p:txBody>
      </p:sp>
      <p:sp>
        <p:nvSpPr>
          <p:cNvPr id="41" name="Text 39"/>
          <p:cNvSpPr txBox="1"/>
          <p:nvPr/>
        </p:nvSpPr>
        <p:spPr>
          <a:xfrm>
            <a:off x="3429000" y="4837176"/>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sys_execve</a:t>
            </a:r>
            <a:endParaRPr lang="en-US" sz="1200" dirty="0"/>
          </a:p>
        </p:txBody>
      </p:sp>
      <p:sp>
        <p:nvSpPr>
          <p:cNvPr id="42" name="Shape 40"/>
          <p:cNvSpPr/>
          <p:nvPr/>
        </p:nvSpPr>
        <p:spPr>
          <a:xfrm>
            <a:off x="2743200" y="5221224"/>
            <a:ext cx="640080" cy="347472"/>
          </a:xfrm>
          <a:prstGeom prst="roundRect">
            <a:avLst>
              <a:gd name="adj" fmla="val 13158"/>
            </a:avLst>
          </a:prstGeom>
          <a:solidFill>
            <a:srgbClr val="F2F2F2"/>
          </a:solidFill>
          <a:ln/>
        </p:spPr>
        <p:txBody>
          <a:bodyPr/>
          <a:p/>
        </p:txBody>
      </p:sp>
      <p:sp>
        <p:nvSpPr>
          <p:cNvPr id="43" name="Text 41"/>
          <p:cNvSpPr txBox="1"/>
          <p:nvPr/>
        </p:nvSpPr>
        <p:spPr>
          <a:xfrm>
            <a:off x="2743200" y="5221224"/>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60</a:t>
            </a:r>
            <a:endParaRPr lang="en-US" sz="1200" dirty="0"/>
          </a:p>
        </p:txBody>
      </p:sp>
      <p:sp>
        <p:nvSpPr>
          <p:cNvPr id="44" name="Shape 42"/>
          <p:cNvSpPr/>
          <p:nvPr/>
        </p:nvSpPr>
        <p:spPr>
          <a:xfrm>
            <a:off x="3429000" y="5221224"/>
            <a:ext cx="1737360" cy="347472"/>
          </a:xfrm>
          <a:prstGeom prst="roundRect">
            <a:avLst>
              <a:gd name="adj" fmla="val 13158"/>
            </a:avLst>
          </a:prstGeom>
          <a:solidFill>
            <a:srgbClr val="F2F2F2"/>
          </a:solidFill>
          <a:ln/>
        </p:spPr>
        <p:txBody>
          <a:bodyPr/>
          <a:p/>
        </p:txBody>
      </p:sp>
      <p:sp>
        <p:nvSpPr>
          <p:cNvPr id="45" name="Text 43"/>
          <p:cNvSpPr txBox="1"/>
          <p:nvPr/>
        </p:nvSpPr>
        <p:spPr>
          <a:xfrm>
            <a:off x="3429000" y="5221224"/>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sys_exit</a:t>
            </a:r>
            <a:endParaRPr lang="en-US" sz="1200" dirty="0"/>
          </a:p>
        </p:txBody>
      </p:sp>
      <p:sp>
        <p:nvSpPr>
          <p:cNvPr id="46" name="Shape 44"/>
          <p:cNvSpPr/>
          <p:nvPr/>
        </p:nvSpPr>
        <p:spPr>
          <a:xfrm>
            <a:off x="2743200" y="5605272"/>
            <a:ext cx="640080" cy="347472"/>
          </a:xfrm>
          <a:prstGeom prst="roundRect">
            <a:avLst>
              <a:gd name="adj" fmla="val 13158"/>
            </a:avLst>
          </a:prstGeom>
          <a:solidFill>
            <a:srgbClr val="F2F2F2"/>
          </a:solidFill>
          <a:ln/>
        </p:spPr>
        <p:txBody>
          <a:bodyPr/>
          <a:p/>
        </p:txBody>
      </p:sp>
      <p:sp>
        <p:nvSpPr>
          <p:cNvPr id="47" name="Text 45"/>
          <p:cNvSpPr txBox="1"/>
          <p:nvPr/>
        </p:nvSpPr>
        <p:spPr>
          <a:xfrm>
            <a:off x="2743200" y="5605272"/>
            <a:ext cx="640080" cy="34747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61</a:t>
            </a:r>
            <a:endParaRPr lang="en-US" sz="1200" dirty="0"/>
          </a:p>
        </p:txBody>
      </p:sp>
      <p:sp>
        <p:nvSpPr>
          <p:cNvPr id="48" name="Shape 46"/>
          <p:cNvSpPr/>
          <p:nvPr/>
        </p:nvSpPr>
        <p:spPr>
          <a:xfrm>
            <a:off x="3429000" y="5605272"/>
            <a:ext cx="1737360" cy="347472"/>
          </a:xfrm>
          <a:prstGeom prst="roundRect">
            <a:avLst>
              <a:gd name="adj" fmla="val 13158"/>
            </a:avLst>
          </a:prstGeom>
          <a:solidFill>
            <a:srgbClr val="F2F2F2"/>
          </a:solidFill>
          <a:ln/>
        </p:spPr>
        <p:txBody>
          <a:bodyPr/>
          <a:p/>
        </p:txBody>
      </p:sp>
      <p:sp>
        <p:nvSpPr>
          <p:cNvPr id="49" name="Text 47"/>
          <p:cNvSpPr txBox="1"/>
          <p:nvPr/>
        </p:nvSpPr>
        <p:spPr>
          <a:xfrm>
            <a:off x="3429000" y="5605272"/>
            <a:ext cx="1737360" cy="347472"/>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sys_wait4</a:t>
            </a:r>
            <a:endParaRPr lang="en-US" sz="1200" dirty="0"/>
          </a:p>
        </p:txBody>
      </p:sp>
      <p:sp>
        <p:nvSpPr>
          <p:cNvPr id="50" name="Text 48"/>
          <p:cNvSpPr txBox="1"/>
          <p:nvPr/>
        </p:nvSpPr>
        <p:spPr>
          <a:xfrm>
            <a:off x="2743200" y="6007608"/>
            <a:ext cx="256032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system-call table (x86-64 Linux)</a:t>
            </a:r>
            <a:endParaRPr lang="en-US" sz="1100" dirty="0"/>
          </a:p>
        </p:txBody>
      </p:sp>
      <p:sp>
        <p:nvSpPr>
          <p:cNvPr id="51" name="Shape 49"/>
          <p:cNvSpPr/>
          <p:nvPr/>
        </p:nvSpPr>
        <p:spPr>
          <a:xfrm flipV="1">
            <a:off x="2121408" y="2724912"/>
            <a:ext cx="594360" cy="1207008"/>
          </a:xfrm>
          <a:prstGeom prst="line">
            <a:avLst/>
          </a:prstGeom>
          <a:noFill/>
          <a:ln w="25400">
            <a:solidFill>
              <a:srgbClr val="028090"/>
            </a:solidFill>
            <a:prstDash val="solid"/>
            <a:tailEnd type="triangle"/>
          </a:ln>
        </p:spPr>
        <p:txBody>
          <a:bodyPr/>
          <a:p/>
        </p:txBody>
      </p:sp>
      <p:sp>
        <p:nvSpPr>
          <p:cNvPr id="52" name="Shape 50"/>
          <p:cNvSpPr/>
          <p:nvPr/>
        </p:nvSpPr>
        <p:spPr>
          <a:xfrm>
            <a:off x="5623560" y="2286000"/>
            <a:ext cx="1600200" cy="914400"/>
          </a:xfrm>
          <a:prstGeom prst="roundRect">
            <a:avLst>
              <a:gd name="adj" fmla="val 5000"/>
            </a:avLst>
          </a:prstGeom>
          <a:solidFill>
            <a:srgbClr val="36454F"/>
          </a:solidFill>
          <a:ln/>
        </p:spPr>
        <p:txBody>
          <a:bodyPr/>
          <a:p/>
        </p:txBody>
      </p:sp>
      <p:sp>
        <p:nvSpPr>
          <p:cNvPr id="53" name="Text 51"/>
          <p:cNvSpPr txBox="1"/>
          <p:nvPr/>
        </p:nvSpPr>
        <p:spPr>
          <a:xfrm>
            <a:off x="5623560" y="2286000"/>
            <a:ext cx="1600200" cy="91440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sys_write()</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kernel code</a:t>
            </a:r>
            <a:endParaRPr lang="en-US" sz="1300" dirty="0"/>
          </a:p>
        </p:txBody>
      </p:sp>
      <p:sp>
        <p:nvSpPr>
          <p:cNvPr id="54" name="Shape 52"/>
          <p:cNvSpPr/>
          <p:nvPr/>
        </p:nvSpPr>
        <p:spPr>
          <a:xfrm>
            <a:off x="5184648" y="2724912"/>
            <a:ext cx="420624" cy="18288"/>
          </a:xfrm>
          <a:prstGeom prst="line">
            <a:avLst/>
          </a:prstGeom>
          <a:noFill/>
          <a:ln w="25400">
            <a:solidFill>
              <a:srgbClr val="028090"/>
            </a:solidFill>
            <a:prstDash val="solid"/>
            <a:tailEnd type="triangle"/>
          </a:ln>
        </p:spPr>
        <p:txBody>
          <a:bodyPr/>
          <a:p/>
        </p:txBody>
      </p:sp>
      <p:sp>
        <p:nvSpPr>
          <p:cNvPr id="55" name="Shape 53"/>
          <p:cNvSpPr/>
          <p:nvPr/>
        </p:nvSpPr>
        <p:spPr>
          <a:xfrm>
            <a:off x="7452360" y="2148840"/>
            <a:ext cx="420624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56" name="Text 54"/>
          <p:cNvSpPr txBox="1"/>
          <p:nvPr/>
        </p:nvSpPr>
        <p:spPr>
          <a:xfrm>
            <a:off x="7680960" y="233172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Why a table?</a:t>
            </a:r>
            <a:endParaRPr lang="en-US" sz="1500" dirty="0"/>
          </a:p>
        </p:txBody>
      </p:sp>
      <p:sp>
        <p:nvSpPr>
          <p:cNvPr id="57" name="Text 55"/>
          <p:cNvSpPr txBox="1"/>
          <p:nvPr/>
        </p:nvSpPr>
        <p:spPr>
          <a:xfrm>
            <a:off x="7680960" y="2788920"/>
            <a:ext cx="3749040" cy="33375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 user program may enter the kernel only at one fixed entry point — never jump to an arbitrary kernel address.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number selects the service; the kernel checks that it is valid, then calls the function from the table.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Linux 6.8 on x86-64 has about 370 system calls, numbered 0 to 461.</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SYSTEM CALLS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One write(): The Trip into the Kernel, Step by Step</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13</a:t>
            </a:r>
            <a:endParaRPr lang="en-US" sz="900" dirty="0"/>
          </a:p>
        </p:txBody>
      </p:sp>
      <p:sp>
        <p:nvSpPr>
          <p:cNvPr id="6" name="Shape 4"/>
          <p:cNvSpPr/>
          <p:nvPr/>
        </p:nvSpPr>
        <p:spPr>
          <a:xfrm>
            <a:off x="548640" y="1554480"/>
            <a:ext cx="352044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73736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1. Load registers</a:t>
            </a:r>
            <a:endParaRPr lang="en-US" sz="1500" dirty="0"/>
          </a:p>
        </p:txBody>
      </p:sp>
      <p:sp>
        <p:nvSpPr>
          <p:cNvPr id="8" name="Text 6"/>
          <p:cNvSpPr txBox="1"/>
          <p:nvPr/>
        </p:nvSpPr>
        <p:spPr>
          <a:xfrm>
            <a:off x="777240" y="2194560"/>
            <a:ext cx="3063240" cy="10515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The wrapper puts the call number (1) in rax and the three parameters in rdi, rsi, rdx.</a:t>
            </a:r>
            <a:endParaRPr lang="en-US" sz="1400" dirty="0"/>
          </a:p>
        </p:txBody>
      </p:sp>
      <p:sp>
        <p:nvSpPr>
          <p:cNvPr id="9" name="Shape 7"/>
          <p:cNvSpPr/>
          <p:nvPr/>
        </p:nvSpPr>
        <p:spPr>
          <a:xfrm>
            <a:off x="4343400" y="1554480"/>
            <a:ext cx="352044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72000" y="1737360"/>
            <a:ext cx="3063240" cy="384048"/>
          </a:xfrm>
          <a:prstGeom prst="rect">
            <a:avLst/>
          </a:prstGeom>
          <a:noFill/>
          <a:ln/>
        </p:spPr>
        <p:txBody>
          <a:bodyPr wrap="square" lIns="0" tIns="0" rIns="0" bIns="0"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2. Trap</a:t>
            </a:r>
            <a:endParaRPr lang="en-US" sz="1500" dirty="0"/>
          </a:p>
        </p:txBody>
      </p:sp>
      <p:sp>
        <p:nvSpPr>
          <p:cNvPr id="11" name="Text 9"/>
          <p:cNvSpPr txBox="1"/>
          <p:nvPr/>
        </p:nvSpPr>
        <p:spPr>
          <a:xfrm>
            <a:off x="4572000" y="2194560"/>
            <a:ext cx="3063240" cy="1051560"/>
          </a:xfrm>
          <a:prstGeom prst="rect">
            <a:avLst/>
          </a:prstGeom>
          <a:noFill/>
          <a:ln/>
        </p:spPr>
        <p:txBody>
          <a:bodyPr wrap="square" lIns="0" tIns="0" rIns="0" bIns="0" rtlCol="0" anchor="t"/>
          <a:lstStyle/>
          <a:p>
            <a:pPr indent="0" marL="0">
              <a:spcAft>
                <a:spcPts val="400"/>
              </a:spcAft>
              <a:buNone/>
            </a:pPr>
            <a:r>
              <a:rPr lang="en-US" sz="1400" dirty="0">
                <a:solidFill>
                  <a:srgbClr val="F2F2F2"/>
                </a:solidFill>
                <a:latin typeface="Calibri" pitchFamily="34" charset="0"/>
                <a:ea typeface="Calibri" pitchFamily="34" charset="-122"/>
                <a:cs typeface="Calibri" pitchFamily="34" charset="-120"/>
              </a:rPr>
              <a:t>The syscall instruction sets the mode bit to kernel and jumps to the kernel's single entry point.</a:t>
            </a:r>
            <a:endParaRPr lang="en-US" sz="1400" dirty="0"/>
          </a:p>
        </p:txBody>
      </p:sp>
      <p:sp>
        <p:nvSpPr>
          <p:cNvPr id="12" name="Shape 10"/>
          <p:cNvSpPr/>
          <p:nvPr/>
        </p:nvSpPr>
        <p:spPr>
          <a:xfrm>
            <a:off x="8138160" y="1554480"/>
            <a:ext cx="352044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66760" y="1737360"/>
            <a:ext cx="3063240" cy="384048"/>
          </a:xfrm>
          <a:prstGeom prst="rect">
            <a:avLst/>
          </a:prstGeom>
          <a:noFill/>
          <a:ln/>
        </p:spPr>
        <p:txBody>
          <a:bodyPr wrap="square" lIns="0" tIns="0" rIns="0" bIns="0"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3. Save &amp; check</a:t>
            </a:r>
            <a:endParaRPr lang="en-US" sz="1500" dirty="0"/>
          </a:p>
        </p:txBody>
      </p:sp>
      <p:sp>
        <p:nvSpPr>
          <p:cNvPr id="14" name="Text 12"/>
          <p:cNvSpPr txBox="1"/>
          <p:nvPr/>
        </p:nvSpPr>
        <p:spPr>
          <a:xfrm>
            <a:off x="8366760" y="2194560"/>
            <a:ext cx="3063240" cy="1051560"/>
          </a:xfrm>
          <a:prstGeom prst="rect">
            <a:avLst/>
          </a:prstGeom>
          <a:noFill/>
          <a:ln/>
        </p:spPr>
        <p:txBody>
          <a:bodyPr wrap="square" lIns="0" tIns="0" rIns="0" bIns="0" rtlCol="0" anchor="t"/>
          <a:lstStyle/>
          <a:p>
            <a:pPr indent="0" marL="0">
              <a:spcAft>
                <a:spcPts val="400"/>
              </a:spcAft>
              <a:buNone/>
            </a:pPr>
            <a:r>
              <a:rPr lang="en-US" sz="1400" dirty="0">
                <a:solidFill>
                  <a:srgbClr val="F2F2F2"/>
                </a:solidFill>
                <a:latin typeface="Calibri" pitchFamily="34" charset="0"/>
                <a:ea typeface="Calibri" pitchFamily="34" charset="-122"/>
                <a:cs typeface="Calibri" pitchFamily="34" charset="-120"/>
              </a:rPr>
              <a:t>The kernel saves the user registers and checks that number 1 is a valid entry.</a:t>
            </a:r>
            <a:endParaRPr lang="en-US" sz="1400" dirty="0"/>
          </a:p>
        </p:txBody>
      </p:sp>
      <p:sp>
        <p:nvSpPr>
          <p:cNvPr id="15" name="Shape 13"/>
          <p:cNvSpPr/>
          <p:nvPr/>
        </p:nvSpPr>
        <p:spPr>
          <a:xfrm>
            <a:off x="548640" y="3886200"/>
            <a:ext cx="352044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06908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6. Return</a:t>
            </a:r>
            <a:endParaRPr lang="en-US" sz="1500" dirty="0"/>
          </a:p>
        </p:txBody>
      </p:sp>
      <p:sp>
        <p:nvSpPr>
          <p:cNvPr id="17" name="Text 15"/>
          <p:cNvSpPr txBox="1"/>
          <p:nvPr/>
        </p:nvSpPr>
        <p:spPr>
          <a:xfrm>
            <a:off x="777240" y="4526280"/>
            <a:ext cx="3063240" cy="10515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sysret restores the registers, sets user mode; the wrapper returns 26 to the program.</a:t>
            </a:r>
            <a:endParaRPr lang="en-US" sz="1400" dirty="0"/>
          </a:p>
        </p:txBody>
      </p:sp>
      <p:sp>
        <p:nvSpPr>
          <p:cNvPr id="18" name="Shape 16"/>
          <p:cNvSpPr/>
          <p:nvPr/>
        </p:nvSpPr>
        <p:spPr>
          <a:xfrm>
            <a:off x="4343400" y="3886200"/>
            <a:ext cx="352044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72000" y="4069080"/>
            <a:ext cx="3063240" cy="384048"/>
          </a:xfrm>
          <a:prstGeom prst="rect">
            <a:avLst/>
          </a:prstGeom>
          <a:noFill/>
          <a:ln/>
        </p:spPr>
        <p:txBody>
          <a:bodyPr wrap="square" lIns="0" tIns="0" rIns="0" bIns="0"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5. Result</a:t>
            </a:r>
            <a:endParaRPr lang="en-US" sz="1500" dirty="0"/>
          </a:p>
        </p:txBody>
      </p:sp>
      <p:sp>
        <p:nvSpPr>
          <p:cNvPr id="20" name="Text 18"/>
          <p:cNvSpPr txBox="1"/>
          <p:nvPr/>
        </p:nvSpPr>
        <p:spPr>
          <a:xfrm>
            <a:off x="4572000" y="4526280"/>
            <a:ext cx="3063240" cy="1051560"/>
          </a:xfrm>
          <a:prstGeom prst="rect">
            <a:avLst/>
          </a:prstGeom>
          <a:noFill/>
          <a:ln/>
        </p:spPr>
        <p:txBody>
          <a:bodyPr wrap="square" lIns="0" tIns="0" rIns="0" bIns="0" rtlCol="0" anchor="t"/>
          <a:lstStyle/>
          <a:p>
            <a:pPr indent="0" marL="0">
              <a:spcAft>
                <a:spcPts val="400"/>
              </a:spcAft>
              <a:buNone/>
            </a:pPr>
            <a:r>
              <a:rPr lang="en-US" sz="1400" dirty="0">
                <a:solidFill>
                  <a:srgbClr val="F2F2F2"/>
                </a:solidFill>
                <a:latin typeface="Calibri" pitchFamily="34" charset="0"/>
                <a:ea typeface="Calibri" pitchFamily="34" charset="-122"/>
                <a:cs typeface="Calibri" pitchFamily="34" charset="-120"/>
              </a:rPr>
              <a:t>The return value (bytes written, or a negative error code) is placed in rax.</a:t>
            </a:r>
            <a:endParaRPr lang="en-US" sz="1400" dirty="0"/>
          </a:p>
        </p:txBody>
      </p:sp>
      <p:sp>
        <p:nvSpPr>
          <p:cNvPr id="21" name="Shape 19"/>
          <p:cNvSpPr/>
          <p:nvPr/>
        </p:nvSpPr>
        <p:spPr>
          <a:xfrm>
            <a:off x="8138160" y="3886200"/>
            <a:ext cx="352044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66760" y="4069080"/>
            <a:ext cx="3063240" cy="384048"/>
          </a:xfrm>
          <a:prstGeom prst="rect">
            <a:avLst/>
          </a:prstGeom>
          <a:noFill/>
          <a:ln/>
        </p:spPr>
        <p:txBody>
          <a:bodyPr wrap="square" lIns="0" tIns="0" rIns="0" bIns="0"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4. Dispatch</a:t>
            </a:r>
            <a:endParaRPr lang="en-US" sz="1500" dirty="0"/>
          </a:p>
        </p:txBody>
      </p:sp>
      <p:sp>
        <p:nvSpPr>
          <p:cNvPr id="23" name="Text 21"/>
          <p:cNvSpPr txBox="1"/>
          <p:nvPr/>
        </p:nvSpPr>
        <p:spPr>
          <a:xfrm>
            <a:off x="8366760" y="4526280"/>
            <a:ext cx="3063240" cy="1051560"/>
          </a:xfrm>
          <a:prstGeom prst="rect">
            <a:avLst/>
          </a:prstGeom>
          <a:noFill/>
          <a:ln/>
        </p:spPr>
        <p:txBody>
          <a:bodyPr wrap="square" lIns="0" tIns="0" rIns="0" bIns="0" rtlCol="0" anchor="t"/>
          <a:lstStyle/>
          <a:p>
            <a:pPr indent="0" marL="0">
              <a:spcAft>
                <a:spcPts val="400"/>
              </a:spcAft>
              <a:buNone/>
            </a:pPr>
            <a:r>
              <a:rPr lang="en-US" sz="1400" dirty="0">
                <a:solidFill>
                  <a:srgbClr val="F2F2F2"/>
                </a:solidFill>
                <a:latin typeface="Calibri" pitchFamily="34" charset="0"/>
                <a:ea typeface="Calibri" pitchFamily="34" charset="-122"/>
                <a:cs typeface="Calibri" pitchFamily="34" charset="-120"/>
              </a:rPr>
              <a:t>The kernel calls sys_write() via the table; it checks the buffer address, then talks to the driver.</a:t>
            </a:r>
            <a:endParaRPr lang="en-US" sz="1400" dirty="0"/>
          </a:p>
        </p:txBody>
      </p:sp>
      <p:sp>
        <p:nvSpPr>
          <p:cNvPr id="24" name="Shape 22"/>
          <p:cNvSpPr/>
          <p:nvPr/>
        </p:nvSpPr>
        <p:spPr>
          <a:xfrm>
            <a:off x="4087368" y="2468880"/>
            <a:ext cx="237744" cy="91"/>
          </a:xfrm>
          <a:prstGeom prst="line">
            <a:avLst/>
          </a:prstGeom>
          <a:noFill/>
          <a:ln w="25400">
            <a:solidFill>
              <a:srgbClr val="50808E"/>
            </a:solidFill>
            <a:prstDash val="solid"/>
            <a:tailEnd type="triangle"/>
          </a:ln>
        </p:spPr>
        <p:txBody>
          <a:bodyPr/>
          <a:p/>
        </p:txBody>
      </p:sp>
      <p:sp>
        <p:nvSpPr>
          <p:cNvPr id="25" name="Shape 23"/>
          <p:cNvSpPr/>
          <p:nvPr/>
        </p:nvSpPr>
        <p:spPr>
          <a:xfrm>
            <a:off x="7882128" y="2468880"/>
            <a:ext cx="237744" cy="91"/>
          </a:xfrm>
          <a:prstGeom prst="line">
            <a:avLst/>
          </a:prstGeom>
          <a:noFill/>
          <a:ln w="25400">
            <a:solidFill>
              <a:srgbClr val="50808E"/>
            </a:solidFill>
            <a:prstDash val="solid"/>
            <a:tailEnd type="triangle"/>
          </a:ln>
        </p:spPr>
        <p:txBody>
          <a:bodyPr/>
          <a:p/>
        </p:txBody>
      </p:sp>
      <p:sp>
        <p:nvSpPr>
          <p:cNvPr id="26" name="Shape 24"/>
          <p:cNvSpPr/>
          <p:nvPr/>
        </p:nvSpPr>
        <p:spPr>
          <a:xfrm>
            <a:off x="9898380" y="3401568"/>
            <a:ext cx="91" cy="466344"/>
          </a:xfrm>
          <a:prstGeom prst="line">
            <a:avLst/>
          </a:prstGeom>
          <a:noFill/>
          <a:ln w="25400">
            <a:solidFill>
              <a:srgbClr val="50808E"/>
            </a:solidFill>
            <a:prstDash val="solid"/>
            <a:tailEnd type="triangle"/>
          </a:ln>
        </p:spPr>
        <p:txBody>
          <a:bodyPr/>
          <a:p/>
        </p:txBody>
      </p:sp>
      <p:sp>
        <p:nvSpPr>
          <p:cNvPr id="27" name="Shape 25"/>
          <p:cNvSpPr/>
          <p:nvPr/>
        </p:nvSpPr>
        <p:spPr>
          <a:xfrm flipH="1">
            <a:off x="7882128" y="4800600"/>
            <a:ext cx="237744" cy="91"/>
          </a:xfrm>
          <a:prstGeom prst="line">
            <a:avLst/>
          </a:prstGeom>
          <a:noFill/>
          <a:ln w="25400">
            <a:solidFill>
              <a:srgbClr val="50808E"/>
            </a:solidFill>
            <a:prstDash val="solid"/>
            <a:tailEnd type="triangle"/>
          </a:ln>
        </p:spPr>
        <p:txBody>
          <a:bodyPr/>
          <a:p/>
        </p:txBody>
      </p:sp>
      <p:sp>
        <p:nvSpPr>
          <p:cNvPr id="28" name="Shape 26"/>
          <p:cNvSpPr/>
          <p:nvPr/>
        </p:nvSpPr>
        <p:spPr>
          <a:xfrm flipH="1">
            <a:off x="4087368" y="4800600"/>
            <a:ext cx="237744" cy="91"/>
          </a:xfrm>
          <a:prstGeom prst="line">
            <a:avLst/>
          </a:prstGeom>
          <a:noFill/>
          <a:ln w="25400">
            <a:solidFill>
              <a:srgbClr val="50808E"/>
            </a:solidFill>
            <a:prstDash val="solid"/>
            <a:tailEnd type="triangle"/>
          </a:ln>
        </p:spPr>
        <p:txBody>
          <a:bodyPr/>
          <a:p/>
        </p:txBody>
      </p:sp>
      <p:sp>
        <p:nvSpPr>
          <p:cNvPr id="29" name="Text 27"/>
          <p:cNvSpPr txBox="1"/>
          <p:nvPr/>
        </p:nvSpPr>
        <p:spPr>
          <a:xfrm>
            <a:off x="548640" y="5852160"/>
            <a:ext cx="5486400" cy="32004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light = user mode    dark = kernel mode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PARAMETERS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Three Ways to Pass Parameters to the OS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14</a:t>
            </a:r>
            <a:endParaRPr lang="en-US" sz="900" dirty="0"/>
          </a:p>
        </p:txBody>
      </p:sp>
      <p:sp>
        <p:nvSpPr>
          <p:cNvPr id="6" name="Shape 4"/>
          <p:cNvSpPr/>
          <p:nvPr/>
        </p:nvSpPr>
        <p:spPr>
          <a:xfrm>
            <a:off x="548640" y="1508760"/>
            <a:ext cx="3566160" cy="3794760"/>
          </a:xfrm>
          <a:prstGeom prst="roundRect">
            <a:avLst>
              <a:gd name="adj" fmla="val 1538"/>
            </a:avLst>
          </a:prstGeom>
          <a:solidFill>
            <a:srgbClr val="F2F2F2"/>
          </a:solidFill>
          <a:ln/>
        </p:spPr>
        <p:txBody>
          <a:bodyPr/>
          <a:p/>
        </p:txBody>
      </p:sp>
      <p:sp>
        <p:nvSpPr>
          <p:cNvPr id="7" name="Text 5"/>
          <p:cNvSpPr txBox="1"/>
          <p:nvPr/>
        </p:nvSpPr>
        <p:spPr>
          <a:xfrm>
            <a:off x="777240" y="1645920"/>
            <a:ext cx="3108960" cy="365760"/>
          </a:xfrm>
          <a:prstGeom prst="rect">
            <a:avLst/>
          </a:prstGeom>
          <a:noFill/>
          <a:ln/>
        </p:spPr>
        <p:txBody>
          <a:bodyPr wrap="square" lIns="0" tIns="0" rIns="0" bIns="0" rtlCol="0" anchor="t"/>
          <a:lstStyle/>
          <a:p>
            <a:pPr indent="0" marL="0">
              <a:buNone/>
            </a:pPr>
            <a:r>
              <a:rPr lang="en-US" sz="1600" b="1" dirty="0">
                <a:solidFill>
                  <a:srgbClr val="028090"/>
                </a:solidFill>
                <a:latin typeface="Cambria" pitchFamily="34" charset="0"/>
                <a:ea typeface="Cambria" pitchFamily="34" charset="-122"/>
                <a:cs typeface="Cambria" pitchFamily="34" charset="-120"/>
              </a:rPr>
              <a:t>1. In registers</a:t>
            </a:r>
            <a:endParaRPr lang="en-US" sz="1600" dirty="0"/>
          </a:p>
        </p:txBody>
      </p:sp>
      <p:sp>
        <p:nvSpPr>
          <p:cNvPr id="8" name="Shape 6"/>
          <p:cNvSpPr/>
          <p:nvPr/>
        </p:nvSpPr>
        <p:spPr>
          <a:xfrm>
            <a:off x="4320540" y="1508760"/>
            <a:ext cx="3566160" cy="3794760"/>
          </a:xfrm>
          <a:prstGeom prst="roundRect">
            <a:avLst>
              <a:gd name="adj" fmla="val 1538"/>
            </a:avLst>
          </a:prstGeom>
          <a:solidFill>
            <a:srgbClr val="F2F2F2"/>
          </a:solidFill>
          <a:ln/>
        </p:spPr>
        <p:txBody>
          <a:bodyPr/>
          <a:p/>
        </p:txBody>
      </p:sp>
      <p:sp>
        <p:nvSpPr>
          <p:cNvPr id="9" name="Text 7"/>
          <p:cNvSpPr txBox="1"/>
          <p:nvPr/>
        </p:nvSpPr>
        <p:spPr>
          <a:xfrm>
            <a:off x="4549140" y="1645920"/>
            <a:ext cx="3108960" cy="365760"/>
          </a:xfrm>
          <a:prstGeom prst="rect">
            <a:avLst/>
          </a:prstGeom>
          <a:noFill/>
          <a:ln/>
        </p:spPr>
        <p:txBody>
          <a:bodyPr wrap="square" lIns="0" tIns="0" rIns="0" bIns="0" rtlCol="0" anchor="t"/>
          <a:lstStyle/>
          <a:p>
            <a:pPr indent="0" marL="0">
              <a:buNone/>
            </a:pPr>
            <a:r>
              <a:rPr lang="en-US" sz="1600" b="1" dirty="0">
                <a:solidFill>
                  <a:srgbClr val="028090"/>
                </a:solidFill>
                <a:latin typeface="Cambria" pitchFamily="34" charset="0"/>
                <a:ea typeface="Cambria" pitchFamily="34" charset="-122"/>
                <a:cs typeface="Cambria" pitchFamily="34" charset="-120"/>
              </a:rPr>
              <a:t>2. In a memory block</a:t>
            </a:r>
            <a:endParaRPr lang="en-US" sz="1600" dirty="0"/>
          </a:p>
        </p:txBody>
      </p:sp>
      <p:sp>
        <p:nvSpPr>
          <p:cNvPr id="10" name="Shape 8"/>
          <p:cNvSpPr/>
          <p:nvPr/>
        </p:nvSpPr>
        <p:spPr>
          <a:xfrm>
            <a:off x="8092440" y="1508760"/>
            <a:ext cx="3566160" cy="3794760"/>
          </a:xfrm>
          <a:prstGeom prst="roundRect">
            <a:avLst>
              <a:gd name="adj" fmla="val 1538"/>
            </a:avLst>
          </a:prstGeom>
          <a:solidFill>
            <a:srgbClr val="F2F2F2"/>
          </a:solidFill>
          <a:ln/>
        </p:spPr>
        <p:txBody>
          <a:bodyPr/>
          <a:p/>
        </p:txBody>
      </p:sp>
      <p:sp>
        <p:nvSpPr>
          <p:cNvPr id="11" name="Text 9"/>
          <p:cNvSpPr txBox="1"/>
          <p:nvPr/>
        </p:nvSpPr>
        <p:spPr>
          <a:xfrm>
            <a:off x="8321040" y="1645920"/>
            <a:ext cx="3108960" cy="365760"/>
          </a:xfrm>
          <a:prstGeom prst="rect">
            <a:avLst/>
          </a:prstGeom>
          <a:noFill/>
          <a:ln/>
        </p:spPr>
        <p:txBody>
          <a:bodyPr wrap="square" lIns="0" tIns="0" rIns="0" bIns="0" rtlCol="0" anchor="t"/>
          <a:lstStyle/>
          <a:p>
            <a:pPr indent="0" marL="0">
              <a:buNone/>
            </a:pPr>
            <a:r>
              <a:rPr lang="en-US" sz="1600" b="1" dirty="0">
                <a:solidFill>
                  <a:srgbClr val="028090"/>
                </a:solidFill>
                <a:latin typeface="Cambria" pitchFamily="34" charset="0"/>
                <a:ea typeface="Cambria" pitchFamily="34" charset="-122"/>
                <a:cs typeface="Cambria" pitchFamily="34" charset="-120"/>
              </a:rPr>
              <a:t>3. On the stack</a:t>
            </a:r>
            <a:endParaRPr lang="en-US" sz="1600" dirty="0"/>
          </a:p>
        </p:txBody>
      </p:sp>
      <p:sp>
        <p:nvSpPr>
          <p:cNvPr id="12" name="Shape 10"/>
          <p:cNvSpPr/>
          <p:nvPr/>
        </p:nvSpPr>
        <p:spPr>
          <a:xfrm>
            <a:off x="822960" y="2194560"/>
            <a:ext cx="731520" cy="457200"/>
          </a:xfrm>
          <a:prstGeom prst="roundRect">
            <a:avLst>
              <a:gd name="adj" fmla="val 10000"/>
            </a:avLst>
          </a:prstGeom>
          <a:solidFill>
            <a:srgbClr val="50808E"/>
          </a:solidFill>
          <a:ln/>
        </p:spPr>
        <p:txBody>
          <a:bodyPr/>
          <a:p/>
        </p:txBody>
      </p:sp>
      <p:sp>
        <p:nvSpPr>
          <p:cNvPr id="13" name="Text 11"/>
          <p:cNvSpPr txBox="1"/>
          <p:nvPr/>
        </p:nvSpPr>
        <p:spPr>
          <a:xfrm>
            <a:off x="822960" y="2194560"/>
            <a:ext cx="731520"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rdi</a:t>
            </a:r>
            <a:endParaRPr lang="en-US" sz="1200" dirty="0"/>
          </a:p>
        </p:txBody>
      </p:sp>
      <p:sp>
        <p:nvSpPr>
          <p:cNvPr id="14" name="Shape 12"/>
          <p:cNvSpPr/>
          <p:nvPr/>
        </p:nvSpPr>
        <p:spPr>
          <a:xfrm>
            <a:off x="1645920" y="2194560"/>
            <a:ext cx="914400" cy="457200"/>
          </a:xfrm>
          <a:prstGeom prst="roundRect">
            <a:avLst>
              <a:gd name="adj" fmla="val 10000"/>
            </a:avLst>
          </a:prstGeom>
          <a:solidFill>
            <a:srgbClr val="FFFFFF"/>
          </a:solidFill>
          <a:ln/>
        </p:spPr>
        <p:txBody>
          <a:bodyPr/>
          <a:p/>
        </p:txBody>
      </p:sp>
      <p:sp>
        <p:nvSpPr>
          <p:cNvPr id="15" name="Text 13"/>
          <p:cNvSpPr txBox="1"/>
          <p:nvPr/>
        </p:nvSpPr>
        <p:spPr>
          <a:xfrm>
            <a:off x="1645920" y="2194560"/>
            <a:ext cx="914400" cy="4572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1</a:t>
            </a:r>
            <a:endParaRPr lang="en-US" sz="1200" dirty="0"/>
          </a:p>
        </p:txBody>
      </p:sp>
      <p:sp>
        <p:nvSpPr>
          <p:cNvPr id="16" name="Shape 14"/>
          <p:cNvSpPr/>
          <p:nvPr/>
        </p:nvSpPr>
        <p:spPr>
          <a:xfrm>
            <a:off x="822960" y="2743200"/>
            <a:ext cx="731520" cy="457200"/>
          </a:xfrm>
          <a:prstGeom prst="roundRect">
            <a:avLst>
              <a:gd name="adj" fmla="val 10000"/>
            </a:avLst>
          </a:prstGeom>
          <a:solidFill>
            <a:srgbClr val="50808E"/>
          </a:solidFill>
          <a:ln/>
        </p:spPr>
        <p:txBody>
          <a:bodyPr/>
          <a:p/>
        </p:txBody>
      </p:sp>
      <p:sp>
        <p:nvSpPr>
          <p:cNvPr id="17" name="Text 15"/>
          <p:cNvSpPr txBox="1"/>
          <p:nvPr/>
        </p:nvSpPr>
        <p:spPr>
          <a:xfrm>
            <a:off x="822960" y="2743200"/>
            <a:ext cx="731520"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rsi</a:t>
            </a:r>
            <a:endParaRPr lang="en-US" sz="1200" dirty="0"/>
          </a:p>
        </p:txBody>
      </p:sp>
      <p:sp>
        <p:nvSpPr>
          <p:cNvPr id="18" name="Shape 16"/>
          <p:cNvSpPr/>
          <p:nvPr/>
        </p:nvSpPr>
        <p:spPr>
          <a:xfrm>
            <a:off x="1645920" y="2743200"/>
            <a:ext cx="914400" cy="457200"/>
          </a:xfrm>
          <a:prstGeom prst="roundRect">
            <a:avLst>
              <a:gd name="adj" fmla="val 10000"/>
            </a:avLst>
          </a:prstGeom>
          <a:solidFill>
            <a:srgbClr val="FFFFFF"/>
          </a:solidFill>
          <a:ln/>
        </p:spPr>
        <p:txBody>
          <a:bodyPr/>
          <a:p/>
        </p:txBody>
      </p:sp>
      <p:sp>
        <p:nvSpPr>
          <p:cNvPr id="19" name="Text 17"/>
          <p:cNvSpPr txBox="1"/>
          <p:nvPr/>
        </p:nvSpPr>
        <p:spPr>
          <a:xfrm>
            <a:off x="1645920" y="2743200"/>
            <a:ext cx="914400" cy="4572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msg</a:t>
            </a:r>
            <a:endParaRPr lang="en-US" sz="1200" dirty="0"/>
          </a:p>
        </p:txBody>
      </p:sp>
      <p:sp>
        <p:nvSpPr>
          <p:cNvPr id="20" name="Shape 18"/>
          <p:cNvSpPr/>
          <p:nvPr/>
        </p:nvSpPr>
        <p:spPr>
          <a:xfrm>
            <a:off x="822960" y="3291840"/>
            <a:ext cx="731520" cy="457200"/>
          </a:xfrm>
          <a:prstGeom prst="roundRect">
            <a:avLst>
              <a:gd name="adj" fmla="val 10000"/>
            </a:avLst>
          </a:prstGeom>
          <a:solidFill>
            <a:srgbClr val="50808E"/>
          </a:solidFill>
          <a:ln/>
        </p:spPr>
        <p:txBody>
          <a:bodyPr/>
          <a:p/>
        </p:txBody>
      </p:sp>
      <p:sp>
        <p:nvSpPr>
          <p:cNvPr id="21" name="Text 19"/>
          <p:cNvSpPr txBox="1"/>
          <p:nvPr/>
        </p:nvSpPr>
        <p:spPr>
          <a:xfrm>
            <a:off x="822960" y="3291840"/>
            <a:ext cx="731520"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rdx</a:t>
            </a:r>
            <a:endParaRPr lang="en-US" sz="1200" dirty="0"/>
          </a:p>
        </p:txBody>
      </p:sp>
      <p:sp>
        <p:nvSpPr>
          <p:cNvPr id="22" name="Shape 20"/>
          <p:cNvSpPr/>
          <p:nvPr/>
        </p:nvSpPr>
        <p:spPr>
          <a:xfrm>
            <a:off x="1645920" y="3291840"/>
            <a:ext cx="914400" cy="457200"/>
          </a:xfrm>
          <a:prstGeom prst="roundRect">
            <a:avLst>
              <a:gd name="adj" fmla="val 10000"/>
            </a:avLst>
          </a:prstGeom>
          <a:solidFill>
            <a:srgbClr val="FFFFFF"/>
          </a:solidFill>
          <a:ln/>
        </p:spPr>
        <p:txBody>
          <a:bodyPr/>
          <a:p/>
        </p:txBody>
      </p:sp>
      <p:sp>
        <p:nvSpPr>
          <p:cNvPr id="23" name="Text 21"/>
          <p:cNvSpPr txBox="1"/>
          <p:nvPr/>
        </p:nvSpPr>
        <p:spPr>
          <a:xfrm>
            <a:off x="1645920" y="3291840"/>
            <a:ext cx="914400" cy="4572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26</a:t>
            </a:r>
            <a:endParaRPr lang="en-US" sz="1200" dirty="0"/>
          </a:p>
        </p:txBody>
      </p:sp>
      <p:sp>
        <p:nvSpPr>
          <p:cNvPr id="24" name="Shape 22"/>
          <p:cNvSpPr/>
          <p:nvPr/>
        </p:nvSpPr>
        <p:spPr>
          <a:xfrm>
            <a:off x="2926080" y="2468880"/>
            <a:ext cx="914400" cy="1005840"/>
          </a:xfrm>
          <a:prstGeom prst="roundRect">
            <a:avLst>
              <a:gd name="adj" fmla="val 5000"/>
            </a:avLst>
          </a:prstGeom>
          <a:solidFill>
            <a:srgbClr val="36454F"/>
          </a:solidFill>
          <a:ln/>
        </p:spPr>
        <p:txBody>
          <a:bodyPr/>
          <a:p/>
        </p:txBody>
      </p:sp>
      <p:sp>
        <p:nvSpPr>
          <p:cNvPr id="25" name="Text 23"/>
          <p:cNvSpPr txBox="1"/>
          <p:nvPr/>
        </p:nvSpPr>
        <p:spPr>
          <a:xfrm>
            <a:off x="2926080" y="2468880"/>
            <a:ext cx="914400" cy="100584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26" name="Shape 24"/>
          <p:cNvSpPr/>
          <p:nvPr/>
        </p:nvSpPr>
        <p:spPr>
          <a:xfrm>
            <a:off x="2587752" y="2971800"/>
            <a:ext cx="320040" cy="91"/>
          </a:xfrm>
          <a:prstGeom prst="line">
            <a:avLst/>
          </a:prstGeom>
          <a:noFill/>
          <a:ln w="22225">
            <a:solidFill>
              <a:srgbClr val="50808E"/>
            </a:solidFill>
            <a:prstDash val="solid"/>
            <a:tailEnd type="triangle"/>
          </a:ln>
        </p:spPr>
        <p:txBody>
          <a:bodyPr/>
          <a:p/>
        </p:txBody>
      </p:sp>
      <p:sp>
        <p:nvSpPr>
          <p:cNvPr id="27" name="Text 25"/>
          <p:cNvSpPr txBox="1"/>
          <p:nvPr/>
        </p:nvSpPr>
        <p:spPr>
          <a:xfrm>
            <a:off x="777240" y="4023360"/>
            <a:ext cx="3108960" cy="1097280"/>
          </a:xfrm>
          <a:prstGeom prst="rect">
            <a:avLst/>
          </a:prstGeom>
          <a:noFill/>
          <a:ln/>
        </p:spPr>
        <p:txBody>
          <a:bodyPr wrap="square" lIns="0" tIns="0" rIns="0" bIns="0" rtlCol="0" anchor="t"/>
          <a:lstStyle/>
          <a:p>
            <a:pPr indent="0" marL="0">
              <a:buNone/>
            </a:pPr>
            <a:r>
              <a:rPr lang="en-US" sz="1350" dirty="0">
                <a:solidFill>
                  <a:srgbClr val="3A464C"/>
                </a:solidFill>
                <a:latin typeface="Calibri" pitchFamily="34" charset="0"/>
                <a:ea typeface="Calibri" pitchFamily="34" charset="-122"/>
                <a:cs typeface="Calibri" pitchFamily="34" charset="-120"/>
              </a:rPr>
              <a:t>Fastest. Limited by the number of registers (6 on x86-64 Linux).</a:t>
            </a:r>
            <a:endParaRPr lang="en-US" sz="1350" dirty="0"/>
          </a:p>
        </p:txBody>
      </p:sp>
      <p:sp>
        <p:nvSpPr>
          <p:cNvPr id="28" name="Shape 26"/>
          <p:cNvSpPr/>
          <p:nvPr/>
        </p:nvSpPr>
        <p:spPr>
          <a:xfrm>
            <a:off x="4594860" y="2286000"/>
            <a:ext cx="731520" cy="457200"/>
          </a:xfrm>
          <a:prstGeom prst="roundRect">
            <a:avLst>
              <a:gd name="adj" fmla="val 10000"/>
            </a:avLst>
          </a:prstGeom>
          <a:solidFill>
            <a:srgbClr val="50808E"/>
          </a:solidFill>
          <a:ln/>
        </p:spPr>
        <p:txBody>
          <a:bodyPr/>
          <a:p/>
        </p:txBody>
      </p:sp>
      <p:sp>
        <p:nvSpPr>
          <p:cNvPr id="29" name="Text 27"/>
          <p:cNvSpPr txBox="1"/>
          <p:nvPr/>
        </p:nvSpPr>
        <p:spPr>
          <a:xfrm>
            <a:off x="4594860" y="2286000"/>
            <a:ext cx="731520"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rdi</a:t>
            </a:r>
            <a:endParaRPr lang="en-US" sz="1200" dirty="0"/>
          </a:p>
        </p:txBody>
      </p:sp>
      <p:sp>
        <p:nvSpPr>
          <p:cNvPr id="30" name="Shape 28"/>
          <p:cNvSpPr/>
          <p:nvPr/>
        </p:nvSpPr>
        <p:spPr>
          <a:xfrm>
            <a:off x="5417820" y="2286000"/>
            <a:ext cx="914400" cy="457200"/>
          </a:xfrm>
          <a:prstGeom prst="roundRect">
            <a:avLst>
              <a:gd name="adj" fmla="val 10000"/>
            </a:avLst>
          </a:prstGeom>
          <a:solidFill>
            <a:srgbClr val="FFFFFF"/>
          </a:solidFill>
          <a:ln/>
        </p:spPr>
        <p:txBody>
          <a:bodyPr/>
          <a:p/>
        </p:txBody>
      </p:sp>
      <p:sp>
        <p:nvSpPr>
          <p:cNvPr id="31" name="Text 29"/>
          <p:cNvSpPr txBox="1"/>
          <p:nvPr/>
        </p:nvSpPr>
        <p:spPr>
          <a:xfrm>
            <a:off x="5417820" y="2286000"/>
            <a:ext cx="914400" cy="4572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addr X</a:t>
            </a:r>
            <a:endParaRPr lang="en-US" sz="1200" dirty="0"/>
          </a:p>
        </p:txBody>
      </p:sp>
      <p:sp>
        <p:nvSpPr>
          <p:cNvPr id="32" name="Shape 30"/>
          <p:cNvSpPr/>
          <p:nvPr/>
        </p:nvSpPr>
        <p:spPr>
          <a:xfrm>
            <a:off x="6606540" y="2103120"/>
            <a:ext cx="1005840" cy="347472"/>
          </a:xfrm>
          <a:prstGeom prst="roundRect">
            <a:avLst>
              <a:gd name="adj" fmla="val 13158"/>
            </a:avLst>
          </a:prstGeom>
          <a:solidFill>
            <a:srgbClr val="D7E9E6"/>
          </a:solidFill>
          <a:ln/>
        </p:spPr>
        <p:txBody>
          <a:bodyPr/>
          <a:p/>
        </p:txBody>
      </p:sp>
      <p:sp>
        <p:nvSpPr>
          <p:cNvPr id="33" name="Text 31"/>
          <p:cNvSpPr txBox="1"/>
          <p:nvPr/>
        </p:nvSpPr>
        <p:spPr>
          <a:xfrm>
            <a:off x="6606540" y="2103120"/>
            <a:ext cx="100584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alibri" pitchFamily="34" charset="0"/>
                <a:ea typeface="Calibri" pitchFamily="34" charset="-122"/>
                <a:cs typeface="Calibri" pitchFamily="34" charset="-120"/>
              </a:rPr>
              <a:t>param 1</a:t>
            </a:r>
            <a:endParaRPr lang="en-US" sz="1100" dirty="0"/>
          </a:p>
        </p:txBody>
      </p:sp>
      <p:sp>
        <p:nvSpPr>
          <p:cNvPr id="34" name="Shape 32"/>
          <p:cNvSpPr/>
          <p:nvPr/>
        </p:nvSpPr>
        <p:spPr>
          <a:xfrm>
            <a:off x="6606540" y="2487168"/>
            <a:ext cx="1005840" cy="347472"/>
          </a:xfrm>
          <a:prstGeom prst="roundRect">
            <a:avLst>
              <a:gd name="adj" fmla="val 13158"/>
            </a:avLst>
          </a:prstGeom>
          <a:solidFill>
            <a:srgbClr val="D7E9E6"/>
          </a:solidFill>
          <a:ln/>
        </p:spPr>
        <p:txBody>
          <a:bodyPr/>
          <a:p/>
        </p:txBody>
      </p:sp>
      <p:sp>
        <p:nvSpPr>
          <p:cNvPr id="35" name="Text 33"/>
          <p:cNvSpPr txBox="1"/>
          <p:nvPr/>
        </p:nvSpPr>
        <p:spPr>
          <a:xfrm>
            <a:off x="6606540" y="2487168"/>
            <a:ext cx="100584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alibri" pitchFamily="34" charset="0"/>
                <a:ea typeface="Calibri" pitchFamily="34" charset="-122"/>
                <a:cs typeface="Calibri" pitchFamily="34" charset="-120"/>
              </a:rPr>
              <a:t>param 2</a:t>
            </a:r>
            <a:endParaRPr lang="en-US" sz="1100" dirty="0"/>
          </a:p>
        </p:txBody>
      </p:sp>
      <p:sp>
        <p:nvSpPr>
          <p:cNvPr id="36" name="Shape 34"/>
          <p:cNvSpPr/>
          <p:nvPr/>
        </p:nvSpPr>
        <p:spPr>
          <a:xfrm>
            <a:off x="6606540" y="2871216"/>
            <a:ext cx="1005840" cy="347472"/>
          </a:xfrm>
          <a:prstGeom prst="roundRect">
            <a:avLst>
              <a:gd name="adj" fmla="val 13158"/>
            </a:avLst>
          </a:prstGeom>
          <a:solidFill>
            <a:srgbClr val="D7E9E6"/>
          </a:solidFill>
          <a:ln/>
        </p:spPr>
        <p:txBody>
          <a:bodyPr/>
          <a:p/>
        </p:txBody>
      </p:sp>
      <p:sp>
        <p:nvSpPr>
          <p:cNvPr id="37" name="Text 35"/>
          <p:cNvSpPr txBox="1"/>
          <p:nvPr/>
        </p:nvSpPr>
        <p:spPr>
          <a:xfrm>
            <a:off x="6606540" y="2871216"/>
            <a:ext cx="100584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alibri" pitchFamily="34" charset="0"/>
                <a:ea typeface="Calibri" pitchFamily="34" charset="-122"/>
                <a:cs typeface="Calibri" pitchFamily="34" charset="-120"/>
              </a:rPr>
              <a:t>…</a:t>
            </a:r>
            <a:endParaRPr lang="en-US" sz="1100" dirty="0"/>
          </a:p>
        </p:txBody>
      </p:sp>
      <p:sp>
        <p:nvSpPr>
          <p:cNvPr id="38" name="Shape 36"/>
          <p:cNvSpPr/>
          <p:nvPr/>
        </p:nvSpPr>
        <p:spPr>
          <a:xfrm>
            <a:off x="6606540" y="3255264"/>
            <a:ext cx="1005840" cy="347472"/>
          </a:xfrm>
          <a:prstGeom prst="roundRect">
            <a:avLst>
              <a:gd name="adj" fmla="val 13158"/>
            </a:avLst>
          </a:prstGeom>
          <a:solidFill>
            <a:srgbClr val="D7E9E6"/>
          </a:solidFill>
          <a:ln/>
        </p:spPr>
        <p:txBody>
          <a:bodyPr/>
          <a:p/>
        </p:txBody>
      </p:sp>
      <p:sp>
        <p:nvSpPr>
          <p:cNvPr id="39" name="Text 37"/>
          <p:cNvSpPr txBox="1"/>
          <p:nvPr/>
        </p:nvSpPr>
        <p:spPr>
          <a:xfrm>
            <a:off x="6606540" y="3255264"/>
            <a:ext cx="100584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alibri" pitchFamily="34" charset="0"/>
                <a:ea typeface="Calibri" pitchFamily="34" charset="-122"/>
                <a:cs typeface="Calibri" pitchFamily="34" charset="-120"/>
              </a:rPr>
              <a:t>param n</a:t>
            </a:r>
            <a:endParaRPr lang="en-US" sz="1100" dirty="0"/>
          </a:p>
        </p:txBody>
      </p:sp>
      <p:sp>
        <p:nvSpPr>
          <p:cNvPr id="40" name="Text 38"/>
          <p:cNvSpPr txBox="1"/>
          <p:nvPr/>
        </p:nvSpPr>
        <p:spPr>
          <a:xfrm>
            <a:off x="6606540" y="3639312"/>
            <a:ext cx="1005840" cy="228600"/>
          </a:xfrm>
          <a:prstGeom prst="rect">
            <a:avLst/>
          </a:prstGeom>
          <a:noFill/>
          <a:ln/>
        </p:spPr>
        <p:txBody>
          <a:bodyPr wrap="square" lIns="0" tIns="0" rIns="0" bIns="0" rtlCol="0" anchor="t"/>
          <a:lstStyle/>
          <a:p>
            <a:pPr algn="ctr" indent="0" marL="0">
              <a:buNone/>
            </a:pPr>
            <a:r>
              <a:rPr lang="en-US" sz="1000" i="1" dirty="0">
                <a:solidFill>
                  <a:srgbClr val="6B7679"/>
                </a:solidFill>
                <a:latin typeface="Calibri" pitchFamily="34" charset="0"/>
                <a:ea typeface="Calibri" pitchFamily="34" charset="-122"/>
                <a:cs typeface="Calibri" pitchFamily="34" charset="-120"/>
              </a:rPr>
              <a:t>block at X</a:t>
            </a:r>
            <a:endParaRPr lang="en-US" sz="1000" dirty="0"/>
          </a:p>
        </p:txBody>
      </p:sp>
      <p:sp>
        <p:nvSpPr>
          <p:cNvPr id="41" name="Shape 39"/>
          <p:cNvSpPr/>
          <p:nvPr/>
        </p:nvSpPr>
        <p:spPr>
          <a:xfrm flipV="1">
            <a:off x="6359652" y="2276856"/>
            <a:ext cx="228600" cy="237744"/>
          </a:xfrm>
          <a:prstGeom prst="line">
            <a:avLst/>
          </a:prstGeom>
          <a:noFill/>
          <a:ln w="22225">
            <a:solidFill>
              <a:srgbClr val="50808E"/>
            </a:solidFill>
            <a:prstDash val="solid"/>
            <a:tailEnd type="triangle"/>
          </a:ln>
        </p:spPr>
        <p:txBody>
          <a:bodyPr/>
          <a:p/>
        </p:txBody>
      </p:sp>
      <p:sp>
        <p:nvSpPr>
          <p:cNvPr id="42" name="Text 40"/>
          <p:cNvSpPr txBox="1"/>
          <p:nvPr/>
        </p:nvSpPr>
        <p:spPr>
          <a:xfrm>
            <a:off x="4549140" y="4023360"/>
            <a:ext cx="3108960" cy="1188720"/>
          </a:xfrm>
          <a:prstGeom prst="rect">
            <a:avLst/>
          </a:prstGeom>
          <a:noFill/>
          <a:ln/>
        </p:spPr>
        <p:txBody>
          <a:bodyPr wrap="square" lIns="0" tIns="0" rIns="0" bIns="0" rtlCol="0" anchor="t"/>
          <a:lstStyle/>
          <a:p>
            <a:pPr indent="0" marL="0">
              <a:buNone/>
            </a:pPr>
            <a:r>
              <a:rPr lang="en-US" sz="1350" dirty="0">
                <a:solidFill>
                  <a:srgbClr val="3A464C"/>
                </a:solidFill>
                <a:latin typeface="Calibri" pitchFamily="34" charset="0"/>
                <a:ea typeface="Calibri" pitchFamily="34" charset="-122"/>
                <a:cs typeface="Calibri" pitchFamily="34" charset="-120"/>
              </a:rPr>
              <a:t>Any number of parameters; only the address travels in a register. Example: clone3() gets a pointer to a struct.</a:t>
            </a:r>
            <a:endParaRPr lang="en-US" sz="1350" dirty="0"/>
          </a:p>
        </p:txBody>
      </p:sp>
      <p:sp>
        <p:nvSpPr>
          <p:cNvPr id="43" name="Shape 41"/>
          <p:cNvSpPr/>
          <p:nvPr/>
        </p:nvSpPr>
        <p:spPr>
          <a:xfrm>
            <a:off x="8549640" y="2194560"/>
            <a:ext cx="1188720" cy="365760"/>
          </a:xfrm>
          <a:prstGeom prst="roundRect">
            <a:avLst>
              <a:gd name="adj" fmla="val 12500"/>
            </a:avLst>
          </a:prstGeom>
          <a:solidFill>
            <a:srgbClr val="D7E9E6"/>
          </a:solidFill>
          <a:ln/>
        </p:spPr>
        <p:txBody>
          <a:bodyPr/>
          <a:p/>
        </p:txBody>
      </p:sp>
      <p:sp>
        <p:nvSpPr>
          <p:cNvPr id="44" name="Text 42"/>
          <p:cNvSpPr txBox="1"/>
          <p:nvPr/>
        </p:nvSpPr>
        <p:spPr>
          <a:xfrm>
            <a:off x="8549640" y="2194560"/>
            <a:ext cx="1188720" cy="365760"/>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alibri" pitchFamily="34" charset="0"/>
                <a:ea typeface="Calibri" pitchFamily="34" charset="-122"/>
                <a:cs typeface="Calibri" pitchFamily="34" charset="-120"/>
              </a:rPr>
              <a:t>param 3</a:t>
            </a:r>
            <a:endParaRPr lang="en-US" sz="1100" dirty="0"/>
          </a:p>
        </p:txBody>
      </p:sp>
      <p:sp>
        <p:nvSpPr>
          <p:cNvPr id="45" name="Shape 43"/>
          <p:cNvSpPr/>
          <p:nvPr/>
        </p:nvSpPr>
        <p:spPr>
          <a:xfrm>
            <a:off x="8549640" y="2606040"/>
            <a:ext cx="1188720" cy="365760"/>
          </a:xfrm>
          <a:prstGeom prst="roundRect">
            <a:avLst>
              <a:gd name="adj" fmla="val 12500"/>
            </a:avLst>
          </a:prstGeom>
          <a:solidFill>
            <a:srgbClr val="D7E9E6"/>
          </a:solidFill>
          <a:ln/>
        </p:spPr>
        <p:txBody>
          <a:bodyPr/>
          <a:p/>
        </p:txBody>
      </p:sp>
      <p:sp>
        <p:nvSpPr>
          <p:cNvPr id="46" name="Text 44"/>
          <p:cNvSpPr txBox="1"/>
          <p:nvPr/>
        </p:nvSpPr>
        <p:spPr>
          <a:xfrm>
            <a:off x="8549640" y="2606040"/>
            <a:ext cx="1188720" cy="365760"/>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alibri" pitchFamily="34" charset="0"/>
                <a:ea typeface="Calibri" pitchFamily="34" charset="-122"/>
                <a:cs typeface="Calibri" pitchFamily="34" charset="-120"/>
              </a:rPr>
              <a:t>param 2</a:t>
            </a:r>
            <a:endParaRPr lang="en-US" sz="1100" dirty="0"/>
          </a:p>
        </p:txBody>
      </p:sp>
      <p:sp>
        <p:nvSpPr>
          <p:cNvPr id="47" name="Shape 45"/>
          <p:cNvSpPr/>
          <p:nvPr/>
        </p:nvSpPr>
        <p:spPr>
          <a:xfrm>
            <a:off x="8549640" y="3017520"/>
            <a:ext cx="1188720" cy="365760"/>
          </a:xfrm>
          <a:prstGeom prst="roundRect">
            <a:avLst>
              <a:gd name="adj" fmla="val 12500"/>
            </a:avLst>
          </a:prstGeom>
          <a:solidFill>
            <a:srgbClr val="D7E9E6"/>
          </a:solidFill>
          <a:ln/>
        </p:spPr>
        <p:txBody>
          <a:bodyPr/>
          <a:p/>
        </p:txBody>
      </p:sp>
      <p:sp>
        <p:nvSpPr>
          <p:cNvPr id="48" name="Text 46"/>
          <p:cNvSpPr txBox="1"/>
          <p:nvPr/>
        </p:nvSpPr>
        <p:spPr>
          <a:xfrm>
            <a:off x="8549640" y="3017520"/>
            <a:ext cx="1188720" cy="365760"/>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alibri" pitchFamily="34" charset="0"/>
                <a:ea typeface="Calibri" pitchFamily="34" charset="-122"/>
                <a:cs typeface="Calibri" pitchFamily="34" charset="-120"/>
              </a:rPr>
              <a:t>param 1</a:t>
            </a:r>
            <a:endParaRPr lang="en-US" sz="1100" dirty="0"/>
          </a:p>
        </p:txBody>
      </p:sp>
      <p:sp>
        <p:nvSpPr>
          <p:cNvPr id="49" name="Text 47"/>
          <p:cNvSpPr txBox="1"/>
          <p:nvPr/>
        </p:nvSpPr>
        <p:spPr>
          <a:xfrm>
            <a:off x="8275320" y="3474720"/>
            <a:ext cx="1737360" cy="228600"/>
          </a:xfrm>
          <a:prstGeom prst="rect">
            <a:avLst/>
          </a:prstGeom>
          <a:noFill/>
          <a:ln/>
        </p:spPr>
        <p:txBody>
          <a:bodyPr wrap="square" lIns="0" tIns="0" rIns="0" bIns="0" rtlCol="0" anchor="t"/>
          <a:lstStyle/>
          <a:p>
            <a:pPr algn="ctr" indent="0" marL="0">
              <a:buNone/>
            </a:pPr>
            <a:r>
              <a:rPr lang="en-US" sz="1000" i="1" dirty="0">
                <a:solidFill>
                  <a:srgbClr val="6B7679"/>
                </a:solidFill>
                <a:latin typeface="Calibri" pitchFamily="34" charset="0"/>
                <a:ea typeface="Calibri" pitchFamily="34" charset="-122"/>
                <a:cs typeface="Calibri" pitchFamily="34" charset="-120"/>
              </a:rPr>
              <a:t>program pushes</a:t>
            </a:r>
            <a:endParaRPr lang="en-US" sz="1000" dirty="0"/>
          </a:p>
        </p:txBody>
      </p:sp>
      <p:sp>
        <p:nvSpPr>
          <p:cNvPr id="50" name="Shape 48"/>
          <p:cNvSpPr/>
          <p:nvPr/>
        </p:nvSpPr>
        <p:spPr>
          <a:xfrm>
            <a:off x="10469880" y="2377440"/>
            <a:ext cx="914400" cy="1005840"/>
          </a:xfrm>
          <a:prstGeom prst="roundRect">
            <a:avLst>
              <a:gd name="adj" fmla="val 5000"/>
            </a:avLst>
          </a:prstGeom>
          <a:solidFill>
            <a:srgbClr val="36454F"/>
          </a:solidFill>
          <a:ln/>
        </p:spPr>
        <p:txBody>
          <a:bodyPr/>
          <a:p/>
        </p:txBody>
      </p:sp>
      <p:sp>
        <p:nvSpPr>
          <p:cNvPr id="51" name="Text 49"/>
          <p:cNvSpPr txBox="1"/>
          <p:nvPr/>
        </p:nvSpPr>
        <p:spPr>
          <a:xfrm>
            <a:off x="10469880" y="2377440"/>
            <a:ext cx="914400" cy="100584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52" name="Shape 50"/>
          <p:cNvSpPr/>
          <p:nvPr/>
        </p:nvSpPr>
        <p:spPr>
          <a:xfrm>
            <a:off x="9784080" y="2880360"/>
            <a:ext cx="667512" cy="91"/>
          </a:xfrm>
          <a:prstGeom prst="line">
            <a:avLst/>
          </a:prstGeom>
          <a:noFill/>
          <a:ln w="22225">
            <a:solidFill>
              <a:srgbClr val="50808E"/>
            </a:solidFill>
            <a:prstDash val="solid"/>
            <a:tailEnd type="triangle"/>
          </a:ln>
        </p:spPr>
        <p:txBody>
          <a:bodyPr/>
          <a:p/>
        </p:txBody>
      </p:sp>
      <p:sp>
        <p:nvSpPr>
          <p:cNvPr id="53" name="Text 51"/>
          <p:cNvSpPr txBox="1"/>
          <p:nvPr/>
        </p:nvSpPr>
        <p:spPr>
          <a:xfrm>
            <a:off x="9738360" y="2560320"/>
            <a:ext cx="731520" cy="228600"/>
          </a:xfrm>
          <a:prstGeom prst="rect">
            <a:avLst/>
          </a:prstGeom>
          <a:noFill/>
          <a:ln/>
        </p:spPr>
        <p:txBody>
          <a:bodyPr wrap="square" lIns="0" tIns="0" rIns="0" bIns="0" rtlCol="0" anchor="t"/>
          <a:lstStyle/>
          <a:p>
            <a:pPr algn="ctr" indent="0" marL="0">
              <a:buNone/>
            </a:pPr>
            <a:r>
              <a:rPr lang="en-US" sz="1000" i="1" dirty="0">
                <a:solidFill>
                  <a:srgbClr val="6B7679"/>
                </a:solidFill>
                <a:latin typeface="Calibri" pitchFamily="34" charset="0"/>
                <a:ea typeface="Calibri" pitchFamily="34" charset="-122"/>
                <a:cs typeface="Calibri" pitchFamily="34" charset="-120"/>
              </a:rPr>
              <a:t>OS pops</a:t>
            </a:r>
            <a:endParaRPr lang="en-US" sz="1000" dirty="0"/>
          </a:p>
        </p:txBody>
      </p:sp>
      <p:sp>
        <p:nvSpPr>
          <p:cNvPr id="54" name="Text 52"/>
          <p:cNvSpPr txBox="1"/>
          <p:nvPr/>
        </p:nvSpPr>
        <p:spPr>
          <a:xfrm>
            <a:off x="8321040" y="4023360"/>
            <a:ext cx="3108960" cy="1188720"/>
          </a:xfrm>
          <a:prstGeom prst="rect">
            <a:avLst/>
          </a:prstGeom>
          <a:noFill/>
          <a:ln/>
        </p:spPr>
        <p:txBody>
          <a:bodyPr wrap="square" lIns="0" tIns="0" rIns="0" bIns="0" rtlCol="0" anchor="t"/>
          <a:lstStyle/>
          <a:p>
            <a:pPr indent="0" marL="0">
              <a:buNone/>
            </a:pPr>
            <a:r>
              <a:rPr lang="en-US" sz="1350" dirty="0">
                <a:solidFill>
                  <a:srgbClr val="3A464C"/>
                </a:solidFill>
                <a:latin typeface="Calibri" pitchFamily="34" charset="0"/>
                <a:ea typeface="Calibri" pitchFamily="34" charset="-122"/>
                <a:cs typeface="Calibri" pitchFamily="34" charset="-120"/>
              </a:rPr>
              <a:t>Flexible, but the kernel must copy from user memory. Example: 32-bit FreeBSD on x86.</a:t>
            </a:r>
            <a:endParaRPr lang="en-US" sz="1350" dirty="0"/>
          </a:p>
        </p:txBody>
      </p:sp>
      <p:sp>
        <p:nvSpPr>
          <p:cNvPr id="55" name="Shape 5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56" name="Text 54"/>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Linux combines 1 and 2: up to six parameters in registers; larger data (a buffer, a structure) is passed as an address in a register.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PARAMETERS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Concrete Example: x86-64 Linux Register Convention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737360"/>
                <a:gridCol w="5120640"/>
                <a:gridCol w="425196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Register</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Role in a system call</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For write(1, msg, 26)</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rax</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system-call number (in) · return value (out)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  →  26 (bytes written)</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rdi</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1st parameter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  (file descriptor: standard output)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rsi</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2nd parameter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address of msg</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rdx</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3rd parameter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26  (number of bytes)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r10, r8, r9</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4th, 5th, 6th parameter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 (not used by write)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rcx, r11</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overwritten by the syscall instruction</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the CPU saves the return address and flags here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A return value between −4095 and −1 means an error: the wrapper stores the error number in errno and returns −1 to your program.</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1: The Same Message, Three Levels Deep</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16</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int main(void)</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printf("1) printf  -&gt; libc -&gt; write\n");     /* level 1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fflush(stdout);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 level 2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if (write(1, "2) write() -&gt; libc wrapper\n", 27) != 27)</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return 1;</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 level 3: do what the wrapper does, by hand.</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   rax = 1   system-call number of write (x86-64)</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   rdi = 1   1st parameter: file descriptor (stdout)</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   rsi = msg 2nd parameter: address of the bytes</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   rdx = 26  3rd parameter: number of bytes</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 The 'syscall' instruction traps into the kernel; the</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 kernel's return value comes back in rax.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static const char msg[] = "3) syscall instruction!!!\n";</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long ret;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__asm__ volatile ("syscall"</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 "=a"(ret)                /* out: rax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 "a"(1L), "D"(1L), "S"(msg), "d"(26L)</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 "rcx", "r11", "memory"); /* clobbered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printf("kernel returned %ld (bytes written)\n", ret);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return 0;</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t>
            </a:r>
            <a:endParaRPr lang="en-US" sz="1050" dirty="0"/>
          </a:p>
        </p:txBody>
      </p:sp>
      <p:sp>
        <p:nvSpPr>
          <p:cNvPr id="8" name="Shape 6"/>
          <p:cNvSpPr/>
          <p:nvPr/>
        </p:nvSpPr>
        <p:spPr>
          <a:xfrm>
            <a:off x="7223760" y="1508760"/>
            <a:ext cx="4434840" cy="2423160"/>
          </a:xfrm>
          <a:prstGeom prst="roundRect">
            <a:avLst>
              <a:gd name="adj" fmla="val 226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452360" y="2148840"/>
            <a:ext cx="3977640" cy="164592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Level 3 does by hand what the write() wrapper does: number in rax, parameters in rdi, rsi, rdx, then syscall.</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strace cannot tell the three levels apart: to the kernel they are identical.</a:t>
            </a:r>
            <a:endParaRPr lang="en-US" sz="1300" dirty="0"/>
          </a:p>
        </p:txBody>
      </p:sp>
      <p:sp>
        <p:nvSpPr>
          <p:cNvPr id="11" name="Shape 9"/>
          <p:cNvSpPr/>
          <p:nvPr/>
        </p:nvSpPr>
        <p:spPr>
          <a:xfrm>
            <a:off x="7223760" y="4160520"/>
            <a:ext cx="4434840" cy="2103120"/>
          </a:xfrm>
          <a:prstGeom prst="roundRect">
            <a:avLst>
              <a:gd name="adj" fmla="val 2174"/>
            </a:avLst>
          </a:prstGeom>
          <a:solidFill>
            <a:srgbClr val="212121"/>
          </a:solidFill>
          <a:ln/>
        </p:spPr>
        <p:txBody>
          <a:bodyPr/>
          <a:p/>
        </p:txBody>
      </p:sp>
      <p:sp>
        <p:nvSpPr>
          <p:cNvPr id="12" name="Text 10"/>
          <p:cNvSpPr txBox="1"/>
          <p:nvPr/>
        </p:nvSpPr>
        <p:spPr>
          <a:xfrm>
            <a:off x="7406640" y="4270248"/>
            <a:ext cx="4069080" cy="1883664"/>
          </a:xfrm>
          <a:prstGeom prst="rect">
            <a:avLst/>
          </a:prstGeom>
          <a:noFill/>
          <a:ln/>
        </p:spPr>
        <p:txBody>
          <a:bodyPr wrap="square" lIns="0" tIns="0" rIns="0" bIns="0" rtlCol="0" anchor="t"/>
          <a:lstStyle/>
          <a:p>
            <a:pPr indent="0" marL="0">
              <a:lnSpc>
                <a:spcPct val="105000"/>
              </a:lnSpc>
              <a:buNone/>
            </a:pPr>
            <a:r>
              <a:rPr lang="en-US" sz="900" dirty="0">
                <a:solidFill>
                  <a:srgbClr val="02C39A"/>
                </a:solidFill>
                <a:latin typeface="Consolas" pitchFamily="34" charset="0"/>
                <a:ea typeface="Consolas" pitchFamily="34" charset="-122"/>
                <a:cs typeface="Consolas" pitchFamily="34" charset="-120"/>
              </a:rPr>
              <a:t>$ strace ./raw_write</a:t>
            </a:r>
            <a:endParaRPr lang="en-US" sz="900" dirty="0"/>
          </a:p>
          <a:p>
            <a:pPr indent="0" marL="0">
              <a:lnSpc>
                <a:spcPct val="105000"/>
              </a:lnSpc>
              <a:buNone/>
            </a:pPr>
            <a:r>
              <a:rPr lang="en-US" sz="900" dirty="0">
                <a:solidFill>
                  <a:srgbClr val="F2F2F2"/>
                </a:solidFill>
                <a:latin typeface="Consolas" pitchFamily="34" charset="0"/>
                <a:ea typeface="Consolas" pitchFamily="34" charset="-122"/>
                <a:cs typeface="Consolas" pitchFamily="34" charset="-120"/>
              </a:rPr>
              <a:t>write(1, "1) printf  -&gt; libc -&gt; write\n", 28) = 28</a:t>
            </a:r>
            <a:endParaRPr lang="en-US" sz="900" dirty="0"/>
          </a:p>
          <a:p>
            <a:pPr indent="0" marL="0">
              <a:lnSpc>
                <a:spcPct val="105000"/>
              </a:lnSpc>
              <a:buNone/>
            </a:pPr>
            <a:r>
              <a:rPr lang="en-US" sz="900" dirty="0">
                <a:solidFill>
                  <a:srgbClr val="F2F2F2"/>
                </a:solidFill>
                <a:latin typeface="Consolas" pitchFamily="34" charset="0"/>
                <a:ea typeface="Consolas" pitchFamily="34" charset="-122"/>
                <a:cs typeface="Consolas" pitchFamily="34" charset="-120"/>
              </a:rPr>
              <a:t>write(1, "2) write() -&gt; libc wrapper\n", 27) = 27</a:t>
            </a:r>
            <a:endParaRPr lang="en-US" sz="900" dirty="0"/>
          </a:p>
          <a:p>
            <a:pPr indent="0" marL="0">
              <a:lnSpc>
                <a:spcPct val="105000"/>
              </a:lnSpc>
              <a:buNone/>
            </a:pPr>
            <a:r>
              <a:rPr lang="en-US" sz="900" dirty="0">
                <a:solidFill>
                  <a:srgbClr val="F2F2F2"/>
                </a:solidFill>
                <a:latin typeface="Consolas" pitchFamily="34" charset="0"/>
                <a:ea typeface="Consolas" pitchFamily="34" charset="-122"/>
                <a:cs typeface="Consolas" pitchFamily="34" charset="-120"/>
              </a:rPr>
              <a:t>write(1, "3) syscall instruction!!!\n", 26) = 26</a:t>
            </a:r>
            <a:endParaRPr lang="en-US" sz="900" dirty="0"/>
          </a:p>
          <a:p>
            <a:pPr indent="0" marL="0">
              <a:lnSpc>
                <a:spcPct val="105000"/>
              </a:lnSpc>
              <a:buNone/>
            </a:pPr>
            <a:r>
              <a:rPr lang="en-US" sz="900" dirty="0">
                <a:solidFill>
                  <a:srgbClr val="F2F2F2"/>
                </a:solidFill>
                <a:latin typeface="Consolas" pitchFamily="34" charset="0"/>
                <a:ea typeface="Consolas" pitchFamily="34" charset="-122"/>
                <a:cs typeface="Consolas" pitchFamily="34" charset="-120"/>
              </a:rPr>
              <a:t>write(1, "kernel returned 26 (bytes writte"..., 35) = 35</a:t>
            </a:r>
            <a:endParaRPr lang="en-US" sz="900" dirty="0"/>
          </a:p>
          <a:p>
            <a:pPr indent="0" marL="0">
              <a:lnSpc>
                <a:spcPct val="105000"/>
              </a:lnSpc>
              <a:buNone/>
            </a:pPr>
            <a:r>
              <a:rPr lang="en-US" sz="900" dirty="0">
                <a:solidFill>
                  <a:srgbClr val="F2F2F2"/>
                </a:solidFill>
                <a:latin typeface="Consolas" pitchFamily="34" charset="0"/>
                <a:ea typeface="Consolas" pitchFamily="34" charset="-122"/>
                <a:cs typeface="Consolas" pitchFamily="34" charset="-120"/>
              </a:rPr>
              <a:t>exit_group(0)                    = ?</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TYPES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Six Categories of System Calls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148840"/>
                <a:gridCol w="2788920"/>
                <a:gridCol w="2834640"/>
                <a:gridCol w="3337560"/>
              </a:tblGrid>
              <a:tr h="0">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Category</a:t>
                      </a:r>
                      <a:endParaRPr lang="en-US" sz="13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Typical requests</a:t>
                      </a:r>
                      <a:endParaRPr lang="en-US" sz="13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Linux (POSIX)</a:t>
                      </a:r>
                      <a:endParaRPr lang="en-US" sz="13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Windows API</a:t>
                      </a:r>
                      <a:endParaRPr lang="en-US" sz="13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Process control</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create, end, load, wait</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fork(), execve(), exit(), wait4()</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CreateProcess(), ExitProcess(), WaitForSingleObject()</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File management</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create, open, read, write, close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open(), read(), write(), close()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CreateFile(), ReadFile(), WriteFile(), CloseHandle()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Device management</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request, read, write, configure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ioctl(), read(), write()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SetConsoleMode(), ReadConsole(), WriteConsole()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Information maintenance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time, date, IDs, system data</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getpid(), uname(), clock_gettime()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GetCurrentProcessId(), GetSystemTime()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Communication</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pipes, shared memory, network</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pipe(), mmap(), socket()</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CreatePipe(), MapViewOfFile()</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Protection</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permissions, ownership</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chmod(), chown(), umask()</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SetFileSecurity(), SetSecurityDescriptorGroup()</a:t>
                      </a:r>
                      <a:endParaRPr lang="en-US"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How Many System Calls Does Copying a File Take?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18</a:t>
            </a:r>
            <a:endParaRPr lang="en-US" sz="900" dirty="0"/>
          </a:p>
        </p:txBody>
      </p:sp>
      <p:sp>
        <p:nvSpPr>
          <p:cNvPr id="6" name="Shape 4"/>
          <p:cNvSpPr/>
          <p:nvPr/>
        </p:nvSpPr>
        <p:spPr>
          <a:xfrm>
            <a:off x="548640" y="1508760"/>
            <a:ext cx="539496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37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classic sequence</a:t>
            </a:r>
            <a:endParaRPr lang="en-US" sz="1500" dirty="0"/>
          </a:p>
        </p:txBody>
      </p:sp>
      <p:sp>
        <p:nvSpPr>
          <p:cNvPr id="8" name="Text 6"/>
          <p:cNvSpPr txBox="1"/>
          <p:nvPr/>
        </p:nvSpPr>
        <p:spPr>
          <a:xfrm>
            <a:off x="777240" y="2148840"/>
            <a:ext cx="4937760" cy="397764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Ask for the two file names (I/O).</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Open the input file; on error print a message and exit (file management, process control).</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Create the output file.</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Loop: read a block, write a block — until read() returns 0 (end of file).</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Close both files, report success, exit.</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Every step is one or more system calls — and so is loading the program itself.</a:t>
            </a:r>
            <a:endParaRPr lang="en-US" sz="1450" dirty="0"/>
          </a:p>
        </p:txBody>
      </p:sp>
      <p:sp>
        <p:nvSpPr>
          <p:cNvPr id="9" name="Shape 7"/>
          <p:cNvSpPr/>
          <p:nvPr/>
        </p:nvSpPr>
        <p:spPr>
          <a:xfrm>
            <a:off x="6217920" y="1508760"/>
            <a:ext cx="5440680" cy="3246120"/>
          </a:xfrm>
          <a:prstGeom prst="roundRect">
            <a:avLst>
              <a:gd name="adj" fmla="val 1408"/>
            </a:avLst>
          </a:prstGeom>
          <a:solidFill>
            <a:srgbClr val="212121"/>
          </a:solidFill>
          <a:ln/>
        </p:spPr>
        <p:txBody>
          <a:bodyPr/>
          <a:p/>
        </p:txBody>
      </p:sp>
      <p:sp>
        <p:nvSpPr>
          <p:cNvPr id="10" name="Text 8"/>
          <p:cNvSpPr txBox="1"/>
          <p:nvPr/>
        </p:nvSpPr>
        <p:spPr>
          <a:xfrm>
            <a:off x="6400800" y="1618488"/>
            <a:ext cx="5074920" cy="3026664"/>
          </a:xfrm>
          <a:prstGeom prst="rect">
            <a:avLst/>
          </a:prstGeom>
          <a:noFill/>
          <a:ln/>
        </p:spPr>
        <p:txBody>
          <a:bodyPr wrap="square" lIns="0" tIns="0" rIns="0" bIns="0" rtlCol="0" anchor="t"/>
          <a:lstStyle/>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strace -c cp in.bin out.bin   # in.bin = 1 MiB</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calls  syscall            (trimmed)</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26  mmap</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13  close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11  openat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10  fstat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9  read</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2  copy_file_range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102  total</a:t>
            </a:r>
            <a:endParaRPr lang="en-US" sz="1250" dirty="0"/>
          </a:p>
        </p:txBody>
      </p:sp>
      <p:sp>
        <p:nvSpPr>
          <p:cNvPr id="11" name="Shape 9"/>
          <p:cNvSpPr/>
          <p:nvPr/>
        </p:nvSpPr>
        <p:spPr>
          <a:xfrm>
            <a:off x="6217920" y="4937760"/>
            <a:ext cx="5440680" cy="1325880"/>
          </a:xfrm>
          <a:prstGeom prst="roundRect">
            <a:avLst>
              <a:gd name="adj" fmla="val 4138"/>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6446520" y="4937760"/>
            <a:ext cx="4983480" cy="132588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Only 2 of 102 calls move the data: modern cp asks the kernel to copy inside the kernel. Most calls load the program and its libraries.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SYSTEM PROGRAMS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System Programs: The OS as Most Users See It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Programs shipped with the OS that make system calls on your behalf. They run in user mode.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19</a:t>
            </a:r>
            <a:endParaRPr lang="en-US" sz="900" dirty="0"/>
          </a:p>
        </p:txBody>
      </p:sp>
      <p:sp>
        <p:nvSpPr>
          <p:cNvPr id="7" name="Shape 5"/>
          <p:cNvSpPr/>
          <p:nvPr/>
        </p:nvSpPr>
        <p:spPr>
          <a:xfrm>
            <a:off x="548640" y="210312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File management</a:t>
            </a:r>
            <a:endParaRPr lang="en-US" sz="1600" dirty="0"/>
          </a:p>
        </p:txBody>
      </p:sp>
      <p:sp>
        <p:nvSpPr>
          <p:cNvPr id="9" name="Text 7"/>
          <p:cNvSpPr txBox="1"/>
          <p:nvPr/>
        </p:nvSpPr>
        <p:spPr>
          <a:xfrm>
            <a:off x="777240" y="2743200"/>
            <a:ext cx="3093720" cy="118872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ls, cp, mv, rm, mkdir; File Explorer, Finder.</a:t>
            </a:r>
            <a:endParaRPr lang="en-US" sz="1400" dirty="0"/>
          </a:p>
        </p:txBody>
      </p:sp>
      <p:sp>
        <p:nvSpPr>
          <p:cNvPr id="10" name="Shape 8"/>
          <p:cNvSpPr/>
          <p:nvPr/>
        </p:nvSpPr>
        <p:spPr>
          <a:xfrm>
            <a:off x="4328160" y="210312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Status information</a:t>
            </a:r>
            <a:endParaRPr lang="en-US" sz="1600" dirty="0"/>
          </a:p>
        </p:txBody>
      </p:sp>
      <p:sp>
        <p:nvSpPr>
          <p:cNvPr id="12" name="Text 10"/>
          <p:cNvSpPr txBox="1"/>
          <p:nvPr/>
        </p:nvSpPr>
        <p:spPr>
          <a:xfrm>
            <a:off x="4556760" y="2743200"/>
            <a:ext cx="3093720" cy="118872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date, df, free, ps, top; Task Manager; system logs.</a:t>
            </a:r>
            <a:endParaRPr lang="en-US" sz="1400" dirty="0"/>
          </a:p>
        </p:txBody>
      </p:sp>
      <p:sp>
        <p:nvSpPr>
          <p:cNvPr id="13" name="Shape 11"/>
          <p:cNvSpPr/>
          <p:nvPr/>
        </p:nvSpPr>
        <p:spPr>
          <a:xfrm>
            <a:off x="8107680" y="210312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File modification</a:t>
            </a:r>
            <a:endParaRPr lang="en-US" sz="1600" dirty="0"/>
          </a:p>
        </p:txBody>
      </p:sp>
      <p:sp>
        <p:nvSpPr>
          <p:cNvPr id="15" name="Text 13"/>
          <p:cNvSpPr txBox="1"/>
          <p:nvPr/>
        </p:nvSpPr>
        <p:spPr>
          <a:xfrm>
            <a:off x="8336280" y="2743200"/>
            <a:ext cx="3093720" cy="118872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Text editors (nano, vim, Notepad); search tools (grep, find).</a:t>
            </a:r>
            <a:endParaRPr lang="en-US" sz="1400" dirty="0"/>
          </a:p>
        </p:txBody>
      </p:sp>
      <p:sp>
        <p:nvSpPr>
          <p:cNvPr id="16" name="Shape 14"/>
          <p:cNvSpPr/>
          <p:nvPr/>
        </p:nvSpPr>
        <p:spPr>
          <a:xfrm>
            <a:off x="548640" y="429768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44805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Programming support</a:t>
            </a:r>
            <a:endParaRPr lang="en-US" sz="1600" dirty="0"/>
          </a:p>
        </p:txBody>
      </p:sp>
      <p:sp>
        <p:nvSpPr>
          <p:cNvPr id="18" name="Text 16"/>
          <p:cNvSpPr txBox="1"/>
          <p:nvPr/>
        </p:nvSpPr>
        <p:spPr>
          <a:xfrm>
            <a:off x="777240" y="4937760"/>
            <a:ext cx="3093720" cy="118872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Compilers, assemblers, debuggers, interpreters: gcc, gdb, python.</a:t>
            </a:r>
            <a:endParaRPr lang="en-US" sz="1400" dirty="0"/>
          </a:p>
        </p:txBody>
      </p:sp>
      <p:sp>
        <p:nvSpPr>
          <p:cNvPr id="19" name="Shape 17"/>
          <p:cNvSpPr/>
          <p:nvPr/>
        </p:nvSpPr>
        <p:spPr>
          <a:xfrm>
            <a:off x="4328160" y="429768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4556760" y="44805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Loading &amp; execution</a:t>
            </a:r>
            <a:endParaRPr lang="en-US" sz="1600" dirty="0"/>
          </a:p>
        </p:txBody>
      </p:sp>
      <p:sp>
        <p:nvSpPr>
          <p:cNvPr id="21" name="Text 19"/>
          <p:cNvSpPr txBox="1"/>
          <p:nvPr/>
        </p:nvSpPr>
        <p:spPr>
          <a:xfrm>
            <a:off x="4556760" y="4937760"/>
            <a:ext cx="3093720" cy="118872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Loaders and linkers that place programs and libraries in memory.</a:t>
            </a:r>
            <a:endParaRPr lang="en-US" sz="1400" dirty="0"/>
          </a:p>
        </p:txBody>
      </p:sp>
      <p:sp>
        <p:nvSpPr>
          <p:cNvPr id="22" name="Shape 20"/>
          <p:cNvSpPr/>
          <p:nvPr/>
        </p:nvSpPr>
        <p:spPr>
          <a:xfrm>
            <a:off x="8107680" y="429768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3" name="Text 21"/>
          <p:cNvSpPr txBox="1"/>
          <p:nvPr/>
        </p:nvSpPr>
        <p:spPr>
          <a:xfrm>
            <a:off x="8336280" y="44805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Background services</a:t>
            </a:r>
            <a:endParaRPr lang="en-US" sz="1600" dirty="0"/>
          </a:p>
        </p:txBody>
      </p:sp>
      <p:sp>
        <p:nvSpPr>
          <p:cNvPr id="24" name="Text 22"/>
          <p:cNvSpPr txBox="1"/>
          <p:nvPr/>
        </p:nvSpPr>
        <p:spPr>
          <a:xfrm>
            <a:off x="8336280" y="4937760"/>
            <a:ext cx="3093720" cy="118872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Daemons / services: sshd, cron, the print spooler. Started at boot.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the process — the unit of work the OS manages.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3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3</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Process Concept</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A program in execution.</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3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Program vs. Process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22</a:t>
            </a:r>
            <a:endParaRPr lang="en-US" sz="900" dirty="0"/>
          </a:p>
        </p:txBody>
      </p:sp>
      <p:sp>
        <p:nvSpPr>
          <p:cNvPr id="6" name="Shape 4"/>
          <p:cNvSpPr/>
          <p:nvPr/>
        </p:nvSpPr>
        <p:spPr>
          <a:xfrm>
            <a:off x="548640" y="2788920"/>
            <a:ext cx="2194560" cy="1188720"/>
          </a:xfrm>
          <a:prstGeom prst="roundRect">
            <a:avLst>
              <a:gd name="adj" fmla="val 3846"/>
            </a:avLst>
          </a:prstGeom>
          <a:solidFill>
            <a:srgbClr val="F2F2F2"/>
          </a:solidFill>
          <a:ln/>
        </p:spPr>
        <p:txBody>
          <a:bodyPr/>
          <a:p/>
        </p:txBody>
      </p:sp>
      <p:sp>
        <p:nvSpPr>
          <p:cNvPr id="7" name="Text 5"/>
          <p:cNvSpPr txBox="1"/>
          <p:nvPr/>
        </p:nvSpPr>
        <p:spPr>
          <a:xfrm>
            <a:off x="548640" y="2788920"/>
            <a:ext cx="2194560" cy="118872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onsolas" pitchFamily="34" charset="0"/>
                <a:ea typeface="Consolas" pitchFamily="34" charset="-122"/>
                <a:cs typeface="Consolas" pitchFamily="34" charset="-120"/>
              </a:rPr>
              <a:t>/usr/bin/bash</a:t>
            </a:r>
            <a:endParaRPr lang="en-US" sz="1400" dirty="0"/>
          </a:p>
          <a:p>
            <a:pPr algn="ctr" indent="0" marL="0">
              <a:buNone/>
            </a:pPr>
            <a:r>
              <a:rPr lang="en-US" sz="1100" dirty="0">
                <a:solidFill>
                  <a:srgbClr val="36454F"/>
                </a:solidFill>
                <a:latin typeface="Calibri" pitchFamily="34" charset="0"/>
                <a:ea typeface="Calibri" pitchFamily="34" charset="-122"/>
                <a:cs typeface="Calibri" pitchFamily="34" charset="-120"/>
              </a:rPr>
              <a:t>program: a file on disk</a:t>
            </a:r>
            <a:endParaRPr lang="en-US" sz="1400" dirty="0"/>
          </a:p>
        </p:txBody>
      </p:sp>
      <p:sp>
        <p:nvSpPr>
          <p:cNvPr id="8" name="Shape 6"/>
          <p:cNvSpPr/>
          <p:nvPr/>
        </p:nvSpPr>
        <p:spPr>
          <a:xfrm>
            <a:off x="3840480" y="1783080"/>
            <a:ext cx="2651760" cy="1143000"/>
          </a:xfrm>
          <a:prstGeom prst="roundRect">
            <a:avLst>
              <a:gd name="adj" fmla="val 4000"/>
            </a:avLst>
          </a:prstGeom>
          <a:solidFill>
            <a:srgbClr val="36454F"/>
          </a:solidFill>
          <a:ln/>
        </p:spPr>
        <p:txBody>
          <a:bodyPr/>
          <a:p/>
        </p:txBody>
      </p:sp>
      <p:sp>
        <p:nvSpPr>
          <p:cNvPr id="9" name="Text 7"/>
          <p:cNvSpPr txBox="1"/>
          <p:nvPr/>
        </p:nvSpPr>
        <p:spPr>
          <a:xfrm>
            <a:off x="3840480" y="1783080"/>
            <a:ext cx="2651760" cy="114300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bash   PID 2210</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process: in memory, running</a:t>
            </a:r>
            <a:endParaRPr lang="en-US" sz="1400" dirty="0"/>
          </a:p>
        </p:txBody>
      </p:sp>
      <p:sp>
        <p:nvSpPr>
          <p:cNvPr id="10" name="Shape 8"/>
          <p:cNvSpPr/>
          <p:nvPr/>
        </p:nvSpPr>
        <p:spPr>
          <a:xfrm flipV="1">
            <a:off x="2761488" y="2350008"/>
            <a:ext cx="1060704" cy="1033272"/>
          </a:xfrm>
          <a:prstGeom prst="line">
            <a:avLst/>
          </a:prstGeom>
          <a:noFill/>
          <a:ln w="22225">
            <a:solidFill>
              <a:srgbClr val="50808E"/>
            </a:solidFill>
            <a:prstDash val="solid"/>
            <a:tailEnd type="triangle"/>
          </a:ln>
        </p:spPr>
        <p:txBody>
          <a:bodyPr/>
          <a:p/>
        </p:txBody>
      </p:sp>
      <p:sp>
        <p:nvSpPr>
          <p:cNvPr id="11" name="Shape 9"/>
          <p:cNvSpPr/>
          <p:nvPr/>
        </p:nvSpPr>
        <p:spPr>
          <a:xfrm>
            <a:off x="3840480" y="3886200"/>
            <a:ext cx="2651760" cy="1143000"/>
          </a:xfrm>
          <a:prstGeom prst="roundRect">
            <a:avLst>
              <a:gd name="adj" fmla="val 4000"/>
            </a:avLst>
          </a:prstGeom>
          <a:solidFill>
            <a:srgbClr val="02C39A"/>
          </a:solidFill>
          <a:ln/>
        </p:spPr>
        <p:txBody>
          <a:bodyPr/>
          <a:p/>
        </p:txBody>
      </p:sp>
      <p:sp>
        <p:nvSpPr>
          <p:cNvPr id="12" name="Text 10"/>
          <p:cNvSpPr txBox="1"/>
          <p:nvPr/>
        </p:nvSpPr>
        <p:spPr>
          <a:xfrm>
            <a:off x="3840480" y="3886200"/>
            <a:ext cx="2651760" cy="11430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bash   PID 2457</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process: in memory, running</a:t>
            </a:r>
            <a:endParaRPr lang="en-US" sz="1400" dirty="0"/>
          </a:p>
        </p:txBody>
      </p:sp>
      <p:sp>
        <p:nvSpPr>
          <p:cNvPr id="13" name="Shape 11"/>
          <p:cNvSpPr/>
          <p:nvPr/>
        </p:nvSpPr>
        <p:spPr>
          <a:xfrm>
            <a:off x="2761488" y="3383280"/>
            <a:ext cx="1060704" cy="1069848"/>
          </a:xfrm>
          <a:prstGeom prst="line">
            <a:avLst/>
          </a:prstGeom>
          <a:noFill/>
          <a:ln w="22225">
            <a:solidFill>
              <a:srgbClr val="50808E"/>
            </a:solidFill>
            <a:prstDash val="solid"/>
            <a:tailEnd type="triangle"/>
          </a:ln>
        </p:spPr>
        <p:txBody>
          <a:bodyPr/>
          <a:p/>
        </p:txBody>
      </p:sp>
      <p:sp>
        <p:nvSpPr>
          <p:cNvPr id="14" name="Text 12"/>
          <p:cNvSpPr txBox="1"/>
          <p:nvPr/>
        </p:nvSpPr>
        <p:spPr>
          <a:xfrm>
            <a:off x="2697480" y="2651760"/>
            <a:ext cx="109728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load &amp; run</a:t>
            </a:r>
            <a:endParaRPr lang="en-US" sz="1100" dirty="0"/>
          </a:p>
        </p:txBody>
      </p:sp>
      <p:sp>
        <p:nvSpPr>
          <p:cNvPr id="15" name="Text 13"/>
          <p:cNvSpPr txBox="1"/>
          <p:nvPr/>
        </p:nvSpPr>
        <p:spPr>
          <a:xfrm>
            <a:off x="548640" y="5029200"/>
            <a:ext cx="5943600" cy="32004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one program, two processes (two terminal windows)</a:t>
            </a:r>
            <a:endParaRPr lang="en-US" sz="1200" dirty="0"/>
          </a:p>
        </p:txBody>
      </p:sp>
      <p:sp>
        <p:nvSpPr>
          <p:cNvPr id="16" name="Shape 14"/>
          <p:cNvSpPr/>
          <p:nvPr/>
        </p:nvSpPr>
        <p:spPr>
          <a:xfrm>
            <a:off x="6858000" y="1508760"/>
            <a:ext cx="4800600" cy="3383280"/>
          </a:xfrm>
          <a:prstGeom prst="roundRect">
            <a:avLst>
              <a:gd name="adj" fmla="val 162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086600" y="169164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Definitions</a:t>
            </a:r>
            <a:endParaRPr lang="en-US" sz="1500" dirty="0"/>
          </a:p>
        </p:txBody>
      </p:sp>
      <p:sp>
        <p:nvSpPr>
          <p:cNvPr id="18" name="Text 16"/>
          <p:cNvSpPr txBox="1"/>
          <p:nvPr/>
        </p:nvSpPr>
        <p:spPr>
          <a:xfrm>
            <a:off x="7086600" y="2148840"/>
            <a:ext cx="4343400" cy="26060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Program:</a:t>
            </a:r>
            <a:r>
              <a:rPr lang="en-US" sz="1400" dirty="0">
                <a:solidFill>
                  <a:srgbClr val="3A464C"/>
                </a:solidFill>
                <a:latin typeface="Calibri" pitchFamily="34" charset="0"/>
                <a:ea typeface="Calibri" pitchFamily="34" charset="-122"/>
                <a:cs typeface="Calibri" pitchFamily="34" charset="-120"/>
              </a:rPr>
              <a:t> passive — instructions stored in an executable file.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Process:</a:t>
            </a:r>
            <a:r>
              <a:rPr lang="en-US" sz="1400" dirty="0">
                <a:solidFill>
                  <a:srgbClr val="3A464C"/>
                </a:solidFill>
                <a:latin typeface="Calibri" pitchFamily="34" charset="0"/>
                <a:ea typeface="Calibri" pitchFamily="34" charset="-122"/>
                <a:cs typeface="Calibri" pitchFamily="34" charset="-120"/>
              </a:rPr>
              <a:t> active — a program in execution: its code plus the current activity (program counter, registers), its memory and its open files.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 program becomes a process when it is loaded into memory.</a:t>
            </a:r>
            <a:endParaRPr lang="en-US" sz="1400" dirty="0"/>
          </a:p>
        </p:txBody>
      </p:sp>
      <p:sp>
        <p:nvSpPr>
          <p:cNvPr id="19" name="Shape 17"/>
          <p:cNvSpPr/>
          <p:nvPr/>
        </p:nvSpPr>
        <p:spPr>
          <a:xfrm>
            <a:off x="548640" y="5394960"/>
            <a:ext cx="1110996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777240" y="5394960"/>
            <a:ext cx="10652760" cy="86868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Analogy: a recipe is a program; cooking it is a process. Two cooks can follow one recipe at the same time, each with their own ingredients and progress.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 Process in Memory: Five Regions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23</a:t>
            </a:r>
            <a:endParaRPr lang="en-US" sz="900" dirty="0"/>
          </a:p>
        </p:txBody>
      </p:sp>
      <p:sp>
        <p:nvSpPr>
          <p:cNvPr id="6" name="Shape 4"/>
          <p:cNvSpPr/>
          <p:nvPr/>
        </p:nvSpPr>
        <p:spPr>
          <a:xfrm>
            <a:off x="1371600" y="1783080"/>
            <a:ext cx="3108960" cy="832104"/>
          </a:xfrm>
          <a:prstGeom prst="roundRect">
            <a:avLst>
              <a:gd name="adj" fmla="val 5495"/>
            </a:avLst>
          </a:prstGeom>
          <a:solidFill>
            <a:srgbClr val="36454F"/>
          </a:solidFill>
          <a:ln/>
        </p:spPr>
        <p:txBody>
          <a:bodyPr/>
          <a:p/>
        </p:txBody>
      </p:sp>
      <p:sp>
        <p:nvSpPr>
          <p:cNvPr id="7" name="Text 5"/>
          <p:cNvSpPr txBox="1"/>
          <p:nvPr/>
        </p:nvSpPr>
        <p:spPr>
          <a:xfrm>
            <a:off x="1371600" y="1783080"/>
            <a:ext cx="3108960" cy="832104"/>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stack</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local variables, return addresses</a:t>
            </a:r>
            <a:endParaRPr lang="en-US" sz="1400" dirty="0"/>
          </a:p>
        </p:txBody>
      </p:sp>
      <p:sp>
        <p:nvSpPr>
          <p:cNvPr id="8" name="Shape 6"/>
          <p:cNvSpPr/>
          <p:nvPr/>
        </p:nvSpPr>
        <p:spPr>
          <a:xfrm>
            <a:off x="1371600" y="2651760"/>
            <a:ext cx="3108960" cy="832104"/>
          </a:xfrm>
          <a:prstGeom prst="rect">
            <a:avLst/>
          </a:prstGeom>
          <a:solidFill>
            <a:srgbClr val="FFFFFF"/>
          </a:solidFill>
          <a:ln w="12700">
            <a:solidFill>
              <a:srgbClr val="50808E"/>
            </a:solidFill>
            <a:prstDash val="dash"/>
          </a:ln>
        </p:spPr>
        <p:txBody>
          <a:bodyPr/>
          <a:p/>
        </p:txBody>
      </p:sp>
      <p:sp>
        <p:nvSpPr>
          <p:cNvPr id="9" name="Text 7"/>
          <p:cNvSpPr txBox="1"/>
          <p:nvPr/>
        </p:nvSpPr>
        <p:spPr>
          <a:xfrm>
            <a:off x="1371600" y="2651760"/>
            <a:ext cx="3108960" cy="832104"/>
          </a:xfrm>
          <a:prstGeom prst="rect">
            <a:avLst/>
          </a:prstGeom>
          <a:noFill/>
          <a:ln/>
        </p:spPr>
        <p:txBody>
          <a:bodyPr wrap="square" lIns="0" tIns="0" rIns="0" bIns="0" rtlCol="0" anchor="ctr"/>
          <a:lstStyle/>
          <a:p>
            <a:pPr algn="ctr" indent="0" marL="0">
              <a:buNone/>
            </a:pPr>
            <a:r>
              <a:rPr lang="en-US" sz="1100" i="1" dirty="0">
                <a:solidFill>
                  <a:srgbClr val="6B7679"/>
                </a:solidFill>
                <a:latin typeface="Calibri" pitchFamily="34" charset="0"/>
                <a:ea typeface="Calibri" pitchFamily="34" charset="-122"/>
                <a:cs typeface="Calibri" pitchFamily="34" charset="-120"/>
              </a:rPr>
              <a:t>free space</a:t>
            </a:r>
            <a:endParaRPr lang="en-US" sz="1100" dirty="0"/>
          </a:p>
        </p:txBody>
      </p:sp>
      <p:sp>
        <p:nvSpPr>
          <p:cNvPr id="10" name="Shape 8"/>
          <p:cNvSpPr/>
          <p:nvPr/>
        </p:nvSpPr>
        <p:spPr>
          <a:xfrm>
            <a:off x="1371600" y="3520440"/>
            <a:ext cx="3108960" cy="694944"/>
          </a:xfrm>
          <a:prstGeom prst="roundRect">
            <a:avLst>
              <a:gd name="adj" fmla="val 6579"/>
            </a:avLst>
          </a:prstGeom>
          <a:solidFill>
            <a:srgbClr val="50808E"/>
          </a:solidFill>
          <a:ln/>
        </p:spPr>
        <p:txBody>
          <a:bodyPr/>
          <a:p/>
        </p:txBody>
      </p:sp>
      <p:sp>
        <p:nvSpPr>
          <p:cNvPr id="11" name="Text 9"/>
          <p:cNvSpPr txBox="1"/>
          <p:nvPr/>
        </p:nvSpPr>
        <p:spPr>
          <a:xfrm>
            <a:off x="1371600" y="3520440"/>
            <a:ext cx="3108960" cy="694944"/>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heap</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malloc() / new</a:t>
            </a:r>
            <a:endParaRPr lang="en-US" sz="1400" dirty="0"/>
          </a:p>
        </p:txBody>
      </p:sp>
      <p:sp>
        <p:nvSpPr>
          <p:cNvPr id="12" name="Shape 10"/>
          <p:cNvSpPr/>
          <p:nvPr/>
        </p:nvSpPr>
        <p:spPr>
          <a:xfrm>
            <a:off x="1371600" y="4251960"/>
            <a:ext cx="3108960" cy="466344"/>
          </a:xfrm>
          <a:prstGeom prst="roundRect">
            <a:avLst>
              <a:gd name="adj" fmla="val 9804"/>
            </a:avLst>
          </a:prstGeom>
          <a:solidFill>
            <a:srgbClr val="D7E9E6"/>
          </a:solidFill>
          <a:ln/>
        </p:spPr>
        <p:txBody>
          <a:bodyPr/>
          <a:p/>
        </p:txBody>
      </p:sp>
      <p:sp>
        <p:nvSpPr>
          <p:cNvPr id="13" name="Text 11"/>
          <p:cNvSpPr txBox="1"/>
          <p:nvPr/>
        </p:nvSpPr>
        <p:spPr>
          <a:xfrm>
            <a:off x="1371600" y="4251960"/>
            <a:ext cx="3108960" cy="46634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bss</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uninitialised globals</a:t>
            </a:r>
            <a:endParaRPr lang="en-US" sz="1400" dirty="0"/>
          </a:p>
        </p:txBody>
      </p:sp>
      <p:sp>
        <p:nvSpPr>
          <p:cNvPr id="14" name="Shape 12"/>
          <p:cNvSpPr/>
          <p:nvPr/>
        </p:nvSpPr>
        <p:spPr>
          <a:xfrm>
            <a:off x="1371600" y="4754880"/>
            <a:ext cx="3108960" cy="466344"/>
          </a:xfrm>
          <a:prstGeom prst="roundRect">
            <a:avLst>
              <a:gd name="adj" fmla="val 9804"/>
            </a:avLst>
          </a:prstGeom>
          <a:solidFill>
            <a:srgbClr val="D7E9E6"/>
          </a:solidFill>
          <a:ln/>
        </p:spPr>
        <p:txBody>
          <a:bodyPr/>
          <a:p/>
        </p:txBody>
      </p:sp>
      <p:sp>
        <p:nvSpPr>
          <p:cNvPr id="15" name="Text 13"/>
          <p:cNvSpPr txBox="1"/>
          <p:nvPr/>
        </p:nvSpPr>
        <p:spPr>
          <a:xfrm>
            <a:off x="1371600" y="4754880"/>
            <a:ext cx="3108960" cy="46634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data</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initialised globals</a:t>
            </a:r>
            <a:endParaRPr lang="en-US" sz="1400" dirty="0"/>
          </a:p>
        </p:txBody>
      </p:sp>
      <p:sp>
        <p:nvSpPr>
          <p:cNvPr id="16" name="Shape 14"/>
          <p:cNvSpPr/>
          <p:nvPr/>
        </p:nvSpPr>
        <p:spPr>
          <a:xfrm>
            <a:off x="1371600" y="5257800"/>
            <a:ext cx="3108960" cy="649224"/>
          </a:xfrm>
          <a:prstGeom prst="roundRect">
            <a:avLst>
              <a:gd name="adj" fmla="val 7042"/>
            </a:avLst>
          </a:prstGeom>
          <a:solidFill>
            <a:srgbClr val="02C39A"/>
          </a:solidFill>
          <a:ln/>
        </p:spPr>
        <p:txBody>
          <a:bodyPr/>
          <a:p/>
        </p:txBody>
      </p:sp>
      <p:sp>
        <p:nvSpPr>
          <p:cNvPr id="17" name="Text 15"/>
          <p:cNvSpPr txBox="1"/>
          <p:nvPr/>
        </p:nvSpPr>
        <p:spPr>
          <a:xfrm>
            <a:off x="1371600" y="5257800"/>
            <a:ext cx="3108960" cy="64922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text</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machine code</a:t>
            </a:r>
            <a:endParaRPr lang="en-US" sz="1400" dirty="0"/>
          </a:p>
        </p:txBody>
      </p:sp>
      <p:sp>
        <p:nvSpPr>
          <p:cNvPr id="18" name="Shape 16"/>
          <p:cNvSpPr/>
          <p:nvPr/>
        </p:nvSpPr>
        <p:spPr>
          <a:xfrm>
            <a:off x="4709160" y="2103120"/>
            <a:ext cx="91" cy="868680"/>
          </a:xfrm>
          <a:prstGeom prst="line">
            <a:avLst/>
          </a:prstGeom>
          <a:noFill/>
          <a:ln w="25400">
            <a:solidFill>
              <a:srgbClr val="028090"/>
            </a:solidFill>
            <a:prstDash val="solid"/>
            <a:tailEnd type="triangle"/>
          </a:ln>
        </p:spPr>
        <p:txBody>
          <a:bodyPr/>
          <a:p/>
        </p:txBody>
      </p:sp>
      <p:sp>
        <p:nvSpPr>
          <p:cNvPr id="19" name="Text 17"/>
          <p:cNvSpPr txBox="1"/>
          <p:nvPr/>
        </p:nvSpPr>
        <p:spPr>
          <a:xfrm>
            <a:off x="4800600" y="2331720"/>
            <a:ext cx="1188720" cy="274320"/>
          </a:xfrm>
          <a:prstGeom prst="rect">
            <a:avLst/>
          </a:prstGeom>
          <a:noFill/>
          <a:ln/>
        </p:spPr>
        <p:txBody>
          <a:bodyPr wrap="square" lIns="0" tIns="0" rIns="0" bIns="0" rtlCol="0" anchor="t"/>
          <a:lstStyle/>
          <a:p>
            <a:pPr indent="0" marL="0">
              <a:buNone/>
            </a:pPr>
            <a:r>
              <a:rPr lang="en-US" sz="1100" b="1" dirty="0">
                <a:solidFill>
                  <a:srgbClr val="028090"/>
                </a:solidFill>
                <a:latin typeface="Calibri" pitchFamily="34" charset="0"/>
                <a:ea typeface="Calibri" pitchFamily="34" charset="-122"/>
                <a:cs typeface="Calibri" pitchFamily="34" charset="-120"/>
              </a:rPr>
              <a:t>grows down</a:t>
            </a:r>
            <a:endParaRPr lang="en-US" sz="1100" dirty="0"/>
          </a:p>
        </p:txBody>
      </p:sp>
      <p:sp>
        <p:nvSpPr>
          <p:cNvPr id="20" name="Shape 18"/>
          <p:cNvSpPr/>
          <p:nvPr/>
        </p:nvSpPr>
        <p:spPr>
          <a:xfrm flipV="1">
            <a:off x="4709160" y="3200400"/>
            <a:ext cx="91" cy="822960"/>
          </a:xfrm>
          <a:prstGeom prst="line">
            <a:avLst/>
          </a:prstGeom>
          <a:noFill/>
          <a:ln w="25400">
            <a:solidFill>
              <a:srgbClr val="028090"/>
            </a:solidFill>
            <a:prstDash val="solid"/>
            <a:tailEnd type="triangle"/>
          </a:ln>
        </p:spPr>
        <p:txBody>
          <a:bodyPr/>
          <a:p/>
        </p:txBody>
      </p:sp>
      <p:sp>
        <p:nvSpPr>
          <p:cNvPr id="21" name="Text 19"/>
          <p:cNvSpPr txBox="1"/>
          <p:nvPr/>
        </p:nvSpPr>
        <p:spPr>
          <a:xfrm>
            <a:off x="4800600" y="3474720"/>
            <a:ext cx="1188720" cy="274320"/>
          </a:xfrm>
          <a:prstGeom prst="rect">
            <a:avLst/>
          </a:prstGeom>
          <a:noFill/>
          <a:ln/>
        </p:spPr>
        <p:txBody>
          <a:bodyPr wrap="square" lIns="0" tIns="0" rIns="0" bIns="0" rtlCol="0" anchor="t"/>
          <a:lstStyle/>
          <a:p>
            <a:pPr indent="0" marL="0">
              <a:buNone/>
            </a:pPr>
            <a:r>
              <a:rPr lang="en-US" sz="1100" b="1" dirty="0">
                <a:solidFill>
                  <a:srgbClr val="028090"/>
                </a:solidFill>
                <a:latin typeface="Calibri" pitchFamily="34" charset="0"/>
                <a:ea typeface="Calibri" pitchFamily="34" charset="-122"/>
                <a:cs typeface="Calibri" pitchFamily="34" charset="-120"/>
              </a:rPr>
              <a:t>grows up</a:t>
            </a:r>
            <a:endParaRPr lang="en-US" sz="1100" dirty="0"/>
          </a:p>
        </p:txBody>
      </p:sp>
      <p:sp>
        <p:nvSpPr>
          <p:cNvPr id="22" name="Text 20"/>
          <p:cNvSpPr txBox="1"/>
          <p:nvPr/>
        </p:nvSpPr>
        <p:spPr>
          <a:xfrm>
            <a:off x="548640" y="1783080"/>
            <a:ext cx="731520" cy="274320"/>
          </a:xfrm>
          <a:prstGeom prst="rect">
            <a:avLst/>
          </a:prstGeom>
          <a:noFill/>
          <a:ln/>
        </p:spPr>
        <p:txBody>
          <a:bodyPr wrap="square" lIns="0" tIns="0" rIns="0" bIns="0" rtlCol="0" anchor="t"/>
          <a:lstStyle/>
          <a:p>
            <a:pPr algn="r" indent="0" marL="0">
              <a:buNone/>
            </a:pPr>
            <a:r>
              <a:rPr lang="en-US" sz="1100" i="1" dirty="0">
                <a:solidFill>
                  <a:srgbClr val="6B7679"/>
                </a:solidFill>
                <a:latin typeface="Calibri" pitchFamily="34" charset="0"/>
                <a:ea typeface="Calibri" pitchFamily="34" charset="-122"/>
                <a:cs typeface="Calibri" pitchFamily="34" charset="-120"/>
              </a:rPr>
              <a:t>high</a:t>
            </a:r>
            <a:endParaRPr lang="en-US" sz="1100" dirty="0"/>
          </a:p>
        </p:txBody>
      </p:sp>
      <p:sp>
        <p:nvSpPr>
          <p:cNvPr id="23" name="Text 21"/>
          <p:cNvSpPr txBox="1"/>
          <p:nvPr/>
        </p:nvSpPr>
        <p:spPr>
          <a:xfrm>
            <a:off x="457200" y="5650992"/>
            <a:ext cx="822960" cy="274320"/>
          </a:xfrm>
          <a:prstGeom prst="rect">
            <a:avLst/>
          </a:prstGeom>
          <a:noFill/>
          <a:ln/>
        </p:spPr>
        <p:txBody>
          <a:bodyPr wrap="square" lIns="0" tIns="0" rIns="0" bIns="0" rtlCol="0" anchor="t"/>
          <a:lstStyle/>
          <a:p>
            <a:pPr algn="r" indent="0" marL="0">
              <a:buNone/>
            </a:pPr>
            <a:r>
              <a:rPr lang="en-US" sz="1100" i="1" dirty="0">
                <a:solidFill>
                  <a:srgbClr val="6B7679"/>
                </a:solidFill>
                <a:latin typeface="Calibri" pitchFamily="34" charset="0"/>
                <a:ea typeface="Calibri" pitchFamily="34" charset="-122"/>
                <a:cs typeface="Calibri" pitchFamily="34" charset="-120"/>
              </a:rPr>
              <a:t>address 0</a:t>
            </a:r>
            <a:endParaRPr lang="en-US" sz="1100" dirty="0"/>
          </a:p>
        </p:txBody>
      </p:sp>
      <p:sp>
        <p:nvSpPr>
          <p:cNvPr id="24" name="Text 22"/>
          <p:cNvSpPr txBox="1"/>
          <p:nvPr/>
        </p:nvSpPr>
        <p:spPr>
          <a:xfrm>
            <a:off x="548640" y="6016752"/>
            <a:ext cx="5120640" cy="5029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fixed size after loading: text, data, bss · grow and shrink while running: heap, stack</a:t>
            </a:r>
            <a:endParaRPr lang="en-US" sz="1100" dirty="0"/>
          </a:p>
        </p:txBody>
      </p:sp>
      <p:sp>
        <p:nvSpPr>
          <p:cNvPr id="25" name="Shape 23"/>
          <p:cNvSpPr/>
          <p:nvPr/>
        </p:nvSpPr>
        <p:spPr>
          <a:xfrm>
            <a:off x="6035040" y="1508760"/>
            <a:ext cx="562356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6" name="Text 24"/>
          <p:cNvSpPr txBox="1"/>
          <p:nvPr/>
        </p:nvSpPr>
        <p:spPr>
          <a:xfrm>
            <a:off x="6263640" y="1691640"/>
            <a:ext cx="51663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lives where (in C)</a:t>
            </a:r>
            <a:endParaRPr lang="en-US" sz="1500" dirty="0"/>
          </a:p>
        </p:txBody>
      </p:sp>
      <p:sp>
        <p:nvSpPr>
          <p:cNvPr id="27" name="Text 25"/>
          <p:cNvSpPr txBox="1"/>
          <p:nvPr/>
        </p:nvSpPr>
        <p:spPr>
          <a:xfrm>
            <a:off x="6263640" y="2148840"/>
            <a:ext cx="516636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text:</a:t>
            </a:r>
            <a:r>
              <a:rPr lang="en-US" sz="1400" dirty="0">
                <a:solidFill>
                  <a:srgbClr val="3A464C"/>
                </a:solidFill>
                <a:latin typeface="Calibri" pitchFamily="34" charset="0"/>
                <a:ea typeface="Calibri" pitchFamily="34" charset="-122"/>
                <a:cs typeface="Calibri" pitchFamily="34" charset="-120"/>
              </a:rPr>
              <a:t> the compiled code of main() and every other function; read-only.</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data:</a:t>
            </a:r>
            <a:r>
              <a:rPr lang="en-US" sz="1400" dirty="0">
                <a:solidFill>
                  <a:srgbClr val="3A464C"/>
                </a:solidFill>
                <a:latin typeface="Calibri" pitchFamily="34" charset="0"/>
                <a:ea typeface="Calibri" pitchFamily="34" charset="-122"/>
                <a:cs typeface="Calibri" pitchFamily="34" charset="-120"/>
              </a:rPr>
              <a:t> int initialised = 42;  (global with a value)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bss:</a:t>
            </a:r>
            <a:r>
              <a:rPr lang="en-US" sz="1400" dirty="0">
                <a:solidFill>
                  <a:srgbClr val="3A464C"/>
                </a:solidFill>
                <a:latin typeface="Calibri" pitchFamily="34" charset="0"/>
                <a:ea typeface="Calibri" pitchFamily="34" charset="-122"/>
                <a:cs typeface="Calibri" pitchFamily="34" charset="-120"/>
              </a:rPr>
              <a:t> int uninitialised;  (global without a value; the OS fills it with zeros)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heap:</a:t>
            </a:r>
            <a:r>
              <a:rPr lang="en-US" sz="1400" dirty="0">
                <a:solidFill>
                  <a:srgbClr val="3A464C"/>
                </a:solidFill>
                <a:latin typeface="Calibri" pitchFamily="34" charset="0"/>
                <a:ea typeface="Calibri" pitchFamily="34" charset="-122"/>
                <a:cs typeface="Calibri" pitchFamily="34" charset="-120"/>
              </a:rPr>
              <a:t> memory from malloc(); lives until free().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stack:</a:t>
            </a:r>
            <a:r>
              <a:rPr lang="en-US" sz="1400" dirty="0">
                <a:solidFill>
                  <a:srgbClr val="3A464C"/>
                </a:solidFill>
                <a:latin typeface="Calibri" pitchFamily="34" charset="0"/>
                <a:ea typeface="Calibri" pitchFamily="34" charset="-122"/>
                <a:cs typeface="Calibri" pitchFamily="34" charset="-120"/>
              </a:rPr>
              <a:t> int local = 7; inside a function; one frame per active call, removed when the function returns.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Heap and stack grow towards each other into the free space between them.</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2: Printing the Address of Each Region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24</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#include &lt;stdio.h&gt;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#include &lt;stdlib.h&gt;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int initialised = 42;   /* global with a value    -&gt; data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int uninitialised;      /* global without a value -&gt; bss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int main(void)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int local = 7;                   /* local variable -&gt; stack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int *dynamic = malloc(sizeof *dynamic);     /* malloc -&gt; heap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printf("text  main()        %p\n", (void *)main);</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printf("data  initialised   %p\n", (void *)&amp;initialised);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printf("bss   uninitialised %p\n", (void *)&amp;uninitialised);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printf("heap  *dynamic      %p\n", (void *)dynamic);</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printf("stack local         %p\n", (void *)&amp;local);</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free(dynamic);</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return 0;</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a:t>
            </a:r>
            <a:endParaRPr lang="en-US" sz="1150" dirty="0"/>
          </a:p>
        </p:txBody>
      </p:sp>
      <p:sp>
        <p:nvSpPr>
          <p:cNvPr id="8" name="Shape 6"/>
          <p:cNvSpPr/>
          <p:nvPr/>
        </p:nvSpPr>
        <p:spPr>
          <a:xfrm>
            <a:off x="7223760" y="1508760"/>
            <a:ext cx="4434840" cy="2468880"/>
          </a:xfrm>
          <a:prstGeom prst="roundRect">
            <a:avLst>
              <a:gd name="adj" fmla="val 222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452360" y="2148840"/>
            <a:ext cx="3977640" cy="16916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Order: text &lt; data &lt; bss &lt; heap, with the stack far above.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Run it twice: every address changes. Linux places regions at random (ASLR) to make attacks harder.</a:t>
            </a:r>
            <a:endParaRPr lang="en-US" sz="1300" dirty="0"/>
          </a:p>
        </p:txBody>
      </p:sp>
      <p:sp>
        <p:nvSpPr>
          <p:cNvPr id="11" name="Shape 9"/>
          <p:cNvSpPr/>
          <p:nvPr/>
        </p:nvSpPr>
        <p:spPr>
          <a:xfrm>
            <a:off x="7223760" y="4206240"/>
            <a:ext cx="4434840" cy="2057400"/>
          </a:xfrm>
          <a:prstGeom prst="roundRect">
            <a:avLst>
              <a:gd name="adj" fmla="val 2222"/>
            </a:avLst>
          </a:prstGeom>
          <a:solidFill>
            <a:srgbClr val="212121"/>
          </a:solidFill>
          <a:ln/>
        </p:spPr>
        <p:txBody>
          <a:bodyPr/>
          <a:p/>
        </p:txBody>
      </p:sp>
      <p:sp>
        <p:nvSpPr>
          <p:cNvPr id="12" name="Text 10"/>
          <p:cNvSpPr txBox="1"/>
          <p:nvPr/>
        </p:nvSpPr>
        <p:spPr>
          <a:xfrm>
            <a:off x="7406640" y="4315968"/>
            <a:ext cx="4069080" cy="1837944"/>
          </a:xfrm>
          <a:prstGeom prst="rect">
            <a:avLst/>
          </a:prstGeom>
          <a:noFill/>
          <a:ln/>
        </p:spPr>
        <p:txBody>
          <a:bodyPr wrap="square" lIns="0" tIns="0" rIns="0" bIns="0" rtlCol="0" anchor="t"/>
          <a:lstStyle/>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./mem_layout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text  main()        0x555d9ba160c0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data  initialised   0x555d9ba19010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bss   uninitialised 0x555d9ba19018</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heap  *dynamic      0x555db649d2a0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stack local         0x7ffe2b4f6ab4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 STATES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Five-State Process Model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25</a:t>
            </a:r>
            <a:endParaRPr lang="en-US" sz="900" dirty="0"/>
          </a:p>
        </p:txBody>
      </p:sp>
      <p:sp>
        <p:nvSpPr>
          <p:cNvPr id="6" name="Shape 4"/>
          <p:cNvSpPr/>
          <p:nvPr/>
        </p:nvSpPr>
        <p:spPr>
          <a:xfrm>
            <a:off x="640080" y="1645920"/>
            <a:ext cx="1737360" cy="685800"/>
          </a:xfrm>
          <a:prstGeom prst="roundRect">
            <a:avLst>
              <a:gd name="adj" fmla="val 40000"/>
            </a:avLst>
          </a:prstGeom>
          <a:solidFill>
            <a:srgbClr val="F2F2F2"/>
          </a:solidFill>
          <a:ln/>
        </p:spPr>
        <p:txBody>
          <a:bodyPr/>
          <a:p/>
        </p:txBody>
      </p:sp>
      <p:sp>
        <p:nvSpPr>
          <p:cNvPr id="7" name="Text 5"/>
          <p:cNvSpPr txBox="1"/>
          <p:nvPr/>
        </p:nvSpPr>
        <p:spPr>
          <a:xfrm>
            <a:off x="640080" y="1645920"/>
            <a:ext cx="1737360" cy="685800"/>
          </a:xfrm>
          <a:prstGeom prst="rect">
            <a:avLst/>
          </a:prstGeom>
          <a:noFill/>
          <a:ln/>
        </p:spPr>
        <p:txBody>
          <a:bodyPr wrap="square" lIns="0" tIns="0" rIns="0" bIns="0" rtlCol="0" anchor="ctr"/>
          <a:lstStyle/>
          <a:p>
            <a:pPr algn="ctr" indent="0" marL="0">
              <a:buNone/>
            </a:pPr>
            <a:r>
              <a:rPr lang="en-US" sz="1600" b="1" dirty="0">
                <a:solidFill>
                  <a:srgbClr val="36454F"/>
                </a:solidFill>
                <a:latin typeface="Cambria" pitchFamily="34" charset="0"/>
                <a:ea typeface="Cambria" pitchFamily="34" charset="-122"/>
                <a:cs typeface="Cambria" pitchFamily="34" charset="-120"/>
              </a:rPr>
              <a:t>new</a:t>
            </a:r>
            <a:endParaRPr lang="en-US" sz="1600" dirty="0"/>
          </a:p>
        </p:txBody>
      </p:sp>
      <p:sp>
        <p:nvSpPr>
          <p:cNvPr id="8" name="Shape 6"/>
          <p:cNvSpPr/>
          <p:nvPr/>
        </p:nvSpPr>
        <p:spPr>
          <a:xfrm>
            <a:off x="1737360" y="3474720"/>
            <a:ext cx="1737360" cy="685800"/>
          </a:xfrm>
          <a:prstGeom prst="roundRect">
            <a:avLst>
              <a:gd name="adj" fmla="val 40000"/>
            </a:avLst>
          </a:prstGeom>
          <a:solidFill>
            <a:srgbClr val="D7E9E6"/>
          </a:solidFill>
          <a:ln/>
        </p:spPr>
        <p:txBody>
          <a:bodyPr/>
          <a:p/>
        </p:txBody>
      </p:sp>
      <p:sp>
        <p:nvSpPr>
          <p:cNvPr id="9" name="Text 7"/>
          <p:cNvSpPr txBox="1"/>
          <p:nvPr/>
        </p:nvSpPr>
        <p:spPr>
          <a:xfrm>
            <a:off x="1737360" y="3474720"/>
            <a:ext cx="1737360" cy="685800"/>
          </a:xfrm>
          <a:prstGeom prst="rect">
            <a:avLst/>
          </a:prstGeom>
          <a:noFill/>
          <a:ln/>
        </p:spPr>
        <p:txBody>
          <a:bodyPr wrap="square" lIns="0" tIns="0" rIns="0" bIns="0" rtlCol="0" anchor="ctr"/>
          <a:lstStyle/>
          <a:p>
            <a:pPr algn="ctr" indent="0" marL="0">
              <a:buNone/>
            </a:pPr>
            <a:r>
              <a:rPr lang="en-US" sz="1600" b="1" dirty="0">
                <a:solidFill>
                  <a:srgbClr val="212121"/>
                </a:solidFill>
                <a:latin typeface="Cambria" pitchFamily="34" charset="0"/>
                <a:ea typeface="Cambria" pitchFamily="34" charset="-122"/>
                <a:cs typeface="Cambria" pitchFamily="34" charset="-120"/>
              </a:rPr>
              <a:t>ready</a:t>
            </a:r>
            <a:endParaRPr lang="en-US" sz="1600" dirty="0"/>
          </a:p>
        </p:txBody>
      </p:sp>
      <p:sp>
        <p:nvSpPr>
          <p:cNvPr id="10" name="Shape 8"/>
          <p:cNvSpPr/>
          <p:nvPr/>
        </p:nvSpPr>
        <p:spPr>
          <a:xfrm>
            <a:off x="5669280" y="3474720"/>
            <a:ext cx="1737360" cy="685800"/>
          </a:xfrm>
          <a:prstGeom prst="roundRect">
            <a:avLst>
              <a:gd name="adj" fmla="val 40000"/>
            </a:avLst>
          </a:prstGeom>
          <a:solidFill>
            <a:srgbClr val="02C39A"/>
          </a:solidFill>
          <a:ln/>
        </p:spPr>
        <p:txBody>
          <a:bodyPr/>
          <a:p/>
        </p:txBody>
      </p:sp>
      <p:sp>
        <p:nvSpPr>
          <p:cNvPr id="11" name="Text 9"/>
          <p:cNvSpPr txBox="1"/>
          <p:nvPr/>
        </p:nvSpPr>
        <p:spPr>
          <a:xfrm>
            <a:off x="5669280" y="3474720"/>
            <a:ext cx="1737360" cy="685800"/>
          </a:xfrm>
          <a:prstGeom prst="rect">
            <a:avLst/>
          </a:prstGeom>
          <a:noFill/>
          <a:ln/>
        </p:spPr>
        <p:txBody>
          <a:bodyPr wrap="square" lIns="0" tIns="0" rIns="0" bIns="0" rtlCol="0" anchor="ctr"/>
          <a:lstStyle/>
          <a:p>
            <a:pPr algn="ctr" indent="0" marL="0">
              <a:buNone/>
            </a:pPr>
            <a:r>
              <a:rPr lang="en-US" sz="1600" b="1" dirty="0">
                <a:solidFill>
                  <a:srgbClr val="212121"/>
                </a:solidFill>
                <a:latin typeface="Cambria" pitchFamily="34" charset="0"/>
                <a:ea typeface="Cambria" pitchFamily="34" charset="-122"/>
                <a:cs typeface="Cambria" pitchFamily="34" charset="-120"/>
              </a:rPr>
              <a:t>running</a:t>
            </a:r>
            <a:endParaRPr lang="en-US" sz="1600" dirty="0"/>
          </a:p>
        </p:txBody>
      </p:sp>
      <p:sp>
        <p:nvSpPr>
          <p:cNvPr id="12" name="Shape 10"/>
          <p:cNvSpPr/>
          <p:nvPr/>
        </p:nvSpPr>
        <p:spPr>
          <a:xfrm>
            <a:off x="6583680" y="1645920"/>
            <a:ext cx="1737360" cy="685800"/>
          </a:xfrm>
          <a:prstGeom prst="roundRect">
            <a:avLst>
              <a:gd name="adj" fmla="val 40000"/>
            </a:avLst>
          </a:prstGeom>
          <a:solidFill>
            <a:srgbClr val="F2F2F2"/>
          </a:solidFill>
          <a:ln/>
        </p:spPr>
        <p:txBody>
          <a:bodyPr/>
          <a:p/>
        </p:txBody>
      </p:sp>
      <p:sp>
        <p:nvSpPr>
          <p:cNvPr id="13" name="Text 11"/>
          <p:cNvSpPr txBox="1"/>
          <p:nvPr/>
        </p:nvSpPr>
        <p:spPr>
          <a:xfrm>
            <a:off x="6583680" y="1645920"/>
            <a:ext cx="1737360" cy="685800"/>
          </a:xfrm>
          <a:prstGeom prst="rect">
            <a:avLst/>
          </a:prstGeom>
          <a:noFill/>
          <a:ln/>
        </p:spPr>
        <p:txBody>
          <a:bodyPr wrap="square" lIns="0" tIns="0" rIns="0" bIns="0" rtlCol="0" anchor="ctr"/>
          <a:lstStyle/>
          <a:p>
            <a:pPr algn="ctr" indent="0" marL="0">
              <a:buNone/>
            </a:pPr>
            <a:r>
              <a:rPr lang="en-US" sz="1600" b="1" dirty="0">
                <a:solidFill>
                  <a:srgbClr val="36454F"/>
                </a:solidFill>
                <a:latin typeface="Cambria" pitchFamily="34" charset="0"/>
                <a:ea typeface="Cambria" pitchFamily="34" charset="-122"/>
                <a:cs typeface="Cambria" pitchFamily="34" charset="-120"/>
              </a:rPr>
              <a:t>terminated</a:t>
            </a:r>
            <a:endParaRPr lang="en-US" sz="1600" dirty="0"/>
          </a:p>
        </p:txBody>
      </p:sp>
      <p:sp>
        <p:nvSpPr>
          <p:cNvPr id="14" name="Shape 12"/>
          <p:cNvSpPr/>
          <p:nvPr/>
        </p:nvSpPr>
        <p:spPr>
          <a:xfrm>
            <a:off x="3703320" y="5212080"/>
            <a:ext cx="1737360" cy="685800"/>
          </a:xfrm>
          <a:prstGeom prst="roundRect">
            <a:avLst>
              <a:gd name="adj" fmla="val 40000"/>
            </a:avLst>
          </a:prstGeom>
          <a:solidFill>
            <a:srgbClr val="50808E"/>
          </a:solidFill>
          <a:ln/>
        </p:spPr>
        <p:txBody>
          <a:bodyPr/>
          <a:p/>
        </p:txBody>
      </p:sp>
      <p:sp>
        <p:nvSpPr>
          <p:cNvPr id="15" name="Text 13"/>
          <p:cNvSpPr txBox="1"/>
          <p:nvPr/>
        </p:nvSpPr>
        <p:spPr>
          <a:xfrm>
            <a:off x="3703320" y="5212080"/>
            <a:ext cx="173736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waiting</a:t>
            </a:r>
            <a:endParaRPr lang="en-US" sz="1600" dirty="0"/>
          </a:p>
        </p:txBody>
      </p:sp>
      <p:sp>
        <p:nvSpPr>
          <p:cNvPr id="16" name="Shape 14"/>
          <p:cNvSpPr/>
          <p:nvPr/>
        </p:nvSpPr>
        <p:spPr>
          <a:xfrm>
            <a:off x="1463040" y="2331720"/>
            <a:ext cx="822960" cy="1143000"/>
          </a:xfrm>
          <a:prstGeom prst="line">
            <a:avLst/>
          </a:prstGeom>
          <a:noFill/>
          <a:ln w="25400">
            <a:solidFill>
              <a:srgbClr val="36454F"/>
            </a:solidFill>
            <a:prstDash val="solid"/>
            <a:tailEnd type="triangle"/>
          </a:ln>
        </p:spPr>
        <p:txBody>
          <a:bodyPr/>
          <a:p/>
        </p:txBody>
      </p:sp>
      <p:sp>
        <p:nvSpPr>
          <p:cNvPr id="17" name="Text 15"/>
          <p:cNvSpPr txBox="1"/>
          <p:nvPr/>
        </p:nvSpPr>
        <p:spPr>
          <a:xfrm>
            <a:off x="320040" y="2651760"/>
            <a:ext cx="1188720" cy="274320"/>
          </a:xfrm>
          <a:prstGeom prst="rect">
            <a:avLst/>
          </a:prstGeom>
          <a:noFill/>
          <a:ln/>
        </p:spPr>
        <p:txBody>
          <a:bodyPr wrap="square" lIns="0" tIns="0" rIns="0" bIns="0" rtlCol="0" anchor="t"/>
          <a:lstStyle/>
          <a:p>
            <a:pPr algn="r" indent="0" marL="0">
              <a:buNone/>
            </a:pPr>
            <a:r>
              <a:rPr lang="en-US" sz="1200" b="1" dirty="0">
                <a:solidFill>
                  <a:srgbClr val="028090"/>
                </a:solidFill>
                <a:latin typeface="Calibri" pitchFamily="34" charset="0"/>
                <a:ea typeface="Calibri" pitchFamily="34" charset="-122"/>
                <a:cs typeface="Calibri" pitchFamily="34" charset="-120"/>
              </a:rPr>
              <a:t>admitted</a:t>
            </a:r>
            <a:endParaRPr lang="en-US" sz="1200" dirty="0"/>
          </a:p>
        </p:txBody>
      </p:sp>
      <p:sp>
        <p:nvSpPr>
          <p:cNvPr id="18" name="Shape 16"/>
          <p:cNvSpPr/>
          <p:nvPr/>
        </p:nvSpPr>
        <p:spPr>
          <a:xfrm>
            <a:off x="3474720" y="3657600"/>
            <a:ext cx="2194560" cy="91"/>
          </a:xfrm>
          <a:prstGeom prst="line">
            <a:avLst/>
          </a:prstGeom>
          <a:noFill/>
          <a:ln w="25400">
            <a:solidFill>
              <a:srgbClr val="36454F"/>
            </a:solidFill>
            <a:prstDash val="solid"/>
            <a:tailEnd type="triangle"/>
          </a:ln>
        </p:spPr>
        <p:txBody>
          <a:bodyPr/>
          <a:p/>
        </p:txBody>
      </p:sp>
      <p:sp>
        <p:nvSpPr>
          <p:cNvPr id="19" name="Text 17"/>
          <p:cNvSpPr txBox="1"/>
          <p:nvPr/>
        </p:nvSpPr>
        <p:spPr>
          <a:xfrm>
            <a:off x="3657600" y="3246120"/>
            <a:ext cx="2377440" cy="274320"/>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scheduler dispatch</a:t>
            </a:r>
            <a:endParaRPr lang="en-US" sz="1200" dirty="0"/>
          </a:p>
        </p:txBody>
      </p:sp>
      <p:sp>
        <p:nvSpPr>
          <p:cNvPr id="20" name="Shape 18"/>
          <p:cNvSpPr/>
          <p:nvPr/>
        </p:nvSpPr>
        <p:spPr>
          <a:xfrm flipH="1">
            <a:off x="3474720" y="3977640"/>
            <a:ext cx="2194560" cy="91"/>
          </a:xfrm>
          <a:prstGeom prst="line">
            <a:avLst/>
          </a:prstGeom>
          <a:noFill/>
          <a:ln w="25400">
            <a:solidFill>
              <a:srgbClr val="36454F"/>
            </a:solidFill>
            <a:prstDash val="solid"/>
            <a:tailEnd type="triangle"/>
          </a:ln>
        </p:spPr>
        <p:txBody>
          <a:bodyPr/>
          <a:p/>
        </p:txBody>
      </p:sp>
      <p:sp>
        <p:nvSpPr>
          <p:cNvPr id="21" name="Text 19"/>
          <p:cNvSpPr txBox="1"/>
          <p:nvPr/>
        </p:nvSpPr>
        <p:spPr>
          <a:xfrm>
            <a:off x="3520440" y="4206240"/>
            <a:ext cx="2651760" cy="274320"/>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interrupt (time slice over)</a:t>
            </a:r>
            <a:endParaRPr lang="en-US" sz="1200" dirty="0"/>
          </a:p>
        </p:txBody>
      </p:sp>
      <p:sp>
        <p:nvSpPr>
          <p:cNvPr id="22" name="Shape 20"/>
          <p:cNvSpPr/>
          <p:nvPr/>
        </p:nvSpPr>
        <p:spPr>
          <a:xfrm flipV="1">
            <a:off x="6858000" y="2331720"/>
            <a:ext cx="274320" cy="1143000"/>
          </a:xfrm>
          <a:prstGeom prst="line">
            <a:avLst/>
          </a:prstGeom>
          <a:noFill/>
          <a:ln w="25400">
            <a:solidFill>
              <a:srgbClr val="36454F"/>
            </a:solidFill>
            <a:prstDash val="solid"/>
            <a:tailEnd type="triangle"/>
          </a:ln>
        </p:spPr>
        <p:txBody>
          <a:bodyPr/>
          <a:p/>
        </p:txBody>
      </p:sp>
      <p:sp>
        <p:nvSpPr>
          <p:cNvPr id="23" name="Text 21"/>
          <p:cNvSpPr txBox="1"/>
          <p:nvPr/>
        </p:nvSpPr>
        <p:spPr>
          <a:xfrm>
            <a:off x="7086600" y="2788920"/>
            <a:ext cx="54864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exit</a:t>
            </a:r>
            <a:endParaRPr lang="en-US" sz="1200" dirty="0"/>
          </a:p>
        </p:txBody>
      </p:sp>
      <p:sp>
        <p:nvSpPr>
          <p:cNvPr id="24" name="Shape 22"/>
          <p:cNvSpPr/>
          <p:nvPr/>
        </p:nvSpPr>
        <p:spPr>
          <a:xfrm flipH="1">
            <a:off x="5257800" y="4160520"/>
            <a:ext cx="868680" cy="1051560"/>
          </a:xfrm>
          <a:prstGeom prst="line">
            <a:avLst/>
          </a:prstGeom>
          <a:noFill/>
          <a:ln w="25400">
            <a:solidFill>
              <a:srgbClr val="36454F"/>
            </a:solidFill>
            <a:prstDash val="solid"/>
            <a:tailEnd type="triangle"/>
          </a:ln>
        </p:spPr>
        <p:txBody>
          <a:bodyPr/>
          <a:p/>
        </p:txBody>
      </p:sp>
      <p:sp>
        <p:nvSpPr>
          <p:cNvPr id="25" name="Text 23"/>
          <p:cNvSpPr txBox="1"/>
          <p:nvPr/>
        </p:nvSpPr>
        <p:spPr>
          <a:xfrm>
            <a:off x="5806440" y="4663440"/>
            <a:ext cx="182880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I/O or event wait</a:t>
            </a:r>
            <a:endParaRPr lang="en-US" sz="1200" dirty="0"/>
          </a:p>
        </p:txBody>
      </p:sp>
      <p:sp>
        <p:nvSpPr>
          <p:cNvPr id="26" name="Shape 24"/>
          <p:cNvSpPr/>
          <p:nvPr/>
        </p:nvSpPr>
        <p:spPr>
          <a:xfrm flipH="1" flipV="1">
            <a:off x="2560320" y="4160520"/>
            <a:ext cx="1325880" cy="1051560"/>
          </a:xfrm>
          <a:prstGeom prst="line">
            <a:avLst/>
          </a:prstGeom>
          <a:noFill/>
          <a:ln w="25400">
            <a:solidFill>
              <a:srgbClr val="36454F"/>
            </a:solidFill>
            <a:prstDash val="solid"/>
            <a:tailEnd type="triangle"/>
          </a:ln>
        </p:spPr>
        <p:txBody>
          <a:bodyPr/>
          <a:p/>
        </p:txBody>
      </p:sp>
      <p:sp>
        <p:nvSpPr>
          <p:cNvPr id="27" name="Text 25"/>
          <p:cNvSpPr txBox="1"/>
          <p:nvPr/>
        </p:nvSpPr>
        <p:spPr>
          <a:xfrm>
            <a:off x="960120" y="4663440"/>
            <a:ext cx="2194560" cy="274320"/>
          </a:xfrm>
          <a:prstGeom prst="rect">
            <a:avLst/>
          </a:prstGeom>
          <a:noFill/>
          <a:ln/>
        </p:spPr>
        <p:txBody>
          <a:bodyPr wrap="square" lIns="0" tIns="0" rIns="0" bIns="0" rtlCol="0" anchor="t"/>
          <a:lstStyle/>
          <a:p>
            <a:pPr algn="r" indent="0" marL="0">
              <a:buNone/>
            </a:pPr>
            <a:r>
              <a:rPr lang="en-US" sz="1200" b="1" dirty="0">
                <a:solidFill>
                  <a:srgbClr val="028090"/>
                </a:solidFill>
                <a:latin typeface="Calibri" pitchFamily="34" charset="0"/>
                <a:ea typeface="Calibri" pitchFamily="34" charset="-122"/>
                <a:cs typeface="Calibri" pitchFamily="34" charset="-120"/>
              </a:rPr>
              <a:t>I/O or event completion</a:t>
            </a:r>
            <a:endParaRPr lang="en-US" sz="1200" dirty="0"/>
          </a:p>
        </p:txBody>
      </p:sp>
      <p:sp>
        <p:nvSpPr>
          <p:cNvPr id="28" name="Shape 26"/>
          <p:cNvSpPr/>
          <p:nvPr/>
        </p:nvSpPr>
        <p:spPr>
          <a:xfrm>
            <a:off x="8549640" y="1508760"/>
            <a:ext cx="3108960" cy="475488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9" name="Text 27"/>
          <p:cNvSpPr txBox="1"/>
          <p:nvPr/>
        </p:nvSpPr>
        <p:spPr>
          <a:xfrm>
            <a:off x="8778240" y="1691640"/>
            <a:ext cx="2651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Rules</a:t>
            </a:r>
            <a:endParaRPr lang="en-US" sz="1500" dirty="0"/>
          </a:p>
        </p:txBody>
      </p:sp>
      <p:sp>
        <p:nvSpPr>
          <p:cNvPr id="30" name="Text 28"/>
          <p:cNvSpPr txBox="1"/>
          <p:nvPr/>
        </p:nvSpPr>
        <p:spPr>
          <a:xfrm>
            <a:off x="8778240" y="2148840"/>
            <a:ext cx="2651760" cy="39776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One running process per CPU core.</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Many processes may be ready or waiting at once.</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Ready and waiting processes sit in queues: linked lists of their PCBs.</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In Linux ps: R = running or ready, S = waiting (sleeping), Z = zombie.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 STATES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Triggers Each Transition?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651760"/>
                <a:gridCol w="4206240"/>
                <a:gridCol w="4251960"/>
              </a:tblGrid>
              <a:tr h="0">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Transition</a:t>
                      </a:r>
                      <a:endParaRPr lang="en-US"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Triggered by</a:t>
                      </a:r>
                      <a:endParaRPr lang="en-US"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Everyday example</a:t>
                      </a:r>
                      <a:endParaRPr lang="en-US"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new → ready</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the OS has created the PCB and loaded the program</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you type ./mem_layout and press Enter</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ready → running</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the scheduler dispatches the process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the CPU core becomes free and the scheduler picks it</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running → ready</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an interrupt, usually the timer (time slice used up)</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a long calculation is paused so others can run</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running → waiting</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a system call that must wait (I/O, child, sleep)</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read() from the disk; wait() for a child</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waiting → ready</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the awaited event happens (often an interrupt)</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the disk interrupt says the data has arrived</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running → terminated</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exit() or a fatal error</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main() returns; the program divides by zero</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Waiting → running is impossible: a woken process first joins the ready queue. Choosing who runs next is CPU scheduling (Weeks 4–5).</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Two Processes, One CPU: States Over Time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27</a:t>
            </a:r>
            <a:endParaRPr lang="en-US" sz="900" dirty="0"/>
          </a:p>
        </p:txBody>
      </p:sp>
      <p:sp>
        <p:nvSpPr>
          <p:cNvPr id="6" name="Text 4"/>
          <p:cNvSpPr txBox="1"/>
          <p:nvPr/>
        </p:nvSpPr>
        <p:spPr>
          <a:xfrm>
            <a:off x="548640" y="1691640"/>
            <a:ext cx="640080" cy="566928"/>
          </a:xfrm>
          <a:prstGeom prst="rect">
            <a:avLst/>
          </a:prstGeom>
          <a:noFill/>
          <a:ln/>
        </p:spPr>
        <p:txBody>
          <a:bodyPr wrap="square" lIns="0" tIns="0" rIns="0" bIns="0" rtlCol="0" anchor="ctr"/>
          <a:lstStyle/>
          <a:p>
            <a:pPr indent="0" marL="0">
              <a:buNone/>
            </a:pPr>
            <a:r>
              <a:rPr lang="en-US" sz="1600" b="1" dirty="0">
                <a:solidFill>
                  <a:srgbClr val="36454F"/>
                </a:solidFill>
                <a:latin typeface="Cambria" pitchFamily="34" charset="0"/>
                <a:ea typeface="Cambria" pitchFamily="34" charset="-122"/>
                <a:cs typeface="Cambria" pitchFamily="34" charset="-120"/>
              </a:rPr>
              <a:t>A</a:t>
            </a:r>
            <a:endParaRPr lang="en-US" sz="1600" dirty="0"/>
          </a:p>
        </p:txBody>
      </p:sp>
      <p:sp>
        <p:nvSpPr>
          <p:cNvPr id="7" name="Shape 5"/>
          <p:cNvSpPr/>
          <p:nvPr/>
        </p:nvSpPr>
        <p:spPr>
          <a:xfrm>
            <a:off x="1389888" y="1691640"/>
            <a:ext cx="2103120" cy="566928"/>
          </a:xfrm>
          <a:prstGeom prst="roundRect">
            <a:avLst>
              <a:gd name="adj" fmla="val 8065"/>
            </a:avLst>
          </a:prstGeom>
          <a:solidFill>
            <a:srgbClr val="02C39A"/>
          </a:solidFill>
          <a:ln/>
        </p:spPr>
        <p:txBody>
          <a:bodyPr/>
          <a:p/>
        </p:txBody>
      </p:sp>
      <p:sp>
        <p:nvSpPr>
          <p:cNvPr id="8" name="Text 6"/>
          <p:cNvSpPr txBox="1"/>
          <p:nvPr/>
        </p:nvSpPr>
        <p:spPr>
          <a:xfrm>
            <a:off x="1389888" y="1691640"/>
            <a:ext cx="2103120"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running</a:t>
            </a:r>
            <a:endParaRPr lang="en-US" sz="1200" dirty="0"/>
          </a:p>
        </p:txBody>
      </p:sp>
      <p:sp>
        <p:nvSpPr>
          <p:cNvPr id="9" name="Shape 7"/>
          <p:cNvSpPr/>
          <p:nvPr/>
        </p:nvSpPr>
        <p:spPr>
          <a:xfrm>
            <a:off x="3529584" y="1691640"/>
            <a:ext cx="2816352" cy="566928"/>
          </a:xfrm>
          <a:prstGeom prst="roundRect">
            <a:avLst>
              <a:gd name="adj" fmla="val 8065"/>
            </a:avLst>
          </a:prstGeom>
          <a:solidFill>
            <a:srgbClr val="50808E"/>
          </a:solidFill>
          <a:ln/>
        </p:spPr>
        <p:txBody>
          <a:bodyPr/>
          <a:p/>
        </p:txBody>
      </p:sp>
      <p:sp>
        <p:nvSpPr>
          <p:cNvPr id="10" name="Text 8"/>
          <p:cNvSpPr txBox="1"/>
          <p:nvPr/>
        </p:nvSpPr>
        <p:spPr>
          <a:xfrm>
            <a:off x="3529584" y="1691640"/>
            <a:ext cx="2816352" cy="566928"/>
          </a:xfrm>
          <a:prstGeom prst="rect">
            <a:avLst/>
          </a:prstGeom>
          <a:noFill/>
          <a:ln/>
        </p:spPr>
        <p:txBody>
          <a:bodyPr wrap="square" lIns="38100" tIns="38100" rIns="38100" bIns="381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waiting (disk)</a:t>
            </a:r>
            <a:endParaRPr lang="en-US" sz="1200" dirty="0"/>
          </a:p>
        </p:txBody>
      </p:sp>
      <p:sp>
        <p:nvSpPr>
          <p:cNvPr id="11" name="Shape 9"/>
          <p:cNvSpPr/>
          <p:nvPr/>
        </p:nvSpPr>
        <p:spPr>
          <a:xfrm>
            <a:off x="6382512" y="1691640"/>
            <a:ext cx="676656" cy="566928"/>
          </a:xfrm>
          <a:prstGeom prst="roundRect">
            <a:avLst>
              <a:gd name="adj" fmla="val 8065"/>
            </a:avLst>
          </a:prstGeom>
          <a:solidFill>
            <a:srgbClr val="D7E9E6"/>
          </a:solidFill>
          <a:ln/>
        </p:spPr>
        <p:txBody>
          <a:bodyPr/>
          <a:p/>
        </p:txBody>
      </p:sp>
      <p:sp>
        <p:nvSpPr>
          <p:cNvPr id="12" name="Text 10"/>
          <p:cNvSpPr txBox="1"/>
          <p:nvPr/>
        </p:nvSpPr>
        <p:spPr>
          <a:xfrm>
            <a:off x="6382512" y="1691640"/>
            <a:ext cx="676656" cy="56692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alibri" pitchFamily="34" charset="0"/>
                <a:ea typeface="Calibri" pitchFamily="34" charset="-122"/>
                <a:cs typeface="Calibri" pitchFamily="34" charset="-120"/>
              </a:rPr>
              <a:t>ready</a:t>
            </a:r>
            <a:endParaRPr lang="en-US" sz="1200" dirty="0"/>
          </a:p>
        </p:txBody>
      </p:sp>
      <p:sp>
        <p:nvSpPr>
          <p:cNvPr id="13" name="Shape 11"/>
          <p:cNvSpPr/>
          <p:nvPr/>
        </p:nvSpPr>
        <p:spPr>
          <a:xfrm>
            <a:off x="7095744" y="1691640"/>
            <a:ext cx="1389888" cy="566928"/>
          </a:xfrm>
          <a:prstGeom prst="roundRect">
            <a:avLst>
              <a:gd name="adj" fmla="val 8065"/>
            </a:avLst>
          </a:prstGeom>
          <a:solidFill>
            <a:srgbClr val="02C39A"/>
          </a:solidFill>
          <a:ln/>
        </p:spPr>
        <p:txBody>
          <a:bodyPr/>
          <a:p/>
        </p:txBody>
      </p:sp>
      <p:sp>
        <p:nvSpPr>
          <p:cNvPr id="14" name="Text 12"/>
          <p:cNvSpPr txBox="1"/>
          <p:nvPr/>
        </p:nvSpPr>
        <p:spPr>
          <a:xfrm>
            <a:off x="7095744" y="1691640"/>
            <a:ext cx="1389888"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running</a:t>
            </a:r>
            <a:endParaRPr lang="en-US" sz="1200" dirty="0"/>
          </a:p>
        </p:txBody>
      </p:sp>
      <p:sp>
        <p:nvSpPr>
          <p:cNvPr id="15" name="Text 13"/>
          <p:cNvSpPr txBox="1"/>
          <p:nvPr/>
        </p:nvSpPr>
        <p:spPr>
          <a:xfrm>
            <a:off x="548640" y="2395728"/>
            <a:ext cx="640080" cy="566928"/>
          </a:xfrm>
          <a:prstGeom prst="rect">
            <a:avLst/>
          </a:prstGeom>
          <a:noFill/>
          <a:ln/>
        </p:spPr>
        <p:txBody>
          <a:bodyPr wrap="square" lIns="0" tIns="0" rIns="0" bIns="0" rtlCol="0" anchor="ctr"/>
          <a:lstStyle/>
          <a:p>
            <a:pPr indent="0" marL="0">
              <a:buNone/>
            </a:pPr>
            <a:r>
              <a:rPr lang="en-US" sz="1600" b="1" dirty="0">
                <a:solidFill>
                  <a:srgbClr val="36454F"/>
                </a:solidFill>
                <a:latin typeface="Cambria" pitchFamily="34" charset="0"/>
                <a:ea typeface="Cambria" pitchFamily="34" charset="-122"/>
                <a:cs typeface="Cambria" pitchFamily="34" charset="-120"/>
              </a:rPr>
              <a:t>B</a:t>
            </a:r>
            <a:endParaRPr lang="en-US" sz="1600" dirty="0"/>
          </a:p>
        </p:txBody>
      </p:sp>
      <p:sp>
        <p:nvSpPr>
          <p:cNvPr id="16" name="Shape 14"/>
          <p:cNvSpPr/>
          <p:nvPr/>
        </p:nvSpPr>
        <p:spPr>
          <a:xfrm>
            <a:off x="1389888" y="2395728"/>
            <a:ext cx="2103120" cy="566928"/>
          </a:xfrm>
          <a:prstGeom prst="roundRect">
            <a:avLst>
              <a:gd name="adj" fmla="val 8065"/>
            </a:avLst>
          </a:prstGeom>
          <a:solidFill>
            <a:srgbClr val="D7E9E6"/>
          </a:solidFill>
          <a:ln/>
        </p:spPr>
        <p:txBody>
          <a:bodyPr/>
          <a:p/>
        </p:txBody>
      </p:sp>
      <p:sp>
        <p:nvSpPr>
          <p:cNvPr id="17" name="Text 15"/>
          <p:cNvSpPr txBox="1"/>
          <p:nvPr/>
        </p:nvSpPr>
        <p:spPr>
          <a:xfrm>
            <a:off x="1389888" y="2395728"/>
            <a:ext cx="2103120" cy="56692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alibri" pitchFamily="34" charset="0"/>
                <a:ea typeface="Calibri" pitchFamily="34" charset="-122"/>
                <a:cs typeface="Calibri" pitchFamily="34" charset="-120"/>
              </a:rPr>
              <a:t>ready</a:t>
            </a:r>
            <a:endParaRPr lang="en-US" sz="1200" dirty="0"/>
          </a:p>
        </p:txBody>
      </p:sp>
      <p:sp>
        <p:nvSpPr>
          <p:cNvPr id="18" name="Shape 16"/>
          <p:cNvSpPr/>
          <p:nvPr/>
        </p:nvSpPr>
        <p:spPr>
          <a:xfrm>
            <a:off x="3529584" y="2395728"/>
            <a:ext cx="3529584" cy="566928"/>
          </a:xfrm>
          <a:prstGeom prst="roundRect">
            <a:avLst>
              <a:gd name="adj" fmla="val 8065"/>
            </a:avLst>
          </a:prstGeom>
          <a:solidFill>
            <a:srgbClr val="02C39A"/>
          </a:solidFill>
          <a:ln/>
        </p:spPr>
        <p:txBody>
          <a:bodyPr/>
          <a:p/>
        </p:txBody>
      </p:sp>
      <p:sp>
        <p:nvSpPr>
          <p:cNvPr id="19" name="Text 17"/>
          <p:cNvSpPr txBox="1"/>
          <p:nvPr/>
        </p:nvSpPr>
        <p:spPr>
          <a:xfrm>
            <a:off x="3529584" y="2395728"/>
            <a:ext cx="3529584"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running</a:t>
            </a:r>
            <a:endParaRPr lang="en-US" sz="1200" dirty="0"/>
          </a:p>
        </p:txBody>
      </p:sp>
      <p:sp>
        <p:nvSpPr>
          <p:cNvPr id="20" name="Shape 18"/>
          <p:cNvSpPr/>
          <p:nvPr/>
        </p:nvSpPr>
        <p:spPr>
          <a:xfrm>
            <a:off x="7095744" y="2395728"/>
            <a:ext cx="1389888" cy="566928"/>
          </a:xfrm>
          <a:prstGeom prst="roundRect">
            <a:avLst>
              <a:gd name="adj" fmla="val 8065"/>
            </a:avLst>
          </a:prstGeom>
          <a:solidFill>
            <a:srgbClr val="D7E9E6"/>
          </a:solidFill>
          <a:ln/>
        </p:spPr>
        <p:txBody>
          <a:bodyPr/>
          <a:p/>
        </p:txBody>
      </p:sp>
      <p:sp>
        <p:nvSpPr>
          <p:cNvPr id="21" name="Text 19"/>
          <p:cNvSpPr txBox="1"/>
          <p:nvPr/>
        </p:nvSpPr>
        <p:spPr>
          <a:xfrm>
            <a:off x="7095744" y="2395728"/>
            <a:ext cx="1389888" cy="56692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alibri" pitchFamily="34" charset="0"/>
                <a:ea typeface="Calibri" pitchFamily="34" charset="-122"/>
                <a:cs typeface="Calibri" pitchFamily="34" charset="-120"/>
              </a:rPr>
              <a:t>ready</a:t>
            </a:r>
            <a:endParaRPr lang="en-US" sz="1200" dirty="0"/>
          </a:p>
        </p:txBody>
      </p:sp>
      <p:sp>
        <p:nvSpPr>
          <p:cNvPr id="22" name="Shape 20"/>
          <p:cNvSpPr/>
          <p:nvPr/>
        </p:nvSpPr>
        <p:spPr>
          <a:xfrm>
            <a:off x="8522208" y="2395728"/>
            <a:ext cx="1389888" cy="566928"/>
          </a:xfrm>
          <a:prstGeom prst="roundRect">
            <a:avLst>
              <a:gd name="adj" fmla="val 8065"/>
            </a:avLst>
          </a:prstGeom>
          <a:solidFill>
            <a:srgbClr val="02C39A"/>
          </a:solidFill>
          <a:ln/>
        </p:spPr>
        <p:txBody>
          <a:bodyPr/>
          <a:p/>
        </p:txBody>
      </p:sp>
      <p:sp>
        <p:nvSpPr>
          <p:cNvPr id="23" name="Text 21"/>
          <p:cNvSpPr txBox="1"/>
          <p:nvPr/>
        </p:nvSpPr>
        <p:spPr>
          <a:xfrm>
            <a:off x="8522208" y="2395728"/>
            <a:ext cx="1389888"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running</a:t>
            </a:r>
            <a:endParaRPr lang="en-US" sz="1200" dirty="0"/>
          </a:p>
        </p:txBody>
      </p:sp>
      <p:sp>
        <p:nvSpPr>
          <p:cNvPr id="24" name="Text 22"/>
          <p:cNvSpPr txBox="1"/>
          <p:nvPr/>
        </p:nvSpPr>
        <p:spPr>
          <a:xfrm>
            <a:off x="1188720"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0</a:t>
            </a:r>
            <a:endParaRPr lang="en-US" sz="1100" dirty="0"/>
          </a:p>
        </p:txBody>
      </p:sp>
      <p:sp>
        <p:nvSpPr>
          <p:cNvPr id="25" name="Text 23"/>
          <p:cNvSpPr txBox="1"/>
          <p:nvPr/>
        </p:nvSpPr>
        <p:spPr>
          <a:xfrm>
            <a:off x="1901952"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1</a:t>
            </a:r>
            <a:endParaRPr lang="en-US" sz="1100" dirty="0"/>
          </a:p>
        </p:txBody>
      </p:sp>
      <p:sp>
        <p:nvSpPr>
          <p:cNvPr id="26" name="Text 24"/>
          <p:cNvSpPr txBox="1"/>
          <p:nvPr/>
        </p:nvSpPr>
        <p:spPr>
          <a:xfrm>
            <a:off x="2615184"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2</a:t>
            </a:r>
            <a:endParaRPr lang="en-US" sz="1100" dirty="0"/>
          </a:p>
        </p:txBody>
      </p:sp>
      <p:sp>
        <p:nvSpPr>
          <p:cNvPr id="27" name="Text 25"/>
          <p:cNvSpPr txBox="1"/>
          <p:nvPr/>
        </p:nvSpPr>
        <p:spPr>
          <a:xfrm>
            <a:off x="3328416"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3</a:t>
            </a:r>
            <a:endParaRPr lang="en-US" sz="1100" dirty="0"/>
          </a:p>
        </p:txBody>
      </p:sp>
      <p:sp>
        <p:nvSpPr>
          <p:cNvPr id="28" name="Text 26"/>
          <p:cNvSpPr txBox="1"/>
          <p:nvPr/>
        </p:nvSpPr>
        <p:spPr>
          <a:xfrm>
            <a:off x="4041648"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4</a:t>
            </a:r>
            <a:endParaRPr lang="en-US" sz="1100" dirty="0"/>
          </a:p>
        </p:txBody>
      </p:sp>
      <p:sp>
        <p:nvSpPr>
          <p:cNvPr id="29" name="Text 27"/>
          <p:cNvSpPr txBox="1"/>
          <p:nvPr/>
        </p:nvSpPr>
        <p:spPr>
          <a:xfrm>
            <a:off x="4754880"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5</a:t>
            </a:r>
            <a:endParaRPr lang="en-US" sz="1100" dirty="0"/>
          </a:p>
        </p:txBody>
      </p:sp>
      <p:sp>
        <p:nvSpPr>
          <p:cNvPr id="30" name="Text 28"/>
          <p:cNvSpPr txBox="1"/>
          <p:nvPr/>
        </p:nvSpPr>
        <p:spPr>
          <a:xfrm>
            <a:off x="5468112"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6</a:t>
            </a:r>
            <a:endParaRPr lang="en-US" sz="1100" dirty="0"/>
          </a:p>
        </p:txBody>
      </p:sp>
      <p:sp>
        <p:nvSpPr>
          <p:cNvPr id="31" name="Text 29"/>
          <p:cNvSpPr txBox="1"/>
          <p:nvPr/>
        </p:nvSpPr>
        <p:spPr>
          <a:xfrm>
            <a:off x="6181344"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7</a:t>
            </a:r>
            <a:endParaRPr lang="en-US" sz="1100" dirty="0"/>
          </a:p>
        </p:txBody>
      </p:sp>
      <p:sp>
        <p:nvSpPr>
          <p:cNvPr id="32" name="Text 30"/>
          <p:cNvSpPr txBox="1"/>
          <p:nvPr/>
        </p:nvSpPr>
        <p:spPr>
          <a:xfrm>
            <a:off x="6894576"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8</a:t>
            </a:r>
            <a:endParaRPr lang="en-US" sz="1100" dirty="0"/>
          </a:p>
        </p:txBody>
      </p:sp>
      <p:sp>
        <p:nvSpPr>
          <p:cNvPr id="33" name="Text 31"/>
          <p:cNvSpPr txBox="1"/>
          <p:nvPr/>
        </p:nvSpPr>
        <p:spPr>
          <a:xfrm>
            <a:off x="7607808"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9</a:t>
            </a:r>
            <a:endParaRPr lang="en-US" sz="1100" dirty="0"/>
          </a:p>
        </p:txBody>
      </p:sp>
      <p:sp>
        <p:nvSpPr>
          <p:cNvPr id="34" name="Text 32"/>
          <p:cNvSpPr txBox="1"/>
          <p:nvPr/>
        </p:nvSpPr>
        <p:spPr>
          <a:xfrm>
            <a:off x="8321040"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10</a:t>
            </a:r>
            <a:endParaRPr lang="en-US" sz="1100" dirty="0"/>
          </a:p>
        </p:txBody>
      </p:sp>
      <p:sp>
        <p:nvSpPr>
          <p:cNvPr id="35" name="Text 33"/>
          <p:cNvSpPr txBox="1"/>
          <p:nvPr/>
        </p:nvSpPr>
        <p:spPr>
          <a:xfrm>
            <a:off x="9034272"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11</a:t>
            </a:r>
            <a:endParaRPr lang="en-US" sz="1100" dirty="0"/>
          </a:p>
        </p:txBody>
      </p:sp>
      <p:sp>
        <p:nvSpPr>
          <p:cNvPr id="36" name="Text 34"/>
          <p:cNvSpPr txBox="1"/>
          <p:nvPr/>
        </p:nvSpPr>
        <p:spPr>
          <a:xfrm>
            <a:off x="9747504" y="3008376"/>
            <a:ext cx="365760" cy="228600"/>
          </a:xfrm>
          <a:prstGeom prst="rect">
            <a:avLst/>
          </a:prstGeom>
          <a:noFill/>
          <a:ln/>
        </p:spPr>
        <p:txBody>
          <a:bodyPr wrap="square" lIns="0" tIns="0" rIns="0" bIns="0" rtlCol="0" anchor="t"/>
          <a:lstStyle/>
          <a:p>
            <a:pPr algn="ctr" indent="0" marL="0">
              <a:buNone/>
            </a:pPr>
            <a:r>
              <a:rPr lang="en-US" sz="1100" dirty="0">
                <a:solidFill>
                  <a:srgbClr val="6B7679"/>
                </a:solidFill>
                <a:latin typeface="Calibri" pitchFamily="34" charset="0"/>
                <a:ea typeface="Calibri" pitchFamily="34" charset="-122"/>
                <a:cs typeface="Calibri" pitchFamily="34" charset="-120"/>
              </a:rPr>
              <a:t>12</a:t>
            </a:r>
            <a:endParaRPr lang="en-US" sz="1100" dirty="0"/>
          </a:p>
        </p:txBody>
      </p:sp>
      <p:sp>
        <p:nvSpPr>
          <p:cNvPr id="37" name="Text 35"/>
          <p:cNvSpPr txBox="1"/>
          <p:nvPr/>
        </p:nvSpPr>
        <p:spPr>
          <a:xfrm>
            <a:off x="10113264" y="3008376"/>
            <a:ext cx="365760" cy="228600"/>
          </a:xfrm>
          <a:prstGeom prst="rect">
            <a:avLst/>
          </a:prstGeom>
          <a:noFill/>
          <a:ln/>
        </p:spPr>
        <p:txBody>
          <a:bodyPr wrap="square" lIns="0" tIns="0" rIns="0" bIns="0" rtlCol="0" anchor="t"/>
          <a:lstStyle/>
          <a:p>
            <a:pPr indent="0" marL="0">
              <a:buNone/>
            </a:pPr>
            <a:r>
              <a:rPr lang="en-US" sz="1100" dirty="0">
                <a:solidFill>
                  <a:srgbClr val="6B7679"/>
                </a:solidFill>
                <a:latin typeface="Calibri" pitchFamily="34" charset="0"/>
                <a:ea typeface="Calibri" pitchFamily="34" charset="-122"/>
                <a:cs typeface="Calibri" pitchFamily="34" charset="-120"/>
              </a:rPr>
              <a:t>ms</a:t>
            </a:r>
            <a:endParaRPr lang="en-US" sz="1100" dirty="0"/>
          </a:p>
        </p:txBody>
      </p:sp>
      <p:sp>
        <p:nvSpPr>
          <p:cNvPr id="38" name="Text 36"/>
          <p:cNvSpPr txBox="1"/>
          <p:nvPr/>
        </p:nvSpPr>
        <p:spPr>
          <a:xfrm>
            <a:off x="8503920" y="1399032"/>
            <a:ext cx="2194560" cy="256032"/>
          </a:xfrm>
          <a:prstGeom prst="rect">
            <a:avLst/>
          </a:prstGeom>
          <a:noFill/>
          <a:ln/>
        </p:spPr>
        <p:txBody>
          <a:bodyPr wrap="square" lIns="0" tIns="0" rIns="0" bIns="0" rtlCol="0" anchor="t"/>
          <a:lstStyle/>
          <a:p>
            <a:pPr algn="r" indent="0" marL="0">
              <a:buNone/>
            </a:pPr>
            <a:r>
              <a:rPr lang="en-US" sz="1100" i="1" dirty="0">
                <a:solidFill>
                  <a:srgbClr val="6B7679"/>
                </a:solidFill>
                <a:latin typeface="Calibri" pitchFamily="34" charset="0"/>
                <a:ea typeface="Calibri" pitchFamily="34" charset="-122"/>
                <a:cs typeface="Calibri" pitchFamily="34" charset="-120"/>
              </a:rPr>
              <a:t>A exits at 10, B at 12</a:t>
            </a:r>
            <a:endParaRPr lang="en-US" sz="1100" dirty="0"/>
          </a:p>
        </p:txBody>
      </p:sp>
      <p:sp>
        <p:nvSpPr>
          <p:cNvPr id="39" name="Shape 37"/>
          <p:cNvSpPr/>
          <p:nvPr/>
        </p:nvSpPr>
        <p:spPr>
          <a:xfrm>
            <a:off x="548640" y="3474720"/>
            <a:ext cx="585216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0" name="Text 38"/>
          <p:cNvSpPr txBox="1"/>
          <p:nvPr/>
        </p:nvSpPr>
        <p:spPr>
          <a:xfrm>
            <a:off x="777240" y="3657600"/>
            <a:ext cx="5394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Events</a:t>
            </a:r>
            <a:endParaRPr lang="en-US" sz="1500" dirty="0"/>
          </a:p>
        </p:txBody>
      </p:sp>
      <p:sp>
        <p:nvSpPr>
          <p:cNvPr id="41" name="Text 39"/>
          <p:cNvSpPr txBox="1"/>
          <p:nvPr/>
        </p:nvSpPr>
        <p:spPr>
          <a:xfrm>
            <a:off x="777240" y="4114800"/>
            <a:ext cx="5394960" cy="2011680"/>
          </a:xfrm>
          <a:prstGeom prst="rect">
            <a:avLst/>
          </a:prstGeom>
          <a:noFill/>
          <a:ln/>
        </p:spPr>
        <p:txBody>
          <a:bodyPr wrap="square" lIns="0" tIns="0" rIns="0" bIns="0" rtlCol="0" anchor="t"/>
          <a:lstStyle/>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t = 3:</a:t>
            </a:r>
            <a:r>
              <a:rPr lang="en-US" sz="1500" dirty="0">
                <a:solidFill>
                  <a:srgbClr val="3A464C"/>
                </a:solidFill>
                <a:latin typeface="Calibri" pitchFamily="34" charset="0"/>
                <a:ea typeface="Calibri" pitchFamily="34" charset="-122"/>
                <a:cs typeface="Calibri" pitchFamily="34" charset="-120"/>
              </a:rPr>
              <a:t> A calls read() → waiting; B is dispatched.</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t = 7:</a:t>
            </a:r>
            <a:r>
              <a:rPr lang="en-US" sz="1500" dirty="0">
                <a:solidFill>
                  <a:srgbClr val="3A464C"/>
                </a:solidFill>
                <a:latin typeface="Calibri" pitchFamily="34" charset="0"/>
                <a:ea typeface="Calibri" pitchFamily="34" charset="-122"/>
                <a:cs typeface="Calibri" pitchFamily="34" charset="-120"/>
              </a:rPr>
              <a:t> disk interrupt → A becomes ready (B keeps the CPU).</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t = 8:</a:t>
            </a:r>
            <a:r>
              <a:rPr lang="en-US" sz="1500" dirty="0">
                <a:solidFill>
                  <a:srgbClr val="3A464C"/>
                </a:solidFill>
                <a:latin typeface="Calibri" pitchFamily="34" charset="0"/>
                <a:ea typeface="Calibri" pitchFamily="34" charset="-122"/>
                <a:cs typeface="Calibri" pitchFamily="34" charset="-120"/>
              </a:rPr>
              <a:t> timer interrupt ends B's 5 ms slice → A runs.</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t = 10:</a:t>
            </a:r>
            <a:r>
              <a:rPr lang="en-US" sz="1500" dirty="0">
                <a:solidFill>
                  <a:srgbClr val="3A464C"/>
                </a:solidFill>
                <a:latin typeface="Calibri" pitchFamily="34" charset="0"/>
                <a:ea typeface="Calibri" pitchFamily="34" charset="-122"/>
                <a:cs typeface="Calibri" pitchFamily="34" charset="-120"/>
              </a:rPr>
              <a:t> A exits → B runs until it exits at 12.</a:t>
            </a:r>
            <a:endParaRPr lang="en-US" sz="1500" dirty="0"/>
          </a:p>
        </p:txBody>
      </p:sp>
      <p:sp>
        <p:nvSpPr>
          <p:cNvPr id="42" name="Shape 40"/>
          <p:cNvSpPr/>
          <p:nvPr/>
        </p:nvSpPr>
        <p:spPr>
          <a:xfrm>
            <a:off x="6675120" y="3474720"/>
            <a:ext cx="4983480" cy="2788920"/>
          </a:xfrm>
          <a:prstGeom prst="roundRect">
            <a:avLst>
              <a:gd name="adj" fmla="val 1639"/>
            </a:avLst>
          </a:prstGeom>
          <a:solidFill>
            <a:srgbClr val="212121"/>
          </a:solidFill>
          <a:ln/>
        </p:spPr>
        <p:txBody>
          <a:bodyPr/>
          <a:p/>
        </p:txBody>
      </p:sp>
      <p:sp>
        <p:nvSpPr>
          <p:cNvPr id="43" name="Text 41"/>
          <p:cNvSpPr txBox="1"/>
          <p:nvPr/>
        </p:nvSpPr>
        <p:spPr>
          <a:xfrm>
            <a:off x="6858000" y="3584448"/>
            <a:ext cx="4617720" cy="2569464"/>
          </a:xfrm>
          <a:prstGeom prst="rect">
            <a:avLst/>
          </a:prstGeom>
          <a:noFill/>
          <a:ln/>
        </p:spPr>
        <p:txBody>
          <a:bodyPr wrap="square" lIns="0" tIns="0" rIns="0" bIns="0" rtlCol="0" anchor="t"/>
          <a:lstStyle/>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CPU work needed: A = 3+2 = 5 ms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B = 5+2 = 7 ms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One after another (no overlap):</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 9 ms (CPU idle 4) + B 7 ms = 16 ms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CPU busy 12/16 = 75 %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Interleaved (above):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12 ms, CPU busy 12/12 = 100 %</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 CONTROL BLOCK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PCB: Everything the OS Knows About a Process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28</a:t>
            </a:r>
            <a:endParaRPr lang="en-US" sz="900" dirty="0"/>
          </a:p>
        </p:txBody>
      </p:sp>
      <p:sp>
        <p:nvSpPr>
          <p:cNvPr id="6" name="Shape 4"/>
          <p:cNvSpPr/>
          <p:nvPr/>
        </p:nvSpPr>
        <p:spPr>
          <a:xfrm>
            <a:off x="548640" y="1600200"/>
            <a:ext cx="4206240" cy="493776"/>
          </a:xfrm>
          <a:prstGeom prst="roundRect">
            <a:avLst>
              <a:gd name="adj" fmla="val 9259"/>
            </a:avLst>
          </a:prstGeom>
          <a:solidFill>
            <a:srgbClr val="02C39A"/>
          </a:solidFill>
          <a:ln/>
        </p:spPr>
        <p:txBody>
          <a:bodyPr/>
          <a:p/>
        </p:txBody>
      </p:sp>
      <p:sp>
        <p:nvSpPr>
          <p:cNvPr id="7" name="Text 5"/>
          <p:cNvSpPr txBox="1"/>
          <p:nvPr/>
        </p:nvSpPr>
        <p:spPr>
          <a:xfrm>
            <a:off x="548640" y="1600200"/>
            <a:ext cx="4206240" cy="493776"/>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process state</a:t>
            </a:r>
            <a:endParaRPr lang="en-US" sz="1300" dirty="0"/>
          </a:p>
        </p:txBody>
      </p:sp>
      <p:sp>
        <p:nvSpPr>
          <p:cNvPr id="8" name="Shape 6"/>
          <p:cNvSpPr/>
          <p:nvPr/>
        </p:nvSpPr>
        <p:spPr>
          <a:xfrm>
            <a:off x="548640" y="2148840"/>
            <a:ext cx="4206240" cy="493776"/>
          </a:xfrm>
          <a:prstGeom prst="roundRect">
            <a:avLst>
              <a:gd name="adj" fmla="val 9259"/>
            </a:avLst>
          </a:prstGeom>
          <a:solidFill>
            <a:srgbClr val="F2F2F2"/>
          </a:solidFill>
          <a:ln/>
        </p:spPr>
        <p:txBody>
          <a:bodyPr/>
          <a:p/>
        </p:txBody>
      </p:sp>
      <p:sp>
        <p:nvSpPr>
          <p:cNvPr id="9" name="Text 7"/>
          <p:cNvSpPr txBox="1"/>
          <p:nvPr/>
        </p:nvSpPr>
        <p:spPr>
          <a:xfrm>
            <a:off x="548640" y="2148840"/>
            <a:ext cx="4206240" cy="493776"/>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process ID (PID), parent PID</a:t>
            </a:r>
            <a:endParaRPr lang="en-US" sz="1300" dirty="0"/>
          </a:p>
        </p:txBody>
      </p:sp>
      <p:sp>
        <p:nvSpPr>
          <p:cNvPr id="10" name="Shape 8"/>
          <p:cNvSpPr/>
          <p:nvPr/>
        </p:nvSpPr>
        <p:spPr>
          <a:xfrm>
            <a:off x="548640" y="2697480"/>
            <a:ext cx="4206240" cy="493776"/>
          </a:xfrm>
          <a:prstGeom prst="roundRect">
            <a:avLst>
              <a:gd name="adj" fmla="val 9259"/>
            </a:avLst>
          </a:prstGeom>
          <a:solidFill>
            <a:srgbClr val="D7E9E6"/>
          </a:solidFill>
          <a:ln/>
        </p:spPr>
        <p:txBody>
          <a:bodyPr/>
          <a:p/>
        </p:txBody>
      </p:sp>
      <p:sp>
        <p:nvSpPr>
          <p:cNvPr id="11" name="Text 9"/>
          <p:cNvSpPr txBox="1"/>
          <p:nvPr/>
        </p:nvSpPr>
        <p:spPr>
          <a:xfrm>
            <a:off x="548640" y="2697480"/>
            <a:ext cx="4206240" cy="493776"/>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program counter</a:t>
            </a:r>
            <a:endParaRPr lang="en-US" sz="1300" dirty="0"/>
          </a:p>
        </p:txBody>
      </p:sp>
      <p:sp>
        <p:nvSpPr>
          <p:cNvPr id="12" name="Shape 10"/>
          <p:cNvSpPr/>
          <p:nvPr/>
        </p:nvSpPr>
        <p:spPr>
          <a:xfrm>
            <a:off x="548640" y="3246120"/>
            <a:ext cx="4206240" cy="493776"/>
          </a:xfrm>
          <a:prstGeom prst="roundRect">
            <a:avLst>
              <a:gd name="adj" fmla="val 9259"/>
            </a:avLst>
          </a:prstGeom>
          <a:solidFill>
            <a:srgbClr val="F2F2F2"/>
          </a:solidFill>
          <a:ln/>
        </p:spPr>
        <p:txBody>
          <a:bodyPr/>
          <a:p/>
        </p:txBody>
      </p:sp>
      <p:sp>
        <p:nvSpPr>
          <p:cNvPr id="13" name="Text 11"/>
          <p:cNvSpPr txBox="1"/>
          <p:nvPr/>
        </p:nvSpPr>
        <p:spPr>
          <a:xfrm>
            <a:off x="548640" y="3246120"/>
            <a:ext cx="4206240" cy="493776"/>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CPU registers</a:t>
            </a:r>
            <a:endParaRPr lang="en-US" sz="1300" dirty="0"/>
          </a:p>
        </p:txBody>
      </p:sp>
      <p:sp>
        <p:nvSpPr>
          <p:cNvPr id="14" name="Shape 12"/>
          <p:cNvSpPr/>
          <p:nvPr/>
        </p:nvSpPr>
        <p:spPr>
          <a:xfrm>
            <a:off x="548640" y="3794760"/>
            <a:ext cx="4206240" cy="493776"/>
          </a:xfrm>
          <a:prstGeom prst="roundRect">
            <a:avLst>
              <a:gd name="adj" fmla="val 9259"/>
            </a:avLst>
          </a:prstGeom>
          <a:solidFill>
            <a:srgbClr val="D7E9E6"/>
          </a:solidFill>
          <a:ln/>
        </p:spPr>
        <p:txBody>
          <a:bodyPr/>
          <a:p/>
        </p:txBody>
      </p:sp>
      <p:sp>
        <p:nvSpPr>
          <p:cNvPr id="15" name="Text 13"/>
          <p:cNvSpPr txBox="1"/>
          <p:nvPr/>
        </p:nvSpPr>
        <p:spPr>
          <a:xfrm>
            <a:off x="548640" y="3794760"/>
            <a:ext cx="4206240" cy="493776"/>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CPU-scheduling information</a:t>
            </a:r>
            <a:endParaRPr lang="en-US" sz="1300" dirty="0"/>
          </a:p>
        </p:txBody>
      </p:sp>
      <p:sp>
        <p:nvSpPr>
          <p:cNvPr id="16" name="Shape 14"/>
          <p:cNvSpPr/>
          <p:nvPr/>
        </p:nvSpPr>
        <p:spPr>
          <a:xfrm>
            <a:off x="548640" y="4343400"/>
            <a:ext cx="4206240" cy="493776"/>
          </a:xfrm>
          <a:prstGeom prst="roundRect">
            <a:avLst>
              <a:gd name="adj" fmla="val 9259"/>
            </a:avLst>
          </a:prstGeom>
          <a:solidFill>
            <a:srgbClr val="F2F2F2"/>
          </a:solidFill>
          <a:ln/>
        </p:spPr>
        <p:txBody>
          <a:bodyPr/>
          <a:p/>
        </p:txBody>
      </p:sp>
      <p:sp>
        <p:nvSpPr>
          <p:cNvPr id="17" name="Text 15"/>
          <p:cNvSpPr txBox="1"/>
          <p:nvPr/>
        </p:nvSpPr>
        <p:spPr>
          <a:xfrm>
            <a:off x="548640" y="4343400"/>
            <a:ext cx="4206240" cy="493776"/>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memory-management information</a:t>
            </a:r>
            <a:endParaRPr lang="en-US" sz="1300" dirty="0"/>
          </a:p>
        </p:txBody>
      </p:sp>
      <p:sp>
        <p:nvSpPr>
          <p:cNvPr id="18" name="Shape 16"/>
          <p:cNvSpPr/>
          <p:nvPr/>
        </p:nvSpPr>
        <p:spPr>
          <a:xfrm>
            <a:off x="548640" y="4892040"/>
            <a:ext cx="4206240" cy="493776"/>
          </a:xfrm>
          <a:prstGeom prst="roundRect">
            <a:avLst>
              <a:gd name="adj" fmla="val 9259"/>
            </a:avLst>
          </a:prstGeom>
          <a:solidFill>
            <a:srgbClr val="D7E9E6"/>
          </a:solidFill>
          <a:ln/>
        </p:spPr>
        <p:txBody>
          <a:bodyPr/>
          <a:p/>
        </p:txBody>
      </p:sp>
      <p:sp>
        <p:nvSpPr>
          <p:cNvPr id="19" name="Text 17"/>
          <p:cNvSpPr txBox="1"/>
          <p:nvPr/>
        </p:nvSpPr>
        <p:spPr>
          <a:xfrm>
            <a:off x="548640" y="4892040"/>
            <a:ext cx="4206240" cy="493776"/>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accounting information</a:t>
            </a:r>
            <a:endParaRPr lang="en-US" sz="1300" dirty="0"/>
          </a:p>
        </p:txBody>
      </p:sp>
      <p:sp>
        <p:nvSpPr>
          <p:cNvPr id="20" name="Shape 18"/>
          <p:cNvSpPr/>
          <p:nvPr/>
        </p:nvSpPr>
        <p:spPr>
          <a:xfrm>
            <a:off x="548640" y="5440680"/>
            <a:ext cx="4206240" cy="493776"/>
          </a:xfrm>
          <a:prstGeom prst="roundRect">
            <a:avLst>
              <a:gd name="adj" fmla="val 9259"/>
            </a:avLst>
          </a:prstGeom>
          <a:solidFill>
            <a:srgbClr val="F2F2F2"/>
          </a:solidFill>
          <a:ln/>
        </p:spPr>
        <p:txBody>
          <a:bodyPr/>
          <a:p/>
        </p:txBody>
      </p:sp>
      <p:sp>
        <p:nvSpPr>
          <p:cNvPr id="21" name="Text 19"/>
          <p:cNvSpPr txBox="1"/>
          <p:nvPr/>
        </p:nvSpPr>
        <p:spPr>
          <a:xfrm>
            <a:off x="548640" y="5440680"/>
            <a:ext cx="4206240" cy="493776"/>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I/O status: open files, devices</a:t>
            </a:r>
            <a:endParaRPr lang="en-US" sz="1300" dirty="0"/>
          </a:p>
        </p:txBody>
      </p:sp>
      <p:sp>
        <p:nvSpPr>
          <p:cNvPr id="22" name="Text 20"/>
          <p:cNvSpPr txBox="1"/>
          <p:nvPr/>
        </p:nvSpPr>
        <p:spPr>
          <a:xfrm>
            <a:off x="548640" y="6007608"/>
            <a:ext cx="420624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one PCB per process, kept in kernel memory</a:t>
            </a:r>
            <a:endParaRPr lang="en-US" sz="1100" dirty="0"/>
          </a:p>
        </p:txBody>
      </p:sp>
      <p:sp>
        <p:nvSpPr>
          <p:cNvPr id="23" name="Shape 21"/>
          <p:cNvSpPr/>
          <p:nvPr/>
        </p:nvSpPr>
        <p:spPr>
          <a:xfrm>
            <a:off x="5029200" y="1508760"/>
            <a:ext cx="662940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4" name="Text 22"/>
          <p:cNvSpPr txBox="1"/>
          <p:nvPr/>
        </p:nvSpPr>
        <p:spPr>
          <a:xfrm>
            <a:off x="5257800" y="1691640"/>
            <a:ext cx="6172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the fields are for</a:t>
            </a:r>
            <a:endParaRPr lang="en-US" sz="1500" dirty="0"/>
          </a:p>
        </p:txBody>
      </p:sp>
      <p:sp>
        <p:nvSpPr>
          <p:cNvPr id="25" name="Text 23"/>
          <p:cNvSpPr txBox="1"/>
          <p:nvPr/>
        </p:nvSpPr>
        <p:spPr>
          <a:xfrm>
            <a:off x="5257800" y="2148840"/>
            <a:ext cx="617220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State:</a:t>
            </a:r>
            <a:r>
              <a:rPr lang="en-US" sz="1400" dirty="0">
                <a:solidFill>
                  <a:srgbClr val="3A464C"/>
                </a:solidFill>
                <a:latin typeface="Calibri" pitchFamily="34" charset="0"/>
                <a:ea typeface="Calibri" pitchFamily="34" charset="-122"/>
                <a:cs typeface="Calibri" pitchFamily="34" charset="-120"/>
              </a:rPr>
              <a:t> new, ready, running, waiting or terminated.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Program counter &amp; registers:</a:t>
            </a:r>
            <a:r>
              <a:rPr lang="en-US" sz="1400" dirty="0">
                <a:solidFill>
                  <a:srgbClr val="3A464C"/>
                </a:solidFill>
                <a:latin typeface="Calibri" pitchFamily="34" charset="0"/>
                <a:ea typeface="Calibri" pitchFamily="34" charset="-122"/>
                <a:cs typeface="Calibri" pitchFamily="34" charset="-120"/>
              </a:rPr>
              <a:t> where to continue, and the values to restore, when the process runs again.</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Scheduling info:</a:t>
            </a:r>
            <a:r>
              <a:rPr lang="en-US" sz="1400" dirty="0">
                <a:solidFill>
                  <a:srgbClr val="3A464C"/>
                </a:solidFill>
                <a:latin typeface="Calibri" pitchFamily="34" charset="0"/>
                <a:ea typeface="Calibri" pitchFamily="34" charset="-122"/>
                <a:cs typeface="Calibri" pitchFamily="34" charset="-120"/>
              </a:rPr>
              <a:t> priority, pointers into the scheduling queues.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Memory info:</a:t>
            </a:r>
            <a:r>
              <a:rPr lang="en-US" sz="1400" dirty="0">
                <a:solidFill>
                  <a:srgbClr val="3A464C"/>
                </a:solidFill>
                <a:latin typeface="Calibri" pitchFamily="34" charset="0"/>
                <a:ea typeface="Calibri" pitchFamily="34" charset="-122"/>
                <a:cs typeface="Calibri" pitchFamily="34" charset="-120"/>
              </a:rPr>
              <a:t> where the process's regions are (page tables, limits; Weeks 6–7).</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Accounting:</a:t>
            </a:r>
            <a:r>
              <a:rPr lang="en-US" sz="1400" dirty="0">
                <a:solidFill>
                  <a:srgbClr val="3A464C"/>
                </a:solidFill>
                <a:latin typeface="Calibri" pitchFamily="34" charset="0"/>
                <a:ea typeface="Calibri" pitchFamily="34" charset="-122"/>
                <a:cs typeface="Calibri" pitchFamily="34" charset="-120"/>
              </a:rPr>
              <a:t> CPU time used, time limits, process numbers.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I/O status:</a:t>
            </a:r>
            <a:r>
              <a:rPr lang="en-US" sz="1400" dirty="0">
                <a:solidFill>
                  <a:srgbClr val="3A464C"/>
                </a:solidFill>
                <a:latin typeface="Calibri" pitchFamily="34" charset="0"/>
                <a:ea typeface="Calibri" pitchFamily="34" charset="-122"/>
                <a:cs typeface="Calibri" pitchFamily="34" charset="-120"/>
              </a:rPr>
              <a:t> list of open files and allocated devices.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In Linux the PCB is a C structure, struct task_struct, with hundreds of fields.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 CONTROL BLOCK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Peeking at a PCB: /proc/&lt;pid&gt;/status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Linux shows parts of every process's PCB as a text file in the /proc directory.</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29</a:t>
            </a:r>
            <a:endParaRPr lang="en-US" sz="900" dirty="0"/>
          </a:p>
        </p:txBody>
      </p:sp>
      <p:sp>
        <p:nvSpPr>
          <p:cNvPr id="7" name="Shape 5"/>
          <p:cNvSpPr/>
          <p:nvPr/>
        </p:nvSpPr>
        <p:spPr>
          <a:xfrm>
            <a:off x="548640" y="2103120"/>
            <a:ext cx="5760720" cy="4160520"/>
          </a:xfrm>
          <a:prstGeom prst="roundRect">
            <a:avLst>
              <a:gd name="adj" fmla="val 1099"/>
            </a:avLst>
          </a:prstGeom>
          <a:solidFill>
            <a:srgbClr val="212121"/>
          </a:solidFill>
          <a:ln/>
        </p:spPr>
        <p:txBody>
          <a:bodyPr/>
          <a:p/>
        </p:txBody>
      </p:sp>
      <p:sp>
        <p:nvSpPr>
          <p:cNvPr id="8" name="Text 6"/>
          <p:cNvSpPr txBox="1"/>
          <p:nvPr/>
        </p:nvSpPr>
        <p:spPr>
          <a:xfrm>
            <a:off x="731520" y="2212848"/>
            <a:ext cx="5394960" cy="3941064"/>
          </a:xfrm>
          <a:prstGeom prst="rect">
            <a:avLst/>
          </a:prstGeom>
          <a:noFill/>
          <a:ln/>
        </p:spPr>
        <p:txBody>
          <a:bodyPr wrap="square" lIns="0" tIns="0" rIns="0" bIns="0" rtlCol="0" anchor="t"/>
          <a:lstStyle/>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sleep 30 &amp;</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grep -E "^(Name|State|Pid|PPid|Uid|VmSize|VmRSS|</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Threads|voluntary)" /proc/$!/status</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Name:   sleep</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State:  S (sleeping)</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Pid:    27271</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PPid:   27265</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Uid:    0       0       0       0</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VmSize:     2724 kB</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VmRSS:      1696 kB</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Threads:        1</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voluntary_ctxt_switches:        2</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nonvoluntary_ctxt_switches:     0</a:t>
            </a:r>
            <a:endParaRPr lang="en-US" sz="1200" dirty="0"/>
          </a:p>
        </p:txBody>
      </p:sp>
      <p:sp>
        <p:nvSpPr>
          <p:cNvPr id="9" name="Text 7"/>
          <p:cNvSpPr txBox="1"/>
          <p:nvPr/>
        </p:nvSpPr>
        <p:spPr>
          <a:xfrm>
            <a:off x="6583680" y="2103120"/>
            <a:ext cx="5029200" cy="320040"/>
          </a:xfrm>
          <a:prstGeom prst="rect">
            <a:avLst/>
          </a:prstGeom>
          <a:noFill/>
          <a:ln/>
        </p:spPr>
        <p:txBody>
          <a:bodyPr wrap="square" lIns="0" tIns="0" rIns="0" bIns="0" rtlCol="0" anchor="t"/>
          <a:lstStyle/>
          <a:p>
            <a:pPr indent="0" marL="0">
              <a:buNone/>
            </a:pPr>
            <a:r>
              <a:rPr lang="en-US" sz="1500" b="1" dirty="0">
                <a:solidFill>
                  <a:srgbClr val="028090"/>
                </a:solidFill>
                <a:latin typeface="Calibri" pitchFamily="34" charset="0"/>
                <a:ea typeface="Calibri" pitchFamily="34" charset="-122"/>
                <a:cs typeface="Calibri" pitchFamily="34" charset="-120"/>
              </a:rPr>
              <a:t>field  →  PCB entry</a:t>
            </a:r>
            <a:endParaRPr lang="en-US" sz="1500" dirty="0"/>
          </a:p>
        </p:txBody>
      </p:sp>
      <p:sp>
        <p:nvSpPr>
          <p:cNvPr id="10" name="Shape 8"/>
          <p:cNvSpPr/>
          <p:nvPr/>
        </p:nvSpPr>
        <p:spPr>
          <a:xfrm>
            <a:off x="6583680" y="2560320"/>
            <a:ext cx="2103120" cy="512064"/>
          </a:xfrm>
          <a:prstGeom prst="roundRect">
            <a:avLst>
              <a:gd name="adj" fmla="val 8929"/>
            </a:avLst>
          </a:prstGeom>
          <a:solidFill>
            <a:srgbClr val="F2F2F2"/>
          </a:solidFill>
          <a:ln/>
        </p:spPr>
        <p:txBody>
          <a:bodyPr/>
          <a:p/>
        </p:txBody>
      </p:sp>
      <p:sp>
        <p:nvSpPr>
          <p:cNvPr id="11" name="Text 9"/>
          <p:cNvSpPr txBox="1"/>
          <p:nvPr/>
        </p:nvSpPr>
        <p:spPr>
          <a:xfrm>
            <a:off x="6583680" y="2560320"/>
            <a:ext cx="2103120" cy="512064"/>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State</a:t>
            </a:r>
            <a:endParaRPr lang="en-US" sz="1200" dirty="0"/>
          </a:p>
        </p:txBody>
      </p:sp>
      <p:sp>
        <p:nvSpPr>
          <p:cNvPr id="12" name="Shape 10"/>
          <p:cNvSpPr/>
          <p:nvPr/>
        </p:nvSpPr>
        <p:spPr>
          <a:xfrm>
            <a:off x="8714232" y="2816352"/>
            <a:ext cx="384048" cy="91"/>
          </a:xfrm>
          <a:prstGeom prst="line">
            <a:avLst/>
          </a:prstGeom>
          <a:noFill/>
          <a:ln w="19050">
            <a:solidFill>
              <a:srgbClr val="50808E"/>
            </a:solidFill>
            <a:prstDash val="solid"/>
            <a:tailEnd type="triangle"/>
          </a:ln>
        </p:spPr>
        <p:txBody>
          <a:bodyPr/>
          <a:p/>
        </p:txBody>
      </p:sp>
      <p:sp>
        <p:nvSpPr>
          <p:cNvPr id="13" name="Shape 11"/>
          <p:cNvSpPr/>
          <p:nvPr/>
        </p:nvSpPr>
        <p:spPr>
          <a:xfrm>
            <a:off x="9125712" y="2560320"/>
            <a:ext cx="2532888" cy="512064"/>
          </a:xfrm>
          <a:prstGeom prst="roundRect">
            <a:avLst>
              <a:gd name="adj" fmla="val 8929"/>
            </a:avLst>
          </a:prstGeom>
          <a:solidFill>
            <a:srgbClr val="D7E9E6"/>
          </a:solidFill>
          <a:ln/>
        </p:spPr>
        <p:txBody>
          <a:bodyPr/>
          <a:p/>
        </p:txBody>
      </p:sp>
      <p:sp>
        <p:nvSpPr>
          <p:cNvPr id="14" name="Text 12"/>
          <p:cNvSpPr txBox="1"/>
          <p:nvPr/>
        </p:nvSpPr>
        <p:spPr>
          <a:xfrm>
            <a:off x="9125712" y="2560320"/>
            <a:ext cx="2532888" cy="512064"/>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process state</a:t>
            </a:r>
            <a:endParaRPr lang="en-US" sz="1300" dirty="0"/>
          </a:p>
        </p:txBody>
      </p:sp>
      <p:sp>
        <p:nvSpPr>
          <p:cNvPr id="15" name="Shape 13"/>
          <p:cNvSpPr/>
          <p:nvPr/>
        </p:nvSpPr>
        <p:spPr>
          <a:xfrm>
            <a:off x="6583680" y="3182112"/>
            <a:ext cx="2103120" cy="512064"/>
          </a:xfrm>
          <a:prstGeom prst="roundRect">
            <a:avLst>
              <a:gd name="adj" fmla="val 8929"/>
            </a:avLst>
          </a:prstGeom>
          <a:solidFill>
            <a:srgbClr val="F2F2F2"/>
          </a:solidFill>
          <a:ln/>
        </p:spPr>
        <p:txBody>
          <a:bodyPr/>
          <a:p/>
        </p:txBody>
      </p:sp>
      <p:sp>
        <p:nvSpPr>
          <p:cNvPr id="16" name="Text 14"/>
          <p:cNvSpPr txBox="1"/>
          <p:nvPr/>
        </p:nvSpPr>
        <p:spPr>
          <a:xfrm>
            <a:off x="6583680" y="3182112"/>
            <a:ext cx="2103120" cy="512064"/>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Pid, PPid</a:t>
            </a:r>
            <a:endParaRPr lang="en-US" sz="1200" dirty="0"/>
          </a:p>
        </p:txBody>
      </p:sp>
      <p:sp>
        <p:nvSpPr>
          <p:cNvPr id="17" name="Shape 15"/>
          <p:cNvSpPr/>
          <p:nvPr/>
        </p:nvSpPr>
        <p:spPr>
          <a:xfrm>
            <a:off x="8714232" y="3438144"/>
            <a:ext cx="384048" cy="91"/>
          </a:xfrm>
          <a:prstGeom prst="line">
            <a:avLst/>
          </a:prstGeom>
          <a:noFill/>
          <a:ln w="19050">
            <a:solidFill>
              <a:srgbClr val="50808E"/>
            </a:solidFill>
            <a:prstDash val="solid"/>
            <a:tailEnd type="triangle"/>
          </a:ln>
        </p:spPr>
        <p:txBody>
          <a:bodyPr/>
          <a:p/>
        </p:txBody>
      </p:sp>
      <p:sp>
        <p:nvSpPr>
          <p:cNvPr id="18" name="Shape 16"/>
          <p:cNvSpPr/>
          <p:nvPr/>
        </p:nvSpPr>
        <p:spPr>
          <a:xfrm>
            <a:off x="9125712" y="3182112"/>
            <a:ext cx="2532888" cy="512064"/>
          </a:xfrm>
          <a:prstGeom prst="roundRect">
            <a:avLst>
              <a:gd name="adj" fmla="val 8929"/>
            </a:avLst>
          </a:prstGeom>
          <a:solidFill>
            <a:srgbClr val="D7E9E6"/>
          </a:solidFill>
          <a:ln/>
        </p:spPr>
        <p:txBody>
          <a:bodyPr/>
          <a:p/>
        </p:txBody>
      </p:sp>
      <p:sp>
        <p:nvSpPr>
          <p:cNvPr id="19" name="Text 17"/>
          <p:cNvSpPr txBox="1"/>
          <p:nvPr/>
        </p:nvSpPr>
        <p:spPr>
          <a:xfrm>
            <a:off x="9125712" y="3182112"/>
            <a:ext cx="2532888" cy="512064"/>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identification</a:t>
            </a:r>
            <a:endParaRPr lang="en-US" sz="1300" dirty="0"/>
          </a:p>
        </p:txBody>
      </p:sp>
      <p:sp>
        <p:nvSpPr>
          <p:cNvPr id="20" name="Shape 18"/>
          <p:cNvSpPr/>
          <p:nvPr/>
        </p:nvSpPr>
        <p:spPr>
          <a:xfrm>
            <a:off x="6583680" y="3803904"/>
            <a:ext cx="2103120" cy="512064"/>
          </a:xfrm>
          <a:prstGeom prst="roundRect">
            <a:avLst>
              <a:gd name="adj" fmla="val 8929"/>
            </a:avLst>
          </a:prstGeom>
          <a:solidFill>
            <a:srgbClr val="F2F2F2"/>
          </a:solidFill>
          <a:ln/>
        </p:spPr>
        <p:txBody>
          <a:bodyPr/>
          <a:p/>
        </p:txBody>
      </p:sp>
      <p:sp>
        <p:nvSpPr>
          <p:cNvPr id="21" name="Text 19"/>
          <p:cNvSpPr txBox="1"/>
          <p:nvPr/>
        </p:nvSpPr>
        <p:spPr>
          <a:xfrm>
            <a:off x="6583680" y="3803904"/>
            <a:ext cx="2103120" cy="512064"/>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Uid</a:t>
            </a:r>
            <a:endParaRPr lang="en-US" sz="1200" dirty="0"/>
          </a:p>
        </p:txBody>
      </p:sp>
      <p:sp>
        <p:nvSpPr>
          <p:cNvPr id="22" name="Shape 20"/>
          <p:cNvSpPr/>
          <p:nvPr/>
        </p:nvSpPr>
        <p:spPr>
          <a:xfrm>
            <a:off x="8714232" y="4059936"/>
            <a:ext cx="384048" cy="91"/>
          </a:xfrm>
          <a:prstGeom prst="line">
            <a:avLst/>
          </a:prstGeom>
          <a:noFill/>
          <a:ln w="19050">
            <a:solidFill>
              <a:srgbClr val="50808E"/>
            </a:solidFill>
            <a:prstDash val="solid"/>
            <a:tailEnd type="triangle"/>
          </a:ln>
        </p:spPr>
        <p:txBody>
          <a:bodyPr/>
          <a:p/>
        </p:txBody>
      </p:sp>
      <p:sp>
        <p:nvSpPr>
          <p:cNvPr id="23" name="Shape 21"/>
          <p:cNvSpPr/>
          <p:nvPr/>
        </p:nvSpPr>
        <p:spPr>
          <a:xfrm>
            <a:off x="9125712" y="3803904"/>
            <a:ext cx="2532888" cy="512064"/>
          </a:xfrm>
          <a:prstGeom prst="roundRect">
            <a:avLst>
              <a:gd name="adj" fmla="val 8929"/>
            </a:avLst>
          </a:prstGeom>
          <a:solidFill>
            <a:srgbClr val="D7E9E6"/>
          </a:solidFill>
          <a:ln/>
        </p:spPr>
        <p:txBody>
          <a:bodyPr/>
          <a:p/>
        </p:txBody>
      </p:sp>
      <p:sp>
        <p:nvSpPr>
          <p:cNvPr id="24" name="Text 22"/>
          <p:cNvSpPr txBox="1"/>
          <p:nvPr/>
        </p:nvSpPr>
        <p:spPr>
          <a:xfrm>
            <a:off x="9125712" y="3803904"/>
            <a:ext cx="2532888" cy="512064"/>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owner (protection)</a:t>
            </a:r>
            <a:endParaRPr lang="en-US" sz="1300" dirty="0"/>
          </a:p>
        </p:txBody>
      </p:sp>
      <p:sp>
        <p:nvSpPr>
          <p:cNvPr id="25" name="Shape 23"/>
          <p:cNvSpPr/>
          <p:nvPr/>
        </p:nvSpPr>
        <p:spPr>
          <a:xfrm>
            <a:off x="6583680" y="4425696"/>
            <a:ext cx="2103120" cy="512064"/>
          </a:xfrm>
          <a:prstGeom prst="roundRect">
            <a:avLst>
              <a:gd name="adj" fmla="val 8929"/>
            </a:avLst>
          </a:prstGeom>
          <a:solidFill>
            <a:srgbClr val="F2F2F2"/>
          </a:solidFill>
          <a:ln/>
        </p:spPr>
        <p:txBody>
          <a:bodyPr/>
          <a:p/>
        </p:txBody>
      </p:sp>
      <p:sp>
        <p:nvSpPr>
          <p:cNvPr id="26" name="Text 24"/>
          <p:cNvSpPr txBox="1"/>
          <p:nvPr/>
        </p:nvSpPr>
        <p:spPr>
          <a:xfrm>
            <a:off x="6583680" y="4425696"/>
            <a:ext cx="2103120" cy="512064"/>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VmSize, VmRSS</a:t>
            </a:r>
            <a:endParaRPr lang="en-US" sz="1200" dirty="0"/>
          </a:p>
        </p:txBody>
      </p:sp>
      <p:sp>
        <p:nvSpPr>
          <p:cNvPr id="27" name="Shape 25"/>
          <p:cNvSpPr/>
          <p:nvPr/>
        </p:nvSpPr>
        <p:spPr>
          <a:xfrm>
            <a:off x="8714232" y="4681728"/>
            <a:ext cx="384048" cy="91"/>
          </a:xfrm>
          <a:prstGeom prst="line">
            <a:avLst/>
          </a:prstGeom>
          <a:noFill/>
          <a:ln w="19050">
            <a:solidFill>
              <a:srgbClr val="50808E"/>
            </a:solidFill>
            <a:prstDash val="solid"/>
            <a:tailEnd type="triangle"/>
          </a:ln>
        </p:spPr>
        <p:txBody>
          <a:bodyPr/>
          <a:p/>
        </p:txBody>
      </p:sp>
      <p:sp>
        <p:nvSpPr>
          <p:cNvPr id="28" name="Shape 26"/>
          <p:cNvSpPr/>
          <p:nvPr/>
        </p:nvSpPr>
        <p:spPr>
          <a:xfrm>
            <a:off x="9125712" y="4425696"/>
            <a:ext cx="2532888" cy="512064"/>
          </a:xfrm>
          <a:prstGeom prst="roundRect">
            <a:avLst>
              <a:gd name="adj" fmla="val 8929"/>
            </a:avLst>
          </a:prstGeom>
          <a:solidFill>
            <a:srgbClr val="D7E9E6"/>
          </a:solidFill>
          <a:ln/>
        </p:spPr>
        <p:txBody>
          <a:bodyPr/>
          <a:p/>
        </p:txBody>
      </p:sp>
      <p:sp>
        <p:nvSpPr>
          <p:cNvPr id="29" name="Text 27"/>
          <p:cNvSpPr txBox="1"/>
          <p:nvPr/>
        </p:nvSpPr>
        <p:spPr>
          <a:xfrm>
            <a:off x="9125712" y="4425696"/>
            <a:ext cx="2532888" cy="512064"/>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memory-management info</a:t>
            </a:r>
            <a:endParaRPr lang="en-US" sz="1300" dirty="0"/>
          </a:p>
        </p:txBody>
      </p:sp>
      <p:sp>
        <p:nvSpPr>
          <p:cNvPr id="30" name="Shape 28"/>
          <p:cNvSpPr/>
          <p:nvPr/>
        </p:nvSpPr>
        <p:spPr>
          <a:xfrm>
            <a:off x="6583680" y="5047488"/>
            <a:ext cx="2103120" cy="512064"/>
          </a:xfrm>
          <a:prstGeom prst="roundRect">
            <a:avLst>
              <a:gd name="adj" fmla="val 8929"/>
            </a:avLst>
          </a:prstGeom>
          <a:solidFill>
            <a:srgbClr val="F2F2F2"/>
          </a:solidFill>
          <a:ln/>
        </p:spPr>
        <p:txBody>
          <a:bodyPr/>
          <a:p/>
        </p:txBody>
      </p:sp>
      <p:sp>
        <p:nvSpPr>
          <p:cNvPr id="31" name="Text 29"/>
          <p:cNvSpPr txBox="1"/>
          <p:nvPr/>
        </p:nvSpPr>
        <p:spPr>
          <a:xfrm>
            <a:off x="6583680" y="5047488"/>
            <a:ext cx="2103120" cy="512064"/>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Threads</a:t>
            </a:r>
            <a:endParaRPr lang="en-US" sz="1200" dirty="0"/>
          </a:p>
        </p:txBody>
      </p:sp>
      <p:sp>
        <p:nvSpPr>
          <p:cNvPr id="32" name="Shape 30"/>
          <p:cNvSpPr/>
          <p:nvPr/>
        </p:nvSpPr>
        <p:spPr>
          <a:xfrm>
            <a:off x="8714232" y="5303520"/>
            <a:ext cx="384048" cy="91"/>
          </a:xfrm>
          <a:prstGeom prst="line">
            <a:avLst/>
          </a:prstGeom>
          <a:noFill/>
          <a:ln w="19050">
            <a:solidFill>
              <a:srgbClr val="50808E"/>
            </a:solidFill>
            <a:prstDash val="solid"/>
            <a:tailEnd type="triangle"/>
          </a:ln>
        </p:spPr>
        <p:txBody>
          <a:bodyPr/>
          <a:p/>
        </p:txBody>
      </p:sp>
      <p:sp>
        <p:nvSpPr>
          <p:cNvPr id="33" name="Shape 31"/>
          <p:cNvSpPr/>
          <p:nvPr/>
        </p:nvSpPr>
        <p:spPr>
          <a:xfrm>
            <a:off x="9125712" y="5047488"/>
            <a:ext cx="2532888" cy="512064"/>
          </a:xfrm>
          <a:prstGeom prst="roundRect">
            <a:avLst>
              <a:gd name="adj" fmla="val 8929"/>
            </a:avLst>
          </a:prstGeom>
          <a:solidFill>
            <a:srgbClr val="D7E9E6"/>
          </a:solidFill>
          <a:ln/>
        </p:spPr>
        <p:txBody>
          <a:bodyPr/>
          <a:p/>
        </p:txBody>
      </p:sp>
      <p:sp>
        <p:nvSpPr>
          <p:cNvPr id="34" name="Text 32"/>
          <p:cNvSpPr txBox="1"/>
          <p:nvPr/>
        </p:nvSpPr>
        <p:spPr>
          <a:xfrm>
            <a:off x="9125712" y="5047488"/>
            <a:ext cx="2532888" cy="512064"/>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Week 4!</a:t>
            </a:r>
            <a:endParaRPr lang="en-US" sz="1300" dirty="0"/>
          </a:p>
        </p:txBody>
      </p:sp>
      <p:sp>
        <p:nvSpPr>
          <p:cNvPr id="35" name="Shape 33"/>
          <p:cNvSpPr/>
          <p:nvPr/>
        </p:nvSpPr>
        <p:spPr>
          <a:xfrm>
            <a:off x="6583680" y="5669280"/>
            <a:ext cx="2103120" cy="512064"/>
          </a:xfrm>
          <a:prstGeom prst="roundRect">
            <a:avLst>
              <a:gd name="adj" fmla="val 8929"/>
            </a:avLst>
          </a:prstGeom>
          <a:solidFill>
            <a:srgbClr val="F2F2F2"/>
          </a:solidFill>
          <a:ln/>
        </p:spPr>
        <p:txBody>
          <a:bodyPr/>
          <a:p/>
        </p:txBody>
      </p:sp>
      <p:sp>
        <p:nvSpPr>
          <p:cNvPr id="36" name="Text 34"/>
          <p:cNvSpPr txBox="1"/>
          <p:nvPr/>
        </p:nvSpPr>
        <p:spPr>
          <a:xfrm>
            <a:off x="6583680" y="5669280"/>
            <a:ext cx="2103120" cy="512064"/>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…ctxt_switches</a:t>
            </a:r>
            <a:endParaRPr lang="en-US" sz="1200" dirty="0"/>
          </a:p>
        </p:txBody>
      </p:sp>
      <p:sp>
        <p:nvSpPr>
          <p:cNvPr id="37" name="Shape 35"/>
          <p:cNvSpPr/>
          <p:nvPr/>
        </p:nvSpPr>
        <p:spPr>
          <a:xfrm>
            <a:off x="8714232" y="5925312"/>
            <a:ext cx="384048" cy="91"/>
          </a:xfrm>
          <a:prstGeom prst="line">
            <a:avLst/>
          </a:prstGeom>
          <a:noFill/>
          <a:ln w="19050">
            <a:solidFill>
              <a:srgbClr val="50808E"/>
            </a:solidFill>
            <a:prstDash val="solid"/>
            <a:tailEnd type="triangle"/>
          </a:ln>
        </p:spPr>
        <p:txBody>
          <a:bodyPr/>
          <a:p/>
        </p:txBody>
      </p:sp>
      <p:sp>
        <p:nvSpPr>
          <p:cNvPr id="38" name="Shape 36"/>
          <p:cNvSpPr/>
          <p:nvPr/>
        </p:nvSpPr>
        <p:spPr>
          <a:xfrm>
            <a:off x="9125712" y="5669280"/>
            <a:ext cx="2532888" cy="512064"/>
          </a:xfrm>
          <a:prstGeom prst="roundRect">
            <a:avLst>
              <a:gd name="adj" fmla="val 8929"/>
            </a:avLst>
          </a:prstGeom>
          <a:solidFill>
            <a:srgbClr val="D7E9E6"/>
          </a:solidFill>
          <a:ln/>
        </p:spPr>
        <p:txBody>
          <a:bodyPr/>
          <a:p/>
        </p:txBody>
      </p:sp>
      <p:sp>
        <p:nvSpPr>
          <p:cNvPr id="39" name="Text 37"/>
          <p:cNvSpPr txBox="1"/>
          <p:nvPr/>
        </p:nvSpPr>
        <p:spPr>
          <a:xfrm>
            <a:off x="9125712" y="5669280"/>
            <a:ext cx="2532888" cy="512064"/>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accounting info</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CONTEXT SWITCH</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Context Switch: Moving the CPU from One Process to Another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30</a:t>
            </a:r>
            <a:endParaRPr lang="en-US" sz="900" dirty="0"/>
          </a:p>
        </p:txBody>
      </p:sp>
      <p:sp>
        <p:nvSpPr>
          <p:cNvPr id="6" name="Text 4"/>
          <p:cNvSpPr txBox="1"/>
          <p:nvPr/>
        </p:nvSpPr>
        <p:spPr>
          <a:xfrm>
            <a:off x="548640" y="1783080"/>
            <a:ext cx="1005840" cy="566928"/>
          </a:xfrm>
          <a:prstGeom prst="rect">
            <a:avLst/>
          </a:prstGeom>
          <a:noFill/>
          <a:ln/>
        </p:spPr>
        <p:txBody>
          <a:bodyPr wrap="square" lIns="0" tIns="0" rIns="0" bIns="0" rtlCol="0" anchor="ctr"/>
          <a:lstStyle/>
          <a:p>
            <a:pPr indent="0" marL="0">
              <a:buNone/>
            </a:pPr>
            <a:r>
              <a:rPr lang="en-US" sz="1600" b="1" dirty="0">
                <a:solidFill>
                  <a:srgbClr val="36454F"/>
                </a:solidFill>
                <a:latin typeface="Cambria" pitchFamily="34" charset="0"/>
                <a:ea typeface="Cambria" pitchFamily="34" charset="-122"/>
                <a:cs typeface="Cambria" pitchFamily="34" charset="-120"/>
              </a:rPr>
              <a:t>P0</a:t>
            </a:r>
            <a:endParaRPr lang="en-US" sz="1600" dirty="0"/>
          </a:p>
        </p:txBody>
      </p:sp>
      <p:sp>
        <p:nvSpPr>
          <p:cNvPr id="7" name="Text 5"/>
          <p:cNvSpPr txBox="1"/>
          <p:nvPr/>
        </p:nvSpPr>
        <p:spPr>
          <a:xfrm>
            <a:off x="548640" y="2624328"/>
            <a:ext cx="1005840" cy="566928"/>
          </a:xfrm>
          <a:prstGeom prst="rect">
            <a:avLst/>
          </a:prstGeom>
          <a:noFill/>
          <a:ln/>
        </p:spPr>
        <p:txBody>
          <a:bodyPr wrap="square" lIns="0" tIns="0" rIns="0" bIns="0" rtlCol="0" anchor="ctr"/>
          <a:lstStyle/>
          <a:p>
            <a:pPr indent="0" marL="0">
              <a:buNone/>
            </a:pPr>
            <a:r>
              <a:rPr lang="en-US" sz="1600" b="1" dirty="0">
                <a:solidFill>
                  <a:srgbClr val="36454F"/>
                </a:solidFill>
                <a:latin typeface="Cambria" pitchFamily="34" charset="0"/>
                <a:ea typeface="Cambria" pitchFamily="34" charset="-122"/>
                <a:cs typeface="Cambria" pitchFamily="34" charset="-120"/>
              </a:rPr>
              <a:t>OS</a:t>
            </a:r>
            <a:endParaRPr lang="en-US" sz="1600" dirty="0"/>
          </a:p>
        </p:txBody>
      </p:sp>
      <p:sp>
        <p:nvSpPr>
          <p:cNvPr id="8" name="Text 6"/>
          <p:cNvSpPr txBox="1"/>
          <p:nvPr/>
        </p:nvSpPr>
        <p:spPr>
          <a:xfrm>
            <a:off x="548640" y="3465576"/>
            <a:ext cx="1005840" cy="566928"/>
          </a:xfrm>
          <a:prstGeom prst="rect">
            <a:avLst/>
          </a:prstGeom>
          <a:noFill/>
          <a:ln/>
        </p:spPr>
        <p:txBody>
          <a:bodyPr wrap="square" lIns="0" tIns="0" rIns="0" bIns="0" rtlCol="0" anchor="ctr"/>
          <a:lstStyle/>
          <a:p>
            <a:pPr indent="0" marL="0">
              <a:buNone/>
            </a:pPr>
            <a:r>
              <a:rPr lang="en-US" sz="1600" b="1" dirty="0">
                <a:solidFill>
                  <a:srgbClr val="36454F"/>
                </a:solidFill>
                <a:latin typeface="Cambria" pitchFamily="34" charset="0"/>
                <a:ea typeface="Cambria" pitchFamily="34" charset="-122"/>
                <a:cs typeface="Cambria" pitchFamily="34" charset="-120"/>
              </a:rPr>
              <a:t>P1</a:t>
            </a:r>
            <a:endParaRPr lang="en-US" sz="1600" dirty="0"/>
          </a:p>
        </p:txBody>
      </p:sp>
      <p:sp>
        <p:nvSpPr>
          <p:cNvPr id="9" name="Shape 7"/>
          <p:cNvSpPr/>
          <p:nvPr/>
        </p:nvSpPr>
        <p:spPr>
          <a:xfrm>
            <a:off x="1755648" y="1783080"/>
            <a:ext cx="2157984" cy="566928"/>
          </a:xfrm>
          <a:prstGeom prst="roundRect">
            <a:avLst>
              <a:gd name="adj" fmla="val 8065"/>
            </a:avLst>
          </a:prstGeom>
          <a:solidFill>
            <a:srgbClr val="02C39A"/>
          </a:solidFill>
          <a:ln/>
        </p:spPr>
        <p:txBody>
          <a:bodyPr/>
          <a:p/>
        </p:txBody>
      </p:sp>
      <p:sp>
        <p:nvSpPr>
          <p:cNvPr id="10" name="Text 8"/>
          <p:cNvSpPr txBox="1"/>
          <p:nvPr/>
        </p:nvSpPr>
        <p:spPr>
          <a:xfrm>
            <a:off x="1755648" y="1783080"/>
            <a:ext cx="2157984"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P0 executing</a:t>
            </a:r>
            <a:endParaRPr lang="en-US" sz="1200" dirty="0"/>
          </a:p>
        </p:txBody>
      </p:sp>
      <p:sp>
        <p:nvSpPr>
          <p:cNvPr id="11" name="Shape 9"/>
          <p:cNvSpPr/>
          <p:nvPr/>
        </p:nvSpPr>
        <p:spPr>
          <a:xfrm>
            <a:off x="3950208" y="2624328"/>
            <a:ext cx="1572768" cy="566928"/>
          </a:xfrm>
          <a:prstGeom prst="roundRect">
            <a:avLst>
              <a:gd name="adj" fmla="val 8065"/>
            </a:avLst>
          </a:prstGeom>
          <a:solidFill>
            <a:srgbClr val="36454F"/>
          </a:solidFill>
          <a:ln/>
        </p:spPr>
        <p:txBody>
          <a:bodyPr/>
          <a:p/>
        </p:txBody>
      </p:sp>
      <p:sp>
        <p:nvSpPr>
          <p:cNvPr id="12" name="Text 10"/>
          <p:cNvSpPr txBox="1"/>
          <p:nvPr/>
        </p:nvSpPr>
        <p:spPr>
          <a:xfrm>
            <a:off x="3950208" y="2624328"/>
            <a:ext cx="1572768" cy="56692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save P0 → PCB0  ·  load PCB1</a:t>
            </a:r>
            <a:endParaRPr lang="en-US" sz="1200" dirty="0"/>
          </a:p>
        </p:txBody>
      </p:sp>
      <p:sp>
        <p:nvSpPr>
          <p:cNvPr id="13" name="Shape 11"/>
          <p:cNvSpPr/>
          <p:nvPr/>
        </p:nvSpPr>
        <p:spPr>
          <a:xfrm>
            <a:off x="5559552" y="3465576"/>
            <a:ext cx="2157984" cy="566928"/>
          </a:xfrm>
          <a:prstGeom prst="roundRect">
            <a:avLst>
              <a:gd name="adj" fmla="val 8065"/>
            </a:avLst>
          </a:prstGeom>
          <a:solidFill>
            <a:srgbClr val="02C39A"/>
          </a:solidFill>
          <a:ln/>
        </p:spPr>
        <p:txBody>
          <a:bodyPr/>
          <a:p/>
        </p:txBody>
      </p:sp>
      <p:sp>
        <p:nvSpPr>
          <p:cNvPr id="14" name="Text 12"/>
          <p:cNvSpPr txBox="1"/>
          <p:nvPr/>
        </p:nvSpPr>
        <p:spPr>
          <a:xfrm>
            <a:off x="5559552" y="3465576"/>
            <a:ext cx="2157984"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 executing</a:t>
            </a:r>
            <a:endParaRPr lang="en-US" sz="1200" dirty="0"/>
          </a:p>
        </p:txBody>
      </p:sp>
      <p:sp>
        <p:nvSpPr>
          <p:cNvPr id="15" name="Shape 13"/>
          <p:cNvSpPr/>
          <p:nvPr/>
        </p:nvSpPr>
        <p:spPr>
          <a:xfrm>
            <a:off x="7754112" y="2624328"/>
            <a:ext cx="1572768" cy="566928"/>
          </a:xfrm>
          <a:prstGeom prst="roundRect">
            <a:avLst>
              <a:gd name="adj" fmla="val 8065"/>
            </a:avLst>
          </a:prstGeom>
          <a:solidFill>
            <a:srgbClr val="36454F"/>
          </a:solidFill>
          <a:ln/>
        </p:spPr>
        <p:txBody>
          <a:bodyPr/>
          <a:p/>
        </p:txBody>
      </p:sp>
      <p:sp>
        <p:nvSpPr>
          <p:cNvPr id="16" name="Text 14"/>
          <p:cNvSpPr txBox="1"/>
          <p:nvPr/>
        </p:nvSpPr>
        <p:spPr>
          <a:xfrm>
            <a:off x="7754112" y="2624328"/>
            <a:ext cx="1572768" cy="56692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save P1 → PCB1  ·  load PCB0</a:t>
            </a:r>
            <a:endParaRPr lang="en-US" sz="1200" dirty="0"/>
          </a:p>
        </p:txBody>
      </p:sp>
      <p:sp>
        <p:nvSpPr>
          <p:cNvPr id="17" name="Shape 15"/>
          <p:cNvSpPr/>
          <p:nvPr/>
        </p:nvSpPr>
        <p:spPr>
          <a:xfrm>
            <a:off x="9363456" y="1783080"/>
            <a:ext cx="1865376" cy="566928"/>
          </a:xfrm>
          <a:prstGeom prst="roundRect">
            <a:avLst>
              <a:gd name="adj" fmla="val 8065"/>
            </a:avLst>
          </a:prstGeom>
          <a:solidFill>
            <a:srgbClr val="02C39A"/>
          </a:solidFill>
          <a:ln/>
        </p:spPr>
        <p:txBody>
          <a:bodyPr/>
          <a:p/>
        </p:txBody>
      </p:sp>
      <p:sp>
        <p:nvSpPr>
          <p:cNvPr id="18" name="Text 16"/>
          <p:cNvSpPr txBox="1"/>
          <p:nvPr/>
        </p:nvSpPr>
        <p:spPr>
          <a:xfrm>
            <a:off x="9363456" y="1783080"/>
            <a:ext cx="1865376" cy="56692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P0 executing</a:t>
            </a:r>
            <a:endParaRPr lang="en-US" sz="1200" dirty="0"/>
          </a:p>
        </p:txBody>
      </p:sp>
      <p:sp>
        <p:nvSpPr>
          <p:cNvPr id="19" name="Shape 17"/>
          <p:cNvSpPr/>
          <p:nvPr/>
        </p:nvSpPr>
        <p:spPr>
          <a:xfrm>
            <a:off x="4023360" y="2066544"/>
            <a:ext cx="5230368" cy="0"/>
          </a:xfrm>
          <a:prstGeom prst="line">
            <a:avLst/>
          </a:prstGeom>
          <a:noFill/>
          <a:ln w="15875">
            <a:solidFill>
              <a:srgbClr val="50808E"/>
            </a:solidFill>
            <a:prstDash val="dash"/>
          </a:ln>
        </p:spPr>
        <p:txBody>
          <a:bodyPr/>
          <a:p/>
        </p:txBody>
      </p:sp>
      <p:sp>
        <p:nvSpPr>
          <p:cNvPr id="20" name="Text 18"/>
          <p:cNvSpPr txBox="1"/>
          <p:nvPr/>
        </p:nvSpPr>
        <p:spPr>
          <a:xfrm>
            <a:off x="3931920" y="1764792"/>
            <a:ext cx="5413248" cy="256032"/>
          </a:xfrm>
          <a:prstGeom prst="rect">
            <a:avLst/>
          </a:prstGeom>
          <a:noFill/>
          <a:ln/>
        </p:spPr>
        <p:txBody>
          <a:bodyPr wrap="square" lIns="0" tIns="0" rIns="0" bIns="0" rtlCol="0" anchor="t"/>
          <a:lstStyle/>
          <a:p>
            <a:pPr algn="ctr" indent="0" marL="0">
              <a:buNone/>
            </a:pPr>
            <a:r>
              <a:rPr lang="en-US" sz="1000" i="1" dirty="0">
                <a:solidFill>
                  <a:srgbClr val="6B7679"/>
                </a:solidFill>
                <a:latin typeface="Calibri" pitchFamily="34" charset="0"/>
                <a:ea typeface="Calibri" pitchFamily="34" charset="-122"/>
                <a:cs typeface="Calibri" pitchFamily="34" charset="-120"/>
              </a:rPr>
              <a:t>ready (idle)</a:t>
            </a:r>
            <a:endParaRPr lang="en-US" sz="1000" dirty="0"/>
          </a:p>
        </p:txBody>
      </p:sp>
      <p:sp>
        <p:nvSpPr>
          <p:cNvPr id="21" name="Shape 19"/>
          <p:cNvSpPr/>
          <p:nvPr/>
        </p:nvSpPr>
        <p:spPr>
          <a:xfrm>
            <a:off x="1828800" y="3749040"/>
            <a:ext cx="3621024" cy="0"/>
          </a:xfrm>
          <a:prstGeom prst="line">
            <a:avLst/>
          </a:prstGeom>
          <a:noFill/>
          <a:ln w="15875">
            <a:solidFill>
              <a:srgbClr val="50808E"/>
            </a:solidFill>
            <a:prstDash val="dash"/>
          </a:ln>
        </p:spPr>
        <p:txBody>
          <a:bodyPr/>
          <a:p/>
        </p:txBody>
      </p:sp>
      <p:sp>
        <p:nvSpPr>
          <p:cNvPr id="22" name="Text 20"/>
          <p:cNvSpPr txBox="1"/>
          <p:nvPr/>
        </p:nvSpPr>
        <p:spPr>
          <a:xfrm>
            <a:off x="1737360" y="3447288"/>
            <a:ext cx="3803904" cy="256032"/>
          </a:xfrm>
          <a:prstGeom prst="rect">
            <a:avLst/>
          </a:prstGeom>
          <a:noFill/>
          <a:ln/>
        </p:spPr>
        <p:txBody>
          <a:bodyPr wrap="square" lIns="0" tIns="0" rIns="0" bIns="0" rtlCol="0" anchor="t"/>
          <a:lstStyle/>
          <a:p>
            <a:pPr algn="ctr" indent="0" marL="0">
              <a:buNone/>
            </a:pPr>
            <a:r>
              <a:rPr lang="en-US" sz="1000" i="1" dirty="0">
                <a:solidFill>
                  <a:srgbClr val="6B7679"/>
                </a:solidFill>
                <a:latin typeface="Calibri" pitchFamily="34" charset="0"/>
                <a:ea typeface="Calibri" pitchFamily="34" charset="-122"/>
                <a:cs typeface="Calibri" pitchFamily="34" charset="-120"/>
              </a:rPr>
              <a:t>ready (idle)</a:t>
            </a:r>
            <a:endParaRPr lang="en-US" sz="1000" dirty="0"/>
          </a:p>
        </p:txBody>
      </p:sp>
      <p:sp>
        <p:nvSpPr>
          <p:cNvPr id="23" name="Shape 21"/>
          <p:cNvSpPr/>
          <p:nvPr/>
        </p:nvSpPr>
        <p:spPr>
          <a:xfrm>
            <a:off x="7827264" y="3749040"/>
            <a:ext cx="3328416" cy="0"/>
          </a:xfrm>
          <a:prstGeom prst="line">
            <a:avLst/>
          </a:prstGeom>
          <a:noFill/>
          <a:ln w="15875">
            <a:solidFill>
              <a:srgbClr val="50808E"/>
            </a:solidFill>
            <a:prstDash val="dash"/>
          </a:ln>
        </p:spPr>
        <p:txBody>
          <a:bodyPr/>
          <a:p/>
        </p:txBody>
      </p:sp>
      <p:sp>
        <p:nvSpPr>
          <p:cNvPr id="24" name="Text 22"/>
          <p:cNvSpPr txBox="1"/>
          <p:nvPr/>
        </p:nvSpPr>
        <p:spPr>
          <a:xfrm>
            <a:off x="7735824" y="3447288"/>
            <a:ext cx="3511296" cy="256032"/>
          </a:xfrm>
          <a:prstGeom prst="rect">
            <a:avLst/>
          </a:prstGeom>
          <a:noFill/>
          <a:ln/>
        </p:spPr>
        <p:txBody>
          <a:bodyPr wrap="square" lIns="0" tIns="0" rIns="0" bIns="0" rtlCol="0" anchor="t"/>
          <a:lstStyle/>
          <a:p>
            <a:pPr algn="ctr" indent="0" marL="0">
              <a:buNone/>
            </a:pPr>
            <a:r>
              <a:rPr lang="en-US" sz="1000" i="1" dirty="0">
                <a:solidFill>
                  <a:srgbClr val="6B7679"/>
                </a:solidFill>
                <a:latin typeface="Calibri" pitchFamily="34" charset="0"/>
                <a:ea typeface="Calibri" pitchFamily="34" charset="-122"/>
                <a:cs typeface="Calibri" pitchFamily="34" charset="-120"/>
              </a:rPr>
              <a:t>ready (idle)</a:t>
            </a:r>
            <a:endParaRPr lang="en-US" sz="1000" dirty="0"/>
          </a:p>
        </p:txBody>
      </p:sp>
      <p:sp>
        <p:nvSpPr>
          <p:cNvPr id="25" name="Shape 23"/>
          <p:cNvSpPr/>
          <p:nvPr/>
        </p:nvSpPr>
        <p:spPr>
          <a:xfrm>
            <a:off x="3931920" y="2368296"/>
            <a:ext cx="91" cy="237744"/>
          </a:xfrm>
          <a:prstGeom prst="line">
            <a:avLst/>
          </a:prstGeom>
          <a:noFill/>
          <a:ln w="25400">
            <a:solidFill>
              <a:srgbClr val="B5453A"/>
            </a:solidFill>
            <a:prstDash val="solid"/>
            <a:tailEnd type="triangle"/>
          </a:ln>
        </p:spPr>
        <p:txBody>
          <a:bodyPr/>
          <a:p/>
        </p:txBody>
      </p:sp>
      <p:sp>
        <p:nvSpPr>
          <p:cNvPr id="26" name="Shape 24"/>
          <p:cNvSpPr/>
          <p:nvPr/>
        </p:nvSpPr>
        <p:spPr>
          <a:xfrm flipV="1">
            <a:off x="7735824" y="3209544"/>
            <a:ext cx="91" cy="237744"/>
          </a:xfrm>
          <a:prstGeom prst="line">
            <a:avLst/>
          </a:prstGeom>
          <a:noFill/>
          <a:ln w="25400">
            <a:solidFill>
              <a:srgbClr val="B5453A"/>
            </a:solidFill>
            <a:prstDash val="solid"/>
            <a:tailEnd type="triangle"/>
          </a:ln>
        </p:spPr>
        <p:txBody>
          <a:bodyPr/>
          <a:p/>
        </p:txBody>
      </p:sp>
      <p:sp>
        <p:nvSpPr>
          <p:cNvPr id="27" name="Text 25"/>
          <p:cNvSpPr txBox="1"/>
          <p:nvPr/>
        </p:nvSpPr>
        <p:spPr>
          <a:xfrm>
            <a:off x="4005072" y="2368296"/>
            <a:ext cx="2194560" cy="228600"/>
          </a:xfrm>
          <a:prstGeom prst="rect">
            <a:avLst/>
          </a:prstGeom>
          <a:noFill/>
          <a:ln/>
        </p:spPr>
        <p:txBody>
          <a:bodyPr wrap="square" lIns="0" tIns="0" rIns="0" bIns="0" rtlCol="0" anchor="t"/>
          <a:lstStyle/>
          <a:p>
            <a:pPr indent="0" marL="0">
              <a:buNone/>
            </a:pPr>
            <a:r>
              <a:rPr lang="en-US" sz="1000" i="1" dirty="0">
                <a:solidFill>
                  <a:srgbClr val="B5453A"/>
                </a:solidFill>
                <a:latin typeface="Calibri" pitchFamily="34" charset="0"/>
                <a:ea typeface="Calibri" pitchFamily="34" charset="-122"/>
                <a:cs typeface="Calibri" pitchFamily="34" charset="-120"/>
              </a:rPr>
              <a:t>interrupt or system call</a:t>
            </a:r>
            <a:endParaRPr lang="en-US" sz="1000" dirty="0"/>
          </a:p>
        </p:txBody>
      </p:sp>
      <p:sp>
        <p:nvSpPr>
          <p:cNvPr id="28" name="Shape 26"/>
          <p:cNvSpPr/>
          <p:nvPr/>
        </p:nvSpPr>
        <p:spPr>
          <a:xfrm>
            <a:off x="548640" y="4343400"/>
            <a:ext cx="667512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9" name="Text 27"/>
          <p:cNvSpPr txBox="1"/>
          <p:nvPr/>
        </p:nvSpPr>
        <p:spPr>
          <a:xfrm>
            <a:off x="777240" y="4526280"/>
            <a:ext cx="62179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is saved and restored</a:t>
            </a:r>
            <a:endParaRPr lang="en-US" sz="1500" dirty="0"/>
          </a:p>
        </p:txBody>
      </p:sp>
      <p:sp>
        <p:nvSpPr>
          <p:cNvPr id="30" name="Text 28"/>
          <p:cNvSpPr txBox="1"/>
          <p:nvPr/>
        </p:nvSpPr>
        <p:spPr>
          <a:xfrm>
            <a:off x="777240" y="4983480"/>
            <a:ext cx="6217920" cy="11430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Program counter, CPU registers, stack pointer, process state, and the memory-management information (which page table is active). All of it lives in the PCB.</a:t>
            </a:r>
            <a:endParaRPr lang="en-US" sz="1400" dirty="0"/>
          </a:p>
        </p:txBody>
      </p:sp>
      <p:sp>
        <p:nvSpPr>
          <p:cNvPr id="31" name="Shape 29"/>
          <p:cNvSpPr/>
          <p:nvPr/>
        </p:nvSpPr>
        <p:spPr>
          <a:xfrm>
            <a:off x="7452360" y="4343400"/>
            <a:ext cx="4206240" cy="1920240"/>
          </a:xfrm>
          <a:prstGeom prst="roundRect">
            <a:avLst>
              <a:gd name="adj" fmla="val 285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2" name="Text 30"/>
          <p:cNvSpPr txBox="1"/>
          <p:nvPr/>
        </p:nvSpPr>
        <p:spPr>
          <a:xfrm>
            <a:off x="7680960" y="4343400"/>
            <a:ext cx="3749040" cy="192024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During the dark boxes no process does useful work: a context switch is pure overhead.</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How Much Does Context Switching Cost?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31</a:t>
            </a:r>
            <a:endParaRPr lang="en-US" sz="900" dirty="0"/>
          </a:p>
        </p:txBody>
      </p:sp>
      <p:sp>
        <p:nvSpPr>
          <p:cNvPr id="6" name="Shape 4"/>
          <p:cNvSpPr/>
          <p:nvPr/>
        </p:nvSpPr>
        <p:spPr>
          <a:xfrm>
            <a:off x="548640" y="1508760"/>
            <a:ext cx="512064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model</a:t>
            </a:r>
            <a:endParaRPr lang="en-US" sz="1500" dirty="0"/>
          </a:p>
        </p:txBody>
      </p:sp>
      <p:sp>
        <p:nvSpPr>
          <p:cNvPr id="8" name="Text 6"/>
          <p:cNvSpPr txBox="1"/>
          <p:nvPr/>
        </p:nvSpPr>
        <p:spPr>
          <a:xfrm>
            <a:off x="777240" y="2148840"/>
            <a:ext cx="4663440" cy="39776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Each process runs for a time slice q, then the OS needs s to switch.</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Fraction of CPU time lost:</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     overhead = s / (q + s)</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Assume s = 5 µs (illustrative; real switches cost a few µs, more when the caches must refill).</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Example: 1000 switches per second × 5 µs = 5 ms per second = 0.5 %.</a:t>
            </a:r>
            <a:endParaRPr lang="en-US" sz="1500" dirty="0"/>
          </a:p>
        </p:txBody>
      </p:sp>
      <p:sp>
        <p:nvSpPr>
          <p:cNvPr id="9" name="Shape 7"/>
          <p:cNvSpPr/>
          <p:nvPr/>
        </p:nvSpPr>
        <p:spPr>
          <a:xfrm>
            <a:off x="5943600" y="1508760"/>
            <a:ext cx="5715000" cy="3291840"/>
          </a:xfrm>
          <a:prstGeom prst="roundRect">
            <a:avLst>
              <a:gd name="adj" fmla="val 1389"/>
            </a:avLst>
          </a:prstGeom>
          <a:solidFill>
            <a:srgbClr val="212121"/>
          </a:solidFill>
          <a:ln/>
        </p:spPr>
        <p:txBody>
          <a:bodyPr/>
          <a:p/>
        </p:txBody>
      </p:sp>
      <p:sp>
        <p:nvSpPr>
          <p:cNvPr id="10" name="Text 8"/>
          <p:cNvSpPr txBox="1"/>
          <p:nvPr/>
        </p:nvSpPr>
        <p:spPr>
          <a:xfrm>
            <a:off x="6126480" y="1618488"/>
            <a:ext cx="5349240" cy="307238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time slice q    overhead s/(q+s)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100   ms         0.005 %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10   ms         0.05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1   ms         0.50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0.1 ms         4.76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0.01 ms       33.3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0.005 ms      50     %   (q = s)</a:t>
            </a:r>
            <a:endParaRPr lang="en-US" sz="1350" dirty="0"/>
          </a:p>
        </p:txBody>
      </p:sp>
      <p:sp>
        <p:nvSpPr>
          <p:cNvPr id="11" name="Shape 9"/>
          <p:cNvSpPr/>
          <p:nvPr/>
        </p:nvSpPr>
        <p:spPr>
          <a:xfrm>
            <a:off x="5943600" y="4983480"/>
            <a:ext cx="5715000" cy="1280160"/>
          </a:xfrm>
          <a:prstGeom prst="roundRect">
            <a:avLst>
              <a:gd name="adj" fmla="val 428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6172200" y="4983480"/>
            <a:ext cx="5257800" cy="12801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Short slices feel responsive but waste CPU; long slices waste little but feel sluggish. Choosing q is a Round-Robin question (Week 5).</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 CREATION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Creating a Process: fork(), exec(), wait()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32</a:t>
            </a:r>
            <a:endParaRPr lang="en-US" sz="900" dirty="0"/>
          </a:p>
        </p:txBody>
      </p:sp>
      <p:sp>
        <p:nvSpPr>
          <p:cNvPr id="6" name="Shape 4"/>
          <p:cNvSpPr/>
          <p:nvPr/>
        </p:nvSpPr>
        <p:spPr>
          <a:xfrm>
            <a:off x="548640" y="2834640"/>
            <a:ext cx="1371600" cy="640080"/>
          </a:xfrm>
          <a:prstGeom prst="roundRect">
            <a:avLst>
              <a:gd name="adj" fmla="val 7143"/>
            </a:avLst>
          </a:prstGeom>
          <a:solidFill>
            <a:srgbClr val="36454F"/>
          </a:solidFill>
          <a:ln/>
        </p:spPr>
        <p:txBody>
          <a:bodyPr/>
          <a:p/>
        </p:txBody>
      </p:sp>
      <p:sp>
        <p:nvSpPr>
          <p:cNvPr id="7" name="Text 5"/>
          <p:cNvSpPr txBox="1"/>
          <p:nvPr/>
        </p:nvSpPr>
        <p:spPr>
          <a:xfrm>
            <a:off x="548640" y="2834640"/>
            <a:ext cx="1371600" cy="6400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parent</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PID 32268</a:t>
            </a:r>
            <a:endParaRPr lang="en-US" sz="1300" dirty="0"/>
          </a:p>
        </p:txBody>
      </p:sp>
      <p:sp>
        <p:nvSpPr>
          <p:cNvPr id="8" name="Shape 6"/>
          <p:cNvSpPr/>
          <p:nvPr/>
        </p:nvSpPr>
        <p:spPr>
          <a:xfrm>
            <a:off x="2286000" y="2834640"/>
            <a:ext cx="1097280" cy="640080"/>
          </a:xfrm>
          <a:prstGeom prst="roundRect">
            <a:avLst>
              <a:gd name="adj" fmla="val 7143"/>
            </a:avLst>
          </a:prstGeom>
          <a:solidFill>
            <a:srgbClr val="02C39A"/>
          </a:solidFill>
          <a:ln/>
        </p:spPr>
        <p:txBody>
          <a:bodyPr/>
          <a:p/>
        </p:txBody>
      </p:sp>
      <p:sp>
        <p:nvSpPr>
          <p:cNvPr id="9" name="Text 7"/>
          <p:cNvSpPr txBox="1"/>
          <p:nvPr/>
        </p:nvSpPr>
        <p:spPr>
          <a:xfrm>
            <a:off x="2286000" y="2834640"/>
            <a:ext cx="1097280" cy="64008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onsolas" pitchFamily="34" charset="0"/>
                <a:ea typeface="Consolas" pitchFamily="34" charset="-122"/>
                <a:cs typeface="Consolas" pitchFamily="34" charset="-120"/>
              </a:rPr>
              <a:t>fork()</a:t>
            </a:r>
            <a:endParaRPr lang="en-US" sz="1400" dirty="0"/>
          </a:p>
        </p:txBody>
      </p:sp>
      <p:sp>
        <p:nvSpPr>
          <p:cNvPr id="10" name="Shape 8"/>
          <p:cNvSpPr/>
          <p:nvPr/>
        </p:nvSpPr>
        <p:spPr>
          <a:xfrm>
            <a:off x="1938528" y="3154680"/>
            <a:ext cx="329184" cy="91"/>
          </a:xfrm>
          <a:prstGeom prst="line">
            <a:avLst/>
          </a:prstGeom>
          <a:noFill/>
          <a:ln w="25400">
            <a:solidFill>
              <a:srgbClr val="50808E"/>
            </a:solidFill>
            <a:prstDash val="solid"/>
            <a:tailEnd type="triangle"/>
          </a:ln>
        </p:spPr>
        <p:txBody>
          <a:bodyPr/>
          <a:p/>
        </p:txBody>
      </p:sp>
      <p:sp>
        <p:nvSpPr>
          <p:cNvPr id="11" name="Shape 9"/>
          <p:cNvSpPr/>
          <p:nvPr/>
        </p:nvSpPr>
        <p:spPr>
          <a:xfrm flipV="1">
            <a:off x="2834640" y="2240280"/>
            <a:ext cx="1005840" cy="576072"/>
          </a:xfrm>
          <a:prstGeom prst="line">
            <a:avLst/>
          </a:prstGeom>
          <a:noFill/>
          <a:ln w="25400">
            <a:solidFill>
              <a:srgbClr val="50808E"/>
            </a:solidFill>
            <a:prstDash val="solid"/>
            <a:tailEnd type="triangle"/>
          </a:ln>
        </p:spPr>
        <p:txBody>
          <a:bodyPr/>
          <a:p/>
        </p:txBody>
      </p:sp>
      <p:sp>
        <p:nvSpPr>
          <p:cNvPr id="12" name="Shape 10"/>
          <p:cNvSpPr/>
          <p:nvPr/>
        </p:nvSpPr>
        <p:spPr>
          <a:xfrm>
            <a:off x="3858768" y="1920240"/>
            <a:ext cx="1280160" cy="640080"/>
          </a:xfrm>
          <a:prstGeom prst="roundRect">
            <a:avLst>
              <a:gd name="adj" fmla="val 7143"/>
            </a:avLst>
          </a:prstGeom>
          <a:solidFill>
            <a:srgbClr val="02C39A"/>
          </a:solidFill>
          <a:ln/>
        </p:spPr>
        <p:txBody>
          <a:bodyPr/>
          <a:p/>
        </p:txBody>
      </p:sp>
      <p:sp>
        <p:nvSpPr>
          <p:cNvPr id="13" name="Text 11"/>
          <p:cNvSpPr txBox="1"/>
          <p:nvPr/>
        </p:nvSpPr>
        <p:spPr>
          <a:xfrm>
            <a:off x="3858768" y="1920240"/>
            <a:ext cx="1280160" cy="64008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onsolas" pitchFamily="34" charset="0"/>
                <a:ea typeface="Consolas" pitchFamily="34" charset="-122"/>
                <a:cs typeface="Consolas" pitchFamily="34" charset="-120"/>
              </a:rPr>
              <a:t>wait()</a:t>
            </a:r>
            <a:endParaRPr lang="en-US" sz="1400" dirty="0"/>
          </a:p>
        </p:txBody>
      </p:sp>
      <p:sp>
        <p:nvSpPr>
          <p:cNvPr id="14" name="Shape 12"/>
          <p:cNvSpPr/>
          <p:nvPr/>
        </p:nvSpPr>
        <p:spPr>
          <a:xfrm>
            <a:off x="5184648" y="2240280"/>
            <a:ext cx="2331720" cy="0"/>
          </a:xfrm>
          <a:prstGeom prst="line">
            <a:avLst/>
          </a:prstGeom>
          <a:noFill/>
          <a:ln w="19050">
            <a:solidFill>
              <a:srgbClr val="50808E"/>
            </a:solidFill>
            <a:prstDash val="dash"/>
          </a:ln>
        </p:spPr>
        <p:txBody>
          <a:bodyPr/>
          <a:p/>
        </p:txBody>
      </p:sp>
      <p:sp>
        <p:nvSpPr>
          <p:cNvPr id="15" name="Text 13"/>
          <p:cNvSpPr txBox="1"/>
          <p:nvPr/>
        </p:nvSpPr>
        <p:spPr>
          <a:xfrm>
            <a:off x="5120640" y="1645920"/>
            <a:ext cx="2560320" cy="256032"/>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parent waits (state: waiting)</a:t>
            </a:r>
            <a:endParaRPr lang="en-US" sz="1100" dirty="0"/>
          </a:p>
        </p:txBody>
      </p:sp>
      <p:sp>
        <p:nvSpPr>
          <p:cNvPr id="16" name="Shape 14"/>
          <p:cNvSpPr/>
          <p:nvPr/>
        </p:nvSpPr>
        <p:spPr>
          <a:xfrm>
            <a:off x="7543800" y="1920240"/>
            <a:ext cx="1371600" cy="640080"/>
          </a:xfrm>
          <a:prstGeom prst="roundRect">
            <a:avLst>
              <a:gd name="adj" fmla="val 7143"/>
            </a:avLst>
          </a:prstGeom>
          <a:solidFill>
            <a:srgbClr val="36454F"/>
          </a:solidFill>
          <a:ln/>
        </p:spPr>
        <p:txBody>
          <a:bodyPr/>
          <a:p/>
        </p:txBody>
      </p:sp>
      <p:sp>
        <p:nvSpPr>
          <p:cNvPr id="17" name="Text 15"/>
          <p:cNvSpPr txBox="1"/>
          <p:nvPr/>
        </p:nvSpPr>
        <p:spPr>
          <a:xfrm>
            <a:off x="7543800" y="1920240"/>
            <a:ext cx="1371600" cy="6400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resumes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prints status</a:t>
            </a:r>
            <a:endParaRPr lang="en-US" sz="1300" dirty="0"/>
          </a:p>
        </p:txBody>
      </p:sp>
      <p:sp>
        <p:nvSpPr>
          <p:cNvPr id="18" name="Shape 16"/>
          <p:cNvSpPr/>
          <p:nvPr/>
        </p:nvSpPr>
        <p:spPr>
          <a:xfrm>
            <a:off x="2834640" y="3493008"/>
            <a:ext cx="1005840" cy="576072"/>
          </a:xfrm>
          <a:prstGeom prst="line">
            <a:avLst/>
          </a:prstGeom>
          <a:noFill/>
          <a:ln w="25400">
            <a:solidFill>
              <a:srgbClr val="50808E"/>
            </a:solidFill>
            <a:prstDash val="solid"/>
            <a:tailEnd type="triangle"/>
          </a:ln>
        </p:spPr>
        <p:txBody>
          <a:bodyPr/>
          <a:p/>
        </p:txBody>
      </p:sp>
      <p:sp>
        <p:nvSpPr>
          <p:cNvPr id="19" name="Shape 17"/>
          <p:cNvSpPr/>
          <p:nvPr/>
        </p:nvSpPr>
        <p:spPr>
          <a:xfrm>
            <a:off x="3858768" y="3749040"/>
            <a:ext cx="1280160" cy="640080"/>
          </a:xfrm>
          <a:prstGeom prst="roundRect">
            <a:avLst>
              <a:gd name="adj" fmla="val 7143"/>
            </a:avLst>
          </a:prstGeom>
          <a:solidFill>
            <a:srgbClr val="02C39A"/>
          </a:solidFill>
          <a:ln/>
        </p:spPr>
        <p:txBody>
          <a:bodyPr/>
          <a:p/>
        </p:txBody>
      </p:sp>
      <p:sp>
        <p:nvSpPr>
          <p:cNvPr id="20" name="Text 18"/>
          <p:cNvSpPr txBox="1"/>
          <p:nvPr/>
        </p:nvSpPr>
        <p:spPr>
          <a:xfrm>
            <a:off x="3858768" y="3749040"/>
            <a:ext cx="1280160" cy="64008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onsolas" pitchFamily="34" charset="0"/>
                <a:ea typeface="Consolas" pitchFamily="34" charset="-122"/>
                <a:cs typeface="Consolas" pitchFamily="34" charset="-120"/>
              </a:rPr>
              <a:t>exec("ps")</a:t>
            </a:r>
            <a:endParaRPr lang="en-US" sz="1300" dirty="0"/>
          </a:p>
        </p:txBody>
      </p:sp>
      <p:sp>
        <p:nvSpPr>
          <p:cNvPr id="21" name="Shape 19"/>
          <p:cNvSpPr/>
          <p:nvPr/>
        </p:nvSpPr>
        <p:spPr>
          <a:xfrm>
            <a:off x="5394960" y="3749040"/>
            <a:ext cx="1463040" cy="640080"/>
          </a:xfrm>
          <a:prstGeom prst="roundRect">
            <a:avLst>
              <a:gd name="adj" fmla="val 7143"/>
            </a:avLst>
          </a:prstGeom>
          <a:solidFill>
            <a:srgbClr val="F2F2F2"/>
          </a:solidFill>
          <a:ln/>
        </p:spPr>
        <p:txBody>
          <a:bodyPr/>
          <a:p/>
        </p:txBody>
      </p:sp>
      <p:sp>
        <p:nvSpPr>
          <p:cNvPr id="22" name="Text 20"/>
          <p:cNvSpPr txBox="1"/>
          <p:nvPr/>
        </p:nvSpPr>
        <p:spPr>
          <a:xfrm>
            <a:off x="5394960" y="3749040"/>
            <a:ext cx="1463040" cy="640080"/>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ps runs</a:t>
            </a:r>
            <a:endParaRPr lang="en-US" sz="1300" dirty="0"/>
          </a:p>
          <a:p>
            <a:pPr algn="ctr" indent="0" marL="0">
              <a:buNone/>
            </a:pPr>
            <a:r>
              <a:rPr lang="en-US" sz="1100" dirty="0">
                <a:solidFill>
                  <a:srgbClr val="36454F"/>
                </a:solidFill>
                <a:latin typeface="Calibri" pitchFamily="34" charset="0"/>
                <a:ea typeface="Calibri" pitchFamily="34" charset="-122"/>
                <a:cs typeface="Calibri" pitchFamily="34" charset="-120"/>
              </a:rPr>
              <a:t>same PID 32269</a:t>
            </a:r>
            <a:endParaRPr lang="en-US" sz="1300" dirty="0"/>
          </a:p>
        </p:txBody>
      </p:sp>
      <p:sp>
        <p:nvSpPr>
          <p:cNvPr id="23" name="Shape 21"/>
          <p:cNvSpPr/>
          <p:nvPr/>
        </p:nvSpPr>
        <p:spPr>
          <a:xfrm>
            <a:off x="5157216" y="4069080"/>
            <a:ext cx="219456" cy="91"/>
          </a:xfrm>
          <a:prstGeom prst="line">
            <a:avLst/>
          </a:prstGeom>
          <a:noFill/>
          <a:ln w="25400">
            <a:solidFill>
              <a:srgbClr val="50808E"/>
            </a:solidFill>
            <a:prstDash val="solid"/>
            <a:tailEnd type="triangle"/>
          </a:ln>
        </p:spPr>
        <p:txBody>
          <a:bodyPr/>
          <a:p/>
        </p:txBody>
      </p:sp>
      <p:sp>
        <p:nvSpPr>
          <p:cNvPr id="24" name="Shape 22"/>
          <p:cNvSpPr/>
          <p:nvPr/>
        </p:nvSpPr>
        <p:spPr>
          <a:xfrm>
            <a:off x="7132320" y="3749040"/>
            <a:ext cx="1005840" cy="640080"/>
          </a:xfrm>
          <a:prstGeom prst="roundRect">
            <a:avLst>
              <a:gd name="adj" fmla="val 7143"/>
            </a:avLst>
          </a:prstGeom>
          <a:solidFill>
            <a:srgbClr val="02C39A"/>
          </a:solidFill>
          <a:ln/>
        </p:spPr>
        <p:txBody>
          <a:bodyPr/>
          <a:p/>
        </p:txBody>
      </p:sp>
      <p:sp>
        <p:nvSpPr>
          <p:cNvPr id="25" name="Text 23"/>
          <p:cNvSpPr txBox="1"/>
          <p:nvPr/>
        </p:nvSpPr>
        <p:spPr>
          <a:xfrm>
            <a:off x="7132320" y="3749040"/>
            <a:ext cx="1005840" cy="64008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onsolas" pitchFamily="34" charset="0"/>
                <a:ea typeface="Consolas" pitchFamily="34" charset="-122"/>
                <a:cs typeface="Consolas" pitchFamily="34" charset="-120"/>
              </a:rPr>
              <a:t>exit()</a:t>
            </a:r>
            <a:endParaRPr lang="en-US" sz="1300" dirty="0"/>
          </a:p>
        </p:txBody>
      </p:sp>
      <p:sp>
        <p:nvSpPr>
          <p:cNvPr id="26" name="Shape 24"/>
          <p:cNvSpPr/>
          <p:nvPr/>
        </p:nvSpPr>
        <p:spPr>
          <a:xfrm>
            <a:off x="6876288" y="4069080"/>
            <a:ext cx="237744" cy="91"/>
          </a:xfrm>
          <a:prstGeom prst="line">
            <a:avLst/>
          </a:prstGeom>
          <a:noFill/>
          <a:ln w="25400">
            <a:solidFill>
              <a:srgbClr val="50808E"/>
            </a:solidFill>
            <a:prstDash val="solid"/>
            <a:tailEnd type="triangle"/>
          </a:ln>
        </p:spPr>
        <p:txBody>
          <a:bodyPr/>
          <a:p/>
        </p:txBody>
      </p:sp>
      <p:sp>
        <p:nvSpPr>
          <p:cNvPr id="27" name="Shape 25"/>
          <p:cNvSpPr/>
          <p:nvPr/>
        </p:nvSpPr>
        <p:spPr>
          <a:xfrm flipV="1">
            <a:off x="7863840" y="2578608"/>
            <a:ext cx="274320" cy="1152144"/>
          </a:xfrm>
          <a:prstGeom prst="line">
            <a:avLst/>
          </a:prstGeom>
          <a:noFill/>
          <a:ln w="25400">
            <a:solidFill>
              <a:srgbClr val="B5453A"/>
            </a:solidFill>
            <a:prstDash val="solid"/>
            <a:tailEnd type="triangle"/>
          </a:ln>
        </p:spPr>
        <p:txBody>
          <a:bodyPr/>
          <a:p/>
        </p:txBody>
      </p:sp>
      <p:sp>
        <p:nvSpPr>
          <p:cNvPr id="28" name="Text 26"/>
          <p:cNvSpPr txBox="1"/>
          <p:nvPr/>
        </p:nvSpPr>
        <p:spPr>
          <a:xfrm>
            <a:off x="8092440" y="2971800"/>
            <a:ext cx="1097280" cy="274320"/>
          </a:xfrm>
          <a:prstGeom prst="rect">
            <a:avLst/>
          </a:prstGeom>
          <a:noFill/>
          <a:ln/>
        </p:spPr>
        <p:txBody>
          <a:bodyPr wrap="square" lIns="0" tIns="0" rIns="0" bIns="0" rtlCol="0" anchor="t"/>
          <a:lstStyle/>
          <a:p>
            <a:pPr indent="0" marL="0">
              <a:buNone/>
            </a:pPr>
            <a:r>
              <a:rPr lang="en-US" sz="1100" b="1" dirty="0">
                <a:solidFill>
                  <a:srgbClr val="B5453A"/>
                </a:solidFill>
                <a:latin typeface="Calibri" pitchFamily="34" charset="0"/>
                <a:ea typeface="Calibri" pitchFamily="34" charset="-122"/>
                <a:cs typeface="Calibri" pitchFamily="34" charset="-120"/>
              </a:rPr>
              <a:t>exit status</a:t>
            </a:r>
            <a:endParaRPr lang="en-US" sz="1100" dirty="0"/>
          </a:p>
        </p:txBody>
      </p:sp>
      <p:sp>
        <p:nvSpPr>
          <p:cNvPr id="29" name="Text 27"/>
          <p:cNvSpPr txBox="1"/>
          <p:nvPr/>
        </p:nvSpPr>
        <p:spPr>
          <a:xfrm>
            <a:off x="2468880" y="4480560"/>
            <a:ext cx="164592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child (PID 32269)</a:t>
            </a:r>
            <a:endParaRPr lang="en-US" sz="1100" dirty="0"/>
          </a:p>
        </p:txBody>
      </p:sp>
      <p:sp>
        <p:nvSpPr>
          <p:cNvPr id="30" name="Shape 28"/>
          <p:cNvSpPr/>
          <p:nvPr/>
        </p:nvSpPr>
        <p:spPr>
          <a:xfrm>
            <a:off x="548640" y="4709160"/>
            <a:ext cx="365760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1" name="Text 29"/>
          <p:cNvSpPr txBox="1"/>
          <p:nvPr/>
        </p:nvSpPr>
        <p:spPr>
          <a:xfrm>
            <a:off x="777240" y="489204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fork()</a:t>
            </a:r>
            <a:endParaRPr lang="en-US" sz="1500" dirty="0"/>
          </a:p>
        </p:txBody>
      </p:sp>
      <p:sp>
        <p:nvSpPr>
          <p:cNvPr id="32" name="Text 30"/>
          <p:cNvSpPr txBox="1"/>
          <p:nvPr/>
        </p:nvSpPr>
        <p:spPr>
          <a:xfrm>
            <a:off x="777240" y="5349240"/>
            <a:ext cx="3200400" cy="77724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Copies the calling process. Returns twice: 0 in the child, the child's PID in the parent (−1 on error).</a:t>
            </a:r>
            <a:endParaRPr lang="en-US" sz="1300" dirty="0"/>
          </a:p>
        </p:txBody>
      </p:sp>
      <p:sp>
        <p:nvSpPr>
          <p:cNvPr id="33" name="Shape 31"/>
          <p:cNvSpPr/>
          <p:nvPr/>
        </p:nvSpPr>
        <p:spPr>
          <a:xfrm>
            <a:off x="4343400" y="4709160"/>
            <a:ext cx="365760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4" name="Text 32"/>
          <p:cNvSpPr txBox="1"/>
          <p:nvPr/>
        </p:nvSpPr>
        <p:spPr>
          <a:xfrm>
            <a:off x="4572000" y="489204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exec()</a:t>
            </a:r>
            <a:endParaRPr lang="en-US" sz="1500" dirty="0"/>
          </a:p>
        </p:txBody>
      </p:sp>
      <p:sp>
        <p:nvSpPr>
          <p:cNvPr id="35" name="Text 33"/>
          <p:cNvSpPr txBox="1"/>
          <p:nvPr/>
        </p:nvSpPr>
        <p:spPr>
          <a:xfrm>
            <a:off x="4572000" y="5349240"/>
            <a:ext cx="3200400" cy="77724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Replaces the program in the process with a new one. The PID stays the same; it never returns on success.</a:t>
            </a:r>
            <a:endParaRPr lang="en-US" sz="1300" dirty="0"/>
          </a:p>
        </p:txBody>
      </p:sp>
      <p:sp>
        <p:nvSpPr>
          <p:cNvPr id="36" name="Shape 34"/>
          <p:cNvSpPr/>
          <p:nvPr/>
        </p:nvSpPr>
        <p:spPr>
          <a:xfrm>
            <a:off x="8138160" y="4709160"/>
            <a:ext cx="352044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7" name="Text 35"/>
          <p:cNvSpPr txBox="1"/>
          <p:nvPr/>
        </p:nvSpPr>
        <p:spPr>
          <a:xfrm>
            <a:off x="8366760" y="489204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wait()</a:t>
            </a:r>
            <a:endParaRPr lang="en-US" sz="1500" dirty="0"/>
          </a:p>
        </p:txBody>
      </p:sp>
      <p:sp>
        <p:nvSpPr>
          <p:cNvPr id="38" name="Text 36"/>
          <p:cNvSpPr txBox="1"/>
          <p:nvPr/>
        </p:nvSpPr>
        <p:spPr>
          <a:xfrm>
            <a:off x="8366760" y="5349240"/>
            <a:ext cx="3063240" cy="77724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Parent sleeps until a child ends, then collects its exit status.</a:t>
            </a:r>
            <a:endParaRPr lang="en-US" sz="1300" dirty="0"/>
          </a:p>
        </p:txBody>
      </p:sp>
      <p:sp>
        <p:nvSpPr>
          <p:cNvPr id="39" name="Shape 37"/>
          <p:cNvSpPr/>
          <p:nvPr/>
        </p:nvSpPr>
        <p:spPr>
          <a:xfrm>
            <a:off x="9326880" y="1508760"/>
            <a:ext cx="2331720" cy="2971800"/>
          </a:xfrm>
          <a:prstGeom prst="roundRect">
            <a:avLst>
              <a:gd name="adj" fmla="val 2353"/>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40" name="Text 38"/>
          <p:cNvSpPr txBox="1"/>
          <p:nvPr/>
        </p:nvSpPr>
        <p:spPr>
          <a:xfrm>
            <a:off x="9555480" y="1508760"/>
            <a:ext cx="1874520" cy="29718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Windows does both steps in one call: CreateProcess().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3: fork, exec and wait in C</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33</a:t>
            </a:r>
            <a:endParaRPr lang="en-US" sz="900" dirty="0"/>
          </a:p>
        </p:txBody>
      </p:sp>
      <p:sp>
        <p:nvSpPr>
          <p:cNvPr id="6" name="Shape 4"/>
          <p:cNvSpPr/>
          <p:nvPr/>
        </p:nvSpPr>
        <p:spPr>
          <a:xfrm>
            <a:off x="548640" y="1508760"/>
            <a:ext cx="6583680" cy="4754880"/>
          </a:xfrm>
          <a:prstGeom prst="roundRect">
            <a:avLst>
              <a:gd name="adj" fmla="val 962"/>
            </a:avLst>
          </a:prstGeom>
          <a:solidFill>
            <a:srgbClr val="212121"/>
          </a:solidFill>
          <a:ln/>
        </p:spPr>
        <p:txBody>
          <a:bodyPr/>
          <a:p/>
        </p:txBody>
      </p:sp>
      <p:sp>
        <p:nvSpPr>
          <p:cNvPr id="7" name="Text 5"/>
          <p:cNvSpPr txBox="1"/>
          <p:nvPr/>
        </p:nvSpPr>
        <p:spPr>
          <a:xfrm>
            <a:off x="731520" y="1618488"/>
            <a:ext cx="6217920" cy="4535424"/>
          </a:xfrm>
          <a:prstGeom prst="rect">
            <a:avLst/>
          </a:prstGeom>
          <a:noFill/>
          <a:ln/>
        </p:spPr>
        <p:txBody>
          <a:bodyPr wrap="square" lIns="0" tIns="0" rIns="0" bIns="0" rtlCol="0" anchor="t"/>
          <a:lstStyle/>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int main(void)</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printf("parent: my PID is %d\n", getpid());</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fflush(stdout);            /* empty the buffer BEFORE fork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pid_t pid = fork();        /* one process calls, two return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if (pid == 0) {            /* ---- child: fork returned 0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printf("child : PID %d, my parent is %d\n",</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getpid(), getppid());</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fflush(stdout);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char list[32];         /* "parent,child" for ps -p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snprintf(list, sizeof list, "%d,%d", getppid(), getpid());</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execlp("ps", "ps", "-o", "pid,ppid,stat,comm",</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 list, NULL);   /* replaces this program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exit(127);             /* reached only if exec failed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int status;                /* ---- parent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waitpid(pid, &amp;status, 0);  /* sleep until child ends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printf("parent: child %d finished, exit status %d\n",</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pid, WEXITSTATUS(status));</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full program, with error checks: code/fork_exec_wait.c */</a:t>
            </a:r>
            <a:endParaRPr lang="en-US" sz="1050" dirty="0"/>
          </a:p>
        </p:txBody>
      </p:sp>
      <p:sp>
        <p:nvSpPr>
          <p:cNvPr id="8" name="Shape 6"/>
          <p:cNvSpPr/>
          <p:nvPr/>
        </p:nvSpPr>
        <p:spPr>
          <a:xfrm>
            <a:off x="7406640" y="1508760"/>
            <a:ext cx="42519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635240" y="1691640"/>
            <a:ext cx="3794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635240" y="2148840"/>
            <a:ext cx="3794760" cy="14630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Same if-test, two answers: the child sees 0, the parent the child's PID.</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ps lists PID 32269 as "ps": exec kept the PID.</a:t>
            </a:r>
            <a:endParaRPr lang="en-US" sz="1300" dirty="0"/>
          </a:p>
        </p:txBody>
      </p:sp>
      <p:sp>
        <p:nvSpPr>
          <p:cNvPr id="11" name="Shape 9"/>
          <p:cNvSpPr/>
          <p:nvPr/>
        </p:nvSpPr>
        <p:spPr>
          <a:xfrm>
            <a:off x="7406640" y="3977640"/>
            <a:ext cx="4251960" cy="2286000"/>
          </a:xfrm>
          <a:prstGeom prst="roundRect">
            <a:avLst>
              <a:gd name="adj" fmla="val 2000"/>
            </a:avLst>
          </a:prstGeom>
          <a:solidFill>
            <a:srgbClr val="212121"/>
          </a:solidFill>
          <a:ln/>
        </p:spPr>
        <p:txBody>
          <a:bodyPr/>
          <a:p/>
        </p:txBody>
      </p:sp>
      <p:sp>
        <p:nvSpPr>
          <p:cNvPr id="12" name="Text 10"/>
          <p:cNvSpPr txBox="1"/>
          <p:nvPr/>
        </p:nvSpPr>
        <p:spPr>
          <a:xfrm>
            <a:off x="7589520" y="4087368"/>
            <a:ext cx="3886200" cy="2066544"/>
          </a:xfrm>
          <a:prstGeom prst="rect">
            <a:avLst/>
          </a:prstGeom>
          <a:noFill/>
          <a:ln/>
        </p:spPr>
        <p:txBody>
          <a:bodyPr wrap="square" lIns="0" tIns="0" rIns="0" bIns="0" rtlCol="0" anchor="t"/>
          <a:lstStyle/>
          <a:p>
            <a:pPr indent="0" marL="0">
              <a:lnSpc>
                <a:spcPct val="105000"/>
              </a:lnSpc>
              <a:buNone/>
            </a:pPr>
            <a:r>
              <a:rPr lang="en-US" sz="1000" dirty="0">
                <a:solidFill>
                  <a:srgbClr val="02C39A"/>
                </a:solidFill>
                <a:latin typeface="Consolas" pitchFamily="34" charset="0"/>
                <a:ea typeface="Consolas" pitchFamily="34" charset="-122"/>
                <a:cs typeface="Consolas" pitchFamily="34" charset="-120"/>
              </a:rPr>
              <a:t>$ ./fork_exec_wait</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parent: my PID is 32268</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child : PID 32269, my parent is 32268</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  PID  PPID STAT COMMAND</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32268 32251 S    fork_exec_wait</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32269 32268 R    ps</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parent: child 32269 finished,</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        exit status 0</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 CREATION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Process Tree and Process IDs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34</a:t>
            </a:r>
            <a:endParaRPr lang="en-US" sz="900" dirty="0"/>
          </a:p>
        </p:txBody>
      </p:sp>
      <p:sp>
        <p:nvSpPr>
          <p:cNvPr id="6" name="Shape 4"/>
          <p:cNvSpPr/>
          <p:nvPr/>
        </p:nvSpPr>
        <p:spPr>
          <a:xfrm>
            <a:off x="2743200" y="1600200"/>
            <a:ext cx="1737360" cy="548640"/>
          </a:xfrm>
          <a:prstGeom prst="roundRect">
            <a:avLst>
              <a:gd name="adj" fmla="val 8333"/>
            </a:avLst>
          </a:prstGeom>
          <a:solidFill>
            <a:srgbClr val="36454F"/>
          </a:solidFill>
          <a:ln/>
        </p:spPr>
        <p:txBody>
          <a:bodyPr/>
          <a:p/>
        </p:txBody>
      </p:sp>
      <p:sp>
        <p:nvSpPr>
          <p:cNvPr id="7" name="Text 5"/>
          <p:cNvSpPr txBox="1"/>
          <p:nvPr/>
        </p:nvSpPr>
        <p:spPr>
          <a:xfrm>
            <a:off x="2743200" y="160020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systemd (1)</a:t>
            </a:r>
            <a:endParaRPr lang="en-US" sz="1200" dirty="0"/>
          </a:p>
        </p:txBody>
      </p:sp>
      <p:sp>
        <p:nvSpPr>
          <p:cNvPr id="8" name="Shape 6"/>
          <p:cNvSpPr/>
          <p:nvPr/>
        </p:nvSpPr>
        <p:spPr>
          <a:xfrm>
            <a:off x="548640" y="2606040"/>
            <a:ext cx="1737360" cy="548640"/>
          </a:xfrm>
          <a:prstGeom prst="roundRect">
            <a:avLst>
              <a:gd name="adj" fmla="val 8333"/>
            </a:avLst>
          </a:prstGeom>
          <a:solidFill>
            <a:srgbClr val="F2F2F2"/>
          </a:solidFill>
          <a:ln/>
        </p:spPr>
        <p:txBody>
          <a:bodyPr/>
          <a:p/>
        </p:txBody>
      </p:sp>
      <p:sp>
        <p:nvSpPr>
          <p:cNvPr id="9" name="Text 7"/>
          <p:cNvSpPr txBox="1"/>
          <p:nvPr/>
        </p:nvSpPr>
        <p:spPr>
          <a:xfrm>
            <a:off x="548640" y="260604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cron (640)</a:t>
            </a:r>
            <a:endParaRPr lang="en-US" sz="1200" dirty="0"/>
          </a:p>
        </p:txBody>
      </p:sp>
      <p:sp>
        <p:nvSpPr>
          <p:cNvPr id="10" name="Shape 8"/>
          <p:cNvSpPr/>
          <p:nvPr/>
        </p:nvSpPr>
        <p:spPr>
          <a:xfrm flipH="1">
            <a:off x="1417320" y="2167128"/>
            <a:ext cx="2194560" cy="420624"/>
          </a:xfrm>
          <a:prstGeom prst="line">
            <a:avLst/>
          </a:prstGeom>
          <a:noFill/>
          <a:ln w="19050">
            <a:solidFill>
              <a:srgbClr val="50808E"/>
            </a:solidFill>
            <a:prstDash val="solid"/>
            <a:tailEnd type="triangle"/>
          </a:ln>
        </p:spPr>
        <p:txBody>
          <a:bodyPr/>
          <a:p/>
        </p:txBody>
      </p:sp>
      <p:sp>
        <p:nvSpPr>
          <p:cNvPr id="11" name="Shape 9"/>
          <p:cNvSpPr/>
          <p:nvPr/>
        </p:nvSpPr>
        <p:spPr>
          <a:xfrm>
            <a:off x="2743200" y="2606040"/>
            <a:ext cx="1737360" cy="548640"/>
          </a:xfrm>
          <a:prstGeom prst="roundRect">
            <a:avLst>
              <a:gd name="adj" fmla="val 8333"/>
            </a:avLst>
          </a:prstGeom>
          <a:solidFill>
            <a:srgbClr val="F2F2F2"/>
          </a:solidFill>
          <a:ln/>
        </p:spPr>
        <p:txBody>
          <a:bodyPr/>
          <a:p/>
        </p:txBody>
      </p:sp>
      <p:sp>
        <p:nvSpPr>
          <p:cNvPr id="12" name="Text 10"/>
          <p:cNvSpPr txBox="1"/>
          <p:nvPr/>
        </p:nvSpPr>
        <p:spPr>
          <a:xfrm>
            <a:off x="2743200" y="260604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sshd (812)</a:t>
            </a:r>
            <a:endParaRPr lang="en-US" sz="1200" dirty="0"/>
          </a:p>
        </p:txBody>
      </p:sp>
      <p:sp>
        <p:nvSpPr>
          <p:cNvPr id="13" name="Shape 11"/>
          <p:cNvSpPr/>
          <p:nvPr/>
        </p:nvSpPr>
        <p:spPr>
          <a:xfrm>
            <a:off x="3611880" y="2167128"/>
            <a:ext cx="91" cy="420624"/>
          </a:xfrm>
          <a:prstGeom prst="line">
            <a:avLst/>
          </a:prstGeom>
          <a:noFill/>
          <a:ln w="19050">
            <a:solidFill>
              <a:srgbClr val="50808E"/>
            </a:solidFill>
            <a:prstDash val="solid"/>
            <a:tailEnd type="triangle"/>
          </a:ln>
        </p:spPr>
        <p:txBody>
          <a:bodyPr/>
          <a:p/>
        </p:txBody>
      </p:sp>
      <p:sp>
        <p:nvSpPr>
          <p:cNvPr id="14" name="Shape 12"/>
          <p:cNvSpPr/>
          <p:nvPr/>
        </p:nvSpPr>
        <p:spPr>
          <a:xfrm>
            <a:off x="4937760" y="2606040"/>
            <a:ext cx="1737360" cy="548640"/>
          </a:xfrm>
          <a:prstGeom prst="roundRect">
            <a:avLst>
              <a:gd name="adj" fmla="val 8333"/>
            </a:avLst>
          </a:prstGeom>
          <a:solidFill>
            <a:srgbClr val="F2F2F2"/>
          </a:solidFill>
          <a:ln/>
        </p:spPr>
        <p:txBody>
          <a:bodyPr/>
          <a:p/>
        </p:txBody>
      </p:sp>
      <p:sp>
        <p:nvSpPr>
          <p:cNvPr id="15" name="Text 13"/>
          <p:cNvSpPr txBox="1"/>
          <p:nvPr/>
        </p:nvSpPr>
        <p:spPr>
          <a:xfrm>
            <a:off x="4937760" y="260604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login (900)</a:t>
            </a:r>
            <a:endParaRPr lang="en-US" sz="1200" dirty="0"/>
          </a:p>
        </p:txBody>
      </p:sp>
      <p:sp>
        <p:nvSpPr>
          <p:cNvPr id="16" name="Shape 14"/>
          <p:cNvSpPr/>
          <p:nvPr/>
        </p:nvSpPr>
        <p:spPr>
          <a:xfrm>
            <a:off x="3611880" y="2167128"/>
            <a:ext cx="2194560" cy="420624"/>
          </a:xfrm>
          <a:prstGeom prst="line">
            <a:avLst/>
          </a:prstGeom>
          <a:noFill/>
          <a:ln w="19050">
            <a:solidFill>
              <a:srgbClr val="50808E"/>
            </a:solidFill>
            <a:prstDash val="solid"/>
            <a:tailEnd type="triangle"/>
          </a:ln>
        </p:spPr>
        <p:txBody>
          <a:bodyPr/>
          <a:p/>
        </p:txBody>
      </p:sp>
      <p:sp>
        <p:nvSpPr>
          <p:cNvPr id="17" name="Shape 15"/>
          <p:cNvSpPr/>
          <p:nvPr/>
        </p:nvSpPr>
        <p:spPr>
          <a:xfrm>
            <a:off x="2743200" y="3611880"/>
            <a:ext cx="1737360" cy="548640"/>
          </a:xfrm>
          <a:prstGeom prst="roundRect">
            <a:avLst>
              <a:gd name="adj" fmla="val 8333"/>
            </a:avLst>
          </a:prstGeom>
          <a:solidFill>
            <a:srgbClr val="F2F2F2"/>
          </a:solidFill>
          <a:ln/>
        </p:spPr>
        <p:txBody>
          <a:bodyPr/>
          <a:p/>
        </p:txBody>
      </p:sp>
      <p:sp>
        <p:nvSpPr>
          <p:cNvPr id="18" name="Text 16"/>
          <p:cNvSpPr txBox="1"/>
          <p:nvPr/>
        </p:nvSpPr>
        <p:spPr>
          <a:xfrm>
            <a:off x="2743200" y="361188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sshd (2201)</a:t>
            </a:r>
            <a:endParaRPr lang="en-US" sz="1200" dirty="0"/>
          </a:p>
        </p:txBody>
      </p:sp>
      <p:sp>
        <p:nvSpPr>
          <p:cNvPr id="19" name="Shape 17"/>
          <p:cNvSpPr/>
          <p:nvPr/>
        </p:nvSpPr>
        <p:spPr>
          <a:xfrm>
            <a:off x="3611880" y="3172968"/>
            <a:ext cx="91" cy="420624"/>
          </a:xfrm>
          <a:prstGeom prst="line">
            <a:avLst/>
          </a:prstGeom>
          <a:noFill/>
          <a:ln w="19050">
            <a:solidFill>
              <a:srgbClr val="50808E"/>
            </a:solidFill>
            <a:prstDash val="solid"/>
            <a:tailEnd type="triangle"/>
          </a:ln>
        </p:spPr>
        <p:txBody>
          <a:bodyPr/>
          <a:p/>
        </p:txBody>
      </p:sp>
      <p:sp>
        <p:nvSpPr>
          <p:cNvPr id="20" name="Shape 18"/>
          <p:cNvSpPr/>
          <p:nvPr/>
        </p:nvSpPr>
        <p:spPr>
          <a:xfrm>
            <a:off x="2743200" y="4617720"/>
            <a:ext cx="1737360" cy="548640"/>
          </a:xfrm>
          <a:prstGeom prst="roundRect">
            <a:avLst>
              <a:gd name="adj" fmla="val 8333"/>
            </a:avLst>
          </a:prstGeom>
          <a:solidFill>
            <a:srgbClr val="D7E9E6"/>
          </a:solidFill>
          <a:ln/>
        </p:spPr>
        <p:txBody>
          <a:bodyPr/>
          <a:p/>
        </p:txBody>
      </p:sp>
      <p:sp>
        <p:nvSpPr>
          <p:cNvPr id="21" name="Text 19"/>
          <p:cNvSpPr txBox="1"/>
          <p:nvPr/>
        </p:nvSpPr>
        <p:spPr>
          <a:xfrm>
            <a:off x="2743200" y="461772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onsolas" pitchFamily="34" charset="0"/>
                <a:ea typeface="Consolas" pitchFamily="34" charset="-122"/>
                <a:cs typeface="Consolas" pitchFamily="34" charset="-120"/>
              </a:rPr>
              <a:t>bash (2210)</a:t>
            </a:r>
            <a:endParaRPr lang="en-US" sz="1200" dirty="0"/>
          </a:p>
        </p:txBody>
      </p:sp>
      <p:sp>
        <p:nvSpPr>
          <p:cNvPr id="22" name="Shape 20"/>
          <p:cNvSpPr/>
          <p:nvPr/>
        </p:nvSpPr>
        <p:spPr>
          <a:xfrm>
            <a:off x="3611880" y="4178808"/>
            <a:ext cx="91" cy="420624"/>
          </a:xfrm>
          <a:prstGeom prst="line">
            <a:avLst/>
          </a:prstGeom>
          <a:noFill/>
          <a:ln w="19050">
            <a:solidFill>
              <a:srgbClr val="50808E"/>
            </a:solidFill>
            <a:prstDash val="solid"/>
            <a:tailEnd type="triangle"/>
          </a:ln>
        </p:spPr>
        <p:txBody>
          <a:bodyPr/>
          <a:p/>
        </p:txBody>
      </p:sp>
      <p:sp>
        <p:nvSpPr>
          <p:cNvPr id="23" name="Shape 21"/>
          <p:cNvSpPr/>
          <p:nvPr/>
        </p:nvSpPr>
        <p:spPr>
          <a:xfrm>
            <a:off x="1645920" y="5623560"/>
            <a:ext cx="1737360" cy="548640"/>
          </a:xfrm>
          <a:prstGeom prst="roundRect">
            <a:avLst>
              <a:gd name="adj" fmla="val 8333"/>
            </a:avLst>
          </a:prstGeom>
          <a:solidFill>
            <a:srgbClr val="02C39A"/>
          </a:solidFill>
          <a:ln/>
        </p:spPr>
        <p:txBody>
          <a:bodyPr/>
          <a:p/>
        </p:txBody>
      </p:sp>
      <p:sp>
        <p:nvSpPr>
          <p:cNvPr id="24" name="Text 22"/>
          <p:cNvSpPr txBox="1"/>
          <p:nvPr/>
        </p:nvSpPr>
        <p:spPr>
          <a:xfrm>
            <a:off x="1645920" y="562356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vim (2275)</a:t>
            </a:r>
            <a:endParaRPr lang="en-US" sz="1200" dirty="0"/>
          </a:p>
        </p:txBody>
      </p:sp>
      <p:sp>
        <p:nvSpPr>
          <p:cNvPr id="25" name="Shape 23"/>
          <p:cNvSpPr/>
          <p:nvPr/>
        </p:nvSpPr>
        <p:spPr>
          <a:xfrm>
            <a:off x="3840480" y="5623560"/>
            <a:ext cx="1737360" cy="548640"/>
          </a:xfrm>
          <a:prstGeom prst="roundRect">
            <a:avLst>
              <a:gd name="adj" fmla="val 8333"/>
            </a:avLst>
          </a:prstGeom>
          <a:solidFill>
            <a:srgbClr val="02C39A"/>
          </a:solidFill>
          <a:ln/>
        </p:spPr>
        <p:txBody>
          <a:bodyPr/>
          <a:p/>
        </p:txBody>
      </p:sp>
      <p:sp>
        <p:nvSpPr>
          <p:cNvPr id="26" name="Text 24"/>
          <p:cNvSpPr txBox="1"/>
          <p:nvPr/>
        </p:nvSpPr>
        <p:spPr>
          <a:xfrm>
            <a:off x="3840480" y="562356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ps (2290)</a:t>
            </a:r>
            <a:endParaRPr lang="en-US" sz="1200" dirty="0"/>
          </a:p>
        </p:txBody>
      </p:sp>
      <p:sp>
        <p:nvSpPr>
          <p:cNvPr id="27" name="Shape 25"/>
          <p:cNvSpPr/>
          <p:nvPr/>
        </p:nvSpPr>
        <p:spPr>
          <a:xfrm flipH="1">
            <a:off x="2514600" y="5184648"/>
            <a:ext cx="1097280" cy="420624"/>
          </a:xfrm>
          <a:prstGeom prst="line">
            <a:avLst/>
          </a:prstGeom>
          <a:noFill/>
          <a:ln w="19050">
            <a:solidFill>
              <a:srgbClr val="50808E"/>
            </a:solidFill>
            <a:prstDash val="solid"/>
            <a:tailEnd type="triangle"/>
          </a:ln>
        </p:spPr>
        <p:txBody>
          <a:bodyPr/>
          <a:p/>
        </p:txBody>
      </p:sp>
      <p:sp>
        <p:nvSpPr>
          <p:cNvPr id="28" name="Shape 26"/>
          <p:cNvSpPr/>
          <p:nvPr/>
        </p:nvSpPr>
        <p:spPr>
          <a:xfrm>
            <a:off x="3611880" y="5184648"/>
            <a:ext cx="1097280" cy="420624"/>
          </a:xfrm>
          <a:prstGeom prst="line">
            <a:avLst/>
          </a:prstGeom>
          <a:noFill/>
          <a:ln w="19050">
            <a:solidFill>
              <a:srgbClr val="50808E"/>
            </a:solidFill>
            <a:prstDash val="solid"/>
            <a:tailEnd type="triangle"/>
          </a:ln>
        </p:spPr>
        <p:txBody>
          <a:bodyPr/>
          <a:p/>
        </p:txBody>
      </p:sp>
      <p:sp>
        <p:nvSpPr>
          <p:cNvPr id="29" name="Text 27"/>
          <p:cNvSpPr txBox="1"/>
          <p:nvPr/>
        </p:nvSpPr>
        <p:spPr>
          <a:xfrm>
            <a:off x="548640" y="6217920"/>
            <a:ext cx="603504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typical Linux server (PIDs illustrative)</a:t>
            </a:r>
            <a:endParaRPr lang="en-US" sz="1100" dirty="0"/>
          </a:p>
        </p:txBody>
      </p:sp>
      <p:sp>
        <p:nvSpPr>
          <p:cNvPr id="30" name="Shape 28"/>
          <p:cNvSpPr/>
          <p:nvPr/>
        </p:nvSpPr>
        <p:spPr>
          <a:xfrm>
            <a:off x="6949440" y="1508760"/>
            <a:ext cx="4709160" cy="1600200"/>
          </a:xfrm>
          <a:prstGeom prst="roundRect">
            <a:avLst>
              <a:gd name="adj" fmla="val 2857"/>
            </a:avLst>
          </a:prstGeom>
          <a:solidFill>
            <a:srgbClr val="212121"/>
          </a:solidFill>
          <a:ln/>
        </p:spPr>
        <p:txBody>
          <a:bodyPr/>
          <a:p/>
        </p:txBody>
      </p:sp>
      <p:sp>
        <p:nvSpPr>
          <p:cNvPr id="31" name="Text 29"/>
          <p:cNvSpPr txBox="1"/>
          <p:nvPr/>
        </p:nvSpPr>
        <p:spPr>
          <a:xfrm>
            <a:off x="7132320" y="1618488"/>
            <a:ext cx="4343400" cy="1380744"/>
          </a:xfrm>
          <a:prstGeom prst="rect">
            <a:avLst/>
          </a:prstGeom>
          <a:noFill/>
          <a:ln/>
        </p:spPr>
        <p:txBody>
          <a:bodyPr wrap="square" lIns="0" tIns="0" rIns="0" bIns="0" rtlCol="0" anchor="t"/>
          <a:lstStyle/>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bash -c 'sleep 5 &amp; sleep 5 &amp; pstree -p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bash(6297)-+-pstree(6300)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|-sleep(6298)</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`-sleep(6299)</a:t>
            </a:r>
            <a:endParaRPr lang="en-US" sz="1100" dirty="0"/>
          </a:p>
        </p:txBody>
      </p:sp>
      <p:sp>
        <p:nvSpPr>
          <p:cNvPr id="32" name="Shape 30"/>
          <p:cNvSpPr/>
          <p:nvPr/>
        </p:nvSpPr>
        <p:spPr>
          <a:xfrm>
            <a:off x="6949440" y="3291840"/>
            <a:ext cx="470916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3" name="Text 31"/>
          <p:cNvSpPr txBox="1"/>
          <p:nvPr/>
        </p:nvSpPr>
        <p:spPr>
          <a:xfrm>
            <a:off x="7178040" y="3474720"/>
            <a:ext cx="4251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Process identifiers</a:t>
            </a:r>
            <a:endParaRPr lang="en-US" sz="1500" dirty="0"/>
          </a:p>
        </p:txBody>
      </p:sp>
      <p:sp>
        <p:nvSpPr>
          <p:cNvPr id="34" name="Text 32"/>
          <p:cNvSpPr txBox="1"/>
          <p:nvPr/>
        </p:nvSpPr>
        <p:spPr>
          <a:xfrm>
            <a:off x="7178040" y="3931920"/>
            <a:ext cx="4251960" cy="21945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Every process has a unique PID and knows its parent's PID (PPID).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PID 1 (systemd or init) is started by the kernel at boot: the ancestor of all user processes.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PIDs are reused after a process ends; the upper limit is in /proc/sys/kernel/pid_max.</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 TERMINATION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Zombies and Orphans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When a process ends, its PCB entry must survive until someone collects the exit status.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35</a:t>
            </a:r>
            <a:endParaRPr lang="en-US" sz="900" dirty="0"/>
          </a:p>
        </p:txBody>
      </p:sp>
      <p:sp>
        <p:nvSpPr>
          <p:cNvPr id="7" name="Shape 5"/>
          <p:cNvSpPr/>
          <p:nvPr/>
        </p:nvSpPr>
        <p:spPr>
          <a:xfrm>
            <a:off x="548640" y="210312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Zombie</a:t>
            </a:r>
            <a:endParaRPr lang="en-US" sz="1500" dirty="0"/>
          </a:p>
        </p:txBody>
      </p:sp>
      <p:sp>
        <p:nvSpPr>
          <p:cNvPr id="9" name="Text 7"/>
          <p:cNvSpPr txBox="1"/>
          <p:nvPr/>
        </p:nvSpPr>
        <p:spPr>
          <a:xfrm>
            <a:off x="777240" y="2743200"/>
            <a:ext cx="4983480" cy="16002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child has terminated, but its parent has not called wait() yet.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Memory is freed; only the PCB entry (PID, exit status) remains.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Many zombies can use up all PIDs.</a:t>
            </a:r>
            <a:endParaRPr lang="en-US" sz="1400" dirty="0"/>
          </a:p>
        </p:txBody>
      </p:sp>
      <p:sp>
        <p:nvSpPr>
          <p:cNvPr id="10" name="Shape 8"/>
          <p:cNvSpPr/>
          <p:nvPr/>
        </p:nvSpPr>
        <p:spPr>
          <a:xfrm>
            <a:off x="6217920" y="210312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Orphan</a:t>
            </a:r>
            <a:endParaRPr lang="en-US" sz="1500" dirty="0"/>
          </a:p>
        </p:txBody>
      </p:sp>
      <p:sp>
        <p:nvSpPr>
          <p:cNvPr id="12" name="Text 10"/>
          <p:cNvSpPr txBox="1"/>
          <p:nvPr/>
        </p:nvSpPr>
        <p:spPr>
          <a:xfrm>
            <a:off x="6446520" y="2743200"/>
            <a:ext cx="4983480" cy="16002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parent terminated first, while the child still runs.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Linux re-parents it to PID 1 (or a "subreaper"), which calls wait() for 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Some systems instead kill all children (cascading termination).</a:t>
            </a:r>
            <a:endParaRPr lang="en-US" sz="1400" dirty="0"/>
          </a:p>
        </p:txBody>
      </p:sp>
      <p:sp>
        <p:nvSpPr>
          <p:cNvPr id="13" name="Shape 11"/>
          <p:cNvSpPr/>
          <p:nvPr/>
        </p:nvSpPr>
        <p:spPr>
          <a:xfrm>
            <a:off x="548640" y="4663440"/>
            <a:ext cx="6766560" cy="1600200"/>
          </a:xfrm>
          <a:prstGeom prst="roundRect">
            <a:avLst>
              <a:gd name="adj" fmla="val 2857"/>
            </a:avLst>
          </a:prstGeom>
          <a:solidFill>
            <a:srgbClr val="212121"/>
          </a:solidFill>
          <a:ln/>
        </p:spPr>
        <p:txBody>
          <a:bodyPr/>
          <a:p/>
        </p:txBody>
      </p:sp>
      <p:sp>
        <p:nvSpPr>
          <p:cNvPr id="14" name="Text 12"/>
          <p:cNvSpPr txBox="1"/>
          <p:nvPr/>
        </p:nvSpPr>
        <p:spPr>
          <a:xfrm>
            <a:off x="731520" y="4773168"/>
            <a:ext cx="6400800" cy="1380744"/>
          </a:xfrm>
          <a:prstGeom prst="rect">
            <a:avLst/>
          </a:prstGeom>
          <a:noFill/>
          <a:ln/>
        </p:spPr>
        <p:txBody>
          <a:bodyPr wrap="square" lIns="0" tIns="0" rIns="0" bIns="0" rtlCol="0" anchor="t"/>
          <a:lstStyle/>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sh -c 'sleep 1 &amp; exec sleep 4' &amp;      # then, 2 s later:</a:t>
            </a:r>
            <a:endParaRPr lang="en-US" sz="1100" dirty="0"/>
          </a:p>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ps -o pid,ppid,stat,cmd -p 6385 --ppid 6385</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PID  PPID STAT CMD</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6385  6384 S    sleep 4</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6387  6385 Z    [sleep] &lt;defunct&gt;</a:t>
            </a:r>
            <a:endParaRPr lang="en-US" sz="1100" dirty="0"/>
          </a:p>
        </p:txBody>
      </p:sp>
      <p:sp>
        <p:nvSpPr>
          <p:cNvPr id="15" name="Shape 13"/>
          <p:cNvSpPr/>
          <p:nvPr/>
        </p:nvSpPr>
        <p:spPr>
          <a:xfrm>
            <a:off x="7543800" y="4663440"/>
            <a:ext cx="4114800" cy="1600200"/>
          </a:xfrm>
          <a:prstGeom prst="roundRect">
            <a:avLst>
              <a:gd name="adj" fmla="val 342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0" y="4663440"/>
            <a:ext cx="3657600" cy="16002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sleep 4 never calls wait(), so its finished child stays a zombie (state Z).</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EXERCISE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How Many Processes After n Calls to fork()?</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36</a:t>
            </a:r>
            <a:endParaRPr lang="en-US" sz="900" dirty="0"/>
          </a:p>
        </p:txBody>
      </p:sp>
      <p:sp>
        <p:nvSpPr>
          <p:cNvPr id="6" name="Shape 4"/>
          <p:cNvSpPr/>
          <p:nvPr/>
        </p:nvSpPr>
        <p:spPr>
          <a:xfrm flipH="1">
            <a:off x="1303020" y="2075688"/>
            <a:ext cx="2194560" cy="557784"/>
          </a:xfrm>
          <a:prstGeom prst="line">
            <a:avLst/>
          </a:prstGeom>
          <a:noFill/>
          <a:ln w="15875">
            <a:solidFill>
              <a:srgbClr val="36454F"/>
            </a:solidFill>
            <a:prstDash val="solid"/>
            <a:tailEnd type="triangle"/>
          </a:ln>
        </p:spPr>
        <p:txBody>
          <a:bodyPr/>
          <a:p/>
        </p:txBody>
      </p:sp>
      <p:sp>
        <p:nvSpPr>
          <p:cNvPr id="7" name="Shape 5"/>
          <p:cNvSpPr/>
          <p:nvPr/>
        </p:nvSpPr>
        <p:spPr>
          <a:xfrm>
            <a:off x="3497580" y="2075688"/>
            <a:ext cx="91" cy="557784"/>
          </a:xfrm>
          <a:prstGeom prst="line">
            <a:avLst/>
          </a:prstGeom>
          <a:noFill/>
          <a:ln w="15875">
            <a:solidFill>
              <a:srgbClr val="028090"/>
            </a:solidFill>
            <a:prstDash val="solid"/>
            <a:tailEnd type="triangle"/>
          </a:ln>
        </p:spPr>
        <p:txBody>
          <a:bodyPr/>
          <a:p/>
        </p:txBody>
      </p:sp>
      <p:sp>
        <p:nvSpPr>
          <p:cNvPr id="8" name="Shape 6"/>
          <p:cNvSpPr/>
          <p:nvPr/>
        </p:nvSpPr>
        <p:spPr>
          <a:xfrm>
            <a:off x="3497580" y="2075688"/>
            <a:ext cx="2103120" cy="557784"/>
          </a:xfrm>
          <a:prstGeom prst="line">
            <a:avLst/>
          </a:prstGeom>
          <a:noFill/>
          <a:ln w="15875">
            <a:solidFill>
              <a:srgbClr val="C98A1B"/>
            </a:solidFill>
            <a:prstDash val="solid"/>
            <a:tailEnd type="triangle"/>
          </a:ln>
        </p:spPr>
        <p:txBody>
          <a:bodyPr/>
          <a:p/>
        </p:txBody>
      </p:sp>
      <p:sp>
        <p:nvSpPr>
          <p:cNvPr id="9" name="Shape 7"/>
          <p:cNvSpPr/>
          <p:nvPr/>
        </p:nvSpPr>
        <p:spPr>
          <a:xfrm flipH="1">
            <a:off x="1120140" y="3127248"/>
            <a:ext cx="182880" cy="557784"/>
          </a:xfrm>
          <a:prstGeom prst="line">
            <a:avLst/>
          </a:prstGeom>
          <a:noFill/>
          <a:ln w="15875">
            <a:solidFill>
              <a:srgbClr val="028090"/>
            </a:solidFill>
            <a:prstDash val="solid"/>
            <a:tailEnd type="triangle"/>
          </a:ln>
        </p:spPr>
        <p:txBody>
          <a:bodyPr/>
          <a:p/>
        </p:txBody>
      </p:sp>
      <p:sp>
        <p:nvSpPr>
          <p:cNvPr id="10" name="Shape 8"/>
          <p:cNvSpPr/>
          <p:nvPr/>
        </p:nvSpPr>
        <p:spPr>
          <a:xfrm>
            <a:off x="1303020" y="3127248"/>
            <a:ext cx="1097280" cy="557784"/>
          </a:xfrm>
          <a:prstGeom prst="line">
            <a:avLst/>
          </a:prstGeom>
          <a:noFill/>
          <a:ln w="15875">
            <a:solidFill>
              <a:srgbClr val="C98A1B"/>
            </a:solidFill>
            <a:prstDash val="solid"/>
            <a:tailEnd type="triangle"/>
          </a:ln>
        </p:spPr>
        <p:txBody>
          <a:bodyPr/>
          <a:p/>
        </p:txBody>
      </p:sp>
      <p:sp>
        <p:nvSpPr>
          <p:cNvPr id="11" name="Shape 9"/>
          <p:cNvSpPr/>
          <p:nvPr/>
        </p:nvSpPr>
        <p:spPr>
          <a:xfrm>
            <a:off x="3497580" y="3127248"/>
            <a:ext cx="91" cy="557784"/>
          </a:xfrm>
          <a:prstGeom prst="line">
            <a:avLst/>
          </a:prstGeom>
          <a:noFill/>
          <a:ln w="15875">
            <a:solidFill>
              <a:srgbClr val="C98A1B"/>
            </a:solidFill>
            <a:prstDash val="solid"/>
            <a:tailEnd type="triangle"/>
          </a:ln>
        </p:spPr>
        <p:txBody>
          <a:bodyPr/>
          <a:p/>
        </p:txBody>
      </p:sp>
      <p:sp>
        <p:nvSpPr>
          <p:cNvPr id="12" name="Shape 10"/>
          <p:cNvSpPr/>
          <p:nvPr/>
        </p:nvSpPr>
        <p:spPr>
          <a:xfrm>
            <a:off x="1120140" y="4178808"/>
            <a:ext cx="91" cy="557784"/>
          </a:xfrm>
          <a:prstGeom prst="line">
            <a:avLst/>
          </a:prstGeom>
          <a:noFill/>
          <a:ln w="15875">
            <a:solidFill>
              <a:srgbClr val="C98A1B"/>
            </a:solidFill>
            <a:prstDash val="solid"/>
            <a:tailEnd type="triangle"/>
          </a:ln>
        </p:spPr>
        <p:txBody>
          <a:bodyPr/>
          <a:p/>
        </p:txBody>
      </p:sp>
      <p:sp>
        <p:nvSpPr>
          <p:cNvPr id="13" name="Shape 11"/>
          <p:cNvSpPr/>
          <p:nvPr/>
        </p:nvSpPr>
        <p:spPr>
          <a:xfrm>
            <a:off x="2926080" y="1600200"/>
            <a:ext cx="1143000" cy="457200"/>
          </a:xfrm>
          <a:prstGeom prst="roundRect">
            <a:avLst>
              <a:gd name="adj" fmla="val 10000"/>
            </a:avLst>
          </a:prstGeom>
          <a:solidFill>
            <a:srgbClr val="36454F"/>
          </a:solidFill>
          <a:ln/>
        </p:spPr>
        <p:txBody>
          <a:bodyPr/>
          <a:p/>
        </p:txBody>
      </p:sp>
      <p:sp>
        <p:nvSpPr>
          <p:cNvPr id="14" name="Text 12"/>
          <p:cNvSpPr txBox="1"/>
          <p:nvPr/>
        </p:nvSpPr>
        <p:spPr>
          <a:xfrm>
            <a:off x="2926080" y="1600200"/>
            <a:ext cx="1143000"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1937</a:t>
            </a:r>
            <a:endParaRPr lang="en-US" sz="1200" dirty="0"/>
          </a:p>
        </p:txBody>
      </p:sp>
      <p:sp>
        <p:nvSpPr>
          <p:cNvPr id="15" name="Shape 13"/>
          <p:cNvSpPr/>
          <p:nvPr/>
        </p:nvSpPr>
        <p:spPr>
          <a:xfrm>
            <a:off x="731520" y="2651760"/>
            <a:ext cx="1143000" cy="457200"/>
          </a:xfrm>
          <a:prstGeom prst="roundRect">
            <a:avLst>
              <a:gd name="adj" fmla="val 10000"/>
            </a:avLst>
          </a:prstGeom>
          <a:solidFill>
            <a:srgbClr val="F2F2F2"/>
          </a:solidFill>
          <a:ln/>
        </p:spPr>
        <p:txBody>
          <a:bodyPr/>
          <a:p/>
        </p:txBody>
      </p:sp>
      <p:sp>
        <p:nvSpPr>
          <p:cNvPr id="16" name="Text 14"/>
          <p:cNvSpPr txBox="1"/>
          <p:nvPr/>
        </p:nvSpPr>
        <p:spPr>
          <a:xfrm>
            <a:off x="731520" y="2651760"/>
            <a:ext cx="114300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1938</a:t>
            </a:r>
            <a:endParaRPr lang="en-US" sz="1200" dirty="0"/>
          </a:p>
        </p:txBody>
      </p:sp>
      <p:sp>
        <p:nvSpPr>
          <p:cNvPr id="17" name="Shape 15"/>
          <p:cNvSpPr/>
          <p:nvPr/>
        </p:nvSpPr>
        <p:spPr>
          <a:xfrm>
            <a:off x="2926080" y="2651760"/>
            <a:ext cx="1143000" cy="457200"/>
          </a:xfrm>
          <a:prstGeom prst="roundRect">
            <a:avLst>
              <a:gd name="adj" fmla="val 10000"/>
            </a:avLst>
          </a:prstGeom>
          <a:solidFill>
            <a:srgbClr val="F2F2F2"/>
          </a:solidFill>
          <a:ln/>
        </p:spPr>
        <p:txBody>
          <a:bodyPr/>
          <a:p/>
        </p:txBody>
      </p:sp>
      <p:sp>
        <p:nvSpPr>
          <p:cNvPr id="18" name="Text 16"/>
          <p:cNvSpPr txBox="1"/>
          <p:nvPr/>
        </p:nvSpPr>
        <p:spPr>
          <a:xfrm>
            <a:off x="2926080" y="2651760"/>
            <a:ext cx="114300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1939</a:t>
            </a:r>
            <a:endParaRPr lang="en-US" sz="1200" dirty="0"/>
          </a:p>
        </p:txBody>
      </p:sp>
      <p:sp>
        <p:nvSpPr>
          <p:cNvPr id="19" name="Shape 17"/>
          <p:cNvSpPr/>
          <p:nvPr/>
        </p:nvSpPr>
        <p:spPr>
          <a:xfrm>
            <a:off x="5029200" y="2651760"/>
            <a:ext cx="1143000" cy="457200"/>
          </a:xfrm>
          <a:prstGeom prst="roundRect">
            <a:avLst>
              <a:gd name="adj" fmla="val 10000"/>
            </a:avLst>
          </a:prstGeom>
          <a:solidFill>
            <a:srgbClr val="F2F2F2"/>
          </a:solidFill>
          <a:ln/>
        </p:spPr>
        <p:txBody>
          <a:bodyPr/>
          <a:p/>
        </p:txBody>
      </p:sp>
      <p:sp>
        <p:nvSpPr>
          <p:cNvPr id="20" name="Text 18"/>
          <p:cNvSpPr txBox="1"/>
          <p:nvPr/>
        </p:nvSpPr>
        <p:spPr>
          <a:xfrm>
            <a:off x="5029200" y="2651760"/>
            <a:ext cx="114300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1940</a:t>
            </a:r>
            <a:endParaRPr lang="en-US" sz="1200" dirty="0"/>
          </a:p>
        </p:txBody>
      </p:sp>
      <p:sp>
        <p:nvSpPr>
          <p:cNvPr id="21" name="Shape 19"/>
          <p:cNvSpPr/>
          <p:nvPr/>
        </p:nvSpPr>
        <p:spPr>
          <a:xfrm>
            <a:off x="548640" y="3703320"/>
            <a:ext cx="1143000" cy="457200"/>
          </a:xfrm>
          <a:prstGeom prst="roundRect">
            <a:avLst>
              <a:gd name="adj" fmla="val 10000"/>
            </a:avLst>
          </a:prstGeom>
          <a:solidFill>
            <a:srgbClr val="F2F2F2"/>
          </a:solidFill>
          <a:ln/>
        </p:spPr>
        <p:txBody>
          <a:bodyPr/>
          <a:p/>
        </p:txBody>
      </p:sp>
      <p:sp>
        <p:nvSpPr>
          <p:cNvPr id="22" name="Text 20"/>
          <p:cNvSpPr txBox="1"/>
          <p:nvPr/>
        </p:nvSpPr>
        <p:spPr>
          <a:xfrm>
            <a:off x="548640" y="3703320"/>
            <a:ext cx="114300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1941</a:t>
            </a:r>
            <a:endParaRPr lang="en-US" sz="1200" dirty="0"/>
          </a:p>
        </p:txBody>
      </p:sp>
      <p:sp>
        <p:nvSpPr>
          <p:cNvPr id="23" name="Shape 21"/>
          <p:cNvSpPr/>
          <p:nvPr/>
        </p:nvSpPr>
        <p:spPr>
          <a:xfrm>
            <a:off x="1828800" y="3703320"/>
            <a:ext cx="1143000" cy="457200"/>
          </a:xfrm>
          <a:prstGeom prst="roundRect">
            <a:avLst>
              <a:gd name="adj" fmla="val 10000"/>
            </a:avLst>
          </a:prstGeom>
          <a:solidFill>
            <a:srgbClr val="F2F2F2"/>
          </a:solidFill>
          <a:ln/>
        </p:spPr>
        <p:txBody>
          <a:bodyPr/>
          <a:p/>
        </p:txBody>
      </p:sp>
      <p:sp>
        <p:nvSpPr>
          <p:cNvPr id="24" name="Text 22"/>
          <p:cNvSpPr txBox="1"/>
          <p:nvPr/>
        </p:nvSpPr>
        <p:spPr>
          <a:xfrm>
            <a:off x="1828800" y="3703320"/>
            <a:ext cx="114300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1943</a:t>
            </a:r>
            <a:endParaRPr lang="en-US" sz="1200" dirty="0"/>
          </a:p>
        </p:txBody>
      </p:sp>
      <p:sp>
        <p:nvSpPr>
          <p:cNvPr id="25" name="Shape 23"/>
          <p:cNvSpPr/>
          <p:nvPr/>
        </p:nvSpPr>
        <p:spPr>
          <a:xfrm>
            <a:off x="2926080" y="3703320"/>
            <a:ext cx="1143000" cy="457200"/>
          </a:xfrm>
          <a:prstGeom prst="roundRect">
            <a:avLst>
              <a:gd name="adj" fmla="val 10000"/>
            </a:avLst>
          </a:prstGeom>
          <a:solidFill>
            <a:srgbClr val="F2F2F2"/>
          </a:solidFill>
          <a:ln/>
        </p:spPr>
        <p:txBody>
          <a:bodyPr/>
          <a:p/>
        </p:txBody>
      </p:sp>
      <p:sp>
        <p:nvSpPr>
          <p:cNvPr id="26" name="Text 24"/>
          <p:cNvSpPr txBox="1"/>
          <p:nvPr/>
        </p:nvSpPr>
        <p:spPr>
          <a:xfrm>
            <a:off x="2926080" y="3703320"/>
            <a:ext cx="114300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1942</a:t>
            </a:r>
            <a:endParaRPr lang="en-US" sz="1200" dirty="0"/>
          </a:p>
        </p:txBody>
      </p:sp>
      <p:sp>
        <p:nvSpPr>
          <p:cNvPr id="27" name="Shape 25"/>
          <p:cNvSpPr/>
          <p:nvPr/>
        </p:nvSpPr>
        <p:spPr>
          <a:xfrm>
            <a:off x="548640" y="4754880"/>
            <a:ext cx="1143000" cy="457200"/>
          </a:xfrm>
          <a:prstGeom prst="roundRect">
            <a:avLst>
              <a:gd name="adj" fmla="val 10000"/>
            </a:avLst>
          </a:prstGeom>
          <a:solidFill>
            <a:srgbClr val="F2F2F2"/>
          </a:solidFill>
          <a:ln/>
        </p:spPr>
        <p:txBody>
          <a:bodyPr/>
          <a:p/>
        </p:txBody>
      </p:sp>
      <p:sp>
        <p:nvSpPr>
          <p:cNvPr id="28" name="Text 26"/>
          <p:cNvSpPr txBox="1"/>
          <p:nvPr/>
        </p:nvSpPr>
        <p:spPr>
          <a:xfrm>
            <a:off x="548640" y="4754880"/>
            <a:ext cx="114300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1944</a:t>
            </a:r>
            <a:endParaRPr lang="en-US" sz="1200" dirty="0"/>
          </a:p>
        </p:txBody>
      </p:sp>
      <p:sp>
        <p:nvSpPr>
          <p:cNvPr id="29" name="Text 27"/>
          <p:cNvSpPr txBox="1"/>
          <p:nvPr/>
        </p:nvSpPr>
        <p:spPr>
          <a:xfrm>
            <a:off x="548640" y="5394960"/>
            <a:ext cx="594360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arrow colour = which fork created the child:  </a:t>
            </a:r>
            <a:r>
              <a:rPr lang="en-US" sz="1100" b="1" i="1" dirty="0">
                <a:solidFill>
                  <a:srgbClr val="36454F"/>
                </a:solidFill>
                <a:latin typeface="Calibri" pitchFamily="34" charset="0"/>
                <a:ea typeface="Calibri" pitchFamily="34" charset="-122"/>
                <a:cs typeface="Calibri" pitchFamily="34" charset="-120"/>
              </a:rPr>
              <a:t>1st  </a:t>
            </a:r>
            <a:r>
              <a:rPr lang="en-US" sz="1100" b="1" i="1" dirty="0">
                <a:solidFill>
                  <a:srgbClr val="028090"/>
                </a:solidFill>
                <a:latin typeface="Calibri" pitchFamily="34" charset="0"/>
                <a:ea typeface="Calibri" pitchFamily="34" charset="-122"/>
                <a:cs typeface="Calibri" pitchFamily="34" charset="-120"/>
              </a:rPr>
              <a:t>2nd  </a:t>
            </a:r>
            <a:r>
              <a:rPr lang="en-US" sz="1100" b="1" i="1" dirty="0">
                <a:solidFill>
                  <a:srgbClr val="C98A1B"/>
                </a:solidFill>
                <a:latin typeface="Calibri" pitchFamily="34" charset="0"/>
                <a:ea typeface="Calibri" pitchFamily="34" charset="-122"/>
                <a:cs typeface="Calibri" pitchFamily="34" charset="-120"/>
              </a:rPr>
              <a:t>3rd</a:t>
            </a:r>
            <a:endParaRPr lang="en-US" sz="1100" dirty="0"/>
          </a:p>
        </p:txBody>
      </p:sp>
      <p:sp>
        <p:nvSpPr>
          <p:cNvPr id="30" name="Text 28"/>
          <p:cNvSpPr txBox="1"/>
          <p:nvPr/>
        </p:nvSpPr>
        <p:spPr>
          <a:xfrm>
            <a:off x="548640" y="5715000"/>
            <a:ext cx="594360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real PIDs from ./fork_count 3</a:t>
            </a:r>
            <a:endParaRPr lang="en-US" sz="1100" dirty="0"/>
          </a:p>
        </p:txBody>
      </p:sp>
      <p:sp>
        <p:nvSpPr>
          <p:cNvPr id="31" name="Shape 29"/>
          <p:cNvSpPr/>
          <p:nvPr/>
        </p:nvSpPr>
        <p:spPr>
          <a:xfrm>
            <a:off x="6583680" y="1508760"/>
            <a:ext cx="5074920" cy="1463040"/>
          </a:xfrm>
          <a:prstGeom prst="roundRect">
            <a:avLst>
              <a:gd name="adj" fmla="val 3125"/>
            </a:avLst>
          </a:prstGeom>
          <a:solidFill>
            <a:srgbClr val="212121"/>
          </a:solidFill>
          <a:ln/>
        </p:spPr>
        <p:txBody>
          <a:bodyPr/>
          <a:p/>
        </p:txBody>
      </p:sp>
      <p:sp>
        <p:nvSpPr>
          <p:cNvPr id="32" name="Text 30"/>
          <p:cNvSpPr txBox="1"/>
          <p:nvPr/>
        </p:nvSpPr>
        <p:spPr>
          <a:xfrm>
            <a:off x="6766560" y="1618488"/>
            <a:ext cx="4709160" cy="1243584"/>
          </a:xfrm>
          <a:prstGeom prst="rect">
            <a:avLst/>
          </a:prstGeom>
          <a:noFill/>
          <a:ln/>
        </p:spPr>
        <p:txBody>
          <a:bodyPr wrap="square" lIns="0" tIns="0" rIns="0" bIns="0" rtlCol="0" anchor="t"/>
          <a:lstStyle/>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for (int i = 0; i &lt; n; i++)</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fork();     /* everyone forks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printf("PID %6d  parent %6d\n",</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getpid(), getppid());</a:t>
            </a:r>
            <a:endParaRPr lang="en-US" sz="1250" dirty="0"/>
          </a:p>
        </p:txBody>
      </p:sp>
      <p:sp>
        <p:nvSpPr>
          <p:cNvPr id="33" name="Shape 31"/>
          <p:cNvSpPr/>
          <p:nvPr/>
        </p:nvSpPr>
        <p:spPr>
          <a:xfrm>
            <a:off x="6583680" y="3154680"/>
            <a:ext cx="5074920" cy="1097280"/>
          </a:xfrm>
          <a:prstGeom prst="roundRect">
            <a:avLst>
              <a:gd name="adj" fmla="val 4167"/>
            </a:avLst>
          </a:prstGeom>
          <a:solidFill>
            <a:srgbClr val="212121"/>
          </a:solidFill>
          <a:ln/>
        </p:spPr>
        <p:txBody>
          <a:bodyPr/>
          <a:p/>
        </p:txBody>
      </p:sp>
      <p:sp>
        <p:nvSpPr>
          <p:cNvPr id="34" name="Text 32"/>
          <p:cNvSpPr txBox="1"/>
          <p:nvPr/>
        </p:nvSpPr>
        <p:spPr>
          <a:xfrm>
            <a:off x="6766560" y="3264408"/>
            <a:ext cx="4709160" cy="877824"/>
          </a:xfrm>
          <a:prstGeom prst="rect">
            <a:avLst/>
          </a:prstGeom>
          <a:noFill/>
          <a:ln/>
        </p:spPr>
        <p:txBody>
          <a:bodyPr wrap="square" lIns="0" tIns="0" rIns="0" bIns="0" rtlCol="0" anchor="t"/>
          <a:lstStyle/>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for n in 1 2 3 4 5 10; do</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&gt;   ./fork_count $n | wc -l; done</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2  4  8  16  32  1024        (one line per process)</a:t>
            </a:r>
            <a:endParaRPr lang="en-US" sz="1100" dirty="0"/>
          </a:p>
        </p:txBody>
      </p:sp>
      <p:sp>
        <p:nvSpPr>
          <p:cNvPr id="35" name="Shape 33"/>
          <p:cNvSpPr/>
          <p:nvPr/>
        </p:nvSpPr>
        <p:spPr>
          <a:xfrm>
            <a:off x="6583680" y="4434840"/>
            <a:ext cx="507492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6" name="Text 34"/>
          <p:cNvSpPr txBox="1"/>
          <p:nvPr/>
        </p:nvSpPr>
        <p:spPr>
          <a:xfrm>
            <a:off x="6812280" y="4434840"/>
            <a:ext cx="4617720" cy="182880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Every process doubles at each fork: after n forks there are 2ⁿ processes in total, 2ⁿ − 1 of them newly created. The printf runs 2ⁿ times.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TRY IT YOURSELF</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Look at Processes on Your Own Machine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37</a:t>
            </a:r>
            <a:endParaRPr lang="en-US" sz="900" dirty="0"/>
          </a:p>
        </p:txBody>
      </p:sp>
      <p:sp>
        <p:nvSpPr>
          <p:cNvPr id="6" name="Shape 4"/>
          <p:cNvSpPr/>
          <p:nvPr/>
        </p:nvSpPr>
        <p:spPr>
          <a:xfrm>
            <a:off x="548640" y="1508760"/>
            <a:ext cx="6035040" cy="4754880"/>
          </a:xfrm>
          <a:prstGeom prst="roundRect">
            <a:avLst>
              <a:gd name="adj" fmla="val 962"/>
            </a:avLst>
          </a:prstGeom>
          <a:solidFill>
            <a:srgbClr val="212121"/>
          </a:solidFill>
          <a:ln/>
        </p:spPr>
        <p:txBody>
          <a:bodyPr/>
          <a:p/>
        </p:txBody>
      </p:sp>
      <p:sp>
        <p:nvSpPr>
          <p:cNvPr id="7" name="Text 5"/>
          <p:cNvSpPr txBox="1"/>
          <p:nvPr/>
        </p:nvSpPr>
        <p:spPr>
          <a:xfrm>
            <a:off x="731520" y="1618488"/>
            <a:ext cx="5669280" cy="453542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Linux (lab PCs, WSL, or a virtual machine)</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ps -ef | head            # all processes, with PPID</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ps -o pid,ppid,stat,cmd  # your processes + state</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pstree -p | less         # the process tree</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cat /proc/$$/status      # the PCB of your shell</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strace -c ls             # system calls by type</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make &amp;&amp; ./fork_count 4   # Week 3 code folder</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Windows</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&gt; tasklist                 # list processes</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Task Manager &gt; Details: PID column</a:t>
            </a:r>
            <a:endParaRPr lang="en-US" sz="1300" dirty="0"/>
          </a:p>
        </p:txBody>
      </p:sp>
      <p:sp>
        <p:nvSpPr>
          <p:cNvPr id="8" name="Shape 6"/>
          <p:cNvSpPr/>
          <p:nvPr/>
        </p:nvSpPr>
        <p:spPr>
          <a:xfrm>
            <a:off x="6858000" y="1508760"/>
            <a:ext cx="480060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086600" y="169164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Questions to answer</a:t>
            </a:r>
            <a:endParaRPr lang="en-US" sz="1500" dirty="0"/>
          </a:p>
        </p:txBody>
      </p:sp>
      <p:sp>
        <p:nvSpPr>
          <p:cNvPr id="10" name="Text 8"/>
          <p:cNvSpPr txBox="1"/>
          <p:nvPr/>
        </p:nvSpPr>
        <p:spPr>
          <a:xfrm>
            <a:off x="7086600" y="2148840"/>
            <a:ext cx="4343400" cy="39776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What is the PID of your shell, and who is its parent?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How many processes are in state R right now? Why so few?</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How many voluntary context switches has your shell made so far?</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Find which of the six system-call categories ls uses most.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3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38</a:t>
            </a:r>
            <a:endParaRPr lang="en-US"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Services:</a:t>
            </a:r>
            <a:r>
              <a:rPr lang="en-US" sz="1900" dirty="0">
                <a:solidFill>
                  <a:srgbClr val="3A464C"/>
                </a:solidFill>
                <a:latin typeface="Calibri" pitchFamily="34" charset="0"/>
                <a:ea typeface="Calibri" pitchFamily="34" charset="-122"/>
                <a:cs typeface="Calibri" pitchFamily="34" charset="-120"/>
              </a:rPr>
              <a:t> user-facing (UI, execution, I/O, files, communication, errors) and system-facing (allocation, accounting, protection).</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System calls:</a:t>
            </a:r>
            <a:r>
              <a:rPr lang="en-US" sz="1900" dirty="0">
                <a:solidFill>
                  <a:srgbClr val="3A464C"/>
                </a:solidFill>
                <a:latin typeface="Calibri" pitchFamily="34" charset="0"/>
                <a:ea typeface="Calibri" pitchFamily="34" charset="-122"/>
                <a:cs typeface="Calibri" pitchFamily="34" charset="-120"/>
              </a:rPr>
              <a:t> reached through an API and a libc wrapper; selected by a number in the system-call table; entered with a trap.</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Parameters:</a:t>
            </a:r>
            <a:r>
              <a:rPr lang="en-US" sz="1900" dirty="0">
                <a:solidFill>
                  <a:srgbClr val="3A464C"/>
                </a:solidFill>
                <a:latin typeface="Calibri" pitchFamily="34" charset="0"/>
                <a:ea typeface="Calibri" pitchFamily="34" charset="-122"/>
                <a:cs typeface="Calibri" pitchFamily="34" charset="-120"/>
              </a:rPr>
              <a:t> registers, a memory block, or the stack; x86-64 Linux uses rax + up to six registers.</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Process:</a:t>
            </a:r>
            <a:r>
              <a:rPr lang="en-US" sz="1900" dirty="0">
                <a:solidFill>
                  <a:srgbClr val="3A464C"/>
                </a:solidFill>
                <a:latin typeface="Calibri" pitchFamily="34" charset="0"/>
                <a:ea typeface="Calibri" pitchFamily="34" charset="-122"/>
                <a:cs typeface="Calibri" pitchFamily="34" charset="-120"/>
              </a:rPr>
              <a:t> a program in execution with text, data, bss, heap and stack; described by its PCB.</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States:</a:t>
            </a:r>
            <a:r>
              <a:rPr lang="en-US" sz="1900" dirty="0">
                <a:solidFill>
                  <a:srgbClr val="3A464C"/>
                </a:solidFill>
                <a:latin typeface="Calibri" pitchFamily="34" charset="0"/>
                <a:ea typeface="Calibri" pitchFamily="34" charset="-122"/>
                <a:cs typeface="Calibri" pitchFamily="34" charset="-120"/>
              </a:rPr>
              <a:t> new, ready, running, waiting, terminated; interrupts and system calls cause the transitions.</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Context switch &amp; creation:</a:t>
            </a:r>
            <a:r>
              <a:rPr lang="en-US" sz="1900" dirty="0">
                <a:solidFill>
                  <a:srgbClr val="3A464C"/>
                </a:solidFill>
                <a:latin typeface="Calibri" pitchFamily="34" charset="0"/>
                <a:ea typeface="Calibri" pitchFamily="34" charset="-122"/>
                <a:cs typeface="Calibri" pitchFamily="34" charset="-120"/>
              </a:rPr>
              <a:t> switching is pure overhead s/(q+s); fork–exec–wait builds the process tree.</a:t>
            </a:r>
            <a:endParaRPr lang="en-US" sz="1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3  ·  39</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Is printf() a system call? Explain what happens between printf() and the screen.</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Name the three ways of passing parameters to the OS. Which one does x86-64 Linux use for write()?</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Why can a process not go directly from waiting to running?</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A context switch costs 10 µs and the time slice is 1 ms. What percentage of CPU time is overhead?</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Threads &amp; CPU Scheduling Basics</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4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Threads: one process, several flows of execution</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User threads, kernel threads and multithreading models</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CPU scheduling: the CPU–I/O burst cycle and the dispatcher</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Scheduling criteria: utilisation, throughput, turnaround, waiting and response time</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3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3  ·  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3</dc:title>
  <dc:subject>PptxGenJS Presentation</dc:subject>
  <dc:creator>PptxGenJS</dc:creator>
  <cp:lastModifiedBy>PptxGenJS</cp:lastModifiedBy>
  <cp:revision>1</cp:revision>
  <dcterms:created xsi:type="dcterms:W3CDTF">2026-10-08T13:03:15Z</dcterms:created>
  <dcterms:modified xsi:type="dcterms:W3CDTF">2026-10-08T13:03:15Z</dcterms:modified>
</cp:coreProperties>
</file>