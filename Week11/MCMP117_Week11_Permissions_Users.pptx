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11, the third hands-on Linux week. Today: users and groups, the 10-character permission string you have been seeing in ls -l since Week 9, chmod in symbolic and octal form, default permissions (umask), ownership, root and sudo, and two special bits. Everyone should have a terminal open: lab PC, WSL or the Ubuntu VM. First command of the day: bash mcmp117_lab_setup.sh, to get a fresh ~/lab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Two-minute recap. Ask: who expands *.jpg, the shell or ls? (the shell). Which command shows the inode number? (ls -i, stat). Remind them that in Week 7 we listed 'protection' as one of the file attributes stored in the inode: that is today's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Parts 1-3 before the break (about 50 minutes, with live demos), Parts 4-5 after it, then 30-40 minutes of lab work. All terminal output on the slides is real output captured on a Linux machine as an ordinary user called student; on your own machine dates, sizes, user and group numbers will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Linux is a multi-user system. Even on your laptop there are dozens of users (most of them for system services). Permissions decide who may do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to the theory weeks. Week 2: hardware dual mode means user programs cannot do I/O themselves; they must make a system call, and the kernel is the gatekeeper. Week 7: the protection attribute lives in the inode. The check happens in open() (and in exec, unlink, chdir...). If it fails, the system call returns -1 with errno = EACCES and the program prints 'Permission denied'. Note: the check happens at open time; a process that already has the file open keeps its access even if you chmod the file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whoami, id and groups. On a fresh Ubuntu installation the first user has UID 1000; our lab machine has several accounts, so this student has 1011 — your numbers will differ. Emphasise: names are for humans, numbers are for the kernel; ls -l translates the numbers back into names. 'students' (with an s) is a separate group we will use later for 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grep "^$USER:" /etc/passwd and getent group students. Walk through the seven fields. Field 5 is empty for our student (it would normally hold the full name). The shell field is why some system users show /usr/sbin/nologin: nobody can log in as them. The group 'students' has no members yet (field 4 is empty) — later the administrator adds our student. Never edit these files by hand; administrators use useradd, usermod, passwd. Note that /etc/shadow itself has mode -rw-r----- — we will decode that in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except the name comes from the inode (Week 7). Ask: what does ls -l show if a UID has no name in /etc/passwd? (the bare number). Today we care about columns 1, 3 and 4: the mode, the owner and the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slide of the day. First character: the file type. Then three triplets, always in the order r, w, x and always for user, group, others. A letter means the bit is set, a dash means it is not. Each position has a weight: r = 4, w = 2, x = 1, so each triplet is a number from 0 to 7, i.e. one octal digit. 750 is what you type in chmod 750. Ask: what is ---------- ? (000). What is -rw-r--r-- ? (644).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Week 7: a directory is a table of (name, inode) pairs. r = read that table (list names). w = modify that table (add, remove, rename entries). x = search the table to follow a path through it. Hence the surprise that deleting a read-only file is allowed if you have w on the directory — we will demonstrate it after the break. Typical student error: chmod 644 on a directory (removes x) and then cd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classic exam trap. Mode 074 = ----rwxr--: owner nothing, group everything, others read. The owner (student) gets 'Permission denied' because only the owner triplet is consulted for the owner. Root bypasses read/write checks; for execute, root needs at least one x bit somewhere. The owner can always chmod the file back (changing permissions needs ownership, not the r or w bits) — the last two commands show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ls -l docs, ls -ld docs, stat docs/syllabus.txt, then stat -c '%A  %a  %U  %G  %n' docs/syllabus.txt docs src/hello.c. Point out that ls puts quotes around 'final report.txt' because of the space (Week 10). The leading 0 in 0664 is the fourth octal digit for the special bits (setuid, setgid, sticky), all zero here. stat -c is handy in the lab to check your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chmod = change mode. Only the owner of a file (or root) may change its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row aloud as a sentence: u+x 'give the user execute', go-w 'take write away from group and others', a=r 'everyone exactly read', u=rw,g=r,o= 'user exactly read-write, group exactly read, others nothing'. The table is generated from the real session on the next slide. Typical errors: spaces after the comma (chmod u=rw, g=r file) and forgetting who (chmod rw file gives 'invalid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along with the students: cd docs, then each chmod followed by ls -l syllabus.txt. 'No news is good news' is the Unix convention: silence means success. After a=r, ask: can the owner still change the file's mode? (Yes — the mode is metadata in the inode, and only ownership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the three weights by heart: r = 4, w = 2, x = 1. Every digit 0-7 is a unique sum of them, because they are powers of two — exactly like binary. The rows 4-7 are the ones you will actually use: 4 read, 5 read+execute, 6 read+write, 7 all. Numbers verified with code/perm_check.py.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two more on the board with the class: 600 (rw-------), 755 (rwxr-xr-x), r--r----- (440). 711 is a typical mode for a home directory on shared servers: others may pass through to a public subfolder but not list the home directory. All conversions checked with code/perm_check.py.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lines cover 95 % of real life. The 777 warning matters: on forums people suggest chmod -R 777 to make an error go away; it is the equivalent of leaving your door open because the key was stuck. On a web server it lets any compromised process replace your pages. Rule: least privilege — give the minimum rights that make the task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commands from code/demo_chmod_oct.sh. Point at the two error messages: chmod rejects 854 (8 is not an octal digit) and rw (not a valid symbolic mode). Octal mode always sets all nine bits at once; symbolic mode can change one bit and keep the rest. Note: the quotes around the mode in the error message are typographic quotes in our UTF-8 locale.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permission problem students meet. A file created by an editor or by echo gets 664 (no x), because programs ask for 666 for normal files. chmod u+x adds execute for the owner only; chmod +x would add it for all classes allowed by the umask. When you run ./hello.sh the kernel's exec system call checks the x bit and reads the #! line. gcc creates its output with mode 777 &amp; ~umask = 775, because the linker knows it is producing a program. Week 14 builds on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may photograph this slide. The callout explains why recursive octal modes are dangerous: directories need x, files usually should not have it. A safe recursive pattern is symbolic: chmod -R go-rwx project (remove rights only) or chmod -R u+rwX (capital X = execute only for directories and files that already have an x 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During the break: try chmod 000 on a file you own and then get your rights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break every new file appeared as 664 and every new directory as 775. Where do these numbers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textbooks say 'default = 666 minus umask'. That works for the usual umasks 002 and 022, but the real operation is bitwise: the umask bits are cleared (AND with the complement). Next slide shows a case where subtraction gives a wrong answer. The umask is inherited by every program you start from the shell, which is why it is set once at login (Ubuntu: by the pam_umask module; a user can override it in ~/.bashrc).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the binary on the board. The digit 3 = 011 = w and x. The file's request 6 = 110 has no x to clear, so only w is cleared: 6 AND NOT 3 = 110 AND 100 = 100 = 4. Subtraction 6 - 3 = 3 'borrows' an x bit that was never there. For directories, 777 has every bit set, so 777 - umask is always correct. All rows checked with code/perm_check.py and confirmed by the real umask demo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session (code/demo_umask.sh) creates one file and one directory for each umask; the line in the middle summarises eight similar commands. umask is a shell built-in: it must change the shell's own process, exactly like cd. Ask: if the umask is 077, can a classmate in your group read a file you create? (No: 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code/demo_dirperm.sh step by step. With r but no x, ls can read the list of names (the directory 'file') but cannot look up any inode through it: that is why ls -l prints question marks. With x but no r, it is like a building where you have a key to every room but no list of the rooms: you can enter a room only if you know its name. Web servers use x-only home directories for exactly this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surprises almost everybody. Deleting removes a (name, inode) entry from the DIRECTORY, so the directory's w bit is what matters; rm is just polite and asks because the file is write-protected. Recall Week 7/10: rm calls unlink(). To protect files against deletion, remove w from the directory (chmod 555), as in the last commands. /tmp needs a special rule for this — the sticky bit, in a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the two error messages: 'Permission denied' (EACCES) means a permission bit is missing; 'Operation not permitted' (EPERM) means the operation needs privilege no matter what the bits say. chown to yourself is allowed (it changes nothing). On the next slide the administrator has added our student to the group 'students' and chgrp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done by the administrator (root) before this demo: usermod -aG students student. -a means append; without -a the user is REMOVED from all other supplementary groups — a classic administrator mistake. Group membership is read at login, so the user must log out and in again (or use newgrp). Setgid on a directory: new files get the directory's group instead of the creator's primary group. plan.txt is in group students, although student's primary group is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in two situations. Top: our student before being made an administrator — sudo asks for the password and then refuses ('student is not in the sudoers file'). Bottom: after the administrator added student to the group sudo (root setup step, done once). The password is typed but not echoed. sudo remembers the password for about 15 minutes per terminal; sudo -k forgets it. After sudo chown root:root the mode is still 664, but student is now in the 'others' class, which has only r — so the echo &gt;&gt; fails. This is the only place today where root-only output is shown, and it is labelled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users must be able to change their own password, but /etc/shadow is writable only by root. Solution: the passwd program file is owned by root and has the setuid bit (s in the owner's x position, 4 in the fourth octal digit). When anyone runs it, the process's EFFECTIVE UID becomes the file's owner (root), while the real UID stays student, so passwd knows whom to change. This is controlled privilege escalation through the kernel — again Week 2's idea: only trusted code gets privileges. Brief treatment only; no exam questions beyond recognising s and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(root, before the demo): a root-owned, world-writable file /tmp/w11_admin.txt. Our student cannot delete it — 'Operation not permitted' — but can create and delete his own file. Sticky = 1 in the fourth octal digit: chmod 1777 dir. Historically 'sticky' meant 'keep the program text in swap', which is why the name makes no sense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work alone or in pairs. Walk around; most problems will be a missing x on a directory or a forgotten ./ before a script name. Re-create the lab first: bash mcmp117_lab_setup.sh.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numbers match the Lab Sheet in the notes; full solutions with real output are at the end of the notes (do not peek before trying!). Typical answers: chmod g-w,o-r docs/notes_01.txt; chmod 600 docs/notes_02.txt; chmod 700 projects/alpha; chmod 750 projects/beta.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16 is the 'secure a project folder' task from the course outline. Expected stat output: 750 drwxr-x--- projects/team; 750 -rwxr-x--- deploy.sh; 640 -rw-r----- notes.txt; 600 -rw------- secret.txt. Remind students to reset umask 002 after exercises 10 and 11 (or just open a new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message on this slide appeared in today's real demos. Make students read error messages word by word: 'Permission denied' = a bit is missing (EACCES); 'Operation not permitted' = privilege is missing (EPERM); 'command not found' = PATH problem, not a permission problem. And again: chmod 777 is never the right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Owner rwx, group r-x, others nothing: 750. (2) chmod 640 report.txt or chmod u=rw,g=r,o= report.txt. (3) 666 AND NOT 027 = 640, 777 AND NOT 027 = 750; 033 clears w and x of group and others, but a file never had x, so only w is cleared: 644 (subtraction would wrongly give 633). (4) Yes, if you have w and x on the directory (rm asks for confirmation); no, because as owner only the owner triplet --- applies (you can chmod it back, though).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quickly; each line corresponds to a section of the notes and to lab exercises.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week we combine commands. The output of a command goes to file descriptor 1; we will redirect it into files and pipe it into other commands to answer questions such as 'which page returned the most 404 errors?' from the web-server log in ~/lab/logs. Permissions return briefly: redirecting into a file you cannot write gives exactly the 'Permission denied' we saw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Remind students that the lab sheet with solutions is in the notes, and that questions on the Telegram channel help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MCMP117  ·  WEEK 11</a:t>
            </a:r>
            <a:endParaRPr lang="en-US" sz="1300" dirty="0"/>
          </a:p>
        </p:txBody>
      </p:sp>
      <p:sp>
        <p:nvSpPr>
          <p:cNvPr id="3" name="Text 1"/>
          <p:cNvSpPr txBox="1"/>
          <p:nvPr/>
        </p:nvSpPr>
        <p:spPr>
          <a:xfrm>
            <a:off x="548640" y="2148840"/>
            <a:ext cx="8229600" cy="14630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Fundamentals of</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Operating Systems</a:t>
            </a:r>
            <a:endParaRPr lang="en-US" sz="4000" dirty="0"/>
          </a:p>
        </p:txBody>
      </p:sp>
      <p:sp>
        <p:nvSpPr>
          <p:cNvPr id="4" name="Text 2"/>
          <p:cNvSpPr txBox="1"/>
          <p:nvPr/>
        </p:nvSpPr>
        <p:spPr>
          <a:xfrm>
            <a:off x="548640" y="3703320"/>
            <a:ext cx="10058400" cy="457200"/>
          </a:xfrm>
          <a:prstGeom prst="rect">
            <a:avLst/>
          </a:prstGeom>
          <a:noFill/>
          <a:ln/>
        </p:spPr>
        <p:txBody>
          <a:bodyPr wrap="square" lIns="0" tIns="0" rIns="0" bIns="0" rtlCol="0" anchor="ctr"/>
          <a:lstStyle/>
          <a:p>
            <a:pPr indent="0" marL="0">
              <a:buNone/>
            </a:pPr>
            <a:r>
              <a:rPr lang="en-US" sz="2000" dirty="0">
                <a:solidFill>
                  <a:srgbClr val="F2F2F2"/>
                </a:solidFill>
                <a:latin typeface="Calibri" pitchFamily="34" charset="0"/>
                <a:ea typeface="Calibri" pitchFamily="34" charset="-122"/>
                <a:cs typeface="Calibri" pitchFamily="34" charset="-120"/>
              </a:rPr>
              <a:t>Week 11  ·  Permissions, Ownership &amp; Users</a:t>
            </a:r>
            <a:endParaRPr lang="en-US" sz="2000" dirty="0"/>
          </a:p>
        </p:txBody>
      </p:sp>
      <p:sp>
        <p:nvSpPr>
          <p:cNvPr id="5" name="Text 3"/>
          <p:cNvSpPr txBox="1"/>
          <p:nvPr/>
        </p:nvSpPr>
        <p:spPr>
          <a:xfrm>
            <a:off x="548640" y="4160520"/>
            <a:ext cx="10058400" cy="365760"/>
          </a:xfrm>
          <a:prstGeom prst="rect">
            <a:avLst/>
          </a:prstGeom>
          <a:noFill/>
          <a:ln/>
        </p:spPr>
        <p:txBody>
          <a:bodyPr wrap="square" lIns="0" tIns="0" rIns="0" bIns="0" rtlCol="0" anchor="ctr"/>
          <a:lstStyle/>
          <a:p>
            <a:pPr indent="0" marL="0">
              <a:buNone/>
            </a:pPr>
            <a:r>
              <a:rPr lang="en-US" sz="1400" i="1" dirty="0">
                <a:solidFill>
                  <a:srgbClr val="8A9AA0"/>
                </a:solidFill>
                <a:latin typeface="Calibri" pitchFamily="34" charset="0"/>
                <a:ea typeface="Calibri" pitchFamily="34" charset="-122"/>
                <a:cs typeface="Calibri" pitchFamily="34" charset="-120"/>
              </a:rPr>
              <a:t>Who may read, change or run your files — and how does Linux decide?</a:t>
            </a:r>
            <a:endParaRPr lang="en-US" sz="1400" dirty="0"/>
          </a:p>
        </p:txBody>
      </p:sp>
      <p:sp>
        <p:nvSpPr>
          <p:cNvPr id="6" name="Text 4"/>
          <p:cNvSpPr txBox="1"/>
          <p:nvPr/>
        </p:nvSpPr>
        <p:spPr>
          <a:xfrm>
            <a:off x="548640" y="6217920"/>
            <a:ext cx="10058400" cy="274320"/>
          </a:xfrm>
          <a:prstGeom prst="rect">
            <a:avLst/>
          </a:prstGeom>
          <a:noFill/>
          <a:ln/>
        </p:spPr>
        <p:txBody>
          <a:bodyPr wrap="square" lIns="0" tIns="0" rIns="0" bIns="0" rtlCol="0" anchor="ctr"/>
          <a:lstStyle/>
          <a:p>
            <a:pPr indent="0" marL="0">
              <a:buNone/>
            </a:pPr>
            <a:r>
              <a:rPr lang="en-US" sz="1000" dirty="0">
                <a:solidFill>
                  <a:srgbClr val="8A9AA0"/>
                </a:solidFill>
                <a:latin typeface="Calibri" pitchFamily="34" charset="0"/>
                <a:ea typeface="Calibri" pitchFamily="34" charset="-122"/>
                <a:cs typeface="Calibri" pitchFamily="34" charset="-120"/>
              </a:rPr>
              <a:t>Electronical Communication Technology Programme  ·  Vocational School  ·  Istanbul Okan University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LAST WEEK</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Week 10 in Four Ideas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2</a:t>
            </a:r>
            <a:endParaRPr lang="en-US" sz="900" dirty="0"/>
          </a:p>
        </p:txBody>
      </p:sp>
      <p:sp>
        <p:nvSpPr>
          <p:cNvPr id="6" name="Shape 4"/>
          <p:cNvSpPr/>
          <p:nvPr/>
        </p:nvSpPr>
        <p:spPr>
          <a:xfrm>
            <a:off x="548640" y="1508760"/>
            <a:ext cx="260604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Create, copy, move</a:t>
            </a:r>
            <a:endParaRPr lang="en-US" sz="1600" dirty="0"/>
          </a:p>
        </p:txBody>
      </p:sp>
      <p:sp>
        <p:nvSpPr>
          <p:cNvPr id="8" name="Text 6"/>
          <p:cNvSpPr txBox="1"/>
          <p:nvPr/>
        </p:nvSpPr>
        <p:spPr>
          <a:xfrm>
            <a:off x="777240" y="2148840"/>
            <a:ext cx="2148840" cy="16002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mkdir -p, touch, cp -r, mv, rm -r, rmdir. rm has no recycle bin.</a:t>
            </a:r>
            <a:endParaRPr lang="en-US" sz="1700" dirty="0"/>
          </a:p>
        </p:txBody>
      </p:sp>
      <p:sp>
        <p:nvSpPr>
          <p:cNvPr id="9" name="Shape 7"/>
          <p:cNvSpPr/>
          <p:nvPr/>
        </p:nvSpPr>
        <p:spPr>
          <a:xfrm>
            <a:off x="3383280" y="1508760"/>
            <a:ext cx="260604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361188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Wildcards</a:t>
            </a:r>
            <a:endParaRPr lang="en-US" sz="1600" dirty="0"/>
          </a:p>
        </p:txBody>
      </p:sp>
      <p:sp>
        <p:nvSpPr>
          <p:cNvPr id="11" name="Text 9"/>
          <p:cNvSpPr txBox="1"/>
          <p:nvPr/>
        </p:nvSpPr>
        <p:spPr>
          <a:xfrm>
            <a:off x="3611880" y="2148840"/>
            <a:ext cx="2148840" cy="16002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 ? [abc] and {a,b}: expanded by the shell before the command runs.</a:t>
            </a:r>
            <a:endParaRPr lang="en-US" sz="1700" dirty="0"/>
          </a:p>
        </p:txBody>
      </p:sp>
      <p:sp>
        <p:nvSpPr>
          <p:cNvPr id="12" name="Shape 10"/>
          <p:cNvSpPr/>
          <p:nvPr/>
        </p:nvSpPr>
        <p:spPr>
          <a:xfrm>
            <a:off x="6217920" y="1508760"/>
            <a:ext cx="260604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644652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Look inside</a:t>
            </a:r>
            <a:endParaRPr lang="en-US" sz="1600" dirty="0"/>
          </a:p>
        </p:txBody>
      </p:sp>
      <p:sp>
        <p:nvSpPr>
          <p:cNvPr id="14" name="Text 12"/>
          <p:cNvSpPr txBox="1"/>
          <p:nvPr/>
        </p:nvSpPr>
        <p:spPr>
          <a:xfrm>
            <a:off x="6446520" y="2148840"/>
            <a:ext cx="2148840" cy="16002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cat, less, head, tail -f, wc, file, du -sh, df -h.</a:t>
            </a:r>
            <a:endParaRPr lang="en-US" sz="1700" dirty="0"/>
          </a:p>
        </p:txBody>
      </p:sp>
      <p:sp>
        <p:nvSpPr>
          <p:cNvPr id="15" name="Shape 13"/>
          <p:cNvSpPr/>
          <p:nvPr/>
        </p:nvSpPr>
        <p:spPr>
          <a:xfrm>
            <a:off x="9052560" y="1508760"/>
            <a:ext cx="260604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928116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Inodes &amp; links</a:t>
            </a:r>
            <a:endParaRPr lang="en-US" sz="1600" dirty="0"/>
          </a:p>
        </p:txBody>
      </p:sp>
      <p:sp>
        <p:nvSpPr>
          <p:cNvPr id="17" name="Text 15"/>
          <p:cNvSpPr txBox="1"/>
          <p:nvPr/>
        </p:nvSpPr>
        <p:spPr>
          <a:xfrm>
            <a:off x="9281160" y="2148840"/>
            <a:ext cx="2148840" cy="16002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stat shows the inode; ln adds a name, ln -s stores a path.</a:t>
            </a:r>
            <a:endParaRPr lang="en-US" sz="170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stat printed  Access: (0664/-rw-rw-r--)  — today we learn to read both halves of that line and to change them.</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11</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Today's Agenda</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3</a:t>
            </a:r>
            <a:endParaRPr lang="en-US" sz="900" dirty="0"/>
          </a:p>
        </p:txBody>
      </p:sp>
      <p:sp>
        <p:nvSpPr>
          <p:cNvPr id="6" name="Shape 4"/>
          <p:cNvSpPr/>
          <p:nvPr/>
        </p:nvSpPr>
        <p:spPr>
          <a:xfrm>
            <a:off x="548640" y="1508760"/>
            <a:ext cx="658368" cy="658368"/>
          </a:xfrm>
          <a:prstGeom prst="roundRect">
            <a:avLst>
              <a:gd name="adj" fmla="val 6944"/>
            </a:avLst>
          </a:prstGeom>
          <a:solidFill>
            <a:srgbClr val="02C39A"/>
          </a:solidFill>
          <a:ln/>
        </p:spPr>
        <p:txBody>
          <a:bodyPr/>
          <a:p/>
        </p:txBody>
      </p:sp>
      <p:sp>
        <p:nvSpPr>
          <p:cNvPr id="7" name="Text 5"/>
          <p:cNvSpPr txBox="1"/>
          <p:nvPr/>
        </p:nvSpPr>
        <p:spPr>
          <a:xfrm>
            <a:off x="548640" y="1508760"/>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1</a:t>
            </a:r>
            <a:endParaRPr lang="en-US" sz="2000" dirty="0"/>
          </a:p>
        </p:txBody>
      </p:sp>
      <p:sp>
        <p:nvSpPr>
          <p:cNvPr id="8" name="Shape 6"/>
          <p:cNvSpPr/>
          <p:nvPr/>
        </p:nvSpPr>
        <p:spPr>
          <a:xfrm>
            <a:off x="1371600" y="1508760"/>
            <a:ext cx="10287000" cy="658368"/>
          </a:xfrm>
          <a:prstGeom prst="roundRect">
            <a:avLst>
              <a:gd name="adj" fmla="val 6944"/>
            </a:avLst>
          </a:prstGeom>
          <a:solidFill>
            <a:srgbClr val="F2F2F2"/>
          </a:solidFill>
          <a:ln/>
        </p:spPr>
        <p:txBody>
          <a:bodyPr/>
          <a:p/>
        </p:txBody>
      </p:sp>
      <p:sp>
        <p:nvSpPr>
          <p:cNvPr id="9" name="Text 7"/>
          <p:cNvSpPr txBox="1"/>
          <p:nvPr/>
        </p:nvSpPr>
        <p:spPr>
          <a:xfrm>
            <a:off x="1645920" y="1508760"/>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Why, and for whom   </a:t>
            </a:r>
            <a:r>
              <a:rPr lang="en-US" sz="1500" dirty="0">
                <a:solidFill>
                  <a:srgbClr val="3A464C"/>
                </a:solidFill>
                <a:latin typeface="Calibri" pitchFamily="34" charset="0"/>
                <a:ea typeface="Calibri" pitchFamily="34" charset="-122"/>
                <a:cs typeface="Calibri" pitchFamily="34" charset="-120"/>
              </a:rPr>
              <a:t>Protection (Weeks 2 and 7), users, groups, /etc/passwd and /etc/group.</a:t>
            </a:r>
            <a:endParaRPr lang="en-US" sz="1400" dirty="0"/>
          </a:p>
        </p:txBody>
      </p:sp>
      <p:sp>
        <p:nvSpPr>
          <p:cNvPr id="10" name="Shape 8"/>
          <p:cNvSpPr/>
          <p:nvPr/>
        </p:nvSpPr>
        <p:spPr>
          <a:xfrm>
            <a:off x="548640" y="2295144"/>
            <a:ext cx="658368" cy="658368"/>
          </a:xfrm>
          <a:prstGeom prst="roundRect">
            <a:avLst>
              <a:gd name="adj" fmla="val 6944"/>
            </a:avLst>
          </a:prstGeom>
          <a:solidFill>
            <a:srgbClr val="02C39A"/>
          </a:solidFill>
          <a:ln/>
        </p:spPr>
        <p:txBody>
          <a:bodyPr/>
          <a:p/>
        </p:txBody>
      </p:sp>
      <p:sp>
        <p:nvSpPr>
          <p:cNvPr id="11" name="Text 9"/>
          <p:cNvSpPr txBox="1"/>
          <p:nvPr/>
        </p:nvSpPr>
        <p:spPr>
          <a:xfrm>
            <a:off x="548640" y="2295144"/>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2</a:t>
            </a:r>
            <a:endParaRPr lang="en-US" sz="2000" dirty="0"/>
          </a:p>
        </p:txBody>
      </p:sp>
      <p:sp>
        <p:nvSpPr>
          <p:cNvPr id="12" name="Shape 10"/>
          <p:cNvSpPr/>
          <p:nvPr/>
        </p:nvSpPr>
        <p:spPr>
          <a:xfrm>
            <a:off x="1371600" y="2295144"/>
            <a:ext cx="10287000" cy="658368"/>
          </a:xfrm>
          <a:prstGeom prst="roundRect">
            <a:avLst>
              <a:gd name="adj" fmla="val 6944"/>
            </a:avLst>
          </a:prstGeom>
          <a:solidFill>
            <a:srgbClr val="F2F2F2"/>
          </a:solidFill>
          <a:ln/>
        </p:spPr>
        <p:txBody>
          <a:bodyPr/>
          <a:p/>
        </p:txBody>
      </p:sp>
      <p:sp>
        <p:nvSpPr>
          <p:cNvPr id="13" name="Text 11"/>
          <p:cNvSpPr txBox="1"/>
          <p:nvPr/>
        </p:nvSpPr>
        <p:spPr>
          <a:xfrm>
            <a:off x="1645920" y="2295144"/>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Reading permissions   </a:t>
            </a:r>
            <a:r>
              <a:rPr lang="en-US" sz="1500" dirty="0">
                <a:solidFill>
                  <a:srgbClr val="3A464C"/>
                </a:solidFill>
                <a:latin typeface="Calibri" pitchFamily="34" charset="0"/>
                <a:ea typeface="Calibri" pitchFamily="34" charset="-122"/>
                <a:cs typeface="Calibri" pitchFamily="34" charset="-120"/>
              </a:rPr>
              <a:t>The 10-character mode string, r w x for files and directories.</a:t>
            </a:r>
            <a:endParaRPr lang="en-US" sz="1400" dirty="0"/>
          </a:p>
        </p:txBody>
      </p:sp>
      <p:sp>
        <p:nvSpPr>
          <p:cNvPr id="14" name="Shape 12"/>
          <p:cNvSpPr/>
          <p:nvPr/>
        </p:nvSpPr>
        <p:spPr>
          <a:xfrm>
            <a:off x="548640" y="3081528"/>
            <a:ext cx="658368" cy="658368"/>
          </a:xfrm>
          <a:prstGeom prst="roundRect">
            <a:avLst>
              <a:gd name="adj" fmla="val 6944"/>
            </a:avLst>
          </a:prstGeom>
          <a:solidFill>
            <a:srgbClr val="02C39A"/>
          </a:solidFill>
          <a:ln/>
        </p:spPr>
        <p:txBody>
          <a:bodyPr/>
          <a:p/>
        </p:txBody>
      </p:sp>
      <p:sp>
        <p:nvSpPr>
          <p:cNvPr id="15" name="Text 13"/>
          <p:cNvSpPr txBox="1"/>
          <p:nvPr/>
        </p:nvSpPr>
        <p:spPr>
          <a:xfrm>
            <a:off x="548640" y="3081528"/>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3</a:t>
            </a:r>
            <a:endParaRPr lang="en-US" sz="2000" dirty="0"/>
          </a:p>
        </p:txBody>
      </p:sp>
      <p:sp>
        <p:nvSpPr>
          <p:cNvPr id="16" name="Shape 14"/>
          <p:cNvSpPr/>
          <p:nvPr/>
        </p:nvSpPr>
        <p:spPr>
          <a:xfrm>
            <a:off x="1371600" y="3081528"/>
            <a:ext cx="10287000" cy="658368"/>
          </a:xfrm>
          <a:prstGeom prst="roundRect">
            <a:avLst>
              <a:gd name="adj" fmla="val 6944"/>
            </a:avLst>
          </a:prstGeom>
          <a:solidFill>
            <a:srgbClr val="F2F2F2"/>
          </a:solidFill>
          <a:ln/>
        </p:spPr>
        <p:txBody>
          <a:bodyPr/>
          <a:p/>
        </p:txBody>
      </p:sp>
      <p:sp>
        <p:nvSpPr>
          <p:cNvPr id="17" name="Text 15"/>
          <p:cNvSpPr txBox="1"/>
          <p:nvPr/>
        </p:nvSpPr>
        <p:spPr>
          <a:xfrm>
            <a:off x="1645920" y="3081528"/>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Changing permissions   </a:t>
            </a:r>
            <a:r>
              <a:rPr lang="en-US" sz="1500" dirty="0">
                <a:solidFill>
                  <a:srgbClr val="3A464C"/>
                </a:solidFill>
                <a:latin typeface="Calibri" pitchFamily="34" charset="0"/>
                <a:ea typeface="Calibri" pitchFamily="34" charset="-122"/>
                <a:cs typeface="Calibri" pitchFamily="34" charset="-120"/>
              </a:rPr>
              <a:t>chmod in symbolic (u+x) and octal (754) form; making a script executable.</a:t>
            </a:r>
            <a:endParaRPr lang="en-US" sz="1400" dirty="0"/>
          </a:p>
        </p:txBody>
      </p:sp>
      <p:sp>
        <p:nvSpPr>
          <p:cNvPr id="18" name="Shape 16"/>
          <p:cNvSpPr/>
          <p:nvPr/>
        </p:nvSpPr>
        <p:spPr>
          <a:xfrm>
            <a:off x="548640" y="3867912"/>
            <a:ext cx="658368" cy="658368"/>
          </a:xfrm>
          <a:prstGeom prst="roundRect">
            <a:avLst>
              <a:gd name="adj" fmla="val 6944"/>
            </a:avLst>
          </a:prstGeom>
          <a:solidFill>
            <a:srgbClr val="02C39A"/>
          </a:solidFill>
          <a:ln/>
        </p:spPr>
        <p:txBody>
          <a:bodyPr/>
          <a:p/>
        </p:txBody>
      </p:sp>
      <p:sp>
        <p:nvSpPr>
          <p:cNvPr id="19" name="Text 17"/>
          <p:cNvSpPr txBox="1"/>
          <p:nvPr/>
        </p:nvSpPr>
        <p:spPr>
          <a:xfrm>
            <a:off x="548640" y="3867912"/>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4</a:t>
            </a:r>
            <a:endParaRPr lang="en-US" sz="2000" dirty="0"/>
          </a:p>
        </p:txBody>
      </p:sp>
      <p:sp>
        <p:nvSpPr>
          <p:cNvPr id="20" name="Shape 18"/>
          <p:cNvSpPr/>
          <p:nvPr/>
        </p:nvSpPr>
        <p:spPr>
          <a:xfrm>
            <a:off x="1371600" y="3867912"/>
            <a:ext cx="10287000" cy="658368"/>
          </a:xfrm>
          <a:prstGeom prst="roundRect">
            <a:avLst>
              <a:gd name="adj" fmla="val 6944"/>
            </a:avLst>
          </a:prstGeom>
          <a:solidFill>
            <a:srgbClr val="F2F2F2"/>
          </a:solidFill>
          <a:ln/>
        </p:spPr>
        <p:txBody>
          <a:bodyPr/>
          <a:p/>
        </p:txBody>
      </p:sp>
      <p:sp>
        <p:nvSpPr>
          <p:cNvPr id="21" name="Text 19"/>
          <p:cNvSpPr txBox="1"/>
          <p:nvPr/>
        </p:nvSpPr>
        <p:spPr>
          <a:xfrm>
            <a:off x="1645920" y="3867912"/>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Defaults and directories   </a:t>
            </a:r>
            <a:r>
              <a:rPr lang="en-US" sz="1500" dirty="0">
                <a:solidFill>
                  <a:srgbClr val="3A464C"/>
                </a:solidFill>
                <a:latin typeface="Calibri" pitchFamily="34" charset="0"/>
                <a:ea typeface="Calibri" pitchFamily="34" charset="-122"/>
                <a:cs typeface="Calibri" pitchFamily="34" charset="-120"/>
              </a:rPr>
              <a:t>umask, and what r, w, x really mean for a directory.</a:t>
            </a:r>
            <a:endParaRPr lang="en-US" sz="1400" dirty="0"/>
          </a:p>
        </p:txBody>
      </p:sp>
      <p:sp>
        <p:nvSpPr>
          <p:cNvPr id="22" name="Shape 20"/>
          <p:cNvSpPr/>
          <p:nvPr/>
        </p:nvSpPr>
        <p:spPr>
          <a:xfrm>
            <a:off x="548640" y="4654296"/>
            <a:ext cx="658368" cy="658368"/>
          </a:xfrm>
          <a:prstGeom prst="roundRect">
            <a:avLst>
              <a:gd name="adj" fmla="val 6944"/>
            </a:avLst>
          </a:prstGeom>
          <a:solidFill>
            <a:srgbClr val="02C39A"/>
          </a:solidFill>
          <a:ln/>
        </p:spPr>
        <p:txBody>
          <a:bodyPr/>
          <a:p/>
        </p:txBody>
      </p:sp>
      <p:sp>
        <p:nvSpPr>
          <p:cNvPr id="23" name="Text 21"/>
          <p:cNvSpPr txBox="1"/>
          <p:nvPr/>
        </p:nvSpPr>
        <p:spPr>
          <a:xfrm>
            <a:off x="548640" y="4654296"/>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5</a:t>
            </a:r>
            <a:endParaRPr lang="en-US" sz="2000" dirty="0"/>
          </a:p>
        </p:txBody>
      </p:sp>
      <p:sp>
        <p:nvSpPr>
          <p:cNvPr id="24" name="Shape 22"/>
          <p:cNvSpPr/>
          <p:nvPr/>
        </p:nvSpPr>
        <p:spPr>
          <a:xfrm>
            <a:off x="1371600" y="4654296"/>
            <a:ext cx="10287000" cy="658368"/>
          </a:xfrm>
          <a:prstGeom prst="roundRect">
            <a:avLst>
              <a:gd name="adj" fmla="val 6944"/>
            </a:avLst>
          </a:prstGeom>
          <a:solidFill>
            <a:srgbClr val="F2F2F2"/>
          </a:solidFill>
          <a:ln/>
        </p:spPr>
        <p:txBody>
          <a:bodyPr/>
          <a:p/>
        </p:txBody>
      </p:sp>
      <p:sp>
        <p:nvSpPr>
          <p:cNvPr id="25" name="Text 23"/>
          <p:cNvSpPr txBox="1"/>
          <p:nvPr/>
        </p:nvSpPr>
        <p:spPr>
          <a:xfrm>
            <a:off x="1645920" y="4654296"/>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Ownership and root   </a:t>
            </a:r>
            <a:r>
              <a:rPr lang="en-US" sz="1500" dirty="0">
                <a:solidFill>
                  <a:srgbClr val="3A464C"/>
                </a:solidFill>
                <a:latin typeface="Calibri" pitchFamily="34" charset="0"/>
                <a:ea typeface="Calibri" pitchFamily="34" charset="-122"/>
                <a:cs typeface="Calibri" pitchFamily="34" charset="-120"/>
              </a:rPr>
              <a:t>chown, chgrp, sharing with a group, sudo, setuid and the sticky bit.</a:t>
            </a:r>
            <a:endParaRPr lang="en-US" sz="1400" dirty="0"/>
          </a:p>
        </p:txBody>
      </p:sp>
      <p:sp>
        <p:nvSpPr>
          <p:cNvPr id="26" name="Shape 24"/>
          <p:cNvSpPr/>
          <p:nvPr/>
        </p:nvSpPr>
        <p:spPr>
          <a:xfrm>
            <a:off x="548640" y="5440680"/>
            <a:ext cx="658368" cy="658368"/>
          </a:xfrm>
          <a:prstGeom prst="roundRect">
            <a:avLst>
              <a:gd name="adj" fmla="val 6944"/>
            </a:avLst>
          </a:prstGeom>
          <a:solidFill>
            <a:srgbClr val="02C39A"/>
          </a:solidFill>
          <a:ln/>
        </p:spPr>
        <p:txBody>
          <a:bodyPr/>
          <a:p/>
        </p:txBody>
      </p:sp>
      <p:sp>
        <p:nvSpPr>
          <p:cNvPr id="27" name="Text 25"/>
          <p:cNvSpPr txBox="1"/>
          <p:nvPr/>
        </p:nvSpPr>
        <p:spPr>
          <a:xfrm>
            <a:off x="548640" y="5440680"/>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6</a:t>
            </a:r>
            <a:endParaRPr lang="en-US" sz="2000" dirty="0"/>
          </a:p>
        </p:txBody>
      </p:sp>
      <p:sp>
        <p:nvSpPr>
          <p:cNvPr id="28" name="Shape 26"/>
          <p:cNvSpPr/>
          <p:nvPr/>
        </p:nvSpPr>
        <p:spPr>
          <a:xfrm>
            <a:off x="1371600" y="5440680"/>
            <a:ext cx="10287000" cy="658368"/>
          </a:xfrm>
          <a:prstGeom prst="roundRect">
            <a:avLst>
              <a:gd name="adj" fmla="val 6944"/>
            </a:avLst>
          </a:prstGeom>
          <a:solidFill>
            <a:srgbClr val="F2F2F2"/>
          </a:solidFill>
          <a:ln/>
        </p:spPr>
        <p:txBody>
          <a:bodyPr/>
          <a:p/>
        </p:txBody>
      </p:sp>
      <p:sp>
        <p:nvSpPr>
          <p:cNvPr id="29" name="Text 27"/>
          <p:cNvSpPr txBox="1"/>
          <p:nvPr/>
        </p:nvSpPr>
        <p:spPr>
          <a:xfrm>
            <a:off x="1645920" y="5440680"/>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Lab   </a:t>
            </a:r>
            <a:r>
              <a:rPr lang="en-US" sz="1500" dirty="0">
                <a:solidFill>
                  <a:srgbClr val="3A464C"/>
                </a:solidFill>
                <a:latin typeface="Calibri" pitchFamily="34" charset="0"/>
                <a:ea typeface="Calibri" pitchFamily="34" charset="-122"/>
                <a:cs typeface="Calibri" pitchFamily="34" charset="-120"/>
              </a:rPr>
              <a:t>Secure a project folder; 16 graded exercises in the notes.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1</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Users, Groups and Protection</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Every file has an owner; every process runs as somebody.</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11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WHY PERMISSIONS?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Kernel Checks Every open() — It Cannot Be Skipped</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5</a:t>
            </a:r>
            <a:endParaRPr lang="en-US" sz="900" dirty="0"/>
          </a:p>
        </p:txBody>
      </p:sp>
      <p:sp>
        <p:nvSpPr>
          <p:cNvPr id="6" name="Shape 4"/>
          <p:cNvSpPr/>
          <p:nvPr/>
        </p:nvSpPr>
        <p:spPr>
          <a:xfrm>
            <a:off x="548640" y="1783080"/>
            <a:ext cx="2606040" cy="1188720"/>
          </a:xfrm>
          <a:prstGeom prst="roundRect">
            <a:avLst>
              <a:gd name="adj" fmla="val 3846"/>
            </a:avLst>
          </a:prstGeom>
          <a:solidFill>
            <a:srgbClr val="F2F2F2"/>
          </a:solidFill>
          <a:ln/>
        </p:spPr>
        <p:txBody>
          <a:bodyPr/>
          <a:p/>
        </p:txBody>
      </p:sp>
      <p:sp>
        <p:nvSpPr>
          <p:cNvPr id="7" name="Text 5"/>
          <p:cNvSpPr txBox="1"/>
          <p:nvPr/>
        </p:nvSpPr>
        <p:spPr>
          <a:xfrm>
            <a:off x="548640" y="1783080"/>
            <a:ext cx="2606040" cy="1188720"/>
          </a:xfrm>
          <a:prstGeom prst="rect">
            <a:avLst/>
          </a:prstGeom>
          <a:noFill/>
          <a:ln/>
        </p:spPr>
        <p:txBody>
          <a:bodyPr wrap="square" lIns="38100" tIns="38100" rIns="38100" bIns="38100" rtlCol="0" anchor="ctr"/>
          <a:lstStyle/>
          <a:p>
            <a:pPr algn="ctr" indent="0" marL="0">
              <a:buNone/>
            </a:pPr>
            <a:r>
              <a:rPr lang="en-US" sz="1500" b="1" dirty="0">
                <a:solidFill>
                  <a:srgbClr val="36454F"/>
                </a:solidFill>
                <a:latin typeface="Calibri" pitchFamily="34" charset="0"/>
                <a:ea typeface="Calibri" pitchFamily="34" charset="-122"/>
                <a:cs typeface="Calibri" pitchFamily="34" charset="-120"/>
              </a:rPr>
              <a:t>Process (user mode)</a:t>
            </a:r>
            <a:endParaRPr lang="en-US" sz="1500" dirty="0"/>
          </a:p>
          <a:p>
            <a:pPr algn="ctr" indent="0" marL="0">
              <a:buNone/>
            </a:pPr>
            <a:r>
              <a:rPr lang="en-US" sz="1200" dirty="0">
                <a:solidFill>
                  <a:srgbClr val="36454F"/>
                </a:solidFill>
                <a:latin typeface="Calibri" pitchFamily="34" charset="0"/>
                <a:ea typeface="Calibri" pitchFamily="34" charset="-122"/>
                <a:cs typeface="Calibri" pitchFamily="34" charset="-120"/>
              </a:rPr>
              <a:t>cat, nano, bash …</a:t>
            </a:r>
            <a:endParaRPr lang="en-US" sz="1500" dirty="0"/>
          </a:p>
          <a:p>
            <a:pPr algn="ctr" indent="0" marL="0">
              <a:buNone/>
            </a:pPr>
            <a:r>
              <a:rPr lang="en-US" sz="1200" dirty="0">
                <a:solidFill>
                  <a:srgbClr val="36454F"/>
                </a:solidFill>
                <a:latin typeface="Calibri" pitchFamily="34" charset="0"/>
                <a:ea typeface="Calibri" pitchFamily="34" charset="-122"/>
                <a:cs typeface="Calibri" pitchFamily="34" charset="-120"/>
              </a:rPr>
              <a:t>running as student (UID 1011)</a:t>
            </a:r>
            <a:endParaRPr lang="en-US" sz="1500" dirty="0"/>
          </a:p>
        </p:txBody>
      </p:sp>
      <p:sp>
        <p:nvSpPr>
          <p:cNvPr id="8" name="Shape 6"/>
          <p:cNvSpPr/>
          <p:nvPr/>
        </p:nvSpPr>
        <p:spPr>
          <a:xfrm>
            <a:off x="4526280" y="1783080"/>
            <a:ext cx="2743200" cy="1188720"/>
          </a:xfrm>
          <a:prstGeom prst="roundRect">
            <a:avLst>
              <a:gd name="adj" fmla="val 3846"/>
            </a:avLst>
          </a:prstGeom>
          <a:solidFill>
            <a:srgbClr val="36454F"/>
          </a:solidFill>
          <a:ln/>
        </p:spPr>
        <p:txBody>
          <a:bodyPr/>
          <a:p/>
        </p:txBody>
      </p:sp>
      <p:sp>
        <p:nvSpPr>
          <p:cNvPr id="9" name="Text 7"/>
          <p:cNvSpPr txBox="1"/>
          <p:nvPr/>
        </p:nvSpPr>
        <p:spPr>
          <a:xfrm>
            <a:off x="4526280" y="1783080"/>
            <a:ext cx="2743200" cy="1188720"/>
          </a:xfrm>
          <a:prstGeom prst="rect">
            <a:avLst/>
          </a:prstGeom>
          <a:no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Kernel (kernel mode)</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compares the process's</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UID / GIDs with the inode</a:t>
            </a:r>
            <a:endParaRPr lang="en-US" sz="1500" dirty="0"/>
          </a:p>
        </p:txBody>
      </p:sp>
      <p:sp>
        <p:nvSpPr>
          <p:cNvPr id="10" name="Shape 8"/>
          <p:cNvSpPr/>
          <p:nvPr/>
        </p:nvSpPr>
        <p:spPr>
          <a:xfrm>
            <a:off x="8641080" y="1783080"/>
            <a:ext cx="3017520" cy="1188720"/>
          </a:xfrm>
          <a:prstGeom prst="roundRect">
            <a:avLst>
              <a:gd name="adj" fmla="val 3846"/>
            </a:avLst>
          </a:prstGeom>
          <a:solidFill>
            <a:srgbClr val="D7E9E6"/>
          </a:solidFill>
          <a:ln/>
        </p:spPr>
        <p:txBody>
          <a:bodyPr/>
          <a:p/>
        </p:txBody>
      </p:sp>
      <p:sp>
        <p:nvSpPr>
          <p:cNvPr id="11" name="Text 9"/>
          <p:cNvSpPr txBox="1"/>
          <p:nvPr/>
        </p:nvSpPr>
        <p:spPr>
          <a:xfrm>
            <a:off x="8641080" y="1783080"/>
            <a:ext cx="3017520" cy="1188720"/>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alibri" pitchFamily="34" charset="0"/>
                <a:ea typeface="Calibri" pitchFamily="34" charset="-122"/>
                <a:cs typeface="Calibri" pitchFamily="34" charset="-120"/>
              </a:rPr>
              <a:t>inode of notes.txt</a:t>
            </a:r>
            <a:endParaRPr lang="en-US" sz="1500" dirty="0"/>
          </a:p>
          <a:p>
            <a:pPr algn="ctr" indent="0" marL="0">
              <a:buNone/>
            </a:pPr>
            <a:r>
              <a:rPr lang="en-US" sz="1200" dirty="0">
                <a:solidFill>
                  <a:srgbClr val="212121"/>
                </a:solidFill>
                <a:latin typeface="Calibri" pitchFamily="34" charset="0"/>
                <a:ea typeface="Calibri" pitchFamily="34" charset="-122"/>
                <a:cs typeface="Calibri" pitchFamily="34" charset="-120"/>
              </a:rPr>
              <a:t>owner root · group root</a:t>
            </a:r>
            <a:endParaRPr lang="en-US" sz="1500" dirty="0"/>
          </a:p>
          <a:p>
            <a:pPr algn="ctr" indent="0" marL="0">
              <a:buNone/>
            </a:pPr>
            <a:r>
              <a:rPr lang="en-US" sz="1200" dirty="0">
                <a:solidFill>
                  <a:srgbClr val="212121"/>
                </a:solidFill>
                <a:latin typeface="Calibri" pitchFamily="34" charset="0"/>
                <a:ea typeface="Calibri" pitchFamily="34" charset="-122"/>
                <a:cs typeface="Calibri" pitchFamily="34" charset="-120"/>
              </a:rPr>
              <a:t>mode -rw-r--r--</a:t>
            </a:r>
            <a:endParaRPr lang="en-US" sz="1500" dirty="0"/>
          </a:p>
        </p:txBody>
      </p:sp>
      <p:sp>
        <p:nvSpPr>
          <p:cNvPr id="12" name="Shape 10"/>
          <p:cNvSpPr/>
          <p:nvPr/>
        </p:nvSpPr>
        <p:spPr>
          <a:xfrm>
            <a:off x="3172968" y="2377440"/>
            <a:ext cx="1335024" cy="91"/>
          </a:xfrm>
          <a:prstGeom prst="line">
            <a:avLst/>
          </a:prstGeom>
          <a:noFill/>
          <a:ln w="28575">
            <a:solidFill>
              <a:srgbClr val="028090"/>
            </a:solidFill>
            <a:prstDash val="solid"/>
            <a:tailEnd type="triangle"/>
          </a:ln>
        </p:spPr>
        <p:txBody>
          <a:bodyPr/>
          <a:p/>
        </p:txBody>
      </p:sp>
      <p:sp>
        <p:nvSpPr>
          <p:cNvPr id="13" name="Text 11"/>
          <p:cNvSpPr txBox="1"/>
          <p:nvPr/>
        </p:nvSpPr>
        <p:spPr>
          <a:xfrm>
            <a:off x="3063240" y="1216152"/>
            <a:ext cx="1600200" cy="548640"/>
          </a:xfrm>
          <a:prstGeom prst="rect">
            <a:avLst/>
          </a:prstGeom>
          <a:noFill/>
          <a:ln/>
        </p:spPr>
        <p:txBody>
          <a:bodyPr wrap="square" lIns="0" tIns="0" rIns="0" bIns="0" rtlCol="0" anchor="b"/>
          <a:lstStyle/>
          <a:p>
            <a:pPr algn="ctr" indent="0" marL="0">
              <a:buNone/>
            </a:pPr>
            <a:r>
              <a:rPr lang="en-US" sz="1050" dirty="0">
                <a:solidFill>
                  <a:srgbClr val="028090"/>
                </a:solidFill>
                <a:latin typeface="Consolas" pitchFamily="34" charset="0"/>
                <a:ea typeface="Consolas" pitchFamily="34" charset="-122"/>
                <a:cs typeface="Consolas" pitchFamily="34" charset="-120"/>
              </a:rPr>
              <a:t>system call</a:t>
            </a:r>
            <a:endParaRPr lang="en-US" sz="1050" dirty="0"/>
          </a:p>
          <a:p>
            <a:pPr algn="ctr" indent="0" marL="0">
              <a:buNone/>
            </a:pPr>
            <a:r>
              <a:rPr lang="en-US" sz="1050" dirty="0">
                <a:solidFill>
                  <a:srgbClr val="028090"/>
                </a:solidFill>
                <a:latin typeface="Consolas" pitchFamily="34" charset="0"/>
                <a:ea typeface="Consolas" pitchFamily="34" charset="-122"/>
                <a:cs typeface="Consolas" pitchFamily="34" charset="-120"/>
              </a:rPr>
              <a:t>open("notes.txt", O_WRONLY)</a:t>
            </a:r>
            <a:endParaRPr lang="en-US" sz="1050" dirty="0"/>
          </a:p>
        </p:txBody>
      </p:sp>
      <p:sp>
        <p:nvSpPr>
          <p:cNvPr id="14" name="Shape 12"/>
          <p:cNvSpPr/>
          <p:nvPr/>
        </p:nvSpPr>
        <p:spPr>
          <a:xfrm flipH="1">
            <a:off x="7287768" y="2377440"/>
            <a:ext cx="1335024" cy="91"/>
          </a:xfrm>
          <a:prstGeom prst="line">
            <a:avLst/>
          </a:prstGeom>
          <a:noFill/>
          <a:ln w="28575">
            <a:solidFill>
              <a:srgbClr val="50808E"/>
            </a:solidFill>
            <a:prstDash val="solid"/>
            <a:tailEnd type="triangle"/>
          </a:ln>
        </p:spPr>
        <p:txBody>
          <a:bodyPr/>
          <a:p/>
        </p:txBody>
      </p:sp>
      <p:sp>
        <p:nvSpPr>
          <p:cNvPr id="15" name="Text 13"/>
          <p:cNvSpPr txBox="1"/>
          <p:nvPr/>
        </p:nvSpPr>
        <p:spPr>
          <a:xfrm>
            <a:off x="7269480" y="1965960"/>
            <a:ext cx="1371600" cy="365760"/>
          </a:xfrm>
          <a:prstGeom prst="rect">
            <a:avLst/>
          </a:prstGeom>
          <a:noFill/>
          <a:ln/>
        </p:spPr>
        <p:txBody>
          <a:bodyPr wrap="square" lIns="0" tIns="0" rIns="0" bIns="0" rtlCol="0" anchor="b"/>
          <a:lstStyle/>
          <a:p>
            <a:pPr algn="ctr" indent="0" marL="0">
              <a:buNone/>
            </a:pPr>
            <a:r>
              <a:rPr lang="en-US" sz="1100" i="1" dirty="0">
                <a:solidFill>
                  <a:srgbClr val="50808E"/>
                </a:solidFill>
                <a:latin typeface="Calibri" pitchFamily="34" charset="0"/>
                <a:ea typeface="Calibri" pitchFamily="34" charset="-122"/>
                <a:cs typeface="Calibri" pitchFamily="34" charset="-120"/>
              </a:rPr>
              <a:t>owner, group, mode</a:t>
            </a:r>
            <a:endParaRPr lang="en-US" sz="1100" dirty="0"/>
          </a:p>
        </p:txBody>
      </p:sp>
      <p:sp>
        <p:nvSpPr>
          <p:cNvPr id="16" name="Shape 14"/>
          <p:cNvSpPr/>
          <p:nvPr/>
        </p:nvSpPr>
        <p:spPr>
          <a:xfrm>
            <a:off x="2926080" y="3566160"/>
            <a:ext cx="2743200" cy="685800"/>
          </a:xfrm>
          <a:prstGeom prst="roundRect">
            <a:avLst>
              <a:gd name="adj" fmla="val 6667"/>
            </a:avLst>
          </a:prstGeom>
          <a:solidFill>
            <a:srgbClr val="02C39A"/>
          </a:solidFill>
          <a:ln/>
        </p:spPr>
        <p:txBody>
          <a:bodyPr/>
          <a:p/>
        </p:txBody>
      </p:sp>
      <p:sp>
        <p:nvSpPr>
          <p:cNvPr id="17" name="Text 15"/>
          <p:cNvSpPr txBox="1"/>
          <p:nvPr/>
        </p:nvSpPr>
        <p:spPr>
          <a:xfrm>
            <a:off x="2926080" y="3566160"/>
            <a:ext cx="2743200" cy="6858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allowed → file descriptor 3</a:t>
            </a:r>
            <a:endParaRPr lang="en-US" sz="1400" dirty="0"/>
          </a:p>
        </p:txBody>
      </p:sp>
      <p:sp>
        <p:nvSpPr>
          <p:cNvPr id="18" name="Shape 16"/>
          <p:cNvSpPr/>
          <p:nvPr/>
        </p:nvSpPr>
        <p:spPr>
          <a:xfrm>
            <a:off x="6126480" y="3566160"/>
            <a:ext cx="3291840" cy="685800"/>
          </a:xfrm>
          <a:prstGeom prst="roundRect">
            <a:avLst>
              <a:gd name="adj" fmla="val 6667"/>
            </a:avLst>
          </a:prstGeom>
          <a:solidFill>
            <a:srgbClr val="F3D9D6"/>
          </a:solidFill>
          <a:ln/>
        </p:spPr>
        <p:txBody>
          <a:bodyPr/>
          <a:p/>
        </p:txBody>
      </p:sp>
      <p:sp>
        <p:nvSpPr>
          <p:cNvPr id="19" name="Text 17"/>
          <p:cNvSpPr txBox="1"/>
          <p:nvPr/>
        </p:nvSpPr>
        <p:spPr>
          <a:xfrm>
            <a:off x="6126480" y="3566160"/>
            <a:ext cx="3291840" cy="685800"/>
          </a:xfrm>
          <a:prstGeom prst="rect">
            <a:avLst/>
          </a:prstGeom>
          <a:noFill/>
          <a:ln/>
        </p:spPr>
        <p:txBody>
          <a:bodyPr wrap="square" lIns="38100" tIns="38100" rIns="38100" bIns="3810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denied → error EACCES</a:t>
            </a:r>
            <a:endParaRPr lang="en-US" sz="1400" dirty="0"/>
          </a:p>
          <a:p>
            <a:pPr algn="ctr" indent="0" marL="0">
              <a:buNone/>
            </a:pPr>
            <a:r>
              <a:rPr lang="en-US" sz="1150" dirty="0">
                <a:solidFill>
                  <a:srgbClr val="B5453A"/>
                </a:solidFill>
                <a:latin typeface="Calibri" pitchFamily="34" charset="0"/>
                <a:ea typeface="Calibri" pitchFamily="34" charset="-122"/>
                <a:cs typeface="Calibri" pitchFamily="34" charset="-120"/>
              </a:rPr>
              <a:t>the shell prints "Permission denied"</a:t>
            </a:r>
            <a:endParaRPr lang="en-US" sz="1400" dirty="0"/>
          </a:p>
        </p:txBody>
      </p:sp>
      <p:sp>
        <p:nvSpPr>
          <p:cNvPr id="20" name="Shape 18"/>
          <p:cNvSpPr/>
          <p:nvPr/>
        </p:nvSpPr>
        <p:spPr>
          <a:xfrm flipH="1">
            <a:off x="4572000" y="2990088"/>
            <a:ext cx="822960" cy="557784"/>
          </a:xfrm>
          <a:prstGeom prst="line">
            <a:avLst/>
          </a:prstGeom>
          <a:noFill/>
          <a:ln w="22225">
            <a:solidFill>
              <a:srgbClr val="028090"/>
            </a:solidFill>
            <a:prstDash val="solid"/>
            <a:tailEnd type="triangle"/>
          </a:ln>
        </p:spPr>
        <p:txBody>
          <a:bodyPr/>
          <a:p/>
        </p:txBody>
      </p:sp>
      <p:sp>
        <p:nvSpPr>
          <p:cNvPr id="21" name="Shape 19"/>
          <p:cNvSpPr/>
          <p:nvPr/>
        </p:nvSpPr>
        <p:spPr>
          <a:xfrm>
            <a:off x="6400800" y="2990088"/>
            <a:ext cx="1097280" cy="557784"/>
          </a:xfrm>
          <a:prstGeom prst="line">
            <a:avLst/>
          </a:prstGeom>
          <a:noFill/>
          <a:ln w="22225">
            <a:solidFill>
              <a:srgbClr val="B5453A"/>
            </a:solidFill>
            <a:prstDash val="solid"/>
            <a:tailEnd type="triangle"/>
          </a:ln>
        </p:spPr>
        <p:txBody>
          <a:bodyPr/>
          <a:p/>
        </p:txBody>
      </p:sp>
      <p:sp>
        <p:nvSpPr>
          <p:cNvPr id="22" name="Shape 20"/>
          <p:cNvSpPr/>
          <p:nvPr/>
        </p:nvSpPr>
        <p:spPr>
          <a:xfrm>
            <a:off x="548640" y="4572000"/>
            <a:ext cx="3550920" cy="1691640"/>
          </a:xfrm>
          <a:prstGeom prst="roundRect">
            <a:avLst>
              <a:gd name="adj" fmla="val 324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3" name="Text 21"/>
          <p:cNvSpPr txBox="1"/>
          <p:nvPr/>
        </p:nvSpPr>
        <p:spPr>
          <a:xfrm>
            <a:off x="777240" y="4754880"/>
            <a:ext cx="30937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Week 2: dual mode</a:t>
            </a:r>
            <a:endParaRPr lang="en-US" sz="1500" dirty="0"/>
          </a:p>
        </p:txBody>
      </p:sp>
      <p:sp>
        <p:nvSpPr>
          <p:cNvPr id="24" name="Text 22"/>
          <p:cNvSpPr txBox="1"/>
          <p:nvPr/>
        </p:nvSpPr>
        <p:spPr>
          <a:xfrm>
            <a:off x="777240" y="5212080"/>
            <a:ext cx="3093720" cy="914400"/>
          </a:xfrm>
          <a:prstGeom prst="rect">
            <a:avLst/>
          </a:prstGeom>
          <a:noFill/>
          <a:ln/>
        </p:spPr>
        <p:txBody>
          <a:bodyPr wrap="square" lIns="0" tIns="0" rIns="0" bIns="0" rtlCol="0" anchor="t"/>
          <a:lstStyle/>
          <a:p>
            <a:pPr indent="0" marL="0">
              <a:spcAft>
                <a:spcPts val="400"/>
              </a:spcAft>
              <a:buNone/>
            </a:pPr>
            <a:r>
              <a:rPr lang="en-US" sz="1300" dirty="0">
                <a:solidFill>
                  <a:srgbClr val="3A464C"/>
                </a:solidFill>
                <a:latin typeface="Calibri" pitchFamily="34" charset="0"/>
                <a:ea typeface="Calibri" pitchFamily="34" charset="-122"/>
                <a:cs typeface="Calibri" pitchFamily="34" charset="-120"/>
              </a:rPr>
              <a:t>Only the kernel may touch the disk. A program must ask with a system call, so the check cannot be bypassed.</a:t>
            </a:r>
            <a:endParaRPr lang="en-US" sz="1300" dirty="0"/>
          </a:p>
        </p:txBody>
      </p:sp>
      <p:sp>
        <p:nvSpPr>
          <p:cNvPr id="25" name="Shape 23"/>
          <p:cNvSpPr/>
          <p:nvPr/>
        </p:nvSpPr>
        <p:spPr>
          <a:xfrm>
            <a:off x="4328160" y="4572000"/>
            <a:ext cx="3550920" cy="1691640"/>
          </a:xfrm>
          <a:prstGeom prst="roundRect">
            <a:avLst>
              <a:gd name="adj" fmla="val 324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6" name="Text 24"/>
          <p:cNvSpPr txBox="1"/>
          <p:nvPr/>
        </p:nvSpPr>
        <p:spPr>
          <a:xfrm>
            <a:off x="4556760" y="4754880"/>
            <a:ext cx="30937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Week 7: file attributes</a:t>
            </a:r>
            <a:endParaRPr lang="en-US" sz="1500" dirty="0"/>
          </a:p>
        </p:txBody>
      </p:sp>
      <p:sp>
        <p:nvSpPr>
          <p:cNvPr id="27" name="Text 25"/>
          <p:cNvSpPr txBox="1"/>
          <p:nvPr/>
        </p:nvSpPr>
        <p:spPr>
          <a:xfrm>
            <a:off x="4556760" y="5212080"/>
            <a:ext cx="3093720" cy="914400"/>
          </a:xfrm>
          <a:prstGeom prst="rect">
            <a:avLst/>
          </a:prstGeom>
          <a:noFill/>
          <a:ln/>
        </p:spPr>
        <p:txBody>
          <a:bodyPr wrap="square" lIns="0" tIns="0" rIns="0" bIns="0" rtlCol="0" anchor="t"/>
          <a:lstStyle/>
          <a:p>
            <a:pPr indent="0" marL="0">
              <a:spcAft>
                <a:spcPts val="400"/>
              </a:spcAft>
              <a:buNone/>
            </a:pPr>
            <a:r>
              <a:rPr lang="en-US" sz="1300" dirty="0">
                <a:solidFill>
                  <a:srgbClr val="3A464C"/>
                </a:solidFill>
                <a:latin typeface="Calibri" pitchFamily="34" charset="0"/>
                <a:ea typeface="Calibri" pitchFamily="34" charset="-122"/>
                <a:cs typeface="Calibri" pitchFamily="34" charset="-120"/>
              </a:rPr>
              <a:t>"Protection" is an attribute in the inode, next to owner, group, size and timestamps.</a:t>
            </a:r>
            <a:endParaRPr lang="en-US" sz="1300" dirty="0"/>
          </a:p>
        </p:txBody>
      </p:sp>
      <p:sp>
        <p:nvSpPr>
          <p:cNvPr id="28" name="Shape 26"/>
          <p:cNvSpPr/>
          <p:nvPr/>
        </p:nvSpPr>
        <p:spPr>
          <a:xfrm>
            <a:off x="8107680" y="4572000"/>
            <a:ext cx="3550920" cy="1691640"/>
          </a:xfrm>
          <a:prstGeom prst="roundRect">
            <a:avLst>
              <a:gd name="adj" fmla="val 324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9" name="Text 27"/>
          <p:cNvSpPr txBox="1"/>
          <p:nvPr/>
        </p:nvSpPr>
        <p:spPr>
          <a:xfrm>
            <a:off x="8336280" y="4754880"/>
            <a:ext cx="30937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Today: the Linux rule</a:t>
            </a:r>
            <a:endParaRPr lang="en-US" sz="1500" dirty="0"/>
          </a:p>
        </p:txBody>
      </p:sp>
      <p:sp>
        <p:nvSpPr>
          <p:cNvPr id="30" name="Text 28"/>
          <p:cNvSpPr txBox="1"/>
          <p:nvPr/>
        </p:nvSpPr>
        <p:spPr>
          <a:xfrm>
            <a:off x="8336280" y="5212080"/>
            <a:ext cx="3093720" cy="914400"/>
          </a:xfrm>
          <a:prstGeom prst="rect">
            <a:avLst/>
          </a:prstGeom>
          <a:noFill/>
          <a:ln/>
        </p:spPr>
        <p:txBody>
          <a:bodyPr wrap="square" lIns="0" tIns="0" rIns="0" bIns="0" rtlCol="0" anchor="t"/>
          <a:lstStyle/>
          <a:p>
            <a:pPr indent="0" marL="0">
              <a:spcAft>
                <a:spcPts val="400"/>
              </a:spcAft>
              <a:buNone/>
            </a:pPr>
            <a:r>
              <a:rPr lang="en-US" sz="1300" dirty="0">
                <a:solidFill>
                  <a:srgbClr val="3A464C"/>
                </a:solidFill>
                <a:latin typeface="Calibri" pitchFamily="34" charset="0"/>
                <a:ea typeface="Calibri" pitchFamily="34" charset="-122"/>
                <a:cs typeface="Calibri" pitchFamily="34" charset="-120"/>
              </a:rPr>
              <a:t>Three classes (owner, group, others) × three rights (read, write, execute) = 9 bits.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USERS AND GROUPS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Who Am I? Users, Groups and Their Numbers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6</a:t>
            </a:r>
            <a:endParaRPr lang="en-US" sz="900" dirty="0"/>
          </a:p>
        </p:txBody>
      </p:sp>
      <p:sp>
        <p:nvSpPr>
          <p:cNvPr id="6" name="Shape 4"/>
          <p:cNvSpPr/>
          <p:nvPr/>
        </p:nvSpPr>
        <p:spPr>
          <a:xfrm>
            <a:off x="548640" y="1508760"/>
            <a:ext cx="5669280" cy="1481328"/>
          </a:xfrm>
          <a:prstGeom prst="roundRect">
            <a:avLst>
              <a:gd name="adj" fmla="val 370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52120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User</a:t>
            </a:r>
            <a:endParaRPr lang="en-US" sz="1500" dirty="0"/>
          </a:p>
        </p:txBody>
      </p:sp>
      <p:sp>
        <p:nvSpPr>
          <p:cNvPr id="8" name="Text 6"/>
          <p:cNvSpPr txBox="1"/>
          <p:nvPr/>
        </p:nvSpPr>
        <p:spPr>
          <a:xfrm>
            <a:off x="777240" y="2148840"/>
            <a:ext cx="5212080" cy="704088"/>
          </a:xfrm>
          <a:prstGeom prst="rect">
            <a:avLst/>
          </a:prstGeom>
          <a:noFill/>
          <a:ln/>
        </p:spPr>
        <p:txBody>
          <a:bodyPr wrap="square" lIns="0" tIns="0" rIns="0" bIns="0" rtlCol="0" anchor="t"/>
          <a:lstStyle/>
          <a:p>
            <a:pPr indent="0" marL="0">
              <a:spcAft>
                <a:spcPts val="400"/>
              </a:spcAft>
              <a:buNone/>
            </a:pPr>
            <a:r>
              <a:rPr lang="en-US" sz="1350" dirty="0">
                <a:solidFill>
                  <a:srgbClr val="3A464C"/>
                </a:solidFill>
                <a:latin typeface="Calibri" pitchFamily="34" charset="0"/>
                <a:ea typeface="Calibri" pitchFamily="34" charset="-122"/>
                <a:cs typeface="Calibri" pitchFamily="34" charset="-120"/>
              </a:rPr>
              <a:t>A login name plus a number, the UID. The kernel only stores and compares the number. root (UID 0) is the superuser; system users run services.</a:t>
            </a:r>
            <a:endParaRPr lang="en-US" sz="1350" dirty="0"/>
          </a:p>
        </p:txBody>
      </p:sp>
      <p:sp>
        <p:nvSpPr>
          <p:cNvPr id="9" name="Shape 7"/>
          <p:cNvSpPr/>
          <p:nvPr/>
        </p:nvSpPr>
        <p:spPr>
          <a:xfrm>
            <a:off x="548640" y="3154680"/>
            <a:ext cx="5669280" cy="1481328"/>
          </a:xfrm>
          <a:prstGeom prst="roundRect">
            <a:avLst>
              <a:gd name="adj" fmla="val 370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777240" y="3337560"/>
            <a:ext cx="52120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Group</a:t>
            </a:r>
            <a:endParaRPr lang="en-US" sz="1500" dirty="0"/>
          </a:p>
        </p:txBody>
      </p:sp>
      <p:sp>
        <p:nvSpPr>
          <p:cNvPr id="11" name="Text 9"/>
          <p:cNvSpPr txBox="1"/>
          <p:nvPr/>
        </p:nvSpPr>
        <p:spPr>
          <a:xfrm>
            <a:off x="777240" y="3794760"/>
            <a:ext cx="5212080" cy="704088"/>
          </a:xfrm>
          <a:prstGeom prst="rect">
            <a:avLst/>
          </a:prstGeom>
          <a:noFill/>
          <a:ln/>
        </p:spPr>
        <p:txBody>
          <a:bodyPr wrap="square" lIns="0" tIns="0" rIns="0" bIns="0" rtlCol="0" anchor="t"/>
          <a:lstStyle/>
          <a:p>
            <a:pPr indent="0" marL="0">
              <a:spcAft>
                <a:spcPts val="400"/>
              </a:spcAft>
              <a:buNone/>
            </a:pPr>
            <a:r>
              <a:rPr lang="en-US" sz="1350" dirty="0">
                <a:solidFill>
                  <a:srgbClr val="3A464C"/>
                </a:solidFill>
                <a:latin typeface="Calibri" pitchFamily="34" charset="0"/>
                <a:ea typeface="Calibri" pitchFamily="34" charset="-122"/>
                <a:cs typeface="Calibri" pitchFamily="34" charset="-120"/>
              </a:rPr>
              <a:t>A named set of users, with a number (GID). Each user has one primary group and may have supplementary groups. Ubuntu gives every user a private group with the same name.</a:t>
            </a:r>
            <a:endParaRPr lang="en-US" sz="1350" dirty="0"/>
          </a:p>
        </p:txBody>
      </p:sp>
      <p:sp>
        <p:nvSpPr>
          <p:cNvPr id="12" name="Shape 10"/>
          <p:cNvSpPr/>
          <p:nvPr/>
        </p:nvSpPr>
        <p:spPr>
          <a:xfrm>
            <a:off x="548640" y="4800600"/>
            <a:ext cx="5669280" cy="1463040"/>
          </a:xfrm>
          <a:prstGeom prst="roundRect">
            <a:avLst>
              <a:gd name="adj" fmla="val 375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777240" y="4983480"/>
            <a:ext cx="52120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Credentials of a process</a:t>
            </a:r>
            <a:endParaRPr lang="en-US" sz="1500" dirty="0"/>
          </a:p>
        </p:txBody>
      </p:sp>
      <p:sp>
        <p:nvSpPr>
          <p:cNvPr id="14" name="Text 12"/>
          <p:cNvSpPr txBox="1"/>
          <p:nvPr/>
        </p:nvSpPr>
        <p:spPr>
          <a:xfrm>
            <a:off x="777240" y="5440680"/>
            <a:ext cx="5212080" cy="685800"/>
          </a:xfrm>
          <a:prstGeom prst="rect">
            <a:avLst/>
          </a:prstGeom>
          <a:noFill/>
          <a:ln/>
        </p:spPr>
        <p:txBody>
          <a:bodyPr wrap="square" lIns="0" tIns="0" rIns="0" bIns="0" rtlCol="0" anchor="t"/>
          <a:lstStyle/>
          <a:p>
            <a:pPr indent="0" marL="0">
              <a:spcAft>
                <a:spcPts val="400"/>
              </a:spcAft>
              <a:buNone/>
            </a:pPr>
            <a:r>
              <a:rPr lang="en-US" sz="1350" dirty="0">
                <a:solidFill>
                  <a:srgbClr val="3A464C"/>
                </a:solidFill>
                <a:latin typeface="Calibri" pitchFamily="34" charset="0"/>
                <a:ea typeface="Calibri" pitchFamily="34" charset="-122"/>
                <a:cs typeface="Calibri" pitchFamily="34" charset="-120"/>
              </a:rPr>
              <a:t>Every process carries the UID and GIDs of whoever started it. A new file gets your UID and your primary GID.</a:t>
            </a:r>
            <a:endParaRPr lang="en-US" sz="1350" dirty="0"/>
          </a:p>
        </p:txBody>
      </p:sp>
      <p:sp>
        <p:nvSpPr>
          <p:cNvPr id="15" name="Shape 13"/>
          <p:cNvSpPr/>
          <p:nvPr/>
        </p:nvSpPr>
        <p:spPr>
          <a:xfrm>
            <a:off x="6446520" y="1508760"/>
            <a:ext cx="5212080" cy="2743200"/>
          </a:xfrm>
          <a:prstGeom prst="roundRect">
            <a:avLst>
              <a:gd name="adj" fmla="val 1667"/>
            </a:avLst>
          </a:prstGeom>
          <a:solidFill>
            <a:srgbClr val="212121"/>
          </a:solidFill>
          <a:ln/>
        </p:spPr>
        <p:txBody>
          <a:bodyPr/>
          <a:p/>
        </p:txBody>
      </p:sp>
      <p:sp>
        <p:nvSpPr>
          <p:cNvPr id="16" name="Text 14"/>
          <p:cNvSpPr txBox="1"/>
          <p:nvPr/>
        </p:nvSpPr>
        <p:spPr>
          <a:xfrm>
            <a:off x="6629400" y="1618488"/>
            <a:ext cx="4846320" cy="2523744"/>
          </a:xfrm>
          <a:prstGeom prst="rect">
            <a:avLst/>
          </a:prstGeom>
          <a:noFill/>
          <a:ln/>
        </p:spPr>
        <p:txBody>
          <a:bodyPr wrap="square" lIns="0" tIns="0" rIns="0" bIns="0" rtlCol="0" anchor="t"/>
          <a:lstStyle/>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 </a:t>
            </a:r>
            <a:r>
              <a:rPr lang="en-US" sz="1100" b="1" dirty="0">
                <a:solidFill>
                  <a:srgbClr val="FFFFFF"/>
                </a:solidFill>
                <a:latin typeface="Consolas" pitchFamily="34" charset="0"/>
                <a:ea typeface="Consolas" pitchFamily="34" charset="-122"/>
                <a:cs typeface="Consolas" pitchFamily="34" charset="-120"/>
              </a:rPr>
              <a:t>whoami</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student</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 </a:t>
            </a:r>
            <a:r>
              <a:rPr lang="en-US" sz="1100" b="1" dirty="0">
                <a:solidFill>
                  <a:srgbClr val="FFFFFF"/>
                </a:solidFill>
                <a:latin typeface="Consolas" pitchFamily="34" charset="0"/>
                <a:ea typeface="Consolas" pitchFamily="34" charset="-122"/>
                <a:cs typeface="Consolas" pitchFamily="34" charset="-120"/>
              </a:rPr>
              <a:t>id</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uid=1011(student) gid=1013(student) groups=1013(student)</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 </a:t>
            </a:r>
            <a:r>
              <a:rPr lang="en-US" sz="1100" b="1" dirty="0">
                <a:solidFill>
                  <a:srgbClr val="FFFFFF"/>
                </a:solidFill>
                <a:latin typeface="Consolas" pitchFamily="34" charset="0"/>
                <a:ea typeface="Consolas" pitchFamily="34" charset="-122"/>
                <a:cs typeface="Consolas" pitchFamily="34" charset="-120"/>
              </a:rPr>
              <a:t>groups</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student</a:t>
            </a:r>
            <a:endParaRPr lang="en-US" sz="1100" dirty="0"/>
          </a:p>
        </p:txBody>
      </p:sp>
      <p:sp>
        <p:nvSpPr>
          <p:cNvPr id="17" name="Shape 15"/>
          <p:cNvSpPr/>
          <p:nvPr/>
        </p:nvSpPr>
        <p:spPr>
          <a:xfrm>
            <a:off x="6446520" y="4434840"/>
            <a:ext cx="5212080" cy="1828800"/>
          </a:xfrm>
          <a:prstGeom prst="roundRect">
            <a:avLst>
              <a:gd name="adj" fmla="val 30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8" name="Text 16"/>
          <p:cNvSpPr txBox="1"/>
          <p:nvPr/>
        </p:nvSpPr>
        <p:spPr>
          <a:xfrm>
            <a:off x="6675120" y="4617720"/>
            <a:ext cx="47548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Reading id</a:t>
            </a:r>
            <a:endParaRPr lang="en-US" sz="1500" dirty="0"/>
          </a:p>
        </p:txBody>
      </p:sp>
      <p:sp>
        <p:nvSpPr>
          <p:cNvPr id="19" name="Text 17"/>
          <p:cNvSpPr txBox="1"/>
          <p:nvPr/>
        </p:nvSpPr>
        <p:spPr>
          <a:xfrm>
            <a:off x="6675120" y="5074920"/>
            <a:ext cx="4754880" cy="105156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uid=1011(student):</a:t>
            </a:r>
            <a:r>
              <a:rPr lang="en-US" sz="1350" dirty="0">
                <a:solidFill>
                  <a:srgbClr val="3A464C"/>
                </a:solidFill>
                <a:latin typeface="Calibri" pitchFamily="34" charset="0"/>
                <a:ea typeface="Calibri" pitchFamily="34" charset="-122"/>
                <a:cs typeface="Calibri" pitchFamily="34" charset="-120"/>
              </a:rPr>
              <a:t> my number and name.</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gid=1013(student):</a:t>
            </a:r>
            <a:r>
              <a:rPr lang="en-US" sz="1350" dirty="0">
                <a:solidFill>
                  <a:srgbClr val="3A464C"/>
                </a:solidFill>
                <a:latin typeface="Calibri" pitchFamily="34" charset="0"/>
                <a:ea typeface="Calibri" pitchFamily="34" charset="-122"/>
                <a:cs typeface="Calibri" pitchFamily="34" charset="-120"/>
              </a:rPr>
              <a:t> my primary group.</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groups=…:</a:t>
            </a:r>
            <a:r>
              <a:rPr lang="en-US" sz="1350" dirty="0">
                <a:solidFill>
                  <a:srgbClr val="3A464C"/>
                </a:solidFill>
                <a:latin typeface="Calibri" pitchFamily="34" charset="0"/>
                <a:ea typeface="Calibri" pitchFamily="34" charset="-122"/>
                <a:cs typeface="Calibri" pitchFamily="34" charset="-120"/>
              </a:rPr>
              <a:t> every group I belong to.</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ACCOUNT FILES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/etc/passwd and /etc/group: One Line per Account</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7</a:t>
            </a:r>
            <a:endParaRPr lang="en-US" sz="900" dirty="0"/>
          </a:p>
        </p:txBody>
      </p:sp>
      <p:sp>
        <p:nvSpPr>
          <p:cNvPr id="6" name="Text 4"/>
          <p:cNvSpPr txBox="1"/>
          <p:nvPr/>
        </p:nvSpPr>
        <p:spPr>
          <a:xfrm>
            <a:off x="548640" y="1581912"/>
            <a:ext cx="8229600" cy="329184"/>
          </a:xfrm>
          <a:prstGeom prst="rect">
            <a:avLst/>
          </a:prstGeom>
          <a:noFill/>
          <a:ln/>
        </p:spPr>
        <p:txBody>
          <a:bodyPr wrap="square" lIns="0" tIns="0" rIns="0" bIns="0" rtlCol="0" anchor="t"/>
          <a:lstStyle/>
          <a:p>
            <a:pPr indent="0" marL="0">
              <a:buNone/>
            </a:pPr>
            <a:r>
              <a:rPr lang="en-US" sz="1400" b="1" dirty="0">
                <a:solidFill>
                  <a:srgbClr val="028090"/>
                </a:solidFill>
                <a:latin typeface="Calibri" pitchFamily="34" charset="0"/>
                <a:ea typeface="Calibri" pitchFamily="34" charset="-122"/>
                <a:cs typeface="Calibri" pitchFamily="34" charset="-120"/>
              </a:rPr>
              <a:t>/etc/passwd  —  7 fields separated by colons</a:t>
            </a:r>
            <a:endParaRPr lang="en-US" sz="1400" dirty="0"/>
          </a:p>
        </p:txBody>
      </p:sp>
      <p:sp>
        <p:nvSpPr>
          <p:cNvPr id="7" name="Shape 5"/>
          <p:cNvSpPr/>
          <p:nvPr/>
        </p:nvSpPr>
        <p:spPr>
          <a:xfrm>
            <a:off x="548640" y="1965960"/>
            <a:ext cx="1417320" cy="502920"/>
          </a:xfrm>
          <a:prstGeom prst="roundRect">
            <a:avLst>
              <a:gd name="adj" fmla="val 9091"/>
            </a:avLst>
          </a:prstGeom>
          <a:solidFill>
            <a:srgbClr val="36454F"/>
          </a:solidFill>
          <a:ln/>
        </p:spPr>
        <p:txBody>
          <a:bodyPr/>
          <a:p/>
        </p:txBody>
      </p:sp>
      <p:sp>
        <p:nvSpPr>
          <p:cNvPr id="8" name="Text 6"/>
          <p:cNvSpPr txBox="1"/>
          <p:nvPr/>
        </p:nvSpPr>
        <p:spPr>
          <a:xfrm>
            <a:off x="548640" y="1965960"/>
            <a:ext cx="1417320" cy="502920"/>
          </a:xfrm>
          <a:prstGeom prst="rect">
            <a:avLst/>
          </a:prstGeom>
          <a:noFill/>
          <a:ln/>
        </p:spPr>
        <p:txBody>
          <a:bodyPr wrap="square" lIns="38100" tIns="38100" rIns="38100" bIns="3810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student</a:t>
            </a:r>
            <a:endParaRPr lang="en-US" sz="1500" dirty="0"/>
          </a:p>
        </p:txBody>
      </p:sp>
      <p:sp>
        <p:nvSpPr>
          <p:cNvPr id="9" name="Text 7"/>
          <p:cNvSpPr txBox="1"/>
          <p:nvPr/>
        </p:nvSpPr>
        <p:spPr>
          <a:xfrm>
            <a:off x="502920" y="2514600"/>
            <a:ext cx="1508760" cy="502920"/>
          </a:xfrm>
          <a:prstGeom prst="rect">
            <a:avLst/>
          </a:prstGeom>
          <a:noFill/>
          <a:ln/>
        </p:spPr>
        <p:txBody>
          <a:bodyPr wrap="square" lIns="0" tIns="0" rIns="0" bIns="0" rtlCol="0" anchor="t"/>
          <a:lstStyle/>
          <a:p>
            <a:pPr algn="ctr" indent="0" marL="0">
              <a:buNone/>
            </a:pPr>
            <a:r>
              <a:rPr lang="en-US" sz="1100" dirty="0">
                <a:solidFill>
                  <a:srgbClr val="3A464C"/>
                </a:solidFill>
                <a:latin typeface="Calibri" pitchFamily="34" charset="0"/>
                <a:ea typeface="Calibri" pitchFamily="34" charset="-122"/>
                <a:cs typeface="Calibri" pitchFamily="34" charset="-120"/>
              </a:rPr>
              <a:t>1 user name</a:t>
            </a:r>
            <a:endParaRPr lang="en-US" sz="1100" dirty="0"/>
          </a:p>
        </p:txBody>
      </p:sp>
      <p:sp>
        <p:nvSpPr>
          <p:cNvPr id="10" name="Text 8"/>
          <p:cNvSpPr txBox="1"/>
          <p:nvPr/>
        </p:nvSpPr>
        <p:spPr>
          <a:xfrm>
            <a:off x="1965960" y="1965960"/>
            <a:ext cx="201168" cy="502920"/>
          </a:xfrm>
          <a:prstGeom prst="rect">
            <a:avLst/>
          </a:prstGeom>
          <a:noFill/>
          <a:ln/>
        </p:spPr>
        <p:txBody>
          <a:bodyPr wrap="square" lIns="0" tIns="0" rIns="0" bIns="0" rtlCol="0" anchor="ctr"/>
          <a:lstStyle/>
          <a:p>
            <a:pPr algn="ctr" indent="0" marL="0">
              <a:buNone/>
            </a:pPr>
            <a:r>
              <a:rPr lang="en-US" sz="2000" b="1" dirty="0">
                <a:solidFill>
                  <a:srgbClr val="B5453A"/>
                </a:solidFill>
                <a:latin typeface="Consolas" pitchFamily="34" charset="0"/>
                <a:ea typeface="Consolas" pitchFamily="34" charset="-122"/>
                <a:cs typeface="Consolas" pitchFamily="34" charset="-120"/>
              </a:rPr>
              <a:t>:</a:t>
            </a:r>
            <a:endParaRPr lang="en-US" sz="2000" dirty="0"/>
          </a:p>
        </p:txBody>
      </p:sp>
      <p:sp>
        <p:nvSpPr>
          <p:cNvPr id="11" name="Shape 9"/>
          <p:cNvSpPr/>
          <p:nvPr/>
        </p:nvSpPr>
        <p:spPr>
          <a:xfrm>
            <a:off x="2167128" y="1965960"/>
            <a:ext cx="1188720" cy="502920"/>
          </a:xfrm>
          <a:prstGeom prst="roundRect">
            <a:avLst>
              <a:gd name="adj" fmla="val 9091"/>
            </a:avLst>
          </a:prstGeom>
          <a:solidFill>
            <a:srgbClr val="D7E9E6"/>
          </a:solidFill>
          <a:ln/>
        </p:spPr>
        <p:txBody>
          <a:bodyPr/>
          <a:p/>
        </p:txBody>
      </p:sp>
      <p:sp>
        <p:nvSpPr>
          <p:cNvPr id="12" name="Text 10"/>
          <p:cNvSpPr txBox="1"/>
          <p:nvPr/>
        </p:nvSpPr>
        <p:spPr>
          <a:xfrm>
            <a:off x="2167128" y="1965960"/>
            <a:ext cx="1188720" cy="502920"/>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onsolas" pitchFamily="34" charset="0"/>
                <a:ea typeface="Consolas" pitchFamily="34" charset="-122"/>
                <a:cs typeface="Consolas" pitchFamily="34" charset="-120"/>
              </a:rPr>
              <a:t>x</a:t>
            </a:r>
            <a:endParaRPr lang="en-US" sz="1500" dirty="0"/>
          </a:p>
        </p:txBody>
      </p:sp>
      <p:sp>
        <p:nvSpPr>
          <p:cNvPr id="13" name="Text 11"/>
          <p:cNvSpPr txBox="1"/>
          <p:nvPr/>
        </p:nvSpPr>
        <p:spPr>
          <a:xfrm>
            <a:off x="2121408" y="2514600"/>
            <a:ext cx="1280160" cy="502920"/>
          </a:xfrm>
          <a:prstGeom prst="rect">
            <a:avLst/>
          </a:prstGeom>
          <a:noFill/>
          <a:ln/>
        </p:spPr>
        <p:txBody>
          <a:bodyPr wrap="square" lIns="0" tIns="0" rIns="0" bIns="0" rtlCol="0" anchor="t"/>
          <a:lstStyle/>
          <a:p>
            <a:pPr algn="ctr" indent="0" marL="0">
              <a:buNone/>
            </a:pPr>
            <a:r>
              <a:rPr lang="en-US" sz="1100" dirty="0">
                <a:solidFill>
                  <a:srgbClr val="3A464C"/>
                </a:solidFill>
                <a:latin typeface="Calibri" pitchFamily="34" charset="0"/>
                <a:ea typeface="Calibri" pitchFamily="34" charset="-122"/>
                <a:cs typeface="Calibri" pitchFamily="34" charset="-120"/>
              </a:rPr>
              <a:t>2 password: x = in /etc/shadow</a:t>
            </a:r>
            <a:endParaRPr lang="en-US" sz="1100" dirty="0"/>
          </a:p>
        </p:txBody>
      </p:sp>
      <p:sp>
        <p:nvSpPr>
          <p:cNvPr id="14" name="Text 12"/>
          <p:cNvSpPr txBox="1"/>
          <p:nvPr/>
        </p:nvSpPr>
        <p:spPr>
          <a:xfrm>
            <a:off x="3355848" y="1965960"/>
            <a:ext cx="201168" cy="502920"/>
          </a:xfrm>
          <a:prstGeom prst="rect">
            <a:avLst/>
          </a:prstGeom>
          <a:noFill/>
          <a:ln/>
        </p:spPr>
        <p:txBody>
          <a:bodyPr wrap="square" lIns="0" tIns="0" rIns="0" bIns="0" rtlCol="0" anchor="ctr"/>
          <a:lstStyle/>
          <a:p>
            <a:pPr algn="ctr" indent="0" marL="0">
              <a:buNone/>
            </a:pPr>
            <a:r>
              <a:rPr lang="en-US" sz="2000" b="1" dirty="0">
                <a:solidFill>
                  <a:srgbClr val="B5453A"/>
                </a:solidFill>
                <a:latin typeface="Consolas" pitchFamily="34" charset="0"/>
                <a:ea typeface="Consolas" pitchFamily="34" charset="-122"/>
                <a:cs typeface="Consolas" pitchFamily="34" charset="-120"/>
              </a:rPr>
              <a:t>:</a:t>
            </a:r>
            <a:endParaRPr lang="en-US" sz="2000" dirty="0"/>
          </a:p>
        </p:txBody>
      </p:sp>
      <p:sp>
        <p:nvSpPr>
          <p:cNvPr id="15" name="Shape 13"/>
          <p:cNvSpPr/>
          <p:nvPr/>
        </p:nvSpPr>
        <p:spPr>
          <a:xfrm>
            <a:off x="3557016" y="1965960"/>
            <a:ext cx="1097280" cy="502920"/>
          </a:xfrm>
          <a:prstGeom prst="roundRect">
            <a:avLst>
              <a:gd name="adj" fmla="val 9091"/>
            </a:avLst>
          </a:prstGeom>
          <a:solidFill>
            <a:srgbClr val="D7E9E6"/>
          </a:solidFill>
          <a:ln/>
        </p:spPr>
        <p:txBody>
          <a:bodyPr/>
          <a:p/>
        </p:txBody>
      </p:sp>
      <p:sp>
        <p:nvSpPr>
          <p:cNvPr id="16" name="Text 14"/>
          <p:cNvSpPr txBox="1"/>
          <p:nvPr/>
        </p:nvSpPr>
        <p:spPr>
          <a:xfrm>
            <a:off x="3557016" y="1965960"/>
            <a:ext cx="1097280" cy="502920"/>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onsolas" pitchFamily="34" charset="0"/>
                <a:ea typeface="Consolas" pitchFamily="34" charset="-122"/>
                <a:cs typeface="Consolas" pitchFamily="34" charset="-120"/>
              </a:rPr>
              <a:t>1011</a:t>
            </a:r>
            <a:endParaRPr lang="en-US" sz="1500" dirty="0"/>
          </a:p>
        </p:txBody>
      </p:sp>
      <p:sp>
        <p:nvSpPr>
          <p:cNvPr id="17" name="Text 15"/>
          <p:cNvSpPr txBox="1"/>
          <p:nvPr/>
        </p:nvSpPr>
        <p:spPr>
          <a:xfrm>
            <a:off x="3511296" y="2514600"/>
            <a:ext cx="1188720" cy="502920"/>
          </a:xfrm>
          <a:prstGeom prst="rect">
            <a:avLst/>
          </a:prstGeom>
          <a:noFill/>
          <a:ln/>
        </p:spPr>
        <p:txBody>
          <a:bodyPr wrap="square" lIns="0" tIns="0" rIns="0" bIns="0" rtlCol="0" anchor="t"/>
          <a:lstStyle/>
          <a:p>
            <a:pPr algn="ctr" indent="0" marL="0">
              <a:buNone/>
            </a:pPr>
            <a:r>
              <a:rPr lang="en-US" sz="1100" dirty="0">
                <a:solidFill>
                  <a:srgbClr val="3A464C"/>
                </a:solidFill>
                <a:latin typeface="Calibri" pitchFamily="34" charset="0"/>
                <a:ea typeface="Calibri" pitchFamily="34" charset="-122"/>
                <a:cs typeface="Calibri" pitchFamily="34" charset="-120"/>
              </a:rPr>
              <a:t>3 UID</a:t>
            </a:r>
            <a:endParaRPr lang="en-US" sz="1100" dirty="0"/>
          </a:p>
        </p:txBody>
      </p:sp>
      <p:sp>
        <p:nvSpPr>
          <p:cNvPr id="18" name="Text 16"/>
          <p:cNvSpPr txBox="1"/>
          <p:nvPr/>
        </p:nvSpPr>
        <p:spPr>
          <a:xfrm>
            <a:off x="4654296" y="1965960"/>
            <a:ext cx="201168" cy="502920"/>
          </a:xfrm>
          <a:prstGeom prst="rect">
            <a:avLst/>
          </a:prstGeom>
          <a:noFill/>
          <a:ln/>
        </p:spPr>
        <p:txBody>
          <a:bodyPr wrap="square" lIns="0" tIns="0" rIns="0" bIns="0" rtlCol="0" anchor="ctr"/>
          <a:lstStyle/>
          <a:p>
            <a:pPr algn="ctr" indent="0" marL="0">
              <a:buNone/>
            </a:pPr>
            <a:r>
              <a:rPr lang="en-US" sz="2000" b="1" dirty="0">
                <a:solidFill>
                  <a:srgbClr val="B5453A"/>
                </a:solidFill>
                <a:latin typeface="Consolas" pitchFamily="34" charset="0"/>
                <a:ea typeface="Consolas" pitchFamily="34" charset="-122"/>
                <a:cs typeface="Consolas" pitchFamily="34" charset="-120"/>
              </a:rPr>
              <a:t>:</a:t>
            </a:r>
            <a:endParaRPr lang="en-US" sz="2000" dirty="0"/>
          </a:p>
        </p:txBody>
      </p:sp>
      <p:sp>
        <p:nvSpPr>
          <p:cNvPr id="19" name="Shape 17"/>
          <p:cNvSpPr/>
          <p:nvPr/>
        </p:nvSpPr>
        <p:spPr>
          <a:xfrm>
            <a:off x="4855464" y="1965960"/>
            <a:ext cx="1188720" cy="502920"/>
          </a:xfrm>
          <a:prstGeom prst="roundRect">
            <a:avLst>
              <a:gd name="adj" fmla="val 9091"/>
            </a:avLst>
          </a:prstGeom>
          <a:solidFill>
            <a:srgbClr val="D7E9E6"/>
          </a:solidFill>
          <a:ln/>
        </p:spPr>
        <p:txBody>
          <a:bodyPr/>
          <a:p/>
        </p:txBody>
      </p:sp>
      <p:sp>
        <p:nvSpPr>
          <p:cNvPr id="20" name="Text 18"/>
          <p:cNvSpPr txBox="1"/>
          <p:nvPr/>
        </p:nvSpPr>
        <p:spPr>
          <a:xfrm>
            <a:off x="4855464" y="1965960"/>
            <a:ext cx="1188720" cy="502920"/>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onsolas" pitchFamily="34" charset="0"/>
                <a:ea typeface="Consolas" pitchFamily="34" charset="-122"/>
                <a:cs typeface="Consolas" pitchFamily="34" charset="-120"/>
              </a:rPr>
              <a:t>1013</a:t>
            </a:r>
            <a:endParaRPr lang="en-US" sz="1500" dirty="0"/>
          </a:p>
        </p:txBody>
      </p:sp>
      <p:sp>
        <p:nvSpPr>
          <p:cNvPr id="21" name="Text 19"/>
          <p:cNvSpPr txBox="1"/>
          <p:nvPr/>
        </p:nvSpPr>
        <p:spPr>
          <a:xfrm>
            <a:off x="4809744" y="2514600"/>
            <a:ext cx="1280160" cy="502920"/>
          </a:xfrm>
          <a:prstGeom prst="rect">
            <a:avLst/>
          </a:prstGeom>
          <a:noFill/>
          <a:ln/>
        </p:spPr>
        <p:txBody>
          <a:bodyPr wrap="square" lIns="0" tIns="0" rIns="0" bIns="0" rtlCol="0" anchor="t"/>
          <a:lstStyle/>
          <a:p>
            <a:pPr algn="ctr" indent="0" marL="0">
              <a:buNone/>
            </a:pPr>
            <a:r>
              <a:rPr lang="en-US" sz="1100" dirty="0">
                <a:solidFill>
                  <a:srgbClr val="3A464C"/>
                </a:solidFill>
                <a:latin typeface="Calibri" pitchFamily="34" charset="0"/>
                <a:ea typeface="Calibri" pitchFamily="34" charset="-122"/>
                <a:cs typeface="Calibri" pitchFamily="34" charset="-120"/>
              </a:rPr>
              <a:t>4 GID (primary group)</a:t>
            </a:r>
            <a:endParaRPr lang="en-US" sz="1100" dirty="0"/>
          </a:p>
        </p:txBody>
      </p:sp>
      <p:sp>
        <p:nvSpPr>
          <p:cNvPr id="22" name="Text 20"/>
          <p:cNvSpPr txBox="1"/>
          <p:nvPr/>
        </p:nvSpPr>
        <p:spPr>
          <a:xfrm>
            <a:off x="6044184" y="1965960"/>
            <a:ext cx="201168" cy="502920"/>
          </a:xfrm>
          <a:prstGeom prst="rect">
            <a:avLst/>
          </a:prstGeom>
          <a:noFill/>
          <a:ln/>
        </p:spPr>
        <p:txBody>
          <a:bodyPr wrap="square" lIns="0" tIns="0" rIns="0" bIns="0" rtlCol="0" anchor="ctr"/>
          <a:lstStyle/>
          <a:p>
            <a:pPr algn="ctr" indent="0" marL="0">
              <a:buNone/>
            </a:pPr>
            <a:r>
              <a:rPr lang="en-US" sz="2000" b="1" dirty="0">
                <a:solidFill>
                  <a:srgbClr val="B5453A"/>
                </a:solidFill>
                <a:latin typeface="Consolas" pitchFamily="34" charset="0"/>
                <a:ea typeface="Consolas" pitchFamily="34" charset="-122"/>
                <a:cs typeface="Consolas" pitchFamily="34" charset="-120"/>
              </a:rPr>
              <a:t>:</a:t>
            </a:r>
            <a:endParaRPr lang="en-US" sz="2000" dirty="0"/>
          </a:p>
        </p:txBody>
      </p:sp>
      <p:sp>
        <p:nvSpPr>
          <p:cNvPr id="23" name="Shape 21"/>
          <p:cNvSpPr/>
          <p:nvPr/>
        </p:nvSpPr>
        <p:spPr>
          <a:xfrm>
            <a:off x="6245352" y="1965960"/>
            <a:ext cx="1188720" cy="502920"/>
          </a:xfrm>
          <a:prstGeom prst="roundRect">
            <a:avLst>
              <a:gd name="adj" fmla="val 9091"/>
            </a:avLst>
          </a:prstGeom>
          <a:solidFill>
            <a:srgbClr val="D7E9E6"/>
          </a:solidFill>
          <a:ln/>
        </p:spPr>
        <p:txBody>
          <a:bodyPr/>
          <a:p/>
        </p:txBody>
      </p:sp>
      <p:sp>
        <p:nvSpPr>
          <p:cNvPr id="24" name="Text 22"/>
          <p:cNvSpPr txBox="1"/>
          <p:nvPr/>
        </p:nvSpPr>
        <p:spPr>
          <a:xfrm>
            <a:off x="6245352" y="1965960"/>
            <a:ext cx="1188720" cy="502920"/>
          </a:xfrm>
          <a:prstGeom prst="rect">
            <a:avLst/>
          </a:prstGeom>
          <a:noFill/>
          <a:ln/>
        </p:spPr>
        <p:txBody>
          <a:bodyPr wrap="square" lIns="38100" tIns="38100" rIns="38100" bIns="38100" rtlCol="0" anchor="ctr"/>
          <a:lstStyle/>
          <a:p>
            <a:pPr algn="ctr" indent="0" marL="0">
              <a:buNone/>
            </a:pPr>
            <a:r>
              <a:rPr lang="en-US" sz="1500" dirty="0">
                <a:solidFill>
                  <a:srgbClr val="6B7679"/>
                </a:solidFill>
                <a:latin typeface="Consolas" pitchFamily="34" charset="0"/>
                <a:ea typeface="Consolas" pitchFamily="34" charset="-122"/>
                <a:cs typeface="Consolas" pitchFamily="34" charset="-120"/>
              </a:rPr>
              <a:t>(empty)</a:t>
            </a:r>
            <a:endParaRPr lang="en-US" sz="1500" dirty="0"/>
          </a:p>
        </p:txBody>
      </p:sp>
      <p:sp>
        <p:nvSpPr>
          <p:cNvPr id="25" name="Text 23"/>
          <p:cNvSpPr txBox="1"/>
          <p:nvPr/>
        </p:nvSpPr>
        <p:spPr>
          <a:xfrm>
            <a:off x="6199632" y="2514600"/>
            <a:ext cx="1280160" cy="502920"/>
          </a:xfrm>
          <a:prstGeom prst="rect">
            <a:avLst/>
          </a:prstGeom>
          <a:noFill/>
          <a:ln/>
        </p:spPr>
        <p:txBody>
          <a:bodyPr wrap="square" lIns="0" tIns="0" rIns="0" bIns="0" rtlCol="0" anchor="t"/>
          <a:lstStyle/>
          <a:p>
            <a:pPr algn="ctr" indent="0" marL="0">
              <a:buNone/>
            </a:pPr>
            <a:r>
              <a:rPr lang="en-US" sz="1100" dirty="0">
                <a:solidFill>
                  <a:srgbClr val="3A464C"/>
                </a:solidFill>
                <a:latin typeface="Calibri" pitchFamily="34" charset="0"/>
                <a:ea typeface="Calibri" pitchFamily="34" charset="-122"/>
                <a:cs typeface="Calibri" pitchFamily="34" charset="-120"/>
              </a:rPr>
              <a:t>5 comment (full name)</a:t>
            </a:r>
            <a:endParaRPr lang="en-US" sz="1100" dirty="0"/>
          </a:p>
        </p:txBody>
      </p:sp>
      <p:sp>
        <p:nvSpPr>
          <p:cNvPr id="26" name="Text 24"/>
          <p:cNvSpPr txBox="1"/>
          <p:nvPr/>
        </p:nvSpPr>
        <p:spPr>
          <a:xfrm>
            <a:off x="7434072" y="1965960"/>
            <a:ext cx="201168" cy="502920"/>
          </a:xfrm>
          <a:prstGeom prst="rect">
            <a:avLst/>
          </a:prstGeom>
          <a:noFill/>
          <a:ln/>
        </p:spPr>
        <p:txBody>
          <a:bodyPr wrap="square" lIns="0" tIns="0" rIns="0" bIns="0" rtlCol="0" anchor="ctr"/>
          <a:lstStyle/>
          <a:p>
            <a:pPr algn="ctr" indent="0" marL="0">
              <a:buNone/>
            </a:pPr>
            <a:r>
              <a:rPr lang="en-US" sz="2000" b="1" dirty="0">
                <a:solidFill>
                  <a:srgbClr val="B5453A"/>
                </a:solidFill>
                <a:latin typeface="Consolas" pitchFamily="34" charset="0"/>
                <a:ea typeface="Consolas" pitchFamily="34" charset="-122"/>
                <a:cs typeface="Consolas" pitchFamily="34" charset="-120"/>
              </a:rPr>
              <a:t>:</a:t>
            </a:r>
            <a:endParaRPr lang="en-US" sz="2000" dirty="0"/>
          </a:p>
        </p:txBody>
      </p:sp>
      <p:sp>
        <p:nvSpPr>
          <p:cNvPr id="27" name="Shape 25"/>
          <p:cNvSpPr/>
          <p:nvPr/>
        </p:nvSpPr>
        <p:spPr>
          <a:xfrm>
            <a:off x="7635240" y="1965960"/>
            <a:ext cx="2103120" cy="502920"/>
          </a:xfrm>
          <a:prstGeom prst="roundRect">
            <a:avLst>
              <a:gd name="adj" fmla="val 9091"/>
            </a:avLst>
          </a:prstGeom>
          <a:solidFill>
            <a:srgbClr val="D7E9E6"/>
          </a:solidFill>
          <a:ln/>
        </p:spPr>
        <p:txBody>
          <a:bodyPr/>
          <a:p/>
        </p:txBody>
      </p:sp>
      <p:sp>
        <p:nvSpPr>
          <p:cNvPr id="28" name="Text 26"/>
          <p:cNvSpPr txBox="1"/>
          <p:nvPr/>
        </p:nvSpPr>
        <p:spPr>
          <a:xfrm>
            <a:off x="7635240" y="1965960"/>
            <a:ext cx="2103120" cy="502920"/>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onsolas" pitchFamily="34" charset="0"/>
                <a:ea typeface="Consolas" pitchFamily="34" charset="-122"/>
                <a:cs typeface="Consolas" pitchFamily="34" charset="-120"/>
              </a:rPr>
              <a:t>/home/student</a:t>
            </a:r>
            <a:endParaRPr lang="en-US" sz="1500" dirty="0"/>
          </a:p>
        </p:txBody>
      </p:sp>
      <p:sp>
        <p:nvSpPr>
          <p:cNvPr id="29" name="Text 27"/>
          <p:cNvSpPr txBox="1"/>
          <p:nvPr/>
        </p:nvSpPr>
        <p:spPr>
          <a:xfrm>
            <a:off x="7589520" y="2514600"/>
            <a:ext cx="2194560" cy="502920"/>
          </a:xfrm>
          <a:prstGeom prst="rect">
            <a:avLst/>
          </a:prstGeom>
          <a:noFill/>
          <a:ln/>
        </p:spPr>
        <p:txBody>
          <a:bodyPr wrap="square" lIns="0" tIns="0" rIns="0" bIns="0" rtlCol="0" anchor="t"/>
          <a:lstStyle/>
          <a:p>
            <a:pPr algn="ctr" indent="0" marL="0">
              <a:buNone/>
            </a:pPr>
            <a:r>
              <a:rPr lang="en-US" sz="1100" dirty="0">
                <a:solidFill>
                  <a:srgbClr val="3A464C"/>
                </a:solidFill>
                <a:latin typeface="Calibri" pitchFamily="34" charset="0"/>
                <a:ea typeface="Calibri" pitchFamily="34" charset="-122"/>
                <a:cs typeface="Calibri" pitchFamily="34" charset="-120"/>
              </a:rPr>
              <a:t>6 home directory</a:t>
            </a:r>
            <a:endParaRPr lang="en-US" sz="1100" dirty="0"/>
          </a:p>
        </p:txBody>
      </p:sp>
      <p:sp>
        <p:nvSpPr>
          <p:cNvPr id="30" name="Text 28"/>
          <p:cNvSpPr txBox="1"/>
          <p:nvPr/>
        </p:nvSpPr>
        <p:spPr>
          <a:xfrm>
            <a:off x="9738360" y="1965960"/>
            <a:ext cx="201168" cy="502920"/>
          </a:xfrm>
          <a:prstGeom prst="rect">
            <a:avLst/>
          </a:prstGeom>
          <a:noFill/>
          <a:ln/>
        </p:spPr>
        <p:txBody>
          <a:bodyPr wrap="square" lIns="0" tIns="0" rIns="0" bIns="0" rtlCol="0" anchor="ctr"/>
          <a:lstStyle/>
          <a:p>
            <a:pPr algn="ctr" indent="0" marL="0">
              <a:buNone/>
            </a:pPr>
            <a:r>
              <a:rPr lang="en-US" sz="2000" b="1" dirty="0">
                <a:solidFill>
                  <a:srgbClr val="B5453A"/>
                </a:solidFill>
                <a:latin typeface="Consolas" pitchFamily="34" charset="0"/>
                <a:ea typeface="Consolas" pitchFamily="34" charset="-122"/>
                <a:cs typeface="Consolas" pitchFamily="34" charset="-120"/>
              </a:rPr>
              <a:t>:</a:t>
            </a:r>
            <a:endParaRPr lang="en-US" sz="2000" dirty="0"/>
          </a:p>
        </p:txBody>
      </p:sp>
      <p:sp>
        <p:nvSpPr>
          <p:cNvPr id="31" name="Shape 29"/>
          <p:cNvSpPr/>
          <p:nvPr/>
        </p:nvSpPr>
        <p:spPr>
          <a:xfrm>
            <a:off x="9939528" y="1965960"/>
            <a:ext cx="1600200" cy="502920"/>
          </a:xfrm>
          <a:prstGeom prst="roundRect">
            <a:avLst>
              <a:gd name="adj" fmla="val 9091"/>
            </a:avLst>
          </a:prstGeom>
          <a:solidFill>
            <a:srgbClr val="D7E9E6"/>
          </a:solidFill>
          <a:ln/>
        </p:spPr>
        <p:txBody>
          <a:bodyPr/>
          <a:p/>
        </p:txBody>
      </p:sp>
      <p:sp>
        <p:nvSpPr>
          <p:cNvPr id="32" name="Text 30"/>
          <p:cNvSpPr txBox="1"/>
          <p:nvPr/>
        </p:nvSpPr>
        <p:spPr>
          <a:xfrm>
            <a:off x="9939528" y="1965960"/>
            <a:ext cx="1600200" cy="502920"/>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onsolas" pitchFamily="34" charset="0"/>
                <a:ea typeface="Consolas" pitchFamily="34" charset="-122"/>
                <a:cs typeface="Consolas" pitchFamily="34" charset="-120"/>
              </a:rPr>
              <a:t>/bin/bash</a:t>
            </a:r>
            <a:endParaRPr lang="en-US" sz="1500" dirty="0"/>
          </a:p>
        </p:txBody>
      </p:sp>
      <p:sp>
        <p:nvSpPr>
          <p:cNvPr id="33" name="Text 31"/>
          <p:cNvSpPr txBox="1"/>
          <p:nvPr/>
        </p:nvSpPr>
        <p:spPr>
          <a:xfrm>
            <a:off x="9893808" y="2514600"/>
            <a:ext cx="1691640" cy="502920"/>
          </a:xfrm>
          <a:prstGeom prst="rect">
            <a:avLst/>
          </a:prstGeom>
          <a:noFill/>
          <a:ln/>
        </p:spPr>
        <p:txBody>
          <a:bodyPr wrap="square" lIns="0" tIns="0" rIns="0" bIns="0" rtlCol="0" anchor="t"/>
          <a:lstStyle/>
          <a:p>
            <a:pPr algn="ctr" indent="0" marL="0">
              <a:buNone/>
            </a:pPr>
            <a:r>
              <a:rPr lang="en-US" sz="1100" dirty="0">
                <a:solidFill>
                  <a:srgbClr val="3A464C"/>
                </a:solidFill>
                <a:latin typeface="Calibri" pitchFamily="34" charset="0"/>
                <a:ea typeface="Calibri" pitchFamily="34" charset="-122"/>
                <a:cs typeface="Calibri" pitchFamily="34" charset="-120"/>
              </a:rPr>
              <a:t>7 login shell</a:t>
            </a:r>
            <a:endParaRPr lang="en-US" sz="1100" dirty="0"/>
          </a:p>
        </p:txBody>
      </p:sp>
      <p:sp>
        <p:nvSpPr>
          <p:cNvPr id="34" name="Text 32"/>
          <p:cNvSpPr txBox="1"/>
          <p:nvPr/>
        </p:nvSpPr>
        <p:spPr>
          <a:xfrm>
            <a:off x="548640" y="3227832"/>
            <a:ext cx="8229600" cy="329184"/>
          </a:xfrm>
          <a:prstGeom prst="rect">
            <a:avLst/>
          </a:prstGeom>
          <a:noFill/>
          <a:ln/>
        </p:spPr>
        <p:txBody>
          <a:bodyPr wrap="square" lIns="0" tIns="0" rIns="0" bIns="0" rtlCol="0" anchor="t"/>
          <a:lstStyle/>
          <a:p>
            <a:pPr indent="0" marL="0">
              <a:buNone/>
            </a:pPr>
            <a:r>
              <a:rPr lang="en-US" sz="1400" b="1" dirty="0">
                <a:solidFill>
                  <a:srgbClr val="028090"/>
                </a:solidFill>
                <a:latin typeface="Calibri" pitchFamily="34" charset="0"/>
                <a:ea typeface="Calibri" pitchFamily="34" charset="-122"/>
                <a:cs typeface="Calibri" pitchFamily="34" charset="-120"/>
              </a:rPr>
              <a:t>/etc/group  —  4 fields</a:t>
            </a:r>
            <a:endParaRPr lang="en-US" sz="1400" dirty="0"/>
          </a:p>
        </p:txBody>
      </p:sp>
      <p:sp>
        <p:nvSpPr>
          <p:cNvPr id="35" name="Shape 33"/>
          <p:cNvSpPr/>
          <p:nvPr/>
        </p:nvSpPr>
        <p:spPr>
          <a:xfrm>
            <a:off x="548640" y="3611880"/>
            <a:ext cx="1600200" cy="502920"/>
          </a:xfrm>
          <a:prstGeom prst="roundRect">
            <a:avLst>
              <a:gd name="adj" fmla="val 9091"/>
            </a:avLst>
          </a:prstGeom>
          <a:solidFill>
            <a:srgbClr val="36454F"/>
          </a:solidFill>
          <a:ln/>
        </p:spPr>
        <p:txBody>
          <a:bodyPr/>
          <a:p/>
        </p:txBody>
      </p:sp>
      <p:sp>
        <p:nvSpPr>
          <p:cNvPr id="36" name="Text 34"/>
          <p:cNvSpPr txBox="1"/>
          <p:nvPr/>
        </p:nvSpPr>
        <p:spPr>
          <a:xfrm>
            <a:off x="548640" y="3611880"/>
            <a:ext cx="1600200" cy="502920"/>
          </a:xfrm>
          <a:prstGeom prst="rect">
            <a:avLst/>
          </a:prstGeom>
          <a:noFill/>
          <a:ln/>
        </p:spPr>
        <p:txBody>
          <a:bodyPr wrap="square" lIns="38100" tIns="38100" rIns="38100" bIns="3810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students</a:t>
            </a:r>
            <a:endParaRPr lang="en-US" sz="1500" dirty="0"/>
          </a:p>
        </p:txBody>
      </p:sp>
      <p:sp>
        <p:nvSpPr>
          <p:cNvPr id="37" name="Text 35"/>
          <p:cNvSpPr txBox="1"/>
          <p:nvPr/>
        </p:nvSpPr>
        <p:spPr>
          <a:xfrm>
            <a:off x="502920" y="4160520"/>
            <a:ext cx="1691640" cy="502920"/>
          </a:xfrm>
          <a:prstGeom prst="rect">
            <a:avLst/>
          </a:prstGeom>
          <a:noFill/>
          <a:ln/>
        </p:spPr>
        <p:txBody>
          <a:bodyPr wrap="square" lIns="0" tIns="0" rIns="0" bIns="0" rtlCol="0" anchor="t"/>
          <a:lstStyle/>
          <a:p>
            <a:pPr algn="ctr" indent="0" marL="0">
              <a:buNone/>
            </a:pPr>
            <a:r>
              <a:rPr lang="en-US" sz="1100" dirty="0">
                <a:solidFill>
                  <a:srgbClr val="3A464C"/>
                </a:solidFill>
                <a:latin typeface="Calibri" pitchFamily="34" charset="0"/>
                <a:ea typeface="Calibri" pitchFamily="34" charset="-122"/>
                <a:cs typeface="Calibri" pitchFamily="34" charset="-120"/>
              </a:rPr>
              <a:t>1 group name</a:t>
            </a:r>
            <a:endParaRPr lang="en-US" sz="1100" dirty="0"/>
          </a:p>
        </p:txBody>
      </p:sp>
      <p:sp>
        <p:nvSpPr>
          <p:cNvPr id="38" name="Text 36"/>
          <p:cNvSpPr txBox="1"/>
          <p:nvPr/>
        </p:nvSpPr>
        <p:spPr>
          <a:xfrm>
            <a:off x="2148840" y="3611880"/>
            <a:ext cx="201168" cy="502920"/>
          </a:xfrm>
          <a:prstGeom prst="rect">
            <a:avLst/>
          </a:prstGeom>
          <a:noFill/>
          <a:ln/>
        </p:spPr>
        <p:txBody>
          <a:bodyPr wrap="square" lIns="0" tIns="0" rIns="0" bIns="0" rtlCol="0" anchor="ctr"/>
          <a:lstStyle/>
          <a:p>
            <a:pPr algn="ctr" indent="0" marL="0">
              <a:buNone/>
            </a:pPr>
            <a:r>
              <a:rPr lang="en-US" sz="2000" b="1" dirty="0">
                <a:solidFill>
                  <a:srgbClr val="B5453A"/>
                </a:solidFill>
                <a:latin typeface="Consolas" pitchFamily="34" charset="0"/>
                <a:ea typeface="Consolas" pitchFamily="34" charset="-122"/>
                <a:cs typeface="Consolas" pitchFamily="34" charset="-120"/>
              </a:rPr>
              <a:t>:</a:t>
            </a:r>
            <a:endParaRPr lang="en-US" sz="2000" dirty="0"/>
          </a:p>
        </p:txBody>
      </p:sp>
      <p:sp>
        <p:nvSpPr>
          <p:cNvPr id="39" name="Shape 37"/>
          <p:cNvSpPr/>
          <p:nvPr/>
        </p:nvSpPr>
        <p:spPr>
          <a:xfrm>
            <a:off x="2350008" y="3611880"/>
            <a:ext cx="1325880" cy="502920"/>
          </a:xfrm>
          <a:prstGeom prst="roundRect">
            <a:avLst>
              <a:gd name="adj" fmla="val 9091"/>
            </a:avLst>
          </a:prstGeom>
          <a:solidFill>
            <a:srgbClr val="D7E9E6"/>
          </a:solidFill>
          <a:ln/>
        </p:spPr>
        <p:txBody>
          <a:bodyPr/>
          <a:p/>
        </p:txBody>
      </p:sp>
      <p:sp>
        <p:nvSpPr>
          <p:cNvPr id="40" name="Text 38"/>
          <p:cNvSpPr txBox="1"/>
          <p:nvPr/>
        </p:nvSpPr>
        <p:spPr>
          <a:xfrm>
            <a:off x="2350008" y="3611880"/>
            <a:ext cx="1325880" cy="502920"/>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onsolas" pitchFamily="34" charset="0"/>
                <a:ea typeface="Consolas" pitchFamily="34" charset="-122"/>
                <a:cs typeface="Consolas" pitchFamily="34" charset="-120"/>
              </a:rPr>
              <a:t>x</a:t>
            </a:r>
            <a:endParaRPr lang="en-US" sz="1500" dirty="0"/>
          </a:p>
        </p:txBody>
      </p:sp>
      <p:sp>
        <p:nvSpPr>
          <p:cNvPr id="41" name="Text 39"/>
          <p:cNvSpPr txBox="1"/>
          <p:nvPr/>
        </p:nvSpPr>
        <p:spPr>
          <a:xfrm>
            <a:off x="2304288" y="4160520"/>
            <a:ext cx="1417320" cy="502920"/>
          </a:xfrm>
          <a:prstGeom prst="rect">
            <a:avLst/>
          </a:prstGeom>
          <a:noFill/>
          <a:ln/>
        </p:spPr>
        <p:txBody>
          <a:bodyPr wrap="square" lIns="0" tIns="0" rIns="0" bIns="0" rtlCol="0" anchor="t"/>
          <a:lstStyle/>
          <a:p>
            <a:pPr algn="ctr" indent="0" marL="0">
              <a:buNone/>
            </a:pPr>
            <a:r>
              <a:rPr lang="en-US" sz="1100" dirty="0">
                <a:solidFill>
                  <a:srgbClr val="3A464C"/>
                </a:solidFill>
                <a:latin typeface="Calibri" pitchFamily="34" charset="0"/>
                <a:ea typeface="Calibri" pitchFamily="34" charset="-122"/>
                <a:cs typeface="Calibri" pitchFamily="34" charset="-120"/>
              </a:rPr>
              <a:t>2 password (unused)</a:t>
            </a:r>
            <a:endParaRPr lang="en-US" sz="1100" dirty="0"/>
          </a:p>
        </p:txBody>
      </p:sp>
      <p:sp>
        <p:nvSpPr>
          <p:cNvPr id="42" name="Text 40"/>
          <p:cNvSpPr txBox="1"/>
          <p:nvPr/>
        </p:nvSpPr>
        <p:spPr>
          <a:xfrm>
            <a:off x="3675888" y="3611880"/>
            <a:ext cx="201168" cy="502920"/>
          </a:xfrm>
          <a:prstGeom prst="rect">
            <a:avLst/>
          </a:prstGeom>
          <a:noFill/>
          <a:ln/>
        </p:spPr>
        <p:txBody>
          <a:bodyPr wrap="square" lIns="0" tIns="0" rIns="0" bIns="0" rtlCol="0" anchor="ctr"/>
          <a:lstStyle/>
          <a:p>
            <a:pPr algn="ctr" indent="0" marL="0">
              <a:buNone/>
            </a:pPr>
            <a:r>
              <a:rPr lang="en-US" sz="2000" b="1" dirty="0">
                <a:solidFill>
                  <a:srgbClr val="B5453A"/>
                </a:solidFill>
                <a:latin typeface="Consolas" pitchFamily="34" charset="0"/>
                <a:ea typeface="Consolas" pitchFamily="34" charset="-122"/>
                <a:cs typeface="Consolas" pitchFamily="34" charset="-120"/>
              </a:rPr>
              <a:t>:</a:t>
            </a:r>
            <a:endParaRPr lang="en-US" sz="2000" dirty="0"/>
          </a:p>
        </p:txBody>
      </p:sp>
      <p:sp>
        <p:nvSpPr>
          <p:cNvPr id="43" name="Shape 41"/>
          <p:cNvSpPr/>
          <p:nvPr/>
        </p:nvSpPr>
        <p:spPr>
          <a:xfrm>
            <a:off x="3877056" y="3611880"/>
            <a:ext cx="1097280" cy="502920"/>
          </a:xfrm>
          <a:prstGeom prst="roundRect">
            <a:avLst>
              <a:gd name="adj" fmla="val 9091"/>
            </a:avLst>
          </a:prstGeom>
          <a:solidFill>
            <a:srgbClr val="D7E9E6"/>
          </a:solidFill>
          <a:ln/>
        </p:spPr>
        <p:txBody>
          <a:bodyPr/>
          <a:p/>
        </p:txBody>
      </p:sp>
      <p:sp>
        <p:nvSpPr>
          <p:cNvPr id="44" name="Text 42"/>
          <p:cNvSpPr txBox="1"/>
          <p:nvPr/>
        </p:nvSpPr>
        <p:spPr>
          <a:xfrm>
            <a:off x="3877056" y="3611880"/>
            <a:ext cx="1097280" cy="502920"/>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onsolas" pitchFamily="34" charset="0"/>
                <a:ea typeface="Consolas" pitchFamily="34" charset="-122"/>
                <a:cs typeface="Consolas" pitchFamily="34" charset="-120"/>
              </a:rPr>
              <a:t>1010</a:t>
            </a:r>
            <a:endParaRPr lang="en-US" sz="1500" dirty="0"/>
          </a:p>
        </p:txBody>
      </p:sp>
      <p:sp>
        <p:nvSpPr>
          <p:cNvPr id="45" name="Text 43"/>
          <p:cNvSpPr txBox="1"/>
          <p:nvPr/>
        </p:nvSpPr>
        <p:spPr>
          <a:xfrm>
            <a:off x="3831336" y="4160520"/>
            <a:ext cx="1188720" cy="502920"/>
          </a:xfrm>
          <a:prstGeom prst="rect">
            <a:avLst/>
          </a:prstGeom>
          <a:noFill/>
          <a:ln/>
        </p:spPr>
        <p:txBody>
          <a:bodyPr wrap="square" lIns="0" tIns="0" rIns="0" bIns="0" rtlCol="0" anchor="t"/>
          <a:lstStyle/>
          <a:p>
            <a:pPr algn="ctr" indent="0" marL="0">
              <a:buNone/>
            </a:pPr>
            <a:r>
              <a:rPr lang="en-US" sz="1100" dirty="0">
                <a:solidFill>
                  <a:srgbClr val="3A464C"/>
                </a:solidFill>
                <a:latin typeface="Calibri" pitchFamily="34" charset="0"/>
                <a:ea typeface="Calibri" pitchFamily="34" charset="-122"/>
                <a:cs typeface="Calibri" pitchFamily="34" charset="-120"/>
              </a:rPr>
              <a:t>3 GID</a:t>
            </a:r>
            <a:endParaRPr lang="en-US" sz="1100" dirty="0"/>
          </a:p>
        </p:txBody>
      </p:sp>
      <p:sp>
        <p:nvSpPr>
          <p:cNvPr id="46" name="Text 44"/>
          <p:cNvSpPr txBox="1"/>
          <p:nvPr/>
        </p:nvSpPr>
        <p:spPr>
          <a:xfrm>
            <a:off x="4974336" y="3611880"/>
            <a:ext cx="201168" cy="502920"/>
          </a:xfrm>
          <a:prstGeom prst="rect">
            <a:avLst/>
          </a:prstGeom>
          <a:noFill/>
          <a:ln/>
        </p:spPr>
        <p:txBody>
          <a:bodyPr wrap="square" lIns="0" tIns="0" rIns="0" bIns="0" rtlCol="0" anchor="ctr"/>
          <a:lstStyle/>
          <a:p>
            <a:pPr algn="ctr" indent="0" marL="0">
              <a:buNone/>
            </a:pPr>
            <a:r>
              <a:rPr lang="en-US" sz="2000" b="1" dirty="0">
                <a:solidFill>
                  <a:srgbClr val="B5453A"/>
                </a:solidFill>
                <a:latin typeface="Consolas" pitchFamily="34" charset="0"/>
                <a:ea typeface="Consolas" pitchFamily="34" charset="-122"/>
                <a:cs typeface="Consolas" pitchFamily="34" charset="-120"/>
              </a:rPr>
              <a:t>:</a:t>
            </a:r>
            <a:endParaRPr lang="en-US" sz="2000" dirty="0"/>
          </a:p>
        </p:txBody>
      </p:sp>
      <p:sp>
        <p:nvSpPr>
          <p:cNvPr id="47" name="Shape 45"/>
          <p:cNvSpPr/>
          <p:nvPr/>
        </p:nvSpPr>
        <p:spPr>
          <a:xfrm>
            <a:off x="5175504" y="3611880"/>
            <a:ext cx="2377440" cy="502920"/>
          </a:xfrm>
          <a:prstGeom prst="roundRect">
            <a:avLst>
              <a:gd name="adj" fmla="val 9091"/>
            </a:avLst>
          </a:prstGeom>
          <a:solidFill>
            <a:srgbClr val="D7E9E6"/>
          </a:solidFill>
          <a:ln/>
        </p:spPr>
        <p:txBody>
          <a:bodyPr/>
          <a:p/>
        </p:txBody>
      </p:sp>
      <p:sp>
        <p:nvSpPr>
          <p:cNvPr id="48" name="Text 46"/>
          <p:cNvSpPr txBox="1"/>
          <p:nvPr/>
        </p:nvSpPr>
        <p:spPr>
          <a:xfrm>
            <a:off x="5175504" y="3611880"/>
            <a:ext cx="2377440" cy="502920"/>
          </a:xfrm>
          <a:prstGeom prst="rect">
            <a:avLst/>
          </a:prstGeom>
          <a:noFill/>
          <a:ln/>
        </p:spPr>
        <p:txBody>
          <a:bodyPr wrap="square" lIns="38100" tIns="38100" rIns="38100" bIns="38100" rtlCol="0" anchor="ctr"/>
          <a:lstStyle/>
          <a:p>
            <a:pPr algn="ctr" indent="0" marL="0">
              <a:buNone/>
            </a:pPr>
            <a:r>
              <a:rPr lang="en-US" sz="1500" dirty="0">
                <a:solidFill>
                  <a:srgbClr val="6B7679"/>
                </a:solidFill>
                <a:latin typeface="Consolas" pitchFamily="34" charset="0"/>
                <a:ea typeface="Consolas" pitchFamily="34" charset="-122"/>
                <a:cs typeface="Consolas" pitchFamily="34" charset="-120"/>
              </a:rPr>
              <a:t>(empty)</a:t>
            </a:r>
            <a:endParaRPr lang="en-US" sz="1500" dirty="0"/>
          </a:p>
        </p:txBody>
      </p:sp>
      <p:sp>
        <p:nvSpPr>
          <p:cNvPr id="49" name="Text 47"/>
          <p:cNvSpPr txBox="1"/>
          <p:nvPr/>
        </p:nvSpPr>
        <p:spPr>
          <a:xfrm>
            <a:off x="5129784" y="4160520"/>
            <a:ext cx="2468880" cy="502920"/>
          </a:xfrm>
          <a:prstGeom prst="rect">
            <a:avLst/>
          </a:prstGeom>
          <a:noFill/>
          <a:ln/>
        </p:spPr>
        <p:txBody>
          <a:bodyPr wrap="square" lIns="0" tIns="0" rIns="0" bIns="0" rtlCol="0" anchor="t"/>
          <a:lstStyle/>
          <a:p>
            <a:pPr algn="ctr" indent="0" marL="0">
              <a:buNone/>
            </a:pPr>
            <a:r>
              <a:rPr lang="en-US" sz="1100" dirty="0">
                <a:solidFill>
                  <a:srgbClr val="3A464C"/>
                </a:solidFill>
                <a:latin typeface="Calibri" pitchFamily="34" charset="0"/>
                <a:ea typeface="Calibri" pitchFamily="34" charset="-122"/>
                <a:cs typeface="Calibri" pitchFamily="34" charset="-120"/>
              </a:rPr>
              <a:t>4 members, comma-separated</a:t>
            </a:r>
            <a:endParaRPr lang="en-US" sz="1100" dirty="0"/>
          </a:p>
        </p:txBody>
      </p:sp>
      <p:sp>
        <p:nvSpPr>
          <p:cNvPr id="50" name="Shape 48"/>
          <p:cNvSpPr/>
          <p:nvPr/>
        </p:nvSpPr>
        <p:spPr>
          <a:xfrm>
            <a:off x="548640" y="4754880"/>
            <a:ext cx="6949440" cy="1508760"/>
          </a:xfrm>
          <a:prstGeom prst="roundRect">
            <a:avLst>
              <a:gd name="adj" fmla="val 3030"/>
            </a:avLst>
          </a:prstGeom>
          <a:solidFill>
            <a:srgbClr val="212121"/>
          </a:solidFill>
          <a:ln/>
        </p:spPr>
        <p:txBody>
          <a:bodyPr/>
          <a:p/>
        </p:txBody>
      </p:sp>
      <p:sp>
        <p:nvSpPr>
          <p:cNvPr id="51" name="Text 49"/>
          <p:cNvSpPr txBox="1"/>
          <p:nvPr/>
        </p:nvSpPr>
        <p:spPr>
          <a:xfrm>
            <a:off x="731520" y="4864608"/>
            <a:ext cx="6583680" cy="1289304"/>
          </a:xfrm>
          <a:prstGeom prst="rect">
            <a:avLst/>
          </a:prstGeom>
          <a:noFill/>
          <a:ln/>
        </p:spPr>
        <p:txBody>
          <a:bodyPr wrap="square" lIns="0" tIns="0" rIns="0" bIns="0" rtlCol="0" anchor="t"/>
          <a:lstStyle/>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ls -l /etc/passwd /etc/group /etc/shadow</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-rw-r--r-- 1 root root    809 Oct 12 11:50 /etc/group</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-rw-r--r-- 1 root root   1598 Oct 12 11:50 /etc/passwd</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-rw-r----- 1 root shadow  884 Oct 12 11:50 /etc/shadow</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cat /etc/shadow</a:t>
            </a:r>
            <a:endParaRPr lang="en-US" sz="1200" dirty="0"/>
          </a:p>
          <a:p>
            <a:pPr indent="0" marL="0">
              <a:lnSpc>
                <a:spcPct val="100000"/>
              </a:lnSpc>
              <a:buNone/>
            </a:pPr>
            <a:r>
              <a:rPr lang="en-US" sz="1200" dirty="0">
                <a:solidFill>
                  <a:srgbClr val="F4A79D"/>
                </a:solidFill>
                <a:latin typeface="Consolas" pitchFamily="34" charset="0"/>
                <a:ea typeface="Consolas" pitchFamily="34" charset="-122"/>
                <a:cs typeface="Consolas" pitchFamily="34" charset="-120"/>
              </a:rPr>
              <a:t>cat: /etc/shadow: Permission denied</a:t>
            </a:r>
            <a:endParaRPr lang="en-US" sz="1200" dirty="0"/>
          </a:p>
        </p:txBody>
      </p:sp>
      <p:sp>
        <p:nvSpPr>
          <p:cNvPr id="52" name="Shape 50"/>
          <p:cNvSpPr/>
          <p:nvPr/>
        </p:nvSpPr>
        <p:spPr>
          <a:xfrm>
            <a:off x="7726680" y="3246120"/>
            <a:ext cx="3931920" cy="3017520"/>
          </a:xfrm>
          <a:prstGeom prst="roundRect">
            <a:avLst>
              <a:gd name="adj" fmla="val 181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53" name="Text 51"/>
          <p:cNvSpPr txBox="1"/>
          <p:nvPr/>
        </p:nvSpPr>
        <p:spPr>
          <a:xfrm>
            <a:off x="7955280" y="3429000"/>
            <a:ext cx="34747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Why two files?</a:t>
            </a:r>
            <a:endParaRPr lang="en-US" sz="1500" dirty="0"/>
          </a:p>
        </p:txBody>
      </p:sp>
      <p:sp>
        <p:nvSpPr>
          <p:cNvPr id="54" name="Text 52"/>
          <p:cNvSpPr txBox="1"/>
          <p:nvPr/>
        </p:nvSpPr>
        <p:spPr>
          <a:xfrm>
            <a:off x="7955280" y="3886200"/>
            <a:ext cx="3474720" cy="224028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Everybody must read /etc/passwd (ls needs it to turn UIDs into names).</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Password hashes are kept in /etc/shadow: readable only by root and group shadow.</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READING LS -L</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Seven Columns of ls -l</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One line of  ls -l docs  from our lab folder:</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8</a:t>
            </a:r>
            <a:endParaRPr lang="en-US" sz="900" dirty="0"/>
          </a:p>
        </p:txBody>
      </p:sp>
      <p:sp>
        <p:nvSpPr>
          <p:cNvPr id="7" name="Shape 5"/>
          <p:cNvSpPr/>
          <p:nvPr/>
        </p:nvSpPr>
        <p:spPr>
          <a:xfrm>
            <a:off x="594360" y="2103120"/>
            <a:ext cx="2075688" cy="731520"/>
          </a:xfrm>
          <a:prstGeom prst="roundRect">
            <a:avLst>
              <a:gd name="adj" fmla="val 6250"/>
            </a:avLst>
          </a:prstGeom>
          <a:solidFill>
            <a:srgbClr val="36454F"/>
          </a:solidFill>
          <a:ln/>
        </p:spPr>
        <p:txBody>
          <a:bodyPr/>
          <a:p/>
        </p:txBody>
      </p:sp>
      <p:sp>
        <p:nvSpPr>
          <p:cNvPr id="8" name="Text 6"/>
          <p:cNvSpPr txBox="1"/>
          <p:nvPr/>
        </p:nvSpPr>
        <p:spPr>
          <a:xfrm>
            <a:off x="594360" y="2103120"/>
            <a:ext cx="2075688" cy="731520"/>
          </a:xfrm>
          <a:prstGeom prst="rect">
            <a:avLst/>
          </a:prstGeom>
          <a:noFill/>
          <a:ln/>
        </p:spPr>
        <p:txBody>
          <a:bodyPr wrap="square" lIns="38100" tIns="38100" rIns="38100" bIns="38100" rtlCol="0" anchor="ctr"/>
          <a:lstStyle/>
          <a:p>
            <a:pPr algn="ctr" indent="0" marL="0">
              <a:buNone/>
            </a:pPr>
            <a:r>
              <a:rPr lang="en-US" sz="2000" b="1" dirty="0">
                <a:solidFill>
                  <a:srgbClr val="02C39A"/>
                </a:solidFill>
                <a:latin typeface="Consolas" pitchFamily="34" charset="0"/>
                <a:ea typeface="Consolas" pitchFamily="34" charset="-122"/>
                <a:cs typeface="Consolas" pitchFamily="34" charset="-120"/>
              </a:rPr>
              <a:t>-rw-rw-r--</a:t>
            </a:r>
            <a:endParaRPr lang="en-US" sz="2000" dirty="0"/>
          </a:p>
        </p:txBody>
      </p:sp>
      <p:sp>
        <p:nvSpPr>
          <p:cNvPr id="9" name="Shape 7"/>
          <p:cNvSpPr/>
          <p:nvPr/>
        </p:nvSpPr>
        <p:spPr>
          <a:xfrm>
            <a:off x="1467612" y="2971800"/>
            <a:ext cx="329184" cy="329184"/>
          </a:xfrm>
          <a:prstGeom prst="ellipse">
            <a:avLst/>
          </a:prstGeom>
          <a:solidFill>
            <a:srgbClr val="028090"/>
          </a:solidFill>
          <a:ln/>
        </p:spPr>
        <p:txBody>
          <a:bodyPr/>
          <a:p/>
        </p:txBody>
      </p:sp>
      <p:sp>
        <p:nvSpPr>
          <p:cNvPr id="10" name="Text 8"/>
          <p:cNvSpPr txBox="1"/>
          <p:nvPr/>
        </p:nvSpPr>
        <p:spPr>
          <a:xfrm>
            <a:off x="1467612" y="29718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502920" y="3337560"/>
            <a:ext cx="2258568" cy="320040"/>
          </a:xfrm>
          <a:prstGeom prst="rect">
            <a:avLst/>
          </a:prstGeom>
          <a:noFill/>
          <a:ln/>
        </p:spPr>
        <p:txBody>
          <a:bodyPr wrap="square" lIns="0" tIns="0" rIns="0" bIns="0" rtlCol="0" anchor="t"/>
          <a:lstStyle/>
          <a:p>
            <a:pPr algn="ctr" indent="0" marL="0">
              <a:buNone/>
            </a:pPr>
            <a:r>
              <a:rPr lang="en-US" sz="1200" b="1" dirty="0">
                <a:solidFill>
                  <a:srgbClr val="36454F"/>
                </a:solidFill>
                <a:latin typeface="Calibri" pitchFamily="34" charset="0"/>
                <a:ea typeface="Calibri" pitchFamily="34" charset="-122"/>
                <a:cs typeface="Calibri" pitchFamily="34" charset="-120"/>
              </a:rPr>
              <a:t>type + permissions</a:t>
            </a:r>
            <a:endParaRPr lang="en-US" sz="1200" dirty="0"/>
          </a:p>
        </p:txBody>
      </p:sp>
      <p:sp>
        <p:nvSpPr>
          <p:cNvPr id="12" name="Shape 10"/>
          <p:cNvSpPr/>
          <p:nvPr/>
        </p:nvSpPr>
        <p:spPr>
          <a:xfrm>
            <a:off x="2743200" y="2103120"/>
            <a:ext cx="521208" cy="731520"/>
          </a:xfrm>
          <a:prstGeom prst="roundRect">
            <a:avLst>
              <a:gd name="adj" fmla="val 8772"/>
            </a:avLst>
          </a:prstGeom>
          <a:solidFill>
            <a:srgbClr val="F2F2F2"/>
          </a:solidFill>
          <a:ln/>
        </p:spPr>
        <p:txBody>
          <a:bodyPr/>
          <a:p/>
        </p:txBody>
      </p:sp>
      <p:sp>
        <p:nvSpPr>
          <p:cNvPr id="13" name="Text 11"/>
          <p:cNvSpPr txBox="1"/>
          <p:nvPr/>
        </p:nvSpPr>
        <p:spPr>
          <a:xfrm>
            <a:off x="2743200" y="2103120"/>
            <a:ext cx="521208" cy="731520"/>
          </a:xfrm>
          <a:prstGeom prst="rect">
            <a:avLst/>
          </a:prstGeom>
          <a:noFill/>
          <a:ln/>
        </p:spPr>
        <p:txBody>
          <a:bodyPr wrap="square" lIns="38100" tIns="38100" rIns="38100" bIns="38100" rtlCol="0" anchor="ctr"/>
          <a:lstStyle/>
          <a:p>
            <a:pPr algn="ctr" indent="0" marL="0">
              <a:buNone/>
            </a:pPr>
            <a:r>
              <a:rPr lang="en-US" sz="2000" b="1" dirty="0">
                <a:solidFill>
                  <a:srgbClr val="212121"/>
                </a:solidFill>
                <a:latin typeface="Consolas" pitchFamily="34" charset="0"/>
                <a:ea typeface="Consolas" pitchFamily="34" charset="-122"/>
                <a:cs typeface="Consolas" pitchFamily="34" charset="-120"/>
              </a:rPr>
              <a:t>1</a:t>
            </a:r>
            <a:endParaRPr lang="en-US" sz="2000" dirty="0"/>
          </a:p>
        </p:txBody>
      </p:sp>
      <p:sp>
        <p:nvSpPr>
          <p:cNvPr id="14" name="Shape 12"/>
          <p:cNvSpPr/>
          <p:nvPr/>
        </p:nvSpPr>
        <p:spPr>
          <a:xfrm>
            <a:off x="2839212" y="2971800"/>
            <a:ext cx="329184" cy="329184"/>
          </a:xfrm>
          <a:prstGeom prst="ellipse">
            <a:avLst/>
          </a:prstGeom>
          <a:solidFill>
            <a:srgbClr val="50808E"/>
          </a:solidFill>
          <a:ln/>
        </p:spPr>
        <p:txBody>
          <a:bodyPr/>
          <a:p/>
        </p:txBody>
      </p:sp>
      <p:sp>
        <p:nvSpPr>
          <p:cNvPr id="15" name="Text 13"/>
          <p:cNvSpPr txBox="1"/>
          <p:nvPr/>
        </p:nvSpPr>
        <p:spPr>
          <a:xfrm>
            <a:off x="2839212" y="29718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txBox="1"/>
          <p:nvPr/>
        </p:nvSpPr>
        <p:spPr>
          <a:xfrm>
            <a:off x="2651760" y="3337560"/>
            <a:ext cx="704088" cy="320040"/>
          </a:xfrm>
          <a:prstGeom prst="rect">
            <a:avLst/>
          </a:prstGeom>
          <a:noFill/>
          <a:ln/>
        </p:spPr>
        <p:txBody>
          <a:bodyPr wrap="square" lIns="0" tIns="0" rIns="0" bIns="0" rtlCol="0" anchor="t"/>
          <a:lstStyle/>
          <a:p>
            <a:pPr algn="ctr" indent="0" marL="0">
              <a:buNone/>
            </a:pPr>
            <a:r>
              <a:rPr lang="en-US" sz="1200" b="1" dirty="0">
                <a:solidFill>
                  <a:srgbClr val="36454F"/>
                </a:solidFill>
                <a:latin typeface="Calibri" pitchFamily="34" charset="0"/>
                <a:ea typeface="Calibri" pitchFamily="34" charset="-122"/>
                <a:cs typeface="Calibri" pitchFamily="34" charset="-120"/>
              </a:rPr>
              <a:t>links</a:t>
            </a:r>
            <a:endParaRPr lang="en-US" sz="1200" dirty="0"/>
          </a:p>
        </p:txBody>
      </p:sp>
      <p:sp>
        <p:nvSpPr>
          <p:cNvPr id="17" name="Shape 15"/>
          <p:cNvSpPr/>
          <p:nvPr/>
        </p:nvSpPr>
        <p:spPr>
          <a:xfrm>
            <a:off x="3337560" y="2103120"/>
            <a:ext cx="1435608" cy="731520"/>
          </a:xfrm>
          <a:prstGeom prst="roundRect">
            <a:avLst>
              <a:gd name="adj" fmla="val 6250"/>
            </a:avLst>
          </a:prstGeom>
          <a:solidFill>
            <a:srgbClr val="F2F2F2"/>
          </a:solidFill>
          <a:ln/>
        </p:spPr>
        <p:txBody>
          <a:bodyPr/>
          <a:p/>
        </p:txBody>
      </p:sp>
      <p:sp>
        <p:nvSpPr>
          <p:cNvPr id="18" name="Text 16"/>
          <p:cNvSpPr txBox="1"/>
          <p:nvPr/>
        </p:nvSpPr>
        <p:spPr>
          <a:xfrm>
            <a:off x="3337560" y="2103120"/>
            <a:ext cx="1435608" cy="731520"/>
          </a:xfrm>
          <a:prstGeom prst="rect">
            <a:avLst/>
          </a:prstGeom>
          <a:noFill/>
          <a:ln/>
        </p:spPr>
        <p:txBody>
          <a:bodyPr wrap="square" lIns="38100" tIns="38100" rIns="38100" bIns="38100" rtlCol="0" anchor="ctr"/>
          <a:lstStyle/>
          <a:p>
            <a:pPr algn="ctr" indent="0" marL="0">
              <a:buNone/>
            </a:pPr>
            <a:r>
              <a:rPr lang="en-US" sz="2000" b="1" dirty="0">
                <a:solidFill>
                  <a:srgbClr val="212121"/>
                </a:solidFill>
                <a:latin typeface="Consolas" pitchFamily="34" charset="0"/>
                <a:ea typeface="Consolas" pitchFamily="34" charset="-122"/>
                <a:cs typeface="Consolas" pitchFamily="34" charset="-120"/>
              </a:rPr>
              <a:t>student</a:t>
            </a:r>
            <a:endParaRPr lang="en-US" sz="2000" dirty="0"/>
          </a:p>
        </p:txBody>
      </p:sp>
      <p:sp>
        <p:nvSpPr>
          <p:cNvPr id="19" name="Shape 17"/>
          <p:cNvSpPr/>
          <p:nvPr/>
        </p:nvSpPr>
        <p:spPr>
          <a:xfrm>
            <a:off x="3890772" y="2971800"/>
            <a:ext cx="329184" cy="329184"/>
          </a:xfrm>
          <a:prstGeom prst="ellipse">
            <a:avLst/>
          </a:prstGeom>
          <a:solidFill>
            <a:srgbClr val="50808E"/>
          </a:solidFill>
          <a:ln/>
        </p:spPr>
        <p:txBody>
          <a:bodyPr/>
          <a:p/>
        </p:txBody>
      </p:sp>
      <p:sp>
        <p:nvSpPr>
          <p:cNvPr id="20" name="Text 18"/>
          <p:cNvSpPr txBox="1"/>
          <p:nvPr/>
        </p:nvSpPr>
        <p:spPr>
          <a:xfrm>
            <a:off x="3890772" y="29718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txBox="1"/>
          <p:nvPr/>
        </p:nvSpPr>
        <p:spPr>
          <a:xfrm>
            <a:off x="3246120" y="3337560"/>
            <a:ext cx="1618488" cy="320040"/>
          </a:xfrm>
          <a:prstGeom prst="rect">
            <a:avLst/>
          </a:prstGeom>
          <a:noFill/>
          <a:ln/>
        </p:spPr>
        <p:txBody>
          <a:bodyPr wrap="square" lIns="0" tIns="0" rIns="0" bIns="0" rtlCol="0" anchor="t"/>
          <a:lstStyle/>
          <a:p>
            <a:pPr algn="ctr" indent="0" marL="0">
              <a:buNone/>
            </a:pPr>
            <a:r>
              <a:rPr lang="en-US" sz="1200" b="1" dirty="0">
                <a:solidFill>
                  <a:srgbClr val="36454F"/>
                </a:solidFill>
                <a:latin typeface="Calibri" pitchFamily="34" charset="0"/>
                <a:ea typeface="Calibri" pitchFamily="34" charset="-122"/>
                <a:cs typeface="Calibri" pitchFamily="34" charset="-120"/>
              </a:rPr>
              <a:t>owner</a:t>
            </a:r>
            <a:endParaRPr lang="en-US" sz="1200" dirty="0"/>
          </a:p>
        </p:txBody>
      </p:sp>
      <p:sp>
        <p:nvSpPr>
          <p:cNvPr id="22" name="Shape 20"/>
          <p:cNvSpPr/>
          <p:nvPr/>
        </p:nvSpPr>
        <p:spPr>
          <a:xfrm>
            <a:off x="4846320" y="2103120"/>
            <a:ext cx="1435608" cy="731520"/>
          </a:xfrm>
          <a:prstGeom prst="roundRect">
            <a:avLst>
              <a:gd name="adj" fmla="val 6250"/>
            </a:avLst>
          </a:prstGeom>
          <a:solidFill>
            <a:srgbClr val="F2F2F2"/>
          </a:solidFill>
          <a:ln/>
        </p:spPr>
        <p:txBody>
          <a:bodyPr/>
          <a:p/>
        </p:txBody>
      </p:sp>
      <p:sp>
        <p:nvSpPr>
          <p:cNvPr id="23" name="Text 21"/>
          <p:cNvSpPr txBox="1"/>
          <p:nvPr/>
        </p:nvSpPr>
        <p:spPr>
          <a:xfrm>
            <a:off x="4846320" y="2103120"/>
            <a:ext cx="1435608" cy="731520"/>
          </a:xfrm>
          <a:prstGeom prst="rect">
            <a:avLst/>
          </a:prstGeom>
          <a:noFill/>
          <a:ln/>
        </p:spPr>
        <p:txBody>
          <a:bodyPr wrap="square" lIns="38100" tIns="38100" rIns="38100" bIns="38100" rtlCol="0" anchor="ctr"/>
          <a:lstStyle/>
          <a:p>
            <a:pPr algn="ctr" indent="0" marL="0">
              <a:buNone/>
            </a:pPr>
            <a:r>
              <a:rPr lang="en-US" sz="2000" b="1" dirty="0">
                <a:solidFill>
                  <a:srgbClr val="212121"/>
                </a:solidFill>
                <a:latin typeface="Consolas" pitchFamily="34" charset="0"/>
                <a:ea typeface="Consolas" pitchFamily="34" charset="-122"/>
                <a:cs typeface="Consolas" pitchFamily="34" charset="-120"/>
              </a:rPr>
              <a:t>student</a:t>
            </a:r>
            <a:endParaRPr lang="en-US" sz="2000" dirty="0"/>
          </a:p>
        </p:txBody>
      </p:sp>
      <p:sp>
        <p:nvSpPr>
          <p:cNvPr id="24" name="Shape 22"/>
          <p:cNvSpPr/>
          <p:nvPr/>
        </p:nvSpPr>
        <p:spPr>
          <a:xfrm>
            <a:off x="5399532" y="2971800"/>
            <a:ext cx="329184" cy="329184"/>
          </a:xfrm>
          <a:prstGeom prst="ellipse">
            <a:avLst/>
          </a:prstGeom>
          <a:solidFill>
            <a:srgbClr val="50808E"/>
          </a:solidFill>
          <a:ln/>
        </p:spPr>
        <p:txBody>
          <a:bodyPr/>
          <a:p/>
        </p:txBody>
      </p:sp>
      <p:sp>
        <p:nvSpPr>
          <p:cNvPr id="25" name="Text 23"/>
          <p:cNvSpPr txBox="1"/>
          <p:nvPr/>
        </p:nvSpPr>
        <p:spPr>
          <a:xfrm>
            <a:off x="5399532" y="29718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txBox="1"/>
          <p:nvPr/>
        </p:nvSpPr>
        <p:spPr>
          <a:xfrm>
            <a:off x="4754880" y="3337560"/>
            <a:ext cx="1618488" cy="320040"/>
          </a:xfrm>
          <a:prstGeom prst="rect">
            <a:avLst/>
          </a:prstGeom>
          <a:noFill/>
          <a:ln/>
        </p:spPr>
        <p:txBody>
          <a:bodyPr wrap="square" lIns="0" tIns="0" rIns="0" bIns="0" rtlCol="0" anchor="t"/>
          <a:lstStyle/>
          <a:p>
            <a:pPr algn="ctr" indent="0" marL="0">
              <a:buNone/>
            </a:pPr>
            <a:r>
              <a:rPr lang="en-US" sz="1200" b="1" dirty="0">
                <a:solidFill>
                  <a:srgbClr val="36454F"/>
                </a:solidFill>
                <a:latin typeface="Calibri" pitchFamily="34" charset="0"/>
                <a:ea typeface="Calibri" pitchFamily="34" charset="-122"/>
                <a:cs typeface="Calibri" pitchFamily="34" charset="-120"/>
              </a:rPr>
              <a:t>group</a:t>
            </a:r>
            <a:endParaRPr lang="en-US" sz="1200" dirty="0"/>
          </a:p>
        </p:txBody>
      </p:sp>
      <p:sp>
        <p:nvSpPr>
          <p:cNvPr id="27" name="Shape 25"/>
          <p:cNvSpPr/>
          <p:nvPr/>
        </p:nvSpPr>
        <p:spPr>
          <a:xfrm>
            <a:off x="6355080" y="2103120"/>
            <a:ext cx="749808" cy="731520"/>
          </a:xfrm>
          <a:prstGeom prst="roundRect">
            <a:avLst>
              <a:gd name="adj" fmla="val 6250"/>
            </a:avLst>
          </a:prstGeom>
          <a:solidFill>
            <a:srgbClr val="F2F2F2"/>
          </a:solidFill>
          <a:ln/>
        </p:spPr>
        <p:txBody>
          <a:bodyPr/>
          <a:p/>
        </p:txBody>
      </p:sp>
      <p:sp>
        <p:nvSpPr>
          <p:cNvPr id="28" name="Text 26"/>
          <p:cNvSpPr txBox="1"/>
          <p:nvPr/>
        </p:nvSpPr>
        <p:spPr>
          <a:xfrm>
            <a:off x="6355080" y="2103120"/>
            <a:ext cx="749808" cy="731520"/>
          </a:xfrm>
          <a:prstGeom prst="rect">
            <a:avLst/>
          </a:prstGeom>
          <a:noFill/>
          <a:ln/>
        </p:spPr>
        <p:txBody>
          <a:bodyPr wrap="square" lIns="38100" tIns="38100" rIns="38100" bIns="38100" rtlCol="0" anchor="ctr"/>
          <a:lstStyle/>
          <a:p>
            <a:pPr algn="ctr" indent="0" marL="0">
              <a:buNone/>
            </a:pPr>
            <a:r>
              <a:rPr lang="en-US" sz="2000" b="1" dirty="0">
                <a:solidFill>
                  <a:srgbClr val="212121"/>
                </a:solidFill>
                <a:latin typeface="Consolas" pitchFamily="34" charset="0"/>
                <a:ea typeface="Consolas" pitchFamily="34" charset="-122"/>
                <a:cs typeface="Consolas" pitchFamily="34" charset="-120"/>
              </a:rPr>
              <a:t>578</a:t>
            </a:r>
            <a:endParaRPr lang="en-US" sz="2000" dirty="0"/>
          </a:p>
        </p:txBody>
      </p:sp>
      <p:sp>
        <p:nvSpPr>
          <p:cNvPr id="29" name="Shape 27"/>
          <p:cNvSpPr/>
          <p:nvPr/>
        </p:nvSpPr>
        <p:spPr>
          <a:xfrm>
            <a:off x="6565392" y="2971800"/>
            <a:ext cx="329184" cy="329184"/>
          </a:xfrm>
          <a:prstGeom prst="ellipse">
            <a:avLst/>
          </a:prstGeom>
          <a:solidFill>
            <a:srgbClr val="50808E"/>
          </a:solidFill>
          <a:ln/>
        </p:spPr>
        <p:txBody>
          <a:bodyPr/>
          <a:p/>
        </p:txBody>
      </p:sp>
      <p:sp>
        <p:nvSpPr>
          <p:cNvPr id="30" name="Text 28"/>
          <p:cNvSpPr txBox="1"/>
          <p:nvPr/>
        </p:nvSpPr>
        <p:spPr>
          <a:xfrm>
            <a:off x="6565392" y="29718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9"/>
          <p:cNvSpPr txBox="1"/>
          <p:nvPr/>
        </p:nvSpPr>
        <p:spPr>
          <a:xfrm>
            <a:off x="6263640" y="3337560"/>
            <a:ext cx="932688" cy="320040"/>
          </a:xfrm>
          <a:prstGeom prst="rect">
            <a:avLst/>
          </a:prstGeom>
          <a:noFill/>
          <a:ln/>
        </p:spPr>
        <p:txBody>
          <a:bodyPr wrap="square" lIns="0" tIns="0" rIns="0" bIns="0" rtlCol="0" anchor="t"/>
          <a:lstStyle/>
          <a:p>
            <a:pPr algn="ctr" indent="0" marL="0">
              <a:buNone/>
            </a:pPr>
            <a:r>
              <a:rPr lang="en-US" sz="1200" b="1" dirty="0">
                <a:solidFill>
                  <a:srgbClr val="36454F"/>
                </a:solidFill>
                <a:latin typeface="Calibri" pitchFamily="34" charset="0"/>
                <a:ea typeface="Calibri" pitchFamily="34" charset="-122"/>
                <a:cs typeface="Calibri" pitchFamily="34" charset="-120"/>
              </a:rPr>
              <a:t>size (bytes)</a:t>
            </a:r>
            <a:endParaRPr lang="en-US" sz="1200" dirty="0"/>
          </a:p>
        </p:txBody>
      </p:sp>
      <p:sp>
        <p:nvSpPr>
          <p:cNvPr id="32" name="Shape 30"/>
          <p:cNvSpPr/>
          <p:nvPr/>
        </p:nvSpPr>
        <p:spPr>
          <a:xfrm>
            <a:off x="7178040" y="2103120"/>
            <a:ext cx="2075688" cy="731520"/>
          </a:xfrm>
          <a:prstGeom prst="roundRect">
            <a:avLst>
              <a:gd name="adj" fmla="val 6250"/>
            </a:avLst>
          </a:prstGeom>
          <a:solidFill>
            <a:srgbClr val="F2F2F2"/>
          </a:solidFill>
          <a:ln/>
        </p:spPr>
        <p:txBody>
          <a:bodyPr/>
          <a:p/>
        </p:txBody>
      </p:sp>
      <p:sp>
        <p:nvSpPr>
          <p:cNvPr id="33" name="Text 31"/>
          <p:cNvSpPr txBox="1"/>
          <p:nvPr/>
        </p:nvSpPr>
        <p:spPr>
          <a:xfrm>
            <a:off x="7178040" y="2103120"/>
            <a:ext cx="2075688" cy="731520"/>
          </a:xfrm>
          <a:prstGeom prst="rect">
            <a:avLst/>
          </a:prstGeom>
          <a:noFill/>
          <a:ln/>
        </p:spPr>
        <p:txBody>
          <a:bodyPr wrap="square" lIns="38100" tIns="38100" rIns="38100" bIns="38100" rtlCol="0" anchor="ctr"/>
          <a:lstStyle/>
          <a:p>
            <a:pPr algn="ctr" indent="0" marL="0">
              <a:buNone/>
            </a:pPr>
            <a:r>
              <a:rPr lang="en-US" sz="2000" b="1" dirty="0">
                <a:solidFill>
                  <a:srgbClr val="212121"/>
                </a:solidFill>
                <a:latin typeface="Consolas" pitchFamily="34" charset="0"/>
                <a:ea typeface="Consolas" pitchFamily="34" charset="-122"/>
                <a:cs typeface="Consolas" pitchFamily="34" charset="-120"/>
              </a:rPr>
              <a:t>Oct 12 19:38</a:t>
            </a:r>
            <a:endParaRPr lang="en-US" sz="2000" dirty="0"/>
          </a:p>
        </p:txBody>
      </p:sp>
      <p:sp>
        <p:nvSpPr>
          <p:cNvPr id="34" name="Shape 32"/>
          <p:cNvSpPr/>
          <p:nvPr/>
        </p:nvSpPr>
        <p:spPr>
          <a:xfrm>
            <a:off x="8051292" y="2971800"/>
            <a:ext cx="329184" cy="329184"/>
          </a:xfrm>
          <a:prstGeom prst="ellipse">
            <a:avLst/>
          </a:prstGeom>
          <a:solidFill>
            <a:srgbClr val="50808E"/>
          </a:solidFill>
          <a:ln/>
        </p:spPr>
        <p:txBody>
          <a:bodyPr/>
          <a:p/>
        </p:txBody>
      </p:sp>
      <p:sp>
        <p:nvSpPr>
          <p:cNvPr id="35" name="Text 33"/>
          <p:cNvSpPr txBox="1"/>
          <p:nvPr/>
        </p:nvSpPr>
        <p:spPr>
          <a:xfrm>
            <a:off x="8051292" y="29718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6" name="Text 34"/>
          <p:cNvSpPr txBox="1"/>
          <p:nvPr/>
        </p:nvSpPr>
        <p:spPr>
          <a:xfrm>
            <a:off x="7086600" y="3337560"/>
            <a:ext cx="2258568" cy="320040"/>
          </a:xfrm>
          <a:prstGeom prst="rect">
            <a:avLst/>
          </a:prstGeom>
          <a:noFill/>
          <a:ln/>
        </p:spPr>
        <p:txBody>
          <a:bodyPr wrap="square" lIns="0" tIns="0" rIns="0" bIns="0" rtlCol="0" anchor="t"/>
          <a:lstStyle/>
          <a:p>
            <a:pPr algn="ctr" indent="0" marL="0">
              <a:buNone/>
            </a:pPr>
            <a:r>
              <a:rPr lang="en-US" sz="1200" b="1" dirty="0">
                <a:solidFill>
                  <a:srgbClr val="36454F"/>
                </a:solidFill>
                <a:latin typeface="Calibri" pitchFamily="34" charset="0"/>
                <a:ea typeface="Calibri" pitchFamily="34" charset="-122"/>
                <a:cs typeface="Calibri" pitchFamily="34" charset="-120"/>
              </a:rPr>
              <a:t>last modified</a:t>
            </a:r>
            <a:endParaRPr lang="en-US" sz="1200" dirty="0"/>
          </a:p>
        </p:txBody>
      </p:sp>
      <p:sp>
        <p:nvSpPr>
          <p:cNvPr id="37" name="Shape 35"/>
          <p:cNvSpPr/>
          <p:nvPr/>
        </p:nvSpPr>
        <p:spPr>
          <a:xfrm>
            <a:off x="9326880" y="2103120"/>
            <a:ext cx="1938528" cy="731520"/>
          </a:xfrm>
          <a:prstGeom prst="roundRect">
            <a:avLst>
              <a:gd name="adj" fmla="val 6250"/>
            </a:avLst>
          </a:prstGeom>
          <a:solidFill>
            <a:srgbClr val="F2F2F2"/>
          </a:solidFill>
          <a:ln/>
        </p:spPr>
        <p:txBody>
          <a:bodyPr/>
          <a:p/>
        </p:txBody>
      </p:sp>
      <p:sp>
        <p:nvSpPr>
          <p:cNvPr id="38" name="Text 36"/>
          <p:cNvSpPr txBox="1"/>
          <p:nvPr/>
        </p:nvSpPr>
        <p:spPr>
          <a:xfrm>
            <a:off x="9326880" y="2103120"/>
            <a:ext cx="1938528" cy="731520"/>
          </a:xfrm>
          <a:prstGeom prst="rect">
            <a:avLst/>
          </a:prstGeom>
          <a:noFill/>
          <a:ln/>
        </p:spPr>
        <p:txBody>
          <a:bodyPr wrap="square" lIns="38100" tIns="38100" rIns="38100" bIns="38100" rtlCol="0" anchor="ctr"/>
          <a:lstStyle/>
          <a:p>
            <a:pPr algn="ctr" indent="0" marL="0">
              <a:buNone/>
            </a:pPr>
            <a:r>
              <a:rPr lang="en-US" sz="2000" b="1" dirty="0">
                <a:solidFill>
                  <a:srgbClr val="212121"/>
                </a:solidFill>
                <a:latin typeface="Consolas" pitchFamily="34" charset="0"/>
                <a:ea typeface="Consolas" pitchFamily="34" charset="-122"/>
                <a:cs typeface="Consolas" pitchFamily="34" charset="-120"/>
              </a:rPr>
              <a:t>syllabus.txt</a:t>
            </a:r>
            <a:endParaRPr lang="en-US" sz="2000" dirty="0"/>
          </a:p>
        </p:txBody>
      </p:sp>
      <p:sp>
        <p:nvSpPr>
          <p:cNvPr id="39" name="Shape 37"/>
          <p:cNvSpPr/>
          <p:nvPr/>
        </p:nvSpPr>
        <p:spPr>
          <a:xfrm>
            <a:off x="10131552" y="2971800"/>
            <a:ext cx="329184" cy="329184"/>
          </a:xfrm>
          <a:prstGeom prst="ellipse">
            <a:avLst/>
          </a:prstGeom>
          <a:solidFill>
            <a:srgbClr val="50808E"/>
          </a:solidFill>
          <a:ln/>
        </p:spPr>
        <p:txBody>
          <a:bodyPr/>
          <a:p/>
        </p:txBody>
      </p:sp>
      <p:sp>
        <p:nvSpPr>
          <p:cNvPr id="40" name="Text 38"/>
          <p:cNvSpPr txBox="1"/>
          <p:nvPr/>
        </p:nvSpPr>
        <p:spPr>
          <a:xfrm>
            <a:off x="10131552" y="29718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1" name="Text 39"/>
          <p:cNvSpPr txBox="1"/>
          <p:nvPr/>
        </p:nvSpPr>
        <p:spPr>
          <a:xfrm>
            <a:off x="9235440" y="3337560"/>
            <a:ext cx="2121408" cy="320040"/>
          </a:xfrm>
          <a:prstGeom prst="rect">
            <a:avLst/>
          </a:prstGeom>
          <a:noFill/>
          <a:ln/>
        </p:spPr>
        <p:txBody>
          <a:bodyPr wrap="square" lIns="0" tIns="0" rIns="0" bIns="0" rtlCol="0" anchor="t"/>
          <a:lstStyle/>
          <a:p>
            <a:pPr algn="ctr" indent="0" marL="0">
              <a:buNone/>
            </a:pPr>
            <a:r>
              <a:rPr lang="en-US" sz="1200" b="1" dirty="0">
                <a:solidFill>
                  <a:srgbClr val="36454F"/>
                </a:solidFill>
                <a:latin typeface="Calibri" pitchFamily="34" charset="0"/>
                <a:ea typeface="Calibri" pitchFamily="34" charset="-122"/>
                <a:cs typeface="Calibri" pitchFamily="34" charset="-120"/>
              </a:rPr>
              <a:t>name</a:t>
            </a:r>
            <a:endParaRPr lang="en-US" sz="1200" dirty="0"/>
          </a:p>
        </p:txBody>
      </p:sp>
      <p:sp>
        <p:nvSpPr>
          <p:cNvPr id="42" name="Shape 40"/>
          <p:cNvSpPr/>
          <p:nvPr/>
        </p:nvSpPr>
        <p:spPr>
          <a:xfrm>
            <a:off x="548640" y="3931920"/>
            <a:ext cx="5440680" cy="2331720"/>
          </a:xfrm>
          <a:prstGeom prst="roundRect">
            <a:avLst>
              <a:gd name="adj" fmla="val 235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43" name="Text 41"/>
          <p:cNvSpPr txBox="1"/>
          <p:nvPr/>
        </p:nvSpPr>
        <p:spPr>
          <a:xfrm>
            <a:off x="777240" y="411480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Columns 1–2</a:t>
            </a:r>
            <a:endParaRPr lang="en-US" sz="1500" dirty="0"/>
          </a:p>
        </p:txBody>
      </p:sp>
      <p:sp>
        <p:nvSpPr>
          <p:cNvPr id="44" name="Text 42"/>
          <p:cNvSpPr txBox="1"/>
          <p:nvPr/>
        </p:nvSpPr>
        <p:spPr>
          <a:xfrm>
            <a:off x="777240" y="4572000"/>
            <a:ext cx="4983480" cy="1554480"/>
          </a:xfrm>
          <a:prstGeom prst="rect">
            <a:avLst/>
          </a:prstGeom>
          <a:noFill/>
          <a:ln/>
        </p:spPr>
        <p:txBody>
          <a:bodyPr wrap="square" lIns="0" tIns="0" rIns="0" bIns="0" rtlCol="0" anchor="t"/>
          <a:lstStyle/>
          <a:p>
            <a:pPr marL="228600" indent="-228600">
              <a:spcAft>
                <a:spcPts val="400"/>
              </a:spcAft>
              <a:buSzPct val="100000"/>
              <a:buChar char="•"/>
            </a:pPr>
            <a:r>
              <a:rPr lang="en-US" sz="1450" b="1" dirty="0">
                <a:solidFill>
                  <a:srgbClr val="3A464C"/>
                </a:solidFill>
                <a:latin typeface="Calibri" pitchFamily="34" charset="0"/>
                <a:ea typeface="Calibri" pitchFamily="34" charset="-122"/>
                <a:cs typeface="Calibri" pitchFamily="34" charset="-120"/>
              </a:rPr>
              <a:t>1 Mode:</a:t>
            </a:r>
            <a:r>
              <a:rPr lang="en-US" sz="1450" dirty="0">
                <a:solidFill>
                  <a:srgbClr val="3A464C"/>
                </a:solidFill>
                <a:latin typeface="Calibri" pitchFamily="34" charset="0"/>
                <a:ea typeface="Calibri" pitchFamily="34" charset="-122"/>
                <a:cs typeface="Calibri" pitchFamily="34" charset="-120"/>
              </a:rPr>
              <a:t> file type + 9 permission bits — the next slide.</a:t>
            </a:r>
            <a:endParaRPr lang="en-US" sz="1450" dirty="0"/>
          </a:p>
          <a:p>
            <a:pPr marL="228600" indent="-228600">
              <a:spcAft>
                <a:spcPts val="400"/>
              </a:spcAft>
              <a:buSzPct val="100000"/>
              <a:buChar char="•"/>
            </a:pPr>
            <a:r>
              <a:rPr lang="en-US" sz="1450" b="1" dirty="0">
                <a:solidFill>
                  <a:srgbClr val="3A464C"/>
                </a:solidFill>
                <a:latin typeface="Calibri" pitchFamily="34" charset="0"/>
                <a:ea typeface="Calibri" pitchFamily="34" charset="-122"/>
                <a:cs typeface="Calibri" pitchFamily="34" charset="-120"/>
              </a:rPr>
              <a:t>2 Link count:</a:t>
            </a:r>
            <a:r>
              <a:rPr lang="en-US" sz="1450" dirty="0">
                <a:solidFill>
                  <a:srgbClr val="3A464C"/>
                </a:solidFill>
                <a:latin typeface="Calibri" pitchFamily="34" charset="0"/>
                <a:ea typeface="Calibri" pitchFamily="34" charset="-122"/>
                <a:cs typeface="Calibri" pitchFamily="34" charset="-120"/>
              </a:rPr>
              <a:t> number of hard links (Week 7, Week 10).</a:t>
            </a:r>
            <a:endParaRPr lang="en-US" sz="1450" dirty="0"/>
          </a:p>
        </p:txBody>
      </p:sp>
      <p:sp>
        <p:nvSpPr>
          <p:cNvPr id="45" name="Shape 43"/>
          <p:cNvSpPr/>
          <p:nvPr/>
        </p:nvSpPr>
        <p:spPr>
          <a:xfrm>
            <a:off x="6217920" y="3931920"/>
            <a:ext cx="5440680" cy="2331720"/>
          </a:xfrm>
          <a:prstGeom prst="roundRect">
            <a:avLst>
              <a:gd name="adj" fmla="val 235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46" name="Text 44"/>
          <p:cNvSpPr txBox="1"/>
          <p:nvPr/>
        </p:nvSpPr>
        <p:spPr>
          <a:xfrm>
            <a:off x="6446520" y="411480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Columns 3–7</a:t>
            </a:r>
            <a:endParaRPr lang="en-US" sz="1500" dirty="0"/>
          </a:p>
        </p:txBody>
      </p:sp>
      <p:sp>
        <p:nvSpPr>
          <p:cNvPr id="47" name="Text 45"/>
          <p:cNvSpPr txBox="1"/>
          <p:nvPr/>
        </p:nvSpPr>
        <p:spPr>
          <a:xfrm>
            <a:off x="6446520" y="4572000"/>
            <a:ext cx="4983480" cy="1554480"/>
          </a:xfrm>
          <a:prstGeom prst="rect">
            <a:avLst/>
          </a:prstGeom>
          <a:noFill/>
          <a:ln/>
        </p:spPr>
        <p:txBody>
          <a:bodyPr wrap="square" lIns="0" tIns="0" rIns="0" bIns="0" rtlCol="0" anchor="t"/>
          <a:lstStyle/>
          <a:p>
            <a:pPr marL="228600" indent="-228600">
              <a:spcAft>
                <a:spcPts val="400"/>
              </a:spcAft>
              <a:buSzPct val="100000"/>
              <a:buChar char="•"/>
            </a:pPr>
            <a:r>
              <a:rPr lang="en-US" sz="1450" b="1" dirty="0">
                <a:solidFill>
                  <a:srgbClr val="3A464C"/>
                </a:solidFill>
                <a:latin typeface="Calibri" pitchFamily="34" charset="0"/>
                <a:ea typeface="Calibri" pitchFamily="34" charset="-122"/>
                <a:cs typeface="Calibri" pitchFamily="34" charset="-120"/>
              </a:rPr>
              <a:t>3, 4 Owner and group:</a:t>
            </a:r>
            <a:r>
              <a:rPr lang="en-US" sz="1450" dirty="0">
                <a:solidFill>
                  <a:srgbClr val="3A464C"/>
                </a:solidFill>
                <a:latin typeface="Calibri" pitchFamily="34" charset="0"/>
                <a:ea typeface="Calibri" pitchFamily="34" charset="-122"/>
                <a:cs typeface="Calibri" pitchFamily="34" charset="-120"/>
              </a:rPr>
              <a:t> the inode stores numbers; ls shows the names.</a:t>
            </a:r>
            <a:endParaRPr lang="en-US" sz="1450" dirty="0"/>
          </a:p>
          <a:p>
            <a:pPr marL="228600" indent="-228600">
              <a:spcAft>
                <a:spcPts val="400"/>
              </a:spcAft>
              <a:buSzPct val="100000"/>
              <a:buChar char="•"/>
            </a:pPr>
            <a:r>
              <a:rPr lang="en-US" sz="1450" b="1" dirty="0">
                <a:solidFill>
                  <a:srgbClr val="3A464C"/>
                </a:solidFill>
                <a:latin typeface="Calibri" pitchFamily="34" charset="0"/>
                <a:ea typeface="Calibri" pitchFamily="34" charset="-122"/>
                <a:cs typeface="Calibri" pitchFamily="34" charset="-120"/>
              </a:rPr>
              <a:t>5–6:</a:t>
            </a:r>
            <a:r>
              <a:rPr lang="en-US" sz="1450" dirty="0">
                <a:solidFill>
                  <a:srgbClr val="3A464C"/>
                </a:solidFill>
                <a:latin typeface="Calibri" pitchFamily="34" charset="0"/>
                <a:ea typeface="Calibri" pitchFamily="34" charset="-122"/>
                <a:cs typeface="Calibri" pitchFamily="34" charset="-120"/>
              </a:rPr>
              <a:t> size in bytes and modification time (mtime).</a:t>
            </a:r>
            <a:endParaRPr lang="en-US" sz="1450" dirty="0"/>
          </a:p>
          <a:p>
            <a:pPr marL="228600" indent="-228600">
              <a:spcAft>
                <a:spcPts val="400"/>
              </a:spcAft>
              <a:buSzPct val="100000"/>
              <a:buChar char="•"/>
            </a:pPr>
            <a:r>
              <a:rPr lang="en-US" sz="1450" b="1" dirty="0">
                <a:solidFill>
                  <a:srgbClr val="3A464C"/>
                </a:solidFill>
                <a:latin typeface="Calibri" pitchFamily="34" charset="0"/>
                <a:ea typeface="Calibri" pitchFamily="34" charset="-122"/>
                <a:cs typeface="Calibri" pitchFamily="34" charset="-120"/>
              </a:rPr>
              <a:t>7 Name:</a:t>
            </a:r>
            <a:r>
              <a:rPr lang="en-US" sz="1450" dirty="0">
                <a:solidFill>
                  <a:srgbClr val="3A464C"/>
                </a:solidFill>
                <a:latin typeface="Calibri" pitchFamily="34" charset="0"/>
                <a:ea typeface="Calibri" pitchFamily="34" charset="-122"/>
                <a:cs typeface="Calibri" pitchFamily="34" charset="-120"/>
              </a:rPr>
              <a:t> comes from the directory entry, not the inode.</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THE MODE STRING</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Decoding  -rwxr-x---  Character by Character</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9</a:t>
            </a:r>
            <a:endParaRPr lang="en-US" sz="900" dirty="0"/>
          </a:p>
        </p:txBody>
      </p:sp>
      <p:sp>
        <p:nvSpPr>
          <p:cNvPr id="6" name="Shape 4"/>
          <p:cNvSpPr/>
          <p:nvPr/>
        </p:nvSpPr>
        <p:spPr>
          <a:xfrm>
            <a:off x="640080" y="2057400"/>
            <a:ext cx="841248" cy="777240"/>
          </a:xfrm>
          <a:prstGeom prst="roundRect">
            <a:avLst>
              <a:gd name="adj" fmla="val 5882"/>
            </a:avLst>
          </a:prstGeom>
          <a:solidFill>
            <a:srgbClr val="36454F"/>
          </a:solidFill>
          <a:ln/>
        </p:spPr>
        <p:txBody>
          <a:bodyPr/>
          <a:p/>
        </p:txBody>
      </p:sp>
      <p:sp>
        <p:nvSpPr>
          <p:cNvPr id="7" name="Text 5"/>
          <p:cNvSpPr txBox="1"/>
          <p:nvPr/>
        </p:nvSpPr>
        <p:spPr>
          <a:xfrm>
            <a:off x="640080" y="2057400"/>
            <a:ext cx="841248" cy="777240"/>
          </a:xfrm>
          <a:prstGeom prst="rect">
            <a:avLst/>
          </a:prstGeom>
          <a:noFill/>
          <a:ln/>
        </p:spPr>
        <p:txBody>
          <a:bodyPr wrap="square" lIns="38100" tIns="38100" rIns="38100" bIns="38100" rtlCol="0" anchor="ctr"/>
          <a:lstStyle/>
          <a:p>
            <a:pPr algn="ctr" indent="0" marL="0">
              <a:buNone/>
            </a:pPr>
            <a:r>
              <a:rPr lang="en-US" sz="2600" b="1" dirty="0">
                <a:solidFill>
                  <a:srgbClr val="FFFFFF"/>
                </a:solidFill>
                <a:latin typeface="Consolas" pitchFamily="34" charset="0"/>
                <a:ea typeface="Consolas" pitchFamily="34" charset="-122"/>
                <a:cs typeface="Consolas" pitchFamily="34" charset="-120"/>
              </a:rPr>
              <a:t>-</a:t>
            </a:r>
            <a:endParaRPr lang="en-US" sz="2600" dirty="0"/>
          </a:p>
        </p:txBody>
      </p:sp>
      <p:sp>
        <p:nvSpPr>
          <p:cNvPr id="8" name="Shape 6"/>
          <p:cNvSpPr/>
          <p:nvPr/>
        </p:nvSpPr>
        <p:spPr>
          <a:xfrm>
            <a:off x="1984248" y="2057400"/>
            <a:ext cx="841248" cy="777240"/>
          </a:xfrm>
          <a:prstGeom prst="roundRect">
            <a:avLst>
              <a:gd name="adj" fmla="val 5882"/>
            </a:avLst>
          </a:prstGeom>
          <a:solidFill>
            <a:srgbClr val="02C39A"/>
          </a:solidFill>
          <a:ln/>
        </p:spPr>
        <p:txBody>
          <a:bodyPr/>
          <a:p/>
        </p:txBody>
      </p:sp>
      <p:sp>
        <p:nvSpPr>
          <p:cNvPr id="9" name="Text 7"/>
          <p:cNvSpPr txBox="1"/>
          <p:nvPr/>
        </p:nvSpPr>
        <p:spPr>
          <a:xfrm>
            <a:off x="1984248" y="2057400"/>
            <a:ext cx="841248" cy="777240"/>
          </a:xfrm>
          <a:prstGeom prst="rect">
            <a:avLst/>
          </a:prstGeom>
          <a:noFill/>
          <a:ln/>
        </p:spPr>
        <p:txBody>
          <a:bodyPr wrap="square" lIns="38100" tIns="38100" rIns="38100" bIns="38100" rtlCol="0" anchor="ctr"/>
          <a:lstStyle/>
          <a:p>
            <a:pPr algn="ctr" indent="0" marL="0">
              <a:buNone/>
            </a:pPr>
            <a:r>
              <a:rPr lang="en-US" sz="2600" b="1" dirty="0">
                <a:solidFill>
                  <a:srgbClr val="212121"/>
                </a:solidFill>
                <a:latin typeface="Consolas" pitchFamily="34" charset="0"/>
                <a:ea typeface="Consolas" pitchFamily="34" charset="-122"/>
                <a:cs typeface="Consolas" pitchFamily="34" charset="-120"/>
              </a:rPr>
              <a:t>r</a:t>
            </a:r>
            <a:endParaRPr lang="en-US" sz="2600" dirty="0"/>
          </a:p>
        </p:txBody>
      </p:sp>
      <p:sp>
        <p:nvSpPr>
          <p:cNvPr id="10" name="Shape 8"/>
          <p:cNvSpPr/>
          <p:nvPr/>
        </p:nvSpPr>
        <p:spPr>
          <a:xfrm>
            <a:off x="2871216" y="2057400"/>
            <a:ext cx="841248" cy="777240"/>
          </a:xfrm>
          <a:prstGeom prst="roundRect">
            <a:avLst>
              <a:gd name="adj" fmla="val 5882"/>
            </a:avLst>
          </a:prstGeom>
          <a:solidFill>
            <a:srgbClr val="02C39A"/>
          </a:solidFill>
          <a:ln/>
        </p:spPr>
        <p:txBody>
          <a:bodyPr/>
          <a:p/>
        </p:txBody>
      </p:sp>
      <p:sp>
        <p:nvSpPr>
          <p:cNvPr id="11" name="Text 9"/>
          <p:cNvSpPr txBox="1"/>
          <p:nvPr/>
        </p:nvSpPr>
        <p:spPr>
          <a:xfrm>
            <a:off x="2871216" y="2057400"/>
            <a:ext cx="841248" cy="777240"/>
          </a:xfrm>
          <a:prstGeom prst="rect">
            <a:avLst/>
          </a:prstGeom>
          <a:noFill/>
          <a:ln/>
        </p:spPr>
        <p:txBody>
          <a:bodyPr wrap="square" lIns="38100" tIns="38100" rIns="38100" bIns="38100" rtlCol="0" anchor="ctr"/>
          <a:lstStyle/>
          <a:p>
            <a:pPr algn="ctr" indent="0" marL="0">
              <a:buNone/>
            </a:pPr>
            <a:r>
              <a:rPr lang="en-US" sz="2600" b="1" dirty="0">
                <a:solidFill>
                  <a:srgbClr val="212121"/>
                </a:solidFill>
                <a:latin typeface="Consolas" pitchFamily="34" charset="0"/>
                <a:ea typeface="Consolas" pitchFamily="34" charset="-122"/>
                <a:cs typeface="Consolas" pitchFamily="34" charset="-120"/>
              </a:rPr>
              <a:t>w</a:t>
            </a:r>
            <a:endParaRPr lang="en-US" sz="2600" dirty="0"/>
          </a:p>
        </p:txBody>
      </p:sp>
      <p:sp>
        <p:nvSpPr>
          <p:cNvPr id="12" name="Shape 10"/>
          <p:cNvSpPr/>
          <p:nvPr/>
        </p:nvSpPr>
        <p:spPr>
          <a:xfrm>
            <a:off x="3758184" y="2057400"/>
            <a:ext cx="841248" cy="777240"/>
          </a:xfrm>
          <a:prstGeom prst="roundRect">
            <a:avLst>
              <a:gd name="adj" fmla="val 5882"/>
            </a:avLst>
          </a:prstGeom>
          <a:solidFill>
            <a:srgbClr val="02C39A"/>
          </a:solidFill>
          <a:ln/>
        </p:spPr>
        <p:txBody>
          <a:bodyPr/>
          <a:p/>
        </p:txBody>
      </p:sp>
      <p:sp>
        <p:nvSpPr>
          <p:cNvPr id="13" name="Text 11"/>
          <p:cNvSpPr txBox="1"/>
          <p:nvPr/>
        </p:nvSpPr>
        <p:spPr>
          <a:xfrm>
            <a:off x="3758184" y="2057400"/>
            <a:ext cx="841248" cy="777240"/>
          </a:xfrm>
          <a:prstGeom prst="rect">
            <a:avLst/>
          </a:prstGeom>
          <a:noFill/>
          <a:ln/>
        </p:spPr>
        <p:txBody>
          <a:bodyPr wrap="square" lIns="38100" tIns="38100" rIns="38100" bIns="38100" rtlCol="0" anchor="ctr"/>
          <a:lstStyle/>
          <a:p>
            <a:pPr algn="ctr" indent="0" marL="0">
              <a:buNone/>
            </a:pPr>
            <a:r>
              <a:rPr lang="en-US" sz="2600" b="1" dirty="0">
                <a:solidFill>
                  <a:srgbClr val="212121"/>
                </a:solidFill>
                <a:latin typeface="Consolas" pitchFamily="34" charset="0"/>
                <a:ea typeface="Consolas" pitchFamily="34" charset="-122"/>
                <a:cs typeface="Consolas" pitchFamily="34" charset="-120"/>
              </a:rPr>
              <a:t>x</a:t>
            </a:r>
            <a:endParaRPr lang="en-US" sz="2600" dirty="0"/>
          </a:p>
        </p:txBody>
      </p:sp>
      <p:sp>
        <p:nvSpPr>
          <p:cNvPr id="14" name="Shape 12"/>
          <p:cNvSpPr/>
          <p:nvPr/>
        </p:nvSpPr>
        <p:spPr>
          <a:xfrm>
            <a:off x="4892040" y="2057400"/>
            <a:ext cx="841248" cy="777240"/>
          </a:xfrm>
          <a:prstGeom prst="roundRect">
            <a:avLst>
              <a:gd name="adj" fmla="val 5882"/>
            </a:avLst>
          </a:prstGeom>
          <a:solidFill>
            <a:srgbClr val="7FB8C2"/>
          </a:solidFill>
          <a:ln/>
        </p:spPr>
        <p:txBody>
          <a:bodyPr/>
          <a:p/>
        </p:txBody>
      </p:sp>
      <p:sp>
        <p:nvSpPr>
          <p:cNvPr id="15" name="Text 13"/>
          <p:cNvSpPr txBox="1"/>
          <p:nvPr/>
        </p:nvSpPr>
        <p:spPr>
          <a:xfrm>
            <a:off x="4892040" y="2057400"/>
            <a:ext cx="841248" cy="777240"/>
          </a:xfrm>
          <a:prstGeom prst="rect">
            <a:avLst/>
          </a:prstGeom>
          <a:noFill/>
          <a:ln/>
        </p:spPr>
        <p:txBody>
          <a:bodyPr wrap="square" lIns="38100" tIns="38100" rIns="38100" bIns="38100" rtlCol="0" anchor="ctr"/>
          <a:lstStyle/>
          <a:p>
            <a:pPr algn="ctr" indent="0" marL="0">
              <a:buNone/>
            </a:pPr>
            <a:r>
              <a:rPr lang="en-US" sz="2600" b="1" dirty="0">
                <a:solidFill>
                  <a:srgbClr val="212121"/>
                </a:solidFill>
                <a:latin typeface="Consolas" pitchFamily="34" charset="0"/>
                <a:ea typeface="Consolas" pitchFamily="34" charset="-122"/>
                <a:cs typeface="Consolas" pitchFamily="34" charset="-120"/>
              </a:rPr>
              <a:t>r</a:t>
            </a:r>
            <a:endParaRPr lang="en-US" sz="2600" dirty="0"/>
          </a:p>
        </p:txBody>
      </p:sp>
      <p:sp>
        <p:nvSpPr>
          <p:cNvPr id="16" name="Shape 14"/>
          <p:cNvSpPr/>
          <p:nvPr/>
        </p:nvSpPr>
        <p:spPr>
          <a:xfrm>
            <a:off x="5779008" y="2057400"/>
            <a:ext cx="841248" cy="777240"/>
          </a:xfrm>
          <a:prstGeom prst="roundRect">
            <a:avLst>
              <a:gd name="adj" fmla="val 5882"/>
            </a:avLst>
          </a:prstGeom>
          <a:solidFill>
            <a:srgbClr val="E4E8E9"/>
          </a:solidFill>
          <a:ln/>
        </p:spPr>
        <p:txBody>
          <a:bodyPr/>
          <a:p/>
        </p:txBody>
      </p:sp>
      <p:sp>
        <p:nvSpPr>
          <p:cNvPr id="17" name="Text 15"/>
          <p:cNvSpPr txBox="1"/>
          <p:nvPr/>
        </p:nvSpPr>
        <p:spPr>
          <a:xfrm>
            <a:off x="5779008" y="2057400"/>
            <a:ext cx="841248" cy="777240"/>
          </a:xfrm>
          <a:prstGeom prst="rect">
            <a:avLst/>
          </a:prstGeom>
          <a:noFill/>
          <a:ln/>
        </p:spPr>
        <p:txBody>
          <a:bodyPr wrap="square" lIns="38100" tIns="38100" rIns="38100" bIns="38100" rtlCol="0" anchor="ctr"/>
          <a:lstStyle/>
          <a:p>
            <a:pPr algn="ctr" indent="0" marL="0">
              <a:buNone/>
            </a:pPr>
            <a:r>
              <a:rPr lang="en-US" sz="2600" b="1" dirty="0">
                <a:solidFill>
                  <a:srgbClr val="9AA5A8"/>
                </a:solidFill>
                <a:latin typeface="Consolas" pitchFamily="34" charset="0"/>
                <a:ea typeface="Consolas" pitchFamily="34" charset="-122"/>
                <a:cs typeface="Consolas" pitchFamily="34" charset="-120"/>
              </a:rPr>
              <a:t>-</a:t>
            </a:r>
            <a:endParaRPr lang="en-US" sz="2600" dirty="0"/>
          </a:p>
        </p:txBody>
      </p:sp>
      <p:sp>
        <p:nvSpPr>
          <p:cNvPr id="18" name="Shape 16"/>
          <p:cNvSpPr/>
          <p:nvPr/>
        </p:nvSpPr>
        <p:spPr>
          <a:xfrm>
            <a:off x="6665976" y="2057400"/>
            <a:ext cx="841248" cy="777240"/>
          </a:xfrm>
          <a:prstGeom prst="roundRect">
            <a:avLst>
              <a:gd name="adj" fmla="val 5882"/>
            </a:avLst>
          </a:prstGeom>
          <a:solidFill>
            <a:srgbClr val="7FB8C2"/>
          </a:solidFill>
          <a:ln/>
        </p:spPr>
        <p:txBody>
          <a:bodyPr/>
          <a:p/>
        </p:txBody>
      </p:sp>
      <p:sp>
        <p:nvSpPr>
          <p:cNvPr id="19" name="Text 17"/>
          <p:cNvSpPr txBox="1"/>
          <p:nvPr/>
        </p:nvSpPr>
        <p:spPr>
          <a:xfrm>
            <a:off x="6665976" y="2057400"/>
            <a:ext cx="841248" cy="777240"/>
          </a:xfrm>
          <a:prstGeom prst="rect">
            <a:avLst/>
          </a:prstGeom>
          <a:noFill/>
          <a:ln/>
        </p:spPr>
        <p:txBody>
          <a:bodyPr wrap="square" lIns="38100" tIns="38100" rIns="38100" bIns="38100" rtlCol="0" anchor="ctr"/>
          <a:lstStyle/>
          <a:p>
            <a:pPr algn="ctr" indent="0" marL="0">
              <a:buNone/>
            </a:pPr>
            <a:r>
              <a:rPr lang="en-US" sz="2600" b="1" dirty="0">
                <a:solidFill>
                  <a:srgbClr val="212121"/>
                </a:solidFill>
                <a:latin typeface="Consolas" pitchFamily="34" charset="0"/>
                <a:ea typeface="Consolas" pitchFamily="34" charset="-122"/>
                <a:cs typeface="Consolas" pitchFamily="34" charset="-120"/>
              </a:rPr>
              <a:t>x</a:t>
            </a:r>
            <a:endParaRPr lang="en-US" sz="2600" dirty="0"/>
          </a:p>
        </p:txBody>
      </p:sp>
      <p:sp>
        <p:nvSpPr>
          <p:cNvPr id="20" name="Shape 18"/>
          <p:cNvSpPr/>
          <p:nvPr/>
        </p:nvSpPr>
        <p:spPr>
          <a:xfrm>
            <a:off x="7799832" y="2057400"/>
            <a:ext cx="841248" cy="777240"/>
          </a:xfrm>
          <a:prstGeom prst="roundRect">
            <a:avLst>
              <a:gd name="adj" fmla="val 5882"/>
            </a:avLst>
          </a:prstGeom>
          <a:solidFill>
            <a:srgbClr val="E4E8E9"/>
          </a:solidFill>
          <a:ln/>
        </p:spPr>
        <p:txBody>
          <a:bodyPr/>
          <a:p/>
        </p:txBody>
      </p:sp>
      <p:sp>
        <p:nvSpPr>
          <p:cNvPr id="21" name="Text 19"/>
          <p:cNvSpPr txBox="1"/>
          <p:nvPr/>
        </p:nvSpPr>
        <p:spPr>
          <a:xfrm>
            <a:off x="7799832" y="2057400"/>
            <a:ext cx="841248" cy="777240"/>
          </a:xfrm>
          <a:prstGeom prst="rect">
            <a:avLst/>
          </a:prstGeom>
          <a:noFill/>
          <a:ln/>
        </p:spPr>
        <p:txBody>
          <a:bodyPr wrap="square" lIns="38100" tIns="38100" rIns="38100" bIns="38100" rtlCol="0" anchor="ctr"/>
          <a:lstStyle/>
          <a:p>
            <a:pPr algn="ctr" indent="0" marL="0">
              <a:buNone/>
            </a:pPr>
            <a:r>
              <a:rPr lang="en-US" sz="2600" b="1" dirty="0">
                <a:solidFill>
                  <a:srgbClr val="9AA5A8"/>
                </a:solidFill>
                <a:latin typeface="Consolas" pitchFamily="34" charset="0"/>
                <a:ea typeface="Consolas" pitchFamily="34" charset="-122"/>
                <a:cs typeface="Consolas" pitchFamily="34" charset="-120"/>
              </a:rPr>
              <a:t>-</a:t>
            </a:r>
            <a:endParaRPr lang="en-US" sz="2600" dirty="0"/>
          </a:p>
        </p:txBody>
      </p:sp>
      <p:sp>
        <p:nvSpPr>
          <p:cNvPr id="22" name="Shape 20"/>
          <p:cNvSpPr/>
          <p:nvPr/>
        </p:nvSpPr>
        <p:spPr>
          <a:xfrm>
            <a:off x="8686800" y="2057400"/>
            <a:ext cx="841248" cy="777240"/>
          </a:xfrm>
          <a:prstGeom prst="roundRect">
            <a:avLst>
              <a:gd name="adj" fmla="val 5882"/>
            </a:avLst>
          </a:prstGeom>
          <a:solidFill>
            <a:srgbClr val="E4E8E9"/>
          </a:solidFill>
          <a:ln/>
        </p:spPr>
        <p:txBody>
          <a:bodyPr/>
          <a:p/>
        </p:txBody>
      </p:sp>
      <p:sp>
        <p:nvSpPr>
          <p:cNvPr id="23" name="Text 21"/>
          <p:cNvSpPr txBox="1"/>
          <p:nvPr/>
        </p:nvSpPr>
        <p:spPr>
          <a:xfrm>
            <a:off x="8686800" y="2057400"/>
            <a:ext cx="841248" cy="777240"/>
          </a:xfrm>
          <a:prstGeom prst="rect">
            <a:avLst/>
          </a:prstGeom>
          <a:noFill/>
          <a:ln/>
        </p:spPr>
        <p:txBody>
          <a:bodyPr wrap="square" lIns="38100" tIns="38100" rIns="38100" bIns="38100" rtlCol="0" anchor="ctr"/>
          <a:lstStyle/>
          <a:p>
            <a:pPr algn="ctr" indent="0" marL="0">
              <a:buNone/>
            </a:pPr>
            <a:r>
              <a:rPr lang="en-US" sz="2600" b="1" dirty="0">
                <a:solidFill>
                  <a:srgbClr val="9AA5A8"/>
                </a:solidFill>
                <a:latin typeface="Consolas" pitchFamily="34" charset="0"/>
                <a:ea typeface="Consolas" pitchFamily="34" charset="-122"/>
                <a:cs typeface="Consolas" pitchFamily="34" charset="-120"/>
              </a:rPr>
              <a:t>-</a:t>
            </a:r>
            <a:endParaRPr lang="en-US" sz="2600" dirty="0"/>
          </a:p>
        </p:txBody>
      </p:sp>
      <p:sp>
        <p:nvSpPr>
          <p:cNvPr id="24" name="Shape 22"/>
          <p:cNvSpPr/>
          <p:nvPr/>
        </p:nvSpPr>
        <p:spPr>
          <a:xfrm>
            <a:off x="9573768" y="2057400"/>
            <a:ext cx="841248" cy="777240"/>
          </a:xfrm>
          <a:prstGeom prst="roundRect">
            <a:avLst>
              <a:gd name="adj" fmla="val 5882"/>
            </a:avLst>
          </a:prstGeom>
          <a:solidFill>
            <a:srgbClr val="E4E8E9"/>
          </a:solidFill>
          <a:ln/>
        </p:spPr>
        <p:txBody>
          <a:bodyPr/>
          <a:p/>
        </p:txBody>
      </p:sp>
      <p:sp>
        <p:nvSpPr>
          <p:cNvPr id="25" name="Text 23"/>
          <p:cNvSpPr txBox="1"/>
          <p:nvPr/>
        </p:nvSpPr>
        <p:spPr>
          <a:xfrm>
            <a:off x="9573768" y="2057400"/>
            <a:ext cx="841248" cy="777240"/>
          </a:xfrm>
          <a:prstGeom prst="rect">
            <a:avLst/>
          </a:prstGeom>
          <a:noFill/>
          <a:ln/>
        </p:spPr>
        <p:txBody>
          <a:bodyPr wrap="square" lIns="38100" tIns="38100" rIns="38100" bIns="38100" rtlCol="0" anchor="ctr"/>
          <a:lstStyle/>
          <a:p>
            <a:pPr algn="ctr" indent="0" marL="0">
              <a:buNone/>
            </a:pPr>
            <a:r>
              <a:rPr lang="en-US" sz="2600" b="1" dirty="0">
                <a:solidFill>
                  <a:srgbClr val="9AA5A8"/>
                </a:solidFill>
                <a:latin typeface="Consolas" pitchFamily="34" charset="0"/>
                <a:ea typeface="Consolas" pitchFamily="34" charset="-122"/>
                <a:cs typeface="Consolas" pitchFamily="34" charset="-120"/>
              </a:rPr>
              <a:t>-</a:t>
            </a:r>
            <a:endParaRPr lang="en-US" sz="2600" dirty="0"/>
          </a:p>
        </p:txBody>
      </p:sp>
      <p:sp>
        <p:nvSpPr>
          <p:cNvPr id="26" name="Text 24"/>
          <p:cNvSpPr txBox="1"/>
          <p:nvPr/>
        </p:nvSpPr>
        <p:spPr>
          <a:xfrm>
            <a:off x="365760" y="1481328"/>
            <a:ext cx="1389888" cy="320040"/>
          </a:xfrm>
          <a:prstGeom prst="rect">
            <a:avLst/>
          </a:prstGeom>
          <a:noFill/>
          <a:ln/>
        </p:spPr>
        <p:txBody>
          <a:bodyPr wrap="square" lIns="0" tIns="0" rIns="0" bIns="0" rtlCol="0" anchor="t"/>
          <a:lstStyle/>
          <a:p>
            <a:pPr algn="ctr" indent="0" marL="0">
              <a:buNone/>
            </a:pPr>
            <a:r>
              <a:rPr lang="en-US" sz="1400" b="1" dirty="0">
                <a:solidFill>
                  <a:srgbClr val="36454F"/>
                </a:solidFill>
                <a:latin typeface="Calibri" pitchFamily="34" charset="0"/>
                <a:ea typeface="Calibri" pitchFamily="34" charset="-122"/>
                <a:cs typeface="Calibri" pitchFamily="34" charset="-120"/>
              </a:rPr>
              <a:t>type</a:t>
            </a:r>
            <a:endParaRPr lang="en-US" sz="1400" dirty="0"/>
          </a:p>
        </p:txBody>
      </p:sp>
      <p:sp>
        <p:nvSpPr>
          <p:cNvPr id="27" name="Text 25"/>
          <p:cNvSpPr txBox="1"/>
          <p:nvPr/>
        </p:nvSpPr>
        <p:spPr>
          <a:xfrm>
            <a:off x="1709928" y="1481328"/>
            <a:ext cx="3163824" cy="320040"/>
          </a:xfrm>
          <a:prstGeom prst="rect">
            <a:avLst/>
          </a:prstGeom>
          <a:noFill/>
          <a:ln/>
        </p:spPr>
        <p:txBody>
          <a:bodyPr wrap="square" lIns="0" tIns="0" rIns="0" bIns="0" rtlCol="0" anchor="t"/>
          <a:lstStyle/>
          <a:p>
            <a:pPr algn="ctr" indent="0" marL="0">
              <a:buNone/>
            </a:pPr>
            <a:r>
              <a:rPr lang="en-US" sz="1400" b="1" dirty="0">
                <a:solidFill>
                  <a:srgbClr val="36454F"/>
                </a:solidFill>
                <a:latin typeface="Calibri" pitchFamily="34" charset="0"/>
                <a:ea typeface="Calibri" pitchFamily="34" charset="-122"/>
                <a:cs typeface="Calibri" pitchFamily="34" charset="-120"/>
              </a:rPr>
              <a:t>user (u) = owner</a:t>
            </a:r>
            <a:endParaRPr lang="en-US" sz="1400" dirty="0"/>
          </a:p>
        </p:txBody>
      </p:sp>
      <p:sp>
        <p:nvSpPr>
          <p:cNvPr id="28" name="Shape 26"/>
          <p:cNvSpPr/>
          <p:nvPr/>
        </p:nvSpPr>
        <p:spPr>
          <a:xfrm>
            <a:off x="1984248" y="1892808"/>
            <a:ext cx="2615184" cy="91"/>
          </a:xfrm>
          <a:prstGeom prst="line">
            <a:avLst/>
          </a:prstGeom>
          <a:noFill/>
          <a:ln w="25400">
            <a:solidFill>
              <a:srgbClr val="028090"/>
            </a:solidFill>
            <a:prstDash val="solid"/>
          </a:ln>
        </p:spPr>
        <p:txBody>
          <a:bodyPr/>
          <a:p/>
        </p:txBody>
      </p:sp>
      <p:sp>
        <p:nvSpPr>
          <p:cNvPr id="29" name="Shape 27"/>
          <p:cNvSpPr/>
          <p:nvPr/>
        </p:nvSpPr>
        <p:spPr>
          <a:xfrm>
            <a:off x="1984248" y="1892808"/>
            <a:ext cx="91" cy="100584"/>
          </a:xfrm>
          <a:prstGeom prst="line">
            <a:avLst/>
          </a:prstGeom>
          <a:noFill/>
          <a:ln w="25400">
            <a:solidFill>
              <a:srgbClr val="028090"/>
            </a:solidFill>
            <a:prstDash val="solid"/>
          </a:ln>
        </p:spPr>
        <p:txBody>
          <a:bodyPr/>
          <a:p/>
        </p:txBody>
      </p:sp>
      <p:sp>
        <p:nvSpPr>
          <p:cNvPr id="30" name="Shape 28"/>
          <p:cNvSpPr/>
          <p:nvPr/>
        </p:nvSpPr>
        <p:spPr>
          <a:xfrm>
            <a:off x="4599432" y="1892808"/>
            <a:ext cx="91" cy="100584"/>
          </a:xfrm>
          <a:prstGeom prst="line">
            <a:avLst/>
          </a:prstGeom>
          <a:noFill/>
          <a:ln w="25400">
            <a:solidFill>
              <a:srgbClr val="028090"/>
            </a:solidFill>
            <a:prstDash val="solid"/>
          </a:ln>
        </p:spPr>
        <p:txBody>
          <a:bodyPr/>
          <a:p/>
        </p:txBody>
      </p:sp>
      <p:sp>
        <p:nvSpPr>
          <p:cNvPr id="31" name="Text 29"/>
          <p:cNvSpPr txBox="1"/>
          <p:nvPr/>
        </p:nvSpPr>
        <p:spPr>
          <a:xfrm>
            <a:off x="4617720" y="1481328"/>
            <a:ext cx="3163824" cy="320040"/>
          </a:xfrm>
          <a:prstGeom prst="rect">
            <a:avLst/>
          </a:prstGeom>
          <a:noFill/>
          <a:ln/>
        </p:spPr>
        <p:txBody>
          <a:bodyPr wrap="square" lIns="0" tIns="0" rIns="0" bIns="0" rtlCol="0" anchor="t"/>
          <a:lstStyle/>
          <a:p>
            <a:pPr algn="ctr" indent="0" marL="0">
              <a:buNone/>
            </a:pPr>
            <a:r>
              <a:rPr lang="en-US" sz="1400" b="1" dirty="0">
                <a:solidFill>
                  <a:srgbClr val="36454F"/>
                </a:solidFill>
                <a:latin typeface="Calibri" pitchFamily="34" charset="0"/>
                <a:ea typeface="Calibri" pitchFamily="34" charset="-122"/>
                <a:cs typeface="Calibri" pitchFamily="34" charset="-120"/>
              </a:rPr>
              <a:t>group (g)</a:t>
            </a:r>
            <a:endParaRPr lang="en-US" sz="1400" dirty="0"/>
          </a:p>
        </p:txBody>
      </p:sp>
      <p:sp>
        <p:nvSpPr>
          <p:cNvPr id="32" name="Shape 30"/>
          <p:cNvSpPr/>
          <p:nvPr/>
        </p:nvSpPr>
        <p:spPr>
          <a:xfrm>
            <a:off x="4892040" y="1892808"/>
            <a:ext cx="2615184" cy="91"/>
          </a:xfrm>
          <a:prstGeom prst="line">
            <a:avLst/>
          </a:prstGeom>
          <a:noFill/>
          <a:ln w="25400">
            <a:solidFill>
              <a:srgbClr val="028090"/>
            </a:solidFill>
            <a:prstDash val="solid"/>
          </a:ln>
        </p:spPr>
        <p:txBody>
          <a:bodyPr/>
          <a:p/>
        </p:txBody>
      </p:sp>
      <p:sp>
        <p:nvSpPr>
          <p:cNvPr id="33" name="Shape 31"/>
          <p:cNvSpPr/>
          <p:nvPr/>
        </p:nvSpPr>
        <p:spPr>
          <a:xfrm>
            <a:off x="4892040" y="1892808"/>
            <a:ext cx="91" cy="100584"/>
          </a:xfrm>
          <a:prstGeom prst="line">
            <a:avLst/>
          </a:prstGeom>
          <a:noFill/>
          <a:ln w="25400">
            <a:solidFill>
              <a:srgbClr val="028090"/>
            </a:solidFill>
            <a:prstDash val="solid"/>
          </a:ln>
        </p:spPr>
        <p:txBody>
          <a:bodyPr/>
          <a:p/>
        </p:txBody>
      </p:sp>
      <p:sp>
        <p:nvSpPr>
          <p:cNvPr id="34" name="Shape 32"/>
          <p:cNvSpPr/>
          <p:nvPr/>
        </p:nvSpPr>
        <p:spPr>
          <a:xfrm>
            <a:off x="7507224" y="1892808"/>
            <a:ext cx="91" cy="100584"/>
          </a:xfrm>
          <a:prstGeom prst="line">
            <a:avLst/>
          </a:prstGeom>
          <a:noFill/>
          <a:ln w="25400">
            <a:solidFill>
              <a:srgbClr val="028090"/>
            </a:solidFill>
            <a:prstDash val="solid"/>
          </a:ln>
        </p:spPr>
        <p:txBody>
          <a:bodyPr/>
          <a:p/>
        </p:txBody>
      </p:sp>
      <p:sp>
        <p:nvSpPr>
          <p:cNvPr id="35" name="Text 33"/>
          <p:cNvSpPr txBox="1"/>
          <p:nvPr/>
        </p:nvSpPr>
        <p:spPr>
          <a:xfrm>
            <a:off x="7525512" y="1481328"/>
            <a:ext cx="3163824" cy="320040"/>
          </a:xfrm>
          <a:prstGeom prst="rect">
            <a:avLst/>
          </a:prstGeom>
          <a:noFill/>
          <a:ln/>
        </p:spPr>
        <p:txBody>
          <a:bodyPr wrap="square" lIns="0" tIns="0" rIns="0" bIns="0" rtlCol="0" anchor="t"/>
          <a:lstStyle/>
          <a:p>
            <a:pPr algn="ctr" indent="0" marL="0">
              <a:buNone/>
            </a:pPr>
            <a:r>
              <a:rPr lang="en-US" sz="1400" b="1" dirty="0">
                <a:solidFill>
                  <a:srgbClr val="36454F"/>
                </a:solidFill>
                <a:latin typeface="Calibri" pitchFamily="34" charset="0"/>
                <a:ea typeface="Calibri" pitchFamily="34" charset="-122"/>
                <a:cs typeface="Calibri" pitchFamily="34" charset="-120"/>
              </a:rPr>
              <a:t>others (o) = everyone else</a:t>
            </a:r>
            <a:endParaRPr lang="en-US" sz="1400" dirty="0"/>
          </a:p>
        </p:txBody>
      </p:sp>
      <p:sp>
        <p:nvSpPr>
          <p:cNvPr id="36" name="Shape 34"/>
          <p:cNvSpPr/>
          <p:nvPr/>
        </p:nvSpPr>
        <p:spPr>
          <a:xfrm>
            <a:off x="7799832" y="1892808"/>
            <a:ext cx="2615184" cy="91"/>
          </a:xfrm>
          <a:prstGeom prst="line">
            <a:avLst/>
          </a:prstGeom>
          <a:noFill/>
          <a:ln w="25400">
            <a:solidFill>
              <a:srgbClr val="028090"/>
            </a:solidFill>
            <a:prstDash val="solid"/>
          </a:ln>
        </p:spPr>
        <p:txBody>
          <a:bodyPr/>
          <a:p/>
        </p:txBody>
      </p:sp>
      <p:sp>
        <p:nvSpPr>
          <p:cNvPr id="37" name="Shape 35"/>
          <p:cNvSpPr/>
          <p:nvPr/>
        </p:nvSpPr>
        <p:spPr>
          <a:xfrm>
            <a:off x="7799832" y="1892808"/>
            <a:ext cx="91" cy="100584"/>
          </a:xfrm>
          <a:prstGeom prst="line">
            <a:avLst/>
          </a:prstGeom>
          <a:noFill/>
          <a:ln w="25400">
            <a:solidFill>
              <a:srgbClr val="028090"/>
            </a:solidFill>
            <a:prstDash val="solid"/>
          </a:ln>
        </p:spPr>
        <p:txBody>
          <a:bodyPr/>
          <a:p/>
        </p:txBody>
      </p:sp>
      <p:sp>
        <p:nvSpPr>
          <p:cNvPr id="38" name="Shape 36"/>
          <p:cNvSpPr/>
          <p:nvPr/>
        </p:nvSpPr>
        <p:spPr>
          <a:xfrm>
            <a:off x="10415016" y="1892808"/>
            <a:ext cx="91" cy="100584"/>
          </a:xfrm>
          <a:prstGeom prst="line">
            <a:avLst/>
          </a:prstGeom>
          <a:noFill/>
          <a:ln w="25400">
            <a:solidFill>
              <a:srgbClr val="028090"/>
            </a:solidFill>
            <a:prstDash val="solid"/>
          </a:ln>
        </p:spPr>
        <p:txBody>
          <a:bodyPr/>
          <a:p/>
        </p:txBody>
      </p:sp>
      <p:sp>
        <p:nvSpPr>
          <p:cNvPr id="39" name="Text 37"/>
          <p:cNvSpPr txBox="1"/>
          <p:nvPr/>
        </p:nvSpPr>
        <p:spPr>
          <a:xfrm>
            <a:off x="1984248" y="2880360"/>
            <a:ext cx="841248" cy="292608"/>
          </a:xfrm>
          <a:prstGeom prst="rect">
            <a:avLst/>
          </a:prstGeom>
          <a:noFill/>
          <a:ln/>
        </p:spPr>
        <p:txBody>
          <a:bodyPr wrap="square" lIns="0" tIns="0" rIns="0" bIns="0" rtlCol="0" anchor="t"/>
          <a:lstStyle/>
          <a:p>
            <a:pPr algn="ctr" indent="0" marL="0">
              <a:buNone/>
            </a:pPr>
            <a:r>
              <a:rPr lang="en-US" sz="1300" b="1" dirty="0">
                <a:solidFill>
                  <a:srgbClr val="6B7679"/>
                </a:solidFill>
                <a:latin typeface="Calibri" pitchFamily="34" charset="0"/>
                <a:ea typeface="Calibri" pitchFamily="34" charset="-122"/>
                <a:cs typeface="Calibri" pitchFamily="34" charset="-120"/>
              </a:rPr>
              <a:t>×4</a:t>
            </a:r>
            <a:endParaRPr lang="en-US" sz="1300" dirty="0"/>
          </a:p>
        </p:txBody>
      </p:sp>
      <p:sp>
        <p:nvSpPr>
          <p:cNvPr id="40" name="Shape 38"/>
          <p:cNvSpPr/>
          <p:nvPr/>
        </p:nvSpPr>
        <p:spPr>
          <a:xfrm>
            <a:off x="2130552" y="3218688"/>
            <a:ext cx="548640" cy="384048"/>
          </a:xfrm>
          <a:prstGeom prst="roundRect">
            <a:avLst>
              <a:gd name="adj" fmla="val 11905"/>
            </a:avLst>
          </a:prstGeom>
          <a:solidFill>
            <a:srgbClr val="36454F"/>
          </a:solidFill>
          <a:ln/>
        </p:spPr>
        <p:txBody>
          <a:bodyPr/>
          <a:p/>
        </p:txBody>
      </p:sp>
      <p:sp>
        <p:nvSpPr>
          <p:cNvPr id="41" name="Text 39"/>
          <p:cNvSpPr txBox="1"/>
          <p:nvPr/>
        </p:nvSpPr>
        <p:spPr>
          <a:xfrm>
            <a:off x="2130552" y="3218688"/>
            <a:ext cx="548640" cy="384048"/>
          </a:xfrm>
          <a:prstGeom prst="rect">
            <a:avLst/>
          </a:prstGeom>
          <a:noFill/>
          <a:ln/>
        </p:spPr>
        <p:txBody>
          <a:bodyPr wrap="square" lIns="38100" tIns="38100" rIns="38100" bIns="3810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1</a:t>
            </a:r>
            <a:endParaRPr lang="en-US" sz="1500" dirty="0"/>
          </a:p>
        </p:txBody>
      </p:sp>
      <p:sp>
        <p:nvSpPr>
          <p:cNvPr id="42" name="Text 40"/>
          <p:cNvSpPr txBox="1"/>
          <p:nvPr/>
        </p:nvSpPr>
        <p:spPr>
          <a:xfrm>
            <a:off x="2871216" y="2880360"/>
            <a:ext cx="841248" cy="292608"/>
          </a:xfrm>
          <a:prstGeom prst="rect">
            <a:avLst/>
          </a:prstGeom>
          <a:noFill/>
          <a:ln/>
        </p:spPr>
        <p:txBody>
          <a:bodyPr wrap="square" lIns="0" tIns="0" rIns="0" bIns="0" rtlCol="0" anchor="t"/>
          <a:lstStyle/>
          <a:p>
            <a:pPr algn="ctr" indent="0" marL="0">
              <a:buNone/>
            </a:pPr>
            <a:r>
              <a:rPr lang="en-US" sz="1300" b="1" dirty="0">
                <a:solidFill>
                  <a:srgbClr val="6B7679"/>
                </a:solidFill>
                <a:latin typeface="Calibri" pitchFamily="34" charset="0"/>
                <a:ea typeface="Calibri" pitchFamily="34" charset="-122"/>
                <a:cs typeface="Calibri" pitchFamily="34" charset="-120"/>
              </a:rPr>
              <a:t>×2</a:t>
            </a:r>
            <a:endParaRPr lang="en-US" sz="1300" dirty="0"/>
          </a:p>
        </p:txBody>
      </p:sp>
      <p:sp>
        <p:nvSpPr>
          <p:cNvPr id="43" name="Shape 41"/>
          <p:cNvSpPr/>
          <p:nvPr/>
        </p:nvSpPr>
        <p:spPr>
          <a:xfrm>
            <a:off x="3017520" y="3218688"/>
            <a:ext cx="548640" cy="384048"/>
          </a:xfrm>
          <a:prstGeom prst="roundRect">
            <a:avLst>
              <a:gd name="adj" fmla="val 11905"/>
            </a:avLst>
          </a:prstGeom>
          <a:solidFill>
            <a:srgbClr val="36454F"/>
          </a:solidFill>
          <a:ln/>
        </p:spPr>
        <p:txBody>
          <a:bodyPr/>
          <a:p/>
        </p:txBody>
      </p:sp>
      <p:sp>
        <p:nvSpPr>
          <p:cNvPr id="44" name="Text 42"/>
          <p:cNvSpPr txBox="1"/>
          <p:nvPr/>
        </p:nvSpPr>
        <p:spPr>
          <a:xfrm>
            <a:off x="3017520" y="3218688"/>
            <a:ext cx="548640" cy="384048"/>
          </a:xfrm>
          <a:prstGeom prst="rect">
            <a:avLst/>
          </a:prstGeom>
          <a:noFill/>
          <a:ln/>
        </p:spPr>
        <p:txBody>
          <a:bodyPr wrap="square" lIns="38100" tIns="38100" rIns="38100" bIns="3810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1</a:t>
            </a:r>
            <a:endParaRPr lang="en-US" sz="1500" dirty="0"/>
          </a:p>
        </p:txBody>
      </p:sp>
      <p:sp>
        <p:nvSpPr>
          <p:cNvPr id="45" name="Text 43"/>
          <p:cNvSpPr txBox="1"/>
          <p:nvPr/>
        </p:nvSpPr>
        <p:spPr>
          <a:xfrm>
            <a:off x="3758184" y="2880360"/>
            <a:ext cx="841248" cy="292608"/>
          </a:xfrm>
          <a:prstGeom prst="rect">
            <a:avLst/>
          </a:prstGeom>
          <a:noFill/>
          <a:ln/>
        </p:spPr>
        <p:txBody>
          <a:bodyPr wrap="square" lIns="0" tIns="0" rIns="0" bIns="0" rtlCol="0" anchor="t"/>
          <a:lstStyle/>
          <a:p>
            <a:pPr algn="ctr" indent="0" marL="0">
              <a:buNone/>
            </a:pPr>
            <a:r>
              <a:rPr lang="en-US" sz="1300" b="1" dirty="0">
                <a:solidFill>
                  <a:srgbClr val="6B7679"/>
                </a:solidFill>
                <a:latin typeface="Calibri" pitchFamily="34" charset="0"/>
                <a:ea typeface="Calibri" pitchFamily="34" charset="-122"/>
                <a:cs typeface="Calibri" pitchFamily="34" charset="-120"/>
              </a:rPr>
              <a:t>×1</a:t>
            </a:r>
            <a:endParaRPr lang="en-US" sz="1300" dirty="0"/>
          </a:p>
        </p:txBody>
      </p:sp>
      <p:sp>
        <p:nvSpPr>
          <p:cNvPr id="46" name="Shape 44"/>
          <p:cNvSpPr/>
          <p:nvPr/>
        </p:nvSpPr>
        <p:spPr>
          <a:xfrm>
            <a:off x="3904488" y="3218688"/>
            <a:ext cx="548640" cy="384048"/>
          </a:xfrm>
          <a:prstGeom prst="roundRect">
            <a:avLst>
              <a:gd name="adj" fmla="val 11905"/>
            </a:avLst>
          </a:prstGeom>
          <a:solidFill>
            <a:srgbClr val="36454F"/>
          </a:solidFill>
          <a:ln/>
        </p:spPr>
        <p:txBody>
          <a:bodyPr/>
          <a:p/>
        </p:txBody>
      </p:sp>
      <p:sp>
        <p:nvSpPr>
          <p:cNvPr id="47" name="Text 45"/>
          <p:cNvSpPr txBox="1"/>
          <p:nvPr/>
        </p:nvSpPr>
        <p:spPr>
          <a:xfrm>
            <a:off x="3904488" y="3218688"/>
            <a:ext cx="548640" cy="384048"/>
          </a:xfrm>
          <a:prstGeom prst="rect">
            <a:avLst/>
          </a:prstGeom>
          <a:noFill/>
          <a:ln/>
        </p:spPr>
        <p:txBody>
          <a:bodyPr wrap="square" lIns="38100" tIns="38100" rIns="38100" bIns="3810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1</a:t>
            </a:r>
            <a:endParaRPr lang="en-US" sz="1500" dirty="0"/>
          </a:p>
        </p:txBody>
      </p:sp>
      <p:sp>
        <p:nvSpPr>
          <p:cNvPr id="48" name="Text 46"/>
          <p:cNvSpPr txBox="1"/>
          <p:nvPr/>
        </p:nvSpPr>
        <p:spPr>
          <a:xfrm>
            <a:off x="4892040" y="2880360"/>
            <a:ext cx="841248" cy="292608"/>
          </a:xfrm>
          <a:prstGeom prst="rect">
            <a:avLst/>
          </a:prstGeom>
          <a:noFill/>
          <a:ln/>
        </p:spPr>
        <p:txBody>
          <a:bodyPr wrap="square" lIns="0" tIns="0" rIns="0" bIns="0" rtlCol="0" anchor="t"/>
          <a:lstStyle/>
          <a:p>
            <a:pPr algn="ctr" indent="0" marL="0">
              <a:buNone/>
            </a:pPr>
            <a:r>
              <a:rPr lang="en-US" sz="1300" b="1" dirty="0">
                <a:solidFill>
                  <a:srgbClr val="6B7679"/>
                </a:solidFill>
                <a:latin typeface="Calibri" pitchFamily="34" charset="0"/>
                <a:ea typeface="Calibri" pitchFamily="34" charset="-122"/>
                <a:cs typeface="Calibri" pitchFamily="34" charset="-120"/>
              </a:rPr>
              <a:t>×4</a:t>
            </a:r>
            <a:endParaRPr lang="en-US" sz="1300" dirty="0"/>
          </a:p>
        </p:txBody>
      </p:sp>
      <p:sp>
        <p:nvSpPr>
          <p:cNvPr id="49" name="Shape 47"/>
          <p:cNvSpPr/>
          <p:nvPr/>
        </p:nvSpPr>
        <p:spPr>
          <a:xfrm>
            <a:off x="5038344" y="3218688"/>
            <a:ext cx="548640" cy="384048"/>
          </a:xfrm>
          <a:prstGeom prst="roundRect">
            <a:avLst>
              <a:gd name="adj" fmla="val 11905"/>
            </a:avLst>
          </a:prstGeom>
          <a:solidFill>
            <a:srgbClr val="36454F"/>
          </a:solidFill>
          <a:ln/>
        </p:spPr>
        <p:txBody>
          <a:bodyPr/>
          <a:p/>
        </p:txBody>
      </p:sp>
      <p:sp>
        <p:nvSpPr>
          <p:cNvPr id="50" name="Text 48"/>
          <p:cNvSpPr txBox="1"/>
          <p:nvPr/>
        </p:nvSpPr>
        <p:spPr>
          <a:xfrm>
            <a:off x="5038344" y="3218688"/>
            <a:ext cx="548640" cy="384048"/>
          </a:xfrm>
          <a:prstGeom prst="rect">
            <a:avLst/>
          </a:prstGeom>
          <a:noFill/>
          <a:ln/>
        </p:spPr>
        <p:txBody>
          <a:bodyPr wrap="square" lIns="38100" tIns="38100" rIns="38100" bIns="3810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1</a:t>
            </a:r>
            <a:endParaRPr lang="en-US" sz="1500" dirty="0"/>
          </a:p>
        </p:txBody>
      </p:sp>
      <p:sp>
        <p:nvSpPr>
          <p:cNvPr id="51" name="Text 49"/>
          <p:cNvSpPr txBox="1"/>
          <p:nvPr/>
        </p:nvSpPr>
        <p:spPr>
          <a:xfrm>
            <a:off x="5779008" y="2880360"/>
            <a:ext cx="841248" cy="292608"/>
          </a:xfrm>
          <a:prstGeom prst="rect">
            <a:avLst/>
          </a:prstGeom>
          <a:noFill/>
          <a:ln/>
        </p:spPr>
        <p:txBody>
          <a:bodyPr wrap="square" lIns="0" tIns="0" rIns="0" bIns="0" rtlCol="0" anchor="t"/>
          <a:lstStyle/>
          <a:p>
            <a:pPr algn="ctr" indent="0" marL="0">
              <a:buNone/>
            </a:pPr>
            <a:r>
              <a:rPr lang="en-US" sz="1300" b="1" dirty="0">
                <a:solidFill>
                  <a:srgbClr val="6B7679"/>
                </a:solidFill>
                <a:latin typeface="Calibri" pitchFamily="34" charset="0"/>
                <a:ea typeface="Calibri" pitchFamily="34" charset="-122"/>
                <a:cs typeface="Calibri" pitchFamily="34" charset="-120"/>
              </a:rPr>
              <a:t>×2</a:t>
            </a:r>
            <a:endParaRPr lang="en-US" sz="1300" dirty="0"/>
          </a:p>
        </p:txBody>
      </p:sp>
      <p:sp>
        <p:nvSpPr>
          <p:cNvPr id="52" name="Shape 50"/>
          <p:cNvSpPr/>
          <p:nvPr/>
        </p:nvSpPr>
        <p:spPr>
          <a:xfrm>
            <a:off x="5925312" y="3218688"/>
            <a:ext cx="548640" cy="384048"/>
          </a:xfrm>
          <a:prstGeom prst="roundRect">
            <a:avLst>
              <a:gd name="adj" fmla="val 11905"/>
            </a:avLst>
          </a:prstGeom>
          <a:solidFill>
            <a:srgbClr val="F2F2F2"/>
          </a:solidFill>
          <a:ln/>
        </p:spPr>
        <p:txBody>
          <a:bodyPr/>
          <a:p/>
        </p:txBody>
      </p:sp>
      <p:sp>
        <p:nvSpPr>
          <p:cNvPr id="53" name="Text 51"/>
          <p:cNvSpPr txBox="1"/>
          <p:nvPr/>
        </p:nvSpPr>
        <p:spPr>
          <a:xfrm>
            <a:off x="5925312" y="3218688"/>
            <a:ext cx="548640" cy="384048"/>
          </a:xfrm>
          <a:prstGeom prst="rect">
            <a:avLst/>
          </a:prstGeom>
          <a:noFill/>
          <a:ln/>
        </p:spPr>
        <p:txBody>
          <a:bodyPr wrap="square" lIns="38100" tIns="38100" rIns="38100" bIns="38100" rtlCol="0" anchor="ctr"/>
          <a:lstStyle/>
          <a:p>
            <a:pPr algn="ctr" indent="0" marL="0">
              <a:buNone/>
            </a:pPr>
            <a:r>
              <a:rPr lang="en-US" sz="1500" b="1" dirty="0">
                <a:solidFill>
                  <a:srgbClr val="9AA5A8"/>
                </a:solidFill>
                <a:latin typeface="Consolas" pitchFamily="34" charset="0"/>
                <a:ea typeface="Consolas" pitchFamily="34" charset="-122"/>
                <a:cs typeface="Consolas" pitchFamily="34" charset="-120"/>
              </a:rPr>
              <a:t>0</a:t>
            </a:r>
            <a:endParaRPr lang="en-US" sz="1500" dirty="0"/>
          </a:p>
        </p:txBody>
      </p:sp>
      <p:sp>
        <p:nvSpPr>
          <p:cNvPr id="54" name="Text 52"/>
          <p:cNvSpPr txBox="1"/>
          <p:nvPr/>
        </p:nvSpPr>
        <p:spPr>
          <a:xfrm>
            <a:off x="6665976" y="2880360"/>
            <a:ext cx="841248" cy="292608"/>
          </a:xfrm>
          <a:prstGeom prst="rect">
            <a:avLst/>
          </a:prstGeom>
          <a:noFill/>
          <a:ln/>
        </p:spPr>
        <p:txBody>
          <a:bodyPr wrap="square" lIns="0" tIns="0" rIns="0" bIns="0" rtlCol="0" anchor="t"/>
          <a:lstStyle/>
          <a:p>
            <a:pPr algn="ctr" indent="0" marL="0">
              <a:buNone/>
            </a:pPr>
            <a:r>
              <a:rPr lang="en-US" sz="1300" b="1" dirty="0">
                <a:solidFill>
                  <a:srgbClr val="6B7679"/>
                </a:solidFill>
                <a:latin typeface="Calibri" pitchFamily="34" charset="0"/>
                <a:ea typeface="Calibri" pitchFamily="34" charset="-122"/>
                <a:cs typeface="Calibri" pitchFamily="34" charset="-120"/>
              </a:rPr>
              <a:t>×1</a:t>
            </a:r>
            <a:endParaRPr lang="en-US" sz="1300" dirty="0"/>
          </a:p>
        </p:txBody>
      </p:sp>
      <p:sp>
        <p:nvSpPr>
          <p:cNvPr id="55" name="Shape 53"/>
          <p:cNvSpPr/>
          <p:nvPr/>
        </p:nvSpPr>
        <p:spPr>
          <a:xfrm>
            <a:off x="6812280" y="3218688"/>
            <a:ext cx="548640" cy="384048"/>
          </a:xfrm>
          <a:prstGeom prst="roundRect">
            <a:avLst>
              <a:gd name="adj" fmla="val 11905"/>
            </a:avLst>
          </a:prstGeom>
          <a:solidFill>
            <a:srgbClr val="36454F"/>
          </a:solidFill>
          <a:ln/>
        </p:spPr>
        <p:txBody>
          <a:bodyPr/>
          <a:p/>
        </p:txBody>
      </p:sp>
      <p:sp>
        <p:nvSpPr>
          <p:cNvPr id="56" name="Text 54"/>
          <p:cNvSpPr txBox="1"/>
          <p:nvPr/>
        </p:nvSpPr>
        <p:spPr>
          <a:xfrm>
            <a:off x="6812280" y="3218688"/>
            <a:ext cx="548640" cy="384048"/>
          </a:xfrm>
          <a:prstGeom prst="rect">
            <a:avLst/>
          </a:prstGeom>
          <a:noFill/>
          <a:ln/>
        </p:spPr>
        <p:txBody>
          <a:bodyPr wrap="square" lIns="38100" tIns="38100" rIns="38100" bIns="3810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1</a:t>
            </a:r>
            <a:endParaRPr lang="en-US" sz="1500" dirty="0"/>
          </a:p>
        </p:txBody>
      </p:sp>
      <p:sp>
        <p:nvSpPr>
          <p:cNvPr id="57" name="Text 55"/>
          <p:cNvSpPr txBox="1"/>
          <p:nvPr/>
        </p:nvSpPr>
        <p:spPr>
          <a:xfrm>
            <a:off x="7799832" y="2880360"/>
            <a:ext cx="841248" cy="292608"/>
          </a:xfrm>
          <a:prstGeom prst="rect">
            <a:avLst/>
          </a:prstGeom>
          <a:noFill/>
          <a:ln/>
        </p:spPr>
        <p:txBody>
          <a:bodyPr wrap="square" lIns="0" tIns="0" rIns="0" bIns="0" rtlCol="0" anchor="t"/>
          <a:lstStyle/>
          <a:p>
            <a:pPr algn="ctr" indent="0" marL="0">
              <a:buNone/>
            </a:pPr>
            <a:r>
              <a:rPr lang="en-US" sz="1300" b="1" dirty="0">
                <a:solidFill>
                  <a:srgbClr val="6B7679"/>
                </a:solidFill>
                <a:latin typeface="Calibri" pitchFamily="34" charset="0"/>
                <a:ea typeface="Calibri" pitchFamily="34" charset="-122"/>
                <a:cs typeface="Calibri" pitchFamily="34" charset="-120"/>
              </a:rPr>
              <a:t>×4</a:t>
            </a:r>
            <a:endParaRPr lang="en-US" sz="1300" dirty="0"/>
          </a:p>
        </p:txBody>
      </p:sp>
      <p:sp>
        <p:nvSpPr>
          <p:cNvPr id="58" name="Shape 56"/>
          <p:cNvSpPr/>
          <p:nvPr/>
        </p:nvSpPr>
        <p:spPr>
          <a:xfrm>
            <a:off x="7946136" y="3218688"/>
            <a:ext cx="548640" cy="384048"/>
          </a:xfrm>
          <a:prstGeom prst="roundRect">
            <a:avLst>
              <a:gd name="adj" fmla="val 11905"/>
            </a:avLst>
          </a:prstGeom>
          <a:solidFill>
            <a:srgbClr val="F2F2F2"/>
          </a:solidFill>
          <a:ln/>
        </p:spPr>
        <p:txBody>
          <a:bodyPr/>
          <a:p/>
        </p:txBody>
      </p:sp>
      <p:sp>
        <p:nvSpPr>
          <p:cNvPr id="59" name="Text 57"/>
          <p:cNvSpPr txBox="1"/>
          <p:nvPr/>
        </p:nvSpPr>
        <p:spPr>
          <a:xfrm>
            <a:off x="7946136" y="3218688"/>
            <a:ext cx="548640" cy="384048"/>
          </a:xfrm>
          <a:prstGeom prst="rect">
            <a:avLst/>
          </a:prstGeom>
          <a:noFill/>
          <a:ln/>
        </p:spPr>
        <p:txBody>
          <a:bodyPr wrap="square" lIns="38100" tIns="38100" rIns="38100" bIns="38100" rtlCol="0" anchor="ctr"/>
          <a:lstStyle/>
          <a:p>
            <a:pPr algn="ctr" indent="0" marL="0">
              <a:buNone/>
            </a:pPr>
            <a:r>
              <a:rPr lang="en-US" sz="1500" b="1" dirty="0">
                <a:solidFill>
                  <a:srgbClr val="9AA5A8"/>
                </a:solidFill>
                <a:latin typeface="Consolas" pitchFamily="34" charset="0"/>
                <a:ea typeface="Consolas" pitchFamily="34" charset="-122"/>
                <a:cs typeface="Consolas" pitchFamily="34" charset="-120"/>
              </a:rPr>
              <a:t>0</a:t>
            </a:r>
            <a:endParaRPr lang="en-US" sz="1500" dirty="0"/>
          </a:p>
        </p:txBody>
      </p:sp>
      <p:sp>
        <p:nvSpPr>
          <p:cNvPr id="60" name="Text 58"/>
          <p:cNvSpPr txBox="1"/>
          <p:nvPr/>
        </p:nvSpPr>
        <p:spPr>
          <a:xfrm>
            <a:off x="8686800" y="2880360"/>
            <a:ext cx="841248" cy="292608"/>
          </a:xfrm>
          <a:prstGeom prst="rect">
            <a:avLst/>
          </a:prstGeom>
          <a:noFill/>
          <a:ln/>
        </p:spPr>
        <p:txBody>
          <a:bodyPr wrap="square" lIns="0" tIns="0" rIns="0" bIns="0" rtlCol="0" anchor="t"/>
          <a:lstStyle/>
          <a:p>
            <a:pPr algn="ctr" indent="0" marL="0">
              <a:buNone/>
            </a:pPr>
            <a:r>
              <a:rPr lang="en-US" sz="1300" b="1" dirty="0">
                <a:solidFill>
                  <a:srgbClr val="6B7679"/>
                </a:solidFill>
                <a:latin typeface="Calibri" pitchFamily="34" charset="0"/>
                <a:ea typeface="Calibri" pitchFamily="34" charset="-122"/>
                <a:cs typeface="Calibri" pitchFamily="34" charset="-120"/>
              </a:rPr>
              <a:t>×2</a:t>
            </a:r>
            <a:endParaRPr lang="en-US" sz="1300" dirty="0"/>
          </a:p>
        </p:txBody>
      </p:sp>
      <p:sp>
        <p:nvSpPr>
          <p:cNvPr id="61" name="Shape 59"/>
          <p:cNvSpPr/>
          <p:nvPr/>
        </p:nvSpPr>
        <p:spPr>
          <a:xfrm>
            <a:off x="8833104" y="3218688"/>
            <a:ext cx="548640" cy="384048"/>
          </a:xfrm>
          <a:prstGeom prst="roundRect">
            <a:avLst>
              <a:gd name="adj" fmla="val 11905"/>
            </a:avLst>
          </a:prstGeom>
          <a:solidFill>
            <a:srgbClr val="F2F2F2"/>
          </a:solidFill>
          <a:ln/>
        </p:spPr>
        <p:txBody>
          <a:bodyPr/>
          <a:p/>
        </p:txBody>
      </p:sp>
      <p:sp>
        <p:nvSpPr>
          <p:cNvPr id="62" name="Text 60"/>
          <p:cNvSpPr txBox="1"/>
          <p:nvPr/>
        </p:nvSpPr>
        <p:spPr>
          <a:xfrm>
            <a:off x="8833104" y="3218688"/>
            <a:ext cx="548640" cy="384048"/>
          </a:xfrm>
          <a:prstGeom prst="rect">
            <a:avLst/>
          </a:prstGeom>
          <a:noFill/>
          <a:ln/>
        </p:spPr>
        <p:txBody>
          <a:bodyPr wrap="square" lIns="38100" tIns="38100" rIns="38100" bIns="38100" rtlCol="0" anchor="ctr"/>
          <a:lstStyle/>
          <a:p>
            <a:pPr algn="ctr" indent="0" marL="0">
              <a:buNone/>
            </a:pPr>
            <a:r>
              <a:rPr lang="en-US" sz="1500" b="1" dirty="0">
                <a:solidFill>
                  <a:srgbClr val="9AA5A8"/>
                </a:solidFill>
                <a:latin typeface="Consolas" pitchFamily="34" charset="0"/>
                <a:ea typeface="Consolas" pitchFamily="34" charset="-122"/>
                <a:cs typeface="Consolas" pitchFamily="34" charset="-120"/>
              </a:rPr>
              <a:t>0</a:t>
            </a:r>
            <a:endParaRPr lang="en-US" sz="1500" dirty="0"/>
          </a:p>
        </p:txBody>
      </p:sp>
      <p:sp>
        <p:nvSpPr>
          <p:cNvPr id="63" name="Text 61"/>
          <p:cNvSpPr txBox="1"/>
          <p:nvPr/>
        </p:nvSpPr>
        <p:spPr>
          <a:xfrm>
            <a:off x="9573768" y="2880360"/>
            <a:ext cx="841248" cy="292608"/>
          </a:xfrm>
          <a:prstGeom prst="rect">
            <a:avLst/>
          </a:prstGeom>
          <a:noFill/>
          <a:ln/>
        </p:spPr>
        <p:txBody>
          <a:bodyPr wrap="square" lIns="0" tIns="0" rIns="0" bIns="0" rtlCol="0" anchor="t"/>
          <a:lstStyle/>
          <a:p>
            <a:pPr algn="ctr" indent="0" marL="0">
              <a:buNone/>
            </a:pPr>
            <a:r>
              <a:rPr lang="en-US" sz="1300" b="1" dirty="0">
                <a:solidFill>
                  <a:srgbClr val="6B7679"/>
                </a:solidFill>
                <a:latin typeface="Calibri" pitchFamily="34" charset="0"/>
                <a:ea typeface="Calibri" pitchFamily="34" charset="-122"/>
                <a:cs typeface="Calibri" pitchFamily="34" charset="-120"/>
              </a:rPr>
              <a:t>×1</a:t>
            </a:r>
            <a:endParaRPr lang="en-US" sz="1300" dirty="0"/>
          </a:p>
        </p:txBody>
      </p:sp>
      <p:sp>
        <p:nvSpPr>
          <p:cNvPr id="64" name="Shape 62"/>
          <p:cNvSpPr/>
          <p:nvPr/>
        </p:nvSpPr>
        <p:spPr>
          <a:xfrm>
            <a:off x="9720072" y="3218688"/>
            <a:ext cx="548640" cy="384048"/>
          </a:xfrm>
          <a:prstGeom prst="roundRect">
            <a:avLst>
              <a:gd name="adj" fmla="val 11905"/>
            </a:avLst>
          </a:prstGeom>
          <a:solidFill>
            <a:srgbClr val="F2F2F2"/>
          </a:solidFill>
          <a:ln/>
        </p:spPr>
        <p:txBody>
          <a:bodyPr/>
          <a:p/>
        </p:txBody>
      </p:sp>
      <p:sp>
        <p:nvSpPr>
          <p:cNvPr id="65" name="Text 63"/>
          <p:cNvSpPr txBox="1"/>
          <p:nvPr/>
        </p:nvSpPr>
        <p:spPr>
          <a:xfrm>
            <a:off x="9720072" y="3218688"/>
            <a:ext cx="548640" cy="384048"/>
          </a:xfrm>
          <a:prstGeom prst="rect">
            <a:avLst/>
          </a:prstGeom>
          <a:noFill/>
          <a:ln/>
        </p:spPr>
        <p:txBody>
          <a:bodyPr wrap="square" lIns="38100" tIns="38100" rIns="38100" bIns="38100" rtlCol="0" anchor="ctr"/>
          <a:lstStyle/>
          <a:p>
            <a:pPr algn="ctr" indent="0" marL="0">
              <a:buNone/>
            </a:pPr>
            <a:r>
              <a:rPr lang="en-US" sz="1500" b="1" dirty="0">
                <a:solidFill>
                  <a:srgbClr val="9AA5A8"/>
                </a:solidFill>
                <a:latin typeface="Consolas" pitchFamily="34" charset="0"/>
                <a:ea typeface="Consolas" pitchFamily="34" charset="-122"/>
                <a:cs typeface="Consolas" pitchFamily="34" charset="-120"/>
              </a:rPr>
              <a:t>0</a:t>
            </a:r>
            <a:endParaRPr lang="en-US" sz="1500" dirty="0"/>
          </a:p>
        </p:txBody>
      </p:sp>
      <p:sp>
        <p:nvSpPr>
          <p:cNvPr id="66" name="Text 64"/>
          <p:cNvSpPr txBox="1"/>
          <p:nvPr/>
        </p:nvSpPr>
        <p:spPr>
          <a:xfrm>
            <a:off x="502920" y="2880360"/>
            <a:ext cx="1115568" cy="292608"/>
          </a:xfrm>
          <a:prstGeom prst="rect">
            <a:avLst/>
          </a:prstGeom>
          <a:noFill/>
          <a:ln/>
        </p:spPr>
        <p:txBody>
          <a:bodyPr wrap="square" lIns="0" tIns="0" rIns="0" bIns="0" rtlCol="0" anchor="t"/>
          <a:lstStyle/>
          <a:p>
            <a:pPr algn="ctr" indent="0" marL="0">
              <a:buNone/>
            </a:pPr>
            <a:r>
              <a:rPr lang="en-US" sz="1200" i="1" dirty="0">
                <a:solidFill>
                  <a:srgbClr val="6B7679"/>
                </a:solidFill>
                <a:latin typeface="Calibri" pitchFamily="34" charset="0"/>
                <a:ea typeface="Calibri" pitchFamily="34" charset="-122"/>
                <a:cs typeface="Calibri" pitchFamily="34" charset="-120"/>
              </a:rPr>
              <a:t>weight</a:t>
            </a:r>
            <a:endParaRPr lang="en-US" sz="1200" dirty="0"/>
          </a:p>
        </p:txBody>
      </p:sp>
      <p:sp>
        <p:nvSpPr>
          <p:cNvPr id="67" name="Text 65"/>
          <p:cNvSpPr txBox="1"/>
          <p:nvPr/>
        </p:nvSpPr>
        <p:spPr>
          <a:xfrm>
            <a:off x="502920" y="3264408"/>
            <a:ext cx="1115568" cy="292608"/>
          </a:xfrm>
          <a:prstGeom prst="rect">
            <a:avLst/>
          </a:prstGeom>
          <a:noFill/>
          <a:ln/>
        </p:spPr>
        <p:txBody>
          <a:bodyPr wrap="square" lIns="0" tIns="0" rIns="0" bIns="0" rtlCol="0" anchor="t"/>
          <a:lstStyle/>
          <a:p>
            <a:pPr algn="ctr" indent="0" marL="0">
              <a:buNone/>
            </a:pPr>
            <a:r>
              <a:rPr lang="en-US" sz="1200" i="1" dirty="0">
                <a:solidFill>
                  <a:srgbClr val="6B7679"/>
                </a:solidFill>
                <a:latin typeface="Calibri" pitchFamily="34" charset="0"/>
                <a:ea typeface="Calibri" pitchFamily="34" charset="-122"/>
                <a:cs typeface="Calibri" pitchFamily="34" charset="-120"/>
              </a:rPr>
              <a:t>bit</a:t>
            </a:r>
            <a:endParaRPr lang="en-US" sz="1200" dirty="0"/>
          </a:p>
        </p:txBody>
      </p:sp>
      <p:sp>
        <p:nvSpPr>
          <p:cNvPr id="68" name="Shape 66"/>
          <p:cNvSpPr/>
          <p:nvPr/>
        </p:nvSpPr>
        <p:spPr>
          <a:xfrm>
            <a:off x="1984248" y="3749040"/>
            <a:ext cx="2615184" cy="502920"/>
          </a:xfrm>
          <a:prstGeom prst="roundRect">
            <a:avLst>
              <a:gd name="adj" fmla="val 9091"/>
            </a:avLst>
          </a:prstGeom>
          <a:solidFill>
            <a:srgbClr val="D7E9E6"/>
          </a:solidFill>
          <a:ln/>
        </p:spPr>
        <p:txBody>
          <a:bodyPr/>
          <a:p/>
        </p:txBody>
      </p:sp>
      <p:sp>
        <p:nvSpPr>
          <p:cNvPr id="69" name="Text 67"/>
          <p:cNvSpPr txBox="1"/>
          <p:nvPr/>
        </p:nvSpPr>
        <p:spPr>
          <a:xfrm>
            <a:off x="1984248" y="3749040"/>
            <a:ext cx="2615184" cy="502920"/>
          </a:xfrm>
          <a:prstGeom prst="rect">
            <a:avLst/>
          </a:prstGeom>
          <a:noFill/>
          <a:ln/>
        </p:spPr>
        <p:txBody>
          <a:bodyPr wrap="square" lIns="38100" tIns="38100" rIns="38100" bIns="38100" rtlCol="0" anchor="ctr"/>
          <a:lstStyle/>
          <a:p>
            <a:pPr algn="ctr" indent="0" marL="0">
              <a:buNone/>
            </a:pPr>
            <a:r>
              <a:rPr lang="en-US" sz="1600" b="1" dirty="0">
                <a:solidFill>
                  <a:srgbClr val="212121"/>
                </a:solidFill>
                <a:latin typeface="Consolas" pitchFamily="34" charset="0"/>
                <a:ea typeface="Consolas" pitchFamily="34" charset="-122"/>
                <a:cs typeface="Consolas" pitchFamily="34" charset="-120"/>
              </a:rPr>
              <a:t>4 + 2 + 1 = 7</a:t>
            </a:r>
            <a:endParaRPr lang="en-US" sz="1600" dirty="0"/>
          </a:p>
        </p:txBody>
      </p:sp>
      <p:sp>
        <p:nvSpPr>
          <p:cNvPr id="70" name="Shape 68"/>
          <p:cNvSpPr/>
          <p:nvPr/>
        </p:nvSpPr>
        <p:spPr>
          <a:xfrm>
            <a:off x="4892040" y="3749040"/>
            <a:ext cx="2615184" cy="502920"/>
          </a:xfrm>
          <a:prstGeom prst="roundRect">
            <a:avLst>
              <a:gd name="adj" fmla="val 9091"/>
            </a:avLst>
          </a:prstGeom>
          <a:solidFill>
            <a:srgbClr val="D7E9E6"/>
          </a:solidFill>
          <a:ln/>
        </p:spPr>
        <p:txBody>
          <a:bodyPr/>
          <a:p/>
        </p:txBody>
      </p:sp>
      <p:sp>
        <p:nvSpPr>
          <p:cNvPr id="71" name="Text 69"/>
          <p:cNvSpPr txBox="1"/>
          <p:nvPr/>
        </p:nvSpPr>
        <p:spPr>
          <a:xfrm>
            <a:off x="4892040" y="3749040"/>
            <a:ext cx="2615184" cy="502920"/>
          </a:xfrm>
          <a:prstGeom prst="rect">
            <a:avLst/>
          </a:prstGeom>
          <a:noFill/>
          <a:ln/>
        </p:spPr>
        <p:txBody>
          <a:bodyPr wrap="square" lIns="38100" tIns="38100" rIns="38100" bIns="38100" rtlCol="0" anchor="ctr"/>
          <a:lstStyle/>
          <a:p>
            <a:pPr algn="ctr" indent="0" marL="0">
              <a:buNone/>
            </a:pPr>
            <a:r>
              <a:rPr lang="en-US" sz="1600" b="1" dirty="0">
                <a:solidFill>
                  <a:srgbClr val="212121"/>
                </a:solidFill>
                <a:latin typeface="Consolas" pitchFamily="34" charset="0"/>
                <a:ea typeface="Consolas" pitchFamily="34" charset="-122"/>
                <a:cs typeface="Consolas" pitchFamily="34" charset="-120"/>
              </a:rPr>
              <a:t>4 + 0 + 1 = 5</a:t>
            </a:r>
            <a:endParaRPr lang="en-US" sz="1600" dirty="0"/>
          </a:p>
        </p:txBody>
      </p:sp>
      <p:sp>
        <p:nvSpPr>
          <p:cNvPr id="72" name="Shape 70"/>
          <p:cNvSpPr/>
          <p:nvPr/>
        </p:nvSpPr>
        <p:spPr>
          <a:xfrm>
            <a:off x="7799832" y="3749040"/>
            <a:ext cx="2615184" cy="502920"/>
          </a:xfrm>
          <a:prstGeom prst="roundRect">
            <a:avLst>
              <a:gd name="adj" fmla="val 9091"/>
            </a:avLst>
          </a:prstGeom>
          <a:solidFill>
            <a:srgbClr val="D7E9E6"/>
          </a:solidFill>
          <a:ln/>
        </p:spPr>
        <p:txBody>
          <a:bodyPr/>
          <a:p/>
        </p:txBody>
      </p:sp>
      <p:sp>
        <p:nvSpPr>
          <p:cNvPr id="73" name="Text 71"/>
          <p:cNvSpPr txBox="1"/>
          <p:nvPr/>
        </p:nvSpPr>
        <p:spPr>
          <a:xfrm>
            <a:off x="7799832" y="3749040"/>
            <a:ext cx="2615184" cy="502920"/>
          </a:xfrm>
          <a:prstGeom prst="rect">
            <a:avLst/>
          </a:prstGeom>
          <a:noFill/>
          <a:ln/>
        </p:spPr>
        <p:txBody>
          <a:bodyPr wrap="square" lIns="38100" tIns="38100" rIns="38100" bIns="38100" rtlCol="0" anchor="ctr"/>
          <a:lstStyle/>
          <a:p>
            <a:pPr algn="ctr" indent="0" marL="0">
              <a:buNone/>
            </a:pPr>
            <a:r>
              <a:rPr lang="en-US" sz="1600" b="1" dirty="0">
                <a:solidFill>
                  <a:srgbClr val="212121"/>
                </a:solidFill>
                <a:latin typeface="Consolas" pitchFamily="34" charset="0"/>
                <a:ea typeface="Consolas" pitchFamily="34" charset="-122"/>
                <a:cs typeface="Consolas" pitchFamily="34" charset="-120"/>
              </a:rPr>
              <a:t>0 + 0 + 0 = 0</a:t>
            </a:r>
            <a:endParaRPr lang="en-US" sz="1600" dirty="0"/>
          </a:p>
        </p:txBody>
      </p:sp>
      <p:sp>
        <p:nvSpPr>
          <p:cNvPr id="74" name="Text 72"/>
          <p:cNvSpPr txBox="1"/>
          <p:nvPr/>
        </p:nvSpPr>
        <p:spPr>
          <a:xfrm>
            <a:off x="502920" y="3794760"/>
            <a:ext cx="1115568" cy="411480"/>
          </a:xfrm>
          <a:prstGeom prst="rect">
            <a:avLst/>
          </a:prstGeom>
          <a:noFill/>
          <a:ln/>
        </p:spPr>
        <p:txBody>
          <a:bodyPr wrap="square" lIns="0" tIns="0" rIns="0" bIns="0" rtlCol="0" anchor="ctr"/>
          <a:lstStyle/>
          <a:p>
            <a:pPr algn="ctr" indent="0" marL="0">
              <a:buNone/>
            </a:pPr>
            <a:r>
              <a:rPr lang="en-US" sz="1200" i="1" dirty="0">
                <a:solidFill>
                  <a:srgbClr val="6B7679"/>
                </a:solidFill>
                <a:latin typeface="Calibri" pitchFamily="34" charset="0"/>
                <a:ea typeface="Calibri" pitchFamily="34" charset="-122"/>
                <a:cs typeface="Calibri" pitchFamily="34" charset="-120"/>
              </a:rPr>
              <a:t>octal</a:t>
            </a:r>
            <a:endParaRPr lang="en-US" sz="1200" dirty="0"/>
          </a:p>
        </p:txBody>
      </p:sp>
      <p:sp>
        <p:nvSpPr>
          <p:cNvPr id="75" name="Shape 73"/>
          <p:cNvSpPr/>
          <p:nvPr/>
        </p:nvSpPr>
        <p:spPr>
          <a:xfrm>
            <a:off x="548640" y="4434840"/>
            <a:ext cx="11109960" cy="685800"/>
          </a:xfrm>
          <a:prstGeom prst="roundRect">
            <a:avLst>
              <a:gd name="adj" fmla="val 8000"/>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76" name="Text 74"/>
          <p:cNvSpPr txBox="1"/>
          <p:nvPr/>
        </p:nvSpPr>
        <p:spPr>
          <a:xfrm>
            <a:off x="777240" y="4434840"/>
            <a:ext cx="10652760" cy="685800"/>
          </a:xfrm>
          <a:prstGeom prst="rect">
            <a:avLst/>
          </a:prstGeom>
          <a:noFill/>
          <a:ln/>
        </p:spPr>
        <p:txBody>
          <a:bodyPr wrap="square" lIns="0" tIns="0" rIns="0" bIns="0" rtlCol="0" anchor="ctr"/>
          <a:lstStyle/>
          <a:p>
            <a:pPr indent="0" marL="0">
              <a:buNone/>
            </a:pPr>
            <a:r>
              <a:rPr lang="en-US" sz="1500" dirty="0">
                <a:solidFill>
                  <a:srgbClr val="F2F2F2"/>
                </a:solidFill>
                <a:latin typeface="Calibri" pitchFamily="34" charset="0"/>
                <a:ea typeface="Calibri" pitchFamily="34" charset="-122"/>
                <a:cs typeface="Calibri" pitchFamily="34" charset="-120"/>
              </a:rPr>
              <a:t>-rwxr-x---  =  750:   owner may read, write and execute  ·  group may read and execute  ·  others: nothing</a:t>
            </a:r>
            <a:endParaRPr lang="en-US" sz="1500" dirty="0"/>
          </a:p>
        </p:txBody>
      </p:sp>
      <p:sp>
        <p:nvSpPr>
          <p:cNvPr id="77" name="Shape 75"/>
          <p:cNvSpPr/>
          <p:nvPr/>
        </p:nvSpPr>
        <p:spPr>
          <a:xfrm>
            <a:off x="548640" y="5303520"/>
            <a:ext cx="5440680" cy="960120"/>
          </a:xfrm>
          <a:prstGeom prst="roundRect">
            <a:avLst>
              <a:gd name="adj" fmla="val 571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8" name="Text 76"/>
          <p:cNvSpPr txBox="1"/>
          <p:nvPr/>
        </p:nvSpPr>
        <p:spPr>
          <a:xfrm>
            <a:off x="777240" y="5486400"/>
            <a:ext cx="4983480" cy="64008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Type letter:</a:t>
            </a:r>
            <a:r>
              <a:rPr lang="en-US" sz="1350" dirty="0">
                <a:solidFill>
                  <a:srgbClr val="3A464C"/>
                </a:solidFill>
                <a:latin typeface="Calibri" pitchFamily="34" charset="0"/>
                <a:ea typeface="Calibri" pitchFamily="34" charset="-122"/>
                <a:cs typeface="Calibri" pitchFamily="34" charset="-120"/>
              </a:rPr>
              <a:t>  -  regular file   d  directory   l  symbolic link   c / b  device</a:t>
            </a:r>
            <a:endParaRPr lang="en-US" sz="1350" dirty="0"/>
          </a:p>
        </p:txBody>
      </p:sp>
      <p:sp>
        <p:nvSpPr>
          <p:cNvPr id="79" name="Shape 77"/>
          <p:cNvSpPr/>
          <p:nvPr/>
        </p:nvSpPr>
        <p:spPr>
          <a:xfrm>
            <a:off x="6217920" y="5303520"/>
            <a:ext cx="5440680" cy="960120"/>
          </a:xfrm>
          <a:prstGeom prst="roundRect">
            <a:avLst>
              <a:gd name="adj" fmla="val 571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0" name="Text 78"/>
          <p:cNvSpPr txBox="1"/>
          <p:nvPr/>
        </p:nvSpPr>
        <p:spPr>
          <a:xfrm>
            <a:off x="6446520" y="5486400"/>
            <a:ext cx="4983480" cy="64008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Counting:</a:t>
            </a:r>
            <a:r>
              <a:rPr lang="en-US" sz="1350" dirty="0">
                <a:solidFill>
                  <a:srgbClr val="3A464C"/>
                </a:solidFill>
                <a:latin typeface="Calibri" pitchFamily="34" charset="0"/>
                <a:ea typeface="Calibri" pitchFamily="34" charset="-122"/>
                <a:cs typeface="Calibri" pitchFamily="34" charset="-120"/>
              </a:rPr>
              <a:t>  3 bits per class → 2³ = 8 combinations → exactly one octal digit (0–7).</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R, W, X</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Same Three Letters Mean Different Things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109960" cy="914400"/>
        </p:xfrm>
        <a:graphic>
          <a:graphicData uri="http://schemas.openxmlformats.org/drawingml/2006/table">
            <a:tbl>
              <a:tblPr/>
              <a:tblGrid>
                <a:gridCol w="914400"/>
                <a:gridCol w="4754880"/>
                <a:gridCol w="5440680"/>
              </a:tblGrid>
              <a:tr h="0">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Bit</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On a regular file</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On a directory</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r  (4)</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read the contents: cat, less, cp</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list the names inside: ls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w  (2)</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change the contents: nano, echo &gt;&gt;</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create, delete, rename entries in it (needs x too)</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x  (1)</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run it as a program or script: ./hello.sh</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enter it and reach files inside: cd, cat dir/file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Deleting a file is a change to its DIRECTORY, not to the file: you need w + x on the directory — the file's own w bit does not matter.</a:t>
            </a:r>
            <a:endParaRPr lang="en-US" sz="1400" dirty="0"/>
          </a:p>
        </p:txBody>
      </p:sp>
      <p:sp>
        <p:nvSpPr>
          <p:cNvPr id="9" name="Shape 6"/>
          <p:cNvSpPr/>
          <p:nvPr/>
        </p:nvSpPr>
        <p:spPr>
          <a:xfrm>
            <a:off x="548640" y="3703320"/>
            <a:ext cx="11109960" cy="1554480"/>
          </a:xfrm>
          <a:prstGeom prst="roundRect">
            <a:avLst>
              <a:gd name="adj" fmla="val 352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7"/>
          <p:cNvSpPr txBox="1"/>
          <p:nvPr/>
        </p:nvSpPr>
        <p:spPr>
          <a:xfrm>
            <a:off x="777240" y="3886200"/>
            <a:ext cx="106527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directory x bit is the key to the door</a:t>
            </a:r>
            <a:endParaRPr lang="en-US" sz="1500" dirty="0"/>
          </a:p>
        </p:txBody>
      </p:sp>
      <p:sp>
        <p:nvSpPr>
          <p:cNvPr id="11" name="Text 8"/>
          <p:cNvSpPr txBox="1"/>
          <p:nvPr/>
        </p:nvSpPr>
        <p:spPr>
          <a:xfrm>
            <a:off x="777240" y="4343400"/>
            <a:ext cx="10652760" cy="777240"/>
          </a:xfrm>
          <a:prstGeom prst="rect">
            <a:avLst/>
          </a:prstGeom>
          <a:noFill/>
          <a:ln/>
        </p:spPr>
        <p:txBody>
          <a:bodyPr wrap="square" lIns="0" tIns="0" rIns="0" bIns="0" rtlCol="0" anchor="t"/>
          <a:lstStyle/>
          <a:p>
            <a:pPr indent="0" marL="0">
              <a:spcAft>
                <a:spcPts val="400"/>
              </a:spcAft>
              <a:buNone/>
            </a:pPr>
            <a:r>
              <a:rPr lang="en-US" sz="1450" dirty="0">
                <a:solidFill>
                  <a:srgbClr val="3A464C"/>
                </a:solidFill>
                <a:latin typeface="Calibri" pitchFamily="34" charset="0"/>
                <a:ea typeface="Calibri" pitchFamily="34" charset="-122"/>
                <a:cs typeface="Calibri" pitchFamily="34" charset="-120"/>
              </a:rPr>
              <a:t>Without x on a directory you cannot cd into it or open anything below it, even if you know the exact name and the file itself is readable. Without r you cannot list it, but with x you can still open a file whose name you know.</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THE ACCESS CHECK</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Only One Class Applies: Owner, Else Group, Else Others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11</a:t>
            </a:r>
            <a:endParaRPr lang="en-US" sz="900" dirty="0"/>
          </a:p>
        </p:txBody>
      </p:sp>
      <p:sp>
        <p:nvSpPr>
          <p:cNvPr id="6" name="Shape 4"/>
          <p:cNvSpPr/>
          <p:nvPr/>
        </p:nvSpPr>
        <p:spPr>
          <a:xfrm>
            <a:off x="548640" y="1600200"/>
            <a:ext cx="3200400" cy="658368"/>
          </a:xfrm>
          <a:prstGeom prst="roundRect">
            <a:avLst>
              <a:gd name="adj" fmla="val 6944"/>
            </a:avLst>
          </a:prstGeom>
          <a:solidFill>
            <a:srgbClr val="36454F"/>
          </a:solidFill>
          <a:ln/>
        </p:spPr>
        <p:txBody>
          <a:bodyPr/>
          <a:p/>
        </p:txBody>
      </p:sp>
      <p:sp>
        <p:nvSpPr>
          <p:cNvPr id="7" name="Text 5"/>
          <p:cNvSpPr txBox="1"/>
          <p:nvPr/>
        </p:nvSpPr>
        <p:spPr>
          <a:xfrm>
            <a:off x="548640" y="1600200"/>
            <a:ext cx="3200400" cy="658368"/>
          </a:xfrm>
          <a:prstGeom prst="rect">
            <a:avLst/>
          </a:prstGeom>
          <a:noFill/>
          <a:ln/>
        </p:spPr>
        <p:txBody>
          <a:bodyPr wrap="square" lIns="38100" tIns="38100" rIns="38100" bIns="3810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Is the process root (UID 0)?</a:t>
            </a:r>
            <a:endParaRPr lang="en-US" sz="1350" dirty="0"/>
          </a:p>
        </p:txBody>
      </p:sp>
      <p:sp>
        <p:nvSpPr>
          <p:cNvPr id="8" name="Shape 6"/>
          <p:cNvSpPr/>
          <p:nvPr/>
        </p:nvSpPr>
        <p:spPr>
          <a:xfrm>
            <a:off x="4572000" y="1600200"/>
            <a:ext cx="3017520" cy="658368"/>
          </a:xfrm>
          <a:prstGeom prst="roundRect">
            <a:avLst>
              <a:gd name="adj" fmla="val 6944"/>
            </a:avLst>
          </a:prstGeom>
          <a:solidFill>
            <a:srgbClr val="E4E8E9"/>
          </a:solidFill>
          <a:ln/>
        </p:spPr>
        <p:txBody>
          <a:bodyPr/>
          <a:p/>
        </p:txBody>
      </p:sp>
      <p:sp>
        <p:nvSpPr>
          <p:cNvPr id="9" name="Text 7"/>
          <p:cNvSpPr txBox="1"/>
          <p:nvPr/>
        </p:nvSpPr>
        <p:spPr>
          <a:xfrm>
            <a:off x="4572000" y="1600200"/>
            <a:ext cx="3017520" cy="658368"/>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allowed (almost always)</a:t>
            </a:r>
            <a:endParaRPr lang="en-US" sz="1200" dirty="0"/>
          </a:p>
        </p:txBody>
      </p:sp>
      <p:sp>
        <p:nvSpPr>
          <p:cNvPr id="10" name="Shape 8"/>
          <p:cNvSpPr/>
          <p:nvPr/>
        </p:nvSpPr>
        <p:spPr>
          <a:xfrm>
            <a:off x="3767328" y="1929384"/>
            <a:ext cx="786384" cy="91"/>
          </a:xfrm>
          <a:prstGeom prst="line">
            <a:avLst/>
          </a:prstGeom>
          <a:noFill/>
          <a:ln w="25400">
            <a:solidFill>
              <a:srgbClr val="028090"/>
            </a:solidFill>
            <a:prstDash val="solid"/>
            <a:tailEnd type="triangle"/>
          </a:ln>
        </p:spPr>
        <p:txBody>
          <a:bodyPr/>
          <a:p/>
        </p:txBody>
      </p:sp>
      <p:sp>
        <p:nvSpPr>
          <p:cNvPr id="11" name="Text 9"/>
          <p:cNvSpPr txBox="1"/>
          <p:nvPr/>
        </p:nvSpPr>
        <p:spPr>
          <a:xfrm>
            <a:off x="3840480" y="1618488"/>
            <a:ext cx="731520" cy="274320"/>
          </a:xfrm>
          <a:prstGeom prst="rect">
            <a:avLst/>
          </a:prstGeom>
          <a:noFill/>
          <a:ln/>
        </p:spPr>
        <p:txBody>
          <a:bodyPr wrap="square" lIns="0" tIns="0" rIns="0" bIns="0" rtlCol="0" anchor="t"/>
          <a:lstStyle/>
          <a:p>
            <a:pPr algn="ctr" indent="0" marL="0">
              <a:buNone/>
            </a:pPr>
            <a:r>
              <a:rPr lang="en-US" sz="1100" b="1" dirty="0">
                <a:solidFill>
                  <a:srgbClr val="028090"/>
                </a:solidFill>
                <a:latin typeface="Calibri" pitchFamily="34" charset="0"/>
                <a:ea typeface="Calibri" pitchFamily="34" charset="-122"/>
                <a:cs typeface="Calibri" pitchFamily="34" charset="-120"/>
              </a:rPr>
              <a:t>yes</a:t>
            </a:r>
            <a:endParaRPr lang="en-US" sz="1100" dirty="0"/>
          </a:p>
        </p:txBody>
      </p:sp>
      <p:sp>
        <p:nvSpPr>
          <p:cNvPr id="12" name="Shape 10"/>
          <p:cNvSpPr/>
          <p:nvPr/>
        </p:nvSpPr>
        <p:spPr>
          <a:xfrm>
            <a:off x="2148840" y="2276856"/>
            <a:ext cx="91" cy="310896"/>
          </a:xfrm>
          <a:prstGeom prst="line">
            <a:avLst/>
          </a:prstGeom>
          <a:noFill/>
          <a:ln w="25400">
            <a:solidFill>
              <a:srgbClr val="50808E"/>
            </a:solidFill>
            <a:prstDash val="solid"/>
            <a:tailEnd type="triangle"/>
          </a:ln>
        </p:spPr>
        <p:txBody>
          <a:bodyPr/>
          <a:p/>
        </p:txBody>
      </p:sp>
      <p:sp>
        <p:nvSpPr>
          <p:cNvPr id="13" name="Text 11"/>
          <p:cNvSpPr txBox="1"/>
          <p:nvPr/>
        </p:nvSpPr>
        <p:spPr>
          <a:xfrm>
            <a:off x="2240280" y="2304288"/>
            <a:ext cx="457200" cy="274320"/>
          </a:xfrm>
          <a:prstGeom prst="rect">
            <a:avLst/>
          </a:prstGeom>
          <a:noFill/>
          <a:ln/>
        </p:spPr>
        <p:txBody>
          <a:bodyPr wrap="square" lIns="0" tIns="0" rIns="0" bIns="0" rtlCol="0" anchor="t"/>
          <a:lstStyle/>
          <a:p>
            <a:pPr indent="0" marL="0">
              <a:buNone/>
            </a:pPr>
            <a:r>
              <a:rPr lang="en-US" sz="1100" b="1" dirty="0">
                <a:solidFill>
                  <a:srgbClr val="50808E"/>
                </a:solidFill>
                <a:latin typeface="Calibri" pitchFamily="34" charset="0"/>
                <a:ea typeface="Calibri" pitchFamily="34" charset="-122"/>
                <a:cs typeface="Calibri" pitchFamily="34" charset="-120"/>
              </a:rPr>
              <a:t>no</a:t>
            </a:r>
            <a:endParaRPr lang="en-US" sz="1100" dirty="0"/>
          </a:p>
        </p:txBody>
      </p:sp>
      <p:sp>
        <p:nvSpPr>
          <p:cNvPr id="14" name="Shape 12"/>
          <p:cNvSpPr/>
          <p:nvPr/>
        </p:nvSpPr>
        <p:spPr>
          <a:xfrm>
            <a:off x="548640" y="2606040"/>
            <a:ext cx="3200400" cy="658368"/>
          </a:xfrm>
          <a:prstGeom prst="roundRect">
            <a:avLst>
              <a:gd name="adj" fmla="val 6944"/>
            </a:avLst>
          </a:prstGeom>
          <a:solidFill>
            <a:srgbClr val="36454F"/>
          </a:solidFill>
          <a:ln/>
        </p:spPr>
        <p:txBody>
          <a:bodyPr/>
          <a:p/>
        </p:txBody>
      </p:sp>
      <p:sp>
        <p:nvSpPr>
          <p:cNvPr id="15" name="Text 13"/>
          <p:cNvSpPr txBox="1"/>
          <p:nvPr/>
        </p:nvSpPr>
        <p:spPr>
          <a:xfrm>
            <a:off x="548640" y="2606040"/>
            <a:ext cx="3200400" cy="658368"/>
          </a:xfrm>
          <a:prstGeom prst="rect">
            <a:avLst/>
          </a:prstGeom>
          <a:noFill/>
          <a:ln/>
        </p:spPr>
        <p:txBody>
          <a:bodyPr wrap="square" lIns="38100" tIns="38100" rIns="38100" bIns="3810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Is its UID the file's owner?</a:t>
            </a:r>
            <a:endParaRPr lang="en-US" sz="1350" dirty="0"/>
          </a:p>
        </p:txBody>
      </p:sp>
      <p:sp>
        <p:nvSpPr>
          <p:cNvPr id="16" name="Shape 14"/>
          <p:cNvSpPr/>
          <p:nvPr/>
        </p:nvSpPr>
        <p:spPr>
          <a:xfrm>
            <a:off x="4572000" y="2606040"/>
            <a:ext cx="3017520" cy="658368"/>
          </a:xfrm>
          <a:prstGeom prst="roundRect">
            <a:avLst>
              <a:gd name="adj" fmla="val 6944"/>
            </a:avLst>
          </a:prstGeom>
          <a:solidFill>
            <a:srgbClr val="D7E9E6"/>
          </a:solidFill>
          <a:ln/>
        </p:spPr>
        <p:txBody>
          <a:bodyPr/>
          <a:p/>
        </p:txBody>
      </p:sp>
      <p:sp>
        <p:nvSpPr>
          <p:cNvPr id="17" name="Text 15"/>
          <p:cNvSpPr txBox="1"/>
          <p:nvPr/>
        </p:nvSpPr>
        <p:spPr>
          <a:xfrm>
            <a:off x="4572000" y="2606040"/>
            <a:ext cx="3017520" cy="658368"/>
          </a:xfrm>
          <a:prstGeom prst="rect">
            <a:avLst/>
          </a:prstGeom>
          <a:noFill/>
          <a:ln/>
        </p:spPr>
        <p:txBody>
          <a:bodyPr wrap="square" lIns="38100" tIns="38100" rIns="38100" bIns="38100" rtlCol="0" anchor="ctr"/>
          <a:lstStyle/>
          <a:p>
            <a:pPr algn="ctr" indent="0" marL="0">
              <a:buNone/>
            </a:pPr>
            <a:r>
              <a:rPr lang="en-US" sz="1200" dirty="0">
                <a:solidFill>
                  <a:srgbClr val="212121"/>
                </a:solidFill>
                <a:latin typeface="Consolas" pitchFamily="34" charset="0"/>
                <a:ea typeface="Consolas" pitchFamily="34" charset="-122"/>
                <a:cs typeface="Consolas" pitchFamily="34" charset="-120"/>
              </a:rPr>
              <a:t>use the owner bits  rwx------</a:t>
            </a:r>
            <a:endParaRPr lang="en-US" sz="1200" dirty="0"/>
          </a:p>
        </p:txBody>
      </p:sp>
      <p:sp>
        <p:nvSpPr>
          <p:cNvPr id="18" name="Shape 16"/>
          <p:cNvSpPr/>
          <p:nvPr/>
        </p:nvSpPr>
        <p:spPr>
          <a:xfrm>
            <a:off x="3767328" y="2935224"/>
            <a:ext cx="786384" cy="91"/>
          </a:xfrm>
          <a:prstGeom prst="line">
            <a:avLst/>
          </a:prstGeom>
          <a:noFill/>
          <a:ln w="25400">
            <a:solidFill>
              <a:srgbClr val="028090"/>
            </a:solidFill>
            <a:prstDash val="solid"/>
            <a:tailEnd type="triangle"/>
          </a:ln>
        </p:spPr>
        <p:txBody>
          <a:bodyPr/>
          <a:p/>
        </p:txBody>
      </p:sp>
      <p:sp>
        <p:nvSpPr>
          <p:cNvPr id="19" name="Text 17"/>
          <p:cNvSpPr txBox="1"/>
          <p:nvPr/>
        </p:nvSpPr>
        <p:spPr>
          <a:xfrm>
            <a:off x="3840480" y="2624328"/>
            <a:ext cx="731520" cy="274320"/>
          </a:xfrm>
          <a:prstGeom prst="rect">
            <a:avLst/>
          </a:prstGeom>
          <a:noFill/>
          <a:ln/>
        </p:spPr>
        <p:txBody>
          <a:bodyPr wrap="square" lIns="0" tIns="0" rIns="0" bIns="0" rtlCol="0" anchor="t"/>
          <a:lstStyle/>
          <a:p>
            <a:pPr algn="ctr" indent="0" marL="0">
              <a:buNone/>
            </a:pPr>
            <a:r>
              <a:rPr lang="en-US" sz="1100" b="1" dirty="0">
                <a:solidFill>
                  <a:srgbClr val="028090"/>
                </a:solidFill>
                <a:latin typeface="Calibri" pitchFamily="34" charset="0"/>
                <a:ea typeface="Calibri" pitchFamily="34" charset="-122"/>
                <a:cs typeface="Calibri" pitchFamily="34" charset="-120"/>
              </a:rPr>
              <a:t>yes</a:t>
            </a:r>
            <a:endParaRPr lang="en-US" sz="1100" dirty="0"/>
          </a:p>
        </p:txBody>
      </p:sp>
      <p:sp>
        <p:nvSpPr>
          <p:cNvPr id="20" name="Shape 18"/>
          <p:cNvSpPr/>
          <p:nvPr/>
        </p:nvSpPr>
        <p:spPr>
          <a:xfrm>
            <a:off x="2148840" y="3282696"/>
            <a:ext cx="91" cy="310896"/>
          </a:xfrm>
          <a:prstGeom prst="line">
            <a:avLst/>
          </a:prstGeom>
          <a:noFill/>
          <a:ln w="25400">
            <a:solidFill>
              <a:srgbClr val="50808E"/>
            </a:solidFill>
            <a:prstDash val="solid"/>
            <a:tailEnd type="triangle"/>
          </a:ln>
        </p:spPr>
        <p:txBody>
          <a:bodyPr/>
          <a:p/>
        </p:txBody>
      </p:sp>
      <p:sp>
        <p:nvSpPr>
          <p:cNvPr id="21" name="Text 19"/>
          <p:cNvSpPr txBox="1"/>
          <p:nvPr/>
        </p:nvSpPr>
        <p:spPr>
          <a:xfrm>
            <a:off x="2240280" y="3310128"/>
            <a:ext cx="457200" cy="274320"/>
          </a:xfrm>
          <a:prstGeom prst="rect">
            <a:avLst/>
          </a:prstGeom>
          <a:noFill/>
          <a:ln/>
        </p:spPr>
        <p:txBody>
          <a:bodyPr wrap="square" lIns="0" tIns="0" rIns="0" bIns="0" rtlCol="0" anchor="t"/>
          <a:lstStyle/>
          <a:p>
            <a:pPr indent="0" marL="0">
              <a:buNone/>
            </a:pPr>
            <a:r>
              <a:rPr lang="en-US" sz="1100" b="1" dirty="0">
                <a:solidFill>
                  <a:srgbClr val="50808E"/>
                </a:solidFill>
                <a:latin typeface="Calibri" pitchFamily="34" charset="0"/>
                <a:ea typeface="Calibri" pitchFamily="34" charset="-122"/>
                <a:cs typeface="Calibri" pitchFamily="34" charset="-120"/>
              </a:rPr>
              <a:t>no</a:t>
            </a:r>
            <a:endParaRPr lang="en-US" sz="1100" dirty="0"/>
          </a:p>
        </p:txBody>
      </p:sp>
      <p:sp>
        <p:nvSpPr>
          <p:cNvPr id="22" name="Shape 20"/>
          <p:cNvSpPr/>
          <p:nvPr/>
        </p:nvSpPr>
        <p:spPr>
          <a:xfrm>
            <a:off x="548640" y="3611880"/>
            <a:ext cx="3200400" cy="658368"/>
          </a:xfrm>
          <a:prstGeom prst="roundRect">
            <a:avLst>
              <a:gd name="adj" fmla="val 6944"/>
            </a:avLst>
          </a:prstGeom>
          <a:solidFill>
            <a:srgbClr val="36454F"/>
          </a:solidFill>
          <a:ln/>
        </p:spPr>
        <p:txBody>
          <a:bodyPr/>
          <a:p/>
        </p:txBody>
      </p:sp>
      <p:sp>
        <p:nvSpPr>
          <p:cNvPr id="23" name="Text 21"/>
          <p:cNvSpPr txBox="1"/>
          <p:nvPr/>
        </p:nvSpPr>
        <p:spPr>
          <a:xfrm>
            <a:off x="548640" y="3611880"/>
            <a:ext cx="3200400" cy="658368"/>
          </a:xfrm>
          <a:prstGeom prst="rect">
            <a:avLst/>
          </a:prstGeom>
          <a:noFill/>
          <a:ln/>
        </p:spPr>
        <p:txBody>
          <a:bodyPr wrap="square" lIns="38100" tIns="38100" rIns="38100" bIns="3810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Is the file's group one of its groups?</a:t>
            </a:r>
            <a:endParaRPr lang="en-US" sz="1350" dirty="0"/>
          </a:p>
        </p:txBody>
      </p:sp>
      <p:sp>
        <p:nvSpPr>
          <p:cNvPr id="24" name="Shape 22"/>
          <p:cNvSpPr/>
          <p:nvPr/>
        </p:nvSpPr>
        <p:spPr>
          <a:xfrm>
            <a:off x="4572000" y="3611880"/>
            <a:ext cx="3017520" cy="658368"/>
          </a:xfrm>
          <a:prstGeom prst="roundRect">
            <a:avLst>
              <a:gd name="adj" fmla="val 6944"/>
            </a:avLst>
          </a:prstGeom>
          <a:solidFill>
            <a:srgbClr val="D7E9E6"/>
          </a:solidFill>
          <a:ln/>
        </p:spPr>
        <p:txBody>
          <a:bodyPr/>
          <a:p/>
        </p:txBody>
      </p:sp>
      <p:sp>
        <p:nvSpPr>
          <p:cNvPr id="25" name="Text 23"/>
          <p:cNvSpPr txBox="1"/>
          <p:nvPr/>
        </p:nvSpPr>
        <p:spPr>
          <a:xfrm>
            <a:off x="4572000" y="3611880"/>
            <a:ext cx="3017520" cy="658368"/>
          </a:xfrm>
          <a:prstGeom prst="rect">
            <a:avLst/>
          </a:prstGeom>
          <a:noFill/>
          <a:ln/>
        </p:spPr>
        <p:txBody>
          <a:bodyPr wrap="square" lIns="38100" tIns="38100" rIns="38100" bIns="38100" rtlCol="0" anchor="ctr"/>
          <a:lstStyle/>
          <a:p>
            <a:pPr algn="ctr" indent="0" marL="0">
              <a:buNone/>
            </a:pPr>
            <a:r>
              <a:rPr lang="en-US" sz="1200" dirty="0">
                <a:solidFill>
                  <a:srgbClr val="212121"/>
                </a:solidFill>
                <a:latin typeface="Consolas" pitchFamily="34" charset="0"/>
                <a:ea typeface="Consolas" pitchFamily="34" charset="-122"/>
                <a:cs typeface="Consolas" pitchFamily="34" charset="-120"/>
              </a:rPr>
              <a:t>use the group bits  ---rwx---</a:t>
            </a:r>
            <a:endParaRPr lang="en-US" sz="1200" dirty="0"/>
          </a:p>
        </p:txBody>
      </p:sp>
      <p:sp>
        <p:nvSpPr>
          <p:cNvPr id="26" name="Shape 24"/>
          <p:cNvSpPr/>
          <p:nvPr/>
        </p:nvSpPr>
        <p:spPr>
          <a:xfrm>
            <a:off x="3767328" y="3941064"/>
            <a:ext cx="786384" cy="91"/>
          </a:xfrm>
          <a:prstGeom prst="line">
            <a:avLst/>
          </a:prstGeom>
          <a:noFill/>
          <a:ln w="25400">
            <a:solidFill>
              <a:srgbClr val="028090"/>
            </a:solidFill>
            <a:prstDash val="solid"/>
            <a:tailEnd type="triangle"/>
          </a:ln>
        </p:spPr>
        <p:txBody>
          <a:bodyPr/>
          <a:p/>
        </p:txBody>
      </p:sp>
      <p:sp>
        <p:nvSpPr>
          <p:cNvPr id="27" name="Text 25"/>
          <p:cNvSpPr txBox="1"/>
          <p:nvPr/>
        </p:nvSpPr>
        <p:spPr>
          <a:xfrm>
            <a:off x="3840480" y="3630168"/>
            <a:ext cx="731520" cy="274320"/>
          </a:xfrm>
          <a:prstGeom prst="rect">
            <a:avLst/>
          </a:prstGeom>
          <a:noFill/>
          <a:ln/>
        </p:spPr>
        <p:txBody>
          <a:bodyPr wrap="square" lIns="0" tIns="0" rIns="0" bIns="0" rtlCol="0" anchor="t"/>
          <a:lstStyle/>
          <a:p>
            <a:pPr algn="ctr" indent="0" marL="0">
              <a:buNone/>
            </a:pPr>
            <a:r>
              <a:rPr lang="en-US" sz="1100" b="1" dirty="0">
                <a:solidFill>
                  <a:srgbClr val="028090"/>
                </a:solidFill>
                <a:latin typeface="Calibri" pitchFamily="34" charset="0"/>
                <a:ea typeface="Calibri" pitchFamily="34" charset="-122"/>
                <a:cs typeface="Calibri" pitchFamily="34" charset="-120"/>
              </a:rPr>
              <a:t>yes</a:t>
            </a:r>
            <a:endParaRPr lang="en-US" sz="1100" dirty="0"/>
          </a:p>
        </p:txBody>
      </p:sp>
      <p:sp>
        <p:nvSpPr>
          <p:cNvPr id="28" name="Shape 26"/>
          <p:cNvSpPr/>
          <p:nvPr/>
        </p:nvSpPr>
        <p:spPr>
          <a:xfrm>
            <a:off x="2148840" y="4288536"/>
            <a:ext cx="91" cy="310896"/>
          </a:xfrm>
          <a:prstGeom prst="line">
            <a:avLst/>
          </a:prstGeom>
          <a:noFill/>
          <a:ln w="25400">
            <a:solidFill>
              <a:srgbClr val="50808E"/>
            </a:solidFill>
            <a:prstDash val="solid"/>
            <a:tailEnd type="triangle"/>
          </a:ln>
        </p:spPr>
        <p:txBody>
          <a:bodyPr/>
          <a:p/>
        </p:txBody>
      </p:sp>
      <p:sp>
        <p:nvSpPr>
          <p:cNvPr id="29" name="Text 27"/>
          <p:cNvSpPr txBox="1"/>
          <p:nvPr/>
        </p:nvSpPr>
        <p:spPr>
          <a:xfrm>
            <a:off x="2240280" y="4315968"/>
            <a:ext cx="457200" cy="274320"/>
          </a:xfrm>
          <a:prstGeom prst="rect">
            <a:avLst/>
          </a:prstGeom>
          <a:noFill/>
          <a:ln/>
        </p:spPr>
        <p:txBody>
          <a:bodyPr wrap="square" lIns="0" tIns="0" rIns="0" bIns="0" rtlCol="0" anchor="t"/>
          <a:lstStyle/>
          <a:p>
            <a:pPr indent="0" marL="0">
              <a:buNone/>
            </a:pPr>
            <a:r>
              <a:rPr lang="en-US" sz="1100" b="1" dirty="0">
                <a:solidFill>
                  <a:srgbClr val="50808E"/>
                </a:solidFill>
                <a:latin typeface="Calibri" pitchFamily="34" charset="0"/>
                <a:ea typeface="Calibri" pitchFamily="34" charset="-122"/>
                <a:cs typeface="Calibri" pitchFamily="34" charset="-120"/>
              </a:rPr>
              <a:t>no</a:t>
            </a:r>
            <a:endParaRPr lang="en-US" sz="1100" dirty="0"/>
          </a:p>
        </p:txBody>
      </p:sp>
      <p:sp>
        <p:nvSpPr>
          <p:cNvPr id="30" name="Shape 28"/>
          <p:cNvSpPr/>
          <p:nvPr/>
        </p:nvSpPr>
        <p:spPr>
          <a:xfrm>
            <a:off x="548640" y="4617720"/>
            <a:ext cx="3200400" cy="658368"/>
          </a:xfrm>
          <a:prstGeom prst="roundRect">
            <a:avLst>
              <a:gd name="adj" fmla="val 6944"/>
            </a:avLst>
          </a:prstGeom>
          <a:solidFill>
            <a:srgbClr val="F2F2F2"/>
          </a:solidFill>
          <a:ln/>
        </p:spPr>
        <p:txBody>
          <a:bodyPr/>
          <a:p/>
        </p:txBody>
      </p:sp>
      <p:sp>
        <p:nvSpPr>
          <p:cNvPr id="31" name="Text 29"/>
          <p:cNvSpPr txBox="1"/>
          <p:nvPr/>
        </p:nvSpPr>
        <p:spPr>
          <a:xfrm>
            <a:off x="548640" y="4617720"/>
            <a:ext cx="3200400" cy="658368"/>
          </a:xfrm>
          <a:prstGeom prst="rect">
            <a:avLst/>
          </a:prstGeom>
          <a:noFill/>
          <a:ln/>
        </p:spPr>
        <p:txBody>
          <a:bodyPr wrap="square" lIns="38100" tIns="38100" rIns="38100" bIns="38100" rtlCol="0" anchor="ctr"/>
          <a:lstStyle/>
          <a:p>
            <a:pPr algn="ctr" indent="0" marL="0">
              <a:buNone/>
            </a:pPr>
            <a:r>
              <a:rPr lang="en-US" sz="1350" b="1" dirty="0">
                <a:solidFill>
                  <a:srgbClr val="36454F"/>
                </a:solidFill>
                <a:latin typeface="Calibri" pitchFamily="34" charset="0"/>
                <a:ea typeface="Calibri" pitchFamily="34" charset="-122"/>
                <a:cs typeface="Calibri" pitchFamily="34" charset="-120"/>
              </a:rPr>
              <a:t>Otherwise …</a:t>
            </a:r>
            <a:endParaRPr lang="en-US" sz="1350" dirty="0"/>
          </a:p>
        </p:txBody>
      </p:sp>
      <p:sp>
        <p:nvSpPr>
          <p:cNvPr id="32" name="Shape 30"/>
          <p:cNvSpPr/>
          <p:nvPr/>
        </p:nvSpPr>
        <p:spPr>
          <a:xfrm>
            <a:off x="4572000" y="4617720"/>
            <a:ext cx="3017520" cy="658368"/>
          </a:xfrm>
          <a:prstGeom prst="roundRect">
            <a:avLst>
              <a:gd name="adj" fmla="val 6944"/>
            </a:avLst>
          </a:prstGeom>
          <a:solidFill>
            <a:srgbClr val="D7E9E6"/>
          </a:solidFill>
          <a:ln/>
        </p:spPr>
        <p:txBody>
          <a:bodyPr/>
          <a:p/>
        </p:txBody>
      </p:sp>
      <p:sp>
        <p:nvSpPr>
          <p:cNvPr id="33" name="Text 31"/>
          <p:cNvSpPr txBox="1"/>
          <p:nvPr/>
        </p:nvSpPr>
        <p:spPr>
          <a:xfrm>
            <a:off x="4572000" y="4617720"/>
            <a:ext cx="3017520" cy="658368"/>
          </a:xfrm>
          <a:prstGeom prst="rect">
            <a:avLst/>
          </a:prstGeom>
          <a:noFill/>
          <a:ln/>
        </p:spPr>
        <p:txBody>
          <a:bodyPr wrap="square" lIns="38100" tIns="38100" rIns="38100" bIns="38100" rtlCol="0" anchor="ctr"/>
          <a:lstStyle/>
          <a:p>
            <a:pPr algn="ctr" indent="0" marL="0">
              <a:buNone/>
            </a:pPr>
            <a:r>
              <a:rPr lang="en-US" sz="1200" dirty="0">
                <a:solidFill>
                  <a:srgbClr val="212121"/>
                </a:solidFill>
                <a:latin typeface="Consolas" pitchFamily="34" charset="0"/>
                <a:ea typeface="Consolas" pitchFamily="34" charset="-122"/>
                <a:cs typeface="Consolas" pitchFamily="34" charset="-120"/>
              </a:rPr>
              <a:t>use the others bits  ------rwx</a:t>
            </a:r>
            <a:endParaRPr lang="en-US" sz="1200" dirty="0"/>
          </a:p>
        </p:txBody>
      </p:sp>
      <p:sp>
        <p:nvSpPr>
          <p:cNvPr id="34" name="Shape 32"/>
          <p:cNvSpPr/>
          <p:nvPr/>
        </p:nvSpPr>
        <p:spPr>
          <a:xfrm>
            <a:off x="3767328" y="4946904"/>
            <a:ext cx="786384" cy="91"/>
          </a:xfrm>
          <a:prstGeom prst="line">
            <a:avLst/>
          </a:prstGeom>
          <a:noFill/>
          <a:ln w="25400">
            <a:solidFill>
              <a:srgbClr val="028090"/>
            </a:solidFill>
            <a:prstDash val="solid"/>
            <a:tailEnd type="triangle"/>
          </a:ln>
        </p:spPr>
        <p:txBody>
          <a:bodyPr/>
          <a:p/>
        </p:txBody>
      </p:sp>
      <p:sp>
        <p:nvSpPr>
          <p:cNvPr id="35" name="Text 33"/>
          <p:cNvSpPr txBox="1"/>
          <p:nvPr/>
        </p:nvSpPr>
        <p:spPr>
          <a:xfrm>
            <a:off x="548640" y="5486400"/>
            <a:ext cx="6949440" cy="365760"/>
          </a:xfrm>
          <a:prstGeom prst="rect">
            <a:avLst/>
          </a:prstGeom>
          <a:noFill/>
          <a:ln/>
        </p:spPr>
        <p:txBody>
          <a:bodyPr wrap="square" lIns="0" tIns="0" rIns="0" bIns="0" rtlCol="0" anchor="t"/>
          <a:lstStyle/>
          <a:p>
            <a:pPr indent="0" marL="0">
              <a:buNone/>
            </a:pPr>
            <a:r>
              <a:rPr lang="en-US" sz="1350" i="1" dirty="0">
                <a:solidFill>
                  <a:srgbClr val="6B7679"/>
                </a:solidFill>
                <a:latin typeface="Calibri" pitchFamily="34" charset="0"/>
                <a:ea typeface="Calibri" pitchFamily="34" charset="-122"/>
                <a:cs typeface="Calibri" pitchFamily="34" charset="-120"/>
              </a:rPr>
              <a:t>The search stops at the first match.</a:t>
            </a:r>
            <a:endParaRPr lang="en-US" sz="1350" dirty="0"/>
          </a:p>
        </p:txBody>
      </p:sp>
      <p:sp>
        <p:nvSpPr>
          <p:cNvPr id="36" name="Shape 34"/>
          <p:cNvSpPr/>
          <p:nvPr/>
        </p:nvSpPr>
        <p:spPr>
          <a:xfrm>
            <a:off x="7726680" y="1600200"/>
            <a:ext cx="3931920" cy="2514600"/>
          </a:xfrm>
          <a:prstGeom prst="roundRect">
            <a:avLst>
              <a:gd name="adj" fmla="val 1818"/>
            </a:avLst>
          </a:prstGeom>
          <a:solidFill>
            <a:srgbClr val="212121"/>
          </a:solidFill>
          <a:ln/>
        </p:spPr>
        <p:txBody>
          <a:bodyPr/>
          <a:p/>
        </p:txBody>
      </p:sp>
      <p:sp>
        <p:nvSpPr>
          <p:cNvPr id="37" name="Text 35"/>
          <p:cNvSpPr txBox="1"/>
          <p:nvPr/>
        </p:nvSpPr>
        <p:spPr>
          <a:xfrm>
            <a:off x="7909560" y="1709928"/>
            <a:ext cx="3566160" cy="2295144"/>
          </a:xfrm>
          <a:prstGeom prst="rect">
            <a:avLst/>
          </a:prstGeom>
          <a:noFill/>
          <a:ln/>
        </p:spPr>
        <p:txBody>
          <a:bodyPr wrap="square" lIns="0" tIns="0" rIns="0" bIns="0" rtlCol="0" anchor="t"/>
          <a:lstStyle/>
          <a:p>
            <a:pPr indent="0" marL="0">
              <a:lnSpc>
                <a:spcPct val="100000"/>
              </a:lnSpc>
              <a:buNone/>
            </a:pPr>
            <a:r>
              <a:rPr lang="en-US" sz="900" dirty="0">
                <a:solidFill>
                  <a:srgbClr val="02C39A"/>
                </a:solidFill>
                <a:latin typeface="Consolas" pitchFamily="34" charset="0"/>
                <a:ea typeface="Consolas" pitchFamily="34" charset="-122"/>
                <a:cs typeface="Consolas" pitchFamily="34" charset="-120"/>
              </a:rPr>
              <a:t>student@okan-lab:~/lab$ </a:t>
            </a:r>
            <a:r>
              <a:rPr lang="en-US" sz="900" b="1" dirty="0">
                <a:solidFill>
                  <a:srgbClr val="FFFFFF"/>
                </a:solidFill>
                <a:latin typeface="Consolas" pitchFamily="34" charset="0"/>
                <a:ea typeface="Consolas" pitchFamily="34" charset="-122"/>
                <a:cs typeface="Consolas" pitchFamily="34" charset="-120"/>
              </a:rPr>
              <a:t>echo "hello" &gt; me.txt</a:t>
            </a:r>
            <a:endParaRPr lang="en-US" sz="900" dirty="0"/>
          </a:p>
          <a:p>
            <a:pPr indent="0" marL="0">
              <a:lnSpc>
                <a:spcPct val="100000"/>
              </a:lnSpc>
              <a:buNone/>
            </a:pPr>
            <a:r>
              <a:rPr lang="en-US" sz="900" dirty="0">
                <a:solidFill>
                  <a:srgbClr val="02C39A"/>
                </a:solidFill>
                <a:latin typeface="Consolas" pitchFamily="34" charset="0"/>
                <a:ea typeface="Consolas" pitchFamily="34" charset="-122"/>
                <a:cs typeface="Consolas" pitchFamily="34" charset="-120"/>
              </a:rPr>
              <a:t>student@okan-lab:~/lab$ </a:t>
            </a:r>
            <a:r>
              <a:rPr lang="en-US" sz="900" b="1" dirty="0">
                <a:solidFill>
                  <a:srgbClr val="FFFFFF"/>
                </a:solidFill>
                <a:latin typeface="Consolas" pitchFamily="34" charset="0"/>
                <a:ea typeface="Consolas" pitchFamily="34" charset="-122"/>
                <a:cs typeface="Consolas" pitchFamily="34" charset="-120"/>
              </a:rPr>
              <a:t>chmod 074 me.txt</a:t>
            </a:r>
            <a:endParaRPr lang="en-US" sz="900" dirty="0"/>
          </a:p>
          <a:p>
            <a:pPr indent="0" marL="0">
              <a:lnSpc>
                <a:spcPct val="100000"/>
              </a:lnSpc>
              <a:buNone/>
            </a:pPr>
            <a:r>
              <a:rPr lang="en-US" sz="900" dirty="0">
                <a:solidFill>
                  <a:srgbClr val="02C39A"/>
                </a:solidFill>
                <a:latin typeface="Consolas" pitchFamily="34" charset="0"/>
                <a:ea typeface="Consolas" pitchFamily="34" charset="-122"/>
                <a:cs typeface="Consolas" pitchFamily="34" charset="-120"/>
              </a:rPr>
              <a:t>student@okan-lab:~/lab$ </a:t>
            </a:r>
            <a:r>
              <a:rPr lang="en-US" sz="900" b="1" dirty="0">
                <a:solidFill>
                  <a:srgbClr val="FFFFFF"/>
                </a:solidFill>
                <a:latin typeface="Consolas" pitchFamily="34" charset="0"/>
                <a:ea typeface="Consolas" pitchFamily="34" charset="-122"/>
                <a:cs typeface="Consolas" pitchFamily="34" charset="-120"/>
              </a:rPr>
              <a:t>ls -l me.txt</a:t>
            </a:r>
            <a:endParaRPr lang="en-US" sz="900" dirty="0"/>
          </a:p>
          <a:p>
            <a:pPr indent="0" marL="0">
              <a:lnSpc>
                <a:spcPct val="100000"/>
              </a:lnSpc>
              <a:buNone/>
            </a:pPr>
            <a:r>
              <a:rPr lang="en-US" sz="900" dirty="0">
                <a:solidFill>
                  <a:srgbClr val="F2F2F2"/>
                </a:solidFill>
                <a:latin typeface="Consolas" pitchFamily="34" charset="0"/>
                <a:ea typeface="Consolas" pitchFamily="34" charset="-122"/>
                <a:cs typeface="Consolas" pitchFamily="34" charset="-120"/>
              </a:rPr>
              <a:t>----rwxr-- 1 student student 6 Oct 12 19:38 me.txt</a:t>
            </a:r>
            <a:endParaRPr lang="en-US" sz="900" dirty="0"/>
          </a:p>
          <a:p>
            <a:pPr indent="0" marL="0">
              <a:lnSpc>
                <a:spcPct val="100000"/>
              </a:lnSpc>
              <a:buNone/>
            </a:pPr>
            <a:r>
              <a:rPr lang="en-US" sz="900" dirty="0">
                <a:solidFill>
                  <a:srgbClr val="02C39A"/>
                </a:solidFill>
                <a:latin typeface="Consolas" pitchFamily="34" charset="0"/>
                <a:ea typeface="Consolas" pitchFamily="34" charset="-122"/>
                <a:cs typeface="Consolas" pitchFamily="34" charset="-120"/>
              </a:rPr>
              <a:t>student@okan-lab:~/lab$ </a:t>
            </a:r>
            <a:r>
              <a:rPr lang="en-US" sz="900" b="1" dirty="0">
                <a:solidFill>
                  <a:srgbClr val="FFFFFF"/>
                </a:solidFill>
                <a:latin typeface="Consolas" pitchFamily="34" charset="0"/>
                <a:ea typeface="Consolas" pitchFamily="34" charset="-122"/>
                <a:cs typeface="Consolas" pitchFamily="34" charset="-120"/>
              </a:rPr>
              <a:t>cat me.txt</a:t>
            </a:r>
            <a:endParaRPr lang="en-US" sz="900" dirty="0"/>
          </a:p>
          <a:p>
            <a:pPr indent="0" marL="0">
              <a:lnSpc>
                <a:spcPct val="100000"/>
              </a:lnSpc>
              <a:buNone/>
            </a:pPr>
            <a:r>
              <a:rPr lang="en-US" sz="900" dirty="0">
                <a:solidFill>
                  <a:srgbClr val="F4A79D"/>
                </a:solidFill>
                <a:latin typeface="Consolas" pitchFamily="34" charset="0"/>
                <a:ea typeface="Consolas" pitchFamily="34" charset="-122"/>
                <a:cs typeface="Consolas" pitchFamily="34" charset="-120"/>
              </a:rPr>
              <a:t>cat: me.txt: Permission denied</a:t>
            </a:r>
            <a:endParaRPr lang="en-US" sz="900" dirty="0"/>
          </a:p>
          <a:p>
            <a:pPr indent="0" marL="0">
              <a:lnSpc>
                <a:spcPct val="100000"/>
              </a:lnSpc>
              <a:buNone/>
            </a:pPr>
            <a:r>
              <a:rPr lang="en-US" sz="900" dirty="0">
                <a:solidFill>
                  <a:srgbClr val="02C39A"/>
                </a:solidFill>
                <a:latin typeface="Consolas" pitchFamily="34" charset="0"/>
                <a:ea typeface="Consolas" pitchFamily="34" charset="-122"/>
                <a:cs typeface="Consolas" pitchFamily="34" charset="-120"/>
              </a:rPr>
              <a:t>student@okan-lab:~/lab$ </a:t>
            </a:r>
            <a:r>
              <a:rPr lang="en-US" sz="900" b="1" dirty="0">
                <a:solidFill>
                  <a:srgbClr val="FFFFFF"/>
                </a:solidFill>
                <a:latin typeface="Consolas" pitchFamily="34" charset="0"/>
                <a:ea typeface="Consolas" pitchFamily="34" charset="-122"/>
                <a:cs typeface="Consolas" pitchFamily="34" charset="-120"/>
              </a:rPr>
              <a:t>chmod 644 me.txt</a:t>
            </a:r>
            <a:endParaRPr lang="en-US" sz="900" dirty="0"/>
          </a:p>
          <a:p>
            <a:pPr indent="0" marL="0">
              <a:lnSpc>
                <a:spcPct val="100000"/>
              </a:lnSpc>
              <a:buNone/>
            </a:pPr>
            <a:r>
              <a:rPr lang="en-US" sz="900" dirty="0">
                <a:solidFill>
                  <a:srgbClr val="02C39A"/>
                </a:solidFill>
                <a:latin typeface="Consolas" pitchFamily="34" charset="0"/>
                <a:ea typeface="Consolas" pitchFamily="34" charset="-122"/>
                <a:cs typeface="Consolas" pitchFamily="34" charset="-120"/>
              </a:rPr>
              <a:t>student@okan-lab:~/lab$ </a:t>
            </a:r>
            <a:r>
              <a:rPr lang="en-US" sz="900" b="1" dirty="0">
                <a:solidFill>
                  <a:srgbClr val="FFFFFF"/>
                </a:solidFill>
                <a:latin typeface="Consolas" pitchFamily="34" charset="0"/>
                <a:ea typeface="Consolas" pitchFamily="34" charset="-122"/>
                <a:cs typeface="Consolas" pitchFamily="34" charset="-120"/>
              </a:rPr>
              <a:t>cat me.txt</a:t>
            </a:r>
            <a:endParaRPr lang="en-US" sz="900" dirty="0"/>
          </a:p>
          <a:p>
            <a:pPr indent="0" marL="0">
              <a:lnSpc>
                <a:spcPct val="100000"/>
              </a:lnSpc>
              <a:buNone/>
            </a:pPr>
            <a:r>
              <a:rPr lang="en-US" sz="900" dirty="0">
                <a:solidFill>
                  <a:srgbClr val="F2F2F2"/>
                </a:solidFill>
                <a:latin typeface="Consolas" pitchFamily="34" charset="0"/>
                <a:ea typeface="Consolas" pitchFamily="34" charset="-122"/>
                <a:cs typeface="Consolas" pitchFamily="34" charset="-120"/>
              </a:rPr>
              <a:t>hello</a:t>
            </a:r>
            <a:endParaRPr lang="en-US" sz="900" dirty="0"/>
          </a:p>
        </p:txBody>
      </p:sp>
      <p:sp>
        <p:nvSpPr>
          <p:cNvPr id="38" name="Shape 36"/>
          <p:cNvSpPr/>
          <p:nvPr/>
        </p:nvSpPr>
        <p:spPr>
          <a:xfrm>
            <a:off x="7726680" y="4297680"/>
            <a:ext cx="3931920" cy="1965960"/>
          </a:xfrm>
          <a:prstGeom prst="roundRect">
            <a:avLst>
              <a:gd name="adj" fmla="val 27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9" name="Text 37"/>
          <p:cNvSpPr txBox="1"/>
          <p:nvPr/>
        </p:nvSpPr>
        <p:spPr>
          <a:xfrm>
            <a:off x="7955280" y="4480560"/>
            <a:ext cx="3474720" cy="384048"/>
          </a:xfrm>
          <a:prstGeom prst="rect">
            <a:avLst/>
          </a:prstGeom>
          <a:noFill/>
          <a:ln/>
        </p:spPr>
        <p:txBody>
          <a:bodyPr wrap="square" lIns="0" tIns="0" rIns="0" bIns="0" rtlCol="0" anchor="ctr"/>
          <a:lstStyle/>
          <a:p>
            <a:pPr indent="0" marL="0">
              <a:buNone/>
            </a:pPr>
            <a:r>
              <a:rPr lang="en-US" sz="1500" b="1" dirty="0">
                <a:solidFill>
                  <a:srgbClr val="B5453A"/>
                </a:solidFill>
                <a:latin typeface="Cambria" pitchFamily="34" charset="0"/>
                <a:ea typeface="Cambria" pitchFamily="34" charset="-122"/>
                <a:cs typeface="Cambria" pitchFamily="34" charset="-120"/>
              </a:rPr>
              <a:t>Surprise</a:t>
            </a:r>
            <a:endParaRPr lang="en-US" sz="1500" dirty="0"/>
          </a:p>
        </p:txBody>
      </p:sp>
      <p:sp>
        <p:nvSpPr>
          <p:cNvPr id="40" name="Text 38"/>
          <p:cNvSpPr txBox="1"/>
          <p:nvPr/>
        </p:nvSpPr>
        <p:spPr>
          <a:xfrm>
            <a:off x="7955280" y="4937760"/>
            <a:ext cx="3474720" cy="1188720"/>
          </a:xfrm>
          <a:prstGeom prst="rect">
            <a:avLst/>
          </a:prstGeom>
          <a:noFill/>
          <a:ln/>
        </p:spPr>
        <p:txBody>
          <a:bodyPr wrap="square" lIns="0" tIns="0" rIns="0" bIns="0" rtlCol="0" anchor="t"/>
          <a:lstStyle/>
          <a:p>
            <a:pPr indent="0" marL="0">
              <a:spcAft>
                <a:spcPts val="400"/>
              </a:spcAft>
              <a:buNone/>
            </a:pPr>
            <a:r>
              <a:rPr lang="en-US" sz="1300" dirty="0">
                <a:solidFill>
                  <a:srgbClr val="3A464C"/>
                </a:solidFill>
                <a:latin typeface="Calibri" pitchFamily="34" charset="0"/>
                <a:ea typeface="Calibri" pitchFamily="34" charset="-122"/>
                <a:cs typeface="Calibri" pitchFamily="34" charset="-120"/>
              </a:rPr>
              <a:t>The owner bits are ---, so the owner is refused even though everybody else may read. The kernel never "falls through" to the other classes.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Reading Permissions with ls -l, ls -ld and stat</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12</a:t>
            </a:r>
            <a:endParaRPr lang="en-US" sz="900" dirty="0"/>
          </a:p>
        </p:txBody>
      </p:sp>
      <p:sp>
        <p:nvSpPr>
          <p:cNvPr id="6" name="Shape 4"/>
          <p:cNvSpPr/>
          <p:nvPr/>
        </p:nvSpPr>
        <p:spPr>
          <a:xfrm>
            <a:off x="548640" y="1508760"/>
            <a:ext cx="7589520" cy="4754880"/>
          </a:xfrm>
          <a:prstGeom prst="roundRect">
            <a:avLst>
              <a:gd name="adj" fmla="val 962"/>
            </a:avLst>
          </a:prstGeom>
          <a:solidFill>
            <a:srgbClr val="212121"/>
          </a:solidFill>
          <a:ln/>
        </p:spPr>
        <p:txBody>
          <a:bodyPr/>
          <a:p/>
        </p:txBody>
      </p:sp>
      <p:sp>
        <p:nvSpPr>
          <p:cNvPr id="7" name="Text 5"/>
          <p:cNvSpPr txBox="1"/>
          <p:nvPr/>
        </p:nvSpPr>
        <p:spPr>
          <a:xfrm>
            <a:off x="731520" y="1618488"/>
            <a:ext cx="7223760" cy="4535424"/>
          </a:xfrm>
          <a:prstGeom prst="rect">
            <a:avLst/>
          </a:prstGeom>
          <a:noFill/>
          <a:ln/>
        </p:spPr>
        <p:txBody>
          <a:bodyPr wrap="square" lIns="0" tIns="0" rIns="0" bIns="0" rtlCol="0" anchor="t"/>
          <a:lstStyle/>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ls -l docs</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total 24</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-rw-rw-r-- 1 student student  53 Oct 12 19:38 'final report.txt'</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-rw-rw-r-- 1 student student 302 Oct 12 19:38  linux_quotes.txt</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-rw-rw-r-- 1 student student  16 Oct 12 19:38  notes_01.txt</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-rw-rw-r-- 1 student student  16 Oct 12 19:38  notes_02.txt</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-rw-rw-r-- 1 student student  16 Oct 12 19:38  notes_03.txt</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-rw-rw-r-- 1 student student 578 Oct 12 19:38  syllabus.txt</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ls -ld docs</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drwxrwxr-x 2 student student 4096 Oct 12 19:38 docs</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stat docs/syllabus.txt</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  File: docs/syllabus.txt</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  Size: 578       	Blocks: 8          IO Block: 4096   regular file</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Device: 254,0	Inode: 804012      Links: 1</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Access: (0664/-rw-rw-r--)  Uid: ( 1011/ student)   Gid: ( 1013/ student)</a:t>
            </a:r>
            <a:endParaRPr lang="en-US" sz="1050" dirty="0"/>
          </a:p>
          <a:p>
            <a:pPr indent="0" marL="0">
              <a:lnSpc>
                <a:spcPct val="100000"/>
              </a:lnSpc>
              <a:buNone/>
            </a:pPr>
            <a:r>
              <a:rPr lang="en-US" sz="1050" dirty="0">
                <a:solidFill>
                  <a:srgbClr val="8A9AA0"/>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stat -c '%A  %a  %U  %G  %n' docs/syllabus.txt docs src/hello.c</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-rw-rw-r--  664  student  student  docs/syllabus.txt</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drwxrwxr-x  775  student  student  docs</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-rw-rw-r--  664  student  student  src/hello.c</a:t>
            </a:r>
            <a:endParaRPr lang="en-US" sz="1050" dirty="0"/>
          </a:p>
        </p:txBody>
      </p:sp>
      <p:sp>
        <p:nvSpPr>
          <p:cNvPr id="8" name="Shape 6"/>
          <p:cNvSpPr/>
          <p:nvPr/>
        </p:nvSpPr>
        <p:spPr>
          <a:xfrm>
            <a:off x="8366760" y="1508760"/>
            <a:ext cx="3291840" cy="4754880"/>
          </a:xfrm>
          <a:prstGeom prst="roundRect">
            <a:avLst>
              <a:gd name="adj" fmla="val 166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595360" y="1691640"/>
            <a:ext cx="28346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8595360" y="2148840"/>
            <a:ext cx="2834640" cy="397764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ls -l docs lists the files INSIDE; ls -ld docs shows the directory itself.</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stat prints the mode twice: 0664 and -rw-rw-r--.</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stat -c with %A %a %U %G %n prints just what we need.</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New files: 664, new directories: 775 — why? See umask, Part 4.</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2</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Changing Permissions: chmod</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Two ways to say the same thing: letters (u+x) or numbers (754).</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11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CHMOD · SYMBOLIC</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chmod  who  operator  permissions  file …</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14</a:t>
            </a:r>
            <a:endParaRPr lang="en-US" sz="900" dirty="0"/>
          </a:p>
        </p:txBody>
      </p:sp>
      <p:sp>
        <p:nvSpPr>
          <p:cNvPr id="6" name="Text 4"/>
          <p:cNvSpPr txBox="1"/>
          <p:nvPr/>
        </p:nvSpPr>
        <p:spPr>
          <a:xfrm>
            <a:off x="548640" y="1508760"/>
            <a:ext cx="1783080" cy="320040"/>
          </a:xfrm>
          <a:prstGeom prst="rect">
            <a:avLst/>
          </a:prstGeom>
          <a:noFill/>
          <a:ln/>
        </p:spPr>
        <p:txBody>
          <a:bodyPr wrap="square" lIns="0" tIns="0" rIns="0" bIns="0" rtlCol="0" anchor="t"/>
          <a:lstStyle/>
          <a:p>
            <a:pPr algn="ctr" indent="0" marL="0">
              <a:buNone/>
            </a:pPr>
            <a:r>
              <a:rPr lang="en-US" sz="1400" b="1" dirty="0">
                <a:solidFill>
                  <a:srgbClr val="028090"/>
                </a:solidFill>
                <a:latin typeface="Calibri" pitchFamily="34" charset="0"/>
                <a:ea typeface="Calibri" pitchFamily="34" charset="-122"/>
                <a:cs typeface="Calibri" pitchFamily="34" charset="-120"/>
              </a:rPr>
              <a:t>who</a:t>
            </a:r>
            <a:endParaRPr lang="en-US" sz="1400" dirty="0"/>
          </a:p>
        </p:txBody>
      </p:sp>
      <p:sp>
        <p:nvSpPr>
          <p:cNvPr id="7" name="Shape 5"/>
          <p:cNvSpPr/>
          <p:nvPr/>
        </p:nvSpPr>
        <p:spPr>
          <a:xfrm>
            <a:off x="548640" y="1874520"/>
            <a:ext cx="566928" cy="548640"/>
          </a:xfrm>
          <a:prstGeom prst="roundRect">
            <a:avLst>
              <a:gd name="adj" fmla="val 8333"/>
            </a:avLst>
          </a:prstGeom>
          <a:solidFill>
            <a:srgbClr val="36454F"/>
          </a:solidFill>
          <a:ln/>
        </p:spPr>
        <p:txBody>
          <a:bodyPr/>
          <a:p/>
        </p:txBody>
      </p:sp>
      <p:sp>
        <p:nvSpPr>
          <p:cNvPr id="8" name="Text 6"/>
          <p:cNvSpPr txBox="1"/>
          <p:nvPr/>
        </p:nvSpPr>
        <p:spPr>
          <a:xfrm>
            <a:off x="548640" y="1874520"/>
            <a:ext cx="566928" cy="548640"/>
          </a:xfrm>
          <a:prstGeom prst="rect">
            <a:avLst/>
          </a:prstGeom>
          <a:noFill/>
          <a:ln/>
        </p:spPr>
        <p:txBody>
          <a:bodyPr wrap="square" lIns="38100" tIns="38100" rIns="38100" bIns="38100" rtlCol="0" anchor="ctr"/>
          <a:lstStyle/>
          <a:p>
            <a:pPr algn="ctr" indent="0" marL="0">
              <a:buNone/>
            </a:pPr>
            <a:r>
              <a:rPr lang="en-US" sz="2000" b="1" dirty="0">
                <a:solidFill>
                  <a:srgbClr val="02C39A"/>
                </a:solidFill>
                <a:latin typeface="Consolas" pitchFamily="34" charset="0"/>
                <a:ea typeface="Consolas" pitchFamily="34" charset="-122"/>
                <a:cs typeface="Consolas" pitchFamily="34" charset="-120"/>
              </a:rPr>
              <a:t>u</a:t>
            </a:r>
            <a:endParaRPr lang="en-US" sz="2000" dirty="0"/>
          </a:p>
        </p:txBody>
      </p:sp>
      <p:sp>
        <p:nvSpPr>
          <p:cNvPr id="9" name="Text 7"/>
          <p:cNvSpPr txBox="1"/>
          <p:nvPr/>
        </p:nvSpPr>
        <p:spPr>
          <a:xfrm>
            <a:off x="1188720" y="1874520"/>
            <a:ext cx="1188720" cy="548640"/>
          </a:xfrm>
          <a:prstGeom prst="rect">
            <a:avLst/>
          </a:prstGeom>
          <a:noFill/>
          <a:ln/>
        </p:spPr>
        <p:txBody>
          <a:bodyPr wrap="square" lIns="0" tIns="0" rIns="0" bIns="0" rtlCol="0" anchor="ctr"/>
          <a:lstStyle/>
          <a:p>
            <a:pPr indent="0" marL="0">
              <a:buNone/>
            </a:pPr>
            <a:r>
              <a:rPr lang="en-US" sz="1300" dirty="0">
                <a:solidFill>
                  <a:srgbClr val="3A464C"/>
                </a:solidFill>
                <a:latin typeface="Calibri" pitchFamily="34" charset="0"/>
                <a:ea typeface="Calibri" pitchFamily="34" charset="-122"/>
                <a:cs typeface="Calibri" pitchFamily="34" charset="-120"/>
              </a:rPr>
              <a:t>user = owner</a:t>
            </a:r>
            <a:endParaRPr lang="en-US" sz="1300" dirty="0"/>
          </a:p>
        </p:txBody>
      </p:sp>
      <p:sp>
        <p:nvSpPr>
          <p:cNvPr id="10" name="Shape 8"/>
          <p:cNvSpPr/>
          <p:nvPr/>
        </p:nvSpPr>
        <p:spPr>
          <a:xfrm>
            <a:off x="548640" y="2532888"/>
            <a:ext cx="566928" cy="548640"/>
          </a:xfrm>
          <a:prstGeom prst="roundRect">
            <a:avLst>
              <a:gd name="adj" fmla="val 8333"/>
            </a:avLst>
          </a:prstGeom>
          <a:solidFill>
            <a:srgbClr val="36454F"/>
          </a:solidFill>
          <a:ln/>
        </p:spPr>
        <p:txBody>
          <a:bodyPr/>
          <a:p/>
        </p:txBody>
      </p:sp>
      <p:sp>
        <p:nvSpPr>
          <p:cNvPr id="11" name="Text 9"/>
          <p:cNvSpPr txBox="1"/>
          <p:nvPr/>
        </p:nvSpPr>
        <p:spPr>
          <a:xfrm>
            <a:off x="548640" y="2532888"/>
            <a:ext cx="566928" cy="548640"/>
          </a:xfrm>
          <a:prstGeom prst="rect">
            <a:avLst/>
          </a:prstGeom>
          <a:noFill/>
          <a:ln/>
        </p:spPr>
        <p:txBody>
          <a:bodyPr wrap="square" lIns="38100" tIns="38100" rIns="38100" bIns="38100" rtlCol="0" anchor="ctr"/>
          <a:lstStyle/>
          <a:p>
            <a:pPr algn="ctr" indent="0" marL="0">
              <a:buNone/>
            </a:pPr>
            <a:r>
              <a:rPr lang="en-US" sz="2000" b="1" dirty="0">
                <a:solidFill>
                  <a:srgbClr val="02C39A"/>
                </a:solidFill>
                <a:latin typeface="Consolas" pitchFamily="34" charset="0"/>
                <a:ea typeface="Consolas" pitchFamily="34" charset="-122"/>
                <a:cs typeface="Consolas" pitchFamily="34" charset="-120"/>
              </a:rPr>
              <a:t>g</a:t>
            </a:r>
            <a:endParaRPr lang="en-US" sz="2000" dirty="0"/>
          </a:p>
        </p:txBody>
      </p:sp>
      <p:sp>
        <p:nvSpPr>
          <p:cNvPr id="12" name="Text 10"/>
          <p:cNvSpPr txBox="1"/>
          <p:nvPr/>
        </p:nvSpPr>
        <p:spPr>
          <a:xfrm>
            <a:off x="1188720" y="2532888"/>
            <a:ext cx="1188720" cy="548640"/>
          </a:xfrm>
          <a:prstGeom prst="rect">
            <a:avLst/>
          </a:prstGeom>
          <a:noFill/>
          <a:ln/>
        </p:spPr>
        <p:txBody>
          <a:bodyPr wrap="square" lIns="0" tIns="0" rIns="0" bIns="0" rtlCol="0" anchor="ctr"/>
          <a:lstStyle/>
          <a:p>
            <a:pPr indent="0" marL="0">
              <a:buNone/>
            </a:pPr>
            <a:r>
              <a:rPr lang="en-US" sz="1300" dirty="0">
                <a:solidFill>
                  <a:srgbClr val="3A464C"/>
                </a:solidFill>
                <a:latin typeface="Calibri" pitchFamily="34" charset="0"/>
                <a:ea typeface="Calibri" pitchFamily="34" charset="-122"/>
                <a:cs typeface="Calibri" pitchFamily="34" charset="-120"/>
              </a:rPr>
              <a:t>group</a:t>
            </a:r>
            <a:endParaRPr lang="en-US" sz="1300" dirty="0"/>
          </a:p>
        </p:txBody>
      </p:sp>
      <p:sp>
        <p:nvSpPr>
          <p:cNvPr id="13" name="Shape 11"/>
          <p:cNvSpPr/>
          <p:nvPr/>
        </p:nvSpPr>
        <p:spPr>
          <a:xfrm>
            <a:off x="548640" y="3191256"/>
            <a:ext cx="566928" cy="548640"/>
          </a:xfrm>
          <a:prstGeom prst="roundRect">
            <a:avLst>
              <a:gd name="adj" fmla="val 8333"/>
            </a:avLst>
          </a:prstGeom>
          <a:solidFill>
            <a:srgbClr val="36454F"/>
          </a:solidFill>
          <a:ln/>
        </p:spPr>
        <p:txBody>
          <a:bodyPr/>
          <a:p/>
        </p:txBody>
      </p:sp>
      <p:sp>
        <p:nvSpPr>
          <p:cNvPr id="14" name="Text 12"/>
          <p:cNvSpPr txBox="1"/>
          <p:nvPr/>
        </p:nvSpPr>
        <p:spPr>
          <a:xfrm>
            <a:off x="548640" y="3191256"/>
            <a:ext cx="566928" cy="548640"/>
          </a:xfrm>
          <a:prstGeom prst="rect">
            <a:avLst/>
          </a:prstGeom>
          <a:noFill/>
          <a:ln/>
        </p:spPr>
        <p:txBody>
          <a:bodyPr wrap="square" lIns="38100" tIns="38100" rIns="38100" bIns="38100" rtlCol="0" anchor="ctr"/>
          <a:lstStyle/>
          <a:p>
            <a:pPr algn="ctr" indent="0" marL="0">
              <a:buNone/>
            </a:pPr>
            <a:r>
              <a:rPr lang="en-US" sz="2000" b="1" dirty="0">
                <a:solidFill>
                  <a:srgbClr val="02C39A"/>
                </a:solidFill>
                <a:latin typeface="Consolas" pitchFamily="34" charset="0"/>
                <a:ea typeface="Consolas" pitchFamily="34" charset="-122"/>
                <a:cs typeface="Consolas" pitchFamily="34" charset="-120"/>
              </a:rPr>
              <a:t>o</a:t>
            </a:r>
            <a:endParaRPr lang="en-US" sz="2000" dirty="0"/>
          </a:p>
        </p:txBody>
      </p:sp>
      <p:sp>
        <p:nvSpPr>
          <p:cNvPr id="15" name="Text 13"/>
          <p:cNvSpPr txBox="1"/>
          <p:nvPr/>
        </p:nvSpPr>
        <p:spPr>
          <a:xfrm>
            <a:off x="1188720" y="3191256"/>
            <a:ext cx="1188720" cy="548640"/>
          </a:xfrm>
          <a:prstGeom prst="rect">
            <a:avLst/>
          </a:prstGeom>
          <a:noFill/>
          <a:ln/>
        </p:spPr>
        <p:txBody>
          <a:bodyPr wrap="square" lIns="0" tIns="0" rIns="0" bIns="0" rtlCol="0" anchor="ctr"/>
          <a:lstStyle/>
          <a:p>
            <a:pPr indent="0" marL="0">
              <a:buNone/>
            </a:pPr>
            <a:r>
              <a:rPr lang="en-US" sz="1300" dirty="0">
                <a:solidFill>
                  <a:srgbClr val="3A464C"/>
                </a:solidFill>
                <a:latin typeface="Calibri" pitchFamily="34" charset="0"/>
                <a:ea typeface="Calibri" pitchFamily="34" charset="-122"/>
                <a:cs typeface="Calibri" pitchFamily="34" charset="-120"/>
              </a:rPr>
              <a:t>others</a:t>
            </a:r>
            <a:endParaRPr lang="en-US" sz="1300" dirty="0"/>
          </a:p>
        </p:txBody>
      </p:sp>
      <p:sp>
        <p:nvSpPr>
          <p:cNvPr id="16" name="Shape 14"/>
          <p:cNvSpPr/>
          <p:nvPr/>
        </p:nvSpPr>
        <p:spPr>
          <a:xfrm>
            <a:off x="548640" y="3849624"/>
            <a:ext cx="566928" cy="548640"/>
          </a:xfrm>
          <a:prstGeom prst="roundRect">
            <a:avLst>
              <a:gd name="adj" fmla="val 8333"/>
            </a:avLst>
          </a:prstGeom>
          <a:solidFill>
            <a:srgbClr val="36454F"/>
          </a:solidFill>
          <a:ln/>
        </p:spPr>
        <p:txBody>
          <a:bodyPr/>
          <a:p/>
        </p:txBody>
      </p:sp>
      <p:sp>
        <p:nvSpPr>
          <p:cNvPr id="17" name="Text 15"/>
          <p:cNvSpPr txBox="1"/>
          <p:nvPr/>
        </p:nvSpPr>
        <p:spPr>
          <a:xfrm>
            <a:off x="548640" y="3849624"/>
            <a:ext cx="566928" cy="548640"/>
          </a:xfrm>
          <a:prstGeom prst="rect">
            <a:avLst/>
          </a:prstGeom>
          <a:noFill/>
          <a:ln/>
        </p:spPr>
        <p:txBody>
          <a:bodyPr wrap="square" lIns="38100" tIns="38100" rIns="38100" bIns="38100" rtlCol="0" anchor="ctr"/>
          <a:lstStyle/>
          <a:p>
            <a:pPr algn="ctr" indent="0" marL="0">
              <a:buNone/>
            </a:pPr>
            <a:r>
              <a:rPr lang="en-US" sz="2000" b="1" dirty="0">
                <a:solidFill>
                  <a:srgbClr val="02C39A"/>
                </a:solidFill>
                <a:latin typeface="Consolas" pitchFamily="34" charset="0"/>
                <a:ea typeface="Consolas" pitchFamily="34" charset="-122"/>
                <a:cs typeface="Consolas" pitchFamily="34" charset="-120"/>
              </a:rPr>
              <a:t>a</a:t>
            </a:r>
            <a:endParaRPr lang="en-US" sz="2000" dirty="0"/>
          </a:p>
        </p:txBody>
      </p:sp>
      <p:sp>
        <p:nvSpPr>
          <p:cNvPr id="18" name="Text 16"/>
          <p:cNvSpPr txBox="1"/>
          <p:nvPr/>
        </p:nvSpPr>
        <p:spPr>
          <a:xfrm>
            <a:off x="1188720" y="3849624"/>
            <a:ext cx="1188720" cy="548640"/>
          </a:xfrm>
          <a:prstGeom prst="rect">
            <a:avLst/>
          </a:prstGeom>
          <a:noFill/>
          <a:ln/>
        </p:spPr>
        <p:txBody>
          <a:bodyPr wrap="square" lIns="0" tIns="0" rIns="0" bIns="0" rtlCol="0" anchor="ctr"/>
          <a:lstStyle/>
          <a:p>
            <a:pPr indent="0" marL="0">
              <a:buNone/>
            </a:pPr>
            <a:r>
              <a:rPr lang="en-US" sz="1300" dirty="0">
                <a:solidFill>
                  <a:srgbClr val="3A464C"/>
                </a:solidFill>
                <a:latin typeface="Calibri" pitchFamily="34" charset="0"/>
                <a:ea typeface="Calibri" pitchFamily="34" charset="-122"/>
                <a:cs typeface="Calibri" pitchFamily="34" charset="-120"/>
              </a:rPr>
              <a:t>all (= ugo)</a:t>
            </a:r>
            <a:endParaRPr lang="en-US" sz="1300" dirty="0"/>
          </a:p>
        </p:txBody>
      </p:sp>
      <p:sp>
        <p:nvSpPr>
          <p:cNvPr id="19" name="Text 17"/>
          <p:cNvSpPr txBox="1"/>
          <p:nvPr/>
        </p:nvSpPr>
        <p:spPr>
          <a:xfrm>
            <a:off x="2514600" y="1508760"/>
            <a:ext cx="1783080" cy="320040"/>
          </a:xfrm>
          <a:prstGeom prst="rect">
            <a:avLst/>
          </a:prstGeom>
          <a:noFill/>
          <a:ln/>
        </p:spPr>
        <p:txBody>
          <a:bodyPr wrap="square" lIns="0" tIns="0" rIns="0" bIns="0" rtlCol="0" anchor="t"/>
          <a:lstStyle/>
          <a:p>
            <a:pPr algn="ctr" indent="0" marL="0">
              <a:buNone/>
            </a:pPr>
            <a:r>
              <a:rPr lang="en-US" sz="1400" b="1" dirty="0">
                <a:solidFill>
                  <a:srgbClr val="028090"/>
                </a:solidFill>
                <a:latin typeface="Calibri" pitchFamily="34" charset="0"/>
                <a:ea typeface="Calibri" pitchFamily="34" charset="-122"/>
                <a:cs typeface="Calibri" pitchFamily="34" charset="-120"/>
              </a:rPr>
              <a:t>operator</a:t>
            </a:r>
            <a:endParaRPr lang="en-US" sz="1400" dirty="0"/>
          </a:p>
        </p:txBody>
      </p:sp>
      <p:sp>
        <p:nvSpPr>
          <p:cNvPr id="20" name="Shape 18"/>
          <p:cNvSpPr/>
          <p:nvPr/>
        </p:nvSpPr>
        <p:spPr>
          <a:xfrm>
            <a:off x="2514600" y="1874520"/>
            <a:ext cx="566928" cy="548640"/>
          </a:xfrm>
          <a:prstGeom prst="roundRect">
            <a:avLst>
              <a:gd name="adj" fmla="val 8333"/>
            </a:avLst>
          </a:prstGeom>
          <a:solidFill>
            <a:srgbClr val="36454F"/>
          </a:solidFill>
          <a:ln/>
        </p:spPr>
        <p:txBody>
          <a:bodyPr/>
          <a:p/>
        </p:txBody>
      </p:sp>
      <p:sp>
        <p:nvSpPr>
          <p:cNvPr id="21" name="Text 19"/>
          <p:cNvSpPr txBox="1"/>
          <p:nvPr/>
        </p:nvSpPr>
        <p:spPr>
          <a:xfrm>
            <a:off x="2514600" y="1874520"/>
            <a:ext cx="566928" cy="548640"/>
          </a:xfrm>
          <a:prstGeom prst="rect">
            <a:avLst/>
          </a:prstGeom>
          <a:noFill/>
          <a:ln/>
        </p:spPr>
        <p:txBody>
          <a:bodyPr wrap="square" lIns="38100" tIns="38100" rIns="38100" bIns="38100" rtlCol="0" anchor="ctr"/>
          <a:lstStyle/>
          <a:p>
            <a:pPr algn="ctr" indent="0" marL="0">
              <a:buNone/>
            </a:pPr>
            <a:r>
              <a:rPr lang="en-US" sz="2000" b="1" dirty="0">
                <a:solidFill>
                  <a:srgbClr val="02C39A"/>
                </a:solidFill>
                <a:latin typeface="Consolas" pitchFamily="34" charset="0"/>
                <a:ea typeface="Consolas" pitchFamily="34" charset="-122"/>
                <a:cs typeface="Consolas" pitchFamily="34" charset="-120"/>
              </a:rPr>
              <a:t>+</a:t>
            </a:r>
            <a:endParaRPr lang="en-US" sz="2000" dirty="0"/>
          </a:p>
        </p:txBody>
      </p:sp>
      <p:sp>
        <p:nvSpPr>
          <p:cNvPr id="22" name="Text 20"/>
          <p:cNvSpPr txBox="1"/>
          <p:nvPr/>
        </p:nvSpPr>
        <p:spPr>
          <a:xfrm>
            <a:off x="3154680" y="1874520"/>
            <a:ext cx="1188720" cy="548640"/>
          </a:xfrm>
          <a:prstGeom prst="rect">
            <a:avLst/>
          </a:prstGeom>
          <a:noFill/>
          <a:ln/>
        </p:spPr>
        <p:txBody>
          <a:bodyPr wrap="square" lIns="0" tIns="0" rIns="0" bIns="0" rtlCol="0" anchor="ctr"/>
          <a:lstStyle/>
          <a:p>
            <a:pPr indent="0" marL="0">
              <a:buNone/>
            </a:pPr>
            <a:r>
              <a:rPr lang="en-US" sz="1300" dirty="0">
                <a:solidFill>
                  <a:srgbClr val="3A464C"/>
                </a:solidFill>
                <a:latin typeface="Calibri" pitchFamily="34" charset="0"/>
                <a:ea typeface="Calibri" pitchFamily="34" charset="-122"/>
                <a:cs typeface="Calibri" pitchFamily="34" charset="-120"/>
              </a:rPr>
              <a:t>add</a:t>
            </a:r>
            <a:endParaRPr lang="en-US" sz="1300" dirty="0"/>
          </a:p>
        </p:txBody>
      </p:sp>
      <p:sp>
        <p:nvSpPr>
          <p:cNvPr id="23" name="Shape 21"/>
          <p:cNvSpPr/>
          <p:nvPr/>
        </p:nvSpPr>
        <p:spPr>
          <a:xfrm>
            <a:off x="2514600" y="2532888"/>
            <a:ext cx="566928" cy="548640"/>
          </a:xfrm>
          <a:prstGeom prst="roundRect">
            <a:avLst>
              <a:gd name="adj" fmla="val 8333"/>
            </a:avLst>
          </a:prstGeom>
          <a:solidFill>
            <a:srgbClr val="36454F"/>
          </a:solidFill>
          <a:ln/>
        </p:spPr>
        <p:txBody>
          <a:bodyPr/>
          <a:p/>
        </p:txBody>
      </p:sp>
      <p:sp>
        <p:nvSpPr>
          <p:cNvPr id="24" name="Text 22"/>
          <p:cNvSpPr txBox="1"/>
          <p:nvPr/>
        </p:nvSpPr>
        <p:spPr>
          <a:xfrm>
            <a:off x="2514600" y="2532888"/>
            <a:ext cx="566928" cy="548640"/>
          </a:xfrm>
          <a:prstGeom prst="rect">
            <a:avLst/>
          </a:prstGeom>
          <a:noFill/>
          <a:ln/>
        </p:spPr>
        <p:txBody>
          <a:bodyPr wrap="square" lIns="38100" tIns="38100" rIns="38100" bIns="38100" rtlCol="0" anchor="ctr"/>
          <a:lstStyle/>
          <a:p>
            <a:pPr algn="ctr" indent="0" marL="0">
              <a:buNone/>
            </a:pPr>
            <a:r>
              <a:rPr lang="en-US" sz="2000" b="1" dirty="0">
                <a:solidFill>
                  <a:srgbClr val="02C39A"/>
                </a:solidFill>
                <a:latin typeface="Consolas" pitchFamily="34" charset="0"/>
                <a:ea typeface="Consolas" pitchFamily="34" charset="-122"/>
                <a:cs typeface="Consolas" pitchFamily="34" charset="-120"/>
              </a:rPr>
              <a:t>-</a:t>
            </a:r>
            <a:endParaRPr lang="en-US" sz="2000" dirty="0"/>
          </a:p>
        </p:txBody>
      </p:sp>
      <p:sp>
        <p:nvSpPr>
          <p:cNvPr id="25" name="Text 23"/>
          <p:cNvSpPr txBox="1"/>
          <p:nvPr/>
        </p:nvSpPr>
        <p:spPr>
          <a:xfrm>
            <a:off x="3154680" y="2532888"/>
            <a:ext cx="1188720" cy="548640"/>
          </a:xfrm>
          <a:prstGeom prst="rect">
            <a:avLst/>
          </a:prstGeom>
          <a:noFill/>
          <a:ln/>
        </p:spPr>
        <p:txBody>
          <a:bodyPr wrap="square" lIns="0" tIns="0" rIns="0" bIns="0" rtlCol="0" anchor="ctr"/>
          <a:lstStyle/>
          <a:p>
            <a:pPr indent="0" marL="0">
              <a:buNone/>
            </a:pPr>
            <a:r>
              <a:rPr lang="en-US" sz="1300" dirty="0">
                <a:solidFill>
                  <a:srgbClr val="3A464C"/>
                </a:solidFill>
                <a:latin typeface="Calibri" pitchFamily="34" charset="0"/>
                <a:ea typeface="Calibri" pitchFamily="34" charset="-122"/>
                <a:cs typeface="Calibri" pitchFamily="34" charset="-120"/>
              </a:rPr>
              <a:t>remove</a:t>
            </a:r>
            <a:endParaRPr lang="en-US" sz="1300" dirty="0"/>
          </a:p>
        </p:txBody>
      </p:sp>
      <p:sp>
        <p:nvSpPr>
          <p:cNvPr id="26" name="Shape 24"/>
          <p:cNvSpPr/>
          <p:nvPr/>
        </p:nvSpPr>
        <p:spPr>
          <a:xfrm>
            <a:off x="2514600" y="3191256"/>
            <a:ext cx="566928" cy="548640"/>
          </a:xfrm>
          <a:prstGeom prst="roundRect">
            <a:avLst>
              <a:gd name="adj" fmla="val 8333"/>
            </a:avLst>
          </a:prstGeom>
          <a:solidFill>
            <a:srgbClr val="36454F"/>
          </a:solidFill>
          <a:ln/>
        </p:spPr>
        <p:txBody>
          <a:bodyPr/>
          <a:p/>
        </p:txBody>
      </p:sp>
      <p:sp>
        <p:nvSpPr>
          <p:cNvPr id="27" name="Text 25"/>
          <p:cNvSpPr txBox="1"/>
          <p:nvPr/>
        </p:nvSpPr>
        <p:spPr>
          <a:xfrm>
            <a:off x="2514600" y="3191256"/>
            <a:ext cx="566928" cy="548640"/>
          </a:xfrm>
          <a:prstGeom prst="rect">
            <a:avLst/>
          </a:prstGeom>
          <a:noFill/>
          <a:ln/>
        </p:spPr>
        <p:txBody>
          <a:bodyPr wrap="square" lIns="38100" tIns="38100" rIns="38100" bIns="38100" rtlCol="0" anchor="ctr"/>
          <a:lstStyle/>
          <a:p>
            <a:pPr algn="ctr" indent="0" marL="0">
              <a:buNone/>
            </a:pPr>
            <a:r>
              <a:rPr lang="en-US" sz="2000" b="1" dirty="0">
                <a:solidFill>
                  <a:srgbClr val="02C39A"/>
                </a:solidFill>
                <a:latin typeface="Consolas" pitchFamily="34" charset="0"/>
                <a:ea typeface="Consolas" pitchFamily="34" charset="-122"/>
                <a:cs typeface="Consolas" pitchFamily="34" charset="-120"/>
              </a:rPr>
              <a:t>=</a:t>
            </a:r>
            <a:endParaRPr lang="en-US" sz="2000" dirty="0"/>
          </a:p>
        </p:txBody>
      </p:sp>
      <p:sp>
        <p:nvSpPr>
          <p:cNvPr id="28" name="Text 26"/>
          <p:cNvSpPr txBox="1"/>
          <p:nvPr/>
        </p:nvSpPr>
        <p:spPr>
          <a:xfrm>
            <a:off x="3154680" y="3191256"/>
            <a:ext cx="1188720" cy="548640"/>
          </a:xfrm>
          <a:prstGeom prst="rect">
            <a:avLst/>
          </a:prstGeom>
          <a:noFill/>
          <a:ln/>
        </p:spPr>
        <p:txBody>
          <a:bodyPr wrap="square" lIns="0" tIns="0" rIns="0" bIns="0" rtlCol="0" anchor="ctr"/>
          <a:lstStyle/>
          <a:p>
            <a:pPr indent="0" marL="0">
              <a:buNone/>
            </a:pPr>
            <a:r>
              <a:rPr lang="en-US" sz="1300" dirty="0">
                <a:solidFill>
                  <a:srgbClr val="3A464C"/>
                </a:solidFill>
                <a:latin typeface="Calibri" pitchFamily="34" charset="0"/>
                <a:ea typeface="Calibri" pitchFamily="34" charset="-122"/>
                <a:cs typeface="Calibri" pitchFamily="34" charset="-120"/>
              </a:rPr>
              <a:t>set exactly</a:t>
            </a:r>
            <a:endParaRPr lang="en-US" sz="1300" dirty="0"/>
          </a:p>
        </p:txBody>
      </p:sp>
      <p:sp>
        <p:nvSpPr>
          <p:cNvPr id="29" name="Text 27"/>
          <p:cNvSpPr txBox="1"/>
          <p:nvPr/>
        </p:nvSpPr>
        <p:spPr>
          <a:xfrm>
            <a:off x="4480560" y="1508760"/>
            <a:ext cx="1783080" cy="320040"/>
          </a:xfrm>
          <a:prstGeom prst="rect">
            <a:avLst/>
          </a:prstGeom>
          <a:noFill/>
          <a:ln/>
        </p:spPr>
        <p:txBody>
          <a:bodyPr wrap="square" lIns="0" tIns="0" rIns="0" bIns="0" rtlCol="0" anchor="t"/>
          <a:lstStyle/>
          <a:p>
            <a:pPr algn="ctr" indent="0" marL="0">
              <a:buNone/>
            </a:pPr>
            <a:r>
              <a:rPr lang="en-US" sz="1400" b="1" dirty="0">
                <a:solidFill>
                  <a:srgbClr val="028090"/>
                </a:solidFill>
                <a:latin typeface="Calibri" pitchFamily="34" charset="0"/>
                <a:ea typeface="Calibri" pitchFamily="34" charset="-122"/>
                <a:cs typeface="Calibri" pitchFamily="34" charset="-120"/>
              </a:rPr>
              <a:t>permissions</a:t>
            </a:r>
            <a:endParaRPr lang="en-US" sz="1400" dirty="0"/>
          </a:p>
        </p:txBody>
      </p:sp>
      <p:sp>
        <p:nvSpPr>
          <p:cNvPr id="30" name="Shape 28"/>
          <p:cNvSpPr/>
          <p:nvPr/>
        </p:nvSpPr>
        <p:spPr>
          <a:xfrm>
            <a:off x="4480560" y="1874520"/>
            <a:ext cx="566928" cy="548640"/>
          </a:xfrm>
          <a:prstGeom prst="roundRect">
            <a:avLst>
              <a:gd name="adj" fmla="val 8333"/>
            </a:avLst>
          </a:prstGeom>
          <a:solidFill>
            <a:srgbClr val="36454F"/>
          </a:solidFill>
          <a:ln/>
        </p:spPr>
        <p:txBody>
          <a:bodyPr/>
          <a:p/>
        </p:txBody>
      </p:sp>
      <p:sp>
        <p:nvSpPr>
          <p:cNvPr id="31" name="Text 29"/>
          <p:cNvSpPr txBox="1"/>
          <p:nvPr/>
        </p:nvSpPr>
        <p:spPr>
          <a:xfrm>
            <a:off x="4480560" y="1874520"/>
            <a:ext cx="566928" cy="548640"/>
          </a:xfrm>
          <a:prstGeom prst="rect">
            <a:avLst/>
          </a:prstGeom>
          <a:noFill/>
          <a:ln/>
        </p:spPr>
        <p:txBody>
          <a:bodyPr wrap="square" lIns="38100" tIns="38100" rIns="38100" bIns="38100" rtlCol="0" anchor="ctr"/>
          <a:lstStyle/>
          <a:p>
            <a:pPr algn="ctr" indent="0" marL="0">
              <a:buNone/>
            </a:pPr>
            <a:r>
              <a:rPr lang="en-US" sz="2000" b="1" dirty="0">
                <a:solidFill>
                  <a:srgbClr val="02C39A"/>
                </a:solidFill>
                <a:latin typeface="Consolas" pitchFamily="34" charset="0"/>
                <a:ea typeface="Consolas" pitchFamily="34" charset="-122"/>
                <a:cs typeface="Consolas" pitchFamily="34" charset="-120"/>
              </a:rPr>
              <a:t>r</a:t>
            </a:r>
            <a:endParaRPr lang="en-US" sz="2000" dirty="0"/>
          </a:p>
        </p:txBody>
      </p:sp>
      <p:sp>
        <p:nvSpPr>
          <p:cNvPr id="32" name="Text 30"/>
          <p:cNvSpPr txBox="1"/>
          <p:nvPr/>
        </p:nvSpPr>
        <p:spPr>
          <a:xfrm>
            <a:off x="5120640" y="1874520"/>
            <a:ext cx="1188720" cy="548640"/>
          </a:xfrm>
          <a:prstGeom prst="rect">
            <a:avLst/>
          </a:prstGeom>
          <a:noFill/>
          <a:ln/>
        </p:spPr>
        <p:txBody>
          <a:bodyPr wrap="square" lIns="0" tIns="0" rIns="0" bIns="0" rtlCol="0" anchor="ctr"/>
          <a:lstStyle/>
          <a:p>
            <a:pPr indent="0" marL="0">
              <a:buNone/>
            </a:pPr>
            <a:r>
              <a:rPr lang="en-US" sz="1300" dirty="0">
                <a:solidFill>
                  <a:srgbClr val="3A464C"/>
                </a:solidFill>
                <a:latin typeface="Calibri" pitchFamily="34" charset="0"/>
                <a:ea typeface="Calibri" pitchFamily="34" charset="-122"/>
                <a:cs typeface="Calibri" pitchFamily="34" charset="-120"/>
              </a:rPr>
              <a:t>read</a:t>
            </a:r>
            <a:endParaRPr lang="en-US" sz="1300" dirty="0"/>
          </a:p>
        </p:txBody>
      </p:sp>
      <p:sp>
        <p:nvSpPr>
          <p:cNvPr id="33" name="Shape 31"/>
          <p:cNvSpPr/>
          <p:nvPr/>
        </p:nvSpPr>
        <p:spPr>
          <a:xfrm>
            <a:off x="4480560" y="2532888"/>
            <a:ext cx="566928" cy="548640"/>
          </a:xfrm>
          <a:prstGeom prst="roundRect">
            <a:avLst>
              <a:gd name="adj" fmla="val 8333"/>
            </a:avLst>
          </a:prstGeom>
          <a:solidFill>
            <a:srgbClr val="36454F"/>
          </a:solidFill>
          <a:ln/>
        </p:spPr>
        <p:txBody>
          <a:bodyPr/>
          <a:p/>
        </p:txBody>
      </p:sp>
      <p:sp>
        <p:nvSpPr>
          <p:cNvPr id="34" name="Text 32"/>
          <p:cNvSpPr txBox="1"/>
          <p:nvPr/>
        </p:nvSpPr>
        <p:spPr>
          <a:xfrm>
            <a:off x="4480560" y="2532888"/>
            <a:ext cx="566928" cy="548640"/>
          </a:xfrm>
          <a:prstGeom prst="rect">
            <a:avLst/>
          </a:prstGeom>
          <a:noFill/>
          <a:ln/>
        </p:spPr>
        <p:txBody>
          <a:bodyPr wrap="square" lIns="38100" tIns="38100" rIns="38100" bIns="38100" rtlCol="0" anchor="ctr"/>
          <a:lstStyle/>
          <a:p>
            <a:pPr algn="ctr" indent="0" marL="0">
              <a:buNone/>
            </a:pPr>
            <a:r>
              <a:rPr lang="en-US" sz="2000" b="1" dirty="0">
                <a:solidFill>
                  <a:srgbClr val="02C39A"/>
                </a:solidFill>
                <a:latin typeface="Consolas" pitchFamily="34" charset="0"/>
                <a:ea typeface="Consolas" pitchFamily="34" charset="-122"/>
                <a:cs typeface="Consolas" pitchFamily="34" charset="-120"/>
              </a:rPr>
              <a:t>w</a:t>
            </a:r>
            <a:endParaRPr lang="en-US" sz="2000" dirty="0"/>
          </a:p>
        </p:txBody>
      </p:sp>
      <p:sp>
        <p:nvSpPr>
          <p:cNvPr id="35" name="Text 33"/>
          <p:cNvSpPr txBox="1"/>
          <p:nvPr/>
        </p:nvSpPr>
        <p:spPr>
          <a:xfrm>
            <a:off x="5120640" y="2532888"/>
            <a:ext cx="1188720" cy="548640"/>
          </a:xfrm>
          <a:prstGeom prst="rect">
            <a:avLst/>
          </a:prstGeom>
          <a:noFill/>
          <a:ln/>
        </p:spPr>
        <p:txBody>
          <a:bodyPr wrap="square" lIns="0" tIns="0" rIns="0" bIns="0" rtlCol="0" anchor="ctr"/>
          <a:lstStyle/>
          <a:p>
            <a:pPr indent="0" marL="0">
              <a:buNone/>
            </a:pPr>
            <a:r>
              <a:rPr lang="en-US" sz="1300" dirty="0">
                <a:solidFill>
                  <a:srgbClr val="3A464C"/>
                </a:solidFill>
                <a:latin typeface="Calibri" pitchFamily="34" charset="0"/>
                <a:ea typeface="Calibri" pitchFamily="34" charset="-122"/>
                <a:cs typeface="Calibri" pitchFamily="34" charset="-120"/>
              </a:rPr>
              <a:t>write</a:t>
            </a:r>
            <a:endParaRPr lang="en-US" sz="1300" dirty="0"/>
          </a:p>
        </p:txBody>
      </p:sp>
      <p:sp>
        <p:nvSpPr>
          <p:cNvPr id="36" name="Shape 34"/>
          <p:cNvSpPr/>
          <p:nvPr/>
        </p:nvSpPr>
        <p:spPr>
          <a:xfrm>
            <a:off x="4480560" y="3191256"/>
            <a:ext cx="566928" cy="548640"/>
          </a:xfrm>
          <a:prstGeom prst="roundRect">
            <a:avLst>
              <a:gd name="adj" fmla="val 8333"/>
            </a:avLst>
          </a:prstGeom>
          <a:solidFill>
            <a:srgbClr val="36454F"/>
          </a:solidFill>
          <a:ln/>
        </p:spPr>
        <p:txBody>
          <a:bodyPr/>
          <a:p/>
        </p:txBody>
      </p:sp>
      <p:sp>
        <p:nvSpPr>
          <p:cNvPr id="37" name="Text 35"/>
          <p:cNvSpPr txBox="1"/>
          <p:nvPr/>
        </p:nvSpPr>
        <p:spPr>
          <a:xfrm>
            <a:off x="4480560" y="3191256"/>
            <a:ext cx="566928" cy="548640"/>
          </a:xfrm>
          <a:prstGeom prst="rect">
            <a:avLst/>
          </a:prstGeom>
          <a:noFill/>
          <a:ln/>
        </p:spPr>
        <p:txBody>
          <a:bodyPr wrap="square" lIns="38100" tIns="38100" rIns="38100" bIns="38100" rtlCol="0" anchor="ctr"/>
          <a:lstStyle/>
          <a:p>
            <a:pPr algn="ctr" indent="0" marL="0">
              <a:buNone/>
            </a:pPr>
            <a:r>
              <a:rPr lang="en-US" sz="2000" b="1" dirty="0">
                <a:solidFill>
                  <a:srgbClr val="02C39A"/>
                </a:solidFill>
                <a:latin typeface="Consolas" pitchFamily="34" charset="0"/>
                <a:ea typeface="Consolas" pitchFamily="34" charset="-122"/>
                <a:cs typeface="Consolas" pitchFamily="34" charset="-120"/>
              </a:rPr>
              <a:t>x</a:t>
            </a:r>
            <a:endParaRPr lang="en-US" sz="2000" dirty="0"/>
          </a:p>
        </p:txBody>
      </p:sp>
      <p:sp>
        <p:nvSpPr>
          <p:cNvPr id="38" name="Text 36"/>
          <p:cNvSpPr txBox="1"/>
          <p:nvPr/>
        </p:nvSpPr>
        <p:spPr>
          <a:xfrm>
            <a:off x="5120640" y="3191256"/>
            <a:ext cx="1188720" cy="548640"/>
          </a:xfrm>
          <a:prstGeom prst="rect">
            <a:avLst/>
          </a:prstGeom>
          <a:noFill/>
          <a:ln/>
        </p:spPr>
        <p:txBody>
          <a:bodyPr wrap="square" lIns="0" tIns="0" rIns="0" bIns="0" rtlCol="0" anchor="ctr"/>
          <a:lstStyle/>
          <a:p>
            <a:pPr indent="0" marL="0">
              <a:buNone/>
            </a:pPr>
            <a:r>
              <a:rPr lang="en-US" sz="1300" dirty="0">
                <a:solidFill>
                  <a:srgbClr val="3A464C"/>
                </a:solidFill>
                <a:latin typeface="Calibri" pitchFamily="34" charset="0"/>
                <a:ea typeface="Calibri" pitchFamily="34" charset="-122"/>
                <a:cs typeface="Calibri" pitchFamily="34" charset="-120"/>
              </a:rPr>
              <a:t>execute</a:t>
            </a:r>
            <a:endParaRPr lang="en-US" sz="1300" dirty="0"/>
          </a:p>
        </p:txBody>
      </p:sp>
      <p:sp>
        <p:nvSpPr>
          <p:cNvPr id="39" name="Text 37"/>
          <p:cNvSpPr txBox="1"/>
          <p:nvPr/>
        </p:nvSpPr>
        <p:spPr>
          <a:xfrm>
            <a:off x="548640" y="4617720"/>
            <a:ext cx="5852160" cy="320040"/>
          </a:xfrm>
          <a:prstGeom prst="rect">
            <a:avLst/>
          </a:prstGeom>
          <a:noFill/>
          <a:ln/>
        </p:spPr>
        <p:txBody>
          <a:bodyPr wrap="square" lIns="0" tIns="0" rIns="0" bIns="0" rtlCol="0" anchor="t"/>
          <a:lstStyle/>
          <a:p>
            <a:pPr indent="0" marL="0">
              <a:buNone/>
            </a:pPr>
            <a:r>
              <a:rPr lang="en-US" sz="1350" i="1" dirty="0">
                <a:solidFill>
                  <a:srgbClr val="36454F"/>
                </a:solidFill>
                <a:latin typeface="Calibri" pitchFamily="34" charset="0"/>
                <a:ea typeface="Calibri" pitchFamily="34" charset="-122"/>
                <a:cs typeface="Calibri" pitchFamily="34" charset="-120"/>
              </a:rPr>
              <a:t>Combine with commas, no spaces:  u=rw,g=r,o=</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537960" y="1508760"/>
          <a:ext cx="5120640" cy="914400"/>
        </p:xfrm>
        <a:graphic>
          <a:graphicData uri="http://schemas.openxmlformats.org/drawingml/2006/table">
            <a:tbl>
              <a:tblPr/>
              <a:tblGrid>
                <a:gridCol w="2377440"/>
                <a:gridCol w="1371600"/>
                <a:gridCol w="1371600"/>
              </a:tblGrid>
              <a:tr h="0">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Command (on syllabus.txt)</a:t>
                      </a:r>
                      <a:endParaRPr lang="en-US" sz="1400" dirty="0">
                        <a:latin typeface="Cambria" charset="0"/>
                        <a:ea typeface="Cambria" charset="0"/>
                        <a:cs typeface="Cambria"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Before</a:t>
                      </a:r>
                      <a:endParaRPr lang="en-US" sz="1400" dirty="0">
                        <a:latin typeface="Cambria" charset="0"/>
                        <a:ea typeface="Cambria" charset="0"/>
                        <a:cs typeface="Cambria"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After</a:t>
                      </a:r>
                      <a:endParaRPr lang="en-US" sz="1400" dirty="0">
                        <a:latin typeface="Cambria" charset="0"/>
                        <a:ea typeface="Cambria" charset="0"/>
                        <a:cs typeface="Cambria"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350" dirty="0">
                          <a:solidFill>
                            <a:srgbClr val="3A464C"/>
                          </a:solidFill>
                          <a:latin typeface="Consolas" pitchFamily="34" charset="0"/>
                          <a:ea typeface="Consolas" pitchFamily="34" charset="-122"/>
                          <a:cs typeface="Consolas" pitchFamily="34" charset="-120"/>
                        </a:rPr>
                        <a:t>chmod u+x</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onsolas" pitchFamily="34" charset="0"/>
                          <a:ea typeface="Consolas" pitchFamily="34" charset="-122"/>
                          <a:cs typeface="Consolas" pitchFamily="34" charset="-120"/>
                        </a:rPr>
                        <a:t>rw-rw-r--</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rwxrw-r--</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dirty="0">
                          <a:solidFill>
                            <a:srgbClr val="3A464C"/>
                          </a:solidFill>
                          <a:latin typeface="Consolas" pitchFamily="34" charset="0"/>
                          <a:ea typeface="Consolas" pitchFamily="34" charset="-122"/>
                          <a:cs typeface="Consolas" pitchFamily="34" charset="-120"/>
                        </a:rPr>
                        <a:t>chmod go-w</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onsolas" pitchFamily="34" charset="0"/>
                          <a:ea typeface="Consolas" pitchFamily="34" charset="-122"/>
                          <a:cs typeface="Consolas" pitchFamily="34" charset="-120"/>
                        </a:rPr>
                        <a:t>rwxrw-r--</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rwxr--r--</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3A464C"/>
                          </a:solidFill>
                          <a:latin typeface="Consolas" pitchFamily="34" charset="0"/>
                          <a:ea typeface="Consolas" pitchFamily="34" charset="-122"/>
                          <a:cs typeface="Consolas" pitchFamily="34" charset="-120"/>
                        </a:rPr>
                        <a:t>chmod a=r</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onsolas" pitchFamily="34" charset="0"/>
                          <a:ea typeface="Consolas" pitchFamily="34" charset="-122"/>
                          <a:cs typeface="Consolas" pitchFamily="34" charset="-120"/>
                        </a:rPr>
                        <a:t>rwxr--r--</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r--r--r--</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dirty="0">
                          <a:solidFill>
                            <a:srgbClr val="3A464C"/>
                          </a:solidFill>
                          <a:latin typeface="Consolas" pitchFamily="34" charset="0"/>
                          <a:ea typeface="Consolas" pitchFamily="34" charset="-122"/>
                          <a:cs typeface="Consolas" pitchFamily="34" charset="-120"/>
                        </a:rPr>
                        <a:t>chmod u=rw,g=r,o=</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onsolas" pitchFamily="34" charset="0"/>
                          <a:ea typeface="Consolas" pitchFamily="34" charset="-122"/>
                          <a:cs typeface="Consolas" pitchFamily="34" charset="-120"/>
                        </a:rPr>
                        <a:t>r--r--r--</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rw-r-----</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3A464C"/>
                          </a:solidFill>
                          <a:latin typeface="Consolas" pitchFamily="34" charset="0"/>
                          <a:ea typeface="Consolas" pitchFamily="34" charset="-122"/>
                          <a:cs typeface="Consolas" pitchFamily="34" charset="-120"/>
                        </a:rPr>
                        <a:t>chmod u+rwx,g+w</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onsolas" pitchFamily="34" charset="0"/>
                          <a:ea typeface="Consolas" pitchFamily="34" charset="-122"/>
                          <a:cs typeface="Consolas" pitchFamily="34" charset="-120"/>
                        </a:rPr>
                        <a:t>rw-r-----</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rwxrw----</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41" name="Shape 38"/>
          <p:cNvSpPr/>
          <p:nvPr/>
        </p:nvSpPr>
        <p:spPr>
          <a:xfrm>
            <a:off x="548640" y="5074920"/>
            <a:ext cx="11109960" cy="1188720"/>
          </a:xfrm>
          <a:prstGeom prst="roundRect">
            <a:avLst>
              <a:gd name="adj" fmla="val 4615"/>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42" name="Text 39"/>
          <p:cNvSpPr txBox="1"/>
          <p:nvPr/>
        </p:nvSpPr>
        <p:spPr>
          <a:xfrm>
            <a:off x="777240" y="5074920"/>
            <a:ext cx="10652760" cy="118872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 and − change only the bits you name; = replaces the whole triplet (o= with nothing after it means "no rights for others"). Symbolic mode is best for small changes: "also let the group write" → chmod g+w.</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chmod in Symbolic Mode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15</a:t>
            </a:r>
            <a:endParaRPr lang="en-US" sz="900" dirty="0"/>
          </a:p>
        </p:txBody>
      </p:sp>
      <p:sp>
        <p:nvSpPr>
          <p:cNvPr id="6" name="Shape 4"/>
          <p:cNvSpPr/>
          <p:nvPr/>
        </p:nvSpPr>
        <p:spPr>
          <a:xfrm>
            <a:off x="548640" y="1508760"/>
            <a:ext cx="6949440" cy="4754880"/>
          </a:xfrm>
          <a:prstGeom prst="roundRect">
            <a:avLst>
              <a:gd name="adj" fmla="val 962"/>
            </a:avLst>
          </a:prstGeom>
          <a:solidFill>
            <a:srgbClr val="212121"/>
          </a:solidFill>
          <a:ln/>
        </p:spPr>
        <p:txBody>
          <a:bodyPr/>
          <a:p/>
        </p:txBody>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 </a:t>
            </a:r>
            <a:r>
              <a:rPr lang="en-US" sz="1300" b="1" dirty="0">
                <a:solidFill>
                  <a:srgbClr val="FFFFFF"/>
                </a:solidFill>
                <a:latin typeface="Consolas" pitchFamily="34" charset="0"/>
                <a:ea typeface="Consolas" pitchFamily="34" charset="-122"/>
                <a:cs typeface="Consolas" pitchFamily="34" charset="-120"/>
              </a:rPr>
              <a:t>cd docs</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student@okan-lab:~/lab/docs$ </a:t>
            </a:r>
            <a:r>
              <a:rPr lang="en-US" sz="1300" b="1" dirty="0">
                <a:solidFill>
                  <a:srgbClr val="FFFFFF"/>
                </a:solidFill>
                <a:latin typeface="Consolas" pitchFamily="34" charset="0"/>
                <a:ea typeface="Consolas" pitchFamily="34" charset="-122"/>
                <a:cs typeface="Consolas" pitchFamily="34" charset="-120"/>
              </a:rPr>
              <a:t>ls -l syllabus.txt</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-rw-rw-r-- 1 student student 578 Oct 12 19:38 syllabus.txt</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student@okan-lab:~/lab/docs$ </a:t>
            </a:r>
            <a:r>
              <a:rPr lang="en-US" sz="1300" b="1" dirty="0">
                <a:solidFill>
                  <a:srgbClr val="FFFFFF"/>
                </a:solidFill>
                <a:latin typeface="Consolas" pitchFamily="34" charset="0"/>
                <a:ea typeface="Consolas" pitchFamily="34" charset="-122"/>
                <a:cs typeface="Consolas" pitchFamily="34" charset="-120"/>
              </a:rPr>
              <a:t>chmod u+x syllabus.txt</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student@okan-lab:~/lab/docs$ </a:t>
            </a:r>
            <a:r>
              <a:rPr lang="en-US" sz="1300" b="1" dirty="0">
                <a:solidFill>
                  <a:srgbClr val="FFFFFF"/>
                </a:solidFill>
                <a:latin typeface="Consolas" pitchFamily="34" charset="0"/>
                <a:ea typeface="Consolas" pitchFamily="34" charset="-122"/>
                <a:cs typeface="Consolas" pitchFamily="34" charset="-120"/>
              </a:rPr>
              <a:t>ls -l syllabus.txt</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-rwxrw-r-- 1 student student 578 Oct 12 19:38 syllabus.txt</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student@okan-lab:~/lab/docs$ </a:t>
            </a:r>
            <a:r>
              <a:rPr lang="en-US" sz="1300" b="1" dirty="0">
                <a:solidFill>
                  <a:srgbClr val="FFFFFF"/>
                </a:solidFill>
                <a:latin typeface="Consolas" pitchFamily="34" charset="0"/>
                <a:ea typeface="Consolas" pitchFamily="34" charset="-122"/>
                <a:cs typeface="Consolas" pitchFamily="34" charset="-120"/>
              </a:rPr>
              <a:t>chmod go-w syllabus.txt</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student@okan-lab:~/lab/docs$ </a:t>
            </a:r>
            <a:r>
              <a:rPr lang="en-US" sz="1300" b="1" dirty="0">
                <a:solidFill>
                  <a:srgbClr val="FFFFFF"/>
                </a:solidFill>
                <a:latin typeface="Consolas" pitchFamily="34" charset="0"/>
                <a:ea typeface="Consolas" pitchFamily="34" charset="-122"/>
                <a:cs typeface="Consolas" pitchFamily="34" charset="-120"/>
              </a:rPr>
              <a:t>ls -l syllabus.txt</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-rwxr--r-- 1 student student 578 Oct 12 19:38 syllabus.txt</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student@okan-lab:~/lab/docs$ </a:t>
            </a:r>
            <a:r>
              <a:rPr lang="en-US" sz="1300" b="1" dirty="0">
                <a:solidFill>
                  <a:srgbClr val="FFFFFF"/>
                </a:solidFill>
                <a:latin typeface="Consolas" pitchFamily="34" charset="0"/>
                <a:ea typeface="Consolas" pitchFamily="34" charset="-122"/>
                <a:cs typeface="Consolas" pitchFamily="34" charset="-120"/>
              </a:rPr>
              <a:t>chmod a=r syllabus.txt</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student@okan-lab:~/lab/docs$ </a:t>
            </a:r>
            <a:r>
              <a:rPr lang="en-US" sz="1300" b="1" dirty="0">
                <a:solidFill>
                  <a:srgbClr val="FFFFFF"/>
                </a:solidFill>
                <a:latin typeface="Consolas" pitchFamily="34" charset="0"/>
                <a:ea typeface="Consolas" pitchFamily="34" charset="-122"/>
                <a:cs typeface="Consolas" pitchFamily="34" charset="-120"/>
              </a:rPr>
              <a:t>ls -l syllabus.txt</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-r--r--r-- 1 student student 578 Oct 12 19:38 syllabus.txt</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student@okan-lab:~/lab/docs$ </a:t>
            </a:r>
            <a:r>
              <a:rPr lang="en-US" sz="1300" b="1" dirty="0">
                <a:solidFill>
                  <a:srgbClr val="FFFFFF"/>
                </a:solidFill>
                <a:latin typeface="Consolas" pitchFamily="34" charset="0"/>
                <a:ea typeface="Consolas" pitchFamily="34" charset="-122"/>
                <a:cs typeface="Consolas" pitchFamily="34" charset="-120"/>
              </a:rPr>
              <a:t>chmod u=rw,g=r,o= syllabus.txt</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student@okan-lab:~/lab/docs$ </a:t>
            </a:r>
            <a:r>
              <a:rPr lang="en-US" sz="1300" b="1" dirty="0">
                <a:solidFill>
                  <a:srgbClr val="FFFFFF"/>
                </a:solidFill>
                <a:latin typeface="Consolas" pitchFamily="34" charset="0"/>
                <a:ea typeface="Consolas" pitchFamily="34" charset="-122"/>
                <a:cs typeface="Consolas" pitchFamily="34" charset="-120"/>
              </a:rPr>
              <a:t>ls -l syllabus.txt</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-rw-r----- 1 student student 578 Oct 12 19:38 syllabus.txt</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student@okan-lab:~/lab/docs$ </a:t>
            </a:r>
            <a:r>
              <a:rPr lang="en-US" sz="1300" b="1" dirty="0">
                <a:solidFill>
                  <a:srgbClr val="FFFFFF"/>
                </a:solidFill>
                <a:latin typeface="Consolas" pitchFamily="34" charset="0"/>
                <a:ea typeface="Consolas" pitchFamily="34" charset="-122"/>
                <a:cs typeface="Consolas" pitchFamily="34" charset="-120"/>
              </a:rPr>
              <a:t>chmod u+rwx,g+w syllabus.txt</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student@okan-lab:~/lab/docs$ </a:t>
            </a:r>
            <a:r>
              <a:rPr lang="en-US" sz="1300" b="1" dirty="0">
                <a:solidFill>
                  <a:srgbClr val="FFFFFF"/>
                </a:solidFill>
                <a:latin typeface="Consolas" pitchFamily="34" charset="0"/>
                <a:ea typeface="Consolas" pitchFamily="34" charset="-122"/>
                <a:cs typeface="Consolas" pitchFamily="34" charset="-120"/>
              </a:rPr>
              <a:t>ls -l syllabus.txt</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-rwxrw---- 1 student student 578 Oct 12 19:38 syllabus.txt</a:t>
            </a:r>
            <a:endParaRPr lang="en-US" sz="1300" dirty="0"/>
          </a:p>
        </p:txBody>
      </p:sp>
      <p:sp>
        <p:nvSpPr>
          <p:cNvPr id="8" name="Shape 6"/>
          <p:cNvSpPr/>
          <p:nvPr/>
        </p:nvSpPr>
        <p:spPr>
          <a:xfrm>
            <a:off x="7726680" y="1508760"/>
            <a:ext cx="3931920" cy="4754880"/>
          </a:xfrm>
          <a:prstGeom prst="roundRect">
            <a:avLst>
              <a:gd name="adj" fmla="val 139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955280" y="1691640"/>
            <a:ext cx="34747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7955280" y="2148840"/>
            <a:ext cx="3474720" cy="397764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chmod prints nothing when it succeeds — check with ls -l.</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u+x and go-w leave all other bits alone.</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a=r overwrote everything: even the owner lost w.</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The owner can still chmod a read-only file: changing the mode needs ownership, not w.</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CHMOD · OCTAL</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Octal: One Digit per Class, r = 4, w = 2, x = 1</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16</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675120" cy="914400"/>
        </p:xfrm>
        <a:graphic>
          <a:graphicData uri="http://schemas.openxmlformats.org/drawingml/2006/table">
            <a:tbl>
              <a:tblPr/>
              <a:tblGrid>
                <a:gridCol w="914400"/>
                <a:gridCol w="1737360"/>
                <a:gridCol w="1463040"/>
                <a:gridCol w="2560320"/>
              </a:tblGrid>
              <a:tr h="429768">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Octal</a:t>
                      </a:r>
                      <a:endParaRPr lang="en-US"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Binary r w x</a:t>
                      </a:r>
                      <a:endParaRPr lang="en-US"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Symbolic</a:t>
                      </a:r>
                      <a:endParaRPr lang="en-US"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Typical meaning</a:t>
                      </a:r>
                      <a:endParaRPr lang="en-US"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429768">
                <a:tc>
                  <a:txBody>
                    <a:bodyPr/>
                    <a:lstStyle/>
                    <a:p>
                      <a:pPr indent="0" marL="0">
                        <a:buNone/>
                      </a:pPr>
                      <a:r>
                        <a:rPr lang="en-US" sz="1400" b="1" dirty="0">
                          <a:solidFill>
                            <a:srgbClr val="3A464C"/>
                          </a:solidFill>
                          <a:latin typeface="Consolas" pitchFamily="34" charset="0"/>
                          <a:ea typeface="Consolas" pitchFamily="34" charset="-122"/>
                          <a:cs typeface="Consolas" pitchFamily="34" charset="-120"/>
                        </a:rPr>
                        <a:t>0</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onsolas" pitchFamily="34" charset="0"/>
                          <a:ea typeface="Consolas" pitchFamily="34" charset="-122"/>
                          <a:cs typeface="Consolas" pitchFamily="34" charset="-120"/>
                        </a:rPr>
                        <a:t>0 0 0</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b="1" dirty="0">
                          <a:solidFill>
                            <a:srgbClr val="3A464C"/>
                          </a:solidFill>
                          <a:latin typeface="Consolas" pitchFamily="34" charset="0"/>
                          <a:ea typeface="Consolas" pitchFamily="34" charset="-122"/>
                          <a:cs typeface="Consolas" pitchFamily="34" charset="-120"/>
                        </a:rPr>
                        <a:t>---</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no access</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29768">
                <a:tc>
                  <a:txBody>
                    <a:bodyPr/>
                    <a:lstStyle/>
                    <a:p>
                      <a:pPr indent="0" marL="0">
                        <a:buNone/>
                      </a:pPr>
                      <a:r>
                        <a:rPr lang="en-US" sz="1400" b="1" dirty="0">
                          <a:solidFill>
                            <a:srgbClr val="3A464C"/>
                          </a:solidFill>
                          <a:latin typeface="Consolas" pitchFamily="34" charset="0"/>
                          <a:ea typeface="Consolas" pitchFamily="34" charset="-122"/>
                          <a:cs typeface="Consolas" pitchFamily="34" charset="-120"/>
                        </a:rPr>
                        <a:t>1</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onsolas" pitchFamily="34" charset="0"/>
                          <a:ea typeface="Consolas" pitchFamily="34" charset="-122"/>
                          <a:cs typeface="Consolas" pitchFamily="34" charset="-120"/>
                        </a:rPr>
                        <a:t>0 0 1</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b="1" dirty="0">
                          <a:solidFill>
                            <a:srgbClr val="3A464C"/>
                          </a:solidFill>
                          <a:latin typeface="Consolas" pitchFamily="34" charset="0"/>
                          <a:ea typeface="Consolas" pitchFamily="34" charset="-122"/>
                          <a:cs typeface="Consolas" pitchFamily="34" charset="-120"/>
                        </a:rPr>
                        <a:t>--x</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execute only</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29768">
                <a:tc>
                  <a:txBody>
                    <a:bodyPr/>
                    <a:lstStyle/>
                    <a:p>
                      <a:pPr indent="0" marL="0">
                        <a:buNone/>
                      </a:pPr>
                      <a:r>
                        <a:rPr lang="en-US" sz="1400" b="1" dirty="0">
                          <a:solidFill>
                            <a:srgbClr val="3A464C"/>
                          </a:solidFill>
                          <a:latin typeface="Consolas" pitchFamily="34" charset="0"/>
                          <a:ea typeface="Consolas" pitchFamily="34" charset="-122"/>
                          <a:cs typeface="Consolas" pitchFamily="34" charset="-120"/>
                        </a:rPr>
                        <a:t>2</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onsolas" pitchFamily="34" charset="0"/>
                          <a:ea typeface="Consolas" pitchFamily="34" charset="-122"/>
                          <a:cs typeface="Consolas" pitchFamily="34" charset="-120"/>
                        </a:rPr>
                        <a:t>0 1 0</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b="1" dirty="0">
                          <a:solidFill>
                            <a:srgbClr val="3A464C"/>
                          </a:solidFill>
                          <a:latin typeface="Consolas" pitchFamily="34" charset="0"/>
                          <a:ea typeface="Consolas" pitchFamily="34" charset="-122"/>
                          <a:cs typeface="Consolas" pitchFamily="34" charset="-120"/>
                        </a:rPr>
                        <a:t>-w-</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write only (rare)</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29768">
                <a:tc>
                  <a:txBody>
                    <a:bodyPr/>
                    <a:lstStyle/>
                    <a:p>
                      <a:pPr indent="0" marL="0">
                        <a:buNone/>
                      </a:pPr>
                      <a:r>
                        <a:rPr lang="en-US" sz="1400" b="1" dirty="0">
                          <a:solidFill>
                            <a:srgbClr val="3A464C"/>
                          </a:solidFill>
                          <a:latin typeface="Consolas" pitchFamily="34" charset="0"/>
                          <a:ea typeface="Consolas" pitchFamily="34" charset="-122"/>
                          <a:cs typeface="Consolas" pitchFamily="34" charset="-120"/>
                        </a:rPr>
                        <a:t>3</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onsolas" pitchFamily="34" charset="0"/>
                          <a:ea typeface="Consolas" pitchFamily="34" charset="-122"/>
                          <a:cs typeface="Consolas" pitchFamily="34" charset="-120"/>
                        </a:rPr>
                        <a:t>0 1 1</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b="1" dirty="0">
                          <a:solidFill>
                            <a:srgbClr val="3A464C"/>
                          </a:solidFill>
                          <a:latin typeface="Consolas" pitchFamily="34" charset="0"/>
                          <a:ea typeface="Consolas" pitchFamily="34" charset="-122"/>
                          <a:cs typeface="Consolas" pitchFamily="34" charset="-120"/>
                        </a:rPr>
                        <a:t>-wx</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write + execute (rare)</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29768">
                <a:tc>
                  <a:txBody>
                    <a:bodyPr/>
                    <a:lstStyle/>
                    <a:p>
                      <a:pPr indent="0" marL="0">
                        <a:buNone/>
                      </a:pPr>
                      <a:r>
                        <a:rPr lang="en-US" sz="1400" b="1" dirty="0">
                          <a:solidFill>
                            <a:srgbClr val="3A464C"/>
                          </a:solidFill>
                          <a:latin typeface="Consolas" pitchFamily="34" charset="0"/>
                          <a:ea typeface="Consolas" pitchFamily="34" charset="-122"/>
                          <a:cs typeface="Consolas" pitchFamily="34" charset="-120"/>
                        </a:rPr>
                        <a:t>4</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onsolas" pitchFamily="34" charset="0"/>
                          <a:ea typeface="Consolas" pitchFamily="34" charset="-122"/>
                          <a:cs typeface="Consolas" pitchFamily="34" charset="-120"/>
                        </a:rPr>
                        <a:t>1 0 0</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b="1" dirty="0">
                          <a:solidFill>
                            <a:srgbClr val="3A464C"/>
                          </a:solidFill>
                          <a:latin typeface="Consolas" pitchFamily="34" charset="0"/>
                          <a:ea typeface="Consolas" pitchFamily="34" charset="-122"/>
                          <a:cs typeface="Consolas" pitchFamily="34" charset="-120"/>
                        </a:rPr>
                        <a:t>r--</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read only</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29768">
                <a:tc>
                  <a:txBody>
                    <a:bodyPr/>
                    <a:lstStyle/>
                    <a:p>
                      <a:pPr indent="0" marL="0">
                        <a:buNone/>
                      </a:pPr>
                      <a:r>
                        <a:rPr lang="en-US" sz="1400" b="1" dirty="0">
                          <a:solidFill>
                            <a:srgbClr val="3A464C"/>
                          </a:solidFill>
                          <a:latin typeface="Consolas" pitchFamily="34" charset="0"/>
                          <a:ea typeface="Consolas" pitchFamily="34" charset="-122"/>
                          <a:cs typeface="Consolas" pitchFamily="34" charset="-120"/>
                        </a:rPr>
                        <a:t>5</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onsolas" pitchFamily="34" charset="0"/>
                          <a:ea typeface="Consolas" pitchFamily="34" charset="-122"/>
                          <a:cs typeface="Consolas" pitchFamily="34" charset="-120"/>
                        </a:rPr>
                        <a:t>1 0 1</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b="1" dirty="0">
                          <a:solidFill>
                            <a:srgbClr val="3A464C"/>
                          </a:solidFill>
                          <a:latin typeface="Consolas" pitchFamily="34" charset="0"/>
                          <a:ea typeface="Consolas" pitchFamily="34" charset="-122"/>
                          <a:cs typeface="Consolas" pitchFamily="34" charset="-120"/>
                        </a:rPr>
                        <a:t>r-x</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read + execute</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29768">
                <a:tc>
                  <a:txBody>
                    <a:bodyPr/>
                    <a:lstStyle/>
                    <a:p>
                      <a:pPr indent="0" marL="0">
                        <a:buNone/>
                      </a:pPr>
                      <a:r>
                        <a:rPr lang="en-US" sz="1400" b="1" dirty="0">
                          <a:solidFill>
                            <a:srgbClr val="3A464C"/>
                          </a:solidFill>
                          <a:latin typeface="Consolas" pitchFamily="34" charset="0"/>
                          <a:ea typeface="Consolas" pitchFamily="34" charset="-122"/>
                          <a:cs typeface="Consolas" pitchFamily="34" charset="-120"/>
                        </a:rPr>
                        <a:t>6</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onsolas" pitchFamily="34" charset="0"/>
                          <a:ea typeface="Consolas" pitchFamily="34" charset="-122"/>
                          <a:cs typeface="Consolas" pitchFamily="34" charset="-120"/>
                        </a:rPr>
                        <a:t>1 1 0</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b="1" dirty="0">
                          <a:solidFill>
                            <a:srgbClr val="3A464C"/>
                          </a:solidFill>
                          <a:latin typeface="Consolas" pitchFamily="34" charset="0"/>
                          <a:ea typeface="Consolas" pitchFamily="34" charset="-122"/>
                          <a:cs typeface="Consolas" pitchFamily="34" charset="-120"/>
                        </a:rPr>
                        <a:t>rw-</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read + write</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29768">
                <a:tc>
                  <a:txBody>
                    <a:bodyPr/>
                    <a:lstStyle/>
                    <a:p>
                      <a:pPr indent="0" marL="0">
                        <a:buNone/>
                      </a:pPr>
                      <a:r>
                        <a:rPr lang="en-US" sz="1400" b="1" dirty="0">
                          <a:solidFill>
                            <a:srgbClr val="3A464C"/>
                          </a:solidFill>
                          <a:latin typeface="Consolas" pitchFamily="34" charset="0"/>
                          <a:ea typeface="Consolas" pitchFamily="34" charset="-122"/>
                          <a:cs typeface="Consolas" pitchFamily="34" charset="-120"/>
                        </a:rPr>
                        <a:t>7</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onsolas" pitchFamily="34" charset="0"/>
                          <a:ea typeface="Consolas" pitchFamily="34" charset="-122"/>
                          <a:cs typeface="Consolas" pitchFamily="34" charset="-120"/>
                        </a:rPr>
                        <a:t>1 1 1</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b="1" dirty="0">
                          <a:solidFill>
                            <a:srgbClr val="3A464C"/>
                          </a:solidFill>
                          <a:latin typeface="Consolas" pitchFamily="34" charset="0"/>
                          <a:ea typeface="Consolas" pitchFamily="34" charset="-122"/>
                          <a:cs typeface="Consolas" pitchFamily="34" charset="-120"/>
                        </a:rPr>
                        <a:t>rwx</a:t>
                      </a:r>
                      <a:endParaRPr lang="en-US"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00" dirty="0">
                          <a:solidFill>
                            <a:srgbClr val="3A464C"/>
                          </a:solidFill>
                          <a:latin typeface="Calibri" pitchFamily="34" charset="0"/>
                          <a:ea typeface="Calibri" pitchFamily="34" charset="-122"/>
                          <a:cs typeface="Calibri" pitchFamily="34" charset="-120"/>
                        </a:rPr>
                        <a:t>everything</a:t>
                      </a:r>
                      <a:endParaRPr lang="en-US"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7498080" y="1508760"/>
            <a:ext cx="416052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26680" y="1691640"/>
            <a:ext cx="37033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Why octal?</a:t>
            </a:r>
            <a:endParaRPr lang="en-US" sz="1500" dirty="0"/>
          </a:p>
        </p:txBody>
      </p:sp>
      <p:sp>
        <p:nvSpPr>
          <p:cNvPr id="9" name="Text 6"/>
          <p:cNvSpPr txBox="1"/>
          <p:nvPr/>
        </p:nvSpPr>
        <p:spPr>
          <a:xfrm>
            <a:off x="7726680" y="2148840"/>
            <a:ext cx="3703320" cy="146304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Each class has 3 bits → 2³ = 8 values → exactly one octal digit.</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Nine bits = three digits: user, group, others.</a:t>
            </a:r>
            <a:endParaRPr lang="en-US" sz="1400" dirty="0"/>
          </a:p>
        </p:txBody>
      </p:sp>
      <p:sp>
        <p:nvSpPr>
          <p:cNvPr id="10" name="Shape 7"/>
          <p:cNvSpPr/>
          <p:nvPr/>
        </p:nvSpPr>
        <p:spPr>
          <a:xfrm>
            <a:off x="7498080" y="3931920"/>
            <a:ext cx="4160520" cy="2331720"/>
          </a:xfrm>
          <a:prstGeom prst="roundRect">
            <a:avLst>
              <a:gd name="adj" fmla="val 1961"/>
            </a:avLst>
          </a:prstGeom>
          <a:solidFill>
            <a:srgbClr val="212121"/>
          </a:solidFill>
          <a:ln/>
        </p:spPr>
        <p:txBody>
          <a:bodyPr/>
          <a:p/>
        </p:txBody>
      </p:sp>
      <p:sp>
        <p:nvSpPr>
          <p:cNvPr id="11" name="Text 8"/>
          <p:cNvSpPr txBox="1"/>
          <p:nvPr/>
        </p:nvSpPr>
        <p:spPr>
          <a:xfrm>
            <a:off x="7680960" y="4041648"/>
            <a:ext cx="3794760" cy="2112264"/>
          </a:xfrm>
          <a:prstGeom prst="rect">
            <a:avLst/>
          </a:prstGeom>
          <a:noFill/>
          <a:ln/>
        </p:spPr>
        <p:txBody>
          <a:bodyPr wrap="square" lIns="0" tIns="0" rIns="0" bIns="0" rtlCol="0" anchor="t"/>
          <a:lstStyle/>
          <a:p>
            <a:pPr indent="0" marL="0">
              <a:lnSpc>
                <a:spcPct val="105000"/>
              </a:lnSpc>
              <a:buNone/>
            </a:pPr>
            <a:r>
              <a:rPr lang="en-US" sz="1350" dirty="0">
                <a:solidFill>
                  <a:srgbClr val="8A9AA0"/>
                </a:solidFill>
                <a:latin typeface="Consolas" pitchFamily="34" charset="0"/>
                <a:ea typeface="Consolas" pitchFamily="34" charset="-122"/>
                <a:cs typeface="Consolas" pitchFamily="34" charset="-120"/>
              </a:rPr>
              <a:t># symbolic → octal</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rw-  r--  ---</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110  100  000</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6    4    0    → 640</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a:t>
            </a:r>
            <a:endParaRPr lang="en-US" sz="1350" dirty="0"/>
          </a:p>
          <a:p>
            <a:pPr indent="0" marL="0">
              <a:lnSpc>
                <a:spcPct val="105000"/>
              </a:lnSpc>
              <a:buNone/>
            </a:pPr>
            <a:r>
              <a:rPr lang="en-US" sz="1350" dirty="0">
                <a:solidFill>
                  <a:srgbClr val="8A9AA0"/>
                </a:solidFill>
                <a:latin typeface="Consolas" pitchFamily="34" charset="0"/>
                <a:ea typeface="Consolas" pitchFamily="34" charset="-122"/>
                <a:cs typeface="Consolas" pitchFamily="34" charset="-120"/>
              </a:rPr>
              <a:t># octal → symbolic: 5 = 4 + 1</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5 → r-x</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WORKED EXAMPLES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Converting in Both Directions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17</a:t>
            </a:r>
            <a:endParaRPr lang="en-US" sz="900" dirty="0"/>
          </a:p>
        </p:txBody>
      </p:sp>
      <p:sp>
        <p:nvSpPr>
          <p:cNvPr id="6" name="Shape 4"/>
          <p:cNvSpPr/>
          <p:nvPr/>
        </p:nvSpPr>
        <p:spPr>
          <a:xfrm>
            <a:off x="548640" y="1508760"/>
            <a:ext cx="5440680" cy="868680"/>
          </a:xfrm>
          <a:prstGeom prst="roundRect">
            <a:avLst>
              <a:gd name="adj" fmla="val 631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Symbolic → octal: add the weights in each triplet</a:t>
            </a:r>
            <a:endParaRPr lang="en-US" sz="1500" dirty="0"/>
          </a:p>
        </p:txBody>
      </p:sp>
      <p:sp>
        <p:nvSpPr>
          <p:cNvPr id="8" name="Shape 6"/>
          <p:cNvSpPr/>
          <p:nvPr/>
        </p:nvSpPr>
        <p:spPr>
          <a:xfrm>
            <a:off x="548640" y="2468880"/>
            <a:ext cx="5440680" cy="2606040"/>
          </a:xfrm>
          <a:prstGeom prst="roundRect">
            <a:avLst>
              <a:gd name="adj" fmla="val 1754"/>
            </a:avLst>
          </a:prstGeom>
          <a:solidFill>
            <a:srgbClr val="212121"/>
          </a:solidFill>
          <a:ln/>
        </p:spPr>
        <p:txBody>
          <a:bodyPr/>
          <a:p/>
        </p:txBody>
      </p:sp>
      <p:sp>
        <p:nvSpPr>
          <p:cNvPr id="9" name="Text 7"/>
          <p:cNvSpPr txBox="1"/>
          <p:nvPr/>
        </p:nvSpPr>
        <p:spPr>
          <a:xfrm>
            <a:off x="731520" y="2578608"/>
            <a:ext cx="5074920" cy="2386584"/>
          </a:xfrm>
          <a:prstGeom prst="rect">
            <a:avLst/>
          </a:prstGeom>
          <a:noFill/>
          <a:ln/>
        </p:spPr>
        <p:txBody>
          <a:bodyPr wrap="square" lIns="0" tIns="0" rIns="0" bIns="0" rtlCol="0" anchor="t"/>
          <a:lstStyle/>
          <a:p>
            <a:pPr indent="0" marL="0">
              <a:lnSpc>
                <a:spcPct val="105000"/>
              </a:lnSpc>
              <a:buNone/>
            </a:pPr>
            <a:r>
              <a:rPr lang="en-US" sz="1500" dirty="0">
                <a:solidFill>
                  <a:srgbClr val="F2F2F2"/>
                </a:solidFill>
                <a:latin typeface="Consolas" pitchFamily="34" charset="0"/>
                <a:ea typeface="Consolas" pitchFamily="34" charset="-122"/>
                <a:cs typeface="Consolas" pitchFamily="34" charset="-120"/>
              </a:rPr>
              <a:t>rwxr-xr--</a:t>
            </a:r>
            <a:endParaRPr lang="en-US" sz="1500" dirty="0"/>
          </a:p>
          <a:p>
            <a:pPr indent="0" marL="0">
              <a:lnSpc>
                <a:spcPct val="105000"/>
              </a:lnSpc>
              <a:buNone/>
            </a:pPr>
            <a:r>
              <a:rPr lang="en-US" sz="1500" dirty="0">
                <a:solidFill>
                  <a:srgbClr val="F2F2F2"/>
                </a:solidFill>
                <a:latin typeface="Consolas" pitchFamily="34" charset="0"/>
                <a:ea typeface="Consolas" pitchFamily="34" charset="-122"/>
                <a:cs typeface="Consolas" pitchFamily="34" charset="-120"/>
              </a:rPr>
              <a:t>rwx = 4 + 2 + 1 = 7</a:t>
            </a:r>
            <a:endParaRPr lang="en-US" sz="1500" dirty="0"/>
          </a:p>
          <a:p>
            <a:pPr indent="0" marL="0">
              <a:lnSpc>
                <a:spcPct val="105000"/>
              </a:lnSpc>
              <a:buNone/>
            </a:pPr>
            <a:r>
              <a:rPr lang="en-US" sz="1500" dirty="0">
                <a:solidFill>
                  <a:srgbClr val="F2F2F2"/>
                </a:solidFill>
                <a:latin typeface="Consolas" pitchFamily="34" charset="0"/>
                <a:ea typeface="Consolas" pitchFamily="34" charset="-122"/>
                <a:cs typeface="Consolas" pitchFamily="34" charset="-120"/>
              </a:rPr>
              <a:t>r-x = 4 + 0 + 1 = 5</a:t>
            </a:r>
            <a:endParaRPr lang="en-US" sz="1500" dirty="0"/>
          </a:p>
          <a:p>
            <a:pPr indent="0" marL="0">
              <a:lnSpc>
                <a:spcPct val="105000"/>
              </a:lnSpc>
              <a:buNone/>
            </a:pPr>
            <a:r>
              <a:rPr lang="en-US" sz="1500" dirty="0">
                <a:solidFill>
                  <a:srgbClr val="F2F2F2"/>
                </a:solidFill>
                <a:latin typeface="Consolas" pitchFamily="34" charset="0"/>
                <a:ea typeface="Consolas" pitchFamily="34" charset="-122"/>
                <a:cs typeface="Consolas" pitchFamily="34" charset="-120"/>
              </a:rPr>
              <a:t>r-- = 4 + 0 + 0 = 4      → 754</a:t>
            </a:r>
            <a:endParaRPr lang="en-US" sz="1500" dirty="0"/>
          </a:p>
          <a:p>
            <a:pPr indent="0" marL="0">
              <a:lnSpc>
                <a:spcPct val="105000"/>
              </a:lnSpc>
              <a:buNone/>
            </a:pPr>
            <a:r>
              <a:rPr lang="en-US" sz="1500" dirty="0">
                <a:solidFill>
                  <a:srgbClr val="F2F2F2"/>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F2F2F2"/>
                </a:solidFill>
                <a:latin typeface="Consolas" pitchFamily="34" charset="0"/>
                <a:ea typeface="Consolas" pitchFamily="34" charset="-122"/>
                <a:cs typeface="Consolas" pitchFamily="34" charset="-120"/>
              </a:rPr>
              <a:t>rw-rw-r--  = 6 6 4       → 664</a:t>
            </a:r>
            <a:endParaRPr lang="en-US" sz="1500" dirty="0"/>
          </a:p>
        </p:txBody>
      </p:sp>
      <p:sp>
        <p:nvSpPr>
          <p:cNvPr id="10" name="Shape 8"/>
          <p:cNvSpPr/>
          <p:nvPr/>
        </p:nvSpPr>
        <p:spPr>
          <a:xfrm>
            <a:off x="6217920" y="1508760"/>
            <a:ext cx="5440680" cy="868680"/>
          </a:xfrm>
          <a:prstGeom prst="roundRect">
            <a:avLst>
              <a:gd name="adj" fmla="val 631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6446520" y="169164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Octal → symbolic: split each digit into 4, 2, 1</a:t>
            </a:r>
            <a:endParaRPr lang="en-US" sz="1500" dirty="0"/>
          </a:p>
        </p:txBody>
      </p:sp>
      <p:sp>
        <p:nvSpPr>
          <p:cNvPr id="12" name="Shape 10"/>
          <p:cNvSpPr/>
          <p:nvPr/>
        </p:nvSpPr>
        <p:spPr>
          <a:xfrm>
            <a:off x="6217920" y="2468880"/>
            <a:ext cx="5440680" cy="2606040"/>
          </a:xfrm>
          <a:prstGeom prst="roundRect">
            <a:avLst>
              <a:gd name="adj" fmla="val 1754"/>
            </a:avLst>
          </a:prstGeom>
          <a:solidFill>
            <a:srgbClr val="212121"/>
          </a:solidFill>
          <a:ln/>
        </p:spPr>
        <p:txBody>
          <a:bodyPr/>
          <a:p/>
        </p:txBody>
      </p:sp>
      <p:sp>
        <p:nvSpPr>
          <p:cNvPr id="13" name="Text 11"/>
          <p:cNvSpPr txBox="1"/>
          <p:nvPr/>
        </p:nvSpPr>
        <p:spPr>
          <a:xfrm>
            <a:off x="6400800" y="2578608"/>
            <a:ext cx="5074920" cy="2386584"/>
          </a:xfrm>
          <a:prstGeom prst="rect">
            <a:avLst/>
          </a:prstGeom>
          <a:noFill/>
          <a:ln/>
        </p:spPr>
        <p:txBody>
          <a:bodyPr wrap="square" lIns="0" tIns="0" rIns="0" bIns="0" rtlCol="0" anchor="t"/>
          <a:lstStyle/>
          <a:p>
            <a:pPr indent="0" marL="0">
              <a:lnSpc>
                <a:spcPct val="105000"/>
              </a:lnSpc>
              <a:buNone/>
            </a:pPr>
            <a:r>
              <a:rPr lang="en-US" sz="1500" dirty="0">
                <a:solidFill>
                  <a:srgbClr val="F2F2F2"/>
                </a:solidFill>
                <a:latin typeface="Consolas" pitchFamily="34" charset="0"/>
                <a:ea typeface="Consolas" pitchFamily="34" charset="-122"/>
                <a:cs typeface="Consolas" pitchFamily="34" charset="-120"/>
              </a:rPr>
              <a:t>711</a:t>
            </a:r>
            <a:endParaRPr lang="en-US" sz="1500" dirty="0"/>
          </a:p>
          <a:p>
            <a:pPr indent="0" marL="0">
              <a:lnSpc>
                <a:spcPct val="105000"/>
              </a:lnSpc>
              <a:buNone/>
            </a:pPr>
            <a:r>
              <a:rPr lang="en-US" sz="1500" dirty="0">
                <a:solidFill>
                  <a:srgbClr val="F2F2F2"/>
                </a:solidFill>
                <a:latin typeface="Consolas" pitchFamily="34" charset="0"/>
                <a:ea typeface="Consolas" pitchFamily="34" charset="-122"/>
                <a:cs typeface="Consolas" pitchFamily="34" charset="-120"/>
              </a:rPr>
              <a:t>7 = 4 + 2 + 1 → rwx</a:t>
            </a:r>
            <a:endParaRPr lang="en-US" sz="1500" dirty="0"/>
          </a:p>
          <a:p>
            <a:pPr indent="0" marL="0">
              <a:lnSpc>
                <a:spcPct val="105000"/>
              </a:lnSpc>
              <a:buNone/>
            </a:pPr>
            <a:r>
              <a:rPr lang="en-US" sz="1500" dirty="0">
                <a:solidFill>
                  <a:srgbClr val="F2F2F2"/>
                </a:solidFill>
                <a:latin typeface="Consolas" pitchFamily="34" charset="0"/>
                <a:ea typeface="Consolas" pitchFamily="34" charset="-122"/>
                <a:cs typeface="Consolas" pitchFamily="34" charset="-120"/>
              </a:rPr>
              <a:t>1 =         1 → --x</a:t>
            </a:r>
            <a:endParaRPr lang="en-US" sz="1500" dirty="0"/>
          </a:p>
          <a:p>
            <a:pPr indent="0" marL="0">
              <a:lnSpc>
                <a:spcPct val="105000"/>
              </a:lnSpc>
              <a:buNone/>
            </a:pPr>
            <a:r>
              <a:rPr lang="en-US" sz="1500" dirty="0">
                <a:solidFill>
                  <a:srgbClr val="F2F2F2"/>
                </a:solidFill>
                <a:latin typeface="Consolas" pitchFamily="34" charset="0"/>
                <a:ea typeface="Consolas" pitchFamily="34" charset="-122"/>
                <a:cs typeface="Consolas" pitchFamily="34" charset="-120"/>
              </a:rPr>
              <a:t>1 =         1 → --x      → rwx--x--x</a:t>
            </a:r>
            <a:endParaRPr lang="en-US" sz="1500" dirty="0"/>
          </a:p>
          <a:p>
            <a:pPr indent="0" marL="0">
              <a:lnSpc>
                <a:spcPct val="105000"/>
              </a:lnSpc>
              <a:buNone/>
            </a:pPr>
            <a:r>
              <a:rPr lang="en-US" sz="1500" dirty="0">
                <a:solidFill>
                  <a:srgbClr val="F2F2F2"/>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F2F2F2"/>
                </a:solidFill>
                <a:latin typeface="Consolas" pitchFamily="34" charset="0"/>
                <a:ea typeface="Consolas" pitchFamily="34" charset="-122"/>
                <a:cs typeface="Consolas" pitchFamily="34" charset="-120"/>
              </a:rPr>
              <a:t>640 → rw- r-- ---        → rw-r-----</a:t>
            </a:r>
            <a:endParaRPr lang="en-US" sz="1500" dirty="0"/>
          </a:p>
        </p:txBody>
      </p:sp>
      <p:sp>
        <p:nvSpPr>
          <p:cNvPr id="14" name="Shape 12"/>
          <p:cNvSpPr/>
          <p:nvPr/>
        </p:nvSpPr>
        <p:spPr>
          <a:xfrm>
            <a:off x="548640" y="5257800"/>
            <a:ext cx="11109960" cy="1005840"/>
          </a:xfrm>
          <a:prstGeom prst="roundRect">
            <a:avLst>
              <a:gd name="adj" fmla="val 5455"/>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5" name="Text 13"/>
          <p:cNvSpPr txBox="1"/>
          <p:nvPr/>
        </p:nvSpPr>
        <p:spPr>
          <a:xfrm>
            <a:off x="777240" y="5257800"/>
            <a:ext cx="10652760" cy="1005840"/>
          </a:xfrm>
          <a:prstGeom prst="rect">
            <a:avLst/>
          </a:prstGeom>
          <a:noFill/>
          <a:ln/>
        </p:spPr>
        <p:txBody>
          <a:bodyPr wrap="square" lIns="0" tIns="0" rIns="0" bIns="0" rtlCol="0" anchor="ctr"/>
          <a:lstStyle/>
          <a:p>
            <a:pPr indent="0" marL="0">
              <a:buNone/>
            </a:pPr>
            <a:r>
              <a:rPr lang="en-US" sz="1500" dirty="0">
                <a:solidFill>
                  <a:srgbClr val="F2F2F2"/>
                </a:solidFill>
                <a:latin typeface="Calibri" pitchFamily="34" charset="0"/>
                <a:ea typeface="Calibri" pitchFamily="34" charset="-122"/>
                <a:cs typeface="Calibri" pitchFamily="34" charset="-120"/>
              </a:rPr>
              <a:t>Quick check: an odd digit always contains x, a digit ≥ 4 always contains r. So 7 5 0 → rwx r-x --- without any arithmetic.</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CHMOD · OCTAL</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Modes You Will Meet Again and Again</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18</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188720"/>
                <a:gridCol w="2651760"/>
                <a:gridCol w="7269480"/>
              </a:tblGrid>
              <a:tr h="0">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Octal</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Symbolic</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Typical use</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644</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rw-r--r--</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ordinary files: everyone may read, only the owner writes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755</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rwxr-xr-x</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programs, scripts and directories that others may use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600</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rw-------</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private files: passwords, SSH keys (ssh refuses keys that others can read)</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700</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rwx------</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private directories (your home, ~/.ssh)</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640 / 750</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rw-r----- / rwxr-x---</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shared with the group, hidden from everyone else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777</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rwxrwxrwx</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anyone may change or delete — almost never correct</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166360"/>
            <a:ext cx="11109960" cy="1097280"/>
          </a:xfrm>
          <a:prstGeom prst="roundRect">
            <a:avLst>
              <a:gd name="adj" fmla="val 5000"/>
            </a:avLst>
          </a:prstGeom>
          <a:solidFill>
            <a:srgbClr val="F3D9D6"/>
          </a:solidFill>
          <a:ln w="12700">
            <a:solidFill>
              <a:srgbClr val="B5453A"/>
            </a:solidFill>
            <a:prstDash val="solid"/>
          </a:ln>
        </p:spPr>
        <p:txBody>
          <a:bodyPr/>
          <a:p/>
        </p:txBody>
      </p:sp>
      <p:sp>
        <p:nvSpPr>
          <p:cNvPr id="8" name="Text 5"/>
          <p:cNvSpPr txBox="1"/>
          <p:nvPr/>
        </p:nvSpPr>
        <p:spPr>
          <a:xfrm>
            <a:off x="731520" y="5166360"/>
            <a:ext cx="10744200" cy="1097280"/>
          </a:xfrm>
          <a:prstGeom prst="rect">
            <a:avLst/>
          </a:prstGeom>
          <a:noFill/>
          <a:ln/>
        </p:spPr>
        <p:txBody>
          <a:bodyPr wrap="square" lIns="0" tIns="0" rIns="0" bIns="0" rtlCol="0" anchor="ctr"/>
          <a:lstStyle/>
          <a:p>
            <a:pPr indent="0" marL="0">
              <a:buNone/>
            </a:pPr>
            <a:r>
              <a:rPr lang="en-US" sz="1350" b="1" dirty="0">
                <a:solidFill>
                  <a:srgbClr val="B5453A"/>
                </a:solidFill>
                <a:latin typeface="Calibri" pitchFamily="34" charset="0"/>
                <a:ea typeface="Calibri" pitchFamily="34" charset="-122"/>
                <a:cs typeface="Calibri" pitchFamily="34" charset="-120"/>
              </a:rPr>
              <a:t>Careful:  </a:t>
            </a:r>
            <a:r>
              <a:rPr lang="en-US" sz="1350" dirty="0">
                <a:solidFill>
                  <a:srgbClr val="5A2A25"/>
                </a:solidFill>
                <a:latin typeface="Calibri" pitchFamily="34" charset="0"/>
                <a:ea typeface="Calibri" pitchFamily="34" charset="-122"/>
                <a:cs typeface="Calibri" pitchFamily="34" charset="-120"/>
              </a:rPr>
              <a:t>chmod 777 "fixes" a Permission denied by giving every user on the machine write access: any user or compromised program can now change or replace the file. Find the one missing bit and add only that (e.g. chmod u+x).</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chmod in Octal Mode — and Two Typical Errors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19</a:t>
            </a:r>
            <a:endParaRPr lang="en-US" sz="900" dirty="0"/>
          </a:p>
        </p:txBody>
      </p:sp>
      <p:sp>
        <p:nvSpPr>
          <p:cNvPr id="6" name="Shape 4"/>
          <p:cNvSpPr/>
          <p:nvPr/>
        </p:nvSpPr>
        <p:spPr>
          <a:xfrm>
            <a:off x="548640" y="1508760"/>
            <a:ext cx="7498080" cy="4754880"/>
          </a:xfrm>
          <a:prstGeom prst="roundRect">
            <a:avLst>
              <a:gd name="adj" fmla="val 962"/>
            </a:avLst>
          </a:prstGeom>
          <a:solidFill>
            <a:srgbClr val="212121"/>
          </a:solidFill>
          <a:ln/>
        </p:spPr>
        <p:txBody>
          <a:bodyPr/>
          <a:p/>
        </p:txBody>
      </p:sp>
      <p:sp>
        <p:nvSpPr>
          <p:cNvPr id="7" name="Text 5"/>
          <p:cNvSpPr txBox="1"/>
          <p:nvPr/>
        </p:nvSpPr>
        <p:spPr>
          <a:xfrm>
            <a:off x="731520" y="1618488"/>
            <a:ext cx="7132320" cy="4535424"/>
          </a:xfrm>
          <a:prstGeom prst="rect">
            <a:avLst/>
          </a:prstGeom>
          <a:noFill/>
          <a:ln/>
        </p:spPr>
        <p:txBody>
          <a:bodyPr wrap="square" lIns="0" tIns="0" rIns="0" bIns="0" rtlCol="0" anchor="t"/>
          <a:lstStyle/>
          <a:p>
            <a:pPr indent="0" marL="0">
              <a:lnSpc>
                <a:spcPct val="100000"/>
              </a:lnSpc>
              <a:buNone/>
            </a:pPr>
            <a:r>
              <a:rPr lang="en-US" sz="950" dirty="0">
                <a:solidFill>
                  <a:srgbClr val="02C39A"/>
                </a:solidFill>
                <a:latin typeface="Consolas" pitchFamily="34" charset="0"/>
                <a:ea typeface="Consolas" pitchFamily="34" charset="-122"/>
                <a:cs typeface="Consolas" pitchFamily="34" charset="-120"/>
              </a:rPr>
              <a:t>student@okan-lab:~/lab$ </a:t>
            </a:r>
            <a:r>
              <a:rPr lang="en-US" sz="950" b="1" dirty="0">
                <a:solidFill>
                  <a:srgbClr val="FFFFFF"/>
                </a:solidFill>
                <a:latin typeface="Consolas" pitchFamily="34" charset="0"/>
                <a:ea typeface="Consolas" pitchFamily="34" charset="-122"/>
                <a:cs typeface="Consolas" pitchFamily="34" charset="-120"/>
              </a:rPr>
              <a:t>cd docs</a:t>
            </a:r>
            <a:endParaRPr lang="en-US" sz="950" dirty="0"/>
          </a:p>
          <a:p>
            <a:pPr indent="0" marL="0">
              <a:lnSpc>
                <a:spcPct val="100000"/>
              </a:lnSpc>
              <a:buNone/>
            </a:pPr>
            <a:r>
              <a:rPr lang="en-US" sz="950" dirty="0">
                <a:solidFill>
                  <a:srgbClr val="02C39A"/>
                </a:solidFill>
                <a:latin typeface="Consolas" pitchFamily="34" charset="0"/>
                <a:ea typeface="Consolas" pitchFamily="34" charset="-122"/>
                <a:cs typeface="Consolas" pitchFamily="34" charset="-120"/>
              </a:rPr>
              <a:t>student@okan-lab:~/lab/docs$ </a:t>
            </a:r>
            <a:r>
              <a:rPr lang="en-US" sz="950" b="1" dirty="0">
                <a:solidFill>
                  <a:srgbClr val="FFFFFF"/>
                </a:solidFill>
                <a:latin typeface="Consolas" pitchFamily="34" charset="0"/>
                <a:ea typeface="Consolas" pitchFamily="34" charset="-122"/>
                <a:cs typeface="Consolas" pitchFamily="34" charset="-120"/>
              </a:rPr>
              <a:t>chmod 754 syllabus.txt</a:t>
            </a:r>
            <a:endParaRPr lang="en-US" sz="950" dirty="0"/>
          </a:p>
          <a:p>
            <a:pPr indent="0" marL="0">
              <a:lnSpc>
                <a:spcPct val="100000"/>
              </a:lnSpc>
              <a:buNone/>
            </a:pPr>
            <a:r>
              <a:rPr lang="en-US" sz="950" dirty="0">
                <a:solidFill>
                  <a:srgbClr val="02C39A"/>
                </a:solidFill>
                <a:latin typeface="Consolas" pitchFamily="34" charset="0"/>
                <a:ea typeface="Consolas" pitchFamily="34" charset="-122"/>
                <a:cs typeface="Consolas" pitchFamily="34" charset="-120"/>
              </a:rPr>
              <a:t>student@okan-lab:~/lab/docs$ </a:t>
            </a:r>
            <a:r>
              <a:rPr lang="en-US" sz="950" b="1" dirty="0">
                <a:solidFill>
                  <a:srgbClr val="FFFFFF"/>
                </a:solidFill>
                <a:latin typeface="Consolas" pitchFamily="34" charset="0"/>
                <a:ea typeface="Consolas" pitchFamily="34" charset="-122"/>
                <a:cs typeface="Consolas" pitchFamily="34" charset="-120"/>
              </a:rPr>
              <a:t>ls -l syllabus.txt</a:t>
            </a:r>
            <a:endParaRPr lang="en-US" sz="950" dirty="0"/>
          </a:p>
          <a:p>
            <a:pPr indent="0" marL="0">
              <a:lnSpc>
                <a:spcPct val="100000"/>
              </a:lnSpc>
              <a:buNone/>
            </a:pPr>
            <a:r>
              <a:rPr lang="en-US" sz="950" dirty="0">
                <a:solidFill>
                  <a:srgbClr val="F2F2F2"/>
                </a:solidFill>
                <a:latin typeface="Consolas" pitchFamily="34" charset="0"/>
                <a:ea typeface="Consolas" pitchFamily="34" charset="-122"/>
                <a:cs typeface="Consolas" pitchFamily="34" charset="-120"/>
              </a:rPr>
              <a:t>-rwxr-xr-- 1 student student 578 Oct 12 19:38 syllabus.txt</a:t>
            </a:r>
            <a:endParaRPr lang="en-US" sz="950" dirty="0"/>
          </a:p>
          <a:p>
            <a:pPr indent="0" marL="0">
              <a:lnSpc>
                <a:spcPct val="100000"/>
              </a:lnSpc>
              <a:buNone/>
            </a:pPr>
            <a:r>
              <a:rPr lang="en-US" sz="950" dirty="0">
                <a:solidFill>
                  <a:srgbClr val="02C39A"/>
                </a:solidFill>
                <a:latin typeface="Consolas" pitchFamily="34" charset="0"/>
                <a:ea typeface="Consolas" pitchFamily="34" charset="-122"/>
                <a:cs typeface="Consolas" pitchFamily="34" charset="-120"/>
              </a:rPr>
              <a:t>student@okan-lab:~/lab/docs$ </a:t>
            </a:r>
            <a:r>
              <a:rPr lang="en-US" sz="950" b="1" dirty="0">
                <a:solidFill>
                  <a:srgbClr val="FFFFFF"/>
                </a:solidFill>
                <a:latin typeface="Consolas" pitchFamily="34" charset="0"/>
                <a:ea typeface="Consolas" pitchFamily="34" charset="-122"/>
                <a:cs typeface="Consolas" pitchFamily="34" charset="-120"/>
              </a:rPr>
              <a:t>chmod 640 syllabus.txt</a:t>
            </a:r>
            <a:endParaRPr lang="en-US" sz="950" dirty="0"/>
          </a:p>
          <a:p>
            <a:pPr indent="0" marL="0">
              <a:lnSpc>
                <a:spcPct val="100000"/>
              </a:lnSpc>
              <a:buNone/>
            </a:pPr>
            <a:r>
              <a:rPr lang="en-US" sz="950" dirty="0">
                <a:solidFill>
                  <a:srgbClr val="02C39A"/>
                </a:solidFill>
                <a:latin typeface="Consolas" pitchFamily="34" charset="0"/>
                <a:ea typeface="Consolas" pitchFamily="34" charset="-122"/>
                <a:cs typeface="Consolas" pitchFamily="34" charset="-120"/>
              </a:rPr>
              <a:t>student@okan-lab:~/lab/docs$ </a:t>
            </a:r>
            <a:r>
              <a:rPr lang="en-US" sz="950" b="1" dirty="0">
                <a:solidFill>
                  <a:srgbClr val="FFFFFF"/>
                </a:solidFill>
                <a:latin typeface="Consolas" pitchFamily="34" charset="0"/>
                <a:ea typeface="Consolas" pitchFamily="34" charset="-122"/>
                <a:cs typeface="Consolas" pitchFamily="34" charset="-120"/>
              </a:rPr>
              <a:t>chmod 600 notes_01.txt</a:t>
            </a:r>
            <a:endParaRPr lang="en-US" sz="950" dirty="0"/>
          </a:p>
          <a:p>
            <a:pPr indent="0" marL="0">
              <a:lnSpc>
                <a:spcPct val="100000"/>
              </a:lnSpc>
              <a:buNone/>
            </a:pPr>
            <a:r>
              <a:rPr lang="en-US" sz="950" dirty="0">
                <a:solidFill>
                  <a:srgbClr val="02C39A"/>
                </a:solidFill>
                <a:latin typeface="Consolas" pitchFamily="34" charset="0"/>
                <a:ea typeface="Consolas" pitchFamily="34" charset="-122"/>
                <a:cs typeface="Consolas" pitchFamily="34" charset="-120"/>
              </a:rPr>
              <a:t>student@okan-lab:~/lab/docs$ </a:t>
            </a:r>
            <a:r>
              <a:rPr lang="en-US" sz="950" b="1" dirty="0">
                <a:solidFill>
                  <a:srgbClr val="FFFFFF"/>
                </a:solidFill>
                <a:latin typeface="Consolas" pitchFamily="34" charset="0"/>
                <a:ea typeface="Consolas" pitchFamily="34" charset="-122"/>
                <a:cs typeface="Consolas" pitchFamily="34" charset="-120"/>
              </a:rPr>
              <a:t>chmod 644 notes_02.txt</a:t>
            </a:r>
            <a:endParaRPr lang="en-US" sz="950" dirty="0"/>
          </a:p>
          <a:p>
            <a:pPr indent="0" marL="0">
              <a:lnSpc>
                <a:spcPct val="100000"/>
              </a:lnSpc>
              <a:buNone/>
            </a:pPr>
            <a:r>
              <a:rPr lang="en-US" sz="950" dirty="0">
                <a:solidFill>
                  <a:srgbClr val="02C39A"/>
                </a:solidFill>
                <a:latin typeface="Consolas" pitchFamily="34" charset="0"/>
                <a:ea typeface="Consolas" pitchFamily="34" charset="-122"/>
                <a:cs typeface="Consolas" pitchFamily="34" charset="-120"/>
              </a:rPr>
              <a:t>student@okan-lab:~/lab/docs$ </a:t>
            </a:r>
            <a:r>
              <a:rPr lang="en-US" sz="950" b="1" dirty="0">
                <a:solidFill>
                  <a:srgbClr val="FFFFFF"/>
                </a:solidFill>
                <a:latin typeface="Consolas" pitchFamily="34" charset="0"/>
                <a:ea typeface="Consolas" pitchFamily="34" charset="-122"/>
                <a:cs typeface="Consolas" pitchFamily="34" charset="-120"/>
              </a:rPr>
              <a:t>chmod 700 ../backup</a:t>
            </a:r>
            <a:endParaRPr lang="en-US" sz="950" dirty="0"/>
          </a:p>
          <a:p>
            <a:pPr indent="0" marL="0">
              <a:lnSpc>
                <a:spcPct val="100000"/>
              </a:lnSpc>
              <a:buNone/>
            </a:pPr>
            <a:r>
              <a:rPr lang="en-US" sz="950" dirty="0">
                <a:solidFill>
                  <a:srgbClr val="02C39A"/>
                </a:solidFill>
                <a:latin typeface="Consolas" pitchFamily="34" charset="0"/>
                <a:ea typeface="Consolas" pitchFamily="34" charset="-122"/>
                <a:cs typeface="Consolas" pitchFamily="34" charset="-120"/>
              </a:rPr>
              <a:t>student@okan-lab:~/lab/docs$ </a:t>
            </a:r>
            <a:r>
              <a:rPr lang="en-US" sz="950" b="1" dirty="0">
                <a:solidFill>
                  <a:srgbClr val="FFFFFF"/>
                </a:solidFill>
                <a:latin typeface="Consolas" pitchFamily="34" charset="0"/>
                <a:ea typeface="Consolas" pitchFamily="34" charset="-122"/>
                <a:cs typeface="Consolas" pitchFamily="34" charset="-120"/>
              </a:rPr>
              <a:t>stat -c '%a  %A  %n' syllabus.txt notes_01.txt notes_02.txt ../backup</a:t>
            </a:r>
            <a:endParaRPr lang="en-US" sz="950" dirty="0"/>
          </a:p>
          <a:p>
            <a:pPr indent="0" marL="0">
              <a:lnSpc>
                <a:spcPct val="100000"/>
              </a:lnSpc>
              <a:buNone/>
            </a:pPr>
            <a:r>
              <a:rPr lang="en-US" sz="950" dirty="0">
                <a:solidFill>
                  <a:srgbClr val="F2F2F2"/>
                </a:solidFill>
                <a:latin typeface="Consolas" pitchFamily="34" charset="0"/>
                <a:ea typeface="Consolas" pitchFamily="34" charset="-122"/>
                <a:cs typeface="Consolas" pitchFamily="34" charset="-120"/>
              </a:rPr>
              <a:t>640  -rw-r-----  syllabus.txt</a:t>
            </a:r>
            <a:endParaRPr lang="en-US" sz="950" dirty="0"/>
          </a:p>
          <a:p>
            <a:pPr indent="0" marL="0">
              <a:lnSpc>
                <a:spcPct val="100000"/>
              </a:lnSpc>
              <a:buNone/>
            </a:pPr>
            <a:r>
              <a:rPr lang="en-US" sz="950" dirty="0">
                <a:solidFill>
                  <a:srgbClr val="F2F2F2"/>
                </a:solidFill>
                <a:latin typeface="Consolas" pitchFamily="34" charset="0"/>
                <a:ea typeface="Consolas" pitchFamily="34" charset="-122"/>
                <a:cs typeface="Consolas" pitchFamily="34" charset="-120"/>
              </a:rPr>
              <a:t>600  -rw-------  notes_01.txt</a:t>
            </a:r>
            <a:endParaRPr lang="en-US" sz="950" dirty="0"/>
          </a:p>
          <a:p>
            <a:pPr indent="0" marL="0">
              <a:lnSpc>
                <a:spcPct val="100000"/>
              </a:lnSpc>
              <a:buNone/>
            </a:pPr>
            <a:r>
              <a:rPr lang="en-US" sz="950" dirty="0">
                <a:solidFill>
                  <a:srgbClr val="F2F2F2"/>
                </a:solidFill>
                <a:latin typeface="Consolas" pitchFamily="34" charset="0"/>
                <a:ea typeface="Consolas" pitchFamily="34" charset="-122"/>
                <a:cs typeface="Consolas" pitchFamily="34" charset="-120"/>
              </a:rPr>
              <a:t>644  -rw-r--r--  notes_02.txt</a:t>
            </a:r>
            <a:endParaRPr lang="en-US" sz="950" dirty="0"/>
          </a:p>
          <a:p>
            <a:pPr indent="0" marL="0">
              <a:lnSpc>
                <a:spcPct val="100000"/>
              </a:lnSpc>
              <a:buNone/>
            </a:pPr>
            <a:r>
              <a:rPr lang="en-US" sz="950" dirty="0">
                <a:solidFill>
                  <a:srgbClr val="F2F2F2"/>
                </a:solidFill>
                <a:latin typeface="Consolas" pitchFamily="34" charset="0"/>
                <a:ea typeface="Consolas" pitchFamily="34" charset="-122"/>
                <a:cs typeface="Consolas" pitchFamily="34" charset="-120"/>
              </a:rPr>
              <a:t>700  drwx------  ../backup</a:t>
            </a:r>
            <a:endParaRPr lang="en-US" sz="950" dirty="0"/>
          </a:p>
          <a:p>
            <a:pPr indent="0" marL="0">
              <a:lnSpc>
                <a:spcPct val="100000"/>
              </a:lnSpc>
              <a:buNone/>
            </a:pPr>
            <a:r>
              <a:rPr lang="en-US" sz="950" dirty="0">
                <a:solidFill>
                  <a:srgbClr val="02C39A"/>
                </a:solidFill>
                <a:latin typeface="Consolas" pitchFamily="34" charset="0"/>
                <a:ea typeface="Consolas" pitchFamily="34" charset="-122"/>
                <a:cs typeface="Consolas" pitchFamily="34" charset="-120"/>
              </a:rPr>
              <a:t>student@okan-lab:~/lab/docs$ </a:t>
            </a:r>
            <a:r>
              <a:rPr lang="en-US" sz="950" b="1" dirty="0">
                <a:solidFill>
                  <a:srgbClr val="FFFFFF"/>
                </a:solidFill>
                <a:latin typeface="Consolas" pitchFamily="34" charset="0"/>
                <a:ea typeface="Consolas" pitchFamily="34" charset="-122"/>
                <a:cs typeface="Consolas" pitchFamily="34" charset="-120"/>
              </a:rPr>
              <a:t>chmod 854 notes_03.txt</a:t>
            </a:r>
            <a:endParaRPr lang="en-US" sz="950" dirty="0"/>
          </a:p>
          <a:p>
            <a:pPr indent="0" marL="0">
              <a:lnSpc>
                <a:spcPct val="100000"/>
              </a:lnSpc>
              <a:buNone/>
            </a:pPr>
            <a:r>
              <a:rPr lang="en-US" sz="950" dirty="0">
                <a:solidFill>
                  <a:srgbClr val="F4A79D"/>
                </a:solidFill>
                <a:latin typeface="Consolas" pitchFamily="34" charset="0"/>
                <a:ea typeface="Consolas" pitchFamily="34" charset="-122"/>
                <a:cs typeface="Consolas" pitchFamily="34" charset="-120"/>
              </a:rPr>
              <a:t>chmod: invalid mode: ‘854’</a:t>
            </a:r>
            <a:endParaRPr lang="en-US" sz="950" dirty="0"/>
          </a:p>
          <a:p>
            <a:pPr indent="0" marL="0">
              <a:lnSpc>
                <a:spcPct val="100000"/>
              </a:lnSpc>
              <a:buNone/>
            </a:pPr>
            <a:r>
              <a:rPr lang="en-US" sz="950" dirty="0">
                <a:solidFill>
                  <a:srgbClr val="F2F2F2"/>
                </a:solidFill>
                <a:latin typeface="Consolas" pitchFamily="34" charset="0"/>
                <a:ea typeface="Consolas" pitchFamily="34" charset="-122"/>
                <a:cs typeface="Consolas" pitchFamily="34" charset="-120"/>
              </a:rPr>
              <a:t>Try 'chmod --help' for more information.</a:t>
            </a:r>
            <a:endParaRPr lang="en-US" sz="950" dirty="0"/>
          </a:p>
          <a:p>
            <a:pPr indent="0" marL="0">
              <a:lnSpc>
                <a:spcPct val="100000"/>
              </a:lnSpc>
              <a:buNone/>
            </a:pPr>
            <a:r>
              <a:rPr lang="en-US" sz="950" dirty="0">
                <a:solidFill>
                  <a:srgbClr val="02C39A"/>
                </a:solidFill>
                <a:latin typeface="Consolas" pitchFamily="34" charset="0"/>
                <a:ea typeface="Consolas" pitchFamily="34" charset="-122"/>
                <a:cs typeface="Consolas" pitchFamily="34" charset="-120"/>
              </a:rPr>
              <a:t>student@okan-lab:~/lab/docs$ </a:t>
            </a:r>
            <a:r>
              <a:rPr lang="en-US" sz="950" b="1" dirty="0">
                <a:solidFill>
                  <a:srgbClr val="FFFFFF"/>
                </a:solidFill>
                <a:latin typeface="Consolas" pitchFamily="34" charset="0"/>
                <a:ea typeface="Consolas" pitchFamily="34" charset="-122"/>
                <a:cs typeface="Consolas" pitchFamily="34" charset="-120"/>
              </a:rPr>
              <a:t>chmod rw notes_03.txt</a:t>
            </a:r>
            <a:endParaRPr lang="en-US" sz="950" dirty="0"/>
          </a:p>
          <a:p>
            <a:pPr indent="0" marL="0">
              <a:lnSpc>
                <a:spcPct val="100000"/>
              </a:lnSpc>
              <a:buNone/>
            </a:pPr>
            <a:r>
              <a:rPr lang="en-US" sz="950" dirty="0">
                <a:solidFill>
                  <a:srgbClr val="F4A79D"/>
                </a:solidFill>
                <a:latin typeface="Consolas" pitchFamily="34" charset="0"/>
                <a:ea typeface="Consolas" pitchFamily="34" charset="-122"/>
                <a:cs typeface="Consolas" pitchFamily="34" charset="-120"/>
              </a:rPr>
              <a:t>chmod: invalid mode: ‘rw’</a:t>
            </a:r>
            <a:endParaRPr lang="en-US" sz="950" dirty="0"/>
          </a:p>
          <a:p>
            <a:pPr indent="0" marL="0">
              <a:lnSpc>
                <a:spcPct val="100000"/>
              </a:lnSpc>
              <a:buNone/>
            </a:pPr>
            <a:r>
              <a:rPr lang="en-US" sz="950" dirty="0">
                <a:solidFill>
                  <a:srgbClr val="F2F2F2"/>
                </a:solidFill>
                <a:latin typeface="Consolas" pitchFamily="34" charset="0"/>
                <a:ea typeface="Consolas" pitchFamily="34" charset="-122"/>
                <a:cs typeface="Consolas" pitchFamily="34" charset="-120"/>
              </a:rPr>
              <a:t>Try 'chmod --help' for more information.</a:t>
            </a:r>
            <a:endParaRPr lang="en-US" sz="950" dirty="0"/>
          </a:p>
        </p:txBody>
      </p:sp>
      <p:sp>
        <p:nvSpPr>
          <p:cNvPr id="8" name="Shape 6"/>
          <p:cNvSpPr/>
          <p:nvPr/>
        </p:nvSpPr>
        <p:spPr>
          <a:xfrm>
            <a:off x="8275320" y="1508760"/>
            <a:ext cx="3383280" cy="4754880"/>
          </a:xfrm>
          <a:prstGeom prst="roundRect">
            <a:avLst>
              <a:gd name="adj" fmla="val 1622"/>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503920" y="1691640"/>
            <a:ext cx="29260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8503920" y="2148840"/>
            <a:ext cx="2926080" cy="397764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754 → rwxr-xr--: digits map to triplets.</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One chmod can take several files.</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700 on a directory: nobody else may even enter.</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8 and 9 are not octal digits.</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"rw" lacks who/operator: write u+rw or a number.</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Making a Script Executable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20</a:t>
            </a:r>
            <a:endParaRPr lang="en-US" sz="900" dirty="0"/>
          </a:p>
        </p:txBody>
      </p:sp>
      <p:sp>
        <p:nvSpPr>
          <p:cNvPr id="6" name="Shape 4"/>
          <p:cNvSpPr/>
          <p:nvPr/>
        </p:nvSpPr>
        <p:spPr>
          <a:xfrm>
            <a:off x="548640" y="1508760"/>
            <a:ext cx="7223760" cy="4754880"/>
          </a:xfrm>
          <a:prstGeom prst="roundRect">
            <a:avLst>
              <a:gd name="adj" fmla="val 962"/>
            </a:avLst>
          </a:prstGeom>
          <a:solidFill>
            <a:srgbClr val="212121"/>
          </a:solidFill>
          <a:ln/>
        </p:spPr>
        <p:txBody>
          <a:bodyPr/>
          <a:p/>
        </p:txBody>
      </p:sp>
      <p:sp>
        <p:nvSpPr>
          <p:cNvPr id="7" name="Text 5"/>
          <p:cNvSpPr txBox="1"/>
          <p:nvPr/>
        </p:nvSpPr>
        <p:spPr>
          <a:xfrm>
            <a:off x="731520" y="1618488"/>
            <a:ext cx="6858000" cy="4535424"/>
          </a:xfrm>
          <a:prstGeom prst="rect">
            <a:avLst/>
          </a:prstGeom>
          <a:noFill/>
          <a:ln/>
        </p:spPr>
        <p:txBody>
          <a:bodyPr wrap="square" lIns="0" tIns="0" rIns="0" bIns="0" rtlCol="0" anchor="t"/>
          <a:lstStyle/>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student@okan-lab:~/lab$ </a:t>
            </a:r>
            <a:r>
              <a:rPr lang="en-US" sz="1000" b="1" dirty="0">
                <a:solidFill>
                  <a:srgbClr val="FFFFFF"/>
                </a:solidFill>
                <a:latin typeface="Consolas" pitchFamily="34" charset="0"/>
                <a:ea typeface="Consolas" pitchFamily="34" charset="-122"/>
                <a:cs typeface="Consolas" pitchFamily="34" charset="-120"/>
              </a:rPr>
              <a:t>cd scripts</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student@okan-lab:~/lab/scripts$ </a:t>
            </a:r>
            <a:r>
              <a:rPr lang="en-US" sz="1000" b="1" dirty="0">
                <a:solidFill>
                  <a:srgbClr val="FFFFFF"/>
                </a:solidFill>
                <a:latin typeface="Consolas" pitchFamily="34" charset="0"/>
                <a:ea typeface="Consolas" pitchFamily="34" charset="-122"/>
                <a:cs typeface="Consolas" pitchFamily="34" charset="-120"/>
              </a:rPr>
              <a:t>echo '#!/bin/bash' &gt; hello.sh</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student@okan-lab:~/lab/scripts$ </a:t>
            </a:r>
            <a:r>
              <a:rPr lang="en-US" sz="1000" b="1" dirty="0">
                <a:solidFill>
                  <a:srgbClr val="FFFFFF"/>
                </a:solidFill>
                <a:latin typeface="Consolas" pitchFamily="34" charset="0"/>
                <a:ea typeface="Consolas" pitchFamily="34" charset="-122"/>
                <a:cs typeface="Consolas" pitchFamily="34" charset="-120"/>
              </a:rPr>
              <a:t>echo 'echo "Hello, $USER! You are in $PWD"' &gt;&gt; hello.sh</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student@okan-lab:~/lab/scripts$ </a:t>
            </a:r>
            <a:r>
              <a:rPr lang="en-US" sz="1000" b="1" dirty="0">
                <a:solidFill>
                  <a:srgbClr val="FFFFFF"/>
                </a:solidFill>
                <a:latin typeface="Consolas" pitchFamily="34" charset="0"/>
                <a:ea typeface="Consolas" pitchFamily="34" charset="-122"/>
                <a:cs typeface="Consolas" pitchFamily="34" charset="-120"/>
              </a:rPr>
              <a:t>cat hello.sh</a:t>
            </a:r>
            <a:endParaRPr lang="en-US" sz="1000" dirty="0"/>
          </a:p>
          <a:p>
            <a:pPr indent="0" marL="0">
              <a:lnSpc>
                <a:spcPct val="100000"/>
              </a:lnSpc>
              <a:buNone/>
            </a:pPr>
            <a:r>
              <a:rPr lang="en-US" sz="1000" dirty="0">
                <a:solidFill>
                  <a:srgbClr val="8A9AA0"/>
                </a:solidFill>
                <a:latin typeface="Consolas" pitchFamily="34" charset="0"/>
                <a:ea typeface="Consolas" pitchFamily="34" charset="-122"/>
                <a:cs typeface="Consolas" pitchFamily="34" charset="-120"/>
              </a:rPr>
              <a:t>#!/bin/bash</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echo "Hello, $USER! You are in $PWD"</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student@okan-lab:~/lab/scripts$ </a:t>
            </a:r>
            <a:r>
              <a:rPr lang="en-US" sz="1000" b="1" dirty="0">
                <a:solidFill>
                  <a:srgbClr val="FFFFFF"/>
                </a:solidFill>
                <a:latin typeface="Consolas" pitchFamily="34" charset="0"/>
                <a:ea typeface="Consolas" pitchFamily="34" charset="-122"/>
                <a:cs typeface="Consolas" pitchFamily="34" charset="-120"/>
              </a:rPr>
              <a:t>ls -l hello.sh</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-rw-rw-r-- 1 student student 49 Oct 12 19:38 hello.sh</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student@okan-lab:~/lab/scripts$ </a:t>
            </a:r>
            <a:r>
              <a:rPr lang="en-US" sz="1000" b="1" dirty="0">
                <a:solidFill>
                  <a:srgbClr val="FFFFFF"/>
                </a:solidFill>
                <a:latin typeface="Consolas" pitchFamily="34" charset="0"/>
                <a:ea typeface="Consolas" pitchFamily="34" charset="-122"/>
                <a:cs typeface="Consolas" pitchFamily="34" charset="-120"/>
              </a:rPr>
              <a:t>./hello.sh</a:t>
            </a:r>
            <a:endParaRPr lang="en-US" sz="1000" dirty="0"/>
          </a:p>
          <a:p>
            <a:pPr indent="0" marL="0">
              <a:lnSpc>
                <a:spcPct val="100000"/>
              </a:lnSpc>
              <a:buNone/>
            </a:pPr>
            <a:r>
              <a:rPr lang="en-US" sz="1000" dirty="0">
                <a:solidFill>
                  <a:srgbClr val="F4A79D"/>
                </a:solidFill>
                <a:latin typeface="Consolas" pitchFamily="34" charset="0"/>
                <a:ea typeface="Consolas" pitchFamily="34" charset="-122"/>
                <a:cs typeface="Consolas" pitchFamily="34" charset="-120"/>
              </a:rPr>
              <a:t>bash: ./hello.sh: Permission denied</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student@okan-lab:~/lab/scripts$ </a:t>
            </a:r>
            <a:r>
              <a:rPr lang="en-US" sz="1000" b="1" dirty="0">
                <a:solidFill>
                  <a:srgbClr val="FFFFFF"/>
                </a:solidFill>
                <a:latin typeface="Consolas" pitchFamily="34" charset="0"/>
                <a:ea typeface="Consolas" pitchFamily="34" charset="-122"/>
                <a:cs typeface="Consolas" pitchFamily="34" charset="-120"/>
              </a:rPr>
              <a:t>bash hello.sh</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Hello, student! You are in /home/student/lab/scripts</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student@okan-lab:~/lab/scripts$ </a:t>
            </a:r>
            <a:r>
              <a:rPr lang="en-US" sz="1000" b="1" dirty="0">
                <a:solidFill>
                  <a:srgbClr val="FFFFFF"/>
                </a:solidFill>
                <a:latin typeface="Consolas" pitchFamily="34" charset="0"/>
                <a:ea typeface="Consolas" pitchFamily="34" charset="-122"/>
                <a:cs typeface="Consolas" pitchFamily="34" charset="-120"/>
              </a:rPr>
              <a:t>chmod u+x hello.sh</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student@okan-lab:~/lab/scripts$ </a:t>
            </a:r>
            <a:r>
              <a:rPr lang="en-US" sz="1000" b="1" dirty="0">
                <a:solidFill>
                  <a:srgbClr val="FFFFFF"/>
                </a:solidFill>
                <a:latin typeface="Consolas" pitchFamily="34" charset="0"/>
                <a:ea typeface="Consolas" pitchFamily="34" charset="-122"/>
                <a:cs typeface="Consolas" pitchFamily="34" charset="-120"/>
              </a:rPr>
              <a:t>ls -l hello.sh</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-rwxrw-r-- 1 student student 49 Oct 12 19:38 hello.sh</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student@okan-lab:~/lab/scripts$ </a:t>
            </a:r>
            <a:r>
              <a:rPr lang="en-US" sz="1000" b="1" dirty="0">
                <a:solidFill>
                  <a:srgbClr val="FFFFFF"/>
                </a:solidFill>
                <a:latin typeface="Consolas" pitchFamily="34" charset="0"/>
                <a:ea typeface="Consolas" pitchFamily="34" charset="-122"/>
                <a:cs typeface="Consolas" pitchFamily="34" charset="-120"/>
              </a:rPr>
              <a:t>./hello.sh</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Hello, student! You are in /home/student/lab/scripts</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student@okan-lab:~/lab/scripts$ </a:t>
            </a:r>
            <a:r>
              <a:rPr lang="en-US" sz="1000" b="1" dirty="0">
                <a:solidFill>
                  <a:srgbClr val="FFFFFF"/>
                </a:solidFill>
                <a:latin typeface="Consolas" pitchFamily="34" charset="0"/>
                <a:ea typeface="Consolas" pitchFamily="34" charset="-122"/>
                <a:cs typeface="Consolas" pitchFamily="34" charset="-120"/>
              </a:rPr>
              <a:t>hello.sh</a:t>
            </a:r>
            <a:endParaRPr lang="en-US" sz="1000" dirty="0"/>
          </a:p>
          <a:p>
            <a:pPr indent="0" marL="0">
              <a:lnSpc>
                <a:spcPct val="100000"/>
              </a:lnSpc>
              <a:buNone/>
            </a:pPr>
            <a:r>
              <a:rPr lang="en-US" sz="1000" dirty="0">
                <a:solidFill>
                  <a:srgbClr val="F4A79D"/>
                </a:solidFill>
                <a:latin typeface="Consolas" pitchFamily="34" charset="0"/>
                <a:ea typeface="Consolas" pitchFamily="34" charset="-122"/>
                <a:cs typeface="Consolas" pitchFamily="34" charset="-120"/>
              </a:rPr>
              <a:t>bash: hello.sh: command not found</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student@okan-lab:~/lab/scripts$ </a:t>
            </a:r>
            <a:r>
              <a:rPr lang="en-US" sz="1000" b="1" dirty="0">
                <a:solidFill>
                  <a:srgbClr val="FFFFFF"/>
                </a:solidFill>
                <a:latin typeface="Consolas" pitchFamily="34" charset="0"/>
                <a:ea typeface="Consolas" pitchFamily="34" charset="-122"/>
                <a:cs typeface="Consolas" pitchFamily="34" charset="-120"/>
              </a:rPr>
              <a:t>cd ../src</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student@okan-lab:~/lab/src$ </a:t>
            </a:r>
            <a:r>
              <a:rPr lang="en-US" sz="1000" b="1" dirty="0">
                <a:solidFill>
                  <a:srgbClr val="FFFFFF"/>
                </a:solidFill>
                <a:latin typeface="Consolas" pitchFamily="34" charset="0"/>
                <a:ea typeface="Consolas" pitchFamily="34" charset="-122"/>
                <a:cs typeface="Consolas" pitchFamily="34" charset="-120"/>
              </a:rPr>
              <a:t>gcc -Wall -O2 hello.c -o hello</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student@okan-lab:~/lab/src$ </a:t>
            </a:r>
            <a:r>
              <a:rPr lang="en-US" sz="1000" b="1" dirty="0">
                <a:solidFill>
                  <a:srgbClr val="FFFFFF"/>
                </a:solidFill>
                <a:latin typeface="Consolas" pitchFamily="34" charset="0"/>
                <a:ea typeface="Consolas" pitchFamily="34" charset="-122"/>
                <a:cs typeface="Consolas" pitchFamily="34" charset="-120"/>
              </a:rPr>
              <a:t>ls -l hello.c hello</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-rwxrwxr-x 1 student student 15960 Oct 12 19:38 hello</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-rw-rw-r-- 1 student student    90 Oct 12 19:38 hello.c</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student@okan-lab:~/lab/src$ </a:t>
            </a:r>
            <a:r>
              <a:rPr lang="en-US" sz="1000" b="1" dirty="0">
                <a:solidFill>
                  <a:srgbClr val="FFFFFF"/>
                </a:solidFill>
                <a:latin typeface="Consolas" pitchFamily="34" charset="0"/>
                <a:ea typeface="Consolas" pitchFamily="34" charset="-122"/>
                <a:cs typeface="Consolas" pitchFamily="34" charset="-120"/>
              </a:rPr>
              <a:t>./hello</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Hello from the lab!</a:t>
            </a:r>
            <a:endParaRPr lang="en-US" sz="1000" dirty="0"/>
          </a:p>
        </p:txBody>
      </p:sp>
      <p:sp>
        <p:nvSpPr>
          <p:cNvPr id="8" name="Shape 6"/>
          <p:cNvSpPr/>
          <p:nvPr/>
        </p:nvSpPr>
        <p:spPr>
          <a:xfrm>
            <a:off x="8001000" y="1508760"/>
            <a:ext cx="3657600" cy="3017520"/>
          </a:xfrm>
          <a:prstGeom prst="roundRect">
            <a:avLst>
              <a:gd name="adj" fmla="val 181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229600" y="1691640"/>
            <a:ext cx="32004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8229600" y="2148840"/>
            <a:ext cx="3200400" cy="224028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./hello.sh needs x; bash hello.sh only needs r (bash reads it).</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hello.sh alone is not found: the current directory is not in PATH, so type ./</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gcc sets x itself: 775 = 777 minus the umask 002.</a:t>
            </a:r>
            <a:endParaRPr lang="en-US" sz="1300" dirty="0"/>
          </a:p>
        </p:txBody>
      </p:sp>
      <p:sp>
        <p:nvSpPr>
          <p:cNvPr id="11" name="Shape 9"/>
          <p:cNvSpPr/>
          <p:nvPr/>
        </p:nvSpPr>
        <p:spPr>
          <a:xfrm>
            <a:off x="8001000" y="4709160"/>
            <a:ext cx="3657600" cy="1554480"/>
          </a:xfrm>
          <a:prstGeom prst="roundRect">
            <a:avLst>
              <a:gd name="adj" fmla="val 352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2" name="Text 10"/>
          <p:cNvSpPr txBox="1"/>
          <p:nvPr/>
        </p:nvSpPr>
        <p:spPr>
          <a:xfrm>
            <a:off x="8229600" y="4892040"/>
            <a:ext cx="32004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Week 14 preview</a:t>
            </a:r>
            <a:endParaRPr lang="en-US" sz="1500" dirty="0"/>
          </a:p>
        </p:txBody>
      </p:sp>
      <p:sp>
        <p:nvSpPr>
          <p:cNvPr id="13" name="Text 11"/>
          <p:cNvSpPr txBox="1"/>
          <p:nvPr/>
        </p:nvSpPr>
        <p:spPr>
          <a:xfrm>
            <a:off x="8229600" y="5349240"/>
            <a:ext cx="3200400" cy="777240"/>
          </a:xfrm>
          <a:prstGeom prst="rect">
            <a:avLst/>
          </a:prstGeom>
          <a:noFill/>
          <a:ln/>
        </p:spPr>
        <p:txBody>
          <a:bodyPr wrap="square" lIns="0" tIns="0" rIns="0" bIns="0" rtlCol="0" anchor="t"/>
          <a:lstStyle/>
          <a:p>
            <a:pPr indent="0" marL="0">
              <a:spcAft>
                <a:spcPts val="400"/>
              </a:spcAft>
              <a:buNone/>
            </a:pPr>
            <a:r>
              <a:rPr lang="en-US" sz="1300" dirty="0">
                <a:solidFill>
                  <a:srgbClr val="3A464C"/>
                </a:solidFill>
                <a:latin typeface="Calibri" pitchFamily="34" charset="0"/>
                <a:ea typeface="Calibri" pitchFamily="34" charset="-122"/>
                <a:cs typeface="Calibri" pitchFamily="34" charset="-120"/>
              </a:rPr>
              <a:t>#!/bin/bash (the "shebang") tells the kernel which interpreter runs the file.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CHEAT SHEET</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Commands So Far</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2103120"/>
                <a:gridCol w="4800600"/>
                <a:gridCol w="4206240"/>
              </a:tblGrid>
              <a:tr h="0">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Command</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What it does</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Example</a:t>
                      </a:r>
                      <a:endParaRPr lang="en-US"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whoami, id, groups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who am I, my UID/GID, my groups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id</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ls -l  /  ls -ld dir</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mode, owner, group of files / of the directory itself</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ls -ld ~/lab/docs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stat -c '%a %A %n'</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octal and symbolic mode, name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stat -c '%a %A %n' *</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chmod who±=perm</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symbolic change</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chmod u+x,go-w run.sh</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chmod NNN</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octal: set all nine bits</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chmod 640 report.txt</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chmod -R</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recursive: a whole tree (careful!)</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chmod -R go-rwx project</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3A464C"/>
                          </a:solidFill>
                          <a:latin typeface="Calibri" pitchFamily="34" charset="0"/>
                          <a:ea typeface="Calibri" pitchFamily="34" charset="-122"/>
                          <a:cs typeface="Calibri" pitchFamily="34" charset="-120"/>
                        </a:rPr>
                        <a:t>./script.sh</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run a file from the current directory</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00" dirty="0">
                          <a:solidFill>
                            <a:srgbClr val="3A464C"/>
                          </a:solidFill>
                          <a:latin typeface="Calibri" pitchFamily="34" charset="0"/>
                          <a:ea typeface="Calibri" pitchFamily="34" charset="-122"/>
                          <a:cs typeface="Calibri" pitchFamily="34" charset="-120"/>
                        </a:rPr>
                        <a:t>./hello.sh</a:t>
                      </a:r>
                      <a:endParaRPr lang="en-US"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chmod -R applies the same mode to files AND directories: chmod -R 644 dir removes x from every subdirectory and locks you out. Use symbolic mode (go-rwx) with -R.</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INTERMISSION</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10-Minute Break</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Next: default permissions (umask), directories, ownership, root and sudo.</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11  ·  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3</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Defaults, Directories, Owners and root</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Where 664 comes from, and who may change owners.</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11  ·  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DEFAULT PERMISSIONS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umask: the Bits to Take Away from New Files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Programs ask for 666 (files) or 777 (directories). The kernel then clears every bit that is set in the process's umask.</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24</a:t>
            </a:r>
            <a:endParaRPr lang="en-US" sz="900" dirty="0"/>
          </a:p>
        </p:txBody>
      </p:sp>
      <p:sp>
        <p:nvSpPr>
          <p:cNvPr id="7" name="Text 5"/>
          <p:cNvSpPr txBox="1"/>
          <p:nvPr/>
        </p:nvSpPr>
        <p:spPr>
          <a:xfrm>
            <a:off x="548640" y="2331720"/>
            <a:ext cx="1371600" cy="548640"/>
          </a:xfrm>
          <a:prstGeom prst="rect">
            <a:avLst/>
          </a:prstGeom>
          <a:noFill/>
          <a:ln/>
        </p:spPr>
        <p:txBody>
          <a:bodyPr wrap="square" lIns="0" tIns="0" rIns="0" bIns="0" rtlCol="0" anchor="ctr"/>
          <a:lstStyle/>
          <a:p>
            <a:pPr indent="0" marL="0">
              <a:buNone/>
            </a:pPr>
            <a:r>
              <a:rPr lang="en-US" sz="1500" b="1" dirty="0">
                <a:solidFill>
                  <a:srgbClr val="36454F"/>
                </a:solidFill>
                <a:latin typeface="Calibri" pitchFamily="34" charset="0"/>
                <a:ea typeface="Calibri" pitchFamily="34" charset="-122"/>
                <a:cs typeface="Calibri" pitchFamily="34" charset="-120"/>
              </a:rPr>
              <a:t>requested</a:t>
            </a:r>
            <a:endParaRPr lang="en-US" sz="1500" dirty="0"/>
          </a:p>
        </p:txBody>
      </p:sp>
      <p:sp>
        <p:nvSpPr>
          <p:cNvPr id="8" name="Shape 6"/>
          <p:cNvSpPr/>
          <p:nvPr/>
        </p:nvSpPr>
        <p:spPr>
          <a:xfrm>
            <a:off x="1965960" y="2331720"/>
            <a:ext cx="1143000" cy="548640"/>
          </a:xfrm>
          <a:prstGeom prst="roundRect">
            <a:avLst>
              <a:gd name="adj" fmla="val 8333"/>
            </a:avLst>
          </a:prstGeom>
          <a:solidFill>
            <a:srgbClr val="F2F2F2"/>
          </a:solidFill>
          <a:ln/>
        </p:spPr>
        <p:txBody>
          <a:bodyPr/>
          <a:p/>
        </p:txBody>
      </p:sp>
      <p:sp>
        <p:nvSpPr>
          <p:cNvPr id="9" name="Text 7"/>
          <p:cNvSpPr txBox="1"/>
          <p:nvPr/>
        </p:nvSpPr>
        <p:spPr>
          <a:xfrm>
            <a:off x="1965960" y="2331720"/>
            <a:ext cx="1143000" cy="548640"/>
          </a:xfrm>
          <a:prstGeom prst="rect">
            <a:avLst/>
          </a:prstGeom>
          <a:noFill/>
          <a:ln/>
        </p:spPr>
        <p:txBody>
          <a:bodyPr wrap="square" lIns="38100" tIns="38100" rIns="38100" bIns="38100" rtlCol="0" anchor="ctr"/>
          <a:lstStyle/>
          <a:p>
            <a:pPr algn="ctr" indent="0" marL="0">
              <a:buNone/>
            </a:pPr>
            <a:r>
              <a:rPr lang="en-US" sz="1800" b="1" dirty="0">
                <a:solidFill>
                  <a:srgbClr val="212121"/>
                </a:solidFill>
                <a:latin typeface="Consolas" pitchFamily="34" charset="0"/>
                <a:ea typeface="Consolas" pitchFamily="34" charset="-122"/>
                <a:cs typeface="Consolas" pitchFamily="34" charset="-120"/>
              </a:rPr>
              <a:t>666</a:t>
            </a:r>
            <a:endParaRPr lang="en-US" sz="1800" dirty="0"/>
          </a:p>
        </p:txBody>
      </p:sp>
      <p:sp>
        <p:nvSpPr>
          <p:cNvPr id="10" name="Shape 8"/>
          <p:cNvSpPr/>
          <p:nvPr/>
        </p:nvSpPr>
        <p:spPr>
          <a:xfrm>
            <a:off x="3383280" y="2331720"/>
            <a:ext cx="457200" cy="548640"/>
          </a:xfrm>
          <a:prstGeom prst="roundRect">
            <a:avLst>
              <a:gd name="adj" fmla="val 10000"/>
            </a:avLst>
          </a:prstGeom>
          <a:solidFill>
            <a:srgbClr val="36454F"/>
          </a:solidFill>
          <a:ln/>
        </p:spPr>
        <p:txBody>
          <a:bodyPr/>
          <a:p/>
        </p:txBody>
      </p:sp>
      <p:sp>
        <p:nvSpPr>
          <p:cNvPr id="11" name="Text 9"/>
          <p:cNvSpPr txBox="1"/>
          <p:nvPr/>
        </p:nvSpPr>
        <p:spPr>
          <a:xfrm>
            <a:off x="3383280" y="2331720"/>
            <a:ext cx="457200" cy="5486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r</a:t>
            </a:r>
            <a:endParaRPr lang="en-US" sz="1600" dirty="0"/>
          </a:p>
        </p:txBody>
      </p:sp>
      <p:sp>
        <p:nvSpPr>
          <p:cNvPr id="12" name="Shape 10"/>
          <p:cNvSpPr/>
          <p:nvPr/>
        </p:nvSpPr>
        <p:spPr>
          <a:xfrm>
            <a:off x="3877056" y="2331720"/>
            <a:ext cx="457200" cy="548640"/>
          </a:xfrm>
          <a:prstGeom prst="roundRect">
            <a:avLst>
              <a:gd name="adj" fmla="val 10000"/>
            </a:avLst>
          </a:prstGeom>
          <a:solidFill>
            <a:srgbClr val="36454F"/>
          </a:solidFill>
          <a:ln/>
        </p:spPr>
        <p:txBody>
          <a:bodyPr/>
          <a:p/>
        </p:txBody>
      </p:sp>
      <p:sp>
        <p:nvSpPr>
          <p:cNvPr id="13" name="Text 11"/>
          <p:cNvSpPr txBox="1"/>
          <p:nvPr/>
        </p:nvSpPr>
        <p:spPr>
          <a:xfrm>
            <a:off x="3877056" y="2331720"/>
            <a:ext cx="457200" cy="5486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w</a:t>
            </a:r>
            <a:endParaRPr lang="en-US" sz="1600" dirty="0"/>
          </a:p>
        </p:txBody>
      </p:sp>
      <p:sp>
        <p:nvSpPr>
          <p:cNvPr id="14" name="Shape 12"/>
          <p:cNvSpPr/>
          <p:nvPr/>
        </p:nvSpPr>
        <p:spPr>
          <a:xfrm>
            <a:off x="4370832" y="2331720"/>
            <a:ext cx="457200" cy="548640"/>
          </a:xfrm>
          <a:prstGeom prst="roundRect">
            <a:avLst>
              <a:gd name="adj" fmla="val 10000"/>
            </a:avLst>
          </a:prstGeom>
          <a:solidFill>
            <a:srgbClr val="E4E8E9"/>
          </a:solidFill>
          <a:ln/>
        </p:spPr>
        <p:txBody>
          <a:bodyPr/>
          <a:p/>
        </p:txBody>
      </p:sp>
      <p:sp>
        <p:nvSpPr>
          <p:cNvPr id="15" name="Text 13"/>
          <p:cNvSpPr txBox="1"/>
          <p:nvPr/>
        </p:nvSpPr>
        <p:spPr>
          <a:xfrm>
            <a:off x="4370832" y="2331720"/>
            <a:ext cx="457200" cy="548640"/>
          </a:xfrm>
          <a:prstGeom prst="rect">
            <a:avLst/>
          </a:prstGeom>
          <a:noFill/>
          <a:ln/>
        </p:spPr>
        <p:txBody>
          <a:bodyPr wrap="square" lIns="38100" tIns="38100" rIns="38100" bIns="38100" rtlCol="0" anchor="ctr"/>
          <a:lstStyle/>
          <a:p>
            <a:pPr algn="ctr" indent="0" marL="0">
              <a:buNone/>
            </a:pPr>
            <a:r>
              <a:rPr lang="en-US" sz="1600" b="1" dirty="0">
                <a:solidFill>
                  <a:srgbClr val="9AA5A8"/>
                </a:solidFill>
                <a:latin typeface="Consolas" pitchFamily="34" charset="0"/>
                <a:ea typeface="Consolas" pitchFamily="34" charset="-122"/>
                <a:cs typeface="Consolas" pitchFamily="34" charset="-120"/>
              </a:rPr>
              <a:t>-</a:t>
            </a:r>
            <a:endParaRPr lang="en-US" sz="1600" dirty="0"/>
          </a:p>
        </p:txBody>
      </p:sp>
      <p:sp>
        <p:nvSpPr>
          <p:cNvPr id="16" name="Shape 14"/>
          <p:cNvSpPr/>
          <p:nvPr/>
        </p:nvSpPr>
        <p:spPr>
          <a:xfrm>
            <a:off x="5010912" y="2331720"/>
            <a:ext cx="457200" cy="548640"/>
          </a:xfrm>
          <a:prstGeom prst="roundRect">
            <a:avLst>
              <a:gd name="adj" fmla="val 10000"/>
            </a:avLst>
          </a:prstGeom>
          <a:solidFill>
            <a:srgbClr val="36454F"/>
          </a:solidFill>
          <a:ln/>
        </p:spPr>
        <p:txBody>
          <a:bodyPr/>
          <a:p/>
        </p:txBody>
      </p:sp>
      <p:sp>
        <p:nvSpPr>
          <p:cNvPr id="17" name="Text 15"/>
          <p:cNvSpPr txBox="1"/>
          <p:nvPr/>
        </p:nvSpPr>
        <p:spPr>
          <a:xfrm>
            <a:off x="5010912" y="2331720"/>
            <a:ext cx="457200" cy="5486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r</a:t>
            </a:r>
            <a:endParaRPr lang="en-US" sz="1600" dirty="0"/>
          </a:p>
        </p:txBody>
      </p:sp>
      <p:sp>
        <p:nvSpPr>
          <p:cNvPr id="18" name="Shape 16"/>
          <p:cNvSpPr/>
          <p:nvPr/>
        </p:nvSpPr>
        <p:spPr>
          <a:xfrm>
            <a:off x="5504688" y="2331720"/>
            <a:ext cx="457200" cy="548640"/>
          </a:xfrm>
          <a:prstGeom prst="roundRect">
            <a:avLst>
              <a:gd name="adj" fmla="val 10000"/>
            </a:avLst>
          </a:prstGeom>
          <a:solidFill>
            <a:srgbClr val="36454F"/>
          </a:solidFill>
          <a:ln/>
        </p:spPr>
        <p:txBody>
          <a:bodyPr/>
          <a:p/>
        </p:txBody>
      </p:sp>
      <p:sp>
        <p:nvSpPr>
          <p:cNvPr id="19" name="Text 17"/>
          <p:cNvSpPr txBox="1"/>
          <p:nvPr/>
        </p:nvSpPr>
        <p:spPr>
          <a:xfrm>
            <a:off x="5504688" y="2331720"/>
            <a:ext cx="457200" cy="5486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w</a:t>
            </a:r>
            <a:endParaRPr lang="en-US" sz="1600" dirty="0"/>
          </a:p>
        </p:txBody>
      </p:sp>
      <p:sp>
        <p:nvSpPr>
          <p:cNvPr id="20" name="Shape 18"/>
          <p:cNvSpPr/>
          <p:nvPr/>
        </p:nvSpPr>
        <p:spPr>
          <a:xfrm>
            <a:off x="5998464" y="2331720"/>
            <a:ext cx="457200" cy="548640"/>
          </a:xfrm>
          <a:prstGeom prst="roundRect">
            <a:avLst>
              <a:gd name="adj" fmla="val 10000"/>
            </a:avLst>
          </a:prstGeom>
          <a:solidFill>
            <a:srgbClr val="E4E8E9"/>
          </a:solidFill>
          <a:ln/>
        </p:spPr>
        <p:txBody>
          <a:bodyPr/>
          <a:p/>
        </p:txBody>
      </p:sp>
      <p:sp>
        <p:nvSpPr>
          <p:cNvPr id="21" name="Text 19"/>
          <p:cNvSpPr txBox="1"/>
          <p:nvPr/>
        </p:nvSpPr>
        <p:spPr>
          <a:xfrm>
            <a:off x="5998464" y="2331720"/>
            <a:ext cx="457200" cy="548640"/>
          </a:xfrm>
          <a:prstGeom prst="rect">
            <a:avLst/>
          </a:prstGeom>
          <a:noFill/>
          <a:ln/>
        </p:spPr>
        <p:txBody>
          <a:bodyPr wrap="square" lIns="38100" tIns="38100" rIns="38100" bIns="38100" rtlCol="0" anchor="ctr"/>
          <a:lstStyle/>
          <a:p>
            <a:pPr algn="ctr" indent="0" marL="0">
              <a:buNone/>
            </a:pPr>
            <a:r>
              <a:rPr lang="en-US" sz="1600" b="1" dirty="0">
                <a:solidFill>
                  <a:srgbClr val="9AA5A8"/>
                </a:solidFill>
                <a:latin typeface="Consolas" pitchFamily="34" charset="0"/>
                <a:ea typeface="Consolas" pitchFamily="34" charset="-122"/>
                <a:cs typeface="Consolas" pitchFamily="34" charset="-120"/>
              </a:rPr>
              <a:t>-</a:t>
            </a:r>
            <a:endParaRPr lang="en-US" sz="1600" dirty="0"/>
          </a:p>
        </p:txBody>
      </p:sp>
      <p:sp>
        <p:nvSpPr>
          <p:cNvPr id="22" name="Shape 20"/>
          <p:cNvSpPr/>
          <p:nvPr/>
        </p:nvSpPr>
        <p:spPr>
          <a:xfrm>
            <a:off x="6638544" y="2331720"/>
            <a:ext cx="457200" cy="548640"/>
          </a:xfrm>
          <a:prstGeom prst="roundRect">
            <a:avLst>
              <a:gd name="adj" fmla="val 10000"/>
            </a:avLst>
          </a:prstGeom>
          <a:solidFill>
            <a:srgbClr val="36454F"/>
          </a:solidFill>
          <a:ln/>
        </p:spPr>
        <p:txBody>
          <a:bodyPr/>
          <a:p/>
        </p:txBody>
      </p:sp>
      <p:sp>
        <p:nvSpPr>
          <p:cNvPr id="23" name="Text 21"/>
          <p:cNvSpPr txBox="1"/>
          <p:nvPr/>
        </p:nvSpPr>
        <p:spPr>
          <a:xfrm>
            <a:off x="6638544" y="2331720"/>
            <a:ext cx="457200" cy="5486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r</a:t>
            </a:r>
            <a:endParaRPr lang="en-US" sz="1600" dirty="0"/>
          </a:p>
        </p:txBody>
      </p:sp>
      <p:sp>
        <p:nvSpPr>
          <p:cNvPr id="24" name="Shape 22"/>
          <p:cNvSpPr/>
          <p:nvPr/>
        </p:nvSpPr>
        <p:spPr>
          <a:xfrm>
            <a:off x="7132320" y="2331720"/>
            <a:ext cx="457200" cy="548640"/>
          </a:xfrm>
          <a:prstGeom prst="roundRect">
            <a:avLst>
              <a:gd name="adj" fmla="val 10000"/>
            </a:avLst>
          </a:prstGeom>
          <a:solidFill>
            <a:srgbClr val="36454F"/>
          </a:solidFill>
          <a:ln/>
        </p:spPr>
        <p:txBody>
          <a:bodyPr/>
          <a:p/>
        </p:txBody>
      </p:sp>
      <p:sp>
        <p:nvSpPr>
          <p:cNvPr id="25" name="Text 23"/>
          <p:cNvSpPr txBox="1"/>
          <p:nvPr/>
        </p:nvSpPr>
        <p:spPr>
          <a:xfrm>
            <a:off x="7132320" y="2331720"/>
            <a:ext cx="457200" cy="5486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w</a:t>
            </a:r>
            <a:endParaRPr lang="en-US" sz="1600" dirty="0"/>
          </a:p>
        </p:txBody>
      </p:sp>
      <p:sp>
        <p:nvSpPr>
          <p:cNvPr id="26" name="Shape 24"/>
          <p:cNvSpPr/>
          <p:nvPr/>
        </p:nvSpPr>
        <p:spPr>
          <a:xfrm>
            <a:off x="7626096" y="2331720"/>
            <a:ext cx="457200" cy="548640"/>
          </a:xfrm>
          <a:prstGeom prst="roundRect">
            <a:avLst>
              <a:gd name="adj" fmla="val 10000"/>
            </a:avLst>
          </a:prstGeom>
          <a:solidFill>
            <a:srgbClr val="E4E8E9"/>
          </a:solidFill>
          <a:ln/>
        </p:spPr>
        <p:txBody>
          <a:bodyPr/>
          <a:p/>
        </p:txBody>
      </p:sp>
      <p:sp>
        <p:nvSpPr>
          <p:cNvPr id="27" name="Text 25"/>
          <p:cNvSpPr txBox="1"/>
          <p:nvPr/>
        </p:nvSpPr>
        <p:spPr>
          <a:xfrm>
            <a:off x="7626096" y="2331720"/>
            <a:ext cx="457200" cy="548640"/>
          </a:xfrm>
          <a:prstGeom prst="rect">
            <a:avLst/>
          </a:prstGeom>
          <a:noFill/>
          <a:ln/>
        </p:spPr>
        <p:txBody>
          <a:bodyPr wrap="square" lIns="38100" tIns="38100" rIns="38100" bIns="38100" rtlCol="0" anchor="ctr"/>
          <a:lstStyle/>
          <a:p>
            <a:pPr algn="ctr" indent="0" marL="0">
              <a:buNone/>
            </a:pPr>
            <a:r>
              <a:rPr lang="en-US" sz="1600" b="1" dirty="0">
                <a:solidFill>
                  <a:srgbClr val="9AA5A8"/>
                </a:solidFill>
                <a:latin typeface="Consolas" pitchFamily="34" charset="0"/>
                <a:ea typeface="Consolas" pitchFamily="34" charset="-122"/>
                <a:cs typeface="Consolas" pitchFamily="34" charset="-120"/>
              </a:rPr>
              <a:t>-</a:t>
            </a:r>
            <a:endParaRPr lang="en-US" sz="1600" dirty="0"/>
          </a:p>
        </p:txBody>
      </p:sp>
      <p:sp>
        <p:nvSpPr>
          <p:cNvPr id="28" name="Text 26"/>
          <p:cNvSpPr txBox="1"/>
          <p:nvPr/>
        </p:nvSpPr>
        <p:spPr>
          <a:xfrm>
            <a:off x="548640" y="3044952"/>
            <a:ext cx="1371600" cy="548640"/>
          </a:xfrm>
          <a:prstGeom prst="rect">
            <a:avLst/>
          </a:prstGeom>
          <a:noFill/>
          <a:ln/>
        </p:spPr>
        <p:txBody>
          <a:bodyPr wrap="square" lIns="0" tIns="0" rIns="0" bIns="0" rtlCol="0" anchor="ctr"/>
          <a:lstStyle/>
          <a:p>
            <a:pPr indent="0" marL="0">
              <a:buNone/>
            </a:pPr>
            <a:r>
              <a:rPr lang="en-US" sz="1500" b="1" dirty="0">
                <a:solidFill>
                  <a:srgbClr val="36454F"/>
                </a:solidFill>
                <a:latin typeface="Calibri" pitchFamily="34" charset="0"/>
                <a:ea typeface="Calibri" pitchFamily="34" charset="-122"/>
                <a:cs typeface="Calibri" pitchFamily="34" charset="-120"/>
              </a:rPr>
              <a:t>umask</a:t>
            </a:r>
            <a:endParaRPr lang="en-US" sz="1500" dirty="0"/>
          </a:p>
        </p:txBody>
      </p:sp>
      <p:sp>
        <p:nvSpPr>
          <p:cNvPr id="29" name="Shape 27"/>
          <p:cNvSpPr/>
          <p:nvPr/>
        </p:nvSpPr>
        <p:spPr>
          <a:xfrm>
            <a:off x="1965960" y="3044952"/>
            <a:ext cx="1143000" cy="548640"/>
          </a:xfrm>
          <a:prstGeom prst="roundRect">
            <a:avLst>
              <a:gd name="adj" fmla="val 8333"/>
            </a:avLst>
          </a:prstGeom>
          <a:solidFill>
            <a:srgbClr val="F3D9D6"/>
          </a:solidFill>
          <a:ln/>
        </p:spPr>
        <p:txBody>
          <a:bodyPr/>
          <a:p/>
        </p:txBody>
      </p:sp>
      <p:sp>
        <p:nvSpPr>
          <p:cNvPr id="30" name="Text 28"/>
          <p:cNvSpPr txBox="1"/>
          <p:nvPr/>
        </p:nvSpPr>
        <p:spPr>
          <a:xfrm>
            <a:off x="1965960" y="3044952"/>
            <a:ext cx="1143000" cy="548640"/>
          </a:xfrm>
          <a:prstGeom prst="rect">
            <a:avLst/>
          </a:prstGeom>
          <a:noFill/>
          <a:ln/>
        </p:spPr>
        <p:txBody>
          <a:bodyPr wrap="square" lIns="38100" tIns="38100" rIns="38100" bIns="38100" rtlCol="0" anchor="ctr"/>
          <a:lstStyle/>
          <a:p>
            <a:pPr algn="ctr" indent="0" marL="0">
              <a:buNone/>
            </a:pPr>
            <a:r>
              <a:rPr lang="en-US" sz="1800" b="1" dirty="0">
                <a:solidFill>
                  <a:srgbClr val="B5453A"/>
                </a:solidFill>
                <a:latin typeface="Consolas" pitchFamily="34" charset="0"/>
                <a:ea typeface="Consolas" pitchFamily="34" charset="-122"/>
                <a:cs typeface="Consolas" pitchFamily="34" charset="-120"/>
              </a:rPr>
              <a:t>022</a:t>
            </a:r>
            <a:endParaRPr lang="en-US" sz="1800" dirty="0"/>
          </a:p>
        </p:txBody>
      </p:sp>
      <p:sp>
        <p:nvSpPr>
          <p:cNvPr id="31" name="Shape 29"/>
          <p:cNvSpPr/>
          <p:nvPr/>
        </p:nvSpPr>
        <p:spPr>
          <a:xfrm>
            <a:off x="3383280" y="3044952"/>
            <a:ext cx="457200" cy="548640"/>
          </a:xfrm>
          <a:prstGeom prst="roundRect">
            <a:avLst>
              <a:gd name="adj" fmla="val 10000"/>
            </a:avLst>
          </a:prstGeom>
          <a:solidFill>
            <a:srgbClr val="E4E8E9"/>
          </a:solidFill>
          <a:ln/>
        </p:spPr>
        <p:txBody>
          <a:bodyPr/>
          <a:p/>
        </p:txBody>
      </p:sp>
      <p:sp>
        <p:nvSpPr>
          <p:cNvPr id="32" name="Text 30"/>
          <p:cNvSpPr txBox="1"/>
          <p:nvPr/>
        </p:nvSpPr>
        <p:spPr>
          <a:xfrm>
            <a:off x="3383280" y="3044952"/>
            <a:ext cx="457200" cy="548640"/>
          </a:xfrm>
          <a:prstGeom prst="rect">
            <a:avLst/>
          </a:prstGeom>
          <a:noFill/>
          <a:ln/>
        </p:spPr>
        <p:txBody>
          <a:bodyPr wrap="square" lIns="38100" tIns="38100" rIns="38100" bIns="38100" rtlCol="0" anchor="ctr"/>
          <a:lstStyle/>
          <a:p>
            <a:pPr algn="ctr" indent="0" marL="0">
              <a:buNone/>
            </a:pPr>
            <a:r>
              <a:rPr lang="en-US" sz="1600" b="1" dirty="0">
                <a:solidFill>
                  <a:srgbClr val="9AA5A8"/>
                </a:solidFill>
                <a:latin typeface="Consolas" pitchFamily="34" charset="0"/>
                <a:ea typeface="Consolas" pitchFamily="34" charset="-122"/>
                <a:cs typeface="Consolas" pitchFamily="34" charset="-120"/>
              </a:rPr>
              <a:t>0</a:t>
            </a:r>
            <a:endParaRPr lang="en-US" sz="1600" dirty="0"/>
          </a:p>
        </p:txBody>
      </p:sp>
      <p:sp>
        <p:nvSpPr>
          <p:cNvPr id="33" name="Shape 31"/>
          <p:cNvSpPr/>
          <p:nvPr/>
        </p:nvSpPr>
        <p:spPr>
          <a:xfrm>
            <a:off x="3877056" y="3044952"/>
            <a:ext cx="457200" cy="548640"/>
          </a:xfrm>
          <a:prstGeom prst="roundRect">
            <a:avLst>
              <a:gd name="adj" fmla="val 10000"/>
            </a:avLst>
          </a:prstGeom>
          <a:solidFill>
            <a:srgbClr val="E4E8E9"/>
          </a:solidFill>
          <a:ln/>
        </p:spPr>
        <p:txBody>
          <a:bodyPr/>
          <a:p/>
        </p:txBody>
      </p:sp>
      <p:sp>
        <p:nvSpPr>
          <p:cNvPr id="34" name="Text 32"/>
          <p:cNvSpPr txBox="1"/>
          <p:nvPr/>
        </p:nvSpPr>
        <p:spPr>
          <a:xfrm>
            <a:off x="3877056" y="3044952"/>
            <a:ext cx="457200" cy="548640"/>
          </a:xfrm>
          <a:prstGeom prst="rect">
            <a:avLst/>
          </a:prstGeom>
          <a:noFill/>
          <a:ln/>
        </p:spPr>
        <p:txBody>
          <a:bodyPr wrap="square" lIns="38100" tIns="38100" rIns="38100" bIns="38100" rtlCol="0" anchor="ctr"/>
          <a:lstStyle/>
          <a:p>
            <a:pPr algn="ctr" indent="0" marL="0">
              <a:buNone/>
            </a:pPr>
            <a:r>
              <a:rPr lang="en-US" sz="1600" b="1" dirty="0">
                <a:solidFill>
                  <a:srgbClr val="9AA5A8"/>
                </a:solidFill>
                <a:latin typeface="Consolas" pitchFamily="34" charset="0"/>
                <a:ea typeface="Consolas" pitchFamily="34" charset="-122"/>
                <a:cs typeface="Consolas" pitchFamily="34" charset="-120"/>
              </a:rPr>
              <a:t>0</a:t>
            </a:r>
            <a:endParaRPr lang="en-US" sz="1600" dirty="0"/>
          </a:p>
        </p:txBody>
      </p:sp>
      <p:sp>
        <p:nvSpPr>
          <p:cNvPr id="35" name="Shape 33"/>
          <p:cNvSpPr/>
          <p:nvPr/>
        </p:nvSpPr>
        <p:spPr>
          <a:xfrm>
            <a:off x="4370832" y="3044952"/>
            <a:ext cx="457200" cy="548640"/>
          </a:xfrm>
          <a:prstGeom prst="roundRect">
            <a:avLst>
              <a:gd name="adj" fmla="val 10000"/>
            </a:avLst>
          </a:prstGeom>
          <a:solidFill>
            <a:srgbClr val="E4E8E9"/>
          </a:solidFill>
          <a:ln/>
        </p:spPr>
        <p:txBody>
          <a:bodyPr/>
          <a:p/>
        </p:txBody>
      </p:sp>
      <p:sp>
        <p:nvSpPr>
          <p:cNvPr id="36" name="Text 34"/>
          <p:cNvSpPr txBox="1"/>
          <p:nvPr/>
        </p:nvSpPr>
        <p:spPr>
          <a:xfrm>
            <a:off x="4370832" y="3044952"/>
            <a:ext cx="457200" cy="548640"/>
          </a:xfrm>
          <a:prstGeom prst="rect">
            <a:avLst/>
          </a:prstGeom>
          <a:noFill/>
          <a:ln/>
        </p:spPr>
        <p:txBody>
          <a:bodyPr wrap="square" lIns="38100" tIns="38100" rIns="38100" bIns="38100" rtlCol="0" anchor="ctr"/>
          <a:lstStyle/>
          <a:p>
            <a:pPr algn="ctr" indent="0" marL="0">
              <a:buNone/>
            </a:pPr>
            <a:r>
              <a:rPr lang="en-US" sz="1600" b="1" dirty="0">
                <a:solidFill>
                  <a:srgbClr val="9AA5A8"/>
                </a:solidFill>
                <a:latin typeface="Consolas" pitchFamily="34" charset="0"/>
                <a:ea typeface="Consolas" pitchFamily="34" charset="-122"/>
                <a:cs typeface="Consolas" pitchFamily="34" charset="-120"/>
              </a:rPr>
              <a:t>0</a:t>
            </a:r>
            <a:endParaRPr lang="en-US" sz="1600" dirty="0"/>
          </a:p>
        </p:txBody>
      </p:sp>
      <p:sp>
        <p:nvSpPr>
          <p:cNvPr id="37" name="Shape 35"/>
          <p:cNvSpPr/>
          <p:nvPr/>
        </p:nvSpPr>
        <p:spPr>
          <a:xfrm>
            <a:off x="5010912" y="3044952"/>
            <a:ext cx="457200" cy="548640"/>
          </a:xfrm>
          <a:prstGeom prst="roundRect">
            <a:avLst>
              <a:gd name="adj" fmla="val 10000"/>
            </a:avLst>
          </a:prstGeom>
          <a:solidFill>
            <a:srgbClr val="E4E8E9"/>
          </a:solidFill>
          <a:ln/>
        </p:spPr>
        <p:txBody>
          <a:bodyPr/>
          <a:p/>
        </p:txBody>
      </p:sp>
      <p:sp>
        <p:nvSpPr>
          <p:cNvPr id="38" name="Text 36"/>
          <p:cNvSpPr txBox="1"/>
          <p:nvPr/>
        </p:nvSpPr>
        <p:spPr>
          <a:xfrm>
            <a:off x="5010912" y="3044952"/>
            <a:ext cx="457200" cy="548640"/>
          </a:xfrm>
          <a:prstGeom prst="rect">
            <a:avLst/>
          </a:prstGeom>
          <a:noFill/>
          <a:ln/>
        </p:spPr>
        <p:txBody>
          <a:bodyPr wrap="square" lIns="38100" tIns="38100" rIns="38100" bIns="38100" rtlCol="0" anchor="ctr"/>
          <a:lstStyle/>
          <a:p>
            <a:pPr algn="ctr" indent="0" marL="0">
              <a:buNone/>
            </a:pPr>
            <a:r>
              <a:rPr lang="en-US" sz="1600" b="1" dirty="0">
                <a:solidFill>
                  <a:srgbClr val="9AA5A8"/>
                </a:solidFill>
                <a:latin typeface="Consolas" pitchFamily="34" charset="0"/>
                <a:ea typeface="Consolas" pitchFamily="34" charset="-122"/>
                <a:cs typeface="Consolas" pitchFamily="34" charset="-120"/>
              </a:rPr>
              <a:t>0</a:t>
            </a:r>
            <a:endParaRPr lang="en-US" sz="1600" dirty="0"/>
          </a:p>
        </p:txBody>
      </p:sp>
      <p:sp>
        <p:nvSpPr>
          <p:cNvPr id="39" name="Shape 37"/>
          <p:cNvSpPr/>
          <p:nvPr/>
        </p:nvSpPr>
        <p:spPr>
          <a:xfrm>
            <a:off x="5504688" y="3044952"/>
            <a:ext cx="457200" cy="548640"/>
          </a:xfrm>
          <a:prstGeom prst="roundRect">
            <a:avLst>
              <a:gd name="adj" fmla="val 10000"/>
            </a:avLst>
          </a:prstGeom>
          <a:solidFill>
            <a:srgbClr val="B5453A"/>
          </a:solidFill>
          <a:ln/>
        </p:spPr>
        <p:txBody>
          <a:bodyPr/>
          <a:p/>
        </p:txBody>
      </p:sp>
      <p:sp>
        <p:nvSpPr>
          <p:cNvPr id="40" name="Text 38"/>
          <p:cNvSpPr txBox="1"/>
          <p:nvPr/>
        </p:nvSpPr>
        <p:spPr>
          <a:xfrm>
            <a:off x="5504688" y="3044952"/>
            <a:ext cx="457200" cy="5486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1</a:t>
            </a:r>
            <a:endParaRPr lang="en-US" sz="1600" dirty="0"/>
          </a:p>
        </p:txBody>
      </p:sp>
      <p:sp>
        <p:nvSpPr>
          <p:cNvPr id="41" name="Shape 39"/>
          <p:cNvSpPr/>
          <p:nvPr/>
        </p:nvSpPr>
        <p:spPr>
          <a:xfrm>
            <a:off x="5998464" y="3044952"/>
            <a:ext cx="457200" cy="548640"/>
          </a:xfrm>
          <a:prstGeom prst="roundRect">
            <a:avLst>
              <a:gd name="adj" fmla="val 10000"/>
            </a:avLst>
          </a:prstGeom>
          <a:solidFill>
            <a:srgbClr val="E4E8E9"/>
          </a:solidFill>
          <a:ln/>
        </p:spPr>
        <p:txBody>
          <a:bodyPr/>
          <a:p/>
        </p:txBody>
      </p:sp>
      <p:sp>
        <p:nvSpPr>
          <p:cNvPr id="42" name="Text 40"/>
          <p:cNvSpPr txBox="1"/>
          <p:nvPr/>
        </p:nvSpPr>
        <p:spPr>
          <a:xfrm>
            <a:off x="5998464" y="3044952"/>
            <a:ext cx="457200" cy="548640"/>
          </a:xfrm>
          <a:prstGeom prst="rect">
            <a:avLst/>
          </a:prstGeom>
          <a:noFill/>
          <a:ln/>
        </p:spPr>
        <p:txBody>
          <a:bodyPr wrap="square" lIns="38100" tIns="38100" rIns="38100" bIns="38100" rtlCol="0" anchor="ctr"/>
          <a:lstStyle/>
          <a:p>
            <a:pPr algn="ctr" indent="0" marL="0">
              <a:buNone/>
            </a:pPr>
            <a:r>
              <a:rPr lang="en-US" sz="1600" b="1" dirty="0">
                <a:solidFill>
                  <a:srgbClr val="9AA5A8"/>
                </a:solidFill>
                <a:latin typeface="Consolas" pitchFamily="34" charset="0"/>
                <a:ea typeface="Consolas" pitchFamily="34" charset="-122"/>
                <a:cs typeface="Consolas" pitchFamily="34" charset="-120"/>
              </a:rPr>
              <a:t>0</a:t>
            </a:r>
            <a:endParaRPr lang="en-US" sz="1600" dirty="0"/>
          </a:p>
        </p:txBody>
      </p:sp>
      <p:sp>
        <p:nvSpPr>
          <p:cNvPr id="43" name="Shape 41"/>
          <p:cNvSpPr/>
          <p:nvPr/>
        </p:nvSpPr>
        <p:spPr>
          <a:xfrm>
            <a:off x="6638544" y="3044952"/>
            <a:ext cx="457200" cy="548640"/>
          </a:xfrm>
          <a:prstGeom prst="roundRect">
            <a:avLst>
              <a:gd name="adj" fmla="val 10000"/>
            </a:avLst>
          </a:prstGeom>
          <a:solidFill>
            <a:srgbClr val="E4E8E9"/>
          </a:solidFill>
          <a:ln/>
        </p:spPr>
        <p:txBody>
          <a:bodyPr/>
          <a:p/>
        </p:txBody>
      </p:sp>
      <p:sp>
        <p:nvSpPr>
          <p:cNvPr id="44" name="Text 42"/>
          <p:cNvSpPr txBox="1"/>
          <p:nvPr/>
        </p:nvSpPr>
        <p:spPr>
          <a:xfrm>
            <a:off x="6638544" y="3044952"/>
            <a:ext cx="457200" cy="548640"/>
          </a:xfrm>
          <a:prstGeom prst="rect">
            <a:avLst/>
          </a:prstGeom>
          <a:noFill/>
          <a:ln/>
        </p:spPr>
        <p:txBody>
          <a:bodyPr wrap="square" lIns="38100" tIns="38100" rIns="38100" bIns="38100" rtlCol="0" anchor="ctr"/>
          <a:lstStyle/>
          <a:p>
            <a:pPr algn="ctr" indent="0" marL="0">
              <a:buNone/>
            </a:pPr>
            <a:r>
              <a:rPr lang="en-US" sz="1600" b="1" dirty="0">
                <a:solidFill>
                  <a:srgbClr val="9AA5A8"/>
                </a:solidFill>
                <a:latin typeface="Consolas" pitchFamily="34" charset="0"/>
                <a:ea typeface="Consolas" pitchFamily="34" charset="-122"/>
                <a:cs typeface="Consolas" pitchFamily="34" charset="-120"/>
              </a:rPr>
              <a:t>0</a:t>
            </a:r>
            <a:endParaRPr lang="en-US" sz="1600" dirty="0"/>
          </a:p>
        </p:txBody>
      </p:sp>
      <p:sp>
        <p:nvSpPr>
          <p:cNvPr id="45" name="Shape 43"/>
          <p:cNvSpPr/>
          <p:nvPr/>
        </p:nvSpPr>
        <p:spPr>
          <a:xfrm>
            <a:off x="7132320" y="3044952"/>
            <a:ext cx="457200" cy="548640"/>
          </a:xfrm>
          <a:prstGeom prst="roundRect">
            <a:avLst>
              <a:gd name="adj" fmla="val 10000"/>
            </a:avLst>
          </a:prstGeom>
          <a:solidFill>
            <a:srgbClr val="B5453A"/>
          </a:solidFill>
          <a:ln/>
        </p:spPr>
        <p:txBody>
          <a:bodyPr/>
          <a:p/>
        </p:txBody>
      </p:sp>
      <p:sp>
        <p:nvSpPr>
          <p:cNvPr id="46" name="Text 44"/>
          <p:cNvSpPr txBox="1"/>
          <p:nvPr/>
        </p:nvSpPr>
        <p:spPr>
          <a:xfrm>
            <a:off x="7132320" y="3044952"/>
            <a:ext cx="457200" cy="5486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1</a:t>
            </a:r>
            <a:endParaRPr lang="en-US" sz="1600" dirty="0"/>
          </a:p>
        </p:txBody>
      </p:sp>
      <p:sp>
        <p:nvSpPr>
          <p:cNvPr id="47" name="Shape 45"/>
          <p:cNvSpPr/>
          <p:nvPr/>
        </p:nvSpPr>
        <p:spPr>
          <a:xfrm>
            <a:off x="7626096" y="3044952"/>
            <a:ext cx="457200" cy="548640"/>
          </a:xfrm>
          <a:prstGeom prst="roundRect">
            <a:avLst>
              <a:gd name="adj" fmla="val 10000"/>
            </a:avLst>
          </a:prstGeom>
          <a:solidFill>
            <a:srgbClr val="E4E8E9"/>
          </a:solidFill>
          <a:ln/>
        </p:spPr>
        <p:txBody>
          <a:bodyPr/>
          <a:p/>
        </p:txBody>
      </p:sp>
      <p:sp>
        <p:nvSpPr>
          <p:cNvPr id="48" name="Text 46"/>
          <p:cNvSpPr txBox="1"/>
          <p:nvPr/>
        </p:nvSpPr>
        <p:spPr>
          <a:xfrm>
            <a:off x="7626096" y="3044952"/>
            <a:ext cx="457200" cy="548640"/>
          </a:xfrm>
          <a:prstGeom prst="rect">
            <a:avLst/>
          </a:prstGeom>
          <a:noFill/>
          <a:ln/>
        </p:spPr>
        <p:txBody>
          <a:bodyPr wrap="square" lIns="38100" tIns="38100" rIns="38100" bIns="38100" rtlCol="0" anchor="ctr"/>
          <a:lstStyle/>
          <a:p>
            <a:pPr algn="ctr" indent="0" marL="0">
              <a:buNone/>
            </a:pPr>
            <a:r>
              <a:rPr lang="en-US" sz="1600" b="1" dirty="0">
                <a:solidFill>
                  <a:srgbClr val="9AA5A8"/>
                </a:solidFill>
                <a:latin typeface="Consolas" pitchFamily="34" charset="0"/>
                <a:ea typeface="Consolas" pitchFamily="34" charset="-122"/>
                <a:cs typeface="Consolas" pitchFamily="34" charset="-120"/>
              </a:rPr>
              <a:t>0</a:t>
            </a:r>
            <a:endParaRPr lang="en-US" sz="1600" dirty="0"/>
          </a:p>
        </p:txBody>
      </p:sp>
      <p:sp>
        <p:nvSpPr>
          <p:cNvPr id="49" name="Text 47"/>
          <p:cNvSpPr txBox="1"/>
          <p:nvPr/>
        </p:nvSpPr>
        <p:spPr>
          <a:xfrm>
            <a:off x="548640" y="3758184"/>
            <a:ext cx="1371600" cy="548640"/>
          </a:xfrm>
          <a:prstGeom prst="rect">
            <a:avLst/>
          </a:prstGeom>
          <a:noFill/>
          <a:ln/>
        </p:spPr>
        <p:txBody>
          <a:bodyPr wrap="square" lIns="0" tIns="0" rIns="0" bIns="0" rtlCol="0" anchor="ctr"/>
          <a:lstStyle/>
          <a:p>
            <a:pPr indent="0" marL="0">
              <a:buNone/>
            </a:pPr>
            <a:r>
              <a:rPr lang="en-US" sz="1500" b="1" dirty="0">
                <a:solidFill>
                  <a:srgbClr val="36454F"/>
                </a:solidFill>
                <a:latin typeface="Calibri" pitchFamily="34" charset="0"/>
                <a:ea typeface="Calibri" pitchFamily="34" charset="-122"/>
                <a:cs typeface="Calibri" pitchFamily="34" charset="-120"/>
              </a:rPr>
              <a:t>result</a:t>
            </a:r>
            <a:endParaRPr lang="en-US" sz="1500" dirty="0"/>
          </a:p>
        </p:txBody>
      </p:sp>
      <p:sp>
        <p:nvSpPr>
          <p:cNvPr id="50" name="Shape 48"/>
          <p:cNvSpPr/>
          <p:nvPr/>
        </p:nvSpPr>
        <p:spPr>
          <a:xfrm>
            <a:off x="1965960" y="3758184"/>
            <a:ext cx="1143000" cy="548640"/>
          </a:xfrm>
          <a:prstGeom prst="roundRect">
            <a:avLst>
              <a:gd name="adj" fmla="val 8333"/>
            </a:avLst>
          </a:prstGeom>
          <a:solidFill>
            <a:srgbClr val="02C39A"/>
          </a:solidFill>
          <a:ln/>
        </p:spPr>
        <p:txBody>
          <a:bodyPr/>
          <a:p/>
        </p:txBody>
      </p:sp>
      <p:sp>
        <p:nvSpPr>
          <p:cNvPr id="51" name="Text 49"/>
          <p:cNvSpPr txBox="1"/>
          <p:nvPr/>
        </p:nvSpPr>
        <p:spPr>
          <a:xfrm>
            <a:off x="1965960" y="3758184"/>
            <a:ext cx="1143000" cy="548640"/>
          </a:xfrm>
          <a:prstGeom prst="rect">
            <a:avLst/>
          </a:prstGeom>
          <a:noFill/>
          <a:ln/>
        </p:spPr>
        <p:txBody>
          <a:bodyPr wrap="square" lIns="38100" tIns="38100" rIns="38100" bIns="38100" rtlCol="0" anchor="ctr"/>
          <a:lstStyle/>
          <a:p>
            <a:pPr algn="ctr" indent="0" marL="0">
              <a:buNone/>
            </a:pPr>
            <a:r>
              <a:rPr lang="en-US" sz="1800" b="1" dirty="0">
                <a:solidFill>
                  <a:srgbClr val="212121"/>
                </a:solidFill>
                <a:latin typeface="Consolas" pitchFamily="34" charset="0"/>
                <a:ea typeface="Consolas" pitchFamily="34" charset="-122"/>
                <a:cs typeface="Consolas" pitchFamily="34" charset="-120"/>
              </a:rPr>
              <a:t>644</a:t>
            </a:r>
            <a:endParaRPr lang="en-US" sz="1800" dirty="0"/>
          </a:p>
        </p:txBody>
      </p:sp>
      <p:sp>
        <p:nvSpPr>
          <p:cNvPr id="52" name="Shape 50"/>
          <p:cNvSpPr/>
          <p:nvPr/>
        </p:nvSpPr>
        <p:spPr>
          <a:xfrm>
            <a:off x="3383280" y="3758184"/>
            <a:ext cx="457200" cy="548640"/>
          </a:xfrm>
          <a:prstGeom prst="roundRect">
            <a:avLst>
              <a:gd name="adj" fmla="val 10000"/>
            </a:avLst>
          </a:prstGeom>
          <a:solidFill>
            <a:srgbClr val="36454F"/>
          </a:solidFill>
          <a:ln/>
        </p:spPr>
        <p:txBody>
          <a:bodyPr/>
          <a:p/>
        </p:txBody>
      </p:sp>
      <p:sp>
        <p:nvSpPr>
          <p:cNvPr id="53" name="Text 51"/>
          <p:cNvSpPr txBox="1"/>
          <p:nvPr/>
        </p:nvSpPr>
        <p:spPr>
          <a:xfrm>
            <a:off x="3383280" y="3758184"/>
            <a:ext cx="457200" cy="5486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r</a:t>
            </a:r>
            <a:endParaRPr lang="en-US" sz="1600" dirty="0"/>
          </a:p>
        </p:txBody>
      </p:sp>
      <p:sp>
        <p:nvSpPr>
          <p:cNvPr id="54" name="Shape 52"/>
          <p:cNvSpPr/>
          <p:nvPr/>
        </p:nvSpPr>
        <p:spPr>
          <a:xfrm>
            <a:off x="3877056" y="3758184"/>
            <a:ext cx="457200" cy="548640"/>
          </a:xfrm>
          <a:prstGeom prst="roundRect">
            <a:avLst>
              <a:gd name="adj" fmla="val 10000"/>
            </a:avLst>
          </a:prstGeom>
          <a:solidFill>
            <a:srgbClr val="36454F"/>
          </a:solidFill>
          <a:ln/>
        </p:spPr>
        <p:txBody>
          <a:bodyPr/>
          <a:p/>
        </p:txBody>
      </p:sp>
      <p:sp>
        <p:nvSpPr>
          <p:cNvPr id="55" name="Text 53"/>
          <p:cNvSpPr txBox="1"/>
          <p:nvPr/>
        </p:nvSpPr>
        <p:spPr>
          <a:xfrm>
            <a:off x="3877056" y="3758184"/>
            <a:ext cx="457200" cy="5486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w</a:t>
            </a:r>
            <a:endParaRPr lang="en-US" sz="1600" dirty="0"/>
          </a:p>
        </p:txBody>
      </p:sp>
      <p:sp>
        <p:nvSpPr>
          <p:cNvPr id="56" name="Shape 54"/>
          <p:cNvSpPr/>
          <p:nvPr/>
        </p:nvSpPr>
        <p:spPr>
          <a:xfrm>
            <a:off x="4370832" y="3758184"/>
            <a:ext cx="457200" cy="548640"/>
          </a:xfrm>
          <a:prstGeom prst="roundRect">
            <a:avLst>
              <a:gd name="adj" fmla="val 10000"/>
            </a:avLst>
          </a:prstGeom>
          <a:solidFill>
            <a:srgbClr val="E4E8E9"/>
          </a:solidFill>
          <a:ln/>
        </p:spPr>
        <p:txBody>
          <a:bodyPr/>
          <a:p/>
        </p:txBody>
      </p:sp>
      <p:sp>
        <p:nvSpPr>
          <p:cNvPr id="57" name="Text 55"/>
          <p:cNvSpPr txBox="1"/>
          <p:nvPr/>
        </p:nvSpPr>
        <p:spPr>
          <a:xfrm>
            <a:off x="4370832" y="3758184"/>
            <a:ext cx="457200" cy="548640"/>
          </a:xfrm>
          <a:prstGeom prst="rect">
            <a:avLst/>
          </a:prstGeom>
          <a:noFill/>
          <a:ln/>
        </p:spPr>
        <p:txBody>
          <a:bodyPr wrap="square" lIns="38100" tIns="38100" rIns="38100" bIns="38100" rtlCol="0" anchor="ctr"/>
          <a:lstStyle/>
          <a:p>
            <a:pPr algn="ctr" indent="0" marL="0">
              <a:buNone/>
            </a:pPr>
            <a:r>
              <a:rPr lang="en-US" sz="1600" b="1" dirty="0">
                <a:solidFill>
                  <a:srgbClr val="9AA5A8"/>
                </a:solidFill>
                <a:latin typeface="Consolas" pitchFamily="34" charset="0"/>
                <a:ea typeface="Consolas" pitchFamily="34" charset="-122"/>
                <a:cs typeface="Consolas" pitchFamily="34" charset="-120"/>
              </a:rPr>
              <a:t>-</a:t>
            </a:r>
            <a:endParaRPr lang="en-US" sz="1600" dirty="0"/>
          </a:p>
        </p:txBody>
      </p:sp>
      <p:sp>
        <p:nvSpPr>
          <p:cNvPr id="58" name="Shape 56"/>
          <p:cNvSpPr/>
          <p:nvPr/>
        </p:nvSpPr>
        <p:spPr>
          <a:xfrm>
            <a:off x="5010912" y="3758184"/>
            <a:ext cx="457200" cy="548640"/>
          </a:xfrm>
          <a:prstGeom prst="roundRect">
            <a:avLst>
              <a:gd name="adj" fmla="val 10000"/>
            </a:avLst>
          </a:prstGeom>
          <a:solidFill>
            <a:srgbClr val="36454F"/>
          </a:solidFill>
          <a:ln/>
        </p:spPr>
        <p:txBody>
          <a:bodyPr/>
          <a:p/>
        </p:txBody>
      </p:sp>
      <p:sp>
        <p:nvSpPr>
          <p:cNvPr id="59" name="Text 57"/>
          <p:cNvSpPr txBox="1"/>
          <p:nvPr/>
        </p:nvSpPr>
        <p:spPr>
          <a:xfrm>
            <a:off x="5010912" y="3758184"/>
            <a:ext cx="457200" cy="5486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r</a:t>
            </a:r>
            <a:endParaRPr lang="en-US" sz="1600" dirty="0"/>
          </a:p>
        </p:txBody>
      </p:sp>
      <p:sp>
        <p:nvSpPr>
          <p:cNvPr id="60" name="Shape 58"/>
          <p:cNvSpPr/>
          <p:nvPr/>
        </p:nvSpPr>
        <p:spPr>
          <a:xfrm>
            <a:off x="5504688" y="3758184"/>
            <a:ext cx="457200" cy="548640"/>
          </a:xfrm>
          <a:prstGeom prst="roundRect">
            <a:avLst>
              <a:gd name="adj" fmla="val 10000"/>
            </a:avLst>
          </a:prstGeom>
          <a:solidFill>
            <a:srgbClr val="E4E8E9"/>
          </a:solidFill>
          <a:ln/>
        </p:spPr>
        <p:txBody>
          <a:bodyPr/>
          <a:p/>
        </p:txBody>
      </p:sp>
      <p:sp>
        <p:nvSpPr>
          <p:cNvPr id="61" name="Text 59"/>
          <p:cNvSpPr txBox="1"/>
          <p:nvPr/>
        </p:nvSpPr>
        <p:spPr>
          <a:xfrm>
            <a:off x="5504688" y="3758184"/>
            <a:ext cx="457200" cy="548640"/>
          </a:xfrm>
          <a:prstGeom prst="rect">
            <a:avLst/>
          </a:prstGeom>
          <a:noFill/>
          <a:ln/>
        </p:spPr>
        <p:txBody>
          <a:bodyPr wrap="square" lIns="38100" tIns="38100" rIns="38100" bIns="38100" rtlCol="0" anchor="ctr"/>
          <a:lstStyle/>
          <a:p>
            <a:pPr algn="ctr" indent="0" marL="0">
              <a:buNone/>
            </a:pPr>
            <a:r>
              <a:rPr lang="en-US" sz="1600" b="1" dirty="0">
                <a:solidFill>
                  <a:srgbClr val="9AA5A8"/>
                </a:solidFill>
                <a:latin typeface="Consolas" pitchFamily="34" charset="0"/>
                <a:ea typeface="Consolas" pitchFamily="34" charset="-122"/>
                <a:cs typeface="Consolas" pitchFamily="34" charset="-120"/>
              </a:rPr>
              <a:t>-</a:t>
            </a:r>
            <a:endParaRPr lang="en-US" sz="1600" dirty="0"/>
          </a:p>
        </p:txBody>
      </p:sp>
      <p:sp>
        <p:nvSpPr>
          <p:cNvPr id="62" name="Shape 60"/>
          <p:cNvSpPr/>
          <p:nvPr/>
        </p:nvSpPr>
        <p:spPr>
          <a:xfrm>
            <a:off x="5998464" y="3758184"/>
            <a:ext cx="457200" cy="548640"/>
          </a:xfrm>
          <a:prstGeom prst="roundRect">
            <a:avLst>
              <a:gd name="adj" fmla="val 10000"/>
            </a:avLst>
          </a:prstGeom>
          <a:solidFill>
            <a:srgbClr val="E4E8E9"/>
          </a:solidFill>
          <a:ln/>
        </p:spPr>
        <p:txBody>
          <a:bodyPr/>
          <a:p/>
        </p:txBody>
      </p:sp>
      <p:sp>
        <p:nvSpPr>
          <p:cNvPr id="63" name="Text 61"/>
          <p:cNvSpPr txBox="1"/>
          <p:nvPr/>
        </p:nvSpPr>
        <p:spPr>
          <a:xfrm>
            <a:off x="5998464" y="3758184"/>
            <a:ext cx="457200" cy="548640"/>
          </a:xfrm>
          <a:prstGeom prst="rect">
            <a:avLst/>
          </a:prstGeom>
          <a:noFill/>
          <a:ln/>
        </p:spPr>
        <p:txBody>
          <a:bodyPr wrap="square" lIns="38100" tIns="38100" rIns="38100" bIns="38100" rtlCol="0" anchor="ctr"/>
          <a:lstStyle/>
          <a:p>
            <a:pPr algn="ctr" indent="0" marL="0">
              <a:buNone/>
            </a:pPr>
            <a:r>
              <a:rPr lang="en-US" sz="1600" b="1" dirty="0">
                <a:solidFill>
                  <a:srgbClr val="9AA5A8"/>
                </a:solidFill>
                <a:latin typeface="Consolas" pitchFamily="34" charset="0"/>
                <a:ea typeface="Consolas" pitchFamily="34" charset="-122"/>
                <a:cs typeface="Consolas" pitchFamily="34" charset="-120"/>
              </a:rPr>
              <a:t>-</a:t>
            </a:r>
            <a:endParaRPr lang="en-US" sz="1600" dirty="0"/>
          </a:p>
        </p:txBody>
      </p:sp>
      <p:sp>
        <p:nvSpPr>
          <p:cNvPr id="64" name="Shape 62"/>
          <p:cNvSpPr/>
          <p:nvPr/>
        </p:nvSpPr>
        <p:spPr>
          <a:xfrm>
            <a:off x="6638544" y="3758184"/>
            <a:ext cx="457200" cy="548640"/>
          </a:xfrm>
          <a:prstGeom prst="roundRect">
            <a:avLst>
              <a:gd name="adj" fmla="val 10000"/>
            </a:avLst>
          </a:prstGeom>
          <a:solidFill>
            <a:srgbClr val="36454F"/>
          </a:solidFill>
          <a:ln/>
        </p:spPr>
        <p:txBody>
          <a:bodyPr/>
          <a:p/>
        </p:txBody>
      </p:sp>
      <p:sp>
        <p:nvSpPr>
          <p:cNvPr id="65" name="Text 63"/>
          <p:cNvSpPr txBox="1"/>
          <p:nvPr/>
        </p:nvSpPr>
        <p:spPr>
          <a:xfrm>
            <a:off x="6638544" y="3758184"/>
            <a:ext cx="457200" cy="5486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r</a:t>
            </a:r>
            <a:endParaRPr lang="en-US" sz="1600" dirty="0"/>
          </a:p>
        </p:txBody>
      </p:sp>
      <p:sp>
        <p:nvSpPr>
          <p:cNvPr id="66" name="Shape 64"/>
          <p:cNvSpPr/>
          <p:nvPr/>
        </p:nvSpPr>
        <p:spPr>
          <a:xfrm>
            <a:off x="7132320" y="3758184"/>
            <a:ext cx="457200" cy="548640"/>
          </a:xfrm>
          <a:prstGeom prst="roundRect">
            <a:avLst>
              <a:gd name="adj" fmla="val 10000"/>
            </a:avLst>
          </a:prstGeom>
          <a:solidFill>
            <a:srgbClr val="E4E8E9"/>
          </a:solidFill>
          <a:ln/>
        </p:spPr>
        <p:txBody>
          <a:bodyPr/>
          <a:p/>
        </p:txBody>
      </p:sp>
      <p:sp>
        <p:nvSpPr>
          <p:cNvPr id="67" name="Text 65"/>
          <p:cNvSpPr txBox="1"/>
          <p:nvPr/>
        </p:nvSpPr>
        <p:spPr>
          <a:xfrm>
            <a:off x="7132320" y="3758184"/>
            <a:ext cx="457200" cy="548640"/>
          </a:xfrm>
          <a:prstGeom prst="rect">
            <a:avLst/>
          </a:prstGeom>
          <a:noFill/>
          <a:ln/>
        </p:spPr>
        <p:txBody>
          <a:bodyPr wrap="square" lIns="38100" tIns="38100" rIns="38100" bIns="38100" rtlCol="0" anchor="ctr"/>
          <a:lstStyle/>
          <a:p>
            <a:pPr algn="ctr" indent="0" marL="0">
              <a:buNone/>
            </a:pPr>
            <a:r>
              <a:rPr lang="en-US" sz="1600" b="1" dirty="0">
                <a:solidFill>
                  <a:srgbClr val="9AA5A8"/>
                </a:solidFill>
                <a:latin typeface="Consolas" pitchFamily="34" charset="0"/>
                <a:ea typeface="Consolas" pitchFamily="34" charset="-122"/>
                <a:cs typeface="Consolas" pitchFamily="34" charset="-120"/>
              </a:rPr>
              <a:t>-</a:t>
            </a:r>
            <a:endParaRPr lang="en-US" sz="1600" dirty="0"/>
          </a:p>
        </p:txBody>
      </p:sp>
      <p:sp>
        <p:nvSpPr>
          <p:cNvPr id="68" name="Shape 66"/>
          <p:cNvSpPr/>
          <p:nvPr/>
        </p:nvSpPr>
        <p:spPr>
          <a:xfrm>
            <a:off x="7626096" y="3758184"/>
            <a:ext cx="457200" cy="548640"/>
          </a:xfrm>
          <a:prstGeom prst="roundRect">
            <a:avLst>
              <a:gd name="adj" fmla="val 10000"/>
            </a:avLst>
          </a:prstGeom>
          <a:solidFill>
            <a:srgbClr val="E4E8E9"/>
          </a:solidFill>
          <a:ln/>
        </p:spPr>
        <p:txBody>
          <a:bodyPr/>
          <a:p/>
        </p:txBody>
      </p:sp>
      <p:sp>
        <p:nvSpPr>
          <p:cNvPr id="69" name="Text 67"/>
          <p:cNvSpPr txBox="1"/>
          <p:nvPr/>
        </p:nvSpPr>
        <p:spPr>
          <a:xfrm>
            <a:off x="7626096" y="3758184"/>
            <a:ext cx="457200" cy="548640"/>
          </a:xfrm>
          <a:prstGeom prst="rect">
            <a:avLst/>
          </a:prstGeom>
          <a:noFill/>
          <a:ln/>
        </p:spPr>
        <p:txBody>
          <a:bodyPr wrap="square" lIns="38100" tIns="38100" rIns="38100" bIns="38100" rtlCol="0" anchor="ctr"/>
          <a:lstStyle/>
          <a:p>
            <a:pPr algn="ctr" indent="0" marL="0">
              <a:buNone/>
            </a:pPr>
            <a:r>
              <a:rPr lang="en-US" sz="1600" b="1" dirty="0">
                <a:solidFill>
                  <a:srgbClr val="9AA5A8"/>
                </a:solidFill>
                <a:latin typeface="Consolas" pitchFamily="34" charset="0"/>
                <a:ea typeface="Consolas" pitchFamily="34" charset="-122"/>
                <a:cs typeface="Consolas" pitchFamily="34" charset="-120"/>
              </a:rPr>
              <a:t>-</a:t>
            </a:r>
            <a:endParaRPr lang="en-US" sz="1600" dirty="0"/>
          </a:p>
        </p:txBody>
      </p:sp>
      <p:sp>
        <p:nvSpPr>
          <p:cNvPr id="70" name="Text 68"/>
          <p:cNvSpPr txBox="1"/>
          <p:nvPr/>
        </p:nvSpPr>
        <p:spPr>
          <a:xfrm>
            <a:off x="3383280" y="4480560"/>
            <a:ext cx="4754880" cy="320040"/>
          </a:xfrm>
          <a:prstGeom prst="rect">
            <a:avLst/>
          </a:prstGeom>
          <a:noFill/>
          <a:ln/>
        </p:spPr>
        <p:txBody>
          <a:bodyPr wrap="square" lIns="0" tIns="0" rIns="0" bIns="0" rtlCol="0" anchor="t"/>
          <a:lstStyle/>
          <a:p>
            <a:pPr algn="ctr" indent="0" marL="0">
              <a:buNone/>
            </a:pPr>
            <a:r>
              <a:rPr lang="en-US" sz="1200" i="1" dirty="0">
                <a:solidFill>
                  <a:srgbClr val="B5453A"/>
                </a:solidFill>
                <a:latin typeface="Calibri" pitchFamily="34" charset="0"/>
                <a:ea typeface="Calibri" pitchFamily="34" charset="-122"/>
                <a:cs typeface="Calibri" pitchFamily="34" charset="-120"/>
              </a:rPr>
              <a:t>the w bits of group and others are cleared</a:t>
            </a:r>
            <a:endParaRPr lang="en-US" sz="1200" dirty="0"/>
          </a:p>
        </p:txBody>
      </p:sp>
      <p:sp>
        <p:nvSpPr>
          <p:cNvPr id="71" name="Shape 69"/>
          <p:cNvSpPr/>
          <p:nvPr/>
        </p:nvSpPr>
        <p:spPr>
          <a:xfrm>
            <a:off x="8503920" y="2103120"/>
            <a:ext cx="3154680" cy="2880360"/>
          </a:xfrm>
          <a:prstGeom prst="roundRect">
            <a:avLst>
              <a:gd name="adj" fmla="val 19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2" name="Text 70"/>
          <p:cNvSpPr txBox="1"/>
          <p:nvPr/>
        </p:nvSpPr>
        <p:spPr>
          <a:xfrm>
            <a:off x="8732520" y="2286000"/>
            <a:ext cx="2697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In words</a:t>
            </a:r>
            <a:endParaRPr lang="en-US" sz="1500" dirty="0"/>
          </a:p>
        </p:txBody>
      </p:sp>
      <p:sp>
        <p:nvSpPr>
          <p:cNvPr id="73" name="Text 71"/>
          <p:cNvSpPr txBox="1"/>
          <p:nvPr/>
        </p:nvSpPr>
        <p:spPr>
          <a:xfrm>
            <a:off x="8732520" y="2743200"/>
            <a:ext cx="2697480" cy="210312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umask = "mask" of bits never given out by default.</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It is a per-process setting, inherited by children.</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It can only remove bits, never add them.</a:t>
            </a:r>
            <a:endParaRPr lang="en-US" sz="1350" dirty="0"/>
          </a:p>
        </p:txBody>
      </p:sp>
      <p:sp>
        <p:nvSpPr>
          <p:cNvPr id="74" name="Shape 72"/>
          <p:cNvSpPr/>
          <p:nvPr/>
        </p:nvSpPr>
        <p:spPr>
          <a:xfrm>
            <a:off x="548640" y="5212080"/>
            <a:ext cx="11109960" cy="1051560"/>
          </a:xfrm>
          <a:prstGeom prst="roundRect">
            <a:avLst>
              <a:gd name="adj" fmla="val 5217"/>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75" name="Text 73"/>
          <p:cNvSpPr txBox="1"/>
          <p:nvPr/>
        </p:nvSpPr>
        <p:spPr>
          <a:xfrm>
            <a:off x="777240" y="5212080"/>
            <a:ext cx="10652760" cy="105156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Rule: new mode = requested AND (NOT umask). Files are requested as 666 — never with x — so no new file is executable until you chmod it. Typical defaults: 002 for Ubuntu users (→ 664 / 775), 022 for root and many servers (→ 644 / 755).</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DEFAULT PERMISSIONS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umask Values — and Why Subtraction Can Be Wrong</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25</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858000" cy="914400"/>
        </p:xfrm>
        <a:graphic>
          <a:graphicData uri="http://schemas.openxmlformats.org/drawingml/2006/table">
            <a:tbl>
              <a:tblPr/>
              <a:tblGrid>
                <a:gridCol w="868680"/>
                <a:gridCol w="1874520"/>
                <a:gridCol w="2057400"/>
                <a:gridCol w="2057400"/>
              </a:tblGrid>
              <a:tr h="0">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umask</a:t>
                      </a:r>
                      <a:endParaRPr lang="en-US" sz="1400" dirty="0">
                        <a:latin typeface="Cambria" charset="0"/>
                        <a:ea typeface="Cambria" charset="0"/>
                        <a:cs typeface="Cambria"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New file (666)</a:t>
                      </a:r>
                      <a:endParaRPr lang="en-US" sz="1400" dirty="0">
                        <a:latin typeface="Cambria" charset="0"/>
                        <a:ea typeface="Cambria" charset="0"/>
                        <a:cs typeface="Cambria"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New directory (777)</a:t>
                      </a:r>
                      <a:endParaRPr lang="en-US" sz="1400" dirty="0">
                        <a:latin typeface="Cambria" charset="0"/>
                        <a:ea typeface="Cambria" charset="0"/>
                        <a:cs typeface="Cambria"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Used for</a:t>
                      </a:r>
                      <a:endParaRPr lang="en-US" sz="1400" dirty="0">
                        <a:latin typeface="Cambria" charset="0"/>
                        <a:ea typeface="Cambria" charset="0"/>
                        <a:cs typeface="Cambria"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002</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onsolas" pitchFamily="34" charset="0"/>
                          <a:ea typeface="Consolas" pitchFamily="34" charset="-122"/>
                          <a:cs typeface="Consolas" pitchFamily="34" charset="-120"/>
                        </a:rPr>
                        <a:t>664  rw-rw-r--</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onsolas" pitchFamily="34" charset="0"/>
                          <a:ea typeface="Consolas" pitchFamily="34" charset="-122"/>
                          <a:cs typeface="Consolas" pitchFamily="34" charset="-120"/>
                        </a:rPr>
                        <a:t>775  rwxrwxr-x</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Ubuntu users (private groups)</a:t>
                      </a:r>
                      <a:endParaRPr lang="en-US" sz="1350" dirty="0">
                        <a:latin typeface="Calibri" charset="0"/>
                        <a:ea typeface="Calibri" charset="0"/>
                        <a:cs typeface="Calibri"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022</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onsolas" pitchFamily="34" charset="0"/>
                          <a:ea typeface="Consolas" pitchFamily="34" charset="-122"/>
                          <a:cs typeface="Consolas" pitchFamily="34" charset="-120"/>
                        </a:rPr>
                        <a:t>644  rw-r--r--</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onsolas" pitchFamily="34" charset="0"/>
                          <a:ea typeface="Consolas" pitchFamily="34" charset="-122"/>
                          <a:cs typeface="Consolas" pitchFamily="34" charset="-120"/>
                        </a:rPr>
                        <a:t>755  rwxr-xr-x</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root, many servers</a:t>
                      </a:r>
                      <a:endParaRPr lang="en-US" sz="1350" dirty="0">
                        <a:latin typeface="Calibri" charset="0"/>
                        <a:ea typeface="Calibri" charset="0"/>
                        <a:cs typeface="Calibri"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027</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onsolas" pitchFamily="34" charset="0"/>
                          <a:ea typeface="Consolas" pitchFamily="34" charset="-122"/>
                          <a:cs typeface="Consolas" pitchFamily="34" charset="-120"/>
                        </a:rPr>
                        <a:t>640  rw-r-----</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onsolas" pitchFamily="34" charset="0"/>
                          <a:ea typeface="Consolas" pitchFamily="34" charset="-122"/>
                          <a:cs typeface="Consolas" pitchFamily="34" charset="-120"/>
                        </a:rPr>
                        <a:t>750  rwxr-x---</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group may read, others nothing</a:t>
                      </a:r>
                      <a:endParaRPr lang="en-US" sz="1350" dirty="0">
                        <a:latin typeface="Calibri" charset="0"/>
                        <a:ea typeface="Calibri" charset="0"/>
                        <a:cs typeface="Calibri"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077</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onsolas" pitchFamily="34" charset="0"/>
                          <a:ea typeface="Consolas" pitchFamily="34" charset="-122"/>
                          <a:cs typeface="Consolas" pitchFamily="34" charset="-120"/>
                        </a:rPr>
                        <a:t>600  rw-------</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onsolas" pitchFamily="34" charset="0"/>
                          <a:ea typeface="Consolas" pitchFamily="34" charset="-122"/>
                          <a:cs typeface="Consolas" pitchFamily="34" charset="-120"/>
                        </a:rPr>
                        <a:t>700  rwx------</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fully private</a:t>
                      </a:r>
                      <a:endParaRPr lang="en-US" sz="1350" dirty="0">
                        <a:latin typeface="Calibri" charset="0"/>
                        <a:ea typeface="Calibri" charset="0"/>
                        <a:cs typeface="Calibri"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033</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3D9D6"/>
                    </a:solidFill>
                  </a:tcPr>
                </a:tc>
                <a:tc>
                  <a:txBody>
                    <a:bodyPr/>
                    <a:lstStyle/>
                    <a:p>
                      <a:pPr indent="0" marL="0">
                        <a:buNone/>
                      </a:pPr>
                      <a:r>
                        <a:rPr lang="en-US" sz="1350" b="1" dirty="0">
                          <a:solidFill>
                            <a:srgbClr val="B5453A"/>
                          </a:solidFill>
                          <a:latin typeface="Consolas" pitchFamily="34" charset="0"/>
                          <a:ea typeface="Consolas" pitchFamily="34" charset="-122"/>
                          <a:cs typeface="Consolas" pitchFamily="34" charset="-120"/>
                        </a:rPr>
                        <a:t>644  rw-r--r--</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3D9D6"/>
                    </a:solidFill>
                  </a:tcPr>
                </a:tc>
                <a:tc>
                  <a:txBody>
                    <a:bodyPr/>
                    <a:lstStyle/>
                    <a:p>
                      <a:pPr indent="0" marL="0">
                        <a:buNone/>
                      </a:pPr>
                      <a:r>
                        <a:rPr lang="en-US" sz="1350" dirty="0">
                          <a:solidFill>
                            <a:srgbClr val="3A464C"/>
                          </a:solidFill>
                          <a:latin typeface="Consolas" pitchFamily="34" charset="0"/>
                          <a:ea typeface="Consolas" pitchFamily="34" charset="-122"/>
                          <a:cs typeface="Consolas" pitchFamily="34" charset="-120"/>
                        </a:rPr>
                        <a:t>744  rwxr--r--</a:t>
                      </a:r>
                      <a:endParaRPr lang="en-US" sz="13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3D9D6"/>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the subtraction trap →</a:t>
                      </a:r>
                      <a:endParaRPr lang="en-US" sz="1350" dirty="0">
                        <a:latin typeface="Calibri" charset="0"/>
                        <a:ea typeface="Calibri" charset="0"/>
                        <a:cs typeface="Calibri"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3D9D6"/>
                    </a:solidFill>
                  </a:tcPr>
                </a:tc>
              </a:tr>
            </a:tbl>
          </a:graphicData>
        </a:graphic>
      </p:graphicFrame>
      <p:sp>
        <p:nvSpPr>
          <p:cNvPr id="7" name="Shape 4"/>
          <p:cNvSpPr/>
          <p:nvPr/>
        </p:nvSpPr>
        <p:spPr>
          <a:xfrm>
            <a:off x="7635240" y="1508760"/>
            <a:ext cx="4023360" cy="3291840"/>
          </a:xfrm>
          <a:prstGeom prst="roundRect">
            <a:avLst>
              <a:gd name="adj" fmla="val 1389"/>
            </a:avLst>
          </a:prstGeom>
          <a:solidFill>
            <a:srgbClr val="212121"/>
          </a:solidFill>
          <a:ln/>
        </p:spPr>
        <p:txBody>
          <a:bodyPr/>
          <a:p/>
        </p:txBody>
      </p:sp>
      <p:sp>
        <p:nvSpPr>
          <p:cNvPr id="8" name="Text 5"/>
          <p:cNvSpPr txBox="1"/>
          <p:nvPr/>
        </p:nvSpPr>
        <p:spPr>
          <a:xfrm>
            <a:off x="7818120" y="1618488"/>
            <a:ext cx="3657600" cy="3072384"/>
          </a:xfrm>
          <a:prstGeom prst="rect">
            <a:avLst/>
          </a:prstGeom>
          <a:noFill/>
          <a:ln/>
        </p:spPr>
        <p:txBody>
          <a:bodyPr wrap="square" lIns="0" tIns="0" rIns="0" bIns="0" rtlCol="0" anchor="t"/>
          <a:lstStyle/>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umask 033 on a file</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666 = 110 110 110</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033 = 000 011 011</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~033 = 111 100 100</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AND = 110 100 100</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 644  rw-r--r--</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666 − 033 = 633  ✗</a:t>
            </a:r>
            <a:endParaRPr lang="en-US" sz="1300" dirty="0"/>
          </a:p>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633 = rw--wx-wx</a:t>
            </a:r>
            <a:endParaRPr lang="en-US" sz="1300" dirty="0"/>
          </a:p>
        </p:txBody>
      </p:sp>
      <p:sp>
        <p:nvSpPr>
          <p:cNvPr id="9" name="Shape 6"/>
          <p:cNvSpPr/>
          <p:nvPr/>
        </p:nvSpPr>
        <p:spPr>
          <a:xfrm>
            <a:off x="548640" y="5029200"/>
            <a:ext cx="11109960" cy="1234440"/>
          </a:xfrm>
          <a:prstGeom prst="roundRect">
            <a:avLst>
              <a:gd name="adj" fmla="val 4444"/>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0" name="Text 7"/>
          <p:cNvSpPr txBox="1"/>
          <p:nvPr/>
        </p:nvSpPr>
        <p:spPr>
          <a:xfrm>
            <a:off x="777240" y="5029200"/>
            <a:ext cx="10652760" cy="12344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Subtraction works only when every umask bit is also set in 666 or 777. For files, 666 has no x bits, so a umask that contains x bits (033, 027, 077 …) gives a wrong answer by subtraction: 666 − 033 = 633 would mean "write and execute but not read". The kernel just clears bits: 644.</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umask in Action</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26</a:t>
            </a:r>
            <a:endParaRPr lang="en-US" sz="900" dirty="0"/>
          </a:p>
        </p:txBody>
      </p:sp>
      <p:sp>
        <p:nvSpPr>
          <p:cNvPr id="6" name="Shape 4"/>
          <p:cNvSpPr/>
          <p:nvPr/>
        </p:nvSpPr>
        <p:spPr>
          <a:xfrm>
            <a:off x="548640" y="1508760"/>
            <a:ext cx="6949440" cy="3794760"/>
          </a:xfrm>
          <a:prstGeom prst="roundRect">
            <a:avLst>
              <a:gd name="adj" fmla="val 1205"/>
            </a:avLst>
          </a:prstGeom>
          <a:solidFill>
            <a:srgbClr val="212121"/>
          </a:solidFill>
          <a:ln/>
        </p:spPr>
        <p:txBody>
          <a:bodyPr/>
          <a:p/>
        </p:txBody>
      </p:sp>
      <p:sp>
        <p:nvSpPr>
          <p:cNvPr id="7" name="Text 5"/>
          <p:cNvSpPr txBox="1"/>
          <p:nvPr/>
        </p:nvSpPr>
        <p:spPr>
          <a:xfrm>
            <a:off x="731520" y="1618488"/>
            <a:ext cx="6583680" cy="3575304"/>
          </a:xfrm>
          <a:prstGeom prst="rect">
            <a:avLst/>
          </a:prstGeom>
          <a:noFill/>
          <a:ln/>
        </p:spPr>
        <p:txBody>
          <a:bodyPr wrap="square" lIns="0" tIns="0" rIns="0" bIns="0" rtlCol="0" anchor="t"/>
          <a:lstStyle/>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student@okan-lab:~/lab/umask_test$ </a:t>
            </a:r>
            <a:r>
              <a:rPr lang="en-US" sz="1000" b="1" dirty="0">
                <a:solidFill>
                  <a:srgbClr val="FFFFFF"/>
                </a:solidFill>
                <a:latin typeface="Consolas" pitchFamily="34" charset="0"/>
                <a:ea typeface="Consolas" pitchFamily="34" charset="-122"/>
                <a:cs typeface="Consolas" pitchFamily="34" charset="-120"/>
              </a:rPr>
              <a:t>umask</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0002</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student@okan-lab:~/lab/umask_test$ </a:t>
            </a:r>
            <a:r>
              <a:rPr lang="en-US" sz="1000" b="1" dirty="0">
                <a:solidFill>
                  <a:srgbClr val="FFFFFF"/>
                </a:solidFill>
                <a:latin typeface="Consolas" pitchFamily="34" charset="0"/>
                <a:ea typeface="Consolas" pitchFamily="34" charset="-122"/>
                <a:cs typeface="Consolas" pitchFamily="34" charset="-120"/>
              </a:rPr>
              <a:t>umask -S</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u=rwx,g=rwx,o=rx</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student@okan-lab:~/lab/umask_test$ </a:t>
            </a:r>
            <a:r>
              <a:rPr lang="en-US" sz="1000" b="1" dirty="0">
                <a:solidFill>
                  <a:srgbClr val="FFFFFF"/>
                </a:solidFill>
                <a:latin typeface="Consolas" pitchFamily="34" charset="0"/>
                <a:ea typeface="Consolas" pitchFamily="34" charset="-122"/>
                <a:cs typeface="Consolas" pitchFamily="34" charset="-120"/>
              </a:rPr>
              <a:t>touch f_002; mkdir d_002   # … also 022, 077, 033</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student@okan-lab:~/lab/umask_test$ </a:t>
            </a:r>
            <a:r>
              <a:rPr lang="en-US" sz="1000" b="1" dirty="0">
                <a:solidFill>
                  <a:srgbClr val="FFFFFF"/>
                </a:solidFill>
                <a:latin typeface="Consolas" pitchFamily="34" charset="0"/>
                <a:ea typeface="Consolas" pitchFamily="34" charset="-122"/>
                <a:cs typeface="Consolas" pitchFamily="34" charset="-120"/>
              </a:rPr>
              <a:t>stat -c '%a  %A  %n' f_* d_*</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664  -rw-rw-r--  f_002</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644  -rw-r--r--  f_022</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644  -rw-r--r--  f_033</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600  -rw-------  f_077</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775  drwxrwxr-x  d_002</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755  drwxr-xr-x  d_022</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744  drwxr--r--  d_033</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700  drwx------  d_077</a:t>
            </a:r>
            <a:endParaRPr lang="en-US" sz="1000" dirty="0"/>
          </a:p>
        </p:txBody>
      </p:sp>
      <p:sp>
        <p:nvSpPr>
          <p:cNvPr id="8" name="Shape 6"/>
          <p:cNvSpPr/>
          <p:nvPr/>
        </p:nvSpPr>
        <p:spPr>
          <a:xfrm>
            <a:off x="7726680" y="1508760"/>
            <a:ext cx="3931920" cy="3794760"/>
          </a:xfrm>
          <a:prstGeom prst="roundRect">
            <a:avLst>
              <a:gd name="adj" fmla="val 144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955280" y="1691640"/>
            <a:ext cx="34747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7955280" y="2148840"/>
            <a:ext cx="3474720" cy="301752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umask -S shows what is ALLOWED: u=rwx,g=rwx,o=rx.</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Files never get x by default.</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033 → file 644, not 633; directory 744.</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umask 077 → only you can see new files.</a:t>
            </a:r>
            <a:endParaRPr lang="en-US" sz="1350" dirty="0"/>
          </a:p>
        </p:txBody>
      </p:sp>
      <p:sp>
        <p:nvSpPr>
          <p:cNvPr id="11" name="Shape 9"/>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2" name="Text 10"/>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umask changes only the current shell (and programs started from it). Put  umask 027  in ~/.bashrc to make it permanent. Existing files are not affected.</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Directories Without x or Without r</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27</a:t>
            </a:r>
            <a:endParaRPr lang="en-US" sz="900" dirty="0"/>
          </a:p>
        </p:txBody>
      </p:sp>
      <p:sp>
        <p:nvSpPr>
          <p:cNvPr id="6" name="Shape 4"/>
          <p:cNvSpPr/>
          <p:nvPr/>
        </p:nvSpPr>
        <p:spPr>
          <a:xfrm>
            <a:off x="548640" y="1508760"/>
            <a:ext cx="6949440" cy="4754880"/>
          </a:xfrm>
          <a:prstGeom prst="roundRect">
            <a:avLst>
              <a:gd name="adj" fmla="val 962"/>
            </a:avLst>
          </a:prstGeom>
          <a:solidFill>
            <a:srgbClr val="212121"/>
          </a:solidFill>
          <a:ln/>
        </p:spPr>
        <p:txBody>
          <a:bodyPr/>
          <a:p/>
        </p:txBody>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mkdir box</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echo "top secret" &gt; box/secret.txt</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ls -ld box</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drwxrwxr-x 2 student student 4096 Oct 12 19:38 box</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chmod u-x box</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ls -ld box</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drw-rwxr-x 2 student student 4096 Oct 12 19:38 box</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ls box</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secret.txt</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ls -l box</a:t>
            </a:r>
            <a:endParaRPr lang="en-US" sz="1200" dirty="0"/>
          </a:p>
          <a:p>
            <a:pPr indent="0" marL="0">
              <a:lnSpc>
                <a:spcPct val="100000"/>
              </a:lnSpc>
              <a:buNone/>
            </a:pPr>
            <a:r>
              <a:rPr lang="en-US" sz="1200" dirty="0">
                <a:solidFill>
                  <a:srgbClr val="F4A79D"/>
                </a:solidFill>
                <a:latin typeface="Consolas" pitchFamily="34" charset="0"/>
                <a:ea typeface="Consolas" pitchFamily="34" charset="-122"/>
                <a:cs typeface="Consolas" pitchFamily="34" charset="-120"/>
              </a:rPr>
              <a:t>ls: cannot access 'box/secret.txt': Permission denied</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total 0</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 ? ? ? ?            ? secret.txt</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cd box</a:t>
            </a:r>
            <a:endParaRPr lang="en-US" sz="1200" dirty="0"/>
          </a:p>
          <a:p>
            <a:pPr indent="0" marL="0">
              <a:lnSpc>
                <a:spcPct val="100000"/>
              </a:lnSpc>
              <a:buNone/>
            </a:pPr>
            <a:r>
              <a:rPr lang="en-US" sz="1200" dirty="0">
                <a:solidFill>
                  <a:srgbClr val="F4A79D"/>
                </a:solidFill>
                <a:latin typeface="Consolas" pitchFamily="34" charset="0"/>
                <a:ea typeface="Consolas" pitchFamily="34" charset="-122"/>
                <a:cs typeface="Consolas" pitchFamily="34" charset="-120"/>
              </a:rPr>
              <a:t>bash: cd: box: Permission denied</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cat box/secret.txt</a:t>
            </a:r>
            <a:endParaRPr lang="en-US" sz="1200" dirty="0"/>
          </a:p>
          <a:p>
            <a:pPr indent="0" marL="0">
              <a:lnSpc>
                <a:spcPct val="100000"/>
              </a:lnSpc>
              <a:buNone/>
            </a:pPr>
            <a:r>
              <a:rPr lang="en-US" sz="1200" dirty="0">
                <a:solidFill>
                  <a:srgbClr val="F4A79D"/>
                </a:solidFill>
                <a:latin typeface="Consolas" pitchFamily="34" charset="0"/>
                <a:ea typeface="Consolas" pitchFamily="34" charset="-122"/>
                <a:cs typeface="Consolas" pitchFamily="34" charset="-120"/>
              </a:rPr>
              <a:t>cat: box/secret.txt: Permission denied</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chmod u-r,u+x box</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ls -ld box</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d-wxrwxr-x 2 student student 4096 Oct 12 19:38 box</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ls box</a:t>
            </a:r>
            <a:endParaRPr lang="en-US" sz="1200" dirty="0"/>
          </a:p>
          <a:p>
            <a:pPr indent="0" marL="0">
              <a:lnSpc>
                <a:spcPct val="100000"/>
              </a:lnSpc>
              <a:buNone/>
            </a:pPr>
            <a:r>
              <a:rPr lang="en-US" sz="1200" dirty="0">
                <a:solidFill>
                  <a:srgbClr val="F4A79D"/>
                </a:solidFill>
                <a:latin typeface="Consolas" pitchFamily="34" charset="0"/>
                <a:ea typeface="Consolas" pitchFamily="34" charset="-122"/>
                <a:cs typeface="Consolas" pitchFamily="34" charset="-120"/>
              </a:rPr>
              <a:t>ls: cannot open directory 'box': Permission denied</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cat box/secret.txt</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top secret</a:t>
            </a:r>
            <a:endParaRPr lang="en-US" sz="1200" dirty="0"/>
          </a:p>
        </p:txBody>
      </p:sp>
      <p:sp>
        <p:nvSpPr>
          <p:cNvPr id="8" name="Shape 6"/>
          <p:cNvSpPr/>
          <p:nvPr/>
        </p:nvSpPr>
        <p:spPr>
          <a:xfrm>
            <a:off x="7726680" y="1508760"/>
            <a:ext cx="3931920" cy="4754880"/>
          </a:xfrm>
          <a:prstGeom prst="roundRect">
            <a:avLst>
              <a:gd name="adj" fmla="val 139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955280" y="1691640"/>
            <a:ext cx="34747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7955280" y="2148840"/>
            <a:ext cx="3474720" cy="397764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r but no x:</a:t>
            </a:r>
            <a:r>
              <a:rPr lang="en-US" sz="1350" dirty="0">
                <a:solidFill>
                  <a:srgbClr val="3A464C"/>
                </a:solidFill>
                <a:latin typeface="Calibri" pitchFamily="34" charset="0"/>
                <a:ea typeface="Calibri" pitchFamily="34" charset="-122"/>
                <a:cs typeface="Calibri" pitchFamily="34" charset="-120"/>
              </a:rPr>
              <a:t> ls shows the names, but ls -l cannot read the inodes (??????), cd and cat fail.</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x but no r:</a:t>
            </a:r>
            <a:r>
              <a:rPr lang="en-US" sz="1350" dirty="0">
                <a:solidFill>
                  <a:srgbClr val="3A464C"/>
                </a:solidFill>
                <a:latin typeface="Calibri" pitchFamily="34" charset="0"/>
                <a:ea typeface="Calibri" pitchFamily="34" charset="-122"/>
                <a:cs typeface="Calibri" pitchFamily="34" charset="-120"/>
              </a:rPr>
              <a:t> cannot list the directory, but a file whose name you know can be opened.</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Usual pairs on directories: r-x or rwx — r and x go together.</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Deleting a Read-Only File: w on the Directory Decides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28</a:t>
            </a:r>
            <a:endParaRPr lang="en-US" sz="900" dirty="0"/>
          </a:p>
        </p:txBody>
      </p:sp>
      <p:sp>
        <p:nvSpPr>
          <p:cNvPr id="6" name="Shape 4"/>
          <p:cNvSpPr/>
          <p:nvPr/>
        </p:nvSpPr>
        <p:spPr>
          <a:xfrm>
            <a:off x="548640" y="1508760"/>
            <a:ext cx="6949440" cy="4754880"/>
          </a:xfrm>
          <a:prstGeom prst="roundRect">
            <a:avLst>
              <a:gd name="adj" fmla="val 962"/>
            </a:avLst>
          </a:prstGeom>
          <a:solidFill>
            <a:srgbClr val="212121"/>
          </a:solidFill>
          <a:ln/>
        </p:spPr>
        <p:txBody>
          <a:bodyPr/>
          <a:p/>
        </p:txBody>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 </a:t>
            </a:r>
            <a:r>
              <a:rPr lang="en-US" sz="1300" b="1" dirty="0">
                <a:solidFill>
                  <a:srgbClr val="FFFFFF"/>
                </a:solidFill>
                <a:latin typeface="Consolas" pitchFamily="34" charset="0"/>
                <a:ea typeface="Consolas" pitchFamily="34" charset="-122"/>
                <a:cs typeface="Consolas" pitchFamily="34" charset="-120"/>
              </a:rPr>
              <a:t>chmod 755 box</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 </a:t>
            </a:r>
            <a:r>
              <a:rPr lang="en-US" sz="1300" b="1" dirty="0">
                <a:solidFill>
                  <a:srgbClr val="FFFFFF"/>
                </a:solidFill>
                <a:latin typeface="Consolas" pitchFamily="34" charset="0"/>
                <a:ea typeface="Consolas" pitchFamily="34" charset="-122"/>
                <a:cs typeface="Consolas" pitchFamily="34" charset="-120"/>
              </a:rPr>
              <a:t>chmod 444 box/secret.txt</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 </a:t>
            </a:r>
            <a:r>
              <a:rPr lang="en-US" sz="1300" b="1" dirty="0">
                <a:solidFill>
                  <a:srgbClr val="FFFFFF"/>
                </a:solidFill>
                <a:latin typeface="Consolas" pitchFamily="34" charset="0"/>
                <a:ea typeface="Consolas" pitchFamily="34" charset="-122"/>
                <a:cs typeface="Consolas" pitchFamily="34" charset="-120"/>
              </a:rPr>
              <a:t>ls -l box</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total 4</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-r--r--r-- 1 student student 11 Oct 12 19:38 secret.txt</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 </a:t>
            </a:r>
            <a:r>
              <a:rPr lang="en-US" sz="1300" b="1" dirty="0">
                <a:solidFill>
                  <a:srgbClr val="FFFFFF"/>
                </a:solidFill>
                <a:latin typeface="Consolas" pitchFamily="34" charset="0"/>
                <a:ea typeface="Consolas" pitchFamily="34" charset="-122"/>
                <a:cs typeface="Consolas" pitchFamily="34" charset="-120"/>
              </a:rPr>
              <a:t>echo "more" &gt;&gt; box/secret.txt</a:t>
            </a:r>
            <a:endParaRPr lang="en-US" sz="1300" dirty="0"/>
          </a:p>
          <a:p>
            <a:pPr indent="0" marL="0">
              <a:lnSpc>
                <a:spcPct val="100000"/>
              </a:lnSpc>
              <a:buNone/>
            </a:pPr>
            <a:r>
              <a:rPr lang="en-US" sz="1300" dirty="0">
                <a:solidFill>
                  <a:srgbClr val="F4A79D"/>
                </a:solidFill>
                <a:latin typeface="Consolas" pitchFamily="34" charset="0"/>
                <a:ea typeface="Consolas" pitchFamily="34" charset="-122"/>
                <a:cs typeface="Consolas" pitchFamily="34" charset="-120"/>
              </a:rPr>
              <a:t>bash: box/secret.txt: Permission denied</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 </a:t>
            </a:r>
            <a:r>
              <a:rPr lang="en-US" sz="1300" b="1" dirty="0">
                <a:solidFill>
                  <a:srgbClr val="FFFFFF"/>
                </a:solidFill>
                <a:latin typeface="Consolas" pitchFamily="34" charset="0"/>
                <a:ea typeface="Consolas" pitchFamily="34" charset="-122"/>
                <a:cs typeface="Consolas" pitchFamily="34" charset="-120"/>
              </a:rPr>
              <a:t>rm box/secret.txt</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rm: remove write-protected regular file 'box/secret.txt'? y</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 </a:t>
            </a:r>
            <a:r>
              <a:rPr lang="en-US" sz="1300" b="1" dirty="0">
                <a:solidFill>
                  <a:srgbClr val="FFFFFF"/>
                </a:solidFill>
                <a:latin typeface="Consolas" pitchFamily="34" charset="0"/>
                <a:ea typeface="Consolas" pitchFamily="34" charset="-122"/>
                <a:cs typeface="Consolas" pitchFamily="34" charset="-120"/>
              </a:rPr>
              <a:t>ls box</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 </a:t>
            </a:r>
            <a:r>
              <a:rPr lang="en-US" sz="1300" b="1" dirty="0">
                <a:solidFill>
                  <a:srgbClr val="FFFFFF"/>
                </a:solidFill>
                <a:latin typeface="Consolas" pitchFamily="34" charset="0"/>
                <a:ea typeface="Consolas" pitchFamily="34" charset="-122"/>
                <a:cs typeface="Consolas" pitchFamily="34" charset="-120"/>
              </a:rPr>
              <a:t>chmod 555 box</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 </a:t>
            </a:r>
            <a:r>
              <a:rPr lang="en-US" sz="1300" b="1" dirty="0">
                <a:solidFill>
                  <a:srgbClr val="FFFFFF"/>
                </a:solidFill>
                <a:latin typeface="Consolas" pitchFamily="34" charset="0"/>
                <a:ea typeface="Consolas" pitchFamily="34" charset="-122"/>
                <a:cs typeface="Consolas" pitchFamily="34" charset="-120"/>
              </a:rPr>
              <a:t>touch box/new.txt</a:t>
            </a:r>
            <a:endParaRPr lang="en-US" sz="1300" dirty="0"/>
          </a:p>
          <a:p>
            <a:pPr indent="0" marL="0">
              <a:lnSpc>
                <a:spcPct val="100000"/>
              </a:lnSpc>
              <a:buNone/>
            </a:pPr>
            <a:r>
              <a:rPr lang="en-US" sz="1300" dirty="0">
                <a:solidFill>
                  <a:srgbClr val="F4A79D"/>
                </a:solidFill>
                <a:latin typeface="Consolas" pitchFamily="34" charset="0"/>
                <a:ea typeface="Consolas" pitchFamily="34" charset="-122"/>
                <a:cs typeface="Consolas" pitchFamily="34" charset="-120"/>
              </a:rPr>
              <a:t>touch: cannot touch 'box/new.txt': Permission denied</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 </a:t>
            </a:r>
            <a:r>
              <a:rPr lang="en-US" sz="1300" b="1" dirty="0">
                <a:solidFill>
                  <a:srgbClr val="FFFFFF"/>
                </a:solidFill>
                <a:latin typeface="Consolas" pitchFamily="34" charset="0"/>
                <a:ea typeface="Consolas" pitchFamily="34" charset="-122"/>
                <a:cs typeface="Consolas" pitchFamily="34" charset="-120"/>
              </a:rPr>
              <a:t>chmod 755 box</a:t>
            </a:r>
            <a:endParaRPr lang="en-US" sz="1300" dirty="0"/>
          </a:p>
        </p:txBody>
      </p:sp>
      <p:sp>
        <p:nvSpPr>
          <p:cNvPr id="8" name="Shape 6"/>
          <p:cNvSpPr/>
          <p:nvPr/>
        </p:nvSpPr>
        <p:spPr>
          <a:xfrm>
            <a:off x="7726680" y="1508760"/>
            <a:ext cx="3931920" cy="3017520"/>
          </a:xfrm>
          <a:prstGeom prst="roundRect">
            <a:avLst>
              <a:gd name="adj" fmla="val 181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955280" y="1691640"/>
            <a:ext cx="34747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7955280" y="2148840"/>
            <a:ext cx="3474720" cy="224028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444 stops writing into the file …</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 but rm only asks a question and then deletes it: the directory (755) is writable.</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Directory 555: nothing can be added or removed.</a:t>
            </a:r>
            <a:endParaRPr lang="en-US" sz="1350" dirty="0"/>
          </a:p>
        </p:txBody>
      </p:sp>
      <p:sp>
        <p:nvSpPr>
          <p:cNvPr id="11" name="Shape 9"/>
          <p:cNvSpPr/>
          <p:nvPr/>
        </p:nvSpPr>
        <p:spPr>
          <a:xfrm>
            <a:off x="7726680" y="4709160"/>
            <a:ext cx="3931920" cy="1554480"/>
          </a:xfrm>
          <a:prstGeom prst="roundRect">
            <a:avLst>
              <a:gd name="adj" fmla="val 3529"/>
            </a:avLst>
          </a:prstGeom>
          <a:solidFill>
            <a:srgbClr val="F3D9D6"/>
          </a:solidFill>
          <a:ln w="12700">
            <a:solidFill>
              <a:srgbClr val="B5453A"/>
            </a:solidFill>
            <a:prstDash val="solid"/>
          </a:ln>
        </p:spPr>
        <p:txBody>
          <a:bodyPr/>
          <a:p/>
        </p:txBody>
      </p:sp>
      <p:sp>
        <p:nvSpPr>
          <p:cNvPr id="12" name="Text 10"/>
          <p:cNvSpPr txBox="1"/>
          <p:nvPr/>
        </p:nvSpPr>
        <p:spPr>
          <a:xfrm>
            <a:off x="7909560" y="4709160"/>
            <a:ext cx="3566160" cy="1554480"/>
          </a:xfrm>
          <a:prstGeom prst="rect">
            <a:avLst/>
          </a:prstGeom>
          <a:noFill/>
          <a:ln/>
        </p:spPr>
        <p:txBody>
          <a:bodyPr wrap="square" lIns="0" tIns="0" rIns="0" bIns="0" rtlCol="0" anchor="ctr"/>
          <a:lstStyle/>
          <a:p>
            <a:pPr indent="0" marL="0">
              <a:buNone/>
            </a:pPr>
            <a:r>
              <a:rPr lang="en-US" sz="1300" b="1" dirty="0">
                <a:solidFill>
                  <a:srgbClr val="B5453A"/>
                </a:solidFill>
                <a:latin typeface="Calibri" pitchFamily="34" charset="0"/>
                <a:ea typeface="Calibri" pitchFamily="34" charset="-122"/>
                <a:cs typeface="Calibri" pitchFamily="34" charset="-120"/>
              </a:rPr>
              <a:t>Careful:  </a:t>
            </a:r>
            <a:r>
              <a:rPr lang="en-US" sz="1300" dirty="0">
                <a:solidFill>
                  <a:srgbClr val="5A2A25"/>
                </a:solidFill>
                <a:latin typeface="Calibri" pitchFamily="34" charset="0"/>
                <a:ea typeface="Calibri" pitchFamily="34" charset="-122"/>
                <a:cs typeface="Calibri" pitchFamily="34" charset="-120"/>
              </a:rPr>
              <a:t>rm -f skips that question, and rm -r has no recycle bin. A read-only file is NOT protected against deletion.</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OWNERSHIP</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chown and chgrp: Who May Change the Owner?</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29</a:t>
            </a:r>
            <a:endParaRPr lang="en-US" sz="900" dirty="0"/>
          </a:p>
        </p:txBody>
      </p:sp>
      <p:sp>
        <p:nvSpPr>
          <p:cNvPr id="6" name="Shape 4"/>
          <p:cNvSpPr/>
          <p:nvPr/>
        </p:nvSpPr>
        <p:spPr>
          <a:xfrm>
            <a:off x="548640" y="1508760"/>
            <a:ext cx="548640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5029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commands</a:t>
            </a:r>
            <a:endParaRPr lang="en-US" sz="1500" dirty="0"/>
          </a:p>
        </p:txBody>
      </p:sp>
      <p:sp>
        <p:nvSpPr>
          <p:cNvPr id="8" name="Text 6"/>
          <p:cNvSpPr txBox="1"/>
          <p:nvPr/>
        </p:nvSpPr>
        <p:spPr>
          <a:xfrm>
            <a:off x="777240" y="2148840"/>
            <a:ext cx="5029200" cy="146304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chown user file</a:t>
            </a:r>
            <a:r>
              <a:rPr lang="en-US" sz="1400" dirty="0">
                <a:solidFill>
                  <a:srgbClr val="3A464C"/>
                </a:solidFill>
                <a:latin typeface="Calibri" pitchFamily="34" charset="0"/>
                <a:ea typeface="Calibri" pitchFamily="34" charset="-122"/>
                <a:cs typeface="Calibri" pitchFamily="34" charset="-120"/>
              </a:rPr>
              <a:t> — change the owner (also chown user:group file).</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chgrp group file</a:t>
            </a:r>
            <a:r>
              <a:rPr lang="en-US" sz="1400" dirty="0">
                <a:solidFill>
                  <a:srgbClr val="3A464C"/>
                </a:solidFill>
                <a:latin typeface="Calibri" pitchFamily="34" charset="0"/>
                <a:ea typeface="Calibri" pitchFamily="34" charset="-122"/>
                <a:cs typeface="Calibri" pitchFamily="34" charset="-120"/>
              </a:rPr>
              <a:t> — change the group.</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Both accept -R for a whole tree.</a:t>
            </a:r>
            <a:endParaRPr lang="en-US" sz="1400" dirty="0"/>
          </a:p>
        </p:txBody>
      </p:sp>
      <p:sp>
        <p:nvSpPr>
          <p:cNvPr id="9" name="Shape 7"/>
          <p:cNvSpPr/>
          <p:nvPr/>
        </p:nvSpPr>
        <p:spPr>
          <a:xfrm>
            <a:off x="548640" y="3931920"/>
            <a:ext cx="5486400" cy="2331720"/>
          </a:xfrm>
          <a:prstGeom prst="roundRect">
            <a:avLst>
              <a:gd name="adj" fmla="val 235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777240" y="4114800"/>
            <a:ext cx="5029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rules on Linux</a:t>
            </a:r>
            <a:endParaRPr lang="en-US" sz="1500" dirty="0"/>
          </a:p>
        </p:txBody>
      </p:sp>
      <p:sp>
        <p:nvSpPr>
          <p:cNvPr id="11" name="Text 9"/>
          <p:cNvSpPr txBox="1"/>
          <p:nvPr/>
        </p:nvSpPr>
        <p:spPr>
          <a:xfrm>
            <a:off x="777240" y="4572000"/>
            <a:ext cx="5029200" cy="155448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chown:</a:t>
            </a:r>
            <a:r>
              <a:rPr lang="en-US" sz="1400" dirty="0">
                <a:solidFill>
                  <a:srgbClr val="3A464C"/>
                </a:solidFill>
                <a:latin typeface="Calibri" pitchFamily="34" charset="0"/>
                <a:ea typeface="Calibri" pitchFamily="34" charset="-122"/>
                <a:cs typeface="Calibri" pitchFamily="34" charset="-120"/>
              </a:rPr>
              <a:t> only root. Otherwise you could give files away to dodge disk quotas, or hand someone a file they never created.</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chgrp:</a:t>
            </a:r>
            <a:r>
              <a:rPr lang="en-US" sz="1400" dirty="0">
                <a:solidFill>
                  <a:srgbClr val="3A464C"/>
                </a:solidFill>
                <a:latin typeface="Calibri" pitchFamily="34" charset="0"/>
                <a:ea typeface="Calibri" pitchFamily="34" charset="-122"/>
                <a:cs typeface="Calibri" pitchFamily="34" charset="-120"/>
              </a:rPr>
              <a:t> the owner may switch to a group he or she belongs to.</a:t>
            </a:r>
            <a:endParaRPr lang="en-US" sz="1400" dirty="0"/>
          </a:p>
        </p:txBody>
      </p:sp>
      <p:sp>
        <p:nvSpPr>
          <p:cNvPr id="12" name="Shape 10"/>
          <p:cNvSpPr/>
          <p:nvPr/>
        </p:nvSpPr>
        <p:spPr>
          <a:xfrm>
            <a:off x="6263640" y="1508760"/>
            <a:ext cx="5394960" cy="2743200"/>
          </a:xfrm>
          <a:prstGeom prst="roundRect">
            <a:avLst>
              <a:gd name="adj" fmla="val 1667"/>
            </a:avLst>
          </a:prstGeom>
          <a:solidFill>
            <a:srgbClr val="212121"/>
          </a:solidFill>
          <a:ln/>
        </p:spPr>
        <p:txBody>
          <a:bodyPr/>
          <a:p/>
        </p:txBody>
      </p:sp>
      <p:sp>
        <p:nvSpPr>
          <p:cNvPr id="13" name="Text 11"/>
          <p:cNvSpPr txBox="1"/>
          <p:nvPr/>
        </p:nvSpPr>
        <p:spPr>
          <a:xfrm>
            <a:off x="6446520" y="1618488"/>
            <a:ext cx="5029200" cy="2523744"/>
          </a:xfrm>
          <a:prstGeom prst="rect">
            <a:avLst/>
          </a:prstGeom>
          <a:noFill/>
          <a:ln/>
        </p:spPr>
        <p:txBody>
          <a:bodyPr wrap="square" lIns="0" tIns="0" rIns="0" bIns="0" rtlCol="0" anchor="t"/>
          <a:lstStyle/>
          <a:p>
            <a:pPr indent="0" marL="0">
              <a:lnSpc>
                <a:spcPct val="100000"/>
              </a:lnSpc>
              <a:buNone/>
            </a:pPr>
            <a:r>
              <a:rPr lang="en-US" sz="900" dirty="0">
                <a:solidFill>
                  <a:srgbClr val="02C39A"/>
                </a:solidFill>
                <a:latin typeface="Consolas" pitchFamily="34" charset="0"/>
                <a:ea typeface="Consolas" pitchFamily="34" charset="-122"/>
                <a:cs typeface="Consolas" pitchFamily="34" charset="-120"/>
              </a:rPr>
              <a:t>student@okan-lab:~/lab$ </a:t>
            </a:r>
            <a:r>
              <a:rPr lang="en-US" sz="900" b="1" dirty="0">
                <a:solidFill>
                  <a:srgbClr val="FFFFFF"/>
                </a:solidFill>
                <a:latin typeface="Consolas" pitchFamily="34" charset="0"/>
                <a:ea typeface="Consolas" pitchFamily="34" charset="-122"/>
                <a:cs typeface="Consolas" pitchFamily="34" charset="-120"/>
              </a:rPr>
              <a:t>ls -l docs/notes_01.txt</a:t>
            </a:r>
            <a:endParaRPr lang="en-US" sz="900" dirty="0"/>
          </a:p>
          <a:p>
            <a:pPr indent="0" marL="0">
              <a:lnSpc>
                <a:spcPct val="100000"/>
              </a:lnSpc>
              <a:buNone/>
            </a:pPr>
            <a:r>
              <a:rPr lang="en-US" sz="900" dirty="0">
                <a:solidFill>
                  <a:srgbClr val="F2F2F2"/>
                </a:solidFill>
                <a:latin typeface="Consolas" pitchFamily="34" charset="0"/>
                <a:ea typeface="Consolas" pitchFamily="34" charset="-122"/>
                <a:cs typeface="Consolas" pitchFamily="34" charset="-120"/>
              </a:rPr>
              <a:t>-rw-rw-r-- 1 student student 16 Oct 12 19:38 docs/notes_01.txt</a:t>
            </a:r>
            <a:endParaRPr lang="en-US" sz="900" dirty="0"/>
          </a:p>
          <a:p>
            <a:pPr indent="0" marL="0">
              <a:lnSpc>
                <a:spcPct val="100000"/>
              </a:lnSpc>
              <a:buNone/>
            </a:pPr>
            <a:r>
              <a:rPr lang="en-US" sz="900" dirty="0">
                <a:solidFill>
                  <a:srgbClr val="02C39A"/>
                </a:solidFill>
                <a:latin typeface="Consolas" pitchFamily="34" charset="0"/>
                <a:ea typeface="Consolas" pitchFamily="34" charset="-122"/>
                <a:cs typeface="Consolas" pitchFamily="34" charset="-120"/>
              </a:rPr>
              <a:t>student@okan-lab:~/lab$ </a:t>
            </a:r>
            <a:r>
              <a:rPr lang="en-US" sz="900" b="1" dirty="0">
                <a:solidFill>
                  <a:srgbClr val="FFFFFF"/>
                </a:solidFill>
                <a:latin typeface="Consolas" pitchFamily="34" charset="0"/>
                <a:ea typeface="Consolas" pitchFamily="34" charset="-122"/>
                <a:cs typeface="Consolas" pitchFamily="34" charset="-120"/>
              </a:rPr>
              <a:t>chown root docs/notes_01.txt</a:t>
            </a:r>
            <a:endParaRPr lang="en-US" sz="900" dirty="0"/>
          </a:p>
          <a:p>
            <a:pPr indent="0" marL="0">
              <a:lnSpc>
                <a:spcPct val="100000"/>
              </a:lnSpc>
              <a:buNone/>
            </a:pPr>
            <a:r>
              <a:rPr lang="en-US" sz="900" dirty="0">
                <a:solidFill>
                  <a:srgbClr val="F4A79D"/>
                </a:solidFill>
                <a:latin typeface="Consolas" pitchFamily="34" charset="0"/>
                <a:ea typeface="Consolas" pitchFamily="34" charset="-122"/>
                <a:cs typeface="Consolas" pitchFamily="34" charset="-120"/>
              </a:rPr>
              <a:t>chown: changing ownership of 'docs/notes_01.txt': Operation not permitted</a:t>
            </a:r>
            <a:endParaRPr lang="en-US" sz="900" dirty="0"/>
          </a:p>
          <a:p>
            <a:pPr indent="0" marL="0">
              <a:lnSpc>
                <a:spcPct val="100000"/>
              </a:lnSpc>
              <a:buNone/>
            </a:pPr>
            <a:r>
              <a:rPr lang="en-US" sz="900" dirty="0">
                <a:solidFill>
                  <a:srgbClr val="02C39A"/>
                </a:solidFill>
                <a:latin typeface="Consolas" pitchFamily="34" charset="0"/>
                <a:ea typeface="Consolas" pitchFamily="34" charset="-122"/>
                <a:cs typeface="Consolas" pitchFamily="34" charset="-120"/>
              </a:rPr>
              <a:t>student@okan-lab:~/lab$ </a:t>
            </a:r>
            <a:r>
              <a:rPr lang="en-US" sz="900" b="1" dirty="0">
                <a:solidFill>
                  <a:srgbClr val="FFFFFF"/>
                </a:solidFill>
                <a:latin typeface="Consolas" pitchFamily="34" charset="0"/>
                <a:ea typeface="Consolas" pitchFamily="34" charset="-122"/>
                <a:cs typeface="Consolas" pitchFamily="34" charset="-120"/>
              </a:rPr>
              <a:t>chgrp students docs/notes_01.txt</a:t>
            </a:r>
            <a:endParaRPr lang="en-US" sz="900" dirty="0"/>
          </a:p>
          <a:p>
            <a:pPr indent="0" marL="0">
              <a:lnSpc>
                <a:spcPct val="100000"/>
              </a:lnSpc>
              <a:buNone/>
            </a:pPr>
            <a:r>
              <a:rPr lang="en-US" sz="900" dirty="0">
                <a:solidFill>
                  <a:srgbClr val="F4A79D"/>
                </a:solidFill>
                <a:latin typeface="Consolas" pitchFamily="34" charset="0"/>
                <a:ea typeface="Consolas" pitchFamily="34" charset="-122"/>
                <a:cs typeface="Consolas" pitchFamily="34" charset="-120"/>
              </a:rPr>
              <a:t>chgrp: changing group of 'docs/notes_01.txt': Operation not permitted</a:t>
            </a:r>
            <a:endParaRPr lang="en-US" sz="900" dirty="0"/>
          </a:p>
          <a:p>
            <a:pPr indent="0" marL="0">
              <a:lnSpc>
                <a:spcPct val="100000"/>
              </a:lnSpc>
              <a:buNone/>
            </a:pPr>
            <a:r>
              <a:rPr lang="en-US" sz="900" dirty="0">
                <a:solidFill>
                  <a:srgbClr val="02C39A"/>
                </a:solidFill>
                <a:latin typeface="Consolas" pitchFamily="34" charset="0"/>
                <a:ea typeface="Consolas" pitchFamily="34" charset="-122"/>
                <a:cs typeface="Consolas" pitchFamily="34" charset="-120"/>
              </a:rPr>
              <a:t>student@okan-lab:~/lab$ </a:t>
            </a:r>
            <a:r>
              <a:rPr lang="en-US" sz="900" b="1" dirty="0">
                <a:solidFill>
                  <a:srgbClr val="FFFFFF"/>
                </a:solidFill>
                <a:latin typeface="Consolas" pitchFamily="34" charset="0"/>
                <a:ea typeface="Consolas" pitchFamily="34" charset="-122"/>
                <a:cs typeface="Consolas" pitchFamily="34" charset="-120"/>
              </a:rPr>
              <a:t>chown $USER docs/notes_01.txt</a:t>
            </a:r>
            <a:endParaRPr lang="en-US" sz="900" dirty="0"/>
          </a:p>
        </p:txBody>
      </p:sp>
      <p:sp>
        <p:nvSpPr>
          <p:cNvPr id="14" name="Shape 12"/>
          <p:cNvSpPr/>
          <p:nvPr/>
        </p:nvSpPr>
        <p:spPr>
          <a:xfrm>
            <a:off x="6263640" y="4434840"/>
            <a:ext cx="5394960" cy="1828800"/>
          </a:xfrm>
          <a:prstGeom prst="roundRect">
            <a:avLst>
              <a:gd name="adj" fmla="val 30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5" name="Text 13"/>
          <p:cNvSpPr txBox="1"/>
          <p:nvPr/>
        </p:nvSpPr>
        <p:spPr>
          <a:xfrm>
            <a:off x="6492240" y="4617720"/>
            <a:ext cx="49377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Reading the errors</a:t>
            </a:r>
            <a:endParaRPr lang="en-US" sz="1500" dirty="0"/>
          </a:p>
        </p:txBody>
      </p:sp>
      <p:sp>
        <p:nvSpPr>
          <p:cNvPr id="16" name="Text 14"/>
          <p:cNvSpPr txBox="1"/>
          <p:nvPr/>
        </p:nvSpPr>
        <p:spPr>
          <a:xfrm>
            <a:off x="6492240" y="5074920"/>
            <a:ext cx="4937760" cy="105156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Operation not permitted (EPERM): you lack the privilege — not a missing r/w/x bit.</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chgrp failed: student is not (yet) in the group students.</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OWNERSHIP</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Sharing a Folder with a Group</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30</a:t>
            </a:r>
            <a:endParaRPr lang="en-US" sz="900" dirty="0"/>
          </a:p>
        </p:txBody>
      </p:sp>
      <p:sp>
        <p:nvSpPr>
          <p:cNvPr id="6" name="Shape 4"/>
          <p:cNvSpPr/>
          <p:nvPr/>
        </p:nvSpPr>
        <p:spPr>
          <a:xfrm>
            <a:off x="548640" y="1508760"/>
            <a:ext cx="6949440" cy="3657600"/>
          </a:xfrm>
          <a:prstGeom prst="roundRect">
            <a:avLst>
              <a:gd name="adj" fmla="val 1250"/>
            </a:avLst>
          </a:prstGeom>
          <a:solidFill>
            <a:srgbClr val="212121"/>
          </a:solidFill>
          <a:ln/>
        </p:spPr>
        <p:txBody>
          <a:bodyPr/>
          <a:p/>
        </p:txBody>
      </p:sp>
      <p:sp>
        <p:nvSpPr>
          <p:cNvPr id="7" name="Text 5"/>
          <p:cNvSpPr txBox="1"/>
          <p:nvPr/>
        </p:nvSpPr>
        <p:spPr>
          <a:xfrm>
            <a:off x="731520" y="1618488"/>
            <a:ext cx="6583680" cy="3438144"/>
          </a:xfrm>
          <a:prstGeom prst="rect">
            <a:avLst/>
          </a:prstGeom>
          <a:noFill/>
          <a:ln/>
        </p:spPr>
        <p:txBody>
          <a:bodyPr wrap="square" lIns="0" tIns="0" rIns="0" bIns="0" rtlCol="0" anchor="t"/>
          <a:lstStyle/>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id</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uid=1011(student) gid=1013(student) groups=1013(student),1010(students)</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groups</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student students</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chgrp students docs/notes_01.txt</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ls -l docs/notes_01.txt</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-rw-rw-r-- 1 student students 16 Oct 12 19:38 docs/notes_01.txt</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mkdir shared</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chgrp students shared</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chmod 2770 shared</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ls -ld shared</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drwxrws--- 2 student students 4096 Oct 12 19:38 shared</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touch shared/plan.txt</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ls -l shared</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total 0</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-rw-rw-r-- 1 student students 0 Oct 12 19:38 plan.txt</a:t>
            </a:r>
            <a:endParaRPr lang="en-US" sz="1200" dirty="0"/>
          </a:p>
        </p:txBody>
      </p:sp>
      <p:sp>
        <p:nvSpPr>
          <p:cNvPr id="8" name="Shape 6"/>
          <p:cNvSpPr/>
          <p:nvPr/>
        </p:nvSpPr>
        <p:spPr>
          <a:xfrm>
            <a:off x="7726680" y="1508760"/>
            <a:ext cx="3931920" cy="3657600"/>
          </a:xfrm>
          <a:prstGeom prst="roundRect">
            <a:avLst>
              <a:gd name="adj" fmla="val 15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955280" y="1691640"/>
            <a:ext cx="34747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7955280" y="2148840"/>
            <a:ext cx="3474720" cy="288036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After the administrator ran  sudo usermod -aG students student  and student logged in again, id lists the new group.</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Now chgrp works.</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2770: the extra 2 is setgid on a directory — new files inherit the group students (shown as s).</a:t>
            </a:r>
            <a:endParaRPr lang="en-US" sz="1300" dirty="0"/>
          </a:p>
        </p:txBody>
      </p:sp>
      <p:sp>
        <p:nvSpPr>
          <p:cNvPr id="11" name="Shape 9"/>
          <p:cNvSpPr/>
          <p:nvPr/>
        </p:nvSpPr>
        <p:spPr>
          <a:xfrm>
            <a:off x="548640" y="5349240"/>
            <a:ext cx="11109960" cy="914400"/>
          </a:xfrm>
          <a:prstGeom prst="roundRect">
            <a:avLst>
              <a:gd name="adj" fmla="val 6000"/>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2" name="Text 10"/>
          <p:cNvSpPr txBox="1"/>
          <p:nvPr/>
        </p:nvSpPr>
        <p:spPr>
          <a:xfrm>
            <a:off x="777240" y="5349240"/>
            <a:ext cx="10652760" cy="91440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Recipe for a team folder: put the members in one group, chgrp the folder to it, chmod 2770 (owner + group everything, others nothing, setgid so new files stay in the group).</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ROOT AND SUDO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root and sudo: Borrowing Superuser Power</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31</a:t>
            </a:r>
            <a:endParaRPr lang="en-US" sz="900" dirty="0"/>
          </a:p>
        </p:txBody>
      </p:sp>
      <p:sp>
        <p:nvSpPr>
          <p:cNvPr id="6" name="Shape 4"/>
          <p:cNvSpPr/>
          <p:nvPr/>
        </p:nvSpPr>
        <p:spPr>
          <a:xfrm>
            <a:off x="548640" y="1508760"/>
            <a:ext cx="3794760" cy="3063240"/>
          </a:xfrm>
          <a:prstGeom prst="roundRect">
            <a:avLst>
              <a:gd name="adj" fmla="val 17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33375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root</a:t>
            </a:r>
            <a:endParaRPr lang="en-US" sz="1500" dirty="0"/>
          </a:p>
        </p:txBody>
      </p:sp>
      <p:sp>
        <p:nvSpPr>
          <p:cNvPr id="8" name="Text 6"/>
          <p:cNvSpPr txBox="1"/>
          <p:nvPr/>
        </p:nvSpPr>
        <p:spPr>
          <a:xfrm>
            <a:off x="777240" y="2148840"/>
            <a:ext cx="3337560" cy="228600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UID 0: the permission checks of read and write do not apply.</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Ubuntu has no root password by default; administrators use sudo.</a:t>
            </a:r>
            <a:endParaRPr lang="en-US" sz="1350" dirty="0"/>
          </a:p>
        </p:txBody>
      </p:sp>
      <p:sp>
        <p:nvSpPr>
          <p:cNvPr id="9" name="Shape 7"/>
          <p:cNvSpPr/>
          <p:nvPr/>
        </p:nvSpPr>
        <p:spPr>
          <a:xfrm>
            <a:off x="4572000" y="1508760"/>
            <a:ext cx="3017520" cy="3063240"/>
          </a:xfrm>
          <a:prstGeom prst="roundRect">
            <a:avLst>
              <a:gd name="adj" fmla="val 181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4800600" y="1691640"/>
            <a:ext cx="25603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sudo command</a:t>
            </a:r>
            <a:endParaRPr lang="en-US" sz="1500" dirty="0"/>
          </a:p>
        </p:txBody>
      </p:sp>
      <p:sp>
        <p:nvSpPr>
          <p:cNvPr id="11" name="Text 9"/>
          <p:cNvSpPr txBox="1"/>
          <p:nvPr/>
        </p:nvSpPr>
        <p:spPr>
          <a:xfrm>
            <a:off x="4800600" y="2148840"/>
            <a:ext cx="2560320" cy="228600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Runs ONE command as root.</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Asks for YOUR password (not root's).</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Only for users allowed in /etc/sudoers (Ubuntu: group sudo).</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Logged.</a:t>
            </a:r>
            <a:endParaRPr lang="en-US" sz="1350" dirty="0"/>
          </a:p>
        </p:txBody>
      </p:sp>
      <p:sp>
        <p:nvSpPr>
          <p:cNvPr id="12" name="Shape 10"/>
          <p:cNvSpPr/>
          <p:nvPr/>
        </p:nvSpPr>
        <p:spPr>
          <a:xfrm>
            <a:off x="7818120" y="1508760"/>
            <a:ext cx="3840480" cy="1188720"/>
          </a:xfrm>
          <a:prstGeom prst="roundRect">
            <a:avLst>
              <a:gd name="adj" fmla="val 3846"/>
            </a:avLst>
          </a:prstGeom>
          <a:solidFill>
            <a:srgbClr val="212121"/>
          </a:solidFill>
          <a:ln/>
        </p:spPr>
        <p:txBody>
          <a:bodyPr/>
          <a:p/>
        </p:txBody>
      </p:sp>
      <p:sp>
        <p:nvSpPr>
          <p:cNvPr id="13" name="Text 11"/>
          <p:cNvSpPr txBox="1"/>
          <p:nvPr/>
        </p:nvSpPr>
        <p:spPr>
          <a:xfrm>
            <a:off x="8001000" y="1618488"/>
            <a:ext cx="3474720" cy="969264"/>
          </a:xfrm>
          <a:prstGeom prst="rect">
            <a:avLst/>
          </a:prstGeom>
          <a:noFill/>
          <a:ln/>
        </p:spPr>
        <p:txBody>
          <a:bodyPr wrap="square" lIns="0" tIns="0" rIns="0" bIns="0" rtlCol="0" anchor="t"/>
          <a:lstStyle/>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sudo whoami</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[sudo] password for student: </a:t>
            </a:r>
            <a:endParaRPr lang="en-US" sz="1200" dirty="0"/>
          </a:p>
          <a:p>
            <a:pPr indent="0" marL="0">
              <a:lnSpc>
                <a:spcPct val="100000"/>
              </a:lnSpc>
              <a:buNone/>
            </a:pPr>
            <a:r>
              <a:rPr lang="en-US" sz="1200" dirty="0">
                <a:solidFill>
                  <a:srgbClr val="F4A79D"/>
                </a:solidFill>
                <a:latin typeface="Consolas" pitchFamily="34" charset="0"/>
                <a:ea typeface="Consolas" pitchFamily="34" charset="-122"/>
                <a:cs typeface="Consolas" pitchFamily="34" charset="-120"/>
              </a:rPr>
              <a:t>student is not in the sudoers file.</a:t>
            </a:r>
            <a:endParaRPr lang="en-US" sz="1200" dirty="0"/>
          </a:p>
        </p:txBody>
      </p:sp>
      <p:sp>
        <p:nvSpPr>
          <p:cNvPr id="14" name="Text 12"/>
          <p:cNvSpPr txBox="1"/>
          <p:nvPr/>
        </p:nvSpPr>
        <p:spPr>
          <a:xfrm>
            <a:off x="7818120" y="2724912"/>
            <a:ext cx="3840480" cy="274320"/>
          </a:xfrm>
          <a:prstGeom prst="rect">
            <a:avLst/>
          </a:prstGeom>
          <a:noFill/>
          <a:ln/>
        </p:spPr>
        <p:txBody>
          <a:bodyPr wrap="square" lIns="0" tIns="0" rIns="0" bIns="0" rtlCol="0" anchor="t"/>
          <a:lstStyle/>
          <a:p>
            <a:pPr algn="ctr" indent="0" marL="0">
              <a:buNone/>
            </a:pPr>
            <a:r>
              <a:rPr lang="en-US" sz="1100" i="1" dirty="0">
                <a:solidFill>
                  <a:srgbClr val="6B7679"/>
                </a:solidFill>
                <a:latin typeface="Calibri" pitchFamily="34" charset="0"/>
                <a:ea typeface="Calibri" pitchFamily="34" charset="-122"/>
                <a:cs typeface="Calibri" pitchFamily="34" charset="-120"/>
              </a:rPr>
              <a:t>student is not an administrator</a:t>
            </a:r>
            <a:endParaRPr lang="en-US" sz="1100" dirty="0"/>
          </a:p>
        </p:txBody>
      </p:sp>
      <p:sp>
        <p:nvSpPr>
          <p:cNvPr id="15" name="Shape 13"/>
          <p:cNvSpPr/>
          <p:nvPr/>
        </p:nvSpPr>
        <p:spPr>
          <a:xfrm>
            <a:off x="7818120" y="3063240"/>
            <a:ext cx="3840480" cy="3200400"/>
          </a:xfrm>
          <a:prstGeom prst="roundRect">
            <a:avLst>
              <a:gd name="adj" fmla="val 1429"/>
            </a:avLst>
          </a:prstGeom>
          <a:solidFill>
            <a:srgbClr val="212121"/>
          </a:solidFill>
          <a:ln/>
        </p:spPr>
        <p:txBody>
          <a:bodyPr/>
          <a:p/>
        </p:txBody>
      </p:sp>
      <p:sp>
        <p:nvSpPr>
          <p:cNvPr id="16" name="Text 14"/>
          <p:cNvSpPr txBox="1"/>
          <p:nvPr/>
        </p:nvSpPr>
        <p:spPr>
          <a:xfrm>
            <a:off x="8001000" y="3172968"/>
            <a:ext cx="3474720" cy="2980944"/>
          </a:xfrm>
          <a:prstGeom prst="rect">
            <a:avLst/>
          </a:prstGeom>
          <a:noFill/>
          <a:ln/>
        </p:spPr>
        <p:txBody>
          <a:bodyPr wrap="square" lIns="0" tIns="0" rIns="0" bIns="0" rtlCol="0" anchor="t"/>
          <a:lstStyle/>
          <a:p>
            <a:pPr indent="0" marL="0">
              <a:lnSpc>
                <a:spcPct val="100000"/>
              </a:lnSpc>
              <a:buNone/>
            </a:pPr>
            <a:r>
              <a:rPr lang="en-US" sz="800" dirty="0">
                <a:solidFill>
                  <a:srgbClr val="02C39A"/>
                </a:solidFill>
                <a:latin typeface="Consolas" pitchFamily="34" charset="0"/>
                <a:ea typeface="Consolas" pitchFamily="34" charset="-122"/>
                <a:cs typeface="Consolas" pitchFamily="34" charset="-120"/>
              </a:rPr>
              <a:t>student@okan-lab:~/lab$ </a:t>
            </a:r>
            <a:r>
              <a:rPr lang="en-US" sz="800" b="1" dirty="0">
                <a:solidFill>
                  <a:srgbClr val="FFFFFF"/>
                </a:solidFill>
                <a:latin typeface="Consolas" pitchFamily="34" charset="0"/>
                <a:ea typeface="Consolas" pitchFamily="34" charset="-122"/>
                <a:cs typeface="Consolas" pitchFamily="34" charset="-120"/>
              </a:rPr>
              <a:t>groups</a:t>
            </a:r>
            <a:endParaRPr lang="en-US" sz="800" dirty="0"/>
          </a:p>
          <a:p>
            <a:pPr indent="0" marL="0">
              <a:lnSpc>
                <a:spcPct val="100000"/>
              </a:lnSpc>
              <a:buNone/>
            </a:pPr>
            <a:r>
              <a:rPr lang="en-US" sz="800" dirty="0">
                <a:solidFill>
                  <a:srgbClr val="F2F2F2"/>
                </a:solidFill>
                <a:latin typeface="Consolas" pitchFamily="34" charset="0"/>
                <a:ea typeface="Consolas" pitchFamily="34" charset="-122"/>
                <a:cs typeface="Consolas" pitchFamily="34" charset="-120"/>
              </a:rPr>
              <a:t>student sudo students</a:t>
            </a:r>
            <a:endParaRPr lang="en-US" sz="800" dirty="0"/>
          </a:p>
          <a:p>
            <a:pPr indent="0" marL="0">
              <a:lnSpc>
                <a:spcPct val="100000"/>
              </a:lnSpc>
              <a:buNone/>
            </a:pPr>
            <a:r>
              <a:rPr lang="en-US" sz="800" dirty="0">
                <a:solidFill>
                  <a:srgbClr val="02C39A"/>
                </a:solidFill>
                <a:latin typeface="Consolas" pitchFamily="34" charset="0"/>
                <a:ea typeface="Consolas" pitchFamily="34" charset="-122"/>
                <a:cs typeface="Consolas" pitchFamily="34" charset="-120"/>
              </a:rPr>
              <a:t>student@okan-lab:~/lab$ </a:t>
            </a:r>
            <a:r>
              <a:rPr lang="en-US" sz="800" b="1" dirty="0">
                <a:solidFill>
                  <a:srgbClr val="FFFFFF"/>
                </a:solidFill>
                <a:latin typeface="Consolas" pitchFamily="34" charset="0"/>
                <a:ea typeface="Consolas" pitchFamily="34" charset="-122"/>
                <a:cs typeface="Consolas" pitchFamily="34" charset="-120"/>
              </a:rPr>
              <a:t>sudo whoami</a:t>
            </a:r>
            <a:endParaRPr lang="en-US" sz="800" dirty="0"/>
          </a:p>
          <a:p>
            <a:pPr indent="0" marL="0">
              <a:lnSpc>
                <a:spcPct val="100000"/>
              </a:lnSpc>
              <a:buNone/>
            </a:pPr>
            <a:r>
              <a:rPr lang="en-US" sz="800" dirty="0">
                <a:solidFill>
                  <a:srgbClr val="F2F2F2"/>
                </a:solidFill>
                <a:latin typeface="Consolas" pitchFamily="34" charset="0"/>
                <a:ea typeface="Consolas" pitchFamily="34" charset="-122"/>
                <a:cs typeface="Consolas" pitchFamily="34" charset="-120"/>
              </a:rPr>
              <a:t>[sudo] password for student: </a:t>
            </a:r>
            <a:endParaRPr lang="en-US" sz="800" dirty="0"/>
          </a:p>
          <a:p>
            <a:pPr indent="0" marL="0">
              <a:lnSpc>
                <a:spcPct val="100000"/>
              </a:lnSpc>
              <a:buNone/>
            </a:pPr>
            <a:r>
              <a:rPr lang="en-US" sz="800" dirty="0">
                <a:solidFill>
                  <a:srgbClr val="F2F2F2"/>
                </a:solidFill>
                <a:latin typeface="Consolas" pitchFamily="34" charset="0"/>
                <a:ea typeface="Consolas" pitchFamily="34" charset="-122"/>
                <a:cs typeface="Consolas" pitchFamily="34" charset="-120"/>
              </a:rPr>
              <a:t>root</a:t>
            </a:r>
            <a:endParaRPr lang="en-US" sz="800" dirty="0"/>
          </a:p>
          <a:p>
            <a:pPr indent="0" marL="0">
              <a:lnSpc>
                <a:spcPct val="100000"/>
              </a:lnSpc>
              <a:buNone/>
            </a:pPr>
            <a:r>
              <a:rPr lang="en-US" sz="800" dirty="0">
                <a:solidFill>
                  <a:srgbClr val="02C39A"/>
                </a:solidFill>
                <a:latin typeface="Consolas" pitchFamily="34" charset="0"/>
                <a:ea typeface="Consolas" pitchFamily="34" charset="-122"/>
                <a:cs typeface="Consolas" pitchFamily="34" charset="-120"/>
              </a:rPr>
              <a:t>student@okan-lab:~/lab$ </a:t>
            </a:r>
            <a:r>
              <a:rPr lang="en-US" sz="800" b="1" dirty="0">
                <a:solidFill>
                  <a:srgbClr val="FFFFFF"/>
                </a:solidFill>
                <a:latin typeface="Consolas" pitchFamily="34" charset="0"/>
                <a:ea typeface="Consolas" pitchFamily="34" charset="-122"/>
                <a:cs typeface="Consolas" pitchFamily="34" charset="-120"/>
              </a:rPr>
              <a:t>chown root docs/notes_02.txt</a:t>
            </a:r>
            <a:endParaRPr lang="en-US" sz="800" dirty="0"/>
          </a:p>
          <a:p>
            <a:pPr indent="0" marL="0">
              <a:lnSpc>
                <a:spcPct val="100000"/>
              </a:lnSpc>
              <a:buNone/>
            </a:pPr>
            <a:r>
              <a:rPr lang="en-US" sz="800" dirty="0">
                <a:solidFill>
                  <a:srgbClr val="F4A79D"/>
                </a:solidFill>
                <a:latin typeface="Consolas" pitchFamily="34" charset="0"/>
                <a:ea typeface="Consolas" pitchFamily="34" charset="-122"/>
                <a:cs typeface="Consolas" pitchFamily="34" charset="-120"/>
              </a:rPr>
              <a:t>chown: changing ownership of 'docs/notes_02.txt': Operation not permitted</a:t>
            </a:r>
            <a:endParaRPr lang="en-US" sz="800" dirty="0"/>
          </a:p>
          <a:p>
            <a:pPr indent="0" marL="0">
              <a:lnSpc>
                <a:spcPct val="100000"/>
              </a:lnSpc>
              <a:buNone/>
            </a:pPr>
            <a:r>
              <a:rPr lang="en-US" sz="800" dirty="0">
                <a:solidFill>
                  <a:srgbClr val="02C39A"/>
                </a:solidFill>
                <a:latin typeface="Consolas" pitchFamily="34" charset="0"/>
                <a:ea typeface="Consolas" pitchFamily="34" charset="-122"/>
                <a:cs typeface="Consolas" pitchFamily="34" charset="-120"/>
              </a:rPr>
              <a:t>student@okan-lab:~/lab$ </a:t>
            </a:r>
            <a:r>
              <a:rPr lang="en-US" sz="800" b="1" dirty="0">
                <a:solidFill>
                  <a:srgbClr val="FFFFFF"/>
                </a:solidFill>
                <a:latin typeface="Consolas" pitchFamily="34" charset="0"/>
                <a:ea typeface="Consolas" pitchFamily="34" charset="-122"/>
                <a:cs typeface="Consolas" pitchFamily="34" charset="-120"/>
              </a:rPr>
              <a:t>sudo chown root:root docs/notes_02.txt</a:t>
            </a:r>
            <a:endParaRPr lang="en-US" sz="800" dirty="0"/>
          </a:p>
          <a:p>
            <a:pPr indent="0" marL="0">
              <a:lnSpc>
                <a:spcPct val="100000"/>
              </a:lnSpc>
              <a:buNone/>
            </a:pPr>
            <a:r>
              <a:rPr lang="en-US" sz="800" dirty="0">
                <a:solidFill>
                  <a:srgbClr val="02C39A"/>
                </a:solidFill>
                <a:latin typeface="Consolas" pitchFamily="34" charset="0"/>
                <a:ea typeface="Consolas" pitchFamily="34" charset="-122"/>
                <a:cs typeface="Consolas" pitchFamily="34" charset="-120"/>
              </a:rPr>
              <a:t>student@okan-lab:~/lab$ </a:t>
            </a:r>
            <a:r>
              <a:rPr lang="en-US" sz="800" b="1" dirty="0">
                <a:solidFill>
                  <a:srgbClr val="FFFFFF"/>
                </a:solidFill>
                <a:latin typeface="Consolas" pitchFamily="34" charset="0"/>
                <a:ea typeface="Consolas" pitchFamily="34" charset="-122"/>
                <a:cs typeface="Consolas" pitchFamily="34" charset="-120"/>
              </a:rPr>
              <a:t>ls -l docs/notes_02.txt</a:t>
            </a:r>
            <a:endParaRPr lang="en-US" sz="800" dirty="0"/>
          </a:p>
          <a:p>
            <a:pPr indent="0" marL="0">
              <a:lnSpc>
                <a:spcPct val="100000"/>
              </a:lnSpc>
              <a:buNone/>
            </a:pPr>
            <a:r>
              <a:rPr lang="en-US" sz="800" dirty="0">
                <a:solidFill>
                  <a:srgbClr val="F2F2F2"/>
                </a:solidFill>
                <a:latin typeface="Consolas" pitchFamily="34" charset="0"/>
                <a:ea typeface="Consolas" pitchFamily="34" charset="-122"/>
                <a:cs typeface="Consolas" pitchFamily="34" charset="-120"/>
              </a:rPr>
              <a:t>-rw-rw-r-- 1 student student 16 Oct 12 19:38 docs/notes_02.txt</a:t>
            </a:r>
            <a:endParaRPr lang="en-US" sz="800" dirty="0"/>
          </a:p>
          <a:p>
            <a:pPr indent="0" marL="0">
              <a:lnSpc>
                <a:spcPct val="100000"/>
              </a:lnSpc>
              <a:buNone/>
            </a:pPr>
            <a:r>
              <a:rPr lang="en-US" sz="800" dirty="0">
                <a:solidFill>
                  <a:srgbClr val="02C39A"/>
                </a:solidFill>
                <a:latin typeface="Consolas" pitchFamily="34" charset="0"/>
                <a:ea typeface="Consolas" pitchFamily="34" charset="-122"/>
                <a:cs typeface="Consolas" pitchFamily="34" charset="-120"/>
              </a:rPr>
              <a:t>student@okan-lab:~/lab$ </a:t>
            </a:r>
            <a:r>
              <a:rPr lang="en-US" sz="800" b="1" dirty="0">
                <a:solidFill>
                  <a:srgbClr val="FFFFFF"/>
                </a:solidFill>
                <a:latin typeface="Consolas" pitchFamily="34" charset="0"/>
                <a:ea typeface="Consolas" pitchFamily="34" charset="-122"/>
                <a:cs typeface="Consolas" pitchFamily="34" charset="-120"/>
              </a:rPr>
              <a:t>echo "more" &gt;&gt; docs/notes_02.txt</a:t>
            </a:r>
            <a:endParaRPr lang="en-US" sz="800" dirty="0"/>
          </a:p>
          <a:p>
            <a:pPr indent="0" marL="0">
              <a:lnSpc>
                <a:spcPct val="100000"/>
              </a:lnSpc>
              <a:buNone/>
            </a:pPr>
            <a:r>
              <a:rPr lang="en-US" sz="800" dirty="0">
                <a:solidFill>
                  <a:srgbClr val="F4A79D"/>
                </a:solidFill>
                <a:latin typeface="Consolas" pitchFamily="34" charset="0"/>
                <a:ea typeface="Consolas" pitchFamily="34" charset="-122"/>
                <a:cs typeface="Consolas" pitchFamily="34" charset="-120"/>
              </a:rPr>
              <a:t>bash: docs/notes_02.txt: Permission denied</a:t>
            </a:r>
            <a:endParaRPr lang="en-US" sz="800" dirty="0"/>
          </a:p>
        </p:txBody>
      </p:sp>
      <p:sp>
        <p:nvSpPr>
          <p:cNvPr id="17" name="Shape 15"/>
          <p:cNvSpPr/>
          <p:nvPr/>
        </p:nvSpPr>
        <p:spPr>
          <a:xfrm>
            <a:off x="548640" y="4754880"/>
            <a:ext cx="7040880" cy="1508760"/>
          </a:xfrm>
          <a:prstGeom prst="roundRect">
            <a:avLst>
              <a:gd name="adj" fmla="val 3636"/>
            </a:avLst>
          </a:prstGeom>
          <a:solidFill>
            <a:srgbClr val="F3D9D6"/>
          </a:solidFill>
          <a:ln w="12700">
            <a:solidFill>
              <a:srgbClr val="B5453A"/>
            </a:solidFill>
            <a:prstDash val="solid"/>
          </a:ln>
        </p:spPr>
        <p:txBody>
          <a:bodyPr/>
          <a:p/>
        </p:txBody>
      </p:sp>
      <p:sp>
        <p:nvSpPr>
          <p:cNvPr id="18" name="Text 16"/>
          <p:cNvSpPr txBox="1"/>
          <p:nvPr/>
        </p:nvSpPr>
        <p:spPr>
          <a:xfrm>
            <a:off x="731520" y="4754880"/>
            <a:ext cx="6675120" cy="1508760"/>
          </a:xfrm>
          <a:prstGeom prst="rect">
            <a:avLst/>
          </a:prstGeom>
          <a:noFill/>
          <a:ln/>
        </p:spPr>
        <p:txBody>
          <a:bodyPr wrap="square" lIns="0" tIns="0" rIns="0" bIns="0" rtlCol="0" anchor="ctr"/>
          <a:lstStyle/>
          <a:p>
            <a:pPr indent="0" marL="0">
              <a:buNone/>
            </a:pPr>
            <a:r>
              <a:rPr lang="en-US" sz="1300" b="1" dirty="0">
                <a:solidFill>
                  <a:srgbClr val="B5453A"/>
                </a:solidFill>
                <a:latin typeface="Calibri" pitchFamily="34" charset="0"/>
                <a:ea typeface="Calibri" pitchFamily="34" charset="-122"/>
                <a:cs typeface="Calibri" pitchFamily="34" charset="-120"/>
              </a:rPr>
              <a:t>Careful:  </a:t>
            </a:r>
            <a:r>
              <a:rPr lang="en-US" sz="1300" dirty="0">
                <a:solidFill>
                  <a:srgbClr val="5A2A25"/>
                </a:solidFill>
                <a:latin typeface="Calibri" pitchFamily="34" charset="0"/>
                <a:ea typeface="Calibri" pitchFamily="34" charset="-122"/>
                <a:cs typeface="Calibri" pitchFamily="34" charset="-120"/>
              </a:rPr>
              <a:t>Read a sudo command twice before pressing Enter: as root, one typo such as  sudo rm -r / home/x  (note the space) deletes the whole system. Never run sudo on commands copied from the internet that you do not understand.</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SPECIAL BITS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setuid: How passwd Can Write /etc/shadow</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32</a:t>
            </a:r>
            <a:endParaRPr lang="en-US" sz="900" dirty="0"/>
          </a:p>
        </p:txBody>
      </p:sp>
      <p:sp>
        <p:nvSpPr>
          <p:cNvPr id="6" name="Shape 4"/>
          <p:cNvSpPr/>
          <p:nvPr/>
        </p:nvSpPr>
        <p:spPr>
          <a:xfrm>
            <a:off x="548640" y="1828800"/>
            <a:ext cx="2377440" cy="1051560"/>
          </a:xfrm>
          <a:prstGeom prst="roundRect">
            <a:avLst>
              <a:gd name="adj" fmla="val 4348"/>
            </a:avLst>
          </a:prstGeom>
          <a:solidFill>
            <a:srgbClr val="F2F2F2"/>
          </a:solidFill>
          <a:ln/>
        </p:spPr>
        <p:txBody>
          <a:bodyPr/>
          <a:p/>
        </p:txBody>
      </p:sp>
      <p:sp>
        <p:nvSpPr>
          <p:cNvPr id="7" name="Text 5"/>
          <p:cNvSpPr txBox="1"/>
          <p:nvPr/>
        </p:nvSpPr>
        <p:spPr>
          <a:xfrm>
            <a:off x="548640" y="1828800"/>
            <a:ext cx="2377440" cy="1051560"/>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alibri" pitchFamily="34" charset="0"/>
                <a:ea typeface="Calibri" pitchFamily="34" charset="-122"/>
                <a:cs typeface="Calibri" pitchFamily="34" charset="-120"/>
              </a:rPr>
              <a:t>student types</a:t>
            </a:r>
            <a:endParaRPr lang="en-US" sz="1400" dirty="0"/>
          </a:p>
          <a:p>
            <a:pPr algn="ctr" indent="0" marL="0">
              <a:buNone/>
            </a:pPr>
            <a:r>
              <a:rPr lang="en-US" sz="1400" dirty="0">
                <a:solidFill>
                  <a:srgbClr val="36454F"/>
                </a:solidFill>
                <a:latin typeface="Calibri" pitchFamily="34" charset="0"/>
                <a:ea typeface="Calibri" pitchFamily="34" charset="-122"/>
                <a:cs typeface="Calibri" pitchFamily="34" charset="-120"/>
              </a:rPr>
              <a:t>passwd</a:t>
            </a:r>
            <a:endParaRPr lang="en-US" sz="1400" dirty="0"/>
          </a:p>
        </p:txBody>
      </p:sp>
      <p:sp>
        <p:nvSpPr>
          <p:cNvPr id="8" name="Shape 6"/>
          <p:cNvSpPr/>
          <p:nvPr/>
        </p:nvSpPr>
        <p:spPr>
          <a:xfrm>
            <a:off x="2944368" y="2359152"/>
            <a:ext cx="694944" cy="91"/>
          </a:xfrm>
          <a:prstGeom prst="line">
            <a:avLst/>
          </a:prstGeom>
          <a:noFill/>
          <a:ln w="25400">
            <a:solidFill>
              <a:srgbClr val="028090"/>
            </a:solidFill>
            <a:prstDash val="solid"/>
            <a:tailEnd type="triangle"/>
          </a:ln>
        </p:spPr>
        <p:txBody>
          <a:bodyPr/>
          <a:p/>
        </p:txBody>
      </p:sp>
      <p:sp>
        <p:nvSpPr>
          <p:cNvPr id="9" name="Shape 7"/>
          <p:cNvSpPr/>
          <p:nvPr/>
        </p:nvSpPr>
        <p:spPr>
          <a:xfrm>
            <a:off x="3657600" y="1737360"/>
            <a:ext cx="2743200" cy="1234440"/>
          </a:xfrm>
          <a:prstGeom prst="roundRect">
            <a:avLst>
              <a:gd name="adj" fmla="val 3704"/>
            </a:avLst>
          </a:prstGeom>
          <a:solidFill>
            <a:srgbClr val="36454F"/>
          </a:solidFill>
          <a:ln/>
        </p:spPr>
        <p:txBody>
          <a:bodyPr/>
          <a:p/>
        </p:txBody>
      </p:sp>
      <p:sp>
        <p:nvSpPr>
          <p:cNvPr id="10" name="Text 8"/>
          <p:cNvSpPr txBox="1"/>
          <p:nvPr/>
        </p:nvSpPr>
        <p:spPr>
          <a:xfrm>
            <a:off x="3657600" y="1737360"/>
            <a:ext cx="2743200" cy="123444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process passwd</a:t>
            </a:r>
            <a:endParaRPr lang="en-US" sz="1400" dirty="0"/>
          </a:p>
          <a:p>
            <a:pPr algn="ctr" indent="0" marL="0">
              <a:buNone/>
            </a:pPr>
            <a:r>
              <a:rPr lang="en-US" sz="1200" dirty="0">
                <a:solidFill>
                  <a:srgbClr val="FFFFFF"/>
                </a:solidFill>
                <a:latin typeface="Calibri" pitchFamily="34" charset="0"/>
                <a:ea typeface="Calibri" pitchFamily="34" charset="-122"/>
                <a:cs typeface="Calibri" pitchFamily="34" charset="-120"/>
              </a:rPr>
              <a:t>real UID = student</a:t>
            </a:r>
            <a:endParaRPr lang="en-US" sz="1400" dirty="0"/>
          </a:p>
          <a:p>
            <a:pPr algn="ctr" indent="0" marL="0">
              <a:buNone/>
            </a:pPr>
            <a:r>
              <a:rPr lang="en-US" sz="1200" dirty="0">
                <a:solidFill>
                  <a:srgbClr val="FFFFFF"/>
                </a:solidFill>
                <a:latin typeface="Calibri" pitchFamily="34" charset="0"/>
                <a:ea typeface="Calibri" pitchFamily="34" charset="-122"/>
                <a:cs typeface="Calibri" pitchFamily="34" charset="-120"/>
              </a:rPr>
              <a:t>effective UID = root</a:t>
            </a:r>
            <a:endParaRPr lang="en-US" sz="1400" dirty="0"/>
          </a:p>
        </p:txBody>
      </p:sp>
      <p:sp>
        <p:nvSpPr>
          <p:cNvPr id="11" name="Shape 9"/>
          <p:cNvSpPr/>
          <p:nvPr/>
        </p:nvSpPr>
        <p:spPr>
          <a:xfrm>
            <a:off x="6419088" y="2359152"/>
            <a:ext cx="694944" cy="91"/>
          </a:xfrm>
          <a:prstGeom prst="line">
            <a:avLst/>
          </a:prstGeom>
          <a:noFill/>
          <a:ln w="25400">
            <a:solidFill>
              <a:srgbClr val="028090"/>
            </a:solidFill>
            <a:prstDash val="solid"/>
            <a:tailEnd type="triangle"/>
          </a:ln>
        </p:spPr>
        <p:txBody>
          <a:bodyPr/>
          <a:p/>
        </p:txBody>
      </p:sp>
      <p:sp>
        <p:nvSpPr>
          <p:cNvPr id="12" name="Shape 10"/>
          <p:cNvSpPr/>
          <p:nvPr/>
        </p:nvSpPr>
        <p:spPr>
          <a:xfrm>
            <a:off x="7132320" y="1828800"/>
            <a:ext cx="2194560" cy="1051560"/>
          </a:xfrm>
          <a:prstGeom prst="roundRect">
            <a:avLst>
              <a:gd name="adj" fmla="val 4348"/>
            </a:avLst>
          </a:prstGeom>
          <a:solidFill>
            <a:srgbClr val="D7E9E6"/>
          </a:solidFill>
          <a:ln/>
        </p:spPr>
        <p:txBody>
          <a:bodyPr/>
          <a:p/>
        </p:txBody>
      </p:sp>
      <p:sp>
        <p:nvSpPr>
          <p:cNvPr id="13" name="Text 11"/>
          <p:cNvSpPr txBox="1"/>
          <p:nvPr/>
        </p:nvSpPr>
        <p:spPr>
          <a:xfrm>
            <a:off x="7132320" y="1828800"/>
            <a:ext cx="2194560" cy="105156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/etc/shadow</a:t>
            </a:r>
            <a:endParaRPr lang="en-US" sz="1400" dirty="0"/>
          </a:p>
          <a:p>
            <a:pPr algn="ctr" indent="0" marL="0">
              <a:buNone/>
            </a:pPr>
            <a:r>
              <a:rPr lang="en-US" sz="1200" dirty="0">
                <a:solidFill>
                  <a:srgbClr val="212121"/>
                </a:solidFill>
                <a:latin typeface="Calibri" pitchFamily="34" charset="0"/>
                <a:ea typeface="Calibri" pitchFamily="34" charset="-122"/>
                <a:cs typeface="Calibri" pitchFamily="34" charset="-120"/>
              </a:rPr>
              <a:t>rw-r-----  root</a:t>
            </a:r>
            <a:endParaRPr lang="en-US" sz="1400" dirty="0"/>
          </a:p>
        </p:txBody>
      </p:sp>
      <p:sp>
        <p:nvSpPr>
          <p:cNvPr id="14" name="Text 12"/>
          <p:cNvSpPr txBox="1"/>
          <p:nvPr/>
        </p:nvSpPr>
        <p:spPr>
          <a:xfrm>
            <a:off x="2377440" y="3063240"/>
            <a:ext cx="5486400" cy="320040"/>
          </a:xfrm>
          <a:prstGeom prst="rect">
            <a:avLst/>
          </a:prstGeom>
          <a:noFill/>
          <a:ln/>
        </p:spPr>
        <p:txBody>
          <a:bodyPr wrap="square" lIns="0" tIns="0" rIns="0" bIns="0" rtlCol="0" anchor="t"/>
          <a:lstStyle/>
          <a:p>
            <a:pPr algn="ctr" indent="0" marL="0">
              <a:buNone/>
            </a:pPr>
            <a:r>
              <a:rPr lang="en-US" sz="1200" i="1" dirty="0">
                <a:solidFill>
                  <a:srgbClr val="028090"/>
                </a:solidFill>
                <a:latin typeface="Calibri" pitchFamily="34" charset="0"/>
                <a:ea typeface="Calibri" pitchFamily="34" charset="-122"/>
                <a:cs typeface="Calibri" pitchFamily="34" charset="-120"/>
              </a:rPr>
              <a:t>the s in rwsr-xr-x: run with the FILE OWNER's rights (root)</a:t>
            </a:r>
            <a:endParaRPr lang="en-US" sz="1200" dirty="0"/>
          </a:p>
        </p:txBody>
      </p:sp>
      <p:sp>
        <p:nvSpPr>
          <p:cNvPr id="15" name="Shape 13"/>
          <p:cNvSpPr/>
          <p:nvPr/>
        </p:nvSpPr>
        <p:spPr>
          <a:xfrm>
            <a:off x="548640" y="3520440"/>
            <a:ext cx="7132320" cy="1600200"/>
          </a:xfrm>
          <a:prstGeom prst="roundRect">
            <a:avLst>
              <a:gd name="adj" fmla="val 2857"/>
            </a:avLst>
          </a:prstGeom>
          <a:solidFill>
            <a:srgbClr val="212121"/>
          </a:solidFill>
          <a:ln/>
        </p:spPr>
        <p:txBody>
          <a:bodyPr/>
          <a:p/>
        </p:txBody>
      </p:sp>
      <p:sp>
        <p:nvSpPr>
          <p:cNvPr id="16" name="Text 14"/>
          <p:cNvSpPr txBox="1"/>
          <p:nvPr/>
        </p:nvSpPr>
        <p:spPr>
          <a:xfrm>
            <a:off x="731520" y="3630168"/>
            <a:ext cx="6766560" cy="1380744"/>
          </a:xfrm>
          <a:prstGeom prst="rect">
            <a:avLst/>
          </a:prstGeom>
          <a:noFill/>
          <a:ln/>
        </p:spPr>
        <p:txBody>
          <a:bodyPr wrap="square" lIns="0" tIns="0" rIns="0" bIns="0" rtlCol="0" anchor="t"/>
          <a:lstStyle/>
          <a:p>
            <a:pPr indent="0" marL="0">
              <a:lnSpc>
                <a:spcPct val="100000"/>
              </a:lnSpc>
              <a:buNone/>
            </a:pPr>
            <a:r>
              <a:rPr lang="en-US" sz="1250" dirty="0">
                <a:solidFill>
                  <a:srgbClr val="02C39A"/>
                </a:solidFill>
                <a:latin typeface="Consolas" pitchFamily="34" charset="0"/>
                <a:ea typeface="Consolas" pitchFamily="34" charset="-122"/>
                <a:cs typeface="Consolas" pitchFamily="34" charset="-120"/>
              </a:rPr>
              <a:t>student@okan-lab:~/lab$ </a:t>
            </a:r>
            <a:r>
              <a:rPr lang="en-US" sz="1250" b="1" dirty="0">
                <a:solidFill>
                  <a:srgbClr val="FFFFFF"/>
                </a:solidFill>
                <a:latin typeface="Consolas" pitchFamily="34" charset="0"/>
                <a:ea typeface="Consolas" pitchFamily="34" charset="-122"/>
                <a:cs typeface="Consolas" pitchFamily="34" charset="-120"/>
              </a:rPr>
              <a:t>ls -l /usr/bin/passwd /etc/shadow</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-rw-r----- 1 root shadow   884 Oct 12 11:50 /etc/shadow</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-rwsr-xr-x 1 root root   64152 May 30  2024 /usr/bin/passwd</a:t>
            </a:r>
            <a:endParaRPr lang="en-US" sz="1250" dirty="0"/>
          </a:p>
          <a:p>
            <a:pPr indent="0" marL="0">
              <a:lnSpc>
                <a:spcPct val="100000"/>
              </a:lnSpc>
              <a:buNone/>
            </a:pPr>
            <a:r>
              <a:rPr lang="en-US" sz="1250" dirty="0">
                <a:solidFill>
                  <a:srgbClr val="02C39A"/>
                </a:solidFill>
                <a:latin typeface="Consolas" pitchFamily="34" charset="0"/>
                <a:ea typeface="Consolas" pitchFamily="34" charset="-122"/>
                <a:cs typeface="Consolas" pitchFamily="34" charset="-120"/>
              </a:rPr>
              <a:t>student@okan-lab:~/lab$ </a:t>
            </a:r>
            <a:r>
              <a:rPr lang="en-US" sz="1250" b="1" dirty="0">
                <a:solidFill>
                  <a:srgbClr val="FFFFFF"/>
                </a:solidFill>
                <a:latin typeface="Consolas" pitchFamily="34" charset="0"/>
                <a:ea typeface="Consolas" pitchFamily="34" charset="-122"/>
                <a:cs typeface="Consolas" pitchFamily="34" charset="-120"/>
              </a:rPr>
              <a:t>stat -c '%a  %A  %n' /usr/bin/passwd /tmp</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4755  -rwsr-xr-x  /usr/bin/passwd</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1777  drwxrwxrwt  /tmp</a:t>
            </a:r>
            <a:endParaRPr lang="en-US" sz="1250" dirty="0"/>
          </a:p>
        </p:txBody>
      </p:sp>
      <p:sp>
        <p:nvSpPr>
          <p:cNvPr id="17" name="Shape 15"/>
          <p:cNvSpPr/>
          <p:nvPr/>
        </p:nvSpPr>
        <p:spPr>
          <a:xfrm>
            <a:off x="9555480" y="1508760"/>
            <a:ext cx="2103120" cy="3611880"/>
          </a:xfrm>
          <a:prstGeom prst="roundRect">
            <a:avLst>
              <a:gd name="adj" fmla="val 260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8" name="Text 16"/>
          <p:cNvSpPr txBox="1"/>
          <p:nvPr/>
        </p:nvSpPr>
        <p:spPr>
          <a:xfrm>
            <a:off x="9784080" y="1691640"/>
            <a:ext cx="16459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Octal</a:t>
            </a:r>
            <a:endParaRPr lang="en-US" sz="1500" dirty="0"/>
          </a:p>
        </p:txBody>
      </p:sp>
      <p:sp>
        <p:nvSpPr>
          <p:cNvPr id="19" name="Text 17"/>
          <p:cNvSpPr txBox="1"/>
          <p:nvPr/>
        </p:nvSpPr>
        <p:spPr>
          <a:xfrm>
            <a:off x="9784080" y="2148840"/>
            <a:ext cx="1645920" cy="283464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setuid = 4000</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setgid = 2000</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sticky = 1000</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4755 → rwsr-xr-x</a:t>
            </a:r>
            <a:endParaRPr lang="en-US" sz="1300" dirty="0"/>
          </a:p>
        </p:txBody>
      </p:sp>
      <p:sp>
        <p:nvSpPr>
          <p:cNvPr id="20" name="Shape 18"/>
          <p:cNvSpPr/>
          <p:nvPr/>
        </p:nvSpPr>
        <p:spPr>
          <a:xfrm>
            <a:off x="548640" y="5303520"/>
            <a:ext cx="11109960" cy="960120"/>
          </a:xfrm>
          <a:prstGeom prst="roundRect">
            <a:avLst>
              <a:gd name="adj" fmla="val 5714"/>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21" name="Text 19"/>
          <p:cNvSpPr txBox="1"/>
          <p:nvPr/>
        </p:nvSpPr>
        <p:spPr>
          <a:xfrm>
            <a:off x="777240" y="5303520"/>
            <a:ext cx="10652760" cy="96012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passwd is trusted code that changes only YOUR line. A setuid-root program with a bug gives the attacker root, so there are very few of them (passwd, su, sudo …) and you should never make your own scripts setuid.</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SPECIAL BITS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Sticky Bit: Why You Cannot Delete Others' Files in /tmp</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33</a:t>
            </a:r>
            <a:endParaRPr lang="en-US" sz="900" dirty="0"/>
          </a:p>
        </p:txBody>
      </p:sp>
      <p:sp>
        <p:nvSpPr>
          <p:cNvPr id="6" name="Shape 4"/>
          <p:cNvSpPr/>
          <p:nvPr/>
        </p:nvSpPr>
        <p:spPr>
          <a:xfrm>
            <a:off x="548640" y="1508760"/>
            <a:ext cx="7132320" cy="3566160"/>
          </a:xfrm>
          <a:prstGeom prst="roundRect">
            <a:avLst>
              <a:gd name="adj" fmla="val 1282"/>
            </a:avLst>
          </a:prstGeom>
          <a:solidFill>
            <a:srgbClr val="212121"/>
          </a:solidFill>
          <a:ln/>
        </p:spPr>
        <p:txBody>
          <a:bodyPr/>
          <a:p/>
        </p:txBody>
      </p:sp>
      <p:sp>
        <p:nvSpPr>
          <p:cNvPr id="7" name="Text 5"/>
          <p:cNvSpPr txBox="1"/>
          <p:nvPr/>
        </p:nvSpPr>
        <p:spPr>
          <a:xfrm>
            <a:off x="731520" y="1618488"/>
            <a:ext cx="6766560" cy="3346704"/>
          </a:xfrm>
          <a:prstGeom prst="rect">
            <a:avLst/>
          </a:prstGeom>
          <a:noFill/>
          <a:ln/>
        </p:spPr>
        <p:txBody>
          <a:bodyPr wrap="square" lIns="0" tIns="0" rIns="0" bIns="0" rtlCol="0" anchor="t"/>
          <a:lstStyle/>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 </a:t>
            </a:r>
            <a:r>
              <a:rPr lang="en-US" sz="1300" b="1" dirty="0">
                <a:solidFill>
                  <a:srgbClr val="FFFFFF"/>
                </a:solidFill>
                <a:latin typeface="Consolas" pitchFamily="34" charset="0"/>
                <a:ea typeface="Consolas" pitchFamily="34" charset="-122"/>
                <a:cs typeface="Consolas" pitchFamily="34" charset="-120"/>
              </a:rPr>
              <a:t>ls -ld /tmp</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drwxrwxrwt 16 root root 4096 Oct 12 19:38 /tmp</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 </a:t>
            </a:r>
            <a:r>
              <a:rPr lang="en-US" sz="1300" b="1" dirty="0">
                <a:solidFill>
                  <a:srgbClr val="FFFFFF"/>
                </a:solidFill>
                <a:latin typeface="Consolas" pitchFamily="34" charset="0"/>
                <a:ea typeface="Consolas" pitchFamily="34" charset="-122"/>
                <a:cs typeface="Consolas" pitchFamily="34" charset="-120"/>
              </a:rPr>
              <a:t>ls -l /tmp/w11_admin.txt</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-rw-rw-rw- 1 root root 12 Oct 12 19:38 /tmp/w11_admin.txt</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 </a:t>
            </a:r>
            <a:r>
              <a:rPr lang="en-US" sz="1300" b="1" dirty="0">
                <a:solidFill>
                  <a:srgbClr val="FFFFFF"/>
                </a:solidFill>
                <a:latin typeface="Consolas" pitchFamily="34" charset="0"/>
                <a:ea typeface="Consolas" pitchFamily="34" charset="-122"/>
                <a:cs typeface="Consolas" pitchFamily="34" charset="-120"/>
              </a:rPr>
              <a:t>rm /tmp/w11_admin.txt</a:t>
            </a:r>
            <a:endParaRPr lang="en-US" sz="1300" dirty="0"/>
          </a:p>
          <a:p>
            <a:pPr indent="0" marL="0">
              <a:lnSpc>
                <a:spcPct val="100000"/>
              </a:lnSpc>
              <a:buNone/>
            </a:pPr>
            <a:r>
              <a:rPr lang="en-US" sz="1300" dirty="0">
                <a:solidFill>
                  <a:srgbClr val="F4A79D"/>
                </a:solidFill>
                <a:latin typeface="Consolas" pitchFamily="34" charset="0"/>
                <a:ea typeface="Consolas" pitchFamily="34" charset="-122"/>
                <a:cs typeface="Consolas" pitchFamily="34" charset="-120"/>
              </a:rPr>
              <a:t>rm: cannot remove '/tmp/w11_admin.txt': Operation not permitted</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 </a:t>
            </a:r>
            <a:r>
              <a:rPr lang="en-US" sz="1300" b="1" dirty="0">
                <a:solidFill>
                  <a:srgbClr val="FFFFFF"/>
                </a:solidFill>
                <a:latin typeface="Consolas" pitchFamily="34" charset="0"/>
                <a:ea typeface="Consolas" pitchFamily="34" charset="-122"/>
                <a:cs typeface="Consolas" pitchFamily="34" charset="-120"/>
              </a:rPr>
              <a:t>echo "my notes" &gt; /tmp/w11_mine.txt</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 </a:t>
            </a:r>
            <a:r>
              <a:rPr lang="en-US" sz="1300" b="1" dirty="0">
                <a:solidFill>
                  <a:srgbClr val="FFFFFF"/>
                </a:solidFill>
                <a:latin typeface="Consolas" pitchFamily="34" charset="0"/>
                <a:ea typeface="Consolas" pitchFamily="34" charset="-122"/>
                <a:cs typeface="Consolas" pitchFamily="34" charset="-120"/>
              </a:rPr>
              <a:t>ls -l /tmp/w11_mine.txt</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-rw-rw-r-- 1 student student 9 Oct 12 19:38 /tmp/w11_mine.txt</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 </a:t>
            </a:r>
            <a:r>
              <a:rPr lang="en-US" sz="1300" b="1" dirty="0">
                <a:solidFill>
                  <a:srgbClr val="FFFFFF"/>
                </a:solidFill>
                <a:latin typeface="Consolas" pitchFamily="34" charset="0"/>
                <a:ea typeface="Consolas" pitchFamily="34" charset="-122"/>
                <a:cs typeface="Consolas" pitchFamily="34" charset="-120"/>
              </a:rPr>
              <a:t>rm /tmp/w11_mine.txt</a:t>
            </a:r>
            <a:endParaRPr lang="en-US" sz="1300" dirty="0"/>
          </a:p>
        </p:txBody>
      </p:sp>
      <p:sp>
        <p:nvSpPr>
          <p:cNvPr id="8" name="Shape 6"/>
          <p:cNvSpPr/>
          <p:nvPr/>
        </p:nvSpPr>
        <p:spPr>
          <a:xfrm>
            <a:off x="7909560" y="1508760"/>
            <a:ext cx="3749040" cy="3566160"/>
          </a:xfrm>
          <a:prstGeom prst="roundRect">
            <a:avLst>
              <a:gd name="adj" fmla="val 153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138160" y="1691640"/>
            <a:ext cx="32918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8138160" y="2148840"/>
            <a:ext cx="3291840" cy="278892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/tmp is rwxrwxrwt = 1777: everybody may create files.</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The t (sticky bit): only the file's owner (or root) may delete or rename it.</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Even a file that is writable for all (rw-rw-rw-) cannot be deleted by others.</a:t>
            </a:r>
            <a:endParaRPr lang="en-US" sz="1300" dirty="0"/>
          </a:p>
        </p:txBody>
      </p:sp>
      <p:sp>
        <p:nvSpPr>
          <p:cNvPr id="11" name="Shape 9"/>
          <p:cNvSpPr/>
          <p:nvPr/>
        </p:nvSpPr>
        <p:spPr>
          <a:xfrm>
            <a:off x="548640" y="5257800"/>
            <a:ext cx="11109960" cy="1005840"/>
          </a:xfrm>
          <a:prstGeom prst="roundRect">
            <a:avLst>
              <a:gd name="adj" fmla="val 5455"/>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2" name="Text 10"/>
          <p:cNvSpPr txBox="1"/>
          <p:nvPr/>
        </p:nvSpPr>
        <p:spPr>
          <a:xfrm>
            <a:off x="777240" y="5257800"/>
            <a:ext cx="10652760" cy="10058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Without the sticky bit, w on /tmp would let every user delete everyone else's files (slide 28). The t replaces x in the others triplet; a capital T would mean sticky without x.</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4</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Lab: Secure a Project Folder</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30–40 minutes. Full lab sheet with 16 graded exercises in the course notes.</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11  ·  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LAB · PART A AND B</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Exercises 1–9: Read, Decode, chmod</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35</a:t>
            </a:r>
            <a:endParaRPr lang="en-US" sz="900" dirty="0"/>
          </a:p>
        </p:txBody>
      </p:sp>
      <p:sp>
        <p:nvSpPr>
          <p:cNvPr id="6" name="Shape 4"/>
          <p:cNvSpPr/>
          <p:nvPr/>
        </p:nvSpPr>
        <p:spPr>
          <a:xfrm>
            <a:off x="54864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A · Who am I? (1–4)</a:t>
            </a:r>
            <a:endParaRPr lang="en-US" sz="1600" dirty="0"/>
          </a:p>
        </p:txBody>
      </p:sp>
      <p:sp>
        <p:nvSpPr>
          <p:cNvPr id="8" name="Text 6"/>
          <p:cNvSpPr txBox="1"/>
          <p:nvPr/>
        </p:nvSpPr>
        <p:spPr>
          <a:xfrm>
            <a:off x="77724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whoami, id, groups: note UID and groups.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Your line in /etc/passwd: name the 7 fields.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Decode ls -l docs/syllabus.txt into octal.</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Convert on paper: rwxr-x---, rw-r--r--, 640, 711, 775.</a:t>
            </a:r>
            <a:endParaRPr lang="en-US" sz="1400" dirty="0"/>
          </a:p>
        </p:txBody>
      </p:sp>
      <p:sp>
        <p:nvSpPr>
          <p:cNvPr id="9" name="Shape 7"/>
          <p:cNvSpPr/>
          <p:nvPr/>
        </p:nvSpPr>
        <p:spPr>
          <a:xfrm>
            <a:off x="432816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B · chmod (5–7)</a:t>
            </a:r>
            <a:endParaRPr lang="en-US" sz="1600" dirty="0"/>
          </a:p>
        </p:txBody>
      </p:sp>
      <p:sp>
        <p:nvSpPr>
          <p:cNvPr id="11" name="Text 9"/>
          <p:cNvSpPr txBox="1"/>
          <p:nvPr/>
        </p:nvSpPr>
        <p:spPr>
          <a:xfrm>
            <a:off x="455676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Create scripts/hello.sh, make it executable for the owner only, run it.</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notes_01.txt → rw-r----- using symbolic mode only.</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notes_02.txt → owner read/write only, using octal.</a:t>
            </a:r>
            <a:endParaRPr lang="en-US" sz="1400" dirty="0"/>
          </a:p>
        </p:txBody>
      </p:sp>
      <p:sp>
        <p:nvSpPr>
          <p:cNvPr id="12" name="Shape 10"/>
          <p:cNvSpPr/>
          <p:nvPr/>
        </p:nvSpPr>
        <p:spPr>
          <a:xfrm>
            <a:off x="810768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B · Secure projects (8–9)</a:t>
            </a:r>
            <a:endParaRPr lang="en-US" sz="1600" dirty="0"/>
          </a:p>
        </p:txBody>
      </p:sp>
      <p:sp>
        <p:nvSpPr>
          <p:cNvPr id="14" name="Text 12"/>
          <p:cNvSpPr txBox="1"/>
          <p:nvPr/>
        </p:nvSpPr>
        <p:spPr>
          <a:xfrm>
            <a:off x="833628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projects/alpha: only you may enter, list or change it.</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projects/beta: group may read and enter, others nothing; README.md → 640.</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Check everything with stat -c '%a %A %n'.</a:t>
            </a:r>
            <a:endParaRPr lang="en-US" sz="1400" dirty="0"/>
          </a:p>
        </p:txBody>
      </p:sp>
      <p:sp>
        <p:nvSpPr>
          <p:cNvPr id="15" name="Shape 13"/>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Points: Part A 20, Part B 48, Part C 32 — total 100. Write the command you used AND the ls -l / stat line that proves it worked.</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LAB · PART B AND C</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Exercises 10–16: umask, Directories, Owners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36</a:t>
            </a:r>
            <a:endParaRPr lang="en-US" sz="900" dirty="0"/>
          </a:p>
        </p:txBody>
      </p:sp>
      <p:sp>
        <p:nvSpPr>
          <p:cNvPr id="6" name="Shape 4"/>
          <p:cNvSpPr/>
          <p:nvPr/>
        </p:nvSpPr>
        <p:spPr>
          <a:xfrm>
            <a:off x="54864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B · Defaults (10–12)</a:t>
            </a:r>
            <a:endParaRPr lang="en-US" sz="1600" dirty="0"/>
          </a:p>
        </p:txBody>
      </p:sp>
      <p:sp>
        <p:nvSpPr>
          <p:cNvPr id="8" name="Text 6"/>
          <p:cNvSpPr txBox="1"/>
          <p:nvPr/>
        </p:nvSpPr>
        <p:spPr>
          <a:xfrm>
            <a:off x="77724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Predict, then verify, the modes of a new file and directory with umask 027.</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Same with umask 033: why not 633?</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Remove x from your own directory: which commands fail?</a:t>
            </a:r>
            <a:endParaRPr lang="en-US" sz="1400" dirty="0"/>
          </a:p>
        </p:txBody>
      </p:sp>
      <p:sp>
        <p:nvSpPr>
          <p:cNvPr id="9" name="Shape 7"/>
          <p:cNvSpPr/>
          <p:nvPr/>
        </p:nvSpPr>
        <p:spPr>
          <a:xfrm>
            <a:off x="432816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C · Challenge (13–15)</a:t>
            </a:r>
            <a:endParaRPr lang="en-US" sz="1600" dirty="0"/>
          </a:p>
        </p:txBody>
      </p:sp>
      <p:sp>
        <p:nvSpPr>
          <p:cNvPr id="11" name="Text 9"/>
          <p:cNvSpPr txBox="1"/>
          <p:nvPr/>
        </p:nvSpPr>
        <p:spPr>
          <a:xfrm>
            <a:off x="455676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Delete a read-only file in your directory. Then make the directory 555 and try again.</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Try chown and chgrp: explain both errors.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passwd and /tmp: find the s and the t, explain them.</a:t>
            </a:r>
            <a:endParaRPr lang="en-US" sz="1400" dirty="0"/>
          </a:p>
        </p:txBody>
      </p:sp>
      <p:sp>
        <p:nvSpPr>
          <p:cNvPr id="12" name="Shape 10"/>
          <p:cNvSpPr/>
          <p:nvPr/>
        </p:nvSpPr>
        <p:spPr>
          <a:xfrm>
            <a:off x="810768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C · Team folder (16)</a:t>
            </a:r>
            <a:endParaRPr lang="en-US" sz="1600" dirty="0"/>
          </a:p>
        </p:txBody>
      </p:sp>
      <p:sp>
        <p:nvSpPr>
          <p:cNvPr id="14" name="Text 12"/>
          <p:cNvSpPr txBox="1"/>
          <p:nvPr/>
        </p:nvSpPr>
        <p:spPr>
          <a:xfrm>
            <a:off x="833628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projects/team: dir 750, deploy.sh 750, notes.txt 640, secret.txt 600.</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Run ./projects/team/deploy.sh.</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Print all four modes with one stat command.</a:t>
            </a:r>
            <a:endParaRPr lang="en-US" sz="1400" dirty="0"/>
          </a:p>
        </p:txBody>
      </p:sp>
      <p:sp>
        <p:nvSpPr>
          <p:cNvPr id="15" name="Shape 13"/>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Finished early? Set umask 077 in a new terminal, create a file, and explain the result to your neighbour using the binary of 666 and 077.</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COMMON MISTAKES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Error Messages and What They Mean</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37</a:t>
            </a:r>
            <a:endParaRPr lang="en-US" sz="9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4069080"/>
                <a:gridCol w="3749040"/>
                <a:gridCol w="3291840"/>
              </a:tblGrid>
              <a:tr h="0">
                <a:tc>
                  <a:txBody>
                    <a:bodyPr/>
                    <a:lstStyle/>
                    <a:p>
                      <a:pPr indent="0" marL="0">
                        <a:buNone/>
                      </a:pPr>
                      <a:r>
                        <a:rPr lang="en-US" sz="1650" b="1" dirty="0">
                          <a:solidFill>
                            <a:srgbClr val="FFFFFF"/>
                          </a:solidFill>
                          <a:latin typeface="Cambria" pitchFamily="34" charset="0"/>
                          <a:ea typeface="Cambria" pitchFamily="34" charset="-122"/>
                          <a:cs typeface="Cambria" pitchFamily="34" charset="-120"/>
                        </a:rPr>
                        <a:t>You see</a:t>
                      </a:r>
                      <a:endParaRPr lang="en-US" sz="16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50" b="1" dirty="0">
                          <a:solidFill>
                            <a:srgbClr val="FFFFFF"/>
                          </a:solidFill>
                          <a:latin typeface="Cambria" pitchFamily="34" charset="0"/>
                          <a:ea typeface="Cambria" pitchFamily="34" charset="-122"/>
                          <a:cs typeface="Cambria" pitchFamily="34" charset="-120"/>
                        </a:rPr>
                        <a:t>Because</a:t>
                      </a:r>
                      <a:endParaRPr lang="en-US" sz="16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650" b="1" dirty="0">
                          <a:solidFill>
                            <a:srgbClr val="FFFFFF"/>
                          </a:solidFill>
                          <a:latin typeface="Cambria" pitchFamily="34" charset="0"/>
                          <a:ea typeface="Cambria" pitchFamily="34" charset="-122"/>
                          <a:cs typeface="Cambria" pitchFamily="34" charset="-120"/>
                        </a:rPr>
                        <a:t>Fix</a:t>
                      </a:r>
                      <a:endParaRPr lang="en-US" sz="16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550" b="1" dirty="0">
                          <a:solidFill>
                            <a:srgbClr val="3A464C"/>
                          </a:solidFill>
                          <a:latin typeface="Calibri" pitchFamily="34" charset="0"/>
                          <a:ea typeface="Calibri" pitchFamily="34" charset="-122"/>
                          <a:cs typeface="Calibri" pitchFamily="34" charset="-120"/>
                        </a:rPr>
                        <a:t>bash: ./hello.sh: Permission denied</a:t>
                      </a:r>
                      <a:endParaRPr lang="en-US"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50" dirty="0">
                          <a:solidFill>
                            <a:srgbClr val="3A464C"/>
                          </a:solidFill>
                          <a:latin typeface="Calibri" pitchFamily="34" charset="0"/>
                          <a:ea typeface="Calibri" pitchFamily="34" charset="-122"/>
                          <a:cs typeface="Calibri" pitchFamily="34" charset="-120"/>
                        </a:rPr>
                        <a:t>the file has no x bit</a:t>
                      </a:r>
                      <a:endParaRPr lang="en-US"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50" dirty="0">
                          <a:solidFill>
                            <a:srgbClr val="3A464C"/>
                          </a:solidFill>
                          <a:latin typeface="Calibri" pitchFamily="34" charset="0"/>
                          <a:ea typeface="Calibri" pitchFamily="34" charset="-122"/>
                          <a:cs typeface="Calibri" pitchFamily="34" charset="-120"/>
                        </a:rPr>
                        <a:t>chmod u+x hello.sh</a:t>
                      </a:r>
                      <a:endParaRPr lang="en-US"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50" b="1" dirty="0">
                          <a:solidFill>
                            <a:srgbClr val="3A464C"/>
                          </a:solidFill>
                          <a:latin typeface="Calibri" pitchFamily="34" charset="0"/>
                          <a:ea typeface="Calibri" pitchFamily="34" charset="-122"/>
                          <a:cs typeface="Calibri" pitchFamily="34" charset="-120"/>
                        </a:rPr>
                        <a:t>bash: hello.sh: command not found</a:t>
                      </a:r>
                      <a:endParaRPr lang="en-US"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50" dirty="0">
                          <a:solidFill>
                            <a:srgbClr val="3A464C"/>
                          </a:solidFill>
                          <a:latin typeface="Calibri" pitchFamily="34" charset="0"/>
                          <a:ea typeface="Calibri" pitchFamily="34" charset="-122"/>
                          <a:cs typeface="Calibri" pitchFamily="34" charset="-120"/>
                        </a:rPr>
                        <a:t>. is not in PATH</a:t>
                      </a:r>
                      <a:endParaRPr lang="en-US"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50" dirty="0">
                          <a:solidFill>
                            <a:srgbClr val="3A464C"/>
                          </a:solidFill>
                          <a:latin typeface="Calibri" pitchFamily="34" charset="0"/>
                          <a:ea typeface="Calibri" pitchFamily="34" charset="-122"/>
                          <a:cs typeface="Calibri" pitchFamily="34" charset="-120"/>
                        </a:rPr>
                        <a:t>type ./hello.sh</a:t>
                      </a:r>
                      <a:endParaRPr lang="en-US"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50" b="1" dirty="0">
                          <a:solidFill>
                            <a:srgbClr val="3A464C"/>
                          </a:solidFill>
                          <a:latin typeface="Calibri" pitchFamily="34" charset="0"/>
                          <a:ea typeface="Calibri" pitchFamily="34" charset="-122"/>
                          <a:cs typeface="Calibri" pitchFamily="34" charset="-120"/>
                        </a:rPr>
                        <a:t>bash: cd: box: Permission denied</a:t>
                      </a:r>
                      <a:endParaRPr lang="en-US"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50" dirty="0">
                          <a:solidFill>
                            <a:srgbClr val="3A464C"/>
                          </a:solidFill>
                          <a:latin typeface="Calibri" pitchFamily="34" charset="0"/>
                          <a:ea typeface="Calibri" pitchFamily="34" charset="-122"/>
                          <a:cs typeface="Calibri" pitchFamily="34" charset="-120"/>
                        </a:rPr>
                        <a:t>directory without x</a:t>
                      </a:r>
                      <a:endParaRPr lang="en-US"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50" dirty="0">
                          <a:solidFill>
                            <a:srgbClr val="3A464C"/>
                          </a:solidFill>
                          <a:latin typeface="Calibri" pitchFamily="34" charset="0"/>
                          <a:ea typeface="Calibri" pitchFamily="34" charset="-122"/>
                          <a:cs typeface="Calibri" pitchFamily="34" charset="-120"/>
                        </a:rPr>
                        <a:t>chmod u+x box</a:t>
                      </a:r>
                      <a:endParaRPr lang="en-US"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50" b="1" dirty="0">
                          <a:solidFill>
                            <a:srgbClr val="3A464C"/>
                          </a:solidFill>
                          <a:latin typeface="Calibri" pitchFamily="34" charset="0"/>
                          <a:ea typeface="Calibri" pitchFamily="34" charset="-122"/>
                          <a:cs typeface="Calibri" pitchFamily="34" charset="-120"/>
                        </a:rPr>
                        <a:t>ls: cannot open directory 'box'</a:t>
                      </a:r>
                      <a:endParaRPr lang="en-US"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50" dirty="0">
                          <a:solidFill>
                            <a:srgbClr val="3A464C"/>
                          </a:solidFill>
                          <a:latin typeface="Calibri" pitchFamily="34" charset="0"/>
                          <a:ea typeface="Calibri" pitchFamily="34" charset="-122"/>
                          <a:cs typeface="Calibri" pitchFamily="34" charset="-120"/>
                        </a:rPr>
                        <a:t>directory without r</a:t>
                      </a:r>
                      <a:endParaRPr lang="en-US"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50" dirty="0">
                          <a:solidFill>
                            <a:srgbClr val="3A464C"/>
                          </a:solidFill>
                          <a:latin typeface="Calibri" pitchFamily="34" charset="0"/>
                          <a:ea typeface="Calibri" pitchFamily="34" charset="-122"/>
                          <a:cs typeface="Calibri" pitchFamily="34" charset="-120"/>
                        </a:rPr>
                        <a:t>chmod u+r box</a:t>
                      </a:r>
                      <a:endParaRPr lang="en-US"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50" b="1" dirty="0">
                          <a:solidFill>
                            <a:srgbClr val="3A464C"/>
                          </a:solidFill>
                          <a:latin typeface="Calibri" pitchFamily="34" charset="0"/>
                          <a:ea typeface="Calibri" pitchFamily="34" charset="-122"/>
                          <a:cs typeface="Calibri" pitchFamily="34" charset="-120"/>
                        </a:rPr>
                        <a:t>chown: … Operation not permitted</a:t>
                      </a:r>
                      <a:endParaRPr lang="en-US"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50" dirty="0">
                          <a:solidFill>
                            <a:srgbClr val="3A464C"/>
                          </a:solidFill>
                          <a:latin typeface="Calibri" pitchFamily="34" charset="0"/>
                          <a:ea typeface="Calibri" pitchFamily="34" charset="-122"/>
                          <a:cs typeface="Calibri" pitchFamily="34" charset="-120"/>
                        </a:rPr>
                        <a:t>only root may change owners</a:t>
                      </a:r>
                      <a:endParaRPr lang="en-US"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50" dirty="0">
                          <a:solidFill>
                            <a:srgbClr val="3A464C"/>
                          </a:solidFill>
                          <a:latin typeface="Calibri" pitchFamily="34" charset="0"/>
                          <a:ea typeface="Calibri" pitchFamily="34" charset="-122"/>
                          <a:cs typeface="Calibri" pitchFamily="34" charset="-120"/>
                        </a:rPr>
                        <a:t>ask the admin / sudo chown</a:t>
                      </a:r>
                      <a:endParaRPr lang="en-US"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550" b="1" dirty="0">
                          <a:solidFill>
                            <a:srgbClr val="3A464C"/>
                          </a:solidFill>
                          <a:latin typeface="Calibri" pitchFamily="34" charset="0"/>
                          <a:ea typeface="Calibri" pitchFamily="34" charset="-122"/>
                          <a:cs typeface="Calibri" pitchFamily="34" charset="-120"/>
                        </a:rPr>
                        <a:t>chmod: invalid mode: '854'</a:t>
                      </a:r>
                      <a:endParaRPr lang="en-US"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50" dirty="0">
                          <a:solidFill>
                            <a:srgbClr val="3A464C"/>
                          </a:solidFill>
                          <a:latin typeface="Calibri" pitchFamily="34" charset="0"/>
                          <a:ea typeface="Calibri" pitchFamily="34" charset="-122"/>
                          <a:cs typeface="Calibri" pitchFamily="34" charset="-120"/>
                        </a:rPr>
                        <a:t>8 and 9 are not octal digits</a:t>
                      </a:r>
                      <a:endParaRPr lang="en-US"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550" dirty="0">
                          <a:solidFill>
                            <a:srgbClr val="3A464C"/>
                          </a:solidFill>
                          <a:latin typeface="Calibri" pitchFamily="34" charset="0"/>
                          <a:ea typeface="Calibri" pitchFamily="34" charset="-122"/>
                          <a:cs typeface="Calibri" pitchFamily="34" charset="-120"/>
                        </a:rPr>
                        <a:t>digits 0–7 only</a:t>
                      </a:r>
                      <a:endParaRPr lang="en-US"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550" b="1" dirty="0">
                          <a:solidFill>
                            <a:srgbClr val="3A464C"/>
                          </a:solidFill>
                          <a:latin typeface="Calibri" pitchFamily="34" charset="0"/>
                          <a:ea typeface="Calibri" pitchFamily="34" charset="-122"/>
                          <a:cs typeface="Calibri" pitchFamily="34" charset="-120"/>
                        </a:rPr>
                        <a:t>student is not in the sudoers file.</a:t>
                      </a:r>
                      <a:endParaRPr lang="en-US"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50" dirty="0">
                          <a:solidFill>
                            <a:srgbClr val="3A464C"/>
                          </a:solidFill>
                          <a:latin typeface="Calibri" pitchFamily="34" charset="0"/>
                          <a:ea typeface="Calibri" pitchFamily="34" charset="-122"/>
                          <a:cs typeface="Calibri" pitchFamily="34" charset="-120"/>
                        </a:rPr>
                        <a:t>you are not an administrator</a:t>
                      </a:r>
                      <a:endParaRPr lang="en-US"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550" dirty="0">
                          <a:solidFill>
                            <a:srgbClr val="3A464C"/>
                          </a:solidFill>
                          <a:latin typeface="Calibri" pitchFamily="34" charset="0"/>
                          <a:ea typeface="Calibri" pitchFamily="34" charset="-122"/>
                          <a:cs typeface="Calibri" pitchFamily="34" charset="-120"/>
                        </a:rPr>
                        <a:t>ask the administrator</a:t>
                      </a:r>
                      <a:endParaRPr lang="en-US" sz="15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QUICK QUIZ</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Check Your Understanding</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38</a:t>
            </a:r>
            <a:endParaRPr lang="en-US" sz="900" dirty="0"/>
          </a:p>
        </p:txBody>
      </p:sp>
      <p:sp>
        <p:nvSpPr>
          <p:cNvPr id="6" name="Shape 4"/>
          <p:cNvSpPr/>
          <p:nvPr/>
        </p:nvSpPr>
        <p:spPr>
          <a:xfrm>
            <a:off x="548640" y="1508760"/>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Shape 5"/>
          <p:cNvSpPr/>
          <p:nvPr/>
        </p:nvSpPr>
        <p:spPr>
          <a:xfrm>
            <a:off x="777240" y="1780794"/>
            <a:ext cx="493776" cy="493776"/>
          </a:xfrm>
          <a:prstGeom prst="ellipse">
            <a:avLst/>
          </a:prstGeom>
          <a:solidFill>
            <a:srgbClr val="02C39A"/>
          </a:solidFill>
          <a:ln/>
        </p:spPr>
        <p:txBody>
          <a:bodyPr/>
          <a:p/>
        </p:txBody>
      </p:sp>
      <p:sp>
        <p:nvSpPr>
          <p:cNvPr id="8" name="Text 6"/>
          <p:cNvSpPr txBox="1"/>
          <p:nvPr/>
        </p:nvSpPr>
        <p:spPr>
          <a:xfrm>
            <a:off x="777240" y="1780794"/>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1508760" y="1508760"/>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What does -rwxr-x--- allow, and what is it in octal?</a:t>
            </a:r>
            <a:endParaRPr lang="en-US" sz="1600" dirty="0"/>
          </a:p>
        </p:txBody>
      </p:sp>
      <p:sp>
        <p:nvSpPr>
          <p:cNvPr id="10" name="Shape 8"/>
          <p:cNvSpPr/>
          <p:nvPr/>
        </p:nvSpPr>
        <p:spPr>
          <a:xfrm>
            <a:off x="548640" y="2747772"/>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Shape 9"/>
          <p:cNvSpPr/>
          <p:nvPr/>
        </p:nvSpPr>
        <p:spPr>
          <a:xfrm>
            <a:off x="777240" y="3019806"/>
            <a:ext cx="493776" cy="493776"/>
          </a:xfrm>
          <a:prstGeom prst="ellipse">
            <a:avLst/>
          </a:prstGeom>
          <a:solidFill>
            <a:srgbClr val="02C39A"/>
          </a:solidFill>
          <a:ln/>
        </p:spPr>
        <p:txBody>
          <a:bodyPr/>
          <a:p/>
        </p:txBody>
      </p:sp>
      <p:sp>
        <p:nvSpPr>
          <p:cNvPr id="12" name="Text 10"/>
          <p:cNvSpPr txBox="1"/>
          <p:nvPr/>
        </p:nvSpPr>
        <p:spPr>
          <a:xfrm>
            <a:off x="777240" y="3019806"/>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1508760" y="2747772"/>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Make report.txt read/write for the owner, read-only for the group, nothing for others — in octal and in symbolic form.</a:t>
            </a:r>
            <a:endParaRPr lang="en-US" sz="1600" dirty="0"/>
          </a:p>
        </p:txBody>
      </p:sp>
      <p:sp>
        <p:nvSpPr>
          <p:cNvPr id="14" name="Shape 12"/>
          <p:cNvSpPr/>
          <p:nvPr/>
        </p:nvSpPr>
        <p:spPr>
          <a:xfrm>
            <a:off x="548640" y="3986784"/>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5" name="Shape 13"/>
          <p:cNvSpPr/>
          <p:nvPr/>
        </p:nvSpPr>
        <p:spPr>
          <a:xfrm>
            <a:off x="777240" y="4258818"/>
            <a:ext cx="493776" cy="493776"/>
          </a:xfrm>
          <a:prstGeom prst="ellipse">
            <a:avLst/>
          </a:prstGeom>
          <a:solidFill>
            <a:srgbClr val="02C39A"/>
          </a:solidFill>
          <a:ln/>
        </p:spPr>
        <p:txBody>
          <a:bodyPr/>
          <a:p/>
        </p:txBody>
      </p:sp>
      <p:sp>
        <p:nvSpPr>
          <p:cNvPr id="16" name="Text 14"/>
          <p:cNvSpPr txBox="1"/>
          <p:nvPr/>
        </p:nvSpPr>
        <p:spPr>
          <a:xfrm>
            <a:off x="777240" y="4258818"/>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508760" y="3986784"/>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With umask 027, what are the modes of a new file and a new directory? Why is umask 033 on a file 644 and not 633?</a:t>
            </a:r>
            <a:endParaRPr lang="en-US" sz="1600" dirty="0"/>
          </a:p>
        </p:txBody>
      </p:sp>
      <p:sp>
        <p:nvSpPr>
          <p:cNvPr id="18" name="Shape 16"/>
          <p:cNvSpPr/>
          <p:nvPr/>
        </p:nvSpPr>
        <p:spPr>
          <a:xfrm>
            <a:off x="548640" y="5225796"/>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Shape 17"/>
          <p:cNvSpPr/>
          <p:nvPr/>
        </p:nvSpPr>
        <p:spPr>
          <a:xfrm>
            <a:off x="777240" y="5497830"/>
            <a:ext cx="493776" cy="493776"/>
          </a:xfrm>
          <a:prstGeom prst="ellipse">
            <a:avLst/>
          </a:prstGeom>
          <a:solidFill>
            <a:srgbClr val="02C39A"/>
          </a:solidFill>
          <a:ln/>
        </p:spPr>
        <p:txBody>
          <a:bodyPr/>
          <a:p/>
        </p:txBody>
      </p:sp>
      <p:sp>
        <p:nvSpPr>
          <p:cNvPr id="20" name="Text 18"/>
          <p:cNvSpPr txBox="1"/>
          <p:nvPr/>
        </p:nvSpPr>
        <p:spPr>
          <a:xfrm>
            <a:off x="777240" y="549783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9"/>
          <p:cNvSpPr txBox="1"/>
          <p:nvPr/>
        </p:nvSpPr>
        <p:spPr>
          <a:xfrm>
            <a:off x="1508760" y="5225796"/>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A file in your directory has mode r--r--r--. Can you delete it? What about a file you own with mode ----rwx---: can you read it?</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WRAP-UP</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Week 11 — Key Takeaways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11  ·  39</a:t>
            </a:r>
            <a:endParaRPr lang="en-US" sz="900" dirty="0"/>
          </a:p>
        </p:txBody>
      </p:sp>
      <p:sp>
        <p:nvSpPr>
          <p:cNvPr id="6" name="Text 4"/>
          <p:cNvSpPr txBox="1"/>
          <p:nvPr/>
        </p:nvSpPr>
        <p:spPr>
          <a:xfrm>
            <a:off x="548640" y="1600200"/>
            <a:ext cx="11064240" cy="4663440"/>
          </a:xfrm>
          <a:prstGeom prst="rect">
            <a:avLst/>
          </a:prstGeom>
          <a:noFill/>
          <a:ln/>
        </p:spPr>
        <p:txBody>
          <a:bodyPr wrap="square" lIns="0" tIns="0" rIns="0" bIns="0" rtlCol="0" anchor="t"/>
          <a:lstStyle/>
          <a:p>
            <a:pPr marL="228600" indent="-228600">
              <a:spcAft>
                <a:spcPts val="1400"/>
              </a:spcAft>
              <a:buSzPct val="100000"/>
              <a:buChar char="•"/>
            </a:pPr>
            <a:r>
              <a:rPr lang="en-US" sz="1900" b="1" dirty="0">
                <a:solidFill>
                  <a:srgbClr val="3A464C"/>
                </a:solidFill>
                <a:latin typeface="Calibri" pitchFamily="34" charset="0"/>
                <a:ea typeface="Calibri" pitchFamily="34" charset="-122"/>
                <a:cs typeface="Calibri" pitchFamily="34" charset="-120"/>
              </a:rPr>
              <a:t>Protection:</a:t>
            </a:r>
            <a:r>
              <a:rPr lang="en-US" sz="1900" dirty="0">
                <a:solidFill>
                  <a:srgbClr val="3A464C"/>
                </a:solidFill>
                <a:latin typeface="Calibri" pitchFamily="34" charset="0"/>
                <a:ea typeface="Calibri" pitchFamily="34" charset="-122"/>
                <a:cs typeface="Calibri" pitchFamily="34" charset="-120"/>
              </a:rPr>
              <a:t> every open() goes through the kernel (Week 2), which compares the process's UID/GIDs with the owner, group and mode in the inode (Week 7).</a:t>
            </a:r>
            <a:endParaRPr lang="en-US" sz="1900" dirty="0"/>
          </a:p>
          <a:p>
            <a:pPr marL="228600" indent="-228600">
              <a:spcAft>
                <a:spcPts val="1400"/>
              </a:spcAft>
              <a:buSzPct val="100000"/>
              <a:buChar char="•"/>
            </a:pPr>
            <a:r>
              <a:rPr lang="en-US" sz="1900" b="1" dirty="0">
                <a:solidFill>
                  <a:srgbClr val="3A464C"/>
                </a:solidFill>
                <a:latin typeface="Calibri" pitchFamily="34" charset="0"/>
                <a:ea typeface="Calibri" pitchFamily="34" charset="-122"/>
                <a:cs typeface="Calibri" pitchFamily="34" charset="-120"/>
              </a:rPr>
              <a:t>Mode string:</a:t>
            </a:r>
            <a:r>
              <a:rPr lang="en-US" sz="1900" dirty="0">
                <a:solidFill>
                  <a:srgbClr val="3A464C"/>
                </a:solidFill>
                <a:latin typeface="Calibri" pitchFamily="34" charset="0"/>
                <a:ea typeface="Calibri" pitchFamily="34" charset="-122"/>
                <a:cs typeface="Calibri" pitchFamily="34" charset="-120"/>
              </a:rPr>
              <a:t> type + three triplets (user, group, others) of r w x; weights 4 2 1 give one octal digit per class: 750 = rwxr‑x‑‑‑.</a:t>
            </a:r>
            <a:endParaRPr lang="en-US" sz="1900" dirty="0"/>
          </a:p>
          <a:p>
            <a:pPr marL="228600" indent="-228600">
              <a:spcAft>
                <a:spcPts val="1400"/>
              </a:spcAft>
              <a:buSzPct val="100000"/>
              <a:buChar char="•"/>
            </a:pPr>
            <a:r>
              <a:rPr lang="en-US" sz="1900" b="1" dirty="0">
                <a:solidFill>
                  <a:srgbClr val="3A464C"/>
                </a:solidFill>
                <a:latin typeface="Calibri" pitchFamily="34" charset="0"/>
                <a:ea typeface="Calibri" pitchFamily="34" charset="-122"/>
                <a:cs typeface="Calibri" pitchFamily="34" charset="-120"/>
              </a:rPr>
              <a:t>Only one class applies:</a:t>
            </a:r>
            <a:r>
              <a:rPr lang="en-US" sz="1900" dirty="0">
                <a:solidFill>
                  <a:srgbClr val="3A464C"/>
                </a:solidFill>
                <a:latin typeface="Calibri" pitchFamily="34" charset="0"/>
                <a:ea typeface="Calibri" pitchFamily="34" charset="-122"/>
                <a:cs typeface="Calibri" pitchFamily="34" charset="-120"/>
              </a:rPr>
              <a:t> owner, else group, else others.</a:t>
            </a:r>
            <a:endParaRPr lang="en-US" sz="1900" dirty="0"/>
          </a:p>
          <a:p>
            <a:pPr marL="228600" indent="-228600">
              <a:spcAft>
                <a:spcPts val="1400"/>
              </a:spcAft>
              <a:buSzPct val="100000"/>
              <a:buChar char="•"/>
            </a:pPr>
            <a:r>
              <a:rPr lang="en-US" sz="1900" b="1" dirty="0">
                <a:solidFill>
                  <a:srgbClr val="3A464C"/>
                </a:solidFill>
                <a:latin typeface="Calibri" pitchFamily="34" charset="0"/>
                <a:ea typeface="Calibri" pitchFamily="34" charset="-122"/>
                <a:cs typeface="Calibri" pitchFamily="34" charset="-120"/>
              </a:rPr>
              <a:t>Directories:</a:t>
            </a:r>
            <a:r>
              <a:rPr lang="en-US" sz="1900" dirty="0">
                <a:solidFill>
                  <a:srgbClr val="3A464C"/>
                </a:solidFill>
                <a:latin typeface="Calibri" pitchFamily="34" charset="0"/>
                <a:ea typeface="Calibri" pitchFamily="34" charset="-122"/>
                <a:cs typeface="Calibri" pitchFamily="34" charset="-120"/>
              </a:rPr>
              <a:t> r = list, w = create/delete entries, x = enter. Deleting needs w on the directory.</a:t>
            </a:r>
            <a:endParaRPr lang="en-US" sz="1900" dirty="0"/>
          </a:p>
          <a:p>
            <a:pPr marL="228600" indent="-228600">
              <a:spcAft>
                <a:spcPts val="1400"/>
              </a:spcAft>
              <a:buSzPct val="100000"/>
              <a:buChar char="•"/>
            </a:pPr>
            <a:r>
              <a:rPr lang="en-US" sz="1900" b="1" dirty="0">
                <a:solidFill>
                  <a:srgbClr val="3A464C"/>
                </a:solidFill>
                <a:latin typeface="Calibri" pitchFamily="34" charset="0"/>
                <a:ea typeface="Calibri" pitchFamily="34" charset="-122"/>
                <a:cs typeface="Calibri" pitchFamily="34" charset="-120"/>
              </a:rPr>
              <a:t>chmod:</a:t>
            </a:r>
            <a:r>
              <a:rPr lang="en-US" sz="1900" dirty="0">
                <a:solidFill>
                  <a:srgbClr val="3A464C"/>
                </a:solidFill>
                <a:latin typeface="Calibri" pitchFamily="34" charset="0"/>
                <a:ea typeface="Calibri" pitchFamily="34" charset="-122"/>
                <a:cs typeface="Calibri" pitchFamily="34" charset="-120"/>
              </a:rPr>
              <a:t> symbolic (u+x, go-w, a=r) or octal (644, 755, 600). Never 777.</a:t>
            </a:r>
            <a:endParaRPr lang="en-US" sz="1900" dirty="0"/>
          </a:p>
          <a:p>
            <a:pPr marL="228600" indent="-228600">
              <a:spcAft>
                <a:spcPts val="1400"/>
              </a:spcAft>
              <a:buSzPct val="100000"/>
              <a:buChar char="•"/>
            </a:pPr>
            <a:r>
              <a:rPr lang="en-US" sz="1900" b="1" dirty="0">
                <a:solidFill>
                  <a:srgbClr val="3A464C"/>
                </a:solidFill>
                <a:latin typeface="Calibri" pitchFamily="34" charset="0"/>
                <a:ea typeface="Calibri" pitchFamily="34" charset="-122"/>
                <a:cs typeface="Calibri" pitchFamily="34" charset="-120"/>
              </a:rPr>
              <a:t>umask:</a:t>
            </a:r>
            <a:r>
              <a:rPr lang="en-US" sz="1900" dirty="0">
                <a:solidFill>
                  <a:srgbClr val="3A464C"/>
                </a:solidFill>
                <a:latin typeface="Calibri" pitchFamily="34" charset="0"/>
                <a:ea typeface="Calibri" pitchFamily="34" charset="-122"/>
                <a:cs typeface="Calibri" pitchFamily="34" charset="-120"/>
              </a:rPr>
              <a:t> clears bits from 666/777: 002 → 664/775, 022 → 644/755, 033 → 644 (bitwise, not subtraction).</a:t>
            </a:r>
            <a:endParaRPr lang="en-US" sz="1900" dirty="0"/>
          </a:p>
          <a:p>
            <a:pPr marL="228600" indent="-228600">
              <a:spcAft>
                <a:spcPts val="1400"/>
              </a:spcAft>
              <a:buSzPct val="100000"/>
              <a:buChar char="•"/>
            </a:pPr>
            <a:r>
              <a:rPr lang="en-US" sz="1900" b="1" dirty="0">
                <a:solidFill>
                  <a:srgbClr val="3A464C"/>
                </a:solidFill>
                <a:latin typeface="Calibri" pitchFamily="34" charset="0"/>
                <a:ea typeface="Calibri" pitchFamily="34" charset="-122"/>
                <a:cs typeface="Calibri" pitchFamily="34" charset="-120"/>
              </a:rPr>
              <a:t>Owners and root:</a:t>
            </a:r>
            <a:r>
              <a:rPr lang="en-US" sz="1900" dirty="0">
                <a:solidFill>
                  <a:srgbClr val="3A464C"/>
                </a:solidFill>
                <a:latin typeface="Calibri" pitchFamily="34" charset="0"/>
                <a:ea typeface="Calibri" pitchFamily="34" charset="-122"/>
                <a:cs typeface="Calibri" pitchFamily="34" charset="-120"/>
              </a:rPr>
              <a:t> chown needs root; sudo runs one command as root; setuid (passwd) and sticky (/tmp) are special bits.</a:t>
            </a:r>
            <a:endParaRPr lang="en-US" sz="1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NEXT WEEK</a:t>
            </a:r>
            <a:endParaRPr lang="en-US" sz="1300" dirty="0"/>
          </a:p>
        </p:txBody>
      </p:sp>
      <p:sp>
        <p:nvSpPr>
          <p:cNvPr id="3" name="Text 1"/>
          <p:cNvSpPr txBox="1"/>
          <p:nvPr/>
        </p:nvSpPr>
        <p:spPr>
          <a:xfrm>
            <a:off x="548640" y="1783080"/>
            <a:ext cx="1097280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Text Processing, Redirection &amp; Pipes</a:t>
            </a:r>
            <a:endParaRPr lang="en-US" sz="3400" dirty="0"/>
          </a:p>
        </p:txBody>
      </p:sp>
      <p:sp>
        <p:nvSpPr>
          <p:cNvPr id="4" name="Shape 2"/>
          <p:cNvSpPr/>
          <p:nvPr/>
        </p:nvSpPr>
        <p:spPr>
          <a:xfrm>
            <a:off x="548640" y="2834640"/>
            <a:ext cx="7680960" cy="2926080"/>
          </a:xfrm>
          <a:prstGeom prst="roundRect">
            <a:avLst>
              <a:gd name="adj" fmla="val 1875"/>
            </a:avLst>
          </a:prstGeom>
          <a:solidFill>
            <a:srgbClr val="36454F"/>
          </a:solidFill>
          <a:ln/>
        </p:spPr>
        <p:txBody>
          <a:bodyPr/>
          <a:p/>
        </p:txBody>
      </p:sp>
      <p:sp>
        <p:nvSpPr>
          <p:cNvPr id="5" name="Text 3"/>
          <p:cNvSpPr txBox="1"/>
          <p:nvPr/>
        </p:nvSpPr>
        <p:spPr>
          <a:xfrm>
            <a:off x="868680" y="3017520"/>
            <a:ext cx="7132320" cy="36576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Week 12 will cover:</a:t>
            </a:r>
            <a:endParaRPr lang="en-US" sz="1400" dirty="0"/>
          </a:p>
        </p:txBody>
      </p:sp>
      <p:sp>
        <p:nvSpPr>
          <p:cNvPr id="6" name="Text 4"/>
          <p:cNvSpPr txBox="1"/>
          <p:nvPr/>
        </p:nvSpPr>
        <p:spPr>
          <a:xfrm>
            <a:off x="868680" y="3474720"/>
            <a:ext cx="7132320" cy="214884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stdin, stdout, stderr = file descriptors 0, 1, 2 (Weeks 2–3)</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Redirection: &gt;  &gt;&gt;  &lt;  2&gt;  2&gt;&amp;1  /dev/null</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Pipes: | connects processes created by the shell</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grep, sort, uniq, cut, wc, tr, tee, find</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Real analyses of logs/access.log and data/students.csv</a:t>
            </a:r>
            <a:endParaRPr lang="en-US" sz="1500" dirty="0"/>
          </a:p>
        </p:txBody>
      </p:sp>
      <p:sp>
        <p:nvSpPr>
          <p:cNvPr id="7"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8"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11  ·  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QUESTIONS?</a:t>
            </a:r>
            <a:endParaRPr lang="en-US" sz="1300" dirty="0"/>
          </a:p>
        </p:txBody>
      </p:sp>
      <p:sp>
        <p:nvSpPr>
          <p:cNvPr id="3" name="Text 1"/>
          <p:cNvSpPr txBox="1"/>
          <p:nvPr/>
        </p:nvSpPr>
        <p:spPr>
          <a:xfrm>
            <a:off x="548640" y="1783080"/>
            <a:ext cx="9144000" cy="777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Discussion</a:t>
            </a:r>
            <a:endParaRPr lang="en-US" sz="3800" dirty="0"/>
          </a:p>
        </p:txBody>
      </p:sp>
      <p:sp>
        <p:nvSpPr>
          <p:cNvPr id="4" name="Text 2"/>
          <p:cNvSpPr txBox="1"/>
          <p:nvPr/>
        </p:nvSpPr>
        <p:spPr>
          <a:xfrm>
            <a:off x="548640" y="2697480"/>
            <a:ext cx="6858000" cy="640080"/>
          </a:xfrm>
          <a:prstGeom prst="rect">
            <a:avLst/>
          </a:prstGeom>
          <a:noFill/>
          <a:ln/>
        </p:spPr>
        <p:txBody>
          <a:bodyPr wrap="square" lIns="0" tIns="0" rIns="0" bIns="0" rtlCol="0" anchor="ctr"/>
          <a:lstStyle/>
          <a:p>
            <a:pPr indent="0" marL="0">
              <a:buNone/>
            </a:pPr>
            <a:r>
              <a:rPr lang="en-US" sz="1400" i="1" dirty="0">
                <a:solidFill>
                  <a:srgbClr val="F2F2F2"/>
                </a:solidFill>
                <a:latin typeface="Calibri" pitchFamily="34" charset="0"/>
                <a:ea typeface="Calibri" pitchFamily="34" charset="-122"/>
                <a:cs typeface="Calibri" pitchFamily="34" charset="-120"/>
              </a:rPr>
              <a:t>If you have questions after class, ask them on the course Telegram channel — everyone benefits from the answer.</a:t>
            </a:r>
            <a:endParaRPr lang="en-US" sz="1400" dirty="0"/>
          </a:p>
        </p:txBody>
      </p:sp>
      <p:sp>
        <p:nvSpPr>
          <p:cNvPr id="7" name="Text 4"/>
          <p:cNvSpPr txBox="1"/>
          <p:nvPr/>
        </p:nvSpPr>
        <p:spPr>
          <a:xfrm>
            <a:off x="548640" y="3703320"/>
            <a:ext cx="5486400" cy="1463040"/>
          </a:xfrm>
          <a:prstGeom prst="rect">
            <a:avLst/>
          </a:prstGeom>
          <a:noFill/>
          <a:ln/>
        </p:spPr>
        <p:txBody>
          <a:bodyPr wrap="square" lIns="0" tIns="0" rIns="0" bIns="0" rtlCol="0" anchor="t"/>
          <a:lstStyle/>
          <a:p>
            <a:pPr indent="0" marL="0">
              <a:spcAft>
                <a:spcPts val="400"/>
              </a:spcAft>
              <a:buNone/>
            </a:pPr>
            <a:r>
              <a:rPr lang="en-US" sz="1400" b="1" dirty="0">
                <a:solidFill>
                  <a:srgbClr val="F2F2F2"/>
                </a:solidFill>
                <a:latin typeface="Calibri" pitchFamily="34" charset="0"/>
                <a:ea typeface="Calibri" pitchFamily="34" charset="-122"/>
                <a:cs typeface="Calibri" pitchFamily="34" charset="-120"/>
              </a:rPr>
              <a:t>Asst. Prof. Dr. Hasan Oğuz</a:t>
            </a:r>
            <a:endParaRPr lang="en-US" sz="1400" dirty="0"/>
          </a:p>
        </p:txBody>
      </p:sp>
      <p:sp>
        <p:nvSpPr>
          <p:cNvPr id="8"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9"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11  ·  41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MCMP117 Week 11</dc:title>
  <dc:subject>PptxGenJS Presentation</dc:subject>
  <dc:creator>PptxGenJS</dc:creator>
  <cp:lastModifiedBy>PptxGenJS</cp:lastModifiedBy>
  <cp:revision>1</cp:revision>
  <dcterms:created xsi:type="dcterms:W3CDTF">2026-10-12T16:39:43Z</dcterms:created>
  <dcterms:modified xsi:type="dcterms:W3CDTF">2026-10-12T16:39:43Z</dcterms:modified>
</cp:coreProperties>
</file>