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notesMasterIdLst>
    <p:notesMasterId r:id="rId4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Week 14, the last lecture before the final exam. For five weeks we typed commands one at a time. Today we put commands into files and let the shell run them for us: shell scripts. We build up step by step and finish with two real automation scripts, backup.sh and report.sh, in ~/lab/scripts. The second hour is mostly hands-on: you will write 3-4 small scripts yourself, and they are graded.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Two-minute recap. Ask: what is the difference between SIGTERM and SIGKILL? (15 can be caught and handled, 9 cannot.) What does Ctrl+Z do? (sends SIGTSTP; the job is stopped, state T.) Keep the idea of a child process in mind: when we run ./hello.sh the shell forks a child, exactly as for ls or sleep.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Parts 1 and 2 before the break, Parts 3 to 5 after it, then the common mistakes and the graded lab (30-40 minutes). Before we start: everybody run 'bash ~/mcmp117_lab_setup.sh' to get a fresh ~/lab, then 'cd ~/lab/scripts'. All of today's example scripts are in the week14/code folder; copy them into ~/lab/scripts.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everything you typed in Weeks 9-13 can go into a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examples: backups, log rotation, installing software on 30 lab PCs, building a firmware image, collecting measurement data from a device every minute. Linux itself boots with many shell scripts. cron is the Linux scheduler that can start a script at fixed times; we only mention it, it is not exam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to Week 3 and Week 13. The shell forks; the child calls execve() on ./hello.sh. A text file is not machine code, so the kernel looks at the first two bytes: '#!' means 'run the program named on this line and give it the script as an argument'. So the kernel actually starts '/bin/bash ./hello.sh'. The parent shell waits for the child (wait), then prints the prompt again. Because the script runs in a separate process, 'cd /tmp' inside a script does not move your terminal — a very common surprise. (To run a file inside the CURRENT shell you use 'source file' or '. file'; we only mention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everybody open nano and type hello.sh themselves rather than copying it — typing is how the syntax sticks. Lines starting with # are comments, except the very first line #!, which is special only on line 1. Remind them that Linux does not care about the extension: a script called 'backup' without .sh works just as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output, captured as user student in ~/lab/scripts. The file was created with mode 664 (-rw-rw-r--) by the default umask 002 of the lab user (Week 11). After chmod +x it is 775. Why does 'hello.sh' fail? The shell only searches the folders in $PATH (echo $PATH) for commands; the current folder is deliberately not in it for security, so you must say ./ (this folder). Exit status 126 means 'found but cannot execute'; 127 means 'command not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the last line runs in the current shell: that is why changes made by 'source ~/.bashrc' stay in your terminal, while a script started with ./ cannot change your current directory or variables. The PATH variable is a colon-separated list of folders; you can see it with echo $PATH. Many users create ~/bin and put their scripts there; on Ubuntu ~/bin is added to PATH automatically by ~/.profile if it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a script that always does exactly the same thing is useful, but a script with variables and arguments is far more useful.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output. The error message is the most frequent beginner mistake of the whole week. On Ubuntu the message may be longer ('Command 'name' not found, did you mean ...') because Ubuntu installs a command-not-found helper; the meaning is the same. ${name} is needed when the variable is followed by letters: echo "${name}s" versus echo "$names". Show echo $HOME, echo $USER, echo $PATH as examples of environment variables.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output, run on 12 October 2026. The date in the output will differ for you. Point out wc -l &lt; file: with input redirection (Week 12) wc prints only the number, without the file name — exactly what we want inside $( ). In $(( )) you may write $((15 - week)) or $((15 - $week)); both work. Bash arithmetic is 64-bit integer arithmetic: 7/2 truncates to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output. The deliberate mistake on the last line is the most common bug in real scripts: an unquoted variable containing a file name with a space. The rule for beginners: put double quotes around every $variable and every $( ) unless you have a reason not to. The '# shellcheck disable' lines are for a free checking tool called ShellCheck (shellcheck.net); it warns about exactly these problems, and these two lines tell it the mistakes are on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output of ./args.sh apple "green tea" 42. Ask the class to predict $# before running it (answer 3, not 4). Without arguments $1 is empty and $# is 0 — that is why real scripts check $# first (check.sh later). "$@" in double quotes keeps each argument intact; $* glues them into one string. For printing, both look the same; for loops always use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session: the user typed Ayse and 2006 (shown in the transcript because the terminal echoes what you type). The age is computed with $(( )) as current year minus birth year, so it is 'about' the age. read with several variable names splits the line at spaces: read -r first last. In Exercise 14 we use read inside a while loop for a guessing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here and let students copy this table. The result of $((3 + 4 * 2)) is 11, not 14: multiplication first, as in mathematics (real output on slide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minutes. During the break: make sure hello.sh, variables.sh and args.sh run on every student's machine (lab PC, WSL or VM).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to make decisions a script needs a condition. In bash, conditions are commands, and the answer is the exit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output. $? always refers to the LAST command, so echo it immediately; the echo itself then sets $? to 0. grep -q prints nothing, it only answers with its exit status: 0 = found, 1 = not found (2 would be an error such as a missing file). This is why grep is so useful in if statements. The exit status is the value the parent process collects with wait() — Week 3 and Week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output: 'type [' shows that [ is a shell builtin command (there is also a program /usr/bin/[ for other shells). This explains all the spacing rules: '[', '5', '-gt', '3', ']' are five separate arguments. Bash also has [[ ... ]], a more forgiving keyword (no word splitting, supports &lt; &gt; for strings and pattern matching); we use the portable [ ] in this course. -eq compares numbers: [ 05 -eq 5 ] is true; = compares text: [ 05 = 5 ] is false.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check.sh top to bottom. The semicolon before then is needed because then must start a new command; writing then on the next line also works. Note wc -l &lt; "$path" inside $( ) inside a double-quoted string — quotes nest correctly inside $( ). The next slide shows the real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output. Error messages are written to stderr with &gt;&amp;2: if you redirect the output, ./check.sh nothing.txt &gt; out.txt, the error still appears on the screen and out.txt stays empty. Ask: which exit status would ./check.sh ../logs return? (0, from the final 'exit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output. The scale (A from 85, B from 70, C from 50) is just an example, not the official university scale. The order of the elif tests matters: if we tested -ge 50 first, 92 would get a C. Ask students to trace 72 by hand before showing the next slide, where bash -x traces it for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output. With -x, the lines starting with + show the command AFTER expansion: you can see that $score became 72 and which tests were executed — the -ge 85 test failed, the -ge 70 test succeeded, then letter=B. On the right, 'abc' is not an integer: every numeric test prints 'integer expression expected' and counts as false, so the script falls through to else and prints grade F. Line 9 appears twice because both tests joined by || are tried. Ask: how would you fix it? (e.g. check with grep -qx '[0-9]*' or with a case pattern before the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decisions let a script choose; loops let it repeat — the real power of automation.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output; the long squares line was trimmed with '...' on the slide (it continues up to 5 squared is 25). The output shows 'final report.txt: 2 lines' — the file name with a space stayed in one piece because the loop variable is quoted everywhere. Also note '1 lines': a script prints exactly what you tell it to; making it say '1 line' would need an if. Brace expansion {1..5} cannot use variables ({1..$n} does not work); for that use $(seq 1 "$n") or a while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output. The '&lt; file' after done redirects the input of the WHOLE loop, so each read takes the next line. The sum 11325 and average 566.25 were checked with a short Python script; bash truncates to 566. A while loop whose test never becomes false is an infinite loop — stop it with Ctrl+C (SIGINT, Week 13). There is also 'until TEST; do ... done', which loops while the test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output (the dashed line was shortened on the slide). is_even shows a nice idea: the function's exit status is the result, so it can be used directly in if. A function cannot return text with 'return' (return only sets the exit status 0-255); to give back text, echo it and capture it with $( ). Why 'local n' on its own line and then n=$(...)? Writing 'local n=$(grep ...)' would hide grep's exit status — ShellCheck warns about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the course notes contain a fuller version including all test operators. &amp;&amp; runs the second command only if the first succeeded; || only if it failed. These two operators are often used as short if statements: [ -d "$dir" ] || mkdir "$dir".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now we combine everything — variables, $( ), tests, if, pipelines from Week 12 — into two scripts you could really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backup.sh. $HOME instead of ~ inside quotes: ~ is NOT expanded inside double quotes, $HOME is. mkdir -p creates the folder if needed and is silent if it already exists. tar -tzf lists (t) an archive; grep -vc '/$' counts the lines that do not end in / (files, not folders). du -h | cut -f1 keeps only the size column (Week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output; your timestamps will differ (the second run was 2 seconds later, after sleep 2, which is not shown). Restore with: tar -xzf ../backup/docs_&lt;stamp&gt;.tar.gz -C /tmp to look at it without overwriting anything. Lab exercise 13 extends this script to keep only the 3 newest archives. Bonus: with cron, the line '0 18 * * * $HOME/lab/scripts/backup.sh' would run it every day at 18:00.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report.sh reuses the pipelines of Week 12: awk prints a field, sort | uniq -c | sort -rn counts and ranks, tail -n +2 skips the CSV header line, cut -d, -f3 takes the department. The new part is awk doing decimal arithmetic: m += $4 sums the midterm column, END runs once at the end and printf %.1f prints one decimal. 0.4*$4 + 0.6*$5 &gt;= 50 used as an awk pattern prints only the passing rows; wc -l counts them. The weighting 40/60 is an example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output; the date line will differ. Every number was recomputed independently with Python from the same files. Point out the two kinds of arithmetic: bash $(( )) for the integer percentage, awk for averages with decimals. This is the kind of script a technician might run every morning on a server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output from five deliberately broken scripts (created by code/demo_errors.sh). (1) name = "Ayse" runs a command called name; then $name is empty, so the script prints 'Hello ' — the script did NOT stop at the error, it went on. (2) [$n becomes the single word [5, which is not a command. (3) With an empty, unquoted $answer the test becomes [ = yes ], which has no left-hand side: 'unary operator expected'. With quotes it is [ "" = yes ], simply false.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output from bash 5.2. The message 'bad interpreter: No such file or directory' is what bash 5.1 and earlier print (Ubuntu 22.04, Git Bash on older installations); both mean the same thing. 'file win.sh' reports 'with CRLF line terminators' — a quick diagnosis. bash -n finds the missing fi without running anything: 'unexpected end of file' means a block (if, for, while, quote) was opened and never closed. Students who write scripts on Windows and copy them to Linux WILL meet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35 minutes. Walk around; the most frequent problems will be exactly the ones on the previous two slides. Solutions are in the course notes (Lab Sheet, exercises 2, 6, 11 and 13) — tell students not to look until they have tried. Submission method and deadline are the instructor's decision: [to be announced]. Faster students can continue with the other exercises of the Lab Sheet (16 exercises, 100 points in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./hello.sh needs execute permission because the kernel must exec the file; bash hello.sh only needs read permission because bash opens the file as data. Exit status 126. (2) 3 (integer division), $x (single quotes, literal), 72 (two values side by side). (3) [ -f report.txt ] &amp;&amp; [ "$n" -gt 10 ]. (4) $# = 3, $2 = 'two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through these; each line is a likely final-exam topic, including 'write a short script'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week is the final exam review. It covers the whole course: the theory of Weeks 1-7 (use the Week 8 study guide) and the practical Linux weeks 9-14, including writing a short script like the ones today. Finish the Lab Sheet exercises at home: they are the best preparation for the scripting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floor for questions. Remind students that questions asked on the Telegram channel help everyone.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1737360"/>
            <a:ext cx="7315200" cy="32004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MCMP117  ·  WEEK 14</a:t>
            </a:r>
            <a:endParaRPr lang="en-US" sz="1300" dirty="0"/>
          </a:p>
        </p:txBody>
      </p:sp>
      <p:sp>
        <p:nvSpPr>
          <p:cNvPr id="3" name="Text 1"/>
          <p:cNvSpPr txBox="1"/>
          <p:nvPr/>
        </p:nvSpPr>
        <p:spPr>
          <a:xfrm>
            <a:off x="548640" y="2148840"/>
            <a:ext cx="8229600" cy="146304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Fundamentals of</a:t>
            </a:r>
            <a:endParaRPr lang="en-US" sz="4000" dirty="0"/>
          </a:p>
          <a:p>
            <a:pPr indent="0" marL="0">
              <a:buNone/>
            </a:pPr>
            <a:r>
              <a:rPr lang="en-US" sz="4000" b="1" dirty="0">
                <a:solidFill>
                  <a:srgbClr val="FFFFFF"/>
                </a:solidFill>
                <a:latin typeface="Cambria" pitchFamily="34" charset="0"/>
                <a:ea typeface="Cambria" pitchFamily="34" charset="-122"/>
                <a:cs typeface="Cambria" pitchFamily="34" charset="-120"/>
              </a:rPr>
              <a:t>Operating Systems</a:t>
            </a:r>
            <a:endParaRPr lang="en-US" sz="4000" dirty="0"/>
          </a:p>
        </p:txBody>
      </p:sp>
      <p:sp>
        <p:nvSpPr>
          <p:cNvPr id="4" name="Text 2"/>
          <p:cNvSpPr txBox="1"/>
          <p:nvPr/>
        </p:nvSpPr>
        <p:spPr>
          <a:xfrm>
            <a:off x="548640" y="3703320"/>
            <a:ext cx="10058400" cy="457200"/>
          </a:xfrm>
          <a:prstGeom prst="rect">
            <a:avLst/>
          </a:prstGeom>
          <a:noFill/>
          <a:ln/>
        </p:spPr>
        <p:txBody>
          <a:bodyPr wrap="square" lIns="0" tIns="0" rIns="0" bIns="0" rtlCol="0" anchor="ctr"/>
          <a:lstStyle/>
          <a:p>
            <a:pPr indent="0" marL="0">
              <a:buNone/>
            </a:pPr>
            <a:r>
              <a:rPr lang="en-US" sz="2000" dirty="0">
                <a:solidFill>
                  <a:srgbClr val="F2F2F2"/>
                </a:solidFill>
                <a:latin typeface="Calibri" pitchFamily="34" charset="0"/>
                <a:ea typeface="Calibri" pitchFamily="34" charset="-122"/>
                <a:cs typeface="Calibri" pitchFamily="34" charset="-120"/>
              </a:rPr>
              <a:t>Week 14  ·  Introduction to Shell Scripting</a:t>
            </a:r>
            <a:endParaRPr lang="en-US" sz="2000" dirty="0"/>
          </a:p>
        </p:txBody>
      </p:sp>
      <p:sp>
        <p:nvSpPr>
          <p:cNvPr id="5" name="Text 3"/>
          <p:cNvSpPr txBox="1"/>
          <p:nvPr/>
        </p:nvSpPr>
        <p:spPr>
          <a:xfrm>
            <a:off x="548640" y="4160520"/>
            <a:ext cx="10058400" cy="365760"/>
          </a:xfrm>
          <a:prstGeom prst="rect">
            <a:avLst/>
          </a:prstGeom>
          <a:noFill/>
          <a:ln/>
        </p:spPr>
        <p:txBody>
          <a:bodyPr wrap="square" lIns="0" tIns="0" rIns="0" bIns="0" rtlCol="0" anchor="ctr"/>
          <a:lstStyle/>
          <a:p>
            <a:pPr indent="0" marL="0">
              <a:buNone/>
            </a:pPr>
            <a:r>
              <a:rPr lang="en-US" sz="1400" i="1" dirty="0">
                <a:solidFill>
                  <a:srgbClr val="8A9AA0"/>
                </a:solidFill>
                <a:latin typeface="Calibri" pitchFamily="34" charset="0"/>
                <a:ea typeface="Calibri" pitchFamily="34" charset="-122"/>
                <a:cs typeface="Calibri" pitchFamily="34" charset="-120"/>
              </a:rPr>
              <a:t>Type it once, save it, run it a thousand times.</a:t>
            </a:r>
            <a:endParaRPr lang="en-US" sz="1400" dirty="0"/>
          </a:p>
        </p:txBody>
      </p:sp>
      <p:sp>
        <p:nvSpPr>
          <p:cNvPr id="6" name="Text 4"/>
          <p:cNvSpPr txBox="1"/>
          <p:nvPr/>
        </p:nvSpPr>
        <p:spPr>
          <a:xfrm>
            <a:off x="548640" y="6217920"/>
            <a:ext cx="10058400" cy="274320"/>
          </a:xfrm>
          <a:prstGeom prst="rect">
            <a:avLst/>
          </a:prstGeom>
          <a:noFill/>
          <a:ln/>
        </p:spPr>
        <p:txBody>
          <a:bodyPr wrap="square" lIns="0" tIns="0" rIns="0" bIns="0" rtlCol="0" anchor="ctr"/>
          <a:lstStyle/>
          <a:p>
            <a:pPr indent="0" marL="0">
              <a:buNone/>
            </a:pPr>
            <a:r>
              <a:rPr lang="en-US" sz="1000" dirty="0">
                <a:solidFill>
                  <a:srgbClr val="8A9AA0"/>
                </a:solidFill>
                <a:latin typeface="Calibri" pitchFamily="34" charset="0"/>
                <a:ea typeface="Calibri" pitchFamily="34" charset="-122"/>
                <a:cs typeface="Calibri" pitchFamily="34" charset="-120"/>
              </a:rPr>
              <a:t>Electronical Communication Technology Programme  ·  Vocational School  ·  Istanbul Okan University</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LAST WEEK</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Week 13 in Four Ideas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14  ·  2</a:t>
            </a:r>
            <a:endParaRPr lang="en-US" sz="900" dirty="0"/>
          </a:p>
        </p:txBody>
      </p:sp>
      <p:sp>
        <p:nvSpPr>
          <p:cNvPr id="6" name="Shape 4"/>
          <p:cNvSpPr/>
          <p:nvPr/>
        </p:nvSpPr>
        <p:spPr>
          <a:xfrm>
            <a:off x="548640" y="1508760"/>
            <a:ext cx="2606040" cy="3749040"/>
          </a:xfrm>
          <a:prstGeom prst="roundRect">
            <a:avLst>
              <a:gd name="adj" fmla="val 210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7" name="Text 5"/>
          <p:cNvSpPr txBox="1"/>
          <p:nvPr/>
        </p:nvSpPr>
        <p:spPr>
          <a:xfrm>
            <a:off x="777240" y="1691640"/>
            <a:ext cx="214884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Processes</a:t>
            </a:r>
            <a:endParaRPr lang="en-US" sz="1600" dirty="0"/>
          </a:p>
        </p:txBody>
      </p:sp>
      <p:sp>
        <p:nvSpPr>
          <p:cNvPr id="8" name="Text 6"/>
          <p:cNvSpPr txBox="1"/>
          <p:nvPr/>
        </p:nvSpPr>
        <p:spPr>
          <a:xfrm>
            <a:off x="777240" y="2148840"/>
            <a:ext cx="2148840" cy="2971800"/>
          </a:xfrm>
          <a:prstGeom prst="rect">
            <a:avLst/>
          </a:prstGeom>
          <a:noFill/>
          <a:ln/>
        </p:spPr>
        <p:txBody>
          <a:bodyPr wrap="square" lIns="0" tIns="0" rIns="0" bIns="0" rtlCol="0" anchor="t"/>
          <a:lstStyle/>
          <a:p>
            <a:pPr indent="0" marL="0">
              <a:spcAft>
                <a:spcPts val="400"/>
              </a:spcAft>
              <a:buNone/>
            </a:pPr>
            <a:r>
              <a:rPr lang="en-US" sz="1700" dirty="0">
                <a:solidFill>
                  <a:srgbClr val="3A464C"/>
                </a:solidFill>
                <a:latin typeface="Calibri" pitchFamily="34" charset="0"/>
                <a:ea typeface="Calibri" pitchFamily="34" charset="-122"/>
                <a:cs typeface="Calibri" pitchFamily="34" charset="-120"/>
              </a:rPr>
              <a:t>Every command runs as a process with a PID and a parent (PPID). ps, pstree and top show them; STAT shows R, S, T, Z.</a:t>
            </a:r>
            <a:endParaRPr lang="en-US" sz="1700" dirty="0"/>
          </a:p>
        </p:txBody>
      </p:sp>
      <p:sp>
        <p:nvSpPr>
          <p:cNvPr id="9" name="Shape 7"/>
          <p:cNvSpPr/>
          <p:nvPr/>
        </p:nvSpPr>
        <p:spPr>
          <a:xfrm>
            <a:off x="3383280" y="1508760"/>
            <a:ext cx="2606040" cy="3749040"/>
          </a:xfrm>
          <a:prstGeom prst="roundRect">
            <a:avLst>
              <a:gd name="adj" fmla="val 210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0" name="Text 8"/>
          <p:cNvSpPr txBox="1"/>
          <p:nvPr/>
        </p:nvSpPr>
        <p:spPr>
          <a:xfrm>
            <a:off x="3611880" y="1691640"/>
            <a:ext cx="214884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Job control</a:t>
            </a:r>
            <a:endParaRPr lang="en-US" sz="1600" dirty="0"/>
          </a:p>
        </p:txBody>
      </p:sp>
      <p:sp>
        <p:nvSpPr>
          <p:cNvPr id="11" name="Text 9"/>
          <p:cNvSpPr txBox="1"/>
          <p:nvPr/>
        </p:nvSpPr>
        <p:spPr>
          <a:xfrm>
            <a:off x="3611880" y="2148840"/>
            <a:ext cx="2148840" cy="2971800"/>
          </a:xfrm>
          <a:prstGeom prst="rect">
            <a:avLst/>
          </a:prstGeom>
          <a:noFill/>
          <a:ln/>
        </p:spPr>
        <p:txBody>
          <a:bodyPr wrap="square" lIns="0" tIns="0" rIns="0" bIns="0" rtlCol="0" anchor="t"/>
          <a:lstStyle/>
          <a:p>
            <a:pPr indent="0" marL="0">
              <a:spcAft>
                <a:spcPts val="400"/>
              </a:spcAft>
              <a:buNone/>
            </a:pPr>
            <a:r>
              <a:rPr lang="en-US" sz="1700" dirty="0">
                <a:solidFill>
                  <a:srgbClr val="3A464C"/>
                </a:solidFill>
                <a:latin typeface="Calibri" pitchFamily="34" charset="0"/>
                <a:ea typeface="Calibri" pitchFamily="34" charset="-122"/>
                <a:cs typeface="Calibri" pitchFamily="34" charset="-120"/>
              </a:rPr>
              <a:t>command &amp; runs in the background; Ctrl+Z stops a job; jobs, fg and bg move jobs between foreground and background.</a:t>
            </a:r>
            <a:endParaRPr lang="en-US" sz="1700" dirty="0"/>
          </a:p>
        </p:txBody>
      </p:sp>
      <p:sp>
        <p:nvSpPr>
          <p:cNvPr id="12" name="Shape 10"/>
          <p:cNvSpPr/>
          <p:nvPr/>
        </p:nvSpPr>
        <p:spPr>
          <a:xfrm>
            <a:off x="6217920" y="1508760"/>
            <a:ext cx="2606040" cy="3749040"/>
          </a:xfrm>
          <a:prstGeom prst="roundRect">
            <a:avLst>
              <a:gd name="adj" fmla="val 210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3" name="Text 11"/>
          <p:cNvSpPr txBox="1"/>
          <p:nvPr/>
        </p:nvSpPr>
        <p:spPr>
          <a:xfrm>
            <a:off x="6446520" y="1691640"/>
            <a:ext cx="214884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Signals</a:t>
            </a:r>
            <a:endParaRPr lang="en-US" sz="1600" dirty="0"/>
          </a:p>
        </p:txBody>
      </p:sp>
      <p:sp>
        <p:nvSpPr>
          <p:cNvPr id="14" name="Text 12"/>
          <p:cNvSpPr txBox="1"/>
          <p:nvPr/>
        </p:nvSpPr>
        <p:spPr>
          <a:xfrm>
            <a:off x="6446520" y="2148840"/>
            <a:ext cx="2148840" cy="2971800"/>
          </a:xfrm>
          <a:prstGeom prst="rect">
            <a:avLst/>
          </a:prstGeom>
          <a:noFill/>
          <a:ln/>
        </p:spPr>
        <p:txBody>
          <a:bodyPr wrap="square" lIns="0" tIns="0" rIns="0" bIns="0" rtlCol="0" anchor="t"/>
          <a:lstStyle/>
          <a:p>
            <a:pPr indent="0" marL="0">
              <a:spcAft>
                <a:spcPts val="400"/>
              </a:spcAft>
              <a:buNone/>
            </a:pPr>
            <a:r>
              <a:rPr lang="en-US" sz="1700" dirty="0">
                <a:solidFill>
                  <a:srgbClr val="3A464C"/>
                </a:solidFill>
                <a:latin typeface="Calibri" pitchFamily="34" charset="0"/>
                <a:ea typeface="Calibri" pitchFamily="34" charset="-122"/>
                <a:cs typeface="Calibri" pitchFamily="34" charset="-120"/>
              </a:rPr>
              <a:t>kill sends a signal: SIGTERM (15) asks politely, SIGKILL (9) cannot be refused, Ctrl+C sends SIGINT (2).</a:t>
            </a:r>
            <a:endParaRPr lang="en-US" sz="1700" dirty="0"/>
          </a:p>
        </p:txBody>
      </p:sp>
      <p:sp>
        <p:nvSpPr>
          <p:cNvPr id="15" name="Shape 13"/>
          <p:cNvSpPr/>
          <p:nvPr/>
        </p:nvSpPr>
        <p:spPr>
          <a:xfrm>
            <a:off x="9052560" y="1508760"/>
            <a:ext cx="2606040" cy="3749040"/>
          </a:xfrm>
          <a:prstGeom prst="roundRect">
            <a:avLst>
              <a:gd name="adj" fmla="val 210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6" name="Text 14"/>
          <p:cNvSpPr txBox="1"/>
          <p:nvPr/>
        </p:nvSpPr>
        <p:spPr>
          <a:xfrm>
            <a:off x="9281160" y="1691640"/>
            <a:ext cx="214884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Priority</a:t>
            </a:r>
            <a:endParaRPr lang="en-US" sz="1600" dirty="0"/>
          </a:p>
        </p:txBody>
      </p:sp>
      <p:sp>
        <p:nvSpPr>
          <p:cNvPr id="17" name="Text 15"/>
          <p:cNvSpPr txBox="1"/>
          <p:nvPr/>
        </p:nvSpPr>
        <p:spPr>
          <a:xfrm>
            <a:off x="9281160" y="2148840"/>
            <a:ext cx="2148840" cy="2971800"/>
          </a:xfrm>
          <a:prstGeom prst="rect">
            <a:avLst/>
          </a:prstGeom>
          <a:noFill/>
          <a:ln/>
        </p:spPr>
        <p:txBody>
          <a:bodyPr wrap="square" lIns="0" tIns="0" rIns="0" bIns="0" rtlCol="0" anchor="t"/>
          <a:lstStyle/>
          <a:p>
            <a:pPr indent="0" marL="0">
              <a:spcAft>
                <a:spcPts val="400"/>
              </a:spcAft>
              <a:buNone/>
            </a:pPr>
            <a:r>
              <a:rPr lang="en-US" sz="1700" dirty="0">
                <a:solidFill>
                  <a:srgbClr val="3A464C"/>
                </a:solidFill>
                <a:latin typeface="Calibri" pitchFamily="34" charset="0"/>
                <a:ea typeface="Calibri" pitchFamily="34" charset="-122"/>
                <a:cs typeface="Calibri" pitchFamily="34" charset="-120"/>
              </a:rPr>
              <a:t>nice and renice set the nice value (−20 … 19); only root may lower it (raise the priority).</a:t>
            </a:r>
            <a:endParaRPr lang="en-US" sz="1700" dirty="0"/>
          </a:p>
        </p:txBody>
      </p:sp>
      <p:sp>
        <p:nvSpPr>
          <p:cNvPr id="18" name="Shape 16"/>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19" name="Text 17"/>
          <p:cNvSpPr txBox="1"/>
          <p:nvPr/>
        </p:nvSpPr>
        <p:spPr>
          <a:xfrm>
            <a:off x="777240" y="5486400"/>
            <a:ext cx="10652760" cy="77724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Today: a script is just another program. When you run it, the shell creates a new process for it — everything from Week 13 applies.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WEEK 14</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Today's Agenda</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14  ·  3</a:t>
            </a:r>
            <a:endParaRPr lang="en-US" sz="900" dirty="0"/>
          </a:p>
        </p:txBody>
      </p:sp>
      <p:sp>
        <p:nvSpPr>
          <p:cNvPr id="6" name="Shape 4"/>
          <p:cNvSpPr/>
          <p:nvPr/>
        </p:nvSpPr>
        <p:spPr>
          <a:xfrm>
            <a:off x="548640" y="1508760"/>
            <a:ext cx="658368" cy="658368"/>
          </a:xfrm>
          <a:prstGeom prst="roundRect">
            <a:avLst>
              <a:gd name="adj" fmla="val 6944"/>
            </a:avLst>
          </a:prstGeom>
          <a:solidFill>
            <a:srgbClr val="02C39A"/>
          </a:solidFill>
          <a:ln/>
        </p:spPr>
        <p:txBody>
          <a:bodyPr/>
          <a:p/>
        </p:txBody>
      </p:sp>
      <p:sp>
        <p:nvSpPr>
          <p:cNvPr id="7" name="Text 5"/>
          <p:cNvSpPr txBox="1"/>
          <p:nvPr/>
        </p:nvSpPr>
        <p:spPr>
          <a:xfrm>
            <a:off x="548640" y="1508760"/>
            <a:ext cx="658368" cy="658368"/>
          </a:xfrm>
          <a:prstGeom prst="rect">
            <a:avLst/>
          </a:prstGeom>
          <a:noFill/>
          <a:ln/>
        </p:spPr>
        <p:txBody>
          <a:bodyPr wrap="square" lIns="38100" tIns="38100" rIns="38100" bIns="38100" rtlCol="0" anchor="ctr"/>
          <a:lstStyle/>
          <a:p>
            <a:pPr algn="ctr" indent="0" marL="0">
              <a:buNone/>
            </a:pPr>
            <a:r>
              <a:rPr lang="en-US" sz="2000" b="1" dirty="0">
                <a:solidFill>
                  <a:srgbClr val="36454F"/>
                </a:solidFill>
                <a:latin typeface="Cambria" pitchFamily="34" charset="0"/>
                <a:ea typeface="Cambria" pitchFamily="34" charset="-122"/>
                <a:cs typeface="Cambria" pitchFamily="34" charset="-120"/>
              </a:rPr>
              <a:t>1</a:t>
            </a:r>
            <a:endParaRPr lang="en-US" sz="2000" dirty="0"/>
          </a:p>
        </p:txBody>
      </p:sp>
      <p:sp>
        <p:nvSpPr>
          <p:cNvPr id="8" name="Shape 6"/>
          <p:cNvSpPr/>
          <p:nvPr/>
        </p:nvSpPr>
        <p:spPr>
          <a:xfrm>
            <a:off x="1371600" y="1508760"/>
            <a:ext cx="10287000" cy="658368"/>
          </a:xfrm>
          <a:prstGeom prst="roundRect">
            <a:avLst>
              <a:gd name="adj" fmla="val 6944"/>
            </a:avLst>
          </a:prstGeom>
          <a:solidFill>
            <a:srgbClr val="F2F2F2"/>
          </a:solidFill>
          <a:ln/>
        </p:spPr>
        <p:txBody>
          <a:bodyPr/>
          <a:p/>
        </p:txBody>
      </p:sp>
      <p:sp>
        <p:nvSpPr>
          <p:cNvPr id="9" name="Text 7"/>
          <p:cNvSpPr txBox="1"/>
          <p:nvPr/>
        </p:nvSpPr>
        <p:spPr>
          <a:xfrm>
            <a:off x="1645920" y="1508760"/>
            <a:ext cx="9875520" cy="658368"/>
          </a:xfrm>
          <a:prstGeom prst="rect">
            <a:avLst/>
          </a:prstGeom>
          <a:noFill/>
          <a:ln/>
        </p:spPr>
        <p:txBody>
          <a:bodyPr wrap="square" lIns="0" tIns="0" rIns="0" bIns="0" rtlCol="0" anchor="ctr"/>
          <a:lstStyle/>
          <a:p>
            <a:pPr indent="0" marL="0">
              <a:buNone/>
            </a:pPr>
            <a:r>
              <a:rPr lang="en-US" sz="1700" b="1" dirty="0">
                <a:solidFill>
                  <a:srgbClr val="36454F"/>
                </a:solidFill>
                <a:latin typeface="Cambria" pitchFamily="34" charset="0"/>
                <a:ea typeface="Cambria" pitchFamily="34" charset="-122"/>
                <a:cs typeface="Cambria" pitchFamily="34" charset="-120"/>
              </a:rPr>
              <a:t>Your first script   </a:t>
            </a:r>
            <a:r>
              <a:rPr lang="en-US" sz="1500" dirty="0">
                <a:solidFill>
                  <a:srgbClr val="3A464C"/>
                </a:solidFill>
                <a:latin typeface="Calibri" pitchFamily="34" charset="0"/>
                <a:ea typeface="Calibri" pitchFamily="34" charset="-122"/>
                <a:cs typeface="Calibri" pitchFamily="34" charset="-120"/>
              </a:rPr>
              <a:t>Why automate; the shebang; chmod +x; ./script.sh vs. bash script.sh.</a:t>
            </a:r>
            <a:endParaRPr lang="en-US" sz="1400" dirty="0"/>
          </a:p>
        </p:txBody>
      </p:sp>
      <p:sp>
        <p:nvSpPr>
          <p:cNvPr id="10" name="Shape 8"/>
          <p:cNvSpPr/>
          <p:nvPr/>
        </p:nvSpPr>
        <p:spPr>
          <a:xfrm>
            <a:off x="548640" y="2295144"/>
            <a:ext cx="658368" cy="658368"/>
          </a:xfrm>
          <a:prstGeom prst="roundRect">
            <a:avLst>
              <a:gd name="adj" fmla="val 6944"/>
            </a:avLst>
          </a:prstGeom>
          <a:solidFill>
            <a:srgbClr val="02C39A"/>
          </a:solidFill>
          <a:ln/>
        </p:spPr>
        <p:txBody>
          <a:bodyPr/>
          <a:p/>
        </p:txBody>
      </p:sp>
      <p:sp>
        <p:nvSpPr>
          <p:cNvPr id="11" name="Text 9"/>
          <p:cNvSpPr txBox="1"/>
          <p:nvPr/>
        </p:nvSpPr>
        <p:spPr>
          <a:xfrm>
            <a:off x="548640" y="2295144"/>
            <a:ext cx="658368" cy="658368"/>
          </a:xfrm>
          <a:prstGeom prst="rect">
            <a:avLst/>
          </a:prstGeom>
          <a:noFill/>
          <a:ln/>
        </p:spPr>
        <p:txBody>
          <a:bodyPr wrap="square" lIns="38100" tIns="38100" rIns="38100" bIns="38100" rtlCol="0" anchor="ctr"/>
          <a:lstStyle/>
          <a:p>
            <a:pPr algn="ctr" indent="0" marL="0">
              <a:buNone/>
            </a:pPr>
            <a:r>
              <a:rPr lang="en-US" sz="2000" b="1" dirty="0">
                <a:solidFill>
                  <a:srgbClr val="36454F"/>
                </a:solidFill>
                <a:latin typeface="Cambria" pitchFamily="34" charset="0"/>
                <a:ea typeface="Cambria" pitchFamily="34" charset="-122"/>
                <a:cs typeface="Cambria" pitchFamily="34" charset="-120"/>
              </a:rPr>
              <a:t>2</a:t>
            </a:r>
            <a:endParaRPr lang="en-US" sz="2000" dirty="0"/>
          </a:p>
        </p:txBody>
      </p:sp>
      <p:sp>
        <p:nvSpPr>
          <p:cNvPr id="12" name="Shape 10"/>
          <p:cNvSpPr/>
          <p:nvPr/>
        </p:nvSpPr>
        <p:spPr>
          <a:xfrm>
            <a:off x="1371600" y="2295144"/>
            <a:ext cx="10287000" cy="658368"/>
          </a:xfrm>
          <a:prstGeom prst="roundRect">
            <a:avLst>
              <a:gd name="adj" fmla="val 6944"/>
            </a:avLst>
          </a:prstGeom>
          <a:solidFill>
            <a:srgbClr val="F2F2F2"/>
          </a:solidFill>
          <a:ln/>
        </p:spPr>
        <p:txBody>
          <a:bodyPr/>
          <a:p/>
        </p:txBody>
      </p:sp>
      <p:sp>
        <p:nvSpPr>
          <p:cNvPr id="13" name="Text 11"/>
          <p:cNvSpPr txBox="1"/>
          <p:nvPr/>
        </p:nvSpPr>
        <p:spPr>
          <a:xfrm>
            <a:off x="1645920" y="2295144"/>
            <a:ext cx="9875520" cy="658368"/>
          </a:xfrm>
          <a:prstGeom prst="rect">
            <a:avLst/>
          </a:prstGeom>
          <a:noFill/>
          <a:ln/>
        </p:spPr>
        <p:txBody>
          <a:bodyPr wrap="square" lIns="0" tIns="0" rIns="0" bIns="0" rtlCol="0" anchor="ctr"/>
          <a:lstStyle/>
          <a:p>
            <a:pPr indent="0" marL="0">
              <a:buNone/>
            </a:pPr>
            <a:r>
              <a:rPr lang="en-US" sz="1700" b="1" dirty="0">
                <a:solidFill>
                  <a:srgbClr val="36454F"/>
                </a:solidFill>
                <a:latin typeface="Cambria" pitchFamily="34" charset="0"/>
                <a:ea typeface="Cambria" pitchFamily="34" charset="-122"/>
                <a:cs typeface="Cambria" pitchFamily="34" charset="-120"/>
              </a:rPr>
              <a:t>Variables &amp; input   </a:t>
            </a:r>
            <a:r>
              <a:rPr lang="en-US" sz="1500" dirty="0">
                <a:solidFill>
                  <a:srgbClr val="3A464C"/>
                </a:solidFill>
                <a:latin typeface="Calibri" pitchFamily="34" charset="0"/>
                <a:ea typeface="Calibri" pitchFamily="34" charset="-122"/>
                <a:cs typeface="Calibri" pitchFamily="34" charset="-120"/>
              </a:rPr>
              <a:t>name=value, quoting, $( ), $(( )), $1 $# $@, read.</a:t>
            </a:r>
            <a:endParaRPr lang="en-US" sz="1400" dirty="0"/>
          </a:p>
        </p:txBody>
      </p:sp>
      <p:sp>
        <p:nvSpPr>
          <p:cNvPr id="14" name="Shape 12"/>
          <p:cNvSpPr/>
          <p:nvPr/>
        </p:nvSpPr>
        <p:spPr>
          <a:xfrm>
            <a:off x="548640" y="3081528"/>
            <a:ext cx="658368" cy="658368"/>
          </a:xfrm>
          <a:prstGeom prst="roundRect">
            <a:avLst>
              <a:gd name="adj" fmla="val 6944"/>
            </a:avLst>
          </a:prstGeom>
          <a:solidFill>
            <a:srgbClr val="02C39A"/>
          </a:solidFill>
          <a:ln/>
        </p:spPr>
        <p:txBody>
          <a:bodyPr/>
          <a:p/>
        </p:txBody>
      </p:sp>
      <p:sp>
        <p:nvSpPr>
          <p:cNvPr id="15" name="Text 13"/>
          <p:cNvSpPr txBox="1"/>
          <p:nvPr/>
        </p:nvSpPr>
        <p:spPr>
          <a:xfrm>
            <a:off x="548640" y="3081528"/>
            <a:ext cx="658368" cy="658368"/>
          </a:xfrm>
          <a:prstGeom prst="rect">
            <a:avLst/>
          </a:prstGeom>
          <a:noFill/>
          <a:ln/>
        </p:spPr>
        <p:txBody>
          <a:bodyPr wrap="square" lIns="38100" tIns="38100" rIns="38100" bIns="38100" rtlCol="0" anchor="ctr"/>
          <a:lstStyle/>
          <a:p>
            <a:pPr algn="ctr" indent="0" marL="0">
              <a:buNone/>
            </a:pPr>
            <a:r>
              <a:rPr lang="en-US" sz="2000" b="1" dirty="0">
                <a:solidFill>
                  <a:srgbClr val="36454F"/>
                </a:solidFill>
                <a:latin typeface="Cambria" pitchFamily="34" charset="0"/>
                <a:ea typeface="Cambria" pitchFamily="34" charset="-122"/>
                <a:cs typeface="Cambria" pitchFamily="34" charset="-120"/>
              </a:rPr>
              <a:t>3</a:t>
            </a:r>
            <a:endParaRPr lang="en-US" sz="2000" dirty="0"/>
          </a:p>
        </p:txBody>
      </p:sp>
      <p:sp>
        <p:nvSpPr>
          <p:cNvPr id="16" name="Shape 14"/>
          <p:cNvSpPr/>
          <p:nvPr/>
        </p:nvSpPr>
        <p:spPr>
          <a:xfrm>
            <a:off x="1371600" y="3081528"/>
            <a:ext cx="10287000" cy="658368"/>
          </a:xfrm>
          <a:prstGeom prst="roundRect">
            <a:avLst>
              <a:gd name="adj" fmla="val 6944"/>
            </a:avLst>
          </a:prstGeom>
          <a:solidFill>
            <a:srgbClr val="F2F2F2"/>
          </a:solidFill>
          <a:ln/>
        </p:spPr>
        <p:txBody>
          <a:bodyPr/>
          <a:p/>
        </p:txBody>
      </p:sp>
      <p:sp>
        <p:nvSpPr>
          <p:cNvPr id="17" name="Text 15"/>
          <p:cNvSpPr txBox="1"/>
          <p:nvPr/>
        </p:nvSpPr>
        <p:spPr>
          <a:xfrm>
            <a:off x="1645920" y="3081528"/>
            <a:ext cx="9875520" cy="658368"/>
          </a:xfrm>
          <a:prstGeom prst="rect">
            <a:avLst/>
          </a:prstGeom>
          <a:noFill/>
          <a:ln/>
        </p:spPr>
        <p:txBody>
          <a:bodyPr wrap="square" lIns="0" tIns="0" rIns="0" bIns="0" rtlCol="0" anchor="ctr"/>
          <a:lstStyle/>
          <a:p>
            <a:pPr indent="0" marL="0">
              <a:buNone/>
            </a:pPr>
            <a:r>
              <a:rPr lang="en-US" sz="1700" b="1" dirty="0">
                <a:solidFill>
                  <a:srgbClr val="36454F"/>
                </a:solidFill>
                <a:latin typeface="Cambria" pitchFamily="34" charset="0"/>
                <a:ea typeface="Cambria" pitchFamily="34" charset="-122"/>
                <a:cs typeface="Cambria" pitchFamily="34" charset="-120"/>
              </a:rPr>
              <a:t>Decisions   </a:t>
            </a:r>
            <a:r>
              <a:rPr lang="en-US" sz="1500" dirty="0">
                <a:solidFill>
                  <a:srgbClr val="3A464C"/>
                </a:solidFill>
                <a:latin typeface="Calibri" pitchFamily="34" charset="0"/>
                <a:ea typeface="Calibri" pitchFamily="34" charset="-122"/>
                <a:cs typeface="Calibri" pitchFamily="34" charset="-120"/>
              </a:rPr>
              <a:t>Exit status $?, test and [ ], if / elif / else, debugging with bash -x.</a:t>
            </a:r>
            <a:endParaRPr lang="en-US" sz="1400" dirty="0"/>
          </a:p>
        </p:txBody>
      </p:sp>
      <p:sp>
        <p:nvSpPr>
          <p:cNvPr id="18" name="Shape 16"/>
          <p:cNvSpPr/>
          <p:nvPr/>
        </p:nvSpPr>
        <p:spPr>
          <a:xfrm>
            <a:off x="548640" y="3867912"/>
            <a:ext cx="658368" cy="658368"/>
          </a:xfrm>
          <a:prstGeom prst="roundRect">
            <a:avLst>
              <a:gd name="adj" fmla="val 6944"/>
            </a:avLst>
          </a:prstGeom>
          <a:solidFill>
            <a:srgbClr val="02C39A"/>
          </a:solidFill>
          <a:ln/>
        </p:spPr>
        <p:txBody>
          <a:bodyPr/>
          <a:p/>
        </p:txBody>
      </p:sp>
      <p:sp>
        <p:nvSpPr>
          <p:cNvPr id="19" name="Text 17"/>
          <p:cNvSpPr txBox="1"/>
          <p:nvPr/>
        </p:nvSpPr>
        <p:spPr>
          <a:xfrm>
            <a:off x="548640" y="3867912"/>
            <a:ext cx="658368" cy="658368"/>
          </a:xfrm>
          <a:prstGeom prst="rect">
            <a:avLst/>
          </a:prstGeom>
          <a:noFill/>
          <a:ln/>
        </p:spPr>
        <p:txBody>
          <a:bodyPr wrap="square" lIns="38100" tIns="38100" rIns="38100" bIns="38100" rtlCol="0" anchor="ctr"/>
          <a:lstStyle/>
          <a:p>
            <a:pPr algn="ctr" indent="0" marL="0">
              <a:buNone/>
            </a:pPr>
            <a:r>
              <a:rPr lang="en-US" sz="2000" b="1" dirty="0">
                <a:solidFill>
                  <a:srgbClr val="36454F"/>
                </a:solidFill>
                <a:latin typeface="Cambria" pitchFamily="34" charset="0"/>
                <a:ea typeface="Cambria" pitchFamily="34" charset="-122"/>
                <a:cs typeface="Cambria" pitchFamily="34" charset="-120"/>
              </a:rPr>
              <a:t>4</a:t>
            </a:r>
            <a:endParaRPr lang="en-US" sz="2000" dirty="0"/>
          </a:p>
        </p:txBody>
      </p:sp>
      <p:sp>
        <p:nvSpPr>
          <p:cNvPr id="20" name="Shape 18"/>
          <p:cNvSpPr/>
          <p:nvPr/>
        </p:nvSpPr>
        <p:spPr>
          <a:xfrm>
            <a:off x="1371600" y="3867912"/>
            <a:ext cx="10287000" cy="658368"/>
          </a:xfrm>
          <a:prstGeom prst="roundRect">
            <a:avLst>
              <a:gd name="adj" fmla="val 6944"/>
            </a:avLst>
          </a:prstGeom>
          <a:solidFill>
            <a:srgbClr val="F2F2F2"/>
          </a:solidFill>
          <a:ln/>
        </p:spPr>
        <p:txBody>
          <a:bodyPr/>
          <a:p/>
        </p:txBody>
      </p:sp>
      <p:sp>
        <p:nvSpPr>
          <p:cNvPr id="21" name="Text 19"/>
          <p:cNvSpPr txBox="1"/>
          <p:nvPr/>
        </p:nvSpPr>
        <p:spPr>
          <a:xfrm>
            <a:off x="1645920" y="3867912"/>
            <a:ext cx="9875520" cy="658368"/>
          </a:xfrm>
          <a:prstGeom prst="rect">
            <a:avLst/>
          </a:prstGeom>
          <a:noFill/>
          <a:ln/>
        </p:spPr>
        <p:txBody>
          <a:bodyPr wrap="square" lIns="0" tIns="0" rIns="0" bIns="0" rtlCol="0" anchor="ctr"/>
          <a:lstStyle/>
          <a:p>
            <a:pPr indent="0" marL="0">
              <a:buNone/>
            </a:pPr>
            <a:r>
              <a:rPr lang="en-US" sz="1700" b="1" dirty="0">
                <a:solidFill>
                  <a:srgbClr val="36454F"/>
                </a:solidFill>
                <a:latin typeface="Cambria" pitchFamily="34" charset="0"/>
                <a:ea typeface="Cambria" pitchFamily="34" charset="-122"/>
                <a:cs typeface="Cambria" pitchFamily="34" charset="-120"/>
              </a:rPr>
              <a:t>Loops &amp; functions   </a:t>
            </a:r>
            <a:r>
              <a:rPr lang="en-US" sz="1500" dirty="0">
                <a:solidFill>
                  <a:srgbClr val="3A464C"/>
                </a:solidFill>
                <a:latin typeface="Calibri" pitchFamily="34" charset="0"/>
                <a:ea typeface="Calibri" pitchFamily="34" charset="-122"/>
                <a:cs typeface="Calibri" pitchFamily="34" charset="-120"/>
              </a:rPr>
              <a:t>for (lists, {1..5}, files), while, functions.</a:t>
            </a:r>
            <a:endParaRPr lang="en-US" sz="1400" dirty="0"/>
          </a:p>
        </p:txBody>
      </p:sp>
      <p:sp>
        <p:nvSpPr>
          <p:cNvPr id="22" name="Shape 20"/>
          <p:cNvSpPr/>
          <p:nvPr/>
        </p:nvSpPr>
        <p:spPr>
          <a:xfrm>
            <a:off x="548640" y="4654296"/>
            <a:ext cx="658368" cy="658368"/>
          </a:xfrm>
          <a:prstGeom prst="roundRect">
            <a:avLst>
              <a:gd name="adj" fmla="val 6944"/>
            </a:avLst>
          </a:prstGeom>
          <a:solidFill>
            <a:srgbClr val="02C39A"/>
          </a:solidFill>
          <a:ln/>
        </p:spPr>
        <p:txBody>
          <a:bodyPr/>
          <a:p/>
        </p:txBody>
      </p:sp>
      <p:sp>
        <p:nvSpPr>
          <p:cNvPr id="23" name="Text 21"/>
          <p:cNvSpPr txBox="1"/>
          <p:nvPr/>
        </p:nvSpPr>
        <p:spPr>
          <a:xfrm>
            <a:off x="548640" y="4654296"/>
            <a:ext cx="658368" cy="658368"/>
          </a:xfrm>
          <a:prstGeom prst="rect">
            <a:avLst/>
          </a:prstGeom>
          <a:noFill/>
          <a:ln/>
        </p:spPr>
        <p:txBody>
          <a:bodyPr wrap="square" lIns="38100" tIns="38100" rIns="38100" bIns="38100" rtlCol="0" anchor="ctr"/>
          <a:lstStyle/>
          <a:p>
            <a:pPr algn="ctr" indent="0" marL="0">
              <a:buNone/>
            </a:pPr>
            <a:r>
              <a:rPr lang="en-US" sz="2000" b="1" dirty="0">
                <a:solidFill>
                  <a:srgbClr val="36454F"/>
                </a:solidFill>
                <a:latin typeface="Cambria" pitchFamily="34" charset="0"/>
                <a:ea typeface="Cambria" pitchFamily="34" charset="-122"/>
                <a:cs typeface="Cambria" pitchFamily="34" charset="-120"/>
              </a:rPr>
              <a:t>5</a:t>
            </a:r>
            <a:endParaRPr lang="en-US" sz="2000" dirty="0"/>
          </a:p>
        </p:txBody>
      </p:sp>
      <p:sp>
        <p:nvSpPr>
          <p:cNvPr id="24" name="Shape 22"/>
          <p:cNvSpPr/>
          <p:nvPr/>
        </p:nvSpPr>
        <p:spPr>
          <a:xfrm>
            <a:off x="1371600" y="4654296"/>
            <a:ext cx="10287000" cy="658368"/>
          </a:xfrm>
          <a:prstGeom prst="roundRect">
            <a:avLst>
              <a:gd name="adj" fmla="val 6944"/>
            </a:avLst>
          </a:prstGeom>
          <a:solidFill>
            <a:srgbClr val="F2F2F2"/>
          </a:solidFill>
          <a:ln/>
        </p:spPr>
        <p:txBody>
          <a:bodyPr/>
          <a:p/>
        </p:txBody>
      </p:sp>
      <p:sp>
        <p:nvSpPr>
          <p:cNvPr id="25" name="Text 23"/>
          <p:cNvSpPr txBox="1"/>
          <p:nvPr/>
        </p:nvSpPr>
        <p:spPr>
          <a:xfrm>
            <a:off x="1645920" y="4654296"/>
            <a:ext cx="9875520" cy="658368"/>
          </a:xfrm>
          <a:prstGeom prst="rect">
            <a:avLst/>
          </a:prstGeom>
          <a:noFill/>
          <a:ln/>
        </p:spPr>
        <p:txBody>
          <a:bodyPr wrap="square" lIns="0" tIns="0" rIns="0" bIns="0" rtlCol="0" anchor="ctr"/>
          <a:lstStyle/>
          <a:p>
            <a:pPr indent="0" marL="0">
              <a:buNone/>
            </a:pPr>
            <a:r>
              <a:rPr lang="en-US" sz="1700" b="1" dirty="0">
                <a:solidFill>
                  <a:srgbClr val="36454F"/>
                </a:solidFill>
                <a:latin typeface="Cambria" pitchFamily="34" charset="0"/>
                <a:ea typeface="Cambria" pitchFamily="34" charset="-122"/>
                <a:cs typeface="Cambria" pitchFamily="34" charset="-120"/>
              </a:rPr>
              <a:t>Two real scripts   </a:t>
            </a:r>
            <a:r>
              <a:rPr lang="en-US" sz="1500" dirty="0">
                <a:solidFill>
                  <a:srgbClr val="3A464C"/>
                </a:solidFill>
                <a:latin typeface="Calibri" pitchFamily="34" charset="0"/>
                <a:ea typeface="Calibri" pitchFamily="34" charset="-122"/>
                <a:cs typeface="Calibri" pitchFamily="34" charset="-120"/>
              </a:rPr>
              <a:t>backup.sh (timestamped tar.gz) and report.sh (log and grade summary).</a:t>
            </a:r>
            <a:endParaRPr lang="en-US" sz="1400" dirty="0"/>
          </a:p>
        </p:txBody>
      </p:sp>
      <p:sp>
        <p:nvSpPr>
          <p:cNvPr id="26" name="Shape 24"/>
          <p:cNvSpPr/>
          <p:nvPr/>
        </p:nvSpPr>
        <p:spPr>
          <a:xfrm>
            <a:off x="548640" y="5440680"/>
            <a:ext cx="658368" cy="658368"/>
          </a:xfrm>
          <a:prstGeom prst="roundRect">
            <a:avLst>
              <a:gd name="adj" fmla="val 6944"/>
            </a:avLst>
          </a:prstGeom>
          <a:solidFill>
            <a:srgbClr val="02C39A"/>
          </a:solidFill>
          <a:ln/>
        </p:spPr>
        <p:txBody>
          <a:bodyPr/>
          <a:p/>
        </p:txBody>
      </p:sp>
      <p:sp>
        <p:nvSpPr>
          <p:cNvPr id="27" name="Text 25"/>
          <p:cNvSpPr txBox="1"/>
          <p:nvPr/>
        </p:nvSpPr>
        <p:spPr>
          <a:xfrm>
            <a:off x="548640" y="5440680"/>
            <a:ext cx="658368" cy="658368"/>
          </a:xfrm>
          <a:prstGeom prst="rect">
            <a:avLst/>
          </a:prstGeom>
          <a:noFill/>
          <a:ln/>
        </p:spPr>
        <p:txBody>
          <a:bodyPr wrap="square" lIns="38100" tIns="38100" rIns="38100" bIns="38100" rtlCol="0" anchor="ctr"/>
          <a:lstStyle/>
          <a:p>
            <a:pPr algn="ctr" indent="0" marL="0">
              <a:buNone/>
            </a:pPr>
            <a:r>
              <a:rPr lang="en-US" sz="2000" b="1" dirty="0">
                <a:solidFill>
                  <a:srgbClr val="36454F"/>
                </a:solidFill>
                <a:latin typeface="Cambria" pitchFamily="34" charset="0"/>
                <a:ea typeface="Cambria" pitchFamily="34" charset="-122"/>
                <a:cs typeface="Cambria" pitchFamily="34" charset="-120"/>
              </a:rPr>
              <a:t>6</a:t>
            </a:r>
            <a:endParaRPr lang="en-US" sz="2000" dirty="0"/>
          </a:p>
        </p:txBody>
      </p:sp>
      <p:sp>
        <p:nvSpPr>
          <p:cNvPr id="28" name="Shape 26"/>
          <p:cNvSpPr/>
          <p:nvPr/>
        </p:nvSpPr>
        <p:spPr>
          <a:xfrm>
            <a:off x="1371600" y="5440680"/>
            <a:ext cx="10287000" cy="658368"/>
          </a:xfrm>
          <a:prstGeom prst="roundRect">
            <a:avLst>
              <a:gd name="adj" fmla="val 6944"/>
            </a:avLst>
          </a:prstGeom>
          <a:solidFill>
            <a:srgbClr val="F2F2F2"/>
          </a:solidFill>
          <a:ln/>
        </p:spPr>
        <p:txBody>
          <a:bodyPr/>
          <a:p/>
        </p:txBody>
      </p:sp>
      <p:sp>
        <p:nvSpPr>
          <p:cNvPr id="29" name="Text 27"/>
          <p:cNvSpPr txBox="1"/>
          <p:nvPr/>
        </p:nvSpPr>
        <p:spPr>
          <a:xfrm>
            <a:off x="1645920" y="5440680"/>
            <a:ext cx="9875520" cy="658368"/>
          </a:xfrm>
          <a:prstGeom prst="rect">
            <a:avLst/>
          </a:prstGeom>
          <a:noFill/>
          <a:ln/>
        </p:spPr>
        <p:txBody>
          <a:bodyPr wrap="square" lIns="0" tIns="0" rIns="0" bIns="0" rtlCol="0" anchor="ctr"/>
          <a:lstStyle/>
          <a:p>
            <a:pPr indent="0" marL="0">
              <a:buNone/>
            </a:pPr>
            <a:r>
              <a:rPr lang="en-US" sz="1700" b="1" dirty="0">
                <a:solidFill>
                  <a:srgbClr val="36454F"/>
                </a:solidFill>
                <a:latin typeface="Cambria" pitchFamily="34" charset="0"/>
                <a:ea typeface="Cambria" pitchFamily="34" charset="-122"/>
                <a:cs typeface="Cambria" pitchFamily="34" charset="-120"/>
              </a:rPr>
              <a:t>Lab   </a:t>
            </a:r>
            <a:r>
              <a:rPr lang="en-US" sz="1500" dirty="0">
                <a:solidFill>
                  <a:srgbClr val="3A464C"/>
                </a:solidFill>
                <a:latin typeface="Calibri" pitchFamily="34" charset="0"/>
                <a:ea typeface="Calibri" pitchFamily="34" charset="-122"/>
                <a:cs typeface="Calibri" pitchFamily="34" charset="-120"/>
              </a:rPr>
              <a:t>Common mistakes, then you write 3–4 graded scripts.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PART 1</a:t>
            </a:r>
            <a:endParaRPr lang="en-US"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Your First Script</a:t>
            </a:r>
            <a:endParaRPr lang="en-US"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en-US" sz="1600" i="1" dirty="0">
                <a:solidFill>
                  <a:srgbClr val="F2F2F2"/>
                </a:solidFill>
                <a:latin typeface="Calibri" pitchFamily="34" charset="0"/>
                <a:ea typeface="Calibri" pitchFamily="34" charset="-122"/>
                <a:cs typeface="Calibri" pitchFamily="34" charset="-120"/>
              </a:rPr>
              <a:t>A shell script is a text file full of commands.</a:t>
            </a:r>
            <a:endParaRPr lang="en-US"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8A9AA0"/>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8A9AA0"/>
                </a:solidFill>
                <a:latin typeface="Calibri" pitchFamily="34" charset="0"/>
                <a:ea typeface="Calibri" pitchFamily="34" charset="-122"/>
                <a:cs typeface="Calibri" pitchFamily="34" charset="-120"/>
              </a:rPr>
              <a:t>Week 14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AUTOMATION</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Why Write Scripts?</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A shell script is a plain text file that contains shell commands. The shell reads it and runs the commands, one after another.</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14  ·  5</a:t>
            </a:r>
            <a:endParaRPr lang="en-US" sz="900" dirty="0"/>
          </a:p>
        </p:txBody>
      </p:sp>
      <p:sp>
        <p:nvSpPr>
          <p:cNvPr id="7" name="Shape 5"/>
          <p:cNvSpPr/>
          <p:nvPr/>
        </p:nvSpPr>
        <p:spPr>
          <a:xfrm>
            <a:off x="548640" y="2103120"/>
            <a:ext cx="5440680" cy="3154680"/>
          </a:xfrm>
          <a:prstGeom prst="roundRect">
            <a:avLst>
              <a:gd name="adj" fmla="val 173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8" name="Text 6"/>
          <p:cNvSpPr txBox="1"/>
          <p:nvPr/>
        </p:nvSpPr>
        <p:spPr>
          <a:xfrm>
            <a:off x="777240" y="2286000"/>
            <a:ext cx="4983480" cy="384048"/>
          </a:xfrm>
          <a:prstGeom prst="rect">
            <a:avLst/>
          </a:prstGeom>
          <a:noFill/>
          <a:ln/>
        </p:spPr>
        <p:txBody>
          <a:bodyPr wrap="square" lIns="0" tIns="0" rIns="0" bIns="0" rtlCol="0" anchor="ctr"/>
          <a:lstStyle/>
          <a:p>
            <a:pPr indent="0" marL="0">
              <a:buNone/>
            </a:pPr>
            <a:r>
              <a:rPr lang="en-US" sz="1500" b="1" dirty="0">
                <a:solidFill>
                  <a:srgbClr val="B5453A"/>
                </a:solidFill>
                <a:latin typeface="Cambria" pitchFamily="34" charset="0"/>
                <a:ea typeface="Cambria" pitchFamily="34" charset="-122"/>
                <a:cs typeface="Cambria" pitchFamily="34" charset="-120"/>
              </a:rPr>
              <a:t>Typing commands by hand</a:t>
            </a:r>
            <a:endParaRPr lang="en-US" sz="1500" dirty="0"/>
          </a:p>
        </p:txBody>
      </p:sp>
      <p:sp>
        <p:nvSpPr>
          <p:cNvPr id="9" name="Text 7"/>
          <p:cNvSpPr txBox="1"/>
          <p:nvPr/>
        </p:nvSpPr>
        <p:spPr>
          <a:xfrm>
            <a:off x="777240" y="2743200"/>
            <a:ext cx="4983480" cy="2377440"/>
          </a:xfrm>
          <a:prstGeom prst="rect">
            <a:avLst/>
          </a:prstGeom>
          <a:noFill/>
          <a:ln/>
        </p:spPr>
        <p:txBody>
          <a:bodyPr wrap="square" lIns="0" tIns="0" rIns="0" bIns="0" rtlCol="0" anchor="t"/>
          <a:lstStyle/>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Every morning: 6 commands to back up and check the logs.</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Easy to forget a step or mistype a path.</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Hard to explain to a colleague exactly what you did.</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Cannot run at 03:00 while you sleep.</a:t>
            </a:r>
            <a:endParaRPr lang="en-US" sz="1400" dirty="0"/>
          </a:p>
        </p:txBody>
      </p:sp>
      <p:sp>
        <p:nvSpPr>
          <p:cNvPr id="10" name="Shape 8"/>
          <p:cNvSpPr/>
          <p:nvPr/>
        </p:nvSpPr>
        <p:spPr>
          <a:xfrm>
            <a:off x="6217920" y="2103120"/>
            <a:ext cx="5440680" cy="3154680"/>
          </a:xfrm>
          <a:prstGeom prst="roundRect">
            <a:avLst>
              <a:gd name="adj" fmla="val 173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1" name="Text 9"/>
          <p:cNvSpPr txBox="1"/>
          <p:nvPr/>
        </p:nvSpPr>
        <p:spPr>
          <a:xfrm>
            <a:off x="6446520" y="2286000"/>
            <a:ext cx="498348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Putting them in a script</a:t>
            </a:r>
            <a:endParaRPr lang="en-US" sz="1500" dirty="0"/>
          </a:p>
        </p:txBody>
      </p:sp>
      <p:sp>
        <p:nvSpPr>
          <p:cNvPr id="12" name="Text 10"/>
          <p:cNvSpPr txBox="1"/>
          <p:nvPr/>
        </p:nvSpPr>
        <p:spPr>
          <a:xfrm>
            <a:off x="6446520" y="2743200"/>
            <a:ext cx="4983480" cy="2377440"/>
          </a:xfrm>
          <a:prstGeom prst="rect">
            <a:avLst/>
          </a:prstGeom>
          <a:noFill/>
          <a:ln/>
        </p:spPr>
        <p:txBody>
          <a:bodyPr wrap="square" lIns="0" tIns="0" rIns="0" bIns="0" rtlCol="0" anchor="t"/>
          <a:lstStyle/>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One command: ./backup.sh — same steps every time.</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Fix a mistake once; it stays fixed.</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The script documents the procedure (comments!).</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Can be started automatically by a scheduler (cron).</a:t>
            </a:r>
            <a:endParaRPr lang="en-US" sz="1400" dirty="0"/>
          </a:p>
        </p:txBody>
      </p:sp>
      <p:sp>
        <p:nvSpPr>
          <p:cNvPr id="13" name="Shape 11"/>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14" name="Text 12"/>
          <p:cNvSpPr txBox="1"/>
          <p:nvPr/>
        </p:nvSpPr>
        <p:spPr>
          <a:xfrm>
            <a:off x="777240" y="5486400"/>
            <a:ext cx="10652760" cy="77724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Rule of thumb: if you type the same sequence of commands a third time, write a script. System administrators, DevOps and embedded-Linux engineers do this every day.</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UNDER THE HOOD</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What Happens When You Type ./hello.sh?</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14  ·  6</a:t>
            </a:r>
            <a:endParaRPr lang="en-US" sz="900" dirty="0"/>
          </a:p>
        </p:txBody>
      </p:sp>
      <p:sp>
        <p:nvSpPr>
          <p:cNvPr id="6" name="Shape 4"/>
          <p:cNvSpPr/>
          <p:nvPr/>
        </p:nvSpPr>
        <p:spPr>
          <a:xfrm>
            <a:off x="548640" y="1691640"/>
            <a:ext cx="2240280" cy="960120"/>
          </a:xfrm>
          <a:prstGeom prst="roundRect">
            <a:avLst>
              <a:gd name="adj" fmla="val 4762"/>
            </a:avLst>
          </a:prstGeom>
          <a:solidFill>
            <a:srgbClr val="36454F"/>
          </a:solidFill>
          <a:ln/>
        </p:spPr>
        <p:txBody>
          <a:bodyPr/>
          <a:p/>
        </p:txBody>
      </p:sp>
      <p:sp>
        <p:nvSpPr>
          <p:cNvPr id="7" name="Text 5"/>
          <p:cNvSpPr txBox="1"/>
          <p:nvPr/>
        </p:nvSpPr>
        <p:spPr>
          <a:xfrm>
            <a:off x="548640" y="1691640"/>
            <a:ext cx="2240280" cy="960120"/>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Your shell (bash)</a:t>
            </a:r>
            <a:endParaRPr lang="en-US" sz="1400" dirty="0"/>
          </a:p>
          <a:p>
            <a:pPr algn="ctr" indent="0" marL="0">
              <a:buNone/>
            </a:pPr>
            <a:r>
              <a:rPr lang="en-US" sz="1100" dirty="0">
                <a:solidFill>
                  <a:srgbClr val="FFFFFF"/>
                </a:solidFill>
                <a:latin typeface="Calibri" pitchFamily="34" charset="0"/>
                <a:ea typeface="Calibri" pitchFamily="34" charset="-122"/>
                <a:cs typeface="Calibri" pitchFamily="34" charset="-120"/>
              </a:rPr>
              <a:t>reads the command line</a:t>
            </a:r>
            <a:endParaRPr lang="en-US" sz="1400" dirty="0"/>
          </a:p>
        </p:txBody>
      </p:sp>
      <p:sp>
        <p:nvSpPr>
          <p:cNvPr id="8" name="Shape 6"/>
          <p:cNvSpPr/>
          <p:nvPr/>
        </p:nvSpPr>
        <p:spPr>
          <a:xfrm>
            <a:off x="3291840" y="1691640"/>
            <a:ext cx="2240280" cy="960120"/>
          </a:xfrm>
          <a:prstGeom prst="roundRect">
            <a:avLst>
              <a:gd name="adj" fmla="val 4762"/>
            </a:avLst>
          </a:prstGeom>
          <a:solidFill>
            <a:srgbClr val="F2F2F2"/>
          </a:solidFill>
          <a:ln/>
        </p:spPr>
        <p:txBody>
          <a:bodyPr/>
          <a:p/>
        </p:txBody>
      </p:sp>
      <p:sp>
        <p:nvSpPr>
          <p:cNvPr id="9" name="Text 7"/>
          <p:cNvSpPr txBox="1"/>
          <p:nvPr/>
        </p:nvSpPr>
        <p:spPr>
          <a:xfrm>
            <a:off x="3291840" y="1691640"/>
            <a:ext cx="2240280" cy="960120"/>
          </a:xfrm>
          <a:prstGeom prst="rect">
            <a:avLst/>
          </a:prstGeom>
          <a:noFill/>
          <a:ln/>
        </p:spPr>
        <p:txBody>
          <a:bodyPr wrap="square" lIns="38100" tIns="38100" rIns="38100" bIns="38100" rtlCol="0" anchor="ctr"/>
          <a:lstStyle/>
          <a:p>
            <a:pPr algn="ctr" indent="0" marL="0">
              <a:buNone/>
            </a:pPr>
            <a:r>
              <a:rPr lang="en-US" sz="1500" b="1" dirty="0">
                <a:solidFill>
                  <a:srgbClr val="36454F"/>
                </a:solidFill>
                <a:latin typeface="Consolas" pitchFamily="34" charset="0"/>
                <a:ea typeface="Consolas" pitchFamily="34" charset="-122"/>
                <a:cs typeface="Consolas" pitchFamily="34" charset="-120"/>
              </a:rPr>
              <a:t>fork()</a:t>
            </a:r>
            <a:endParaRPr lang="en-US" sz="1500" dirty="0"/>
          </a:p>
          <a:p>
            <a:pPr algn="ctr" indent="0" marL="0">
              <a:buNone/>
            </a:pPr>
            <a:r>
              <a:rPr lang="en-US" sz="1100" dirty="0">
                <a:solidFill>
                  <a:srgbClr val="36454F"/>
                </a:solidFill>
                <a:latin typeface="Calibri" pitchFamily="34" charset="0"/>
                <a:ea typeface="Calibri" pitchFamily="34" charset="-122"/>
                <a:cs typeface="Calibri" pitchFamily="34" charset="-120"/>
              </a:rPr>
              <a:t>creates a child process (Week 3, 13)</a:t>
            </a:r>
            <a:endParaRPr lang="en-US" sz="1500" dirty="0"/>
          </a:p>
        </p:txBody>
      </p:sp>
      <p:sp>
        <p:nvSpPr>
          <p:cNvPr id="10" name="Shape 8"/>
          <p:cNvSpPr/>
          <p:nvPr/>
        </p:nvSpPr>
        <p:spPr>
          <a:xfrm>
            <a:off x="6035040" y="1691640"/>
            <a:ext cx="2240280" cy="960120"/>
          </a:xfrm>
          <a:prstGeom prst="roundRect">
            <a:avLst>
              <a:gd name="adj" fmla="val 4762"/>
            </a:avLst>
          </a:prstGeom>
          <a:solidFill>
            <a:srgbClr val="F2F2F2"/>
          </a:solidFill>
          <a:ln/>
        </p:spPr>
        <p:txBody>
          <a:bodyPr/>
          <a:p/>
        </p:txBody>
      </p:sp>
      <p:sp>
        <p:nvSpPr>
          <p:cNvPr id="11" name="Text 9"/>
          <p:cNvSpPr txBox="1"/>
          <p:nvPr/>
        </p:nvSpPr>
        <p:spPr>
          <a:xfrm>
            <a:off x="6035040" y="1691640"/>
            <a:ext cx="2240280" cy="960120"/>
          </a:xfrm>
          <a:prstGeom prst="rect">
            <a:avLst/>
          </a:prstGeom>
          <a:noFill/>
          <a:ln/>
        </p:spPr>
        <p:txBody>
          <a:bodyPr wrap="square" lIns="38100" tIns="38100" rIns="38100" bIns="38100" rtlCol="0" anchor="ctr"/>
          <a:lstStyle/>
          <a:p>
            <a:pPr algn="ctr" indent="0" marL="0">
              <a:buNone/>
            </a:pPr>
            <a:r>
              <a:rPr lang="en-US" sz="1300" b="1" dirty="0">
                <a:solidFill>
                  <a:srgbClr val="36454F"/>
                </a:solidFill>
                <a:latin typeface="Consolas" pitchFamily="34" charset="0"/>
                <a:ea typeface="Consolas" pitchFamily="34" charset="-122"/>
                <a:cs typeface="Consolas" pitchFamily="34" charset="-120"/>
              </a:rPr>
              <a:t>exec("./hello.sh")</a:t>
            </a:r>
            <a:endParaRPr lang="en-US" sz="1300" dirty="0"/>
          </a:p>
          <a:p>
            <a:pPr algn="ctr" indent="0" marL="0">
              <a:buNone/>
            </a:pPr>
            <a:r>
              <a:rPr lang="en-US" sz="1100" dirty="0">
                <a:solidFill>
                  <a:srgbClr val="36454F"/>
                </a:solidFill>
                <a:latin typeface="Calibri" pitchFamily="34" charset="0"/>
                <a:ea typeface="Calibri" pitchFamily="34" charset="-122"/>
                <a:cs typeface="Calibri" pitchFamily="34" charset="-120"/>
              </a:rPr>
              <a:t>kernel checks the x bit (Week 11)</a:t>
            </a:r>
            <a:endParaRPr lang="en-US" sz="1300" dirty="0"/>
          </a:p>
        </p:txBody>
      </p:sp>
      <p:sp>
        <p:nvSpPr>
          <p:cNvPr id="12" name="Shape 10"/>
          <p:cNvSpPr/>
          <p:nvPr/>
        </p:nvSpPr>
        <p:spPr>
          <a:xfrm>
            <a:off x="8778240" y="1691640"/>
            <a:ext cx="2240280" cy="960120"/>
          </a:xfrm>
          <a:prstGeom prst="roundRect">
            <a:avLst>
              <a:gd name="adj" fmla="val 4762"/>
            </a:avLst>
          </a:prstGeom>
          <a:solidFill>
            <a:srgbClr val="02C39A"/>
          </a:solidFill>
          <a:ln/>
        </p:spPr>
        <p:txBody>
          <a:bodyPr/>
          <a:p/>
        </p:txBody>
      </p:sp>
      <p:sp>
        <p:nvSpPr>
          <p:cNvPr id="13" name="Text 11"/>
          <p:cNvSpPr txBox="1"/>
          <p:nvPr/>
        </p:nvSpPr>
        <p:spPr>
          <a:xfrm>
            <a:off x="8778240" y="1691640"/>
            <a:ext cx="2240280" cy="960120"/>
          </a:xfrm>
          <a:prstGeom prst="rect">
            <a:avLst/>
          </a:prstGeom>
          <a:noFill/>
          <a:ln/>
        </p:spPr>
        <p:txBody>
          <a:bodyPr wrap="square" lIns="38100" tIns="38100" rIns="38100" bIns="38100" rtlCol="0" anchor="ctr"/>
          <a:lstStyle/>
          <a:p>
            <a:pPr algn="ctr" indent="0" marL="0">
              <a:buNone/>
            </a:pPr>
            <a:r>
              <a:rPr lang="en-US" sz="1500" b="1" dirty="0">
                <a:solidFill>
                  <a:srgbClr val="212121"/>
                </a:solidFill>
                <a:latin typeface="Consolas" pitchFamily="34" charset="0"/>
                <a:ea typeface="Consolas" pitchFamily="34" charset="-122"/>
                <a:cs typeface="Consolas" pitchFamily="34" charset="-120"/>
              </a:rPr>
              <a:t>#!/bin/bash</a:t>
            </a:r>
            <a:endParaRPr lang="en-US" sz="1500" dirty="0"/>
          </a:p>
          <a:p>
            <a:pPr algn="ctr" indent="0" marL="0">
              <a:buNone/>
            </a:pPr>
            <a:r>
              <a:rPr lang="en-US" sz="1100" dirty="0">
                <a:solidFill>
                  <a:srgbClr val="212121"/>
                </a:solidFill>
                <a:latin typeface="Calibri" pitchFamily="34" charset="0"/>
                <a:ea typeface="Calibri" pitchFamily="34" charset="-122"/>
                <a:cs typeface="Calibri" pitchFamily="34" charset="-120"/>
              </a:rPr>
              <a:t>kernel reads the first line</a:t>
            </a:r>
            <a:endParaRPr lang="en-US" sz="1500" dirty="0"/>
          </a:p>
        </p:txBody>
      </p:sp>
      <p:sp>
        <p:nvSpPr>
          <p:cNvPr id="14" name="Shape 12"/>
          <p:cNvSpPr/>
          <p:nvPr/>
        </p:nvSpPr>
        <p:spPr>
          <a:xfrm>
            <a:off x="2825496" y="2171700"/>
            <a:ext cx="429768" cy="91"/>
          </a:xfrm>
          <a:prstGeom prst="line">
            <a:avLst/>
          </a:prstGeom>
          <a:noFill/>
          <a:ln w="25400">
            <a:solidFill>
              <a:srgbClr val="028090"/>
            </a:solidFill>
            <a:prstDash val="solid"/>
            <a:tailEnd type="triangle"/>
          </a:ln>
        </p:spPr>
        <p:txBody>
          <a:bodyPr/>
          <a:p/>
        </p:txBody>
      </p:sp>
      <p:sp>
        <p:nvSpPr>
          <p:cNvPr id="15" name="Shape 13"/>
          <p:cNvSpPr/>
          <p:nvPr/>
        </p:nvSpPr>
        <p:spPr>
          <a:xfrm>
            <a:off x="5568696" y="2171700"/>
            <a:ext cx="429768" cy="91"/>
          </a:xfrm>
          <a:prstGeom prst="line">
            <a:avLst/>
          </a:prstGeom>
          <a:noFill/>
          <a:ln w="25400">
            <a:solidFill>
              <a:srgbClr val="028090"/>
            </a:solidFill>
            <a:prstDash val="solid"/>
            <a:tailEnd type="triangle"/>
          </a:ln>
        </p:spPr>
        <p:txBody>
          <a:bodyPr/>
          <a:p/>
        </p:txBody>
      </p:sp>
      <p:sp>
        <p:nvSpPr>
          <p:cNvPr id="16" name="Shape 14"/>
          <p:cNvSpPr/>
          <p:nvPr/>
        </p:nvSpPr>
        <p:spPr>
          <a:xfrm>
            <a:off x="8311896" y="2171700"/>
            <a:ext cx="429768" cy="91"/>
          </a:xfrm>
          <a:prstGeom prst="line">
            <a:avLst/>
          </a:prstGeom>
          <a:noFill/>
          <a:ln w="25400">
            <a:solidFill>
              <a:srgbClr val="028090"/>
            </a:solidFill>
            <a:prstDash val="solid"/>
            <a:tailEnd type="triangle"/>
          </a:ln>
        </p:spPr>
        <p:txBody>
          <a:bodyPr/>
          <a:p/>
        </p:txBody>
      </p:sp>
      <p:sp>
        <p:nvSpPr>
          <p:cNvPr id="17" name="Shape 15"/>
          <p:cNvSpPr/>
          <p:nvPr/>
        </p:nvSpPr>
        <p:spPr>
          <a:xfrm>
            <a:off x="9898380" y="2697480"/>
            <a:ext cx="91" cy="594360"/>
          </a:xfrm>
          <a:prstGeom prst="line">
            <a:avLst/>
          </a:prstGeom>
          <a:noFill/>
          <a:ln w="25400">
            <a:solidFill>
              <a:srgbClr val="028090"/>
            </a:solidFill>
            <a:prstDash val="solid"/>
            <a:tailEnd type="triangle"/>
          </a:ln>
        </p:spPr>
        <p:txBody>
          <a:bodyPr/>
          <a:p/>
        </p:txBody>
      </p:sp>
      <p:sp>
        <p:nvSpPr>
          <p:cNvPr id="18" name="Shape 16"/>
          <p:cNvSpPr/>
          <p:nvPr/>
        </p:nvSpPr>
        <p:spPr>
          <a:xfrm>
            <a:off x="6035040" y="3337560"/>
            <a:ext cx="4983480" cy="868680"/>
          </a:xfrm>
          <a:prstGeom prst="roundRect">
            <a:avLst>
              <a:gd name="adj" fmla="val 5263"/>
            </a:avLst>
          </a:prstGeom>
          <a:solidFill>
            <a:srgbClr val="36454F"/>
          </a:solidFill>
          <a:ln/>
        </p:spPr>
        <p:txBody>
          <a:bodyPr/>
          <a:p/>
        </p:txBody>
      </p:sp>
      <p:sp>
        <p:nvSpPr>
          <p:cNvPr id="19" name="Text 17"/>
          <p:cNvSpPr txBox="1"/>
          <p:nvPr/>
        </p:nvSpPr>
        <p:spPr>
          <a:xfrm>
            <a:off x="6035040" y="3337560"/>
            <a:ext cx="4983480" cy="868680"/>
          </a:xfrm>
          <a:prstGeom prst="rect">
            <a:avLst/>
          </a:prstGeom>
          <a:noFill/>
          <a:ln/>
        </p:spPr>
        <p:txBody>
          <a:bodyPr wrap="square" lIns="38100" tIns="38100" rIns="38100" bIns="38100" rtlCol="0" anchor="ctr"/>
          <a:lstStyle/>
          <a:p>
            <a:pPr algn="ctr" indent="0" marL="0">
              <a:buNone/>
            </a:pPr>
            <a:r>
              <a:rPr lang="en-US" sz="1500" b="1" dirty="0">
                <a:solidFill>
                  <a:srgbClr val="FFFFFF"/>
                </a:solidFill>
                <a:latin typeface="Consolas" pitchFamily="34" charset="0"/>
                <a:ea typeface="Consolas" pitchFamily="34" charset="-122"/>
                <a:cs typeface="Consolas" pitchFamily="34" charset="-120"/>
              </a:rPr>
              <a:t>/bin/bash ./hello.sh</a:t>
            </a:r>
            <a:endParaRPr lang="en-US" sz="1500" dirty="0"/>
          </a:p>
          <a:p>
            <a:pPr algn="ctr" indent="0" marL="0">
              <a:buNone/>
            </a:pPr>
            <a:r>
              <a:rPr lang="en-US" sz="1100" dirty="0">
                <a:solidFill>
                  <a:srgbClr val="FFFFFF"/>
                </a:solidFill>
                <a:latin typeface="Calibri" pitchFamily="34" charset="0"/>
                <a:ea typeface="Calibri" pitchFamily="34" charset="-122"/>
                <a:cs typeface="Calibri" pitchFamily="34" charset="-120"/>
              </a:rPr>
              <a:t>a NEW bash process runs the file line by line</a:t>
            </a:r>
            <a:endParaRPr lang="en-US" sz="1500" dirty="0"/>
          </a:p>
        </p:txBody>
      </p:sp>
      <p:sp>
        <p:nvSpPr>
          <p:cNvPr id="20" name="Shape 18"/>
          <p:cNvSpPr/>
          <p:nvPr/>
        </p:nvSpPr>
        <p:spPr>
          <a:xfrm flipH="1">
            <a:off x="2825496" y="3767328"/>
            <a:ext cx="3172968" cy="91"/>
          </a:xfrm>
          <a:prstGeom prst="line">
            <a:avLst/>
          </a:prstGeom>
          <a:noFill/>
          <a:ln w="25400">
            <a:solidFill>
              <a:srgbClr val="50808E"/>
            </a:solidFill>
            <a:prstDash val="solid"/>
            <a:tailEnd type="triangle"/>
          </a:ln>
        </p:spPr>
        <p:txBody>
          <a:bodyPr/>
          <a:p/>
        </p:txBody>
      </p:sp>
      <p:sp>
        <p:nvSpPr>
          <p:cNvPr id="21" name="Text 19"/>
          <p:cNvSpPr txBox="1"/>
          <p:nvPr/>
        </p:nvSpPr>
        <p:spPr>
          <a:xfrm>
            <a:off x="2898648" y="3319272"/>
            <a:ext cx="3017520" cy="411480"/>
          </a:xfrm>
          <a:prstGeom prst="rect">
            <a:avLst/>
          </a:prstGeom>
          <a:noFill/>
          <a:ln/>
        </p:spPr>
        <p:txBody>
          <a:bodyPr wrap="square" lIns="0" tIns="0" rIns="0" bIns="0" rtlCol="0" anchor="t"/>
          <a:lstStyle/>
          <a:p>
            <a:pPr indent="0" marL="0">
              <a:buNone/>
            </a:pPr>
            <a:r>
              <a:rPr lang="en-US" sz="1150" i="1" dirty="0">
                <a:solidFill>
                  <a:srgbClr val="6B7679"/>
                </a:solidFill>
                <a:latin typeface="Calibri" pitchFamily="34" charset="0"/>
                <a:ea typeface="Calibri" pitchFamily="34" charset="-122"/>
                <a:cs typeface="Calibri" pitchFamily="34" charset="-120"/>
              </a:rPr>
              <a:t>script ends: its exit status goes back to the parent shell ($?)</a:t>
            </a:r>
            <a:endParaRPr lang="en-US" sz="1150" dirty="0"/>
          </a:p>
        </p:txBody>
      </p:sp>
      <p:sp>
        <p:nvSpPr>
          <p:cNvPr id="22" name="Shape 20"/>
          <p:cNvSpPr/>
          <p:nvPr/>
        </p:nvSpPr>
        <p:spPr>
          <a:xfrm>
            <a:off x="548640" y="3337560"/>
            <a:ext cx="2240280" cy="868680"/>
          </a:xfrm>
          <a:prstGeom prst="roundRect">
            <a:avLst>
              <a:gd name="adj" fmla="val 5263"/>
            </a:avLst>
          </a:prstGeom>
          <a:solidFill>
            <a:srgbClr val="F2F2F2"/>
          </a:solidFill>
          <a:ln/>
        </p:spPr>
        <p:txBody>
          <a:bodyPr/>
          <a:p/>
        </p:txBody>
      </p:sp>
      <p:sp>
        <p:nvSpPr>
          <p:cNvPr id="23" name="Text 21"/>
          <p:cNvSpPr txBox="1"/>
          <p:nvPr/>
        </p:nvSpPr>
        <p:spPr>
          <a:xfrm>
            <a:off x="548640" y="3337560"/>
            <a:ext cx="2240280" cy="868680"/>
          </a:xfrm>
          <a:prstGeom prst="rect">
            <a:avLst/>
          </a:prstGeom>
          <a:noFill/>
          <a:ln/>
        </p:spPr>
        <p:txBody>
          <a:bodyPr wrap="square" lIns="38100" tIns="38100" rIns="38100" bIns="38100" rtlCol="0" anchor="ctr"/>
          <a:lstStyle/>
          <a:p>
            <a:pPr algn="ctr" indent="0" marL="0">
              <a:buNone/>
            </a:pPr>
            <a:r>
              <a:rPr lang="en-US" sz="1400" b="1" dirty="0">
                <a:solidFill>
                  <a:srgbClr val="36454F"/>
                </a:solidFill>
                <a:latin typeface="Calibri" pitchFamily="34" charset="0"/>
                <a:ea typeface="Calibri" pitchFamily="34" charset="-122"/>
                <a:cs typeface="Calibri" pitchFamily="34" charset="-120"/>
              </a:rPr>
              <a:t>Prompt returns</a:t>
            </a:r>
            <a:endParaRPr lang="en-US" sz="1400" dirty="0"/>
          </a:p>
          <a:p>
            <a:pPr algn="ctr" indent="0" marL="0">
              <a:buNone/>
            </a:pPr>
            <a:r>
              <a:rPr lang="en-US" sz="1100" dirty="0">
                <a:solidFill>
                  <a:srgbClr val="36454F"/>
                </a:solidFill>
                <a:latin typeface="Calibri" pitchFamily="34" charset="0"/>
                <a:ea typeface="Calibri" pitchFamily="34" charset="-122"/>
                <a:cs typeface="Calibri" pitchFamily="34" charset="-120"/>
              </a:rPr>
              <a:t>the parent waited (wait())</a:t>
            </a:r>
            <a:endParaRPr lang="en-US" sz="1400" dirty="0"/>
          </a:p>
        </p:txBody>
      </p:sp>
      <p:sp>
        <p:nvSpPr>
          <p:cNvPr id="24" name="Shape 22"/>
          <p:cNvSpPr/>
          <p:nvPr/>
        </p:nvSpPr>
        <p:spPr>
          <a:xfrm>
            <a:off x="548640" y="4434840"/>
            <a:ext cx="5440680" cy="1828800"/>
          </a:xfrm>
          <a:prstGeom prst="roundRect">
            <a:avLst>
              <a:gd name="adj" fmla="val 3000"/>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25" name="Text 23"/>
          <p:cNvSpPr txBox="1"/>
          <p:nvPr/>
        </p:nvSpPr>
        <p:spPr>
          <a:xfrm>
            <a:off x="777240" y="4617720"/>
            <a:ext cx="498348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Consequences</a:t>
            </a:r>
            <a:endParaRPr lang="en-US" sz="1500" dirty="0"/>
          </a:p>
        </p:txBody>
      </p:sp>
      <p:sp>
        <p:nvSpPr>
          <p:cNvPr id="26" name="Text 24"/>
          <p:cNvSpPr txBox="1"/>
          <p:nvPr/>
        </p:nvSpPr>
        <p:spPr>
          <a:xfrm>
            <a:off x="777240" y="5074920"/>
            <a:ext cx="4983480" cy="1051560"/>
          </a:xfrm>
          <a:prstGeom prst="rect">
            <a:avLst/>
          </a:prstGeom>
          <a:noFill/>
          <a:ln/>
        </p:spPr>
        <p:txBody>
          <a:bodyPr wrap="square" lIns="0" tIns="0" rIns="0" bIns="0" rtlCol="0" anchor="t"/>
          <a:lstStyle/>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The script runs in a child process: a cd or a variable inside the script does not change your terminal.</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No x permission → exec fails → "Permission denied".</a:t>
            </a:r>
            <a:endParaRPr lang="en-US" sz="1350" dirty="0"/>
          </a:p>
        </p:txBody>
      </p:sp>
      <p:sp>
        <p:nvSpPr>
          <p:cNvPr id="27" name="Shape 25"/>
          <p:cNvSpPr/>
          <p:nvPr/>
        </p:nvSpPr>
        <p:spPr>
          <a:xfrm>
            <a:off x="6217920" y="4434840"/>
            <a:ext cx="5440680" cy="1828800"/>
          </a:xfrm>
          <a:prstGeom prst="roundRect">
            <a:avLst>
              <a:gd name="adj" fmla="val 3000"/>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28" name="Text 26"/>
          <p:cNvSpPr txBox="1"/>
          <p:nvPr/>
        </p:nvSpPr>
        <p:spPr>
          <a:xfrm>
            <a:off x="6446520" y="4617720"/>
            <a:ext cx="498348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The shebang line #!</a:t>
            </a:r>
            <a:endParaRPr lang="en-US" sz="1500" dirty="0"/>
          </a:p>
        </p:txBody>
      </p:sp>
      <p:sp>
        <p:nvSpPr>
          <p:cNvPr id="29" name="Text 27"/>
          <p:cNvSpPr txBox="1"/>
          <p:nvPr/>
        </p:nvSpPr>
        <p:spPr>
          <a:xfrm>
            <a:off x="6446520" y="5074920"/>
            <a:ext cx="4983480" cy="1051560"/>
          </a:xfrm>
          <a:prstGeom prst="rect">
            <a:avLst/>
          </a:prstGeom>
          <a:noFill/>
          <a:ln/>
        </p:spPr>
        <p:txBody>
          <a:bodyPr wrap="square" lIns="0" tIns="0" rIns="0" bIns="0" rtlCol="0" anchor="t"/>
          <a:lstStyle/>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Must be the very first line: #! + absolute path of the interpreter.</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#!/bin/bash for bash; #!/usr/bin/python3 would run Python the same way.</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FIRST SCRIPT</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Anatomy of hello.sh</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14  ·  7</a:t>
            </a:r>
            <a:endParaRPr lang="en-US" sz="900" dirty="0"/>
          </a:p>
        </p:txBody>
      </p:sp>
      <p:sp>
        <p:nvSpPr>
          <p:cNvPr id="6" name="Shape 4"/>
          <p:cNvSpPr/>
          <p:nvPr/>
        </p:nvSpPr>
        <p:spPr>
          <a:xfrm>
            <a:off x="548640" y="1508760"/>
            <a:ext cx="6766560" cy="2148840"/>
          </a:xfrm>
          <a:prstGeom prst="roundRect">
            <a:avLst>
              <a:gd name="adj" fmla="val 2128"/>
            </a:avLst>
          </a:prstGeom>
          <a:solidFill>
            <a:srgbClr val="212121"/>
          </a:solidFill>
          <a:ln/>
        </p:spPr>
        <p:txBody>
          <a:bodyPr/>
          <a:p/>
        </p:txBody>
      </p:sp>
      <p:sp>
        <p:nvSpPr>
          <p:cNvPr id="7" name="Text 5"/>
          <p:cNvSpPr txBox="1"/>
          <p:nvPr/>
        </p:nvSpPr>
        <p:spPr>
          <a:xfrm>
            <a:off x="731520" y="1618488"/>
            <a:ext cx="6400800" cy="1929384"/>
          </a:xfrm>
          <a:prstGeom prst="rect">
            <a:avLst/>
          </a:prstGeom>
          <a:noFill/>
          <a:ln/>
        </p:spPr>
        <p:txBody>
          <a:bodyPr wrap="square" lIns="0" tIns="0" rIns="0" bIns="0" rtlCol="0" anchor="t"/>
          <a:lstStyle/>
          <a:p>
            <a:pPr indent="0" marL="0">
              <a:lnSpc>
                <a:spcPct val="100000"/>
              </a:lnSpc>
              <a:buNone/>
            </a:pPr>
            <a:r>
              <a:rPr lang="en-US" sz="1400" dirty="0">
                <a:solidFill>
                  <a:srgbClr val="8A9AA0"/>
                </a:solidFill>
                <a:latin typeface="Consolas" pitchFamily="34" charset="0"/>
                <a:ea typeface="Consolas" pitchFamily="34" charset="-122"/>
                <a:cs typeface="Consolas" pitchFamily="34" charset="-120"/>
              </a:rPr>
              <a:t>#!/bin/bash</a:t>
            </a:r>
            <a:endParaRPr lang="en-US" sz="1400" dirty="0"/>
          </a:p>
          <a:p>
            <a:pPr indent="0" marL="0">
              <a:lnSpc>
                <a:spcPct val="100000"/>
              </a:lnSpc>
              <a:buNone/>
            </a:pPr>
            <a:r>
              <a:rPr lang="en-US" sz="1400" dirty="0">
                <a:solidFill>
                  <a:srgbClr val="8A9AA0"/>
                </a:solidFill>
                <a:latin typeface="Consolas" pitchFamily="34" charset="0"/>
                <a:ea typeface="Consolas" pitchFamily="34" charset="-122"/>
                <a:cs typeface="Consolas" pitchFamily="34" charset="-120"/>
              </a:rPr>
              <a:t># hello.sh -- my first shell script</a:t>
            </a:r>
            <a:endParaRPr lang="en-US" sz="1400" dirty="0"/>
          </a:p>
          <a:p>
            <a:pPr indent="0" marL="0">
              <a:lnSpc>
                <a:spcPct val="100000"/>
              </a:lnSpc>
              <a:buNone/>
            </a:pPr>
            <a:r>
              <a:rPr lang="en-US" sz="1400" dirty="0">
                <a:solidFill>
                  <a:srgbClr val="8A9AA0"/>
                </a:solidFill>
                <a:latin typeface="Consolas" pitchFamily="34" charset="0"/>
                <a:ea typeface="Consolas" pitchFamily="34" charset="-122"/>
                <a:cs typeface="Consolas" pitchFamily="34" charset="-120"/>
              </a:rPr>
              <a:t># Run: bash hello.sh   or: chmod +x hello.sh; ./hello.sh</a:t>
            </a:r>
            <a:endParaRPr lang="en-US" sz="1400" dirty="0"/>
          </a:p>
          <a:p>
            <a:pPr indent="0" marL="0">
              <a:lnSpc>
                <a:spcPct val="100000"/>
              </a:lnSpc>
              <a:buNone/>
            </a:pPr>
            <a:r>
              <a:rPr lang="en-US" sz="1400" dirty="0">
                <a:solidFill>
                  <a:srgbClr val="F2F2F2"/>
                </a:solidFill>
                <a:latin typeface="Consolas" pitchFamily="34" charset="0"/>
                <a:ea typeface="Consolas" pitchFamily="34" charset="-122"/>
                <a:cs typeface="Consolas" pitchFamily="34" charset="-120"/>
              </a:rPr>
              <a:t>echo "Hello from a shell script!"</a:t>
            </a:r>
            <a:endParaRPr lang="en-US" sz="1400" dirty="0"/>
          </a:p>
          <a:p>
            <a:pPr indent="0" marL="0">
              <a:lnSpc>
                <a:spcPct val="100000"/>
              </a:lnSpc>
              <a:buNone/>
            </a:pPr>
            <a:r>
              <a:rPr lang="en-US" sz="1400" dirty="0">
                <a:solidFill>
                  <a:srgbClr val="F2F2F2"/>
                </a:solidFill>
                <a:latin typeface="Consolas" pitchFamily="34" charset="0"/>
                <a:ea typeface="Consolas" pitchFamily="34" charset="-122"/>
                <a:cs typeface="Consolas" pitchFamily="34" charset="-120"/>
              </a:rPr>
              <a:t>echo "I am running as: $(whoami)"</a:t>
            </a:r>
            <a:endParaRPr lang="en-US" sz="1400" dirty="0"/>
          </a:p>
          <a:p>
            <a:pPr indent="0" marL="0">
              <a:lnSpc>
                <a:spcPct val="100000"/>
              </a:lnSpc>
              <a:buNone/>
            </a:pPr>
            <a:r>
              <a:rPr lang="en-US" sz="1400" dirty="0">
                <a:solidFill>
                  <a:srgbClr val="F2F2F2"/>
                </a:solidFill>
                <a:latin typeface="Consolas" pitchFamily="34" charset="0"/>
                <a:ea typeface="Consolas" pitchFamily="34" charset="-122"/>
                <a:cs typeface="Consolas" pitchFamily="34" charset="-120"/>
              </a:rPr>
              <a:t>echo "Current folder:  $(pwd)"</a:t>
            </a:r>
            <a:endParaRPr lang="en-US" sz="1400" dirty="0"/>
          </a:p>
        </p:txBody>
      </p:sp>
      <p:sp>
        <p:nvSpPr>
          <p:cNvPr id="8" name="Shape 6"/>
          <p:cNvSpPr/>
          <p:nvPr/>
        </p:nvSpPr>
        <p:spPr>
          <a:xfrm>
            <a:off x="7543800" y="1600200"/>
            <a:ext cx="329184" cy="329184"/>
          </a:xfrm>
          <a:prstGeom prst="ellipse">
            <a:avLst/>
          </a:prstGeom>
          <a:solidFill>
            <a:srgbClr val="02C39A"/>
          </a:solidFill>
          <a:ln/>
        </p:spPr>
        <p:txBody>
          <a:bodyPr/>
          <a:p/>
        </p:txBody>
      </p:sp>
      <p:sp>
        <p:nvSpPr>
          <p:cNvPr id="9" name="Text 7"/>
          <p:cNvSpPr txBox="1"/>
          <p:nvPr/>
        </p:nvSpPr>
        <p:spPr>
          <a:xfrm>
            <a:off x="7543800" y="160020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8001000" y="1572768"/>
            <a:ext cx="3657600" cy="411480"/>
          </a:xfrm>
          <a:prstGeom prst="rect">
            <a:avLst/>
          </a:prstGeom>
          <a:noFill/>
          <a:ln/>
        </p:spPr>
        <p:txBody>
          <a:bodyPr wrap="square" lIns="0" tIns="0" rIns="0" bIns="0" rtlCol="0" anchor="ctr"/>
          <a:lstStyle/>
          <a:p>
            <a:pPr indent="0" marL="0">
              <a:buNone/>
            </a:pPr>
            <a:r>
              <a:rPr lang="en-US" sz="1400" dirty="0">
                <a:solidFill>
                  <a:srgbClr val="3A464C"/>
                </a:solidFill>
                <a:latin typeface="Calibri" pitchFamily="34" charset="0"/>
                <a:ea typeface="Calibri" pitchFamily="34" charset="-122"/>
                <a:cs typeface="Calibri" pitchFamily="34" charset="-120"/>
              </a:rPr>
              <a:t>Shebang: which program runs this file</a:t>
            </a:r>
            <a:endParaRPr lang="en-US" sz="1400" dirty="0"/>
          </a:p>
        </p:txBody>
      </p:sp>
      <p:sp>
        <p:nvSpPr>
          <p:cNvPr id="11" name="Shape 9"/>
          <p:cNvSpPr/>
          <p:nvPr/>
        </p:nvSpPr>
        <p:spPr>
          <a:xfrm>
            <a:off x="7543800" y="2286000"/>
            <a:ext cx="329184" cy="329184"/>
          </a:xfrm>
          <a:prstGeom prst="ellipse">
            <a:avLst/>
          </a:prstGeom>
          <a:solidFill>
            <a:srgbClr val="02C39A"/>
          </a:solidFill>
          <a:ln/>
        </p:spPr>
        <p:txBody>
          <a:bodyPr/>
          <a:p/>
        </p:txBody>
      </p:sp>
      <p:sp>
        <p:nvSpPr>
          <p:cNvPr id="12" name="Text 10"/>
          <p:cNvSpPr txBox="1"/>
          <p:nvPr/>
        </p:nvSpPr>
        <p:spPr>
          <a:xfrm>
            <a:off x="7543800" y="228600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8001000" y="2258568"/>
            <a:ext cx="3657600" cy="411480"/>
          </a:xfrm>
          <a:prstGeom prst="rect">
            <a:avLst/>
          </a:prstGeom>
          <a:noFill/>
          <a:ln/>
        </p:spPr>
        <p:txBody>
          <a:bodyPr wrap="square" lIns="0" tIns="0" rIns="0" bIns="0" rtlCol="0" anchor="ctr"/>
          <a:lstStyle/>
          <a:p>
            <a:pPr indent="0" marL="0">
              <a:buNone/>
            </a:pPr>
            <a:r>
              <a:rPr lang="en-US" sz="1400" dirty="0">
                <a:solidFill>
                  <a:srgbClr val="3A464C"/>
                </a:solidFill>
                <a:latin typeface="Calibri" pitchFamily="34" charset="0"/>
                <a:ea typeface="Calibri" pitchFamily="34" charset="-122"/>
                <a:cs typeface="Calibri" pitchFamily="34" charset="-120"/>
              </a:rPr>
              <a:t>Comments: ignored by bash, read by humans</a:t>
            </a:r>
            <a:endParaRPr lang="en-US" sz="1400" dirty="0"/>
          </a:p>
        </p:txBody>
      </p:sp>
      <p:sp>
        <p:nvSpPr>
          <p:cNvPr id="14" name="Shape 12"/>
          <p:cNvSpPr/>
          <p:nvPr/>
        </p:nvSpPr>
        <p:spPr>
          <a:xfrm>
            <a:off x="7543800" y="2971800"/>
            <a:ext cx="329184" cy="329184"/>
          </a:xfrm>
          <a:prstGeom prst="ellipse">
            <a:avLst/>
          </a:prstGeom>
          <a:solidFill>
            <a:srgbClr val="02C39A"/>
          </a:solidFill>
          <a:ln/>
        </p:spPr>
        <p:txBody>
          <a:bodyPr/>
          <a:p/>
        </p:txBody>
      </p:sp>
      <p:sp>
        <p:nvSpPr>
          <p:cNvPr id="15" name="Text 13"/>
          <p:cNvSpPr txBox="1"/>
          <p:nvPr/>
        </p:nvSpPr>
        <p:spPr>
          <a:xfrm>
            <a:off x="7543800" y="297180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6" name="Text 14"/>
          <p:cNvSpPr txBox="1"/>
          <p:nvPr/>
        </p:nvSpPr>
        <p:spPr>
          <a:xfrm>
            <a:off x="8001000" y="2944368"/>
            <a:ext cx="3657600" cy="411480"/>
          </a:xfrm>
          <a:prstGeom prst="rect">
            <a:avLst/>
          </a:prstGeom>
          <a:noFill/>
          <a:ln/>
        </p:spPr>
        <p:txBody>
          <a:bodyPr wrap="square" lIns="0" tIns="0" rIns="0" bIns="0" rtlCol="0" anchor="ctr"/>
          <a:lstStyle/>
          <a:p>
            <a:pPr indent="0" marL="0">
              <a:buNone/>
            </a:pPr>
            <a:r>
              <a:rPr lang="en-US" sz="1400" dirty="0">
                <a:solidFill>
                  <a:srgbClr val="3A464C"/>
                </a:solidFill>
                <a:latin typeface="Calibri" pitchFamily="34" charset="0"/>
                <a:ea typeface="Calibri" pitchFamily="34" charset="-122"/>
                <a:cs typeface="Calibri" pitchFamily="34" charset="-120"/>
              </a:rPr>
              <a:t>Commands: exactly what you would type</a:t>
            </a:r>
            <a:endParaRPr lang="en-US" sz="1400" dirty="0"/>
          </a:p>
        </p:txBody>
      </p:sp>
      <p:sp>
        <p:nvSpPr>
          <p:cNvPr id="17" name="Shape 15"/>
          <p:cNvSpPr/>
          <p:nvPr/>
        </p:nvSpPr>
        <p:spPr>
          <a:xfrm>
            <a:off x="548640" y="3886200"/>
            <a:ext cx="11109960" cy="2377440"/>
          </a:xfrm>
          <a:prstGeom prst="roundRect">
            <a:avLst>
              <a:gd name="adj" fmla="val 2308"/>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8" name="Text 16"/>
          <p:cNvSpPr txBox="1"/>
          <p:nvPr/>
        </p:nvSpPr>
        <p:spPr>
          <a:xfrm>
            <a:off x="777240" y="4069080"/>
            <a:ext cx="1065276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Create it with a text editor</a:t>
            </a:r>
            <a:endParaRPr lang="en-US" sz="1500" dirty="0"/>
          </a:p>
        </p:txBody>
      </p:sp>
      <p:sp>
        <p:nvSpPr>
          <p:cNvPr id="19" name="Text 17"/>
          <p:cNvSpPr txBox="1"/>
          <p:nvPr/>
        </p:nvSpPr>
        <p:spPr>
          <a:xfrm>
            <a:off x="777240" y="4526280"/>
            <a:ext cx="10652760" cy="1600200"/>
          </a:xfrm>
          <a:prstGeom prst="rect">
            <a:avLst/>
          </a:prstGeom>
          <a:noFill/>
          <a:ln/>
        </p:spPr>
        <p:txBody>
          <a:bodyPr wrap="square" lIns="0" tIns="0" rIns="0" bIns="0" rtlCol="0" anchor="t"/>
          <a:lstStyle/>
          <a:p>
            <a:pPr marL="228600" indent="-228600">
              <a:spcAft>
                <a:spcPts val="400"/>
              </a:spcAft>
              <a:buSzPct val="100000"/>
              <a:buChar char="•"/>
            </a:pPr>
            <a:r>
              <a:rPr lang="en-US" sz="1450" b="1" dirty="0">
                <a:solidFill>
                  <a:srgbClr val="3A464C"/>
                </a:solidFill>
                <a:latin typeface="Calibri" pitchFamily="34" charset="0"/>
                <a:ea typeface="Calibri" pitchFamily="34" charset="-122"/>
                <a:cs typeface="Calibri" pitchFamily="34" charset="-120"/>
              </a:rPr>
              <a:t>nano hello.sh</a:t>
            </a:r>
            <a:r>
              <a:rPr lang="en-US" sz="1450" dirty="0">
                <a:solidFill>
                  <a:srgbClr val="3A464C"/>
                </a:solidFill>
                <a:latin typeface="Calibri" pitchFamily="34" charset="0"/>
                <a:ea typeface="Calibri" pitchFamily="34" charset="-122"/>
                <a:cs typeface="Calibri" pitchFamily="34" charset="-120"/>
              </a:rPr>
              <a:t> — type the lines, save with Ctrl+O, Enter, exit with Ctrl+X. (Any editor works: vim, gedit, VS Code.)</a:t>
            </a:r>
            <a:endParaRPr lang="en-US" sz="1450" dirty="0"/>
          </a:p>
          <a:p>
            <a:pPr marL="228600" indent="-228600">
              <a:spcAft>
                <a:spcPts val="400"/>
              </a:spcAft>
              <a:buSzPct val="100000"/>
              <a:buChar char="•"/>
            </a:pPr>
            <a:r>
              <a:rPr lang="en-US" sz="1450" b="1" dirty="0">
                <a:solidFill>
                  <a:srgbClr val="3A464C"/>
                </a:solidFill>
                <a:latin typeface="Calibri" pitchFamily="34" charset="0"/>
                <a:ea typeface="Calibri" pitchFamily="34" charset="-122"/>
                <a:cs typeface="Calibri" pitchFamily="34" charset="-120"/>
              </a:rPr>
              <a:t>$(whoami)</a:t>
            </a:r>
            <a:r>
              <a:rPr lang="en-US" sz="1450" dirty="0">
                <a:solidFill>
                  <a:srgbClr val="3A464C"/>
                </a:solidFill>
                <a:latin typeface="Calibri" pitchFamily="34" charset="0"/>
                <a:ea typeface="Calibri" pitchFamily="34" charset="-122"/>
                <a:cs typeface="Calibri" pitchFamily="34" charset="-120"/>
              </a:rPr>
              <a:t> is command substitution: bash runs whoami and puts its output into the text (Part 2).</a:t>
            </a:r>
            <a:endParaRPr lang="en-US" sz="1450" dirty="0"/>
          </a:p>
          <a:p>
            <a:pPr marL="228600" indent="-228600">
              <a:spcAft>
                <a:spcPts val="400"/>
              </a:spcAft>
              <a:buSzPct val="100000"/>
              <a:buChar char="•"/>
            </a:pPr>
            <a:r>
              <a:rPr lang="en-US" sz="1450" b="1" dirty="0">
                <a:solidFill>
                  <a:srgbClr val="3A464C"/>
                </a:solidFill>
                <a:latin typeface="Calibri" pitchFamily="34" charset="0"/>
                <a:ea typeface="Calibri" pitchFamily="34" charset="-122"/>
                <a:cs typeface="Calibri" pitchFamily="34" charset="-120"/>
              </a:rPr>
              <a:t>Name:</a:t>
            </a:r>
            <a:r>
              <a:rPr lang="en-US" sz="1450" dirty="0">
                <a:solidFill>
                  <a:srgbClr val="3A464C"/>
                </a:solidFill>
                <a:latin typeface="Calibri" pitchFamily="34" charset="0"/>
                <a:ea typeface="Calibri" pitchFamily="34" charset="-122"/>
                <a:cs typeface="Calibri" pitchFamily="34" charset="-120"/>
              </a:rPr>
              <a:t> the .sh ending is only a convention for humans; Linux decides by the x bit and the shebang, not by the extension (Week 7: file types).</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LIVE DEMO</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Running It: bash hello.sh vs. ./hello.sh</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14  ·  8</a:t>
            </a:r>
            <a:endParaRPr lang="en-US" sz="900" dirty="0"/>
          </a:p>
        </p:txBody>
      </p:sp>
      <p:sp>
        <p:nvSpPr>
          <p:cNvPr id="6" name="Shape 4"/>
          <p:cNvSpPr/>
          <p:nvPr/>
        </p:nvSpPr>
        <p:spPr>
          <a:xfrm>
            <a:off x="548640" y="1508760"/>
            <a:ext cx="6949440" cy="4754880"/>
          </a:xfrm>
          <a:prstGeom prst="roundRect">
            <a:avLst>
              <a:gd name="adj" fmla="val 962"/>
            </a:avLst>
          </a:prstGeom>
          <a:solidFill>
            <a:srgbClr val="212121"/>
          </a:solidFill>
          <a:ln/>
        </p:spPr>
        <p:txBody>
          <a:bodyPr/>
          <a:p/>
        </p:txBody>
      </p:sp>
      <p:sp>
        <p:nvSpPr>
          <p:cNvPr id="7" name="Text 5"/>
          <p:cNvSpPr txBox="1"/>
          <p:nvPr/>
        </p:nvSpPr>
        <p:spPr>
          <a:xfrm>
            <a:off x="731520" y="1618488"/>
            <a:ext cx="6583680" cy="4535424"/>
          </a:xfrm>
          <a:prstGeom prst="rect">
            <a:avLst/>
          </a:prstGeom>
          <a:noFill/>
          <a:ln/>
        </p:spPr>
        <p:txBody>
          <a:bodyPr wrap="square" lIns="0" tIns="0" rIns="0" bIns="0" rtlCol="0" anchor="t"/>
          <a:lstStyle/>
          <a:p>
            <a:pPr indent="0" marL="0">
              <a:lnSpc>
                <a:spcPct val="100000"/>
              </a:lnSpc>
              <a:buNone/>
            </a:pPr>
            <a:r>
              <a:rPr lang="en-US" sz="1300" dirty="0">
                <a:solidFill>
                  <a:srgbClr val="02C39A"/>
                </a:solidFill>
                <a:latin typeface="Consolas" pitchFamily="34" charset="0"/>
                <a:ea typeface="Consolas" pitchFamily="34" charset="-122"/>
                <a:cs typeface="Consolas" pitchFamily="34" charset="-120"/>
              </a:rPr>
              <a:t>student@okan-lab:~/lab/scripts$ </a:t>
            </a:r>
            <a:r>
              <a:rPr lang="en-US" sz="1300" b="1" dirty="0">
                <a:solidFill>
                  <a:srgbClr val="FFFFFF"/>
                </a:solidFill>
                <a:latin typeface="Consolas" pitchFamily="34" charset="0"/>
                <a:ea typeface="Consolas" pitchFamily="34" charset="-122"/>
                <a:cs typeface="Consolas" pitchFamily="34" charset="-120"/>
              </a:rPr>
              <a:t>bash hello.sh</a:t>
            </a:r>
            <a:endParaRPr lang="en-US" sz="1300" dirty="0"/>
          </a:p>
          <a:p>
            <a:pPr indent="0" marL="0">
              <a:lnSpc>
                <a:spcPct val="100000"/>
              </a:lnSpc>
              <a:buNone/>
            </a:pPr>
            <a:r>
              <a:rPr lang="en-US" sz="1300" dirty="0">
                <a:solidFill>
                  <a:srgbClr val="C9D1D3"/>
                </a:solidFill>
                <a:latin typeface="Consolas" pitchFamily="34" charset="0"/>
                <a:ea typeface="Consolas" pitchFamily="34" charset="-122"/>
                <a:cs typeface="Consolas" pitchFamily="34" charset="-120"/>
              </a:rPr>
              <a:t>Hello from a shell script!</a:t>
            </a:r>
            <a:endParaRPr lang="en-US" sz="1300" dirty="0"/>
          </a:p>
          <a:p>
            <a:pPr indent="0" marL="0">
              <a:lnSpc>
                <a:spcPct val="100000"/>
              </a:lnSpc>
              <a:buNone/>
            </a:pPr>
            <a:r>
              <a:rPr lang="en-US" sz="1300" dirty="0">
                <a:solidFill>
                  <a:srgbClr val="C9D1D3"/>
                </a:solidFill>
                <a:latin typeface="Consolas" pitchFamily="34" charset="0"/>
                <a:ea typeface="Consolas" pitchFamily="34" charset="-122"/>
                <a:cs typeface="Consolas" pitchFamily="34" charset="-120"/>
              </a:rPr>
              <a:t>I am running as: student</a:t>
            </a:r>
            <a:endParaRPr lang="en-US" sz="1300" dirty="0"/>
          </a:p>
          <a:p>
            <a:pPr indent="0" marL="0">
              <a:lnSpc>
                <a:spcPct val="100000"/>
              </a:lnSpc>
              <a:buNone/>
            </a:pPr>
            <a:r>
              <a:rPr lang="en-US" sz="1300" dirty="0">
                <a:solidFill>
                  <a:srgbClr val="C9D1D3"/>
                </a:solidFill>
                <a:latin typeface="Consolas" pitchFamily="34" charset="0"/>
                <a:ea typeface="Consolas" pitchFamily="34" charset="-122"/>
                <a:cs typeface="Consolas" pitchFamily="34" charset="-120"/>
              </a:rPr>
              <a:t>Current folder:  /home/student/lab/scripts</a:t>
            </a:r>
            <a:endParaRPr lang="en-US" sz="1300" dirty="0"/>
          </a:p>
          <a:p>
            <a:pPr indent="0" marL="0">
              <a:lnSpc>
                <a:spcPct val="100000"/>
              </a:lnSpc>
              <a:buNone/>
            </a:pPr>
            <a:r>
              <a:rPr lang="en-US" sz="1300" dirty="0">
                <a:solidFill>
                  <a:srgbClr val="02C39A"/>
                </a:solidFill>
                <a:latin typeface="Consolas" pitchFamily="34" charset="0"/>
                <a:ea typeface="Consolas" pitchFamily="34" charset="-122"/>
                <a:cs typeface="Consolas" pitchFamily="34" charset="-120"/>
              </a:rPr>
              <a:t>student@okan-lab:~/lab/scripts$ </a:t>
            </a:r>
            <a:r>
              <a:rPr lang="en-US" sz="1300" b="1" dirty="0">
                <a:solidFill>
                  <a:srgbClr val="FFFFFF"/>
                </a:solidFill>
                <a:latin typeface="Consolas" pitchFamily="34" charset="0"/>
                <a:ea typeface="Consolas" pitchFamily="34" charset="-122"/>
                <a:cs typeface="Consolas" pitchFamily="34" charset="-120"/>
              </a:rPr>
              <a:t>./hello.sh</a:t>
            </a:r>
            <a:endParaRPr lang="en-US" sz="1300" dirty="0"/>
          </a:p>
          <a:p>
            <a:pPr indent="0" marL="0">
              <a:lnSpc>
                <a:spcPct val="100000"/>
              </a:lnSpc>
              <a:buNone/>
            </a:pPr>
            <a:r>
              <a:rPr lang="en-US" sz="1300" dirty="0">
                <a:solidFill>
                  <a:srgbClr val="C9D1D3"/>
                </a:solidFill>
                <a:latin typeface="Consolas" pitchFamily="34" charset="0"/>
                <a:ea typeface="Consolas" pitchFamily="34" charset="-122"/>
                <a:cs typeface="Consolas" pitchFamily="34" charset="-120"/>
              </a:rPr>
              <a:t>bash: ./hello.sh: Permission denied</a:t>
            </a:r>
            <a:endParaRPr lang="en-US" sz="1300" dirty="0"/>
          </a:p>
          <a:p>
            <a:pPr indent="0" marL="0">
              <a:lnSpc>
                <a:spcPct val="100000"/>
              </a:lnSpc>
              <a:buNone/>
            </a:pPr>
            <a:r>
              <a:rPr lang="en-US" sz="1300" dirty="0">
                <a:solidFill>
                  <a:srgbClr val="02C39A"/>
                </a:solidFill>
                <a:latin typeface="Consolas" pitchFamily="34" charset="0"/>
                <a:ea typeface="Consolas" pitchFamily="34" charset="-122"/>
                <a:cs typeface="Consolas" pitchFamily="34" charset="-120"/>
              </a:rPr>
              <a:t>student@okan-lab:~/lab/scripts$ </a:t>
            </a:r>
            <a:r>
              <a:rPr lang="en-US" sz="1300" b="1" dirty="0">
                <a:solidFill>
                  <a:srgbClr val="FFFFFF"/>
                </a:solidFill>
                <a:latin typeface="Consolas" pitchFamily="34" charset="0"/>
                <a:ea typeface="Consolas" pitchFamily="34" charset="-122"/>
                <a:cs typeface="Consolas" pitchFamily="34" charset="-120"/>
              </a:rPr>
              <a:t>echo $?</a:t>
            </a:r>
            <a:endParaRPr lang="en-US" sz="1300" dirty="0"/>
          </a:p>
          <a:p>
            <a:pPr indent="0" marL="0">
              <a:lnSpc>
                <a:spcPct val="100000"/>
              </a:lnSpc>
              <a:buNone/>
            </a:pPr>
            <a:r>
              <a:rPr lang="en-US" sz="1300" dirty="0">
                <a:solidFill>
                  <a:srgbClr val="C9D1D3"/>
                </a:solidFill>
                <a:latin typeface="Consolas" pitchFamily="34" charset="0"/>
                <a:ea typeface="Consolas" pitchFamily="34" charset="-122"/>
                <a:cs typeface="Consolas" pitchFamily="34" charset="-120"/>
              </a:rPr>
              <a:t>126</a:t>
            </a:r>
            <a:endParaRPr lang="en-US" sz="1300" dirty="0"/>
          </a:p>
          <a:p>
            <a:pPr indent="0" marL="0">
              <a:lnSpc>
                <a:spcPct val="100000"/>
              </a:lnSpc>
              <a:buNone/>
            </a:pPr>
            <a:r>
              <a:rPr lang="en-US" sz="1300" dirty="0">
                <a:solidFill>
                  <a:srgbClr val="02C39A"/>
                </a:solidFill>
                <a:latin typeface="Consolas" pitchFamily="34" charset="0"/>
                <a:ea typeface="Consolas" pitchFamily="34" charset="-122"/>
                <a:cs typeface="Consolas" pitchFamily="34" charset="-120"/>
              </a:rPr>
              <a:t>student@okan-lab:~/lab/scripts$ </a:t>
            </a:r>
            <a:r>
              <a:rPr lang="en-US" sz="1300" b="1" dirty="0">
                <a:solidFill>
                  <a:srgbClr val="FFFFFF"/>
                </a:solidFill>
                <a:latin typeface="Consolas" pitchFamily="34" charset="0"/>
                <a:ea typeface="Consolas" pitchFamily="34" charset="-122"/>
                <a:cs typeface="Consolas" pitchFamily="34" charset="-120"/>
              </a:rPr>
              <a:t>ls -l hello.sh</a:t>
            </a:r>
            <a:endParaRPr lang="en-US" sz="1300" dirty="0"/>
          </a:p>
          <a:p>
            <a:pPr indent="0" marL="0">
              <a:lnSpc>
                <a:spcPct val="100000"/>
              </a:lnSpc>
              <a:buNone/>
            </a:pPr>
            <a:r>
              <a:rPr lang="en-US" sz="1300" dirty="0">
                <a:solidFill>
                  <a:srgbClr val="C9D1D3"/>
                </a:solidFill>
                <a:latin typeface="Consolas" pitchFamily="34" charset="0"/>
                <a:ea typeface="Consolas" pitchFamily="34" charset="-122"/>
                <a:cs typeface="Consolas" pitchFamily="34" charset="-120"/>
              </a:rPr>
              <a:t>-rw-rw-r-- 1 student student 204 Oct 12 17:18 hello.sh</a:t>
            </a:r>
            <a:endParaRPr lang="en-US" sz="1300" dirty="0"/>
          </a:p>
          <a:p>
            <a:pPr indent="0" marL="0">
              <a:lnSpc>
                <a:spcPct val="100000"/>
              </a:lnSpc>
              <a:buNone/>
            </a:pPr>
            <a:r>
              <a:rPr lang="en-US" sz="1300" dirty="0">
                <a:solidFill>
                  <a:srgbClr val="02C39A"/>
                </a:solidFill>
                <a:latin typeface="Consolas" pitchFamily="34" charset="0"/>
                <a:ea typeface="Consolas" pitchFamily="34" charset="-122"/>
                <a:cs typeface="Consolas" pitchFamily="34" charset="-120"/>
              </a:rPr>
              <a:t>student@okan-lab:~/lab/scripts$ </a:t>
            </a:r>
            <a:r>
              <a:rPr lang="en-US" sz="1300" b="1" dirty="0">
                <a:solidFill>
                  <a:srgbClr val="FFFFFF"/>
                </a:solidFill>
                <a:latin typeface="Consolas" pitchFamily="34" charset="0"/>
                <a:ea typeface="Consolas" pitchFamily="34" charset="-122"/>
                <a:cs typeface="Consolas" pitchFamily="34" charset="-120"/>
              </a:rPr>
              <a:t>chmod +x hello.sh</a:t>
            </a:r>
            <a:endParaRPr lang="en-US" sz="1300" dirty="0"/>
          </a:p>
          <a:p>
            <a:pPr indent="0" marL="0">
              <a:lnSpc>
                <a:spcPct val="100000"/>
              </a:lnSpc>
              <a:buNone/>
            </a:pPr>
            <a:r>
              <a:rPr lang="en-US" sz="1300" dirty="0">
                <a:solidFill>
                  <a:srgbClr val="02C39A"/>
                </a:solidFill>
                <a:latin typeface="Consolas" pitchFamily="34" charset="0"/>
                <a:ea typeface="Consolas" pitchFamily="34" charset="-122"/>
                <a:cs typeface="Consolas" pitchFamily="34" charset="-120"/>
              </a:rPr>
              <a:t>student@okan-lab:~/lab/scripts$ </a:t>
            </a:r>
            <a:r>
              <a:rPr lang="en-US" sz="1300" b="1" dirty="0">
                <a:solidFill>
                  <a:srgbClr val="FFFFFF"/>
                </a:solidFill>
                <a:latin typeface="Consolas" pitchFamily="34" charset="0"/>
                <a:ea typeface="Consolas" pitchFamily="34" charset="-122"/>
                <a:cs typeface="Consolas" pitchFamily="34" charset="-120"/>
              </a:rPr>
              <a:t>ls -l hello.sh</a:t>
            </a:r>
            <a:endParaRPr lang="en-US" sz="1300" dirty="0"/>
          </a:p>
          <a:p>
            <a:pPr indent="0" marL="0">
              <a:lnSpc>
                <a:spcPct val="100000"/>
              </a:lnSpc>
              <a:buNone/>
            </a:pPr>
            <a:r>
              <a:rPr lang="en-US" sz="1300" dirty="0">
                <a:solidFill>
                  <a:srgbClr val="C9D1D3"/>
                </a:solidFill>
                <a:latin typeface="Consolas" pitchFamily="34" charset="0"/>
                <a:ea typeface="Consolas" pitchFamily="34" charset="-122"/>
                <a:cs typeface="Consolas" pitchFamily="34" charset="-120"/>
              </a:rPr>
              <a:t>-rwxrwxr-x 1 student student 204 Oct 12 17:18 hello.sh</a:t>
            </a:r>
            <a:endParaRPr lang="en-US" sz="1300" dirty="0"/>
          </a:p>
          <a:p>
            <a:pPr indent="0" marL="0">
              <a:lnSpc>
                <a:spcPct val="100000"/>
              </a:lnSpc>
              <a:buNone/>
            </a:pPr>
            <a:r>
              <a:rPr lang="en-US" sz="1300" dirty="0">
                <a:solidFill>
                  <a:srgbClr val="02C39A"/>
                </a:solidFill>
                <a:latin typeface="Consolas" pitchFamily="34" charset="0"/>
                <a:ea typeface="Consolas" pitchFamily="34" charset="-122"/>
                <a:cs typeface="Consolas" pitchFamily="34" charset="-120"/>
              </a:rPr>
              <a:t>student@okan-lab:~/lab/scripts$ </a:t>
            </a:r>
            <a:r>
              <a:rPr lang="en-US" sz="1300" b="1" dirty="0">
                <a:solidFill>
                  <a:srgbClr val="FFFFFF"/>
                </a:solidFill>
                <a:latin typeface="Consolas" pitchFamily="34" charset="0"/>
                <a:ea typeface="Consolas" pitchFamily="34" charset="-122"/>
                <a:cs typeface="Consolas" pitchFamily="34" charset="-120"/>
              </a:rPr>
              <a:t>./hello.sh</a:t>
            </a:r>
            <a:endParaRPr lang="en-US" sz="1300" dirty="0"/>
          </a:p>
          <a:p>
            <a:pPr indent="0" marL="0">
              <a:lnSpc>
                <a:spcPct val="100000"/>
              </a:lnSpc>
              <a:buNone/>
            </a:pPr>
            <a:r>
              <a:rPr lang="en-US" sz="1300" dirty="0">
                <a:solidFill>
                  <a:srgbClr val="C9D1D3"/>
                </a:solidFill>
                <a:latin typeface="Consolas" pitchFamily="34" charset="0"/>
                <a:ea typeface="Consolas" pitchFamily="34" charset="-122"/>
                <a:cs typeface="Consolas" pitchFamily="34" charset="-120"/>
              </a:rPr>
              <a:t>Hello from a shell script!</a:t>
            </a:r>
            <a:endParaRPr lang="en-US" sz="1300" dirty="0"/>
          </a:p>
          <a:p>
            <a:pPr indent="0" marL="0">
              <a:lnSpc>
                <a:spcPct val="100000"/>
              </a:lnSpc>
              <a:buNone/>
            </a:pPr>
            <a:r>
              <a:rPr lang="en-US" sz="1300" dirty="0">
                <a:solidFill>
                  <a:srgbClr val="C9D1D3"/>
                </a:solidFill>
                <a:latin typeface="Consolas" pitchFamily="34" charset="0"/>
                <a:ea typeface="Consolas" pitchFamily="34" charset="-122"/>
                <a:cs typeface="Consolas" pitchFamily="34" charset="-120"/>
              </a:rPr>
              <a:t>I am running as: student</a:t>
            </a:r>
            <a:endParaRPr lang="en-US" sz="1300" dirty="0"/>
          </a:p>
          <a:p>
            <a:pPr indent="0" marL="0">
              <a:lnSpc>
                <a:spcPct val="100000"/>
              </a:lnSpc>
              <a:buNone/>
            </a:pPr>
            <a:r>
              <a:rPr lang="en-US" sz="1300" dirty="0">
                <a:solidFill>
                  <a:srgbClr val="C9D1D3"/>
                </a:solidFill>
                <a:latin typeface="Consolas" pitchFamily="34" charset="0"/>
                <a:ea typeface="Consolas" pitchFamily="34" charset="-122"/>
                <a:cs typeface="Consolas" pitchFamily="34" charset="-120"/>
              </a:rPr>
              <a:t>Current folder:  /home/student/lab/scripts</a:t>
            </a:r>
            <a:endParaRPr lang="en-US" sz="1300" dirty="0"/>
          </a:p>
          <a:p>
            <a:pPr indent="0" marL="0">
              <a:lnSpc>
                <a:spcPct val="100000"/>
              </a:lnSpc>
              <a:buNone/>
            </a:pPr>
            <a:r>
              <a:rPr lang="en-US" sz="1300" dirty="0">
                <a:solidFill>
                  <a:srgbClr val="02C39A"/>
                </a:solidFill>
                <a:latin typeface="Consolas" pitchFamily="34" charset="0"/>
                <a:ea typeface="Consolas" pitchFamily="34" charset="-122"/>
                <a:cs typeface="Consolas" pitchFamily="34" charset="-120"/>
              </a:rPr>
              <a:t>student@okan-lab:~/lab/scripts$ </a:t>
            </a:r>
            <a:r>
              <a:rPr lang="en-US" sz="1300" b="1" dirty="0">
                <a:solidFill>
                  <a:srgbClr val="FFFFFF"/>
                </a:solidFill>
                <a:latin typeface="Consolas" pitchFamily="34" charset="0"/>
                <a:ea typeface="Consolas" pitchFamily="34" charset="-122"/>
                <a:cs typeface="Consolas" pitchFamily="34" charset="-120"/>
              </a:rPr>
              <a:t>hello.sh</a:t>
            </a:r>
            <a:endParaRPr lang="en-US" sz="1300" dirty="0"/>
          </a:p>
          <a:p>
            <a:pPr indent="0" marL="0">
              <a:lnSpc>
                <a:spcPct val="100000"/>
              </a:lnSpc>
              <a:buNone/>
            </a:pPr>
            <a:r>
              <a:rPr lang="en-US" sz="1300" dirty="0">
                <a:solidFill>
                  <a:srgbClr val="C9D1D3"/>
                </a:solidFill>
                <a:latin typeface="Consolas" pitchFamily="34" charset="0"/>
                <a:ea typeface="Consolas" pitchFamily="34" charset="-122"/>
                <a:cs typeface="Consolas" pitchFamily="34" charset="-120"/>
              </a:rPr>
              <a:t>bash: hello.sh: command not found</a:t>
            </a:r>
            <a:endParaRPr lang="en-US" sz="1300" dirty="0"/>
          </a:p>
        </p:txBody>
      </p:sp>
      <p:sp>
        <p:nvSpPr>
          <p:cNvPr id="8" name="Shape 6"/>
          <p:cNvSpPr/>
          <p:nvPr/>
        </p:nvSpPr>
        <p:spPr>
          <a:xfrm>
            <a:off x="7726680" y="1508760"/>
            <a:ext cx="3931920" cy="4754880"/>
          </a:xfrm>
          <a:prstGeom prst="roundRect">
            <a:avLst>
              <a:gd name="adj" fmla="val 139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9" name="Text 7"/>
          <p:cNvSpPr txBox="1"/>
          <p:nvPr/>
        </p:nvSpPr>
        <p:spPr>
          <a:xfrm>
            <a:off x="7955280" y="1691640"/>
            <a:ext cx="347472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What to observe</a:t>
            </a:r>
            <a:endParaRPr lang="en-US" sz="1500" dirty="0"/>
          </a:p>
        </p:txBody>
      </p:sp>
      <p:sp>
        <p:nvSpPr>
          <p:cNvPr id="10" name="Text 8"/>
          <p:cNvSpPr txBox="1"/>
          <p:nvPr/>
        </p:nvSpPr>
        <p:spPr>
          <a:xfrm>
            <a:off x="7955280" y="2148840"/>
            <a:ext cx="3474720" cy="3977640"/>
          </a:xfrm>
          <a:prstGeom prst="rect">
            <a:avLst/>
          </a:prstGeom>
          <a:noFill/>
          <a:ln/>
        </p:spPr>
        <p:txBody>
          <a:bodyPr wrap="square" lIns="0" tIns="0" rIns="0" bIns="0" rtlCol="0" anchor="t"/>
          <a:lstStyle/>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bash hello.sh</a:t>
            </a:r>
            <a:r>
              <a:rPr lang="en-US" sz="1350" dirty="0">
                <a:solidFill>
                  <a:srgbClr val="3A464C"/>
                </a:solidFill>
                <a:latin typeface="Calibri" pitchFamily="34" charset="0"/>
                <a:ea typeface="Calibri" pitchFamily="34" charset="-122"/>
                <a:cs typeface="Calibri" pitchFamily="34" charset="-120"/>
              </a:rPr>
              <a:t> works without x: bash only reads the file.</a:t>
            </a:r>
            <a:endParaRPr lang="en-US" sz="1350" dirty="0"/>
          </a:p>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./hello.sh</a:t>
            </a:r>
            <a:r>
              <a:rPr lang="en-US" sz="1350" dirty="0">
                <a:solidFill>
                  <a:srgbClr val="3A464C"/>
                </a:solidFill>
                <a:latin typeface="Calibri" pitchFamily="34" charset="0"/>
                <a:ea typeface="Calibri" pitchFamily="34" charset="-122"/>
                <a:cs typeface="Calibri" pitchFamily="34" charset="-120"/>
              </a:rPr>
              <a:t> needs the x bit: Permission denied, exit status 126.</a:t>
            </a:r>
            <a:endParaRPr lang="en-US" sz="1350" dirty="0"/>
          </a:p>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chmod +x</a:t>
            </a:r>
            <a:r>
              <a:rPr lang="en-US" sz="1350" dirty="0">
                <a:solidFill>
                  <a:srgbClr val="3A464C"/>
                </a:solidFill>
                <a:latin typeface="Calibri" pitchFamily="34" charset="0"/>
                <a:ea typeface="Calibri" pitchFamily="34" charset="-122"/>
                <a:cs typeface="Calibri" pitchFamily="34" charset="-120"/>
              </a:rPr>
              <a:t> adds x for user, group and others (Week 11): rw- → rwx.</a:t>
            </a:r>
            <a:endParaRPr lang="en-US" sz="1350" dirty="0"/>
          </a:p>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hello.sh</a:t>
            </a:r>
            <a:r>
              <a:rPr lang="en-US" sz="1350" dirty="0">
                <a:solidFill>
                  <a:srgbClr val="3A464C"/>
                </a:solidFill>
                <a:latin typeface="Calibri" pitchFamily="34" charset="0"/>
                <a:ea typeface="Calibri" pitchFamily="34" charset="-122"/>
                <a:cs typeface="Calibri" pitchFamily="34" charset="-120"/>
              </a:rPr>
              <a:t> alone: not found, because the current folder is not in $PATH. Hence ./</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RUNNING SCRIPTS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Four Ways to Run a Script</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14  ·  9</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109960" cy="914400"/>
        </p:xfrm>
        <a:graphic>
          <a:graphicData uri="http://schemas.openxmlformats.org/drawingml/2006/table">
            <a:tbl>
              <a:tblPr/>
              <a:tblGrid>
                <a:gridCol w="3017520"/>
                <a:gridCol w="2468880"/>
                <a:gridCol w="2926080"/>
                <a:gridCol w="2697480"/>
              </a:tblGrid>
              <a:tr h="0">
                <a:tc>
                  <a:txBody>
                    <a:bodyPr/>
                    <a:lstStyle/>
                    <a:p>
                      <a:pPr indent="0" marL="0">
                        <a:buNone/>
                      </a:pPr>
                      <a:r>
                        <a:rPr lang="en-US" sz="1700" b="1" dirty="0">
                          <a:solidFill>
                            <a:srgbClr val="FFFFFF"/>
                          </a:solidFill>
                          <a:latin typeface="Cambria" pitchFamily="34" charset="0"/>
                          <a:ea typeface="Cambria" pitchFamily="34" charset="-122"/>
                          <a:cs typeface="Cambria" pitchFamily="34" charset="-120"/>
                        </a:rPr>
                        <a:t>Command</a:t>
                      </a:r>
                      <a:endParaRPr lang="en-US" sz="17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700" b="1" dirty="0">
                          <a:solidFill>
                            <a:srgbClr val="FFFFFF"/>
                          </a:solidFill>
                          <a:latin typeface="Cambria" pitchFamily="34" charset="0"/>
                          <a:ea typeface="Cambria" pitchFamily="34" charset="-122"/>
                          <a:cs typeface="Cambria" pitchFamily="34" charset="-120"/>
                        </a:rPr>
                        <a:t>Needs</a:t>
                      </a:r>
                      <a:endParaRPr lang="en-US" sz="17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700" b="1" dirty="0">
                          <a:solidFill>
                            <a:srgbClr val="FFFFFF"/>
                          </a:solidFill>
                          <a:latin typeface="Cambria" pitchFamily="34" charset="0"/>
                          <a:ea typeface="Cambria" pitchFamily="34" charset="-122"/>
                          <a:cs typeface="Cambria" pitchFamily="34" charset="-120"/>
                        </a:rPr>
                        <a:t>Where it runs</a:t>
                      </a:r>
                      <a:endParaRPr lang="en-US" sz="17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700" b="1" dirty="0">
                          <a:solidFill>
                            <a:srgbClr val="FFFFFF"/>
                          </a:solidFill>
                          <a:latin typeface="Cambria" pitchFamily="34" charset="0"/>
                          <a:ea typeface="Cambria" pitchFamily="34" charset="-122"/>
                          <a:cs typeface="Cambria" pitchFamily="34" charset="-120"/>
                        </a:rPr>
                        <a:t>Typical use</a:t>
                      </a:r>
                      <a:endParaRPr lang="en-US" sz="17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en-US" sz="1600" b="1" dirty="0">
                          <a:solidFill>
                            <a:srgbClr val="3A464C"/>
                          </a:solidFill>
                          <a:latin typeface="Calibri" pitchFamily="34" charset="0"/>
                          <a:ea typeface="Calibri" pitchFamily="34" charset="-122"/>
                          <a:cs typeface="Calibri" pitchFamily="34" charset="-120"/>
                        </a:rPr>
                        <a:t>bash hello.sh</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r permission</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new bash process</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quick test; script without x bit</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600" b="1" dirty="0">
                          <a:solidFill>
                            <a:srgbClr val="3A464C"/>
                          </a:solidFill>
                          <a:latin typeface="Calibri" pitchFamily="34" charset="0"/>
                          <a:ea typeface="Calibri" pitchFamily="34" charset="-122"/>
                          <a:cs typeface="Calibri" pitchFamily="34" charset="-120"/>
                        </a:rPr>
                        <a:t>./hello.sh</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r + x, shebang line</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new process (interpreter from #!)</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normal way to run your own script</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3A464C"/>
                          </a:solidFill>
                          <a:latin typeface="Calibri" pitchFamily="34" charset="0"/>
                          <a:ea typeface="Calibri" pitchFamily="34" charset="-122"/>
                          <a:cs typeface="Calibri" pitchFamily="34" charset="-120"/>
                        </a:rPr>
                        <a:t>hello.sh</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r + x, folder in $PATH</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new process</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installed tools, e.g. in ~/bin</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600" b="1" dirty="0">
                          <a:solidFill>
                            <a:srgbClr val="3A464C"/>
                          </a:solidFill>
                          <a:latin typeface="Calibri" pitchFamily="34" charset="0"/>
                          <a:ea typeface="Calibri" pitchFamily="34" charset="-122"/>
                          <a:cs typeface="Calibri" pitchFamily="34" charset="-120"/>
                        </a:rPr>
                        <a:t>source hello.sh  (or  . hello.sh)</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r permission</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the CURRENT shell</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files that set variables, e.g. ~/.bashrc</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8" name="Text 5"/>
          <p:cNvSpPr txBox="1"/>
          <p:nvPr/>
        </p:nvSpPr>
        <p:spPr>
          <a:xfrm>
            <a:off x="777240" y="5486400"/>
            <a:ext cx="10652760" cy="77724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Use ./script.sh in this course. bash -n script.sh checks the syntax without running anything; bash -x script.sh shows every command as it runs (Part 3).</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PART 2</a:t>
            </a:r>
            <a:endParaRPr lang="en-US"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Variables, Quoting &amp; Input</a:t>
            </a:r>
            <a:endParaRPr lang="en-US"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en-US" sz="1600" i="1" dirty="0">
                <a:solidFill>
                  <a:srgbClr val="F2F2F2"/>
                </a:solidFill>
                <a:latin typeface="Calibri" pitchFamily="34" charset="0"/>
                <a:ea typeface="Calibri" pitchFamily="34" charset="-122"/>
                <a:cs typeface="Calibri" pitchFamily="34" charset="-120"/>
              </a:rPr>
              <a:t>Storing values, building text, reading arguments and keyboard input.</a:t>
            </a:r>
            <a:endParaRPr lang="en-US"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8A9AA0"/>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8A9AA0"/>
                </a:solidFill>
                <a:latin typeface="Calibri" pitchFamily="34" charset="0"/>
                <a:ea typeface="Calibri" pitchFamily="34" charset="-122"/>
                <a:cs typeface="Calibri" pitchFamily="34" charset="-120"/>
              </a:rPr>
              <a:t>Week 14  ·  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VARIABLES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Variables: name=value, No Spaces!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14  ·  11</a:t>
            </a:r>
            <a:endParaRPr lang="en-US" sz="900" dirty="0"/>
          </a:p>
        </p:txBody>
      </p:sp>
      <p:sp>
        <p:nvSpPr>
          <p:cNvPr id="6" name="Shape 4"/>
          <p:cNvSpPr/>
          <p:nvPr/>
        </p:nvSpPr>
        <p:spPr>
          <a:xfrm>
            <a:off x="548640" y="1508760"/>
            <a:ext cx="6309360" cy="2743200"/>
          </a:xfrm>
          <a:prstGeom prst="roundRect">
            <a:avLst>
              <a:gd name="adj" fmla="val 1667"/>
            </a:avLst>
          </a:prstGeom>
          <a:solidFill>
            <a:srgbClr val="212121"/>
          </a:solidFill>
          <a:ln/>
        </p:spPr>
        <p:txBody>
          <a:bodyPr/>
          <a:p/>
        </p:txBody>
      </p:sp>
      <p:sp>
        <p:nvSpPr>
          <p:cNvPr id="7" name="Text 5"/>
          <p:cNvSpPr txBox="1"/>
          <p:nvPr/>
        </p:nvSpPr>
        <p:spPr>
          <a:xfrm>
            <a:off x="731520" y="1618488"/>
            <a:ext cx="5943600" cy="2523744"/>
          </a:xfrm>
          <a:prstGeom prst="rect">
            <a:avLst/>
          </a:prstGeom>
          <a:noFill/>
          <a:ln/>
        </p:spPr>
        <p:txBody>
          <a:bodyPr wrap="square" lIns="0" tIns="0" rIns="0" bIns="0" rtlCol="0" anchor="t"/>
          <a:lstStyle/>
          <a:p>
            <a:pPr indent="0" marL="0">
              <a:lnSpc>
                <a:spcPct val="100000"/>
              </a:lnSpc>
              <a:buNone/>
            </a:pPr>
            <a:r>
              <a:rPr lang="en-US" sz="1400" dirty="0">
                <a:solidFill>
                  <a:srgbClr val="02C39A"/>
                </a:solidFill>
                <a:latin typeface="Consolas" pitchFamily="34" charset="0"/>
                <a:ea typeface="Consolas" pitchFamily="34" charset="-122"/>
                <a:cs typeface="Consolas" pitchFamily="34" charset="-120"/>
              </a:rPr>
              <a:t>student@okan-lab:~/lab/scripts$ </a:t>
            </a:r>
            <a:r>
              <a:rPr lang="en-US" sz="1400" b="1" dirty="0">
                <a:solidFill>
                  <a:srgbClr val="FFFFFF"/>
                </a:solidFill>
                <a:latin typeface="Consolas" pitchFamily="34" charset="0"/>
                <a:ea typeface="Consolas" pitchFamily="34" charset="-122"/>
                <a:cs typeface="Consolas" pitchFamily="34" charset="-120"/>
              </a:rPr>
              <a:t>name="Ayse"</a:t>
            </a:r>
            <a:endParaRPr lang="en-US" sz="1400" dirty="0"/>
          </a:p>
          <a:p>
            <a:pPr indent="0" marL="0">
              <a:lnSpc>
                <a:spcPct val="100000"/>
              </a:lnSpc>
              <a:buNone/>
            </a:pPr>
            <a:r>
              <a:rPr lang="en-US" sz="1400" dirty="0">
                <a:solidFill>
                  <a:srgbClr val="02C39A"/>
                </a:solidFill>
                <a:latin typeface="Consolas" pitchFamily="34" charset="0"/>
                <a:ea typeface="Consolas" pitchFamily="34" charset="-122"/>
                <a:cs typeface="Consolas" pitchFamily="34" charset="-120"/>
              </a:rPr>
              <a:t>student@okan-lab:~/lab/scripts$ </a:t>
            </a:r>
            <a:r>
              <a:rPr lang="en-US" sz="1400" b="1" dirty="0">
                <a:solidFill>
                  <a:srgbClr val="FFFFFF"/>
                </a:solidFill>
                <a:latin typeface="Consolas" pitchFamily="34" charset="0"/>
                <a:ea typeface="Consolas" pitchFamily="34" charset="-122"/>
                <a:cs typeface="Consolas" pitchFamily="34" charset="-120"/>
              </a:rPr>
              <a:t>echo $name</a:t>
            </a:r>
            <a:endParaRPr lang="en-US" sz="1400" dirty="0"/>
          </a:p>
          <a:p>
            <a:pPr indent="0" marL="0">
              <a:lnSpc>
                <a:spcPct val="100000"/>
              </a:lnSpc>
              <a:buNone/>
            </a:pPr>
            <a:r>
              <a:rPr lang="en-US" sz="1400" dirty="0">
                <a:solidFill>
                  <a:srgbClr val="C9D1D3"/>
                </a:solidFill>
                <a:latin typeface="Consolas" pitchFamily="34" charset="0"/>
                <a:ea typeface="Consolas" pitchFamily="34" charset="-122"/>
                <a:cs typeface="Consolas" pitchFamily="34" charset="-120"/>
              </a:rPr>
              <a:t>Ayse</a:t>
            </a:r>
            <a:endParaRPr lang="en-US" sz="1400" dirty="0"/>
          </a:p>
          <a:p>
            <a:pPr indent="0" marL="0">
              <a:lnSpc>
                <a:spcPct val="100000"/>
              </a:lnSpc>
              <a:buNone/>
            </a:pPr>
            <a:r>
              <a:rPr lang="en-US" sz="1400" dirty="0">
                <a:solidFill>
                  <a:srgbClr val="02C39A"/>
                </a:solidFill>
                <a:latin typeface="Consolas" pitchFamily="34" charset="0"/>
                <a:ea typeface="Consolas" pitchFamily="34" charset="-122"/>
                <a:cs typeface="Consolas" pitchFamily="34" charset="-120"/>
              </a:rPr>
              <a:t>student@okan-lab:~/lab/scripts$ </a:t>
            </a:r>
            <a:r>
              <a:rPr lang="en-US" sz="1400" b="1" dirty="0">
                <a:solidFill>
                  <a:srgbClr val="FFFFFF"/>
                </a:solidFill>
                <a:latin typeface="Consolas" pitchFamily="34" charset="0"/>
                <a:ea typeface="Consolas" pitchFamily="34" charset="-122"/>
                <a:cs typeface="Consolas" pitchFamily="34" charset="-120"/>
              </a:rPr>
              <a:t>echo "Hello, $name!"</a:t>
            </a:r>
            <a:endParaRPr lang="en-US" sz="1400" dirty="0"/>
          </a:p>
          <a:p>
            <a:pPr indent="0" marL="0">
              <a:lnSpc>
                <a:spcPct val="100000"/>
              </a:lnSpc>
              <a:buNone/>
            </a:pPr>
            <a:r>
              <a:rPr lang="en-US" sz="1400" dirty="0">
                <a:solidFill>
                  <a:srgbClr val="C9D1D3"/>
                </a:solidFill>
                <a:latin typeface="Consolas" pitchFamily="34" charset="0"/>
                <a:ea typeface="Consolas" pitchFamily="34" charset="-122"/>
                <a:cs typeface="Consolas" pitchFamily="34" charset="-120"/>
              </a:rPr>
              <a:t>Hello, Ayse!</a:t>
            </a:r>
            <a:endParaRPr lang="en-US" sz="1400" dirty="0"/>
          </a:p>
          <a:p>
            <a:pPr indent="0" marL="0">
              <a:lnSpc>
                <a:spcPct val="100000"/>
              </a:lnSpc>
              <a:buNone/>
            </a:pPr>
            <a:r>
              <a:rPr lang="en-US" sz="1400" dirty="0">
                <a:solidFill>
                  <a:srgbClr val="02C39A"/>
                </a:solidFill>
                <a:latin typeface="Consolas" pitchFamily="34" charset="0"/>
                <a:ea typeface="Consolas" pitchFamily="34" charset="-122"/>
                <a:cs typeface="Consolas" pitchFamily="34" charset="-120"/>
              </a:rPr>
              <a:t>student@okan-lab:~/lab/scripts$ </a:t>
            </a:r>
            <a:r>
              <a:rPr lang="en-US" sz="1400" b="1" dirty="0">
                <a:solidFill>
                  <a:srgbClr val="FFFFFF"/>
                </a:solidFill>
                <a:latin typeface="Consolas" pitchFamily="34" charset="0"/>
                <a:ea typeface="Consolas" pitchFamily="34" charset="-122"/>
                <a:cs typeface="Consolas" pitchFamily="34" charset="-120"/>
              </a:rPr>
              <a:t>name = Ayse</a:t>
            </a:r>
            <a:endParaRPr lang="en-US" sz="1400" dirty="0"/>
          </a:p>
          <a:p>
            <a:pPr indent="0" marL="0">
              <a:lnSpc>
                <a:spcPct val="100000"/>
              </a:lnSpc>
              <a:buNone/>
            </a:pPr>
            <a:r>
              <a:rPr lang="en-US" sz="1400" dirty="0">
                <a:solidFill>
                  <a:srgbClr val="C9D1D3"/>
                </a:solidFill>
                <a:latin typeface="Consolas" pitchFamily="34" charset="0"/>
                <a:ea typeface="Consolas" pitchFamily="34" charset="-122"/>
                <a:cs typeface="Consolas" pitchFamily="34" charset="-120"/>
              </a:rPr>
              <a:t>bash: name: command not found</a:t>
            </a:r>
            <a:endParaRPr lang="en-US" sz="1400" dirty="0"/>
          </a:p>
        </p:txBody>
      </p:sp>
      <p:sp>
        <p:nvSpPr>
          <p:cNvPr id="8" name="Shape 6"/>
          <p:cNvSpPr/>
          <p:nvPr/>
        </p:nvSpPr>
        <p:spPr>
          <a:xfrm>
            <a:off x="7086600" y="1508760"/>
            <a:ext cx="4572000" cy="4754880"/>
          </a:xfrm>
          <a:prstGeom prst="roundRect">
            <a:avLst>
              <a:gd name="adj" fmla="val 1200"/>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9" name="Text 7"/>
          <p:cNvSpPr txBox="1"/>
          <p:nvPr/>
        </p:nvSpPr>
        <p:spPr>
          <a:xfrm>
            <a:off x="7315200" y="1691640"/>
            <a:ext cx="411480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The rules</a:t>
            </a:r>
            <a:endParaRPr lang="en-US" sz="1500" dirty="0"/>
          </a:p>
        </p:txBody>
      </p:sp>
      <p:sp>
        <p:nvSpPr>
          <p:cNvPr id="10" name="Text 8"/>
          <p:cNvSpPr txBox="1"/>
          <p:nvPr/>
        </p:nvSpPr>
        <p:spPr>
          <a:xfrm>
            <a:off x="7315200" y="2148840"/>
            <a:ext cx="4114800" cy="3977640"/>
          </a:xfrm>
          <a:prstGeom prst="rect">
            <a:avLst/>
          </a:prstGeom>
          <a:noFill/>
          <a:ln/>
        </p:spPr>
        <p:txBody>
          <a:bodyPr wrap="square" lIns="0" tIns="0" rIns="0" bIns="0" rtlCol="0" anchor="t"/>
          <a:lstStyle/>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Assign:</a:t>
            </a:r>
            <a:r>
              <a:rPr lang="en-US" sz="1350" dirty="0">
                <a:solidFill>
                  <a:srgbClr val="3A464C"/>
                </a:solidFill>
                <a:latin typeface="Calibri" pitchFamily="34" charset="0"/>
                <a:ea typeface="Calibri" pitchFamily="34" charset="-122"/>
                <a:cs typeface="Calibri" pitchFamily="34" charset="-120"/>
              </a:rPr>
              <a:t> name=value — no spaces around =.</a:t>
            </a:r>
            <a:endParaRPr lang="en-US" sz="1350" dirty="0"/>
          </a:p>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Use:</a:t>
            </a:r>
            <a:r>
              <a:rPr lang="en-US" sz="1350" dirty="0">
                <a:solidFill>
                  <a:srgbClr val="3A464C"/>
                </a:solidFill>
                <a:latin typeface="Calibri" pitchFamily="34" charset="0"/>
                <a:ea typeface="Calibri" pitchFamily="34" charset="-122"/>
                <a:cs typeface="Calibri" pitchFamily="34" charset="-120"/>
              </a:rPr>
              <a:t> $name or ${name}; an unset variable is simply empty.</a:t>
            </a:r>
            <a:endParaRPr lang="en-US" sz="1350" dirty="0"/>
          </a:p>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Names:</a:t>
            </a:r>
            <a:r>
              <a:rPr lang="en-US" sz="1350" dirty="0">
                <a:solidFill>
                  <a:srgbClr val="3A464C"/>
                </a:solidFill>
                <a:latin typeface="Calibri" pitchFamily="34" charset="0"/>
                <a:ea typeface="Calibri" pitchFamily="34" charset="-122"/>
                <a:cs typeface="Calibri" pitchFamily="34" charset="-120"/>
              </a:rPr>
              <a:t> letters, digits, _; not starting with a digit; case-sensitive (name ≠ NAME).</a:t>
            </a:r>
            <a:endParaRPr lang="en-US" sz="1350" dirty="0"/>
          </a:p>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Everything is text:</a:t>
            </a:r>
            <a:r>
              <a:rPr lang="en-US" sz="1350" dirty="0">
                <a:solidFill>
                  <a:srgbClr val="3A464C"/>
                </a:solidFill>
                <a:latin typeface="Calibri" pitchFamily="34" charset="0"/>
                <a:ea typeface="Calibri" pitchFamily="34" charset="-122"/>
                <a:cs typeface="Calibri" pitchFamily="34" charset="-120"/>
              </a:rPr>
              <a:t> count=5 stores the string "5"; arithmetic needs $(( )).</a:t>
            </a:r>
            <a:endParaRPr lang="en-US" sz="1350" dirty="0"/>
          </a:p>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Convention:</a:t>
            </a:r>
            <a:r>
              <a:rPr lang="en-US" sz="1350" dirty="0">
                <a:solidFill>
                  <a:srgbClr val="3A464C"/>
                </a:solidFill>
                <a:latin typeface="Calibri" pitchFamily="34" charset="0"/>
                <a:ea typeface="Calibri" pitchFamily="34" charset="-122"/>
                <a:cs typeface="Calibri" pitchFamily="34" charset="-120"/>
              </a:rPr>
              <a:t> UPPERCASE for environment variables (HOME, USER, PATH); lowercase for your own.</a:t>
            </a:r>
            <a:endParaRPr lang="en-US" sz="1350" dirty="0"/>
          </a:p>
        </p:txBody>
      </p:sp>
      <p:sp>
        <p:nvSpPr>
          <p:cNvPr id="11" name="Shape 9"/>
          <p:cNvSpPr/>
          <p:nvPr/>
        </p:nvSpPr>
        <p:spPr>
          <a:xfrm>
            <a:off x="548640" y="4480560"/>
            <a:ext cx="6309360" cy="1783080"/>
          </a:xfrm>
          <a:prstGeom prst="roundRect">
            <a:avLst>
              <a:gd name="adj" fmla="val 3077"/>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12" name="Text 10"/>
          <p:cNvSpPr txBox="1"/>
          <p:nvPr/>
        </p:nvSpPr>
        <p:spPr>
          <a:xfrm>
            <a:off x="777240" y="4480560"/>
            <a:ext cx="5852160" cy="178308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name = Ayse  is read as: run the command name with the two arguments = and Ayse. Hence "name: command not found". The space is not decoration in bash — it separates words.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VARIABLES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Command Substitution $( ) and Arithmetic $(( ))</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14  ·  12</a:t>
            </a:r>
            <a:endParaRPr lang="en-US" sz="900" dirty="0"/>
          </a:p>
        </p:txBody>
      </p:sp>
      <p:sp>
        <p:nvSpPr>
          <p:cNvPr id="6" name="Shape 4"/>
          <p:cNvSpPr/>
          <p:nvPr/>
        </p:nvSpPr>
        <p:spPr>
          <a:xfrm>
            <a:off x="548640" y="1508760"/>
            <a:ext cx="6949440" cy="3337560"/>
          </a:xfrm>
          <a:prstGeom prst="roundRect">
            <a:avLst>
              <a:gd name="adj" fmla="val 1370"/>
            </a:avLst>
          </a:prstGeom>
          <a:solidFill>
            <a:srgbClr val="212121"/>
          </a:solidFill>
          <a:ln/>
        </p:spPr>
        <p:txBody>
          <a:bodyPr/>
          <a:p/>
        </p:txBody>
      </p:sp>
      <p:sp>
        <p:nvSpPr>
          <p:cNvPr id="7" name="Text 5"/>
          <p:cNvSpPr txBox="1"/>
          <p:nvPr/>
        </p:nvSpPr>
        <p:spPr>
          <a:xfrm>
            <a:off x="731520" y="1618488"/>
            <a:ext cx="6583680" cy="3118104"/>
          </a:xfrm>
          <a:prstGeom prst="rect">
            <a:avLst/>
          </a:prstGeom>
          <a:noFill/>
          <a:ln/>
        </p:spPr>
        <p:txBody>
          <a:bodyPr wrap="square" lIns="0" tIns="0" rIns="0" bIns="0" rtlCol="0" anchor="t"/>
          <a:lstStyle/>
          <a:p>
            <a:pPr indent="0" marL="0">
              <a:lnSpc>
                <a:spcPct val="100000"/>
              </a:lnSpc>
              <a:buNone/>
            </a:pPr>
            <a:r>
              <a:rPr lang="en-US" sz="1250" dirty="0">
                <a:solidFill>
                  <a:srgbClr val="F2F2F2"/>
                </a:solidFill>
                <a:latin typeface="Consolas" pitchFamily="34" charset="0"/>
                <a:ea typeface="Consolas" pitchFamily="34" charset="-122"/>
                <a:cs typeface="Consolas" pitchFamily="34" charset="-120"/>
              </a:rPr>
              <a:t>name="Ayse"</a:t>
            </a:r>
            <a:r>
              <a:rPr lang="en-US" sz="1250" dirty="0">
                <a:solidFill>
                  <a:srgbClr val="8A9AA0"/>
                </a:solidFill>
                <a:latin typeface="Consolas" pitchFamily="34" charset="0"/>
                <a:ea typeface="Consolas" pitchFamily="34" charset="-122"/>
                <a:cs typeface="Consolas" pitchFamily="34" charset="-120"/>
              </a:rPr>
              <a:t>                     # NO spaces around the = sign</a:t>
            </a:r>
            <a:endParaRPr lang="en-US" sz="1250" dirty="0"/>
          </a:p>
          <a:p>
            <a:pPr indent="0" marL="0">
              <a:lnSpc>
                <a:spcPct val="100000"/>
              </a:lnSpc>
              <a:buNone/>
            </a:pPr>
            <a:r>
              <a:rPr lang="en-US" sz="1250" dirty="0">
                <a:solidFill>
                  <a:srgbClr val="F2F2F2"/>
                </a:solidFill>
                <a:latin typeface="Consolas" pitchFamily="34" charset="0"/>
                <a:ea typeface="Consolas" pitchFamily="34" charset="-122"/>
                <a:cs typeface="Consolas" pitchFamily="34" charset="-120"/>
              </a:rPr>
              <a:t>course=MCMP117</a:t>
            </a:r>
            <a:endParaRPr lang="en-US" sz="1250" dirty="0"/>
          </a:p>
          <a:p>
            <a:pPr indent="0" marL="0">
              <a:lnSpc>
                <a:spcPct val="100000"/>
              </a:lnSpc>
              <a:buNone/>
            </a:pPr>
            <a:r>
              <a:rPr lang="en-US" sz="1250" dirty="0">
                <a:solidFill>
                  <a:srgbClr val="F2F2F2"/>
                </a:solidFill>
                <a:latin typeface="Consolas" pitchFamily="34" charset="0"/>
                <a:ea typeface="Consolas" pitchFamily="34" charset="-122"/>
                <a:cs typeface="Consolas" pitchFamily="34" charset="-120"/>
              </a:rPr>
              <a:t>week=14</a:t>
            </a:r>
            <a:endParaRPr lang="en-US" sz="1250" dirty="0"/>
          </a:p>
          <a:p>
            <a:pPr indent="0" marL="0">
              <a:lnSpc>
                <a:spcPct val="100000"/>
              </a:lnSpc>
              <a:buNone/>
            </a:pPr>
            <a:r>
              <a:rPr lang="en-US" sz="1250" dirty="0">
                <a:solidFill>
                  <a:srgbClr val="F2F2F2"/>
                </a:solidFill>
                <a:latin typeface="Consolas" pitchFamily="34" charset="0"/>
                <a:ea typeface="Consolas" pitchFamily="34" charset="-122"/>
                <a:cs typeface="Consolas" pitchFamily="34" charset="-120"/>
              </a:rPr>
              <a:t>echo "Student: $name, course: $course, week $week"</a:t>
            </a:r>
            <a:endParaRPr lang="en-US" sz="1250" dirty="0"/>
          </a:p>
          <a:p>
            <a:pPr indent="0" marL="0">
              <a:lnSpc>
                <a:spcPct val="100000"/>
              </a:lnSpc>
              <a:buNone/>
            </a:pPr>
            <a:r>
              <a:rPr lang="en-US" sz="1250" dirty="0">
                <a:solidFill>
                  <a:srgbClr val="F2F2F2"/>
                </a:solidFill>
                <a:latin typeface="Consolas" pitchFamily="34" charset="0"/>
                <a:ea typeface="Consolas" pitchFamily="34" charset="-122"/>
                <a:cs typeface="Consolas" pitchFamily="34" charset="-120"/>
              </a:rPr>
              <a:t> </a:t>
            </a:r>
            <a:endParaRPr lang="en-US" sz="1250" dirty="0"/>
          </a:p>
          <a:p>
            <a:pPr indent="0" marL="0">
              <a:lnSpc>
                <a:spcPct val="100000"/>
              </a:lnSpc>
              <a:buNone/>
            </a:pPr>
            <a:r>
              <a:rPr lang="en-US" sz="1250" dirty="0">
                <a:solidFill>
                  <a:srgbClr val="F2F2F2"/>
                </a:solidFill>
                <a:latin typeface="Consolas" pitchFamily="34" charset="0"/>
                <a:ea typeface="Consolas" pitchFamily="34" charset="-122"/>
                <a:cs typeface="Consolas" pitchFamily="34" charset="-120"/>
              </a:rPr>
              <a:t>today=$(date +%Y-%m-%d)</a:t>
            </a:r>
            <a:r>
              <a:rPr lang="en-US" sz="1250" dirty="0">
                <a:solidFill>
                  <a:srgbClr val="8A9AA0"/>
                </a:solidFill>
                <a:latin typeface="Consolas" pitchFamily="34" charset="0"/>
                <a:ea typeface="Consolas" pitchFamily="34" charset="-122"/>
                <a:cs typeface="Consolas" pitchFamily="34" charset="-120"/>
              </a:rPr>
              <a:t>         # $( ) = the OUTPUT of a command</a:t>
            </a:r>
            <a:endParaRPr lang="en-US" sz="1250" dirty="0"/>
          </a:p>
          <a:p>
            <a:pPr indent="0" marL="0">
              <a:lnSpc>
                <a:spcPct val="100000"/>
              </a:lnSpc>
              <a:buNone/>
            </a:pPr>
            <a:r>
              <a:rPr lang="en-US" sz="1250" dirty="0">
                <a:solidFill>
                  <a:srgbClr val="F2F2F2"/>
                </a:solidFill>
                <a:latin typeface="Consolas" pitchFamily="34" charset="0"/>
                <a:ea typeface="Consolas" pitchFamily="34" charset="-122"/>
                <a:cs typeface="Consolas" pitchFamily="34" charset="-120"/>
              </a:rPr>
              <a:t>lines=$(wc -l &lt; ~/lab/docs/syllabus.txt)</a:t>
            </a:r>
            <a:endParaRPr lang="en-US" sz="1250" dirty="0"/>
          </a:p>
          <a:p>
            <a:pPr indent="0" marL="0">
              <a:lnSpc>
                <a:spcPct val="100000"/>
              </a:lnSpc>
              <a:buNone/>
            </a:pPr>
            <a:r>
              <a:rPr lang="en-US" sz="1250" dirty="0">
                <a:solidFill>
                  <a:srgbClr val="F2F2F2"/>
                </a:solidFill>
                <a:latin typeface="Consolas" pitchFamily="34" charset="0"/>
                <a:ea typeface="Consolas" pitchFamily="34" charset="-122"/>
                <a:cs typeface="Consolas" pitchFamily="34" charset="-120"/>
              </a:rPr>
              <a:t>echo "Today is $today; the syllabus has $lines lines"</a:t>
            </a:r>
            <a:endParaRPr lang="en-US" sz="1250" dirty="0"/>
          </a:p>
          <a:p>
            <a:pPr indent="0" marL="0">
              <a:lnSpc>
                <a:spcPct val="100000"/>
              </a:lnSpc>
              <a:buNone/>
            </a:pPr>
            <a:r>
              <a:rPr lang="en-US" sz="1250" dirty="0">
                <a:solidFill>
                  <a:srgbClr val="F2F2F2"/>
                </a:solidFill>
                <a:latin typeface="Consolas" pitchFamily="34" charset="0"/>
                <a:ea typeface="Consolas" pitchFamily="34" charset="-122"/>
                <a:cs typeface="Consolas" pitchFamily="34" charset="-120"/>
              </a:rPr>
              <a:t> </a:t>
            </a:r>
            <a:endParaRPr lang="en-US" sz="1250" dirty="0"/>
          </a:p>
          <a:p>
            <a:pPr indent="0" marL="0">
              <a:lnSpc>
                <a:spcPct val="100000"/>
              </a:lnSpc>
              <a:buNone/>
            </a:pPr>
            <a:r>
              <a:rPr lang="en-US" sz="1250" dirty="0">
                <a:solidFill>
                  <a:srgbClr val="F2F2F2"/>
                </a:solidFill>
                <a:latin typeface="Consolas" pitchFamily="34" charset="0"/>
                <a:ea typeface="Consolas" pitchFamily="34" charset="-122"/>
                <a:cs typeface="Consolas" pitchFamily="34" charset="-120"/>
              </a:rPr>
              <a:t>left=$((15 - week))</a:t>
            </a:r>
            <a:r>
              <a:rPr lang="en-US" sz="1250" dirty="0">
                <a:solidFill>
                  <a:srgbClr val="8A9AA0"/>
                </a:solidFill>
                <a:latin typeface="Consolas" pitchFamily="34" charset="0"/>
                <a:ea typeface="Consolas" pitchFamily="34" charset="-122"/>
                <a:cs typeface="Consolas" pitchFamily="34" charset="-120"/>
              </a:rPr>
              <a:t>             # $(( )) = integer arithmetic</a:t>
            </a:r>
            <a:endParaRPr lang="en-US" sz="1250" dirty="0"/>
          </a:p>
          <a:p>
            <a:pPr indent="0" marL="0">
              <a:lnSpc>
                <a:spcPct val="100000"/>
              </a:lnSpc>
              <a:buNone/>
            </a:pPr>
            <a:r>
              <a:rPr lang="en-US" sz="1250" dirty="0">
                <a:solidFill>
                  <a:srgbClr val="F2F2F2"/>
                </a:solidFill>
                <a:latin typeface="Consolas" pitchFamily="34" charset="0"/>
                <a:ea typeface="Consolas" pitchFamily="34" charset="-122"/>
                <a:cs typeface="Consolas" pitchFamily="34" charset="-120"/>
              </a:rPr>
              <a:t>echo "Weeks left until the final exam: $left"</a:t>
            </a:r>
            <a:endParaRPr lang="en-US" sz="1250" dirty="0"/>
          </a:p>
          <a:p>
            <a:pPr indent="0" marL="0">
              <a:lnSpc>
                <a:spcPct val="100000"/>
              </a:lnSpc>
              <a:buNone/>
            </a:pPr>
            <a:r>
              <a:rPr lang="en-US" sz="1250" dirty="0">
                <a:solidFill>
                  <a:srgbClr val="F2F2F2"/>
                </a:solidFill>
                <a:latin typeface="Consolas" pitchFamily="34" charset="0"/>
                <a:ea typeface="Consolas" pitchFamily="34" charset="-122"/>
                <a:cs typeface="Consolas" pitchFamily="34" charset="-120"/>
              </a:rPr>
              <a:t>echo "7 / 2 = $((7 / 2)) remainder $((7 % 2))   (integers only!)"</a:t>
            </a:r>
            <a:endParaRPr lang="en-US" sz="1250" dirty="0"/>
          </a:p>
        </p:txBody>
      </p:sp>
      <p:sp>
        <p:nvSpPr>
          <p:cNvPr id="8" name="Shape 6"/>
          <p:cNvSpPr/>
          <p:nvPr/>
        </p:nvSpPr>
        <p:spPr>
          <a:xfrm>
            <a:off x="548640" y="5029200"/>
            <a:ext cx="6949440" cy="1234440"/>
          </a:xfrm>
          <a:prstGeom prst="roundRect">
            <a:avLst>
              <a:gd name="adj" fmla="val 3704"/>
            </a:avLst>
          </a:prstGeom>
          <a:solidFill>
            <a:srgbClr val="212121"/>
          </a:solidFill>
          <a:ln/>
        </p:spPr>
        <p:txBody>
          <a:bodyPr/>
          <a:p/>
        </p:txBody>
      </p:sp>
      <p:sp>
        <p:nvSpPr>
          <p:cNvPr id="9" name="Text 7"/>
          <p:cNvSpPr txBox="1"/>
          <p:nvPr/>
        </p:nvSpPr>
        <p:spPr>
          <a:xfrm>
            <a:off x="731520" y="5138928"/>
            <a:ext cx="6583680" cy="1014984"/>
          </a:xfrm>
          <a:prstGeom prst="rect">
            <a:avLst/>
          </a:prstGeom>
          <a:noFill/>
          <a:ln/>
        </p:spPr>
        <p:txBody>
          <a:bodyPr wrap="square" lIns="0" tIns="0" rIns="0" bIns="0" rtlCol="0" anchor="t"/>
          <a:lstStyle/>
          <a:p>
            <a:pPr indent="0" marL="0">
              <a:lnSpc>
                <a:spcPct val="100000"/>
              </a:lnSpc>
              <a:buNone/>
            </a:pPr>
            <a:r>
              <a:rPr lang="en-US" sz="1200" dirty="0">
                <a:solidFill>
                  <a:srgbClr val="02C39A"/>
                </a:solidFill>
                <a:latin typeface="Consolas" pitchFamily="34" charset="0"/>
                <a:ea typeface="Consolas" pitchFamily="34" charset="-122"/>
                <a:cs typeface="Consolas" pitchFamily="34" charset="-120"/>
              </a:rPr>
              <a:t>student@okan-lab:~/lab/scripts$ </a:t>
            </a:r>
            <a:r>
              <a:rPr lang="en-US" sz="1200" b="1" dirty="0">
                <a:solidFill>
                  <a:srgbClr val="FFFFFF"/>
                </a:solidFill>
                <a:latin typeface="Consolas" pitchFamily="34" charset="0"/>
                <a:ea typeface="Consolas" pitchFamily="34" charset="-122"/>
                <a:cs typeface="Consolas" pitchFamily="34" charset="-120"/>
              </a:rPr>
              <a:t>./variables.sh</a:t>
            </a:r>
            <a:endParaRPr lang="en-US" sz="1200" dirty="0"/>
          </a:p>
          <a:p>
            <a:pPr indent="0" marL="0">
              <a:lnSpc>
                <a:spcPct val="100000"/>
              </a:lnSpc>
              <a:buNone/>
            </a:pPr>
            <a:r>
              <a:rPr lang="en-US" sz="1200" dirty="0">
                <a:solidFill>
                  <a:srgbClr val="C9D1D3"/>
                </a:solidFill>
                <a:latin typeface="Consolas" pitchFamily="34" charset="0"/>
                <a:ea typeface="Consolas" pitchFamily="34" charset="-122"/>
                <a:cs typeface="Consolas" pitchFamily="34" charset="-120"/>
              </a:rPr>
              <a:t>Student: Ayse, course: MCMP117, week 14</a:t>
            </a:r>
            <a:endParaRPr lang="en-US" sz="1200" dirty="0"/>
          </a:p>
          <a:p>
            <a:pPr indent="0" marL="0">
              <a:lnSpc>
                <a:spcPct val="100000"/>
              </a:lnSpc>
              <a:buNone/>
            </a:pPr>
            <a:r>
              <a:rPr lang="en-US" sz="1200" dirty="0">
                <a:solidFill>
                  <a:srgbClr val="C9D1D3"/>
                </a:solidFill>
                <a:latin typeface="Consolas" pitchFamily="34" charset="0"/>
                <a:ea typeface="Consolas" pitchFamily="34" charset="-122"/>
                <a:cs typeface="Consolas" pitchFamily="34" charset="-120"/>
              </a:rPr>
              <a:t>Today is 2026-10-12; the syllabus has 15 lines</a:t>
            </a:r>
            <a:endParaRPr lang="en-US" sz="1200" dirty="0"/>
          </a:p>
          <a:p>
            <a:pPr indent="0" marL="0">
              <a:lnSpc>
                <a:spcPct val="100000"/>
              </a:lnSpc>
              <a:buNone/>
            </a:pPr>
            <a:r>
              <a:rPr lang="en-US" sz="1200" dirty="0">
                <a:solidFill>
                  <a:srgbClr val="C9D1D3"/>
                </a:solidFill>
                <a:latin typeface="Consolas" pitchFamily="34" charset="0"/>
                <a:ea typeface="Consolas" pitchFamily="34" charset="-122"/>
                <a:cs typeface="Consolas" pitchFamily="34" charset="-120"/>
              </a:rPr>
              <a:t>Weeks left until the final exam: 1</a:t>
            </a:r>
            <a:endParaRPr lang="en-US" sz="1200" dirty="0"/>
          </a:p>
          <a:p>
            <a:pPr indent="0" marL="0">
              <a:lnSpc>
                <a:spcPct val="100000"/>
              </a:lnSpc>
              <a:buNone/>
            </a:pPr>
            <a:r>
              <a:rPr lang="en-US" sz="1200" dirty="0">
                <a:solidFill>
                  <a:srgbClr val="C9D1D3"/>
                </a:solidFill>
                <a:latin typeface="Consolas" pitchFamily="34" charset="0"/>
                <a:ea typeface="Consolas" pitchFamily="34" charset="-122"/>
                <a:cs typeface="Consolas" pitchFamily="34" charset="-120"/>
              </a:rPr>
              <a:t>7 / 2 = 3 remainder 1   (integers only!)</a:t>
            </a:r>
            <a:endParaRPr lang="en-US" sz="1200" dirty="0"/>
          </a:p>
        </p:txBody>
      </p:sp>
      <p:sp>
        <p:nvSpPr>
          <p:cNvPr id="10" name="Shape 8"/>
          <p:cNvSpPr/>
          <p:nvPr/>
        </p:nvSpPr>
        <p:spPr>
          <a:xfrm>
            <a:off x="7726680" y="1508760"/>
            <a:ext cx="3931920" cy="4754880"/>
          </a:xfrm>
          <a:prstGeom prst="roundRect">
            <a:avLst>
              <a:gd name="adj" fmla="val 139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1" name="Text 9"/>
          <p:cNvSpPr txBox="1"/>
          <p:nvPr/>
        </p:nvSpPr>
        <p:spPr>
          <a:xfrm>
            <a:off x="7955280" y="1691640"/>
            <a:ext cx="347472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Two expansions</a:t>
            </a:r>
            <a:endParaRPr lang="en-US" sz="1500" dirty="0"/>
          </a:p>
        </p:txBody>
      </p:sp>
      <p:sp>
        <p:nvSpPr>
          <p:cNvPr id="12" name="Text 10"/>
          <p:cNvSpPr txBox="1"/>
          <p:nvPr/>
        </p:nvSpPr>
        <p:spPr>
          <a:xfrm>
            <a:off x="7955280" y="2148840"/>
            <a:ext cx="3474720" cy="3977640"/>
          </a:xfrm>
          <a:prstGeom prst="rect">
            <a:avLst/>
          </a:prstGeom>
          <a:noFill/>
          <a:ln/>
        </p:spPr>
        <p:txBody>
          <a:bodyPr wrap="square" lIns="0" tIns="0" rIns="0" bIns="0" rtlCol="0" anchor="t"/>
          <a:lstStyle/>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$(command)</a:t>
            </a:r>
            <a:r>
              <a:rPr lang="en-US" sz="1350" dirty="0">
                <a:solidFill>
                  <a:srgbClr val="3A464C"/>
                </a:solidFill>
                <a:latin typeface="Calibri" pitchFamily="34" charset="0"/>
                <a:ea typeface="Calibri" pitchFamily="34" charset="-122"/>
                <a:cs typeface="Calibri" pitchFamily="34" charset="-120"/>
              </a:rPr>
              <a:t> → replaced by the output of the command (trailing newline removed). Old form: `command`.</a:t>
            </a:r>
            <a:endParaRPr lang="en-US" sz="1350" dirty="0"/>
          </a:p>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$((expression))</a:t>
            </a:r>
            <a:r>
              <a:rPr lang="en-US" sz="1350" dirty="0">
                <a:solidFill>
                  <a:srgbClr val="3A464C"/>
                </a:solidFill>
                <a:latin typeface="Calibri" pitchFamily="34" charset="0"/>
                <a:ea typeface="Calibri" pitchFamily="34" charset="-122"/>
                <a:cs typeface="Calibri" pitchFamily="34" charset="-120"/>
              </a:rPr>
              <a:t> → integer arithmetic: + − * / % and ( ). Inside, $ before names is optional.</a:t>
            </a:r>
            <a:endParaRPr lang="en-US" sz="1350" dirty="0"/>
          </a:p>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Integers only:</a:t>
            </a:r>
            <a:r>
              <a:rPr lang="en-US" sz="1350" dirty="0">
                <a:solidFill>
                  <a:srgbClr val="3A464C"/>
                </a:solidFill>
                <a:latin typeface="Calibri" pitchFamily="34" charset="0"/>
                <a:ea typeface="Calibri" pitchFamily="34" charset="-122"/>
                <a:cs typeface="Calibri" pitchFamily="34" charset="-120"/>
              </a:rPr>
              <a:t> 7 / 2 = 3, the remainder 7 % 2 = 1. For decimals use awk (report.sh) or bc.</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QUOTING</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Double Quotes, Single Quotes, No Quotes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14  ·  13</a:t>
            </a:r>
            <a:endParaRPr lang="en-US" sz="900" dirty="0"/>
          </a:p>
        </p:txBody>
      </p:sp>
      <p:sp>
        <p:nvSpPr>
          <p:cNvPr id="6" name="Shape 4"/>
          <p:cNvSpPr/>
          <p:nvPr/>
        </p:nvSpPr>
        <p:spPr>
          <a:xfrm>
            <a:off x="548640" y="1508760"/>
            <a:ext cx="6949440" cy="2697480"/>
          </a:xfrm>
          <a:prstGeom prst="roundRect">
            <a:avLst>
              <a:gd name="adj" fmla="val 1695"/>
            </a:avLst>
          </a:prstGeom>
          <a:solidFill>
            <a:srgbClr val="212121"/>
          </a:solidFill>
          <a:ln/>
        </p:spPr>
        <p:txBody>
          <a:bodyPr/>
          <a:p/>
        </p:txBody>
      </p:sp>
      <p:sp>
        <p:nvSpPr>
          <p:cNvPr id="7" name="Text 5"/>
          <p:cNvSpPr txBox="1"/>
          <p:nvPr/>
        </p:nvSpPr>
        <p:spPr>
          <a:xfrm>
            <a:off x="731520" y="1618488"/>
            <a:ext cx="6583680" cy="2478024"/>
          </a:xfrm>
          <a:prstGeom prst="rect">
            <a:avLst/>
          </a:prstGeom>
          <a:noFill/>
          <a:ln/>
        </p:spPr>
        <p:txBody>
          <a:bodyPr wrap="square" lIns="0" tIns="0" rIns="0" bIns="0" rtlCol="0" anchor="t"/>
          <a:lstStyle/>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name="Ayse"</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file="final report.txt"</a:t>
            </a:r>
            <a:r>
              <a:rPr lang="en-US" sz="1200" dirty="0">
                <a:solidFill>
                  <a:srgbClr val="8A9AA0"/>
                </a:solidFill>
                <a:latin typeface="Consolas" pitchFamily="34" charset="0"/>
                <a:ea typeface="Consolas" pitchFamily="34" charset="-122"/>
                <a:cs typeface="Consolas" pitchFamily="34" charset="-120"/>
              </a:rPr>
              <a:t>         # a file name that contains a space</a:t>
            </a:r>
            <a:endParaRPr lang="en-US" sz="1200" dirty="0"/>
          </a:p>
          <a:p>
            <a:pPr indent="0" marL="0">
              <a:lnSpc>
                <a:spcPct val="100000"/>
              </a:lnSpc>
              <a:buNone/>
            </a:pPr>
            <a:r>
              <a:rPr lang="en-US" sz="1200" dirty="0">
                <a:solidFill>
                  <a:srgbClr val="8A9AA0"/>
                </a:solidFill>
                <a:latin typeface="Consolas" pitchFamily="34" charset="0"/>
                <a:ea typeface="Consolas" pitchFamily="34" charset="-122"/>
                <a:cs typeface="Consolas" pitchFamily="34" charset="-120"/>
              </a:rPr>
              <a:t># shellcheck disable=SC2016     # (on purpose)</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echo 'Single: Hello $name'</a:t>
            </a:r>
            <a:r>
              <a:rPr lang="en-US" sz="1200" dirty="0">
                <a:solidFill>
                  <a:srgbClr val="8A9AA0"/>
                </a:solidFill>
                <a:latin typeface="Consolas" pitchFamily="34" charset="0"/>
                <a:ea typeface="Consolas" pitchFamily="34" charset="-122"/>
                <a:cs typeface="Consolas" pitchFamily="34" charset="-120"/>
              </a:rPr>
              <a:t>      # '...' : everything is literal</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echo "Double: Hello $name"</a:t>
            </a:r>
            <a:r>
              <a:rPr lang="en-US" sz="1200" dirty="0">
                <a:solidFill>
                  <a:srgbClr val="8A9AA0"/>
                </a:solidFill>
                <a:latin typeface="Consolas" pitchFamily="34" charset="0"/>
                <a:ea typeface="Consolas" pitchFamily="34" charset="-122"/>
                <a:cs typeface="Consolas" pitchFamily="34" charset="-120"/>
              </a:rPr>
              <a:t>      # "..." : $var and $( ) expanded</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echo "Escaped: it costs \$5"</a:t>
            </a:r>
            <a:r>
              <a:rPr lang="en-US" sz="1200" dirty="0">
                <a:solidFill>
                  <a:srgbClr val="8A9AA0"/>
                </a:solidFill>
                <a:latin typeface="Consolas" pitchFamily="34" charset="0"/>
                <a:ea typeface="Consolas" pitchFamily="34" charset="-122"/>
                <a:cs typeface="Consolas" pitchFamily="34" charset="-120"/>
              </a:rPr>
              <a:t>    # \$ : one literal dollar sign</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cd ~/lab/docs || exit 1</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wc -l "$file"</a:t>
            </a:r>
            <a:r>
              <a:rPr lang="en-US" sz="1200" dirty="0">
                <a:solidFill>
                  <a:srgbClr val="8A9AA0"/>
                </a:solidFill>
                <a:latin typeface="Consolas" pitchFamily="34" charset="0"/>
                <a:ea typeface="Consolas" pitchFamily="34" charset="-122"/>
                <a:cs typeface="Consolas" pitchFamily="34" charset="-120"/>
              </a:rPr>
              <a:t>                   # quoted:   ONE argument</a:t>
            </a:r>
            <a:endParaRPr lang="en-US" sz="1200" dirty="0"/>
          </a:p>
          <a:p>
            <a:pPr indent="0" marL="0">
              <a:lnSpc>
                <a:spcPct val="100000"/>
              </a:lnSpc>
              <a:buNone/>
            </a:pPr>
            <a:r>
              <a:rPr lang="en-US" sz="1200" dirty="0">
                <a:solidFill>
                  <a:srgbClr val="8A9AA0"/>
                </a:solidFill>
                <a:latin typeface="Consolas" pitchFamily="34" charset="0"/>
                <a:ea typeface="Consolas" pitchFamily="34" charset="-122"/>
                <a:cs typeface="Consolas" pitchFamily="34" charset="-120"/>
              </a:rPr>
              <a:t># shellcheck disable=SC2086     # (on purpose)</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wc -l $file</a:t>
            </a:r>
            <a:r>
              <a:rPr lang="en-US" sz="1200" dirty="0">
                <a:solidFill>
                  <a:srgbClr val="8A9AA0"/>
                </a:solidFill>
                <a:latin typeface="Consolas" pitchFamily="34" charset="0"/>
                <a:ea typeface="Consolas" pitchFamily="34" charset="-122"/>
                <a:cs typeface="Consolas" pitchFamily="34" charset="-120"/>
              </a:rPr>
              <a:t>                     # unquoted: TWO arguments</a:t>
            </a:r>
            <a:endParaRPr lang="en-US" sz="1200" dirty="0"/>
          </a:p>
        </p:txBody>
      </p:sp>
      <p:sp>
        <p:nvSpPr>
          <p:cNvPr id="8" name="Shape 6"/>
          <p:cNvSpPr/>
          <p:nvPr/>
        </p:nvSpPr>
        <p:spPr>
          <a:xfrm>
            <a:off x="548640" y="4389120"/>
            <a:ext cx="6949440" cy="1874520"/>
          </a:xfrm>
          <a:prstGeom prst="roundRect">
            <a:avLst>
              <a:gd name="adj" fmla="val 2439"/>
            </a:avLst>
          </a:prstGeom>
          <a:solidFill>
            <a:srgbClr val="212121"/>
          </a:solidFill>
          <a:ln/>
        </p:spPr>
        <p:txBody>
          <a:bodyPr/>
          <a:p/>
        </p:txBody>
      </p:sp>
      <p:sp>
        <p:nvSpPr>
          <p:cNvPr id="9" name="Text 7"/>
          <p:cNvSpPr txBox="1"/>
          <p:nvPr/>
        </p:nvSpPr>
        <p:spPr>
          <a:xfrm>
            <a:off x="731520" y="4498848"/>
            <a:ext cx="6583680" cy="1655064"/>
          </a:xfrm>
          <a:prstGeom prst="rect">
            <a:avLst/>
          </a:prstGeom>
          <a:noFill/>
          <a:ln/>
        </p:spPr>
        <p:txBody>
          <a:bodyPr wrap="square" lIns="0" tIns="0" rIns="0" bIns="0" rtlCol="0" anchor="t"/>
          <a:lstStyle/>
          <a:p>
            <a:pPr indent="0" marL="0">
              <a:lnSpc>
                <a:spcPct val="100000"/>
              </a:lnSpc>
              <a:buNone/>
            </a:pPr>
            <a:r>
              <a:rPr lang="en-US" sz="1200" dirty="0">
                <a:solidFill>
                  <a:srgbClr val="02C39A"/>
                </a:solidFill>
                <a:latin typeface="Consolas" pitchFamily="34" charset="0"/>
                <a:ea typeface="Consolas" pitchFamily="34" charset="-122"/>
                <a:cs typeface="Consolas" pitchFamily="34" charset="-120"/>
              </a:rPr>
              <a:t>student@okan-lab:~/lab/scripts$ </a:t>
            </a:r>
            <a:r>
              <a:rPr lang="en-US" sz="1200" b="1" dirty="0">
                <a:solidFill>
                  <a:srgbClr val="FFFFFF"/>
                </a:solidFill>
                <a:latin typeface="Consolas" pitchFamily="34" charset="0"/>
                <a:ea typeface="Consolas" pitchFamily="34" charset="-122"/>
                <a:cs typeface="Consolas" pitchFamily="34" charset="-120"/>
              </a:rPr>
              <a:t>./quotes.sh</a:t>
            </a:r>
            <a:endParaRPr lang="en-US" sz="1200" dirty="0"/>
          </a:p>
          <a:p>
            <a:pPr indent="0" marL="0">
              <a:lnSpc>
                <a:spcPct val="100000"/>
              </a:lnSpc>
              <a:buNone/>
            </a:pPr>
            <a:r>
              <a:rPr lang="en-US" sz="1200" dirty="0">
                <a:solidFill>
                  <a:srgbClr val="C9D1D3"/>
                </a:solidFill>
                <a:latin typeface="Consolas" pitchFamily="34" charset="0"/>
                <a:ea typeface="Consolas" pitchFamily="34" charset="-122"/>
                <a:cs typeface="Consolas" pitchFamily="34" charset="-120"/>
              </a:rPr>
              <a:t>Single: Hello $name</a:t>
            </a:r>
            <a:endParaRPr lang="en-US" sz="1200" dirty="0"/>
          </a:p>
          <a:p>
            <a:pPr indent="0" marL="0">
              <a:lnSpc>
                <a:spcPct val="100000"/>
              </a:lnSpc>
              <a:buNone/>
            </a:pPr>
            <a:r>
              <a:rPr lang="en-US" sz="1200" dirty="0">
                <a:solidFill>
                  <a:srgbClr val="C9D1D3"/>
                </a:solidFill>
                <a:latin typeface="Consolas" pitchFamily="34" charset="0"/>
                <a:ea typeface="Consolas" pitchFamily="34" charset="-122"/>
                <a:cs typeface="Consolas" pitchFamily="34" charset="-120"/>
              </a:rPr>
              <a:t>Double: Hello Ayse</a:t>
            </a:r>
            <a:endParaRPr lang="en-US" sz="1200" dirty="0"/>
          </a:p>
          <a:p>
            <a:pPr indent="0" marL="0">
              <a:lnSpc>
                <a:spcPct val="100000"/>
              </a:lnSpc>
              <a:buNone/>
            </a:pPr>
            <a:r>
              <a:rPr lang="en-US" sz="1200" dirty="0">
                <a:solidFill>
                  <a:srgbClr val="C9D1D3"/>
                </a:solidFill>
                <a:latin typeface="Consolas" pitchFamily="34" charset="0"/>
                <a:ea typeface="Consolas" pitchFamily="34" charset="-122"/>
                <a:cs typeface="Consolas" pitchFamily="34" charset="-120"/>
              </a:rPr>
              <a:t>Escaped: it costs $5</a:t>
            </a:r>
            <a:endParaRPr lang="en-US" sz="1200" dirty="0"/>
          </a:p>
          <a:p>
            <a:pPr indent="0" marL="0">
              <a:lnSpc>
                <a:spcPct val="100000"/>
              </a:lnSpc>
              <a:buNone/>
            </a:pPr>
            <a:r>
              <a:rPr lang="en-US" sz="1200" dirty="0">
                <a:solidFill>
                  <a:srgbClr val="C9D1D3"/>
                </a:solidFill>
                <a:latin typeface="Consolas" pitchFamily="34" charset="0"/>
                <a:ea typeface="Consolas" pitchFamily="34" charset="-122"/>
                <a:cs typeface="Consolas" pitchFamily="34" charset="-120"/>
              </a:rPr>
              <a:t>2 final report.txt</a:t>
            </a:r>
            <a:endParaRPr lang="en-US" sz="1200" dirty="0"/>
          </a:p>
          <a:p>
            <a:pPr indent="0" marL="0">
              <a:lnSpc>
                <a:spcPct val="100000"/>
              </a:lnSpc>
              <a:buNone/>
            </a:pPr>
            <a:r>
              <a:rPr lang="en-US" sz="1200" dirty="0">
                <a:solidFill>
                  <a:srgbClr val="C9D1D3"/>
                </a:solidFill>
                <a:latin typeface="Consolas" pitchFamily="34" charset="0"/>
                <a:ea typeface="Consolas" pitchFamily="34" charset="-122"/>
                <a:cs typeface="Consolas" pitchFamily="34" charset="-120"/>
              </a:rPr>
              <a:t>wc: final: No such file or directory</a:t>
            </a:r>
            <a:endParaRPr lang="en-US" sz="1200" dirty="0"/>
          </a:p>
          <a:p>
            <a:pPr indent="0" marL="0">
              <a:lnSpc>
                <a:spcPct val="100000"/>
              </a:lnSpc>
              <a:buNone/>
            </a:pPr>
            <a:r>
              <a:rPr lang="en-US" sz="1200" dirty="0">
                <a:solidFill>
                  <a:srgbClr val="C9D1D3"/>
                </a:solidFill>
                <a:latin typeface="Consolas" pitchFamily="34" charset="0"/>
                <a:ea typeface="Consolas" pitchFamily="34" charset="-122"/>
                <a:cs typeface="Consolas" pitchFamily="34" charset="-120"/>
              </a:rPr>
              <a:t>wc: report.txt: No such file or directory</a:t>
            </a:r>
            <a:endParaRPr lang="en-US" sz="1200" dirty="0"/>
          </a:p>
          <a:p>
            <a:pPr indent="0" marL="0">
              <a:lnSpc>
                <a:spcPct val="100000"/>
              </a:lnSpc>
              <a:buNone/>
            </a:pPr>
            <a:r>
              <a:rPr lang="en-US" sz="1200" dirty="0">
                <a:solidFill>
                  <a:srgbClr val="C9D1D3"/>
                </a:solidFill>
                <a:latin typeface="Consolas" pitchFamily="34" charset="0"/>
                <a:ea typeface="Consolas" pitchFamily="34" charset="-122"/>
                <a:cs typeface="Consolas" pitchFamily="34" charset="-120"/>
              </a:rPr>
              <a:t>0 total</a:t>
            </a:r>
            <a:endParaRPr lang="en-US" sz="1200" dirty="0"/>
          </a:p>
        </p:txBody>
      </p:sp>
      <p:sp>
        <p:nvSpPr>
          <p:cNvPr id="10" name="Shape 8"/>
          <p:cNvSpPr/>
          <p:nvPr/>
        </p:nvSpPr>
        <p:spPr>
          <a:xfrm>
            <a:off x="7726680" y="1508760"/>
            <a:ext cx="3931920" cy="4754880"/>
          </a:xfrm>
          <a:prstGeom prst="roundRect">
            <a:avLst>
              <a:gd name="adj" fmla="val 139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1" name="Text 9"/>
          <p:cNvSpPr txBox="1"/>
          <p:nvPr/>
        </p:nvSpPr>
        <p:spPr>
          <a:xfrm>
            <a:off x="7955280" y="1691640"/>
            <a:ext cx="347472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What quotes do</a:t>
            </a:r>
            <a:endParaRPr lang="en-US" sz="1500" dirty="0"/>
          </a:p>
        </p:txBody>
      </p:sp>
      <p:sp>
        <p:nvSpPr>
          <p:cNvPr id="12" name="Text 10"/>
          <p:cNvSpPr txBox="1"/>
          <p:nvPr/>
        </p:nvSpPr>
        <p:spPr>
          <a:xfrm>
            <a:off x="7955280" y="2148840"/>
            <a:ext cx="3474720" cy="3977640"/>
          </a:xfrm>
          <a:prstGeom prst="rect">
            <a:avLst/>
          </a:prstGeom>
          <a:noFill/>
          <a:ln/>
        </p:spPr>
        <p:txBody>
          <a:bodyPr wrap="square" lIns="0" tIns="0" rIns="0" bIns="0" rtlCol="0" anchor="t"/>
          <a:lstStyle/>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"double":</a:t>
            </a:r>
            <a:r>
              <a:rPr lang="en-US" sz="1350" dirty="0">
                <a:solidFill>
                  <a:srgbClr val="3A464C"/>
                </a:solidFill>
                <a:latin typeface="Calibri" pitchFamily="34" charset="0"/>
                <a:ea typeface="Calibri" pitchFamily="34" charset="-122"/>
                <a:cs typeface="Calibri" pitchFamily="34" charset="-120"/>
              </a:rPr>
              <a:t> keeps spaces; $var and $( ) are still expanded. Use them almost always.</a:t>
            </a:r>
            <a:endParaRPr lang="en-US" sz="1350" dirty="0"/>
          </a:p>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'single':</a:t>
            </a:r>
            <a:r>
              <a:rPr lang="en-US" sz="1350" dirty="0">
                <a:solidFill>
                  <a:srgbClr val="3A464C"/>
                </a:solidFill>
                <a:latin typeface="Calibri" pitchFamily="34" charset="0"/>
                <a:ea typeface="Calibri" pitchFamily="34" charset="-122"/>
                <a:cs typeface="Calibri" pitchFamily="34" charset="-120"/>
              </a:rPr>
              <a:t> everything literal, no expansion at all.</a:t>
            </a:r>
            <a:endParaRPr lang="en-US" sz="1350" dirty="0"/>
          </a:p>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 (backslash):</a:t>
            </a:r>
            <a:r>
              <a:rPr lang="en-US" sz="1350" dirty="0">
                <a:solidFill>
                  <a:srgbClr val="3A464C"/>
                </a:solidFill>
                <a:latin typeface="Calibri" pitchFamily="34" charset="0"/>
                <a:ea typeface="Calibri" pitchFamily="34" charset="-122"/>
                <a:cs typeface="Calibri" pitchFamily="34" charset="-120"/>
              </a:rPr>
              <a:t> makes one character literal: \$, \".</a:t>
            </a:r>
            <a:endParaRPr lang="en-US" sz="1350" dirty="0"/>
          </a:p>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No quotes:</a:t>
            </a:r>
            <a:r>
              <a:rPr lang="en-US" sz="1350" dirty="0">
                <a:solidFill>
                  <a:srgbClr val="3A464C"/>
                </a:solidFill>
                <a:latin typeface="Calibri" pitchFamily="34" charset="0"/>
                <a:ea typeface="Calibri" pitchFamily="34" charset="-122"/>
                <a:cs typeface="Calibri" pitchFamily="34" charset="-120"/>
              </a:rPr>
              <a:t> the value is split at spaces (and * is expanded). "final report.txt" becomes two arguments — two errors.</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ARGUMENTS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Positional Parameters: $0, $1 … $9, $#, $@</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14  ·  14</a:t>
            </a:r>
            <a:endParaRPr lang="en-US" sz="900" dirty="0"/>
          </a:p>
        </p:txBody>
      </p:sp>
      <p:sp>
        <p:nvSpPr>
          <p:cNvPr id="6" name="Shape 4"/>
          <p:cNvSpPr/>
          <p:nvPr/>
        </p:nvSpPr>
        <p:spPr>
          <a:xfrm>
            <a:off x="548640" y="1508760"/>
            <a:ext cx="5669280" cy="2834640"/>
          </a:xfrm>
          <a:prstGeom prst="roundRect">
            <a:avLst>
              <a:gd name="adj" fmla="val 1613"/>
            </a:avLst>
          </a:prstGeom>
          <a:solidFill>
            <a:srgbClr val="212121"/>
          </a:solidFill>
          <a:ln/>
        </p:spPr>
        <p:txBody>
          <a:bodyPr/>
          <a:p/>
        </p:txBody>
      </p:sp>
      <p:sp>
        <p:nvSpPr>
          <p:cNvPr id="7" name="Text 5"/>
          <p:cNvSpPr txBox="1"/>
          <p:nvPr/>
        </p:nvSpPr>
        <p:spPr>
          <a:xfrm>
            <a:off x="731520" y="1618488"/>
            <a:ext cx="5303520" cy="2615184"/>
          </a:xfrm>
          <a:prstGeom prst="rect">
            <a:avLst/>
          </a:prstGeom>
          <a:noFill/>
          <a:ln/>
        </p:spPr>
        <p:txBody>
          <a:bodyPr wrap="square" lIns="0" tIns="0" rIns="0" bIns="0" rtlCol="0" anchor="t"/>
          <a:lstStyle/>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echo "Script name  \$0 = $0"</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echo "First arg    \$1 = $1"</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echo "Second arg   \$2 = $2"</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echo "Arg count    \$# = $#"</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echo "All args     \$@ =" "$@"</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i=1</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for arg in "$@"; do</a:t>
            </a:r>
            <a:r>
              <a:rPr lang="en-US" sz="1100" dirty="0">
                <a:solidFill>
                  <a:srgbClr val="8A9AA0"/>
                </a:solidFill>
                <a:latin typeface="Consolas" pitchFamily="34" charset="0"/>
                <a:ea typeface="Consolas" pitchFamily="34" charset="-122"/>
                <a:cs typeface="Consolas" pitchFamily="34" charset="-120"/>
              </a:rPr>
              <a:t>             # "green tea" stays ONE word</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    echo "  argument $i: [$arg]"</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    i=$((i + 1))</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done</a:t>
            </a:r>
            <a:endParaRPr lang="en-US" sz="1100" dirty="0"/>
          </a:p>
        </p:txBody>
      </p:sp>
      <p:sp>
        <p:nvSpPr>
          <p:cNvPr id="8" name="Shape 6"/>
          <p:cNvSpPr/>
          <p:nvPr/>
        </p:nvSpPr>
        <p:spPr>
          <a:xfrm>
            <a:off x="548640" y="4526280"/>
            <a:ext cx="5669280" cy="1737360"/>
          </a:xfrm>
          <a:prstGeom prst="roundRect">
            <a:avLst>
              <a:gd name="adj" fmla="val 2632"/>
            </a:avLst>
          </a:prstGeom>
          <a:solidFill>
            <a:srgbClr val="212121"/>
          </a:solidFill>
          <a:ln/>
        </p:spPr>
        <p:txBody>
          <a:bodyPr/>
          <a:p/>
        </p:txBody>
      </p:sp>
      <p:sp>
        <p:nvSpPr>
          <p:cNvPr id="9" name="Text 7"/>
          <p:cNvSpPr txBox="1"/>
          <p:nvPr/>
        </p:nvSpPr>
        <p:spPr>
          <a:xfrm>
            <a:off x="731520" y="4636008"/>
            <a:ext cx="5303520" cy="1517904"/>
          </a:xfrm>
          <a:prstGeom prst="rect">
            <a:avLst/>
          </a:prstGeom>
          <a:noFill/>
          <a:ln/>
        </p:spPr>
        <p:txBody>
          <a:bodyPr wrap="square" lIns="0" tIns="0" rIns="0" bIns="0" rtlCol="0" anchor="t"/>
          <a:lstStyle/>
          <a:p>
            <a:pPr indent="0" marL="0">
              <a:lnSpc>
                <a:spcPct val="100000"/>
              </a:lnSpc>
              <a:buNone/>
            </a:pPr>
            <a:r>
              <a:rPr lang="en-US" sz="1000" dirty="0">
                <a:solidFill>
                  <a:srgbClr val="02C39A"/>
                </a:solidFill>
                <a:latin typeface="Consolas" pitchFamily="34" charset="0"/>
                <a:ea typeface="Consolas" pitchFamily="34" charset="-122"/>
                <a:cs typeface="Consolas" pitchFamily="34" charset="-120"/>
              </a:rPr>
              <a:t>student@okan-lab:~/lab/scripts$ </a:t>
            </a:r>
            <a:r>
              <a:rPr lang="en-US" sz="1000" b="1" dirty="0">
                <a:solidFill>
                  <a:srgbClr val="FFFFFF"/>
                </a:solidFill>
                <a:latin typeface="Consolas" pitchFamily="34" charset="0"/>
                <a:ea typeface="Consolas" pitchFamily="34" charset="-122"/>
                <a:cs typeface="Consolas" pitchFamily="34" charset="-120"/>
              </a:rPr>
              <a:t>./args.sh apple "green tea" 42</a:t>
            </a:r>
            <a:endParaRPr lang="en-US" sz="1000" dirty="0"/>
          </a:p>
          <a:p>
            <a:pPr indent="0" marL="0">
              <a:lnSpc>
                <a:spcPct val="100000"/>
              </a:lnSpc>
              <a:buNone/>
            </a:pPr>
            <a:r>
              <a:rPr lang="en-US" sz="1000" dirty="0">
                <a:solidFill>
                  <a:srgbClr val="C9D1D3"/>
                </a:solidFill>
                <a:latin typeface="Consolas" pitchFamily="34" charset="0"/>
                <a:ea typeface="Consolas" pitchFamily="34" charset="-122"/>
                <a:cs typeface="Consolas" pitchFamily="34" charset="-120"/>
              </a:rPr>
              <a:t>Script name  $0 = ./args.sh</a:t>
            </a:r>
            <a:endParaRPr lang="en-US" sz="1000" dirty="0"/>
          </a:p>
          <a:p>
            <a:pPr indent="0" marL="0">
              <a:lnSpc>
                <a:spcPct val="100000"/>
              </a:lnSpc>
              <a:buNone/>
            </a:pPr>
            <a:r>
              <a:rPr lang="en-US" sz="1000" dirty="0">
                <a:solidFill>
                  <a:srgbClr val="C9D1D3"/>
                </a:solidFill>
                <a:latin typeface="Consolas" pitchFamily="34" charset="0"/>
                <a:ea typeface="Consolas" pitchFamily="34" charset="-122"/>
                <a:cs typeface="Consolas" pitchFamily="34" charset="-120"/>
              </a:rPr>
              <a:t>First arg    $1 = apple</a:t>
            </a:r>
            <a:endParaRPr lang="en-US" sz="1000" dirty="0"/>
          </a:p>
          <a:p>
            <a:pPr indent="0" marL="0">
              <a:lnSpc>
                <a:spcPct val="100000"/>
              </a:lnSpc>
              <a:buNone/>
            </a:pPr>
            <a:r>
              <a:rPr lang="en-US" sz="1000" dirty="0">
                <a:solidFill>
                  <a:srgbClr val="C9D1D3"/>
                </a:solidFill>
                <a:latin typeface="Consolas" pitchFamily="34" charset="0"/>
                <a:ea typeface="Consolas" pitchFamily="34" charset="-122"/>
                <a:cs typeface="Consolas" pitchFamily="34" charset="-120"/>
              </a:rPr>
              <a:t>Second arg   $2 = green tea</a:t>
            </a:r>
            <a:endParaRPr lang="en-US" sz="1000" dirty="0"/>
          </a:p>
          <a:p>
            <a:pPr indent="0" marL="0">
              <a:lnSpc>
                <a:spcPct val="100000"/>
              </a:lnSpc>
              <a:buNone/>
            </a:pPr>
            <a:r>
              <a:rPr lang="en-US" sz="1000" dirty="0">
                <a:solidFill>
                  <a:srgbClr val="C9D1D3"/>
                </a:solidFill>
                <a:latin typeface="Consolas" pitchFamily="34" charset="0"/>
                <a:ea typeface="Consolas" pitchFamily="34" charset="-122"/>
                <a:cs typeface="Consolas" pitchFamily="34" charset="-120"/>
              </a:rPr>
              <a:t>Arg count    $# = 3</a:t>
            </a:r>
            <a:endParaRPr lang="en-US" sz="1000" dirty="0"/>
          </a:p>
          <a:p>
            <a:pPr indent="0" marL="0">
              <a:lnSpc>
                <a:spcPct val="100000"/>
              </a:lnSpc>
              <a:buNone/>
            </a:pPr>
            <a:r>
              <a:rPr lang="en-US" sz="1000" dirty="0">
                <a:solidFill>
                  <a:srgbClr val="C9D1D3"/>
                </a:solidFill>
                <a:latin typeface="Consolas" pitchFamily="34" charset="0"/>
                <a:ea typeface="Consolas" pitchFamily="34" charset="-122"/>
                <a:cs typeface="Consolas" pitchFamily="34" charset="-120"/>
              </a:rPr>
              <a:t>All args     $@ = apple green tea 42</a:t>
            </a:r>
            <a:endParaRPr lang="en-US" sz="1000" dirty="0"/>
          </a:p>
          <a:p>
            <a:pPr indent="0" marL="0">
              <a:lnSpc>
                <a:spcPct val="100000"/>
              </a:lnSpc>
              <a:buNone/>
            </a:pPr>
            <a:r>
              <a:rPr lang="en-US" sz="1000" dirty="0">
                <a:solidFill>
                  <a:srgbClr val="C9D1D3"/>
                </a:solidFill>
                <a:latin typeface="Consolas" pitchFamily="34" charset="0"/>
                <a:ea typeface="Consolas" pitchFamily="34" charset="-122"/>
                <a:cs typeface="Consolas" pitchFamily="34" charset="-120"/>
              </a:rPr>
              <a:t>  argument 1: [apple]</a:t>
            </a:r>
            <a:endParaRPr lang="en-US" sz="1000" dirty="0"/>
          </a:p>
          <a:p>
            <a:pPr indent="0" marL="0">
              <a:lnSpc>
                <a:spcPct val="100000"/>
              </a:lnSpc>
              <a:buNone/>
            </a:pPr>
            <a:r>
              <a:rPr lang="en-US" sz="1000" dirty="0">
                <a:solidFill>
                  <a:srgbClr val="C9D1D3"/>
                </a:solidFill>
                <a:latin typeface="Consolas" pitchFamily="34" charset="0"/>
                <a:ea typeface="Consolas" pitchFamily="34" charset="-122"/>
                <a:cs typeface="Consolas" pitchFamily="34" charset="-120"/>
              </a:rPr>
              <a:t>  argument 2: [green tea]</a:t>
            </a:r>
            <a:endParaRPr lang="en-US" sz="1000" dirty="0"/>
          </a:p>
          <a:p>
            <a:pPr indent="0" marL="0">
              <a:lnSpc>
                <a:spcPct val="100000"/>
              </a:lnSpc>
              <a:buNone/>
            </a:pPr>
            <a:r>
              <a:rPr lang="en-US" sz="1000" dirty="0">
                <a:solidFill>
                  <a:srgbClr val="C9D1D3"/>
                </a:solidFill>
                <a:latin typeface="Consolas" pitchFamily="34" charset="0"/>
                <a:ea typeface="Consolas" pitchFamily="34" charset="-122"/>
                <a:cs typeface="Consolas" pitchFamily="34" charset="-120"/>
              </a:rPr>
              <a:t>  argument 3: [42]</a:t>
            </a:r>
            <a:endParaRPr lang="en-US" sz="1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446520" y="1508760"/>
          <a:ext cx="5212080" cy="914400"/>
        </p:xfrm>
        <a:graphic>
          <a:graphicData uri="http://schemas.openxmlformats.org/drawingml/2006/table">
            <a:tbl>
              <a:tblPr/>
              <a:tblGrid>
                <a:gridCol w="1325880"/>
                <a:gridCol w="3886200"/>
              </a:tblGrid>
              <a:tr h="0">
                <a:tc>
                  <a:txBody>
                    <a:bodyPr/>
                    <a:lstStyle/>
                    <a:p>
                      <a:pPr indent="0" marL="0">
                        <a:buNone/>
                      </a:pPr>
                      <a:r>
                        <a:rPr lang="en-US" sz="1400" b="1" dirty="0">
                          <a:solidFill>
                            <a:srgbClr val="FFFFFF"/>
                          </a:solidFill>
                          <a:latin typeface="Cambria" pitchFamily="34" charset="0"/>
                          <a:ea typeface="Cambria" pitchFamily="34" charset="-122"/>
                          <a:cs typeface="Cambria" pitchFamily="34" charset="-120"/>
                        </a:rPr>
                        <a:t>Variable</a:t>
                      </a:r>
                      <a:endParaRPr lang="en-US" sz="14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400" b="1" dirty="0">
                          <a:solidFill>
                            <a:srgbClr val="FFFFFF"/>
                          </a:solidFill>
                          <a:latin typeface="Cambria" pitchFamily="34" charset="0"/>
                          <a:ea typeface="Cambria" pitchFamily="34" charset="-122"/>
                          <a:cs typeface="Cambria" pitchFamily="34" charset="-120"/>
                        </a:rPr>
                        <a:t>Meaning</a:t>
                      </a:r>
                      <a:endParaRPr lang="en-US" sz="14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en-US" sz="1350" b="1" dirty="0">
                          <a:solidFill>
                            <a:srgbClr val="3A464C"/>
                          </a:solidFill>
                          <a:latin typeface="Consolas" pitchFamily="34" charset="0"/>
                          <a:ea typeface="Consolas" pitchFamily="34" charset="-122"/>
                          <a:cs typeface="Consolas" pitchFamily="34" charset="-120"/>
                        </a:rPr>
                        <a:t>$0</a:t>
                      </a:r>
                      <a:endParaRPr lang="en-US" sz="1350" dirty="0">
                        <a:latin typeface="Consolas" charset="0"/>
                        <a:ea typeface="Consolas" charset="0"/>
                        <a:cs typeface="Consolas"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name of the script as it was typed</a:t>
                      </a:r>
                      <a:endParaRPr lang="en-US"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350" b="1" dirty="0">
                          <a:solidFill>
                            <a:srgbClr val="3A464C"/>
                          </a:solidFill>
                          <a:latin typeface="Consolas" pitchFamily="34" charset="0"/>
                          <a:ea typeface="Consolas" pitchFamily="34" charset="-122"/>
                          <a:cs typeface="Consolas" pitchFamily="34" charset="-120"/>
                        </a:rPr>
                        <a:t>$1 … $9</a:t>
                      </a:r>
                      <a:endParaRPr lang="en-US" sz="1350" dirty="0">
                        <a:latin typeface="Consolas" charset="0"/>
                        <a:ea typeface="Consolas" charset="0"/>
                        <a:cs typeface="Consolas"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1st … 9th argument (${10} for the 10th)</a:t>
                      </a:r>
                      <a:endParaRPr lang="en-US"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350" b="1" dirty="0">
                          <a:solidFill>
                            <a:srgbClr val="3A464C"/>
                          </a:solidFill>
                          <a:latin typeface="Consolas" pitchFamily="34" charset="0"/>
                          <a:ea typeface="Consolas" pitchFamily="34" charset="-122"/>
                          <a:cs typeface="Consolas" pitchFamily="34" charset="-120"/>
                        </a:rPr>
                        <a:t>$#</a:t>
                      </a:r>
                      <a:endParaRPr lang="en-US" sz="1350" dirty="0">
                        <a:latin typeface="Consolas" charset="0"/>
                        <a:ea typeface="Consolas" charset="0"/>
                        <a:cs typeface="Consolas"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number of arguments</a:t>
                      </a:r>
                      <a:endParaRPr lang="en-US"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350" b="1" dirty="0">
                          <a:solidFill>
                            <a:srgbClr val="3A464C"/>
                          </a:solidFill>
                          <a:latin typeface="Consolas" pitchFamily="34" charset="0"/>
                          <a:ea typeface="Consolas" pitchFamily="34" charset="-122"/>
                          <a:cs typeface="Consolas" pitchFamily="34" charset="-120"/>
                        </a:rPr>
                        <a:t>"$@"</a:t>
                      </a:r>
                      <a:endParaRPr lang="en-US" sz="1350" dirty="0">
                        <a:latin typeface="Consolas" charset="0"/>
                        <a:ea typeface="Consolas" charset="0"/>
                        <a:cs typeface="Consolas"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all arguments, each kept as a separate word</a:t>
                      </a:r>
                      <a:endParaRPr lang="en-US"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350" b="1" dirty="0">
                          <a:solidFill>
                            <a:srgbClr val="3A464C"/>
                          </a:solidFill>
                          <a:latin typeface="Consolas" pitchFamily="34" charset="0"/>
                          <a:ea typeface="Consolas" pitchFamily="34" charset="-122"/>
                          <a:cs typeface="Consolas" pitchFamily="34" charset="-120"/>
                        </a:rPr>
                        <a:t>$?</a:t>
                      </a:r>
                      <a:endParaRPr lang="en-US" sz="1350" dirty="0">
                        <a:latin typeface="Consolas" charset="0"/>
                        <a:ea typeface="Consolas" charset="0"/>
                        <a:cs typeface="Consolas"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exit status of the last command (Part 3)</a:t>
                      </a:r>
                      <a:endParaRPr lang="en-US"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350" b="1" dirty="0">
                          <a:solidFill>
                            <a:srgbClr val="3A464C"/>
                          </a:solidFill>
                          <a:latin typeface="Consolas" pitchFamily="34" charset="0"/>
                          <a:ea typeface="Consolas" pitchFamily="34" charset="-122"/>
                          <a:cs typeface="Consolas" pitchFamily="34" charset="-120"/>
                        </a:rPr>
                        <a:t>$$</a:t>
                      </a:r>
                      <a:endParaRPr lang="en-US" sz="1350" dirty="0">
                        <a:latin typeface="Consolas" charset="0"/>
                        <a:ea typeface="Consolas" charset="0"/>
                        <a:cs typeface="Consolas"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PID of this shell (Week 13)</a:t>
                      </a:r>
                      <a:endParaRPr lang="en-US"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bl>
          </a:graphicData>
        </a:graphic>
      </p:graphicFrame>
      <p:sp>
        <p:nvSpPr>
          <p:cNvPr id="11" name="Shape 8"/>
          <p:cNvSpPr/>
          <p:nvPr/>
        </p:nvSpPr>
        <p:spPr>
          <a:xfrm>
            <a:off x="6446520" y="5257800"/>
            <a:ext cx="5212080" cy="1005840"/>
          </a:xfrm>
          <a:prstGeom prst="roundRect">
            <a:avLst>
              <a:gd name="adj" fmla="val 5455"/>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12" name="Text 9"/>
          <p:cNvSpPr txBox="1"/>
          <p:nvPr/>
        </p:nvSpPr>
        <p:spPr>
          <a:xfrm>
            <a:off x="6675120" y="5257800"/>
            <a:ext cx="4754880" cy="1005840"/>
          </a:xfrm>
          <a:prstGeom prst="rect">
            <a:avLst/>
          </a:prstGeom>
          <a:noFill/>
          <a:ln/>
        </p:spPr>
        <p:txBody>
          <a:bodyPr wrap="square" lIns="0" tIns="0" rIns="0" bIns="0" rtlCol="0" anchor="ctr"/>
          <a:lstStyle/>
          <a:p>
            <a:pPr indent="0" marL="0">
              <a:buNone/>
            </a:pPr>
            <a:r>
              <a:rPr lang="en-US" sz="1350" dirty="0">
                <a:solidFill>
                  <a:srgbClr val="F2F2F2"/>
                </a:solidFill>
                <a:latin typeface="Calibri" pitchFamily="34" charset="0"/>
                <a:ea typeface="Calibri" pitchFamily="34" charset="-122"/>
                <a:cs typeface="Calibri" pitchFamily="34" charset="-120"/>
              </a:rPr>
              <a:t>The shell splits the command line into words before the script starts: "green tea" is ONE argument because of the quotes.</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INPUT</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Reading Keyboard Input with read</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14  ·  15</a:t>
            </a:r>
            <a:endParaRPr lang="en-US" sz="900" dirty="0"/>
          </a:p>
        </p:txBody>
      </p:sp>
      <p:sp>
        <p:nvSpPr>
          <p:cNvPr id="6" name="Shape 4"/>
          <p:cNvSpPr/>
          <p:nvPr/>
        </p:nvSpPr>
        <p:spPr>
          <a:xfrm>
            <a:off x="548640" y="1508760"/>
            <a:ext cx="6949440" cy="1554480"/>
          </a:xfrm>
          <a:prstGeom prst="roundRect">
            <a:avLst>
              <a:gd name="adj" fmla="val 2941"/>
            </a:avLst>
          </a:prstGeom>
          <a:solidFill>
            <a:srgbClr val="212121"/>
          </a:solidFill>
          <a:ln/>
        </p:spPr>
        <p:txBody>
          <a:bodyPr/>
          <a:p/>
        </p:txBody>
      </p:sp>
      <p:sp>
        <p:nvSpPr>
          <p:cNvPr id="7" name="Text 5"/>
          <p:cNvSpPr txBox="1"/>
          <p:nvPr/>
        </p:nvSpPr>
        <p:spPr>
          <a:xfrm>
            <a:off x="731520" y="1618488"/>
            <a:ext cx="6583680" cy="1335024"/>
          </a:xfrm>
          <a:prstGeom prst="rect">
            <a:avLst/>
          </a:prstGeom>
          <a:noFill/>
          <a:ln/>
        </p:spPr>
        <p:txBody>
          <a:bodyPr wrap="square" lIns="0" tIns="0" rIns="0" bIns="0" rtlCol="0" anchor="t"/>
          <a:lstStyle/>
          <a:p>
            <a:pPr indent="0" marL="0">
              <a:lnSpc>
                <a:spcPct val="100000"/>
              </a:lnSpc>
              <a:buNone/>
            </a:pPr>
            <a:r>
              <a:rPr lang="en-US" sz="1350" dirty="0">
                <a:solidFill>
                  <a:srgbClr val="F2F2F2"/>
                </a:solidFill>
                <a:latin typeface="Consolas" pitchFamily="34" charset="0"/>
                <a:ea typeface="Consolas" pitchFamily="34" charset="-122"/>
                <a:cs typeface="Consolas" pitchFamily="34" charset="-120"/>
              </a:rPr>
              <a:t>read -r -p "What is your name? " name</a:t>
            </a:r>
            <a:endParaRPr lang="en-US" sz="1350" dirty="0"/>
          </a:p>
          <a:p>
            <a:pPr indent="0" marL="0">
              <a:lnSpc>
                <a:spcPct val="100000"/>
              </a:lnSpc>
              <a:buNone/>
            </a:pPr>
            <a:r>
              <a:rPr lang="en-US" sz="1350" dirty="0">
                <a:solidFill>
                  <a:srgbClr val="F2F2F2"/>
                </a:solidFill>
                <a:latin typeface="Consolas" pitchFamily="34" charset="0"/>
                <a:ea typeface="Consolas" pitchFamily="34" charset="-122"/>
                <a:cs typeface="Consolas" pitchFamily="34" charset="-120"/>
              </a:rPr>
              <a:t>read -r -p "Which year were you born? " year</a:t>
            </a:r>
            <a:endParaRPr lang="en-US" sz="1350" dirty="0"/>
          </a:p>
          <a:p>
            <a:pPr indent="0" marL="0">
              <a:lnSpc>
                <a:spcPct val="100000"/>
              </a:lnSpc>
              <a:buNone/>
            </a:pPr>
            <a:r>
              <a:rPr lang="en-US" sz="1350" dirty="0">
                <a:solidFill>
                  <a:srgbClr val="F2F2F2"/>
                </a:solidFill>
                <a:latin typeface="Consolas" pitchFamily="34" charset="0"/>
                <a:ea typeface="Consolas" pitchFamily="34" charset="-122"/>
                <a:cs typeface="Consolas" pitchFamily="34" charset="-120"/>
              </a:rPr>
              <a:t>age=$(( $(date +%Y) - year ))</a:t>
            </a:r>
            <a:endParaRPr lang="en-US" sz="1350" dirty="0"/>
          </a:p>
          <a:p>
            <a:pPr indent="0" marL="0">
              <a:lnSpc>
                <a:spcPct val="100000"/>
              </a:lnSpc>
              <a:buNone/>
            </a:pPr>
            <a:r>
              <a:rPr lang="en-US" sz="1350" dirty="0">
                <a:solidFill>
                  <a:srgbClr val="F2F2F2"/>
                </a:solidFill>
                <a:latin typeface="Consolas" pitchFamily="34" charset="0"/>
                <a:ea typeface="Consolas" pitchFamily="34" charset="-122"/>
                <a:cs typeface="Consolas" pitchFamily="34" charset="-120"/>
              </a:rPr>
              <a:t>echo "Nice to meet you, $name. You are about $age years old."</a:t>
            </a:r>
            <a:endParaRPr lang="en-US" sz="1350" dirty="0"/>
          </a:p>
        </p:txBody>
      </p:sp>
      <p:sp>
        <p:nvSpPr>
          <p:cNvPr id="8" name="Shape 6"/>
          <p:cNvSpPr/>
          <p:nvPr/>
        </p:nvSpPr>
        <p:spPr>
          <a:xfrm>
            <a:off x="548640" y="3246120"/>
            <a:ext cx="6949440" cy="1188720"/>
          </a:xfrm>
          <a:prstGeom prst="roundRect">
            <a:avLst>
              <a:gd name="adj" fmla="val 3846"/>
            </a:avLst>
          </a:prstGeom>
          <a:solidFill>
            <a:srgbClr val="212121"/>
          </a:solidFill>
          <a:ln/>
        </p:spPr>
        <p:txBody>
          <a:bodyPr/>
          <a:p/>
        </p:txBody>
      </p:sp>
      <p:sp>
        <p:nvSpPr>
          <p:cNvPr id="9" name="Text 7"/>
          <p:cNvSpPr txBox="1"/>
          <p:nvPr/>
        </p:nvSpPr>
        <p:spPr>
          <a:xfrm>
            <a:off x="731520" y="3355848"/>
            <a:ext cx="6583680" cy="969264"/>
          </a:xfrm>
          <a:prstGeom prst="rect">
            <a:avLst/>
          </a:prstGeom>
          <a:noFill/>
          <a:ln/>
        </p:spPr>
        <p:txBody>
          <a:bodyPr wrap="square" lIns="0" tIns="0" rIns="0" bIns="0" rtlCol="0" anchor="t"/>
          <a:lstStyle/>
          <a:p>
            <a:pPr indent="0" marL="0">
              <a:lnSpc>
                <a:spcPct val="100000"/>
              </a:lnSpc>
              <a:buNone/>
            </a:pPr>
            <a:r>
              <a:rPr lang="en-US" sz="1350" dirty="0">
                <a:solidFill>
                  <a:srgbClr val="02C39A"/>
                </a:solidFill>
                <a:latin typeface="Consolas" pitchFamily="34" charset="0"/>
                <a:ea typeface="Consolas" pitchFamily="34" charset="-122"/>
                <a:cs typeface="Consolas" pitchFamily="34" charset="-120"/>
              </a:rPr>
              <a:t>student@okan-lab:~/lab/scripts$ </a:t>
            </a:r>
            <a:r>
              <a:rPr lang="en-US" sz="1350" b="1" dirty="0">
                <a:solidFill>
                  <a:srgbClr val="FFFFFF"/>
                </a:solidFill>
                <a:latin typeface="Consolas" pitchFamily="34" charset="0"/>
                <a:ea typeface="Consolas" pitchFamily="34" charset="-122"/>
                <a:cs typeface="Consolas" pitchFamily="34" charset="-120"/>
              </a:rPr>
              <a:t>./greet.sh</a:t>
            </a:r>
            <a:endParaRPr lang="en-US" sz="1350" dirty="0"/>
          </a:p>
          <a:p>
            <a:pPr indent="0" marL="0">
              <a:lnSpc>
                <a:spcPct val="100000"/>
              </a:lnSpc>
              <a:buNone/>
            </a:pPr>
            <a:r>
              <a:rPr lang="en-US" sz="1350" dirty="0">
                <a:solidFill>
                  <a:srgbClr val="C9D1D3"/>
                </a:solidFill>
                <a:latin typeface="Consolas" pitchFamily="34" charset="0"/>
                <a:ea typeface="Consolas" pitchFamily="34" charset="-122"/>
                <a:cs typeface="Consolas" pitchFamily="34" charset="-120"/>
              </a:rPr>
              <a:t>What is your name? Ayse</a:t>
            </a:r>
            <a:endParaRPr lang="en-US" sz="1350" dirty="0"/>
          </a:p>
          <a:p>
            <a:pPr indent="0" marL="0">
              <a:lnSpc>
                <a:spcPct val="100000"/>
              </a:lnSpc>
              <a:buNone/>
            </a:pPr>
            <a:r>
              <a:rPr lang="en-US" sz="1350" dirty="0">
                <a:solidFill>
                  <a:srgbClr val="C9D1D3"/>
                </a:solidFill>
                <a:latin typeface="Consolas" pitchFamily="34" charset="0"/>
                <a:ea typeface="Consolas" pitchFamily="34" charset="-122"/>
                <a:cs typeface="Consolas" pitchFamily="34" charset="-120"/>
              </a:rPr>
              <a:t>Which year were you born? 2006</a:t>
            </a:r>
            <a:endParaRPr lang="en-US" sz="1350" dirty="0"/>
          </a:p>
          <a:p>
            <a:pPr indent="0" marL="0">
              <a:lnSpc>
                <a:spcPct val="100000"/>
              </a:lnSpc>
              <a:buNone/>
            </a:pPr>
            <a:r>
              <a:rPr lang="en-US" sz="1350" dirty="0">
                <a:solidFill>
                  <a:srgbClr val="C9D1D3"/>
                </a:solidFill>
                <a:latin typeface="Consolas" pitchFamily="34" charset="0"/>
                <a:ea typeface="Consolas" pitchFamily="34" charset="-122"/>
                <a:cs typeface="Consolas" pitchFamily="34" charset="-120"/>
              </a:rPr>
              <a:t>Nice to meet you, Ayse. You are about 20 years old.</a:t>
            </a:r>
            <a:endParaRPr lang="en-US" sz="1350" dirty="0"/>
          </a:p>
        </p:txBody>
      </p:sp>
      <p:sp>
        <p:nvSpPr>
          <p:cNvPr id="10" name="Shape 8"/>
          <p:cNvSpPr/>
          <p:nvPr/>
        </p:nvSpPr>
        <p:spPr>
          <a:xfrm>
            <a:off x="7726680" y="1508760"/>
            <a:ext cx="3931920" cy="2926080"/>
          </a:xfrm>
          <a:prstGeom prst="roundRect">
            <a:avLst>
              <a:gd name="adj" fmla="val 187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1" name="Text 9"/>
          <p:cNvSpPr txBox="1"/>
          <p:nvPr/>
        </p:nvSpPr>
        <p:spPr>
          <a:xfrm>
            <a:off x="7955280" y="1691640"/>
            <a:ext cx="347472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read in one line</a:t>
            </a:r>
            <a:endParaRPr lang="en-US" sz="1500" dirty="0"/>
          </a:p>
        </p:txBody>
      </p:sp>
      <p:sp>
        <p:nvSpPr>
          <p:cNvPr id="12" name="Text 10"/>
          <p:cNvSpPr txBox="1"/>
          <p:nvPr/>
        </p:nvSpPr>
        <p:spPr>
          <a:xfrm>
            <a:off x="7955280" y="2148840"/>
            <a:ext cx="3474720" cy="2148840"/>
          </a:xfrm>
          <a:prstGeom prst="rect">
            <a:avLst/>
          </a:prstGeom>
          <a:noFill/>
          <a:ln/>
        </p:spPr>
        <p:txBody>
          <a:bodyPr wrap="square" lIns="0" tIns="0" rIns="0" bIns="0" rtlCol="0" anchor="t"/>
          <a:lstStyle/>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read -r var</a:t>
            </a:r>
            <a:r>
              <a:rPr lang="en-US" sz="1350" dirty="0">
                <a:solidFill>
                  <a:srgbClr val="3A464C"/>
                </a:solidFill>
                <a:latin typeface="Calibri" pitchFamily="34" charset="0"/>
                <a:ea typeface="Calibri" pitchFamily="34" charset="-122"/>
                <a:cs typeface="Calibri" pitchFamily="34" charset="-120"/>
              </a:rPr>
              <a:t> waits for one line and stores it in var.</a:t>
            </a:r>
            <a:endParaRPr lang="en-US" sz="1350" dirty="0"/>
          </a:p>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-p "text"</a:t>
            </a:r>
            <a:r>
              <a:rPr lang="en-US" sz="1350" dirty="0">
                <a:solidFill>
                  <a:srgbClr val="3A464C"/>
                </a:solidFill>
                <a:latin typeface="Calibri" pitchFamily="34" charset="0"/>
                <a:ea typeface="Calibri" pitchFamily="34" charset="-122"/>
                <a:cs typeface="Calibri" pitchFamily="34" charset="-120"/>
              </a:rPr>
              <a:t> shows a prompt first.</a:t>
            </a:r>
            <a:endParaRPr lang="en-US" sz="1350" dirty="0"/>
          </a:p>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-r</a:t>
            </a:r>
            <a:r>
              <a:rPr lang="en-US" sz="1350" dirty="0">
                <a:solidFill>
                  <a:srgbClr val="3A464C"/>
                </a:solidFill>
                <a:latin typeface="Calibri" pitchFamily="34" charset="0"/>
                <a:ea typeface="Calibri" pitchFamily="34" charset="-122"/>
                <a:cs typeface="Calibri" pitchFamily="34" charset="-120"/>
              </a:rPr>
              <a:t> keeps backslashes as typed (always use it).</a:t>
            </a:r>
            <a:endParaRPr lang="en-US" sz="1350" dirty="0"/>
          </a:p>
        </p:txBody>
      </p:sp>
      <p:sp>
        <p:nvSpPr>
          <p:cNvPr id="13" name="Shape 11"/>
          <p:cNvSpPr/>
          <p:nvPr/>
        </p:nvSpPr>
        <p:spPr>
          <a:xfrm>
            <a:off x="548640" y="4663440"/>
            <a:ext cx="11109960" cy="1600200"/>
          </a:xfrm>
          <a:prstGeom prst="roundRect">
            <a:avLst>
              <a:gd name="adj" fmla="val 3429"/>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14" name="Text 12"/>
          <p:cNvSpPr txBox="1"/>
          <p:nvPr/>
        </p:nvSpPr>
        <p:spPr>
          <a:xfrm>
            <a:off x="777240" y="4663440"/>
            <a:ext cx="10652760" cy="1600200"/>
          </a:xfrm>
          <a:prstGeom prst="rect">
            <a:avLst/>
          </a:prstGeom>
          <a:noFill/>
          <a:ln/>
        </p:spPr>
        <p:txBody>
          <a:bodyPr wrap="square" lIns="0" tIns="0" rIns="0" bIns="0" rtlCol="0" anchor="ctr"/>
          <a:lstStyle/>
          <a:p>
            <a:pPr indent="0" marL="0">
              <a:buNone/>
            </a:pPr>
            <a:r>
              <a:rPr lang="en-US" sz="1450" dirty="0">
                <a:solidFill>
                  <a:srgbClr val="F2F2F2"/>
                </a:solidFill>
                <a:latin typeface="Calibri" pitchFamily="34" charset="0"/>
                <a:ea typeface="Calibri" pitchFamily="34" charset="-122"/>
                <a:cs typeface="Calibri" pitchFamily="34" charset="-120"/>
              </a:rPr>
              <a:t>Arguments ($1) or read? Arguments are better for automation: ./grade.sh 72 can run from another script or from cron with nobody at the keyboard. read is for interactive tools, e.g. a menu or a game (Lab exercise 14).</a:t>
            </a:r>
            <a:endParaRPr lang="en-US" sz="14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CHEAT SHEET</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Syntax So Far</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14  ·  16</a:t>
            </a:r>
            <a:endParaRPr lang="en-US" sz="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109960" cy="914400"/>
        </p:xfrm>
        <a:graphic>
          <a:graphicData uri="http://schemas.openxmlformats.org/drawingml/2006/table">
            <a:tbl>
              <a:tblPr/>
              <a:tblGrid>
                <a:gridCol w="3108960"/>
                <a:gridCol w="3840480"/>
                <a:gridCol w="4160520"/>
              </a:tblGrid>
              <a:tr h="0">
                <a:tc>
                  <a:txBody>
                    <a:bodyPr/>
                    <a:lstStyle/>
                    <a:p>
                      <a:pPr indent="0" marL="0">
                        <a:buNone/>
                      </a:pPr>
                      <a:r>
                        <a:rPr lang="en-US" sz="1750" b="1" dirty="0">
                          <a:solidFill>
                            <a:srgbClr val="FFFFFF"/>
                          </a:solidFill>
                          <a:latin typeface="Cambria" pitchFamily="34" charset="0"/>
                          <a:ea typeface="Cambria" pitchFamily="34" charset="-122"/>
                          <a:cs typeface="Cambria" pitchFamily="34" charset="-120"/>
                        </a:rPr>
                        <a:t>You write</a:t>
                      </a:r>
                      <a:endParaRPr lang="en-US" sz="17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750" b="1" dirty="0">
                          <a:solidFill>
                            <a:srgbClr val="FFFFFF"/>
                          </a:solidFill>
                          <a:latin typeface="Cambria" pitchFamily="34" charset="0"/>
                          <a:ea typeface="Cambria" pitchFamily="34" charset="-122"/>
                          <a:cs typeface="Cambria" pitchFamily="34" charset="-120"/>
                        </a:rPr>
                        <a:t>Bash does</a:t>
                      </a:r>
                      <a:endParaRPr lang="en-US" sz="17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750" b="1" dirty="0">
                          <a:solidFill>
                            <a:srgbClr val="FFFFFF"/>
                          </a:solidFill>
                          <a:latin typeface="Cambria" pitchFamily="34" charset="0"/>
                          <a:ea typeface="Cambria" pitchFamily="34" charset="-122"/>
                          <a:cs typeface="Cambria" pitchFamily="34" charset="-120"/>
                        </a:rPr>
                        <a:t>Example (real output)</a:t>
                      </a:r>
                      <a:endParaRPr lang="en-US" sz="17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en-US" sz="1650" b="1" dirty="0">
                          <a:solidFill>
                            <a:srgbClr val="3A464C"/>
                          </a:solidFill>
                          <a:latin typeface="Calibri" pitchFamily="34" charset="0"/>
                          <a:ea typeface="Calibri" pitchFamily="34" charset="-122"/>
                          <a:cs typeface="Calibri" pitchFamily="34" charset="-120"/>
                        </a:rPr>
                        <a:t>#!/bin/bash</a:t>
                      </a:r>
                      <a:endParaRPr lang="en-US" sz="16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50" dirty="0">
                          <a:solidFill>
                            <a:srgbClr val="3A464C"/>
                          </a:solidFill>
                          <a:latin typeface="Calibri" pitchFamily="34" charset="0"/>
                          <a:ea typeface="Calibri" pitchFamily="34" charset="-122"/>
                          <a:cs typeface="Calibri" pitchFamily="34" charset="-120"/>
                        </a:rPr>
                        <a:t>first line: choose the interpreter</a:t>
                      </a:r>
                      <a:endParaRPr lang="en-US" sz="16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50" dirty="0">
                          <a:solidFill>
                            <a:srgbClr val="3A464C"/>
                          </a:solidFill>
                          <a:latin typeface="Calibri" pitchFamily="34" charset="0"/>
                          <a:ea typeface="Calibri" pitchFamily="34" charset="-122"/>
                          <a:cs typeface="Calibri" pitchFamily="34" charset="-120"/>
                        </a:rPr>
                        <a:t>./hello.sh runs with /bin/bash</a:t>
                      </a:r>
                      <a:endParaRPr lang="en-US" sz="16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650" b="1" dirty="0">
                          <a:solidFill>
                            <a:srgbClr val="3A464C"/>
                          </a:solidFill>
                          <a:latin typeface="Calibri" pitchFamily="34" charset="0"/>
                          <a:ea typeface="Calibri" pitchFamily="34" charset="-122"/>
                          <a:cs typeface="Calibri" pitchFamily="34" charset="-120"/>
                        </a:rPr>
                        <a:t>name=value</a:t>
                      </a:r>
                      <a:endParaRPr lang="en-US" sz="16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50" dirty="0">
                          <a:solidFill>
                            <a:srgbClr val="3A464C"/>
                          </a:solidFill>
                          <a:latin typeface="Calibri" pitchFamily="34" charset="0"/>
                          <a:ea typeface="Calibri" pitchFamily="34" charset="-122"/>
                          <a:cs typeface="Calibri" pitchFamily="34" charset="-120"/>
                        </a:rPr>
                        <a:t>assign (no spaces!)</a:t>
                      </a:r>
                      <a:endParaRPr lang="en-US" sz="16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50" dirty="0">
                          <a:solidFill>
                            <a:srgbClr val="3A464C"/>
                          </a:solidFill>
                          <a:latin typeface="Calibri" pitchFamily="34" charset="0"/>
                          <a:ea typeface="Calibri" pitchFamily="34" charset="-122"/>
                          <a:cs typeface="Calibri" pitchFamily="34" charset="-120"/>
                        </a:rPr>
                        <a:t>week=14</a:t>
                      </a:r>
                      <a:endParaRPr lang="en-US" sz="16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650" b="1" dirty="0">
                          <a:solidFill>
                            <a:srgbClr val="3A464C"/>
                          </a:solidFill>
                          <a:latin typeface="Calibri" pitchFamily="34" charset="0"/>
                          <a:ea typeface="Calibri" pitchFamily="34" charset="-122"/>
                          <a:cs typeface="Calibri" pitchFamily="34" charset="-120"/>
                        </a:rPr>
                        <a:t>"$name"   '$name'</a:t>
                      </a:r>
                      <a:endParaRPr lang="en-US" sz="16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50" dirty="0">
                          <a:solidFill>
                            <a:srgbClr val="3A464C"/>
                          </a:solidFill>
                          <a:latin typeface="Calibri" pitchFamily="34" charset="0"/>
                          <a:ea typeface="Calibri" pitchFamily="34" charset="-122"/>
                          <a:cs typeface="Calibri" pitchFamily="34" charset="-120"/>
                        </a:rPr>
                        <a:t>expand  /  literal</a:t>
                      </a:r>
                      <a:endParaRPr lang="en-US" sz="16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50" dirty="0">
                          <a:solidFill>
                            <a:srgbClr val="3A464C"/>
                          </a:solidFill>
                          <a:latin typeface="Calibri" pitchFamily="34" charset="0"/>
                          <a:ea typeface="Calibri" pitchFamily="34" charset="-122"/>
                          <a:cs typeface="Calibri" pitchFamily="34" charset="-120"/>
                        </a:rPr>
                        <a:t>Hello Ayse  /  Hello $name</a:t>
                      </a:r>
                      <a:endParaRPr lang="en-US" sz="16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650" b="1" dirty="0">
                          <a:solidFill>
                            <a:srgbClr val="3A464C"/>
                          </a:solidFill>
                          <a:latin typeface="Calibri" pitchFamily="34" charset="0"/>
                          <a:ea typeface="Calibri" pitchFamily="34" charset="-122"/>
                          <a:cs typeface="Calibri" pitchFamily="34" charset="-120"/>
                        </a:rPr>
                        <a:t>$(command)</a:t>
                      </a:r>
                      <a:endParaRPr lang="en-US" sz="16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50" dirty="0">
                          <a:solidFill>
                            <a:srgbClr val="3A464C"/>
                          </a:solidFill>
                          <a:latin typeface="Calibri" pitchFamily="34" charset="0"/>
                          <a:ea typeface="Calibri" pitchFamily="34" charset="-122"/>
                          <a:cs typeface="Calibri" pitchFamily="34" charset="-120"/>
                        </a:rPr>
                        <a:t>insert the output of a command</a:t>
                      </a:r>
                      <a:endParaRPr lang="en-US" sz="16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50" dirty="0">
                          <a:solidFill>
                            <a:srgbClr val="3A464C"/>
                          </a:solidFill>
                          <a:latin typeface="Calibri" pitchFamily="34" charset="0"/>
                          <a:ea typeface="Calibri" pitchFamily="34" charset="-122"/>
                          <a:cs typeface="Calibri" pitchFamily="34" charset="-120"/>
                        </a:rPr>
                        <a:t>$(date +%Y-%m-%d) → 2026-10-12</a:t>
                      </a:r>
                      <a:endParaRPr lang="en-US" sz="16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650" b="1" dirty="0">
                          <a:solidFill>
                            <a:srgbClr val="3A464C"/>
                          </a:solidFill>
                          <a:latin typeface="Calibri" pitchFamily="34" charset="0"/>
                          <a:ea typeface="Calibri" pitchFamily="34" charset="-122"/>
                          <a:cs typeface="Calibri" pitchFamily="34" charset="-120"/>
                        </a:rPr>
                        <a:t>$((expression))</a:t>
                      </a:r>
                      <a:endParaRPr lang="en-US" sz="16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50" dirty="0">
                          <a:solidFill>
                            <a:srgbClr val="3A464C"/>
                          </a:solidFill>
                          <a:latin typeface="Calibri" pitchFamily="34" charset="0"/>
                          <a:ea typeface="Calibri" pitchFamily="34" charset="-122"/>
                          <a:cs typeface="Calibri" pitchFamily="34" charset="-120"/>
                        </a:rPr>
                        <a:t>integer arithmetic</a:t>
                      </a:r>
                      <a:endParaRPr lang="en-US" sz="16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50" dirty="0">
                          <a:solidFill>
                            <a:srgbClr val="3A464C"/>
                          </a:solidFill>
                          <a:latin typeface="Calibri" pitchFamily="34" charset="0"/>
                          <a:ea typeface="Calibri" pitchFamily="34" charset="-122"/>
                          <a:cs typeface="Calibri" pitchFamily="34" charset="-120"/>
                        </a:rPr>
                        <a:t>$((3 + 4 * 2)) → 11</a:t>
                      </a:r>
                      <a:endParaRPr lang="en-US" sz="16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650" b="1" dirty="0">
                          <a:solidFill>
                            <a:srgbClr val="3A464C"/>
                          </a:solidFill>
                          <a:latin typeface="Calibri" pitchFamily="34" charset="0"/>
                          <a:ea typeface="Calibri" pitchFamily="34" charset="-122"/>
                          <a:cs typeface="Calibri" pitchFamily="34" charset="-120"/>
                        </a:rPr>
                        <a:t>$1  $#  "$@"</a:t>
                      </a:r>
                      <a:endParaRPr lang="en-US" sz="16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50" dirty="0">
                          <a:solidFill>
                            <a:srgbClr val="3A464C"/>
                          </a:solidFill>
                          <a:latin typeface="Calibri" pitchFamily="34" charset="0"/>
                          <a:ea typeface="Calibri" pitchFamily="34" charset="-122"/>
                          <a:cs typeface="Calibri" pitchFamily="34" charset="-120"/>
                        </a:rPr>
                        <a:t>arguments, their count, all of them</a:t>
                      </a:r>
                      <a:endParaRPr lang="en-US" sz="16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50" dirty="0">
                          <a:solidFill>
                            <a:srgbClr val="3A464C"/>
                          </a:solidFill>
                          <a:latin typeface="Calibri" pitchFamily="34" charset="0"/>
                          <a:ea typeface="Calibri" pitchFamily="34" charset="-122"/>
                          <a:cs typeface="Calibri" pitchFamily="34" charset="-120"/>
                        </a:rPr>
                        <a:t>./args.sh a b → $# = 2</a:t>
                      </a:r>
                      <a:endParaRPr lang="en-US" sz="16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650" b="1" dirty="0">
                          <a:solidFill>
                            <a:srgbClr val="3A464C"/>
                          </a:solidFill>
                          <a:latin typeface="Calibri" pitchFamily="34" charset="0"/>
                          <a:ea typeface="Calibri" pitchFamily="34" charset="-122"/>
                          <a:cs typeface="Calibri" pitchFamily="34" charset="-120"/>
                        </a:rPr>
                        <a:t>read -r -p "? " x</a:t>
                      </a:r>
                      <a:endParaRPr lang="en-US" sz="16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50" dirty="0">
                          <a:solidFill>
                            <a:srgbClr val="3A464C"/>
                          </a:solidFill>
                          <a:latin typeface="Calibri" pitchFamily="34" charset="0"/>
                          <a:ea typeface="Calibri" pitchFamily="34" charset="-122"/>
                          <a:cs typeface="Calibri" pitchFamily="34" charset="-120"/>
                        </a:rPr>
                        <a:t>read one line from the keyboard</a:t>
                      </a:r>
                      <a:endParaRPr lang="en-US" sz="16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50" dirty="0">
                          <a:solidFill>
                            <a:srgbClr val="3A464C"/>
                          </a:solidFill>
                          <a:latin typeface="Calibri" pitchFamily="34" charset="0"/>
                          <a:ea typeface="Calibri" pitchFamily="34" charset="-122"/>
                          <a:cs typeface="Calibri" pitchFamily="34" charset="-120"/>
                        </a:rPr>
                        <a:t>x=Ayse</a:t>
                      </a:r>
                      <a:endParaRPr lang="en-US" sz="16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INTERMISSION</a:t>
            </a:r>
            <a:endParaRPr lang="en-US"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10-Minute Break</a:t>
            </a:r>
            <a:endParaRPr lang="en-US"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en-US" sz="1600" i="1" dirty="0">
                <a:solidFill>
                  <a:srgbClr val="F2F2F2"/>
                </a:solidFill>
                <a:latin typeface="Calibri" pitchFamily="34" charset="0"/>
                <a:ea typeface="Calibri" pitchFamily="34" charset="-122"/>
                <a:cs typeface="Calibri" pitchFamily="34" charset="-120"/>
              </a:rPr>
              <a:t>Next: decisions, loops, functions — and two real automation scripts.</a:t>
            </a:r>
            <a:endParaRPr lang="en-US"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8A9AA0"/>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8A9AA0"/>
                </a:solidFill>
                <a:latin typeface="Calibri" pitchFamily="34" charset="0"/>
                <a:ea typeface="Calibri" pitchFamily="34" charset="-122"/>
                <a:cs typeface="Calibri" pitchFamily="34" charset="-120"/>
              </a:rPr>
              <a:t>Week 14  ·  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PART 3</a:t>
            </a:r>
            <a:endParaRPr lang="en-US"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Making Decisions</a:t>
            </a:r>
            <a:endParaRPr lang="en-US"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en-US" sz="1600" i="1" dirty="0">
                <a:solidFill>
                  <a:srgbClr val="F2F2F2"/>
                </a:solidFill>
                <a:latin typeface="Calibri" pitchFamily="34" charset="0"/>
                <a:ea typeface="Calibri" pitchFamily="34" charset="-122"/>
                <a:cs typeface="Calibri" pitchFamily="34" charset="-120"/>
              </a:rPr>
              <a:t>Every command answers a yes/no question: its exit status.</a:t>
            </a:r>
            <a:endParaRPr lang="en-US"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8A9AA0"/>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8A9AA0"/>
                </a:solidFill>
                <a:latin typeface="Calibri" pitchFamily="34" charset="0"/>
                <a:ea typeface="Calibri" pitchFamily="34" charset="-122"/>
                <a:cs typeface="Calibri" pitchFamily="34" charset="-120"/>
              </a:rPr>
              <a:t>Week 14  ·  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EXIT STATUS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Every Command Returns an Exit Status: $?</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14  ·  19</a:t>
            </a:r>
            <a:endParaRPr lang="en-US" sz="900" dirty="0"/>
          </a:p>
        </p:txBody>
      </p:sp>
      <p:sp>
        <p:nvSpPr>
          <p:cNvPr id="6" name="Shape 4"/>
          <p:cNvSpPr/>
          <p:nvPr/>
        </p:nvSpPr>
        <p:spPr>
          <a:xfrm>
            <a:off x="548640" y="1508760"/>
            <a:ext cx="6583680" cy="4754880"/>
          </a:xfrm>
          <a:prstGeom prst="roundRect">
            <a:avLst>
              <a:gd name="adj" fmla="val 962"/>
            </a:avLst>
          </a:prstGeom>
          <a:solidFill>
            <a:srgbClr val="212121"/>
          </a:solidFill>
          <a:ln/>
        </p:spPr>
        <p:txBody>
          <a:bodyPr/>
          <a:p/>
        </p:txBody>
      </p:sp>
      <p:sp>
        <p:nvSpPr>
          <p:cNvPr id="7" name="Text 5"/>
          <p:cNvSpPr txBox="1"/>
          <p:nvPr/>
        </p:nvSpPr>
        <p:spPr>
          <a:xfrm>
            <a:off x="731520" y="1618488"/>
            <a:ext cx="6217920" cy="4535424"/>
          </a:xfrm>
          <a:prstGeom prst="rect">
            <a:avLst/>
          </a:prstGeom>
          <a:noFill/>
          <a:ln/>
        </p:spPr>
        <p:txBody>
          <a:bodyPr wrap="square" lIns="0" tIns="0" rIns="0" bIns="0" rtlCol="0" anchor="t"/>
          <a:lstStyle/>
          <a:p>
            <a:pPr indent="0" marL="0">
              <a:lnSpc>
                <a:spcPct val="100000"/>
              </a:lnSpc>
              <a:buNone/>
            </a:pPr>
            <a:r>
              <a:rPr lang="en-US" sz="1200" dirty="0">
                <a:solidFill>
                  <a:srgbClr val="02C39A"/>
                </a:solidFill>
                <a:latin typeface="Consolas" pitchFamily="34" charset="0"/>
                <a:ea typeface="Consolas" pitchFamily="34" charset="-122"/>
                <a:cs typeface="Consolas" pitchFamily="34" charset="-120"/>
              </a:rPr>
              <a:t>student@okan-lab:~/lab/scripts$ </a:t>
            </a:r>
            <a:r>
              <a:rPr lang="en-US" sz="1200" b="1" dirty="0">
                <a:solidFill>
                  <a:srgbClr val="FFFFFF"/>
                </a:solidFill>
                <a:latin typeface="Consolas" pitchFamily="34" charset="0"/>
                <a:ea typeface="Consolas" pitchFamily="34" charset="-122"/>
                <a:cs typeface="Consolas" pitchFamily="34" charset="-120"/>
              </a:rPr>
              <a:t>ls ../docs &gt; /dev/null</a:t>
            </a:r>
            <a:endParaRPr lang="en-US" sz="1200" dirty="0"/>
          </a:p>
          <a:p>
            <a:pPr indent="0" marL="0">
              <a:lnSpc>
                <a:spcPct val="100000"/>
              </a:lnSpc>
              <a:buNone/>
            </a:pPr>
            <a:r>
              <a:rPr lang="en-US" sz="1200" dirty="0">
                <a:solidFill>
                  <a:srgbClr val="02C39A"/>
                </a:solidFill>
                <a:latin typeface="Consolas" pitchFamily="34" charset="0"/>
                <a:ea typeface="Consolas" pitchFamily="34" charset="-122"/>
                <a:cs typeface="Consolas" pitchFamily="34" charset="-120"/>
              </a:rPr>
              <a:t>student@okan-lab:~/lab/scripts$ </a:t>
            </a:r>
            <a:r>
              <a:rPr lang="en-US" sz="1200" b="1" dirty="0">
                <a:solidFill>
                  <a:srgbClr val="FFFFFF"/>
                </a:solidFill>
                <a:latin typeface="Consolas" pitchFamily="34" charset="0"/>
                <a:ea typeface="Consolas" pitchFamily="34" charset="-122"/>
                <a:cs typeface="Consolas" pitchFamily="34" charset="-120"/>
              </a:rPr>
              <a:t>echo $?</a:t>
            </a:r>
            <a:endParaRPr lang="en-US" sz="1200" dirty="0"/>
          </a:p>
          <a:p>
            <a:pPr indent="0" marL="0">
              <a:lnSpc>
                <a:spcPct val="100000"/>
              </a:lnSpc>
              <a:buNone/>
            </a:pPr>
            <a:r>
              <a:rPr lang="en-US" sz="1200" dirty="0">
                <a:solidFill>
                  <a:srgbClr val="C9D1D3"/>
                </a:solidFill>
                <a:latin typeface="Consolas" pitchFamily="34" charset="0"/>
                <a:ea typeface="Consolas" pitchFamily="34" charset="-122"/>
                <a:cs typeface="Consolas" pitchFamily="34" charset="-120"/>
              </a:rPr>
              <a:t>0</a:t>
            </a:r>
            <a:endParaRPr lang="en-US" sz="1200" dirty="0"/>
          </a:p>
          <a:p>
            <a:pPr indent="0" marL="0">
              <a:lnSpc>
                <a:spcPct val="100000"/>
              </a:lnSpc>
              <a:buNone/>
            </a:pPr>
            <a:r>
              <a:rPr lang="en-US" sz="1200" dirty="0">
                <a:solidFill>
                  <a:srgbClr val="02C39A"/>
                </a:solidFill>
                <a:latin typeface="Consolas" pitchFamily="34" charset="0"/>
                <a:ea typeface="Consolas" pitchFamily="34" charset="-122"/>
                <a:cs typeface="Consolas" pitchFamily="34" charset="-120"/>
              </a:rPr>
              <a:t>student@okan-lab:~/lab/scripts$ </a:t>
            </a:r>
            <a:r>
              <a:rPr lang="en-US" sz="1200" b="1" dirty="0">
                <a:solidFill>
                  <a:srgbClr val="FFFFFF"/>
                </a:solidFill>
                <a:latin typeface="Consolas" pitchFamily="34" charset="0"/>
                <a:ea typeface="Consolas" pitchFamily="34" charset="-122"/>
                <a:cs typeface="Consolas" pitchFamily="34" charset="-120"/>
              </a:rPr>
              <a:t>ls ../nothing</a:t>
            </a:r>
            <a:endParaRPr lang="en-US" sz="1200" dirty="0"/>
          </a:p>
          <a:p>
            <a:pPr indent="0" marL="0">
              <a:lnSpc>
                <a:spcPct val="100000"/>
              </a:lnSpc>
              <a:buNone/>
            </a:pPr>
            <a:r>
              <a:rPr lang="en-US" sz="1200" dirty="0">
                <a:solidFill>
                  <a:srgbClr val="C9D1D3"/>
                </a:solidFill>
                <a:latin typeface="Consolas" pitchFamily="34" charset="0"/>
                <a:ea typeface="Consolas" pitchFamily="34" charset="-122"/>
                <a:cs typeface="Consolas" pitchFamily="34" charset="-120"/>
              </a:rPr>
              <a:t>ls: cannot access '../nothing': No such file or directory</a:t>
            </a:r>
            <a:endParaRPr lang="en-US" sz="1200" dirty="0"/>
          </a:p>
          <a:p>
            <a:pPr indent="0" marL="0">
              <a:lnSpc>
                <a:spcPct val="100000"/>
              </a:lnSpc>
              <a:buNone/>
            </a:pPr>
            <a:r>
              <a:rPr lang="en-US" sz="1200" dirty="0">
                <a:solidFill>
                  <a:srgbClr val="02C39A"/>
                </a:solidFill>
                <a:latin typeface="Consolas" pitchFamily="34" charset="0"/>
                <a:ea typeface="Consolas" pitchFamily="34" charset="-122"/>
                <a:cs typeface="Consolas" pitchFamily="34" charset="-120"/>
              </a:rPr>
              <a:t>student@okan-lab:~/lab/scripts$ </a:t>
            </a:r>
            <a:r>
              <a:rPr lang="en-US" sz="1200" b="1" dirty="0">
                <a:solidFill>
                  <a:srgbClr val="FFFFFF"/>
                </a:solidFill>
                <a:latin typeface="Consolas" pitchFamily="34" charset="0"/>
                <a:ea typeface="Consolas" pitchFamily="34" charset="-122"/>
                <a:cs typeface="Consolas" pitchFamily="34" charset="-120"/>
              </a:rPr>
              <a:t>echo $?</a:t>
            </a:r>
            <a:endParaRPr lang="en-US" sz="1200" dirty="0"/>
          </a:p>
          <a:p>
            <a:pPr indent="0" marL="0">
              <a:lnSpc>
                <a:spcPct val="100000"/>
              </a:lnSpc>
              <a:buNone/>
            </a:pPr>
            <a:r>
              <a:rPr lang="en-US" sz="1200" dirty="0">
                <a:solidFill>
                  <a:srgbClr val="C9D1D3"/>
                </a:solidFill>
                <a:latin typeface="Consolas" pitchFamily="34" charset="0"/>
                <a:ea typeface="Consolas" pitchFamily="34" charset="-122"/>
                <a:cs typeface="Consolas" pitchFamily="34" charset="-120"/>
              </a:rPr>
              <a:t>2</a:t>
            </a:r>
            <a:endParaRPr lang="en-US" sz="1200" dirty="0"/>
          </a:p>
          <a:p>
            <a:pPr indent="0" marL="0">
              <a:lnSpc>
                <a:spcPct val="100000"/>
              </a:lnSpc>
              <a:buNone/>
            </a:pPr>
            <a:r>
              <a:rPr lang="en-US" sz="1200" dirty="0">
                <a:solidFill>
                  <a:srgbClr val="02C39A"/>
                </a:solidFill>
                <a:latin typeface="Consolas" pitchFamily="34" charset="0"/>
                <a:ea typeface="Consolas" pitchFamily="34" charset="-122"/>
                <a:cs typeface="Consolas" pitchFamily="34" charset="-120"/>
              </a:rPr>
              <a:t>student@okan-lab:~/lab/scripts$ </a:t>
            </a:r>
            <a:r>
              <a:rPr lang="en-US" sz="1200" b="1" dirty="0">
                <a:solidFill>
                  <a:srgbClr val="FFFFFF"/>
                </a:solidFill>
                <a:latin typeface="Consolas" pitchFamily="34" charset="0"/>
                <a:ea typeface="Consolas" pitchFamily="34" charset="-122"/>
                <a:cs typeface="Consolas" pitchFamily="34" charset="-120"/>
              </a:rPr>
              <a:t>nosuchcommand</a:t>
            </a:r>
            <a:endParaRPr lang="en-US" sz="1200" dirty="0"/>
          </a:p>
          <a:p>
            <a:pPr indent="0" marL="0">
              <a:lnSpc>
                <a:spcPct val="100000"/>
              </a:lnSpc>
              <a:buNone/>
            </a:pPr>
            <a:r>
              <a:rPr lang="en-US" sz="1200" dirty="0">
                <a:solidFill>
                  <a:srgbClr val="C9D1D3"/>
                </a:solidFill>
                <a:latin typeface="Consolas" pitchFamily="34" charset="0"/>
                <a:ea typeface="Consolas" pitchFamily="34" charset="-122"/>
                <a:cs typeface="Consolas" pitchFamily="34" charset="-120"/>
              </a:rPr>
              <a:t>bash: nosuchcommand: command not found</a:t>
            </a:r>
            <a:endParaRPr lang="en-US" sz="1200" dirty="0"/>
          </a:p>
          <a:p>
            <a:pPr indent="0" marL="0">
              <a:lnSpc>
                <a:spcPct val="100000"/>
              </a:lnSpc>
              <a:buNone/>
            </a:pPr>
            <a:r>
              <a:rPr lang="en-US" sz="1200" dirty="0">
                <a:solidFill>
                  <a:srgbClr val="02C39A"/>
                </a:solidFill>
                <a:latin typeface="Consolas" pitchFamily="34" charset="0"/>
                <a:ea typeface="Consolas" pitchFamily="34" charset="-122"/>
                <a:cs typeface="Consolas" pitchFamily="34" charset="-120"/>
              </a:rPr>
              <a:t>student@okan-lab:~/lab/scripts$ </a:t>
            </a:r>
            <a:r>
              <a:rPr lang="en-US" sz="1200" b="1" dirty="0">
                <a:solidFill>
                  <a:srgbClr val="FFFFFF"/>
                </a:solidFill>
                <a:latin typeface="Consolas" pitchFamily="34" charset="0"/>
                <a:ea typeface="Consolas" pitchFamily="34" charset="-122"/>
                <a:cs typeface="Consolas" pitchFamily="34" charset="-120"/>
              </a:rPr>
              <a:t>echo $?</a:t>
            </a:r>
            <a:endParaRPr lang="en-US" sz="1200" dirty="0"/>
          </a:p>
          <a:p>
            <a:pPr indent="0" marL="0">
              <a:lnSpc>
                <a:spcPct val="100000"/>
              </a:lnSpc>
              <a:buNone/>
            </a:pPr>
            <a:r>
              <a:rPr lang="en-US" sz="1200" dirty="0">
                <a:solidFill>
                  <a:srgbClr val="C9D1D3"/>
                </a:solidFill>
                <a:latin typeface="Consolas" pitchFamily="34" charset="0"/>
                <a:ea typeface="Consolas" pitchFamily="34" charset="-122"/>
                <a:cs typeface="Consolas" pitchFamily="34" charset="-120"/>
              </a:rPr>
              <a:t>127</a:t>
            </a:r>
            <a:endParaRPr lang="en-US" sz="1200" dirty="0"/>
          </a:p>
          <a:p>
            <a:pPr indent="0" marL="0">
              <a:lnSpc>
                <a:spcPct val="100000"/>
              </a:lnSpc>
              <a:buNone/>
            </a:pPr>
            <a:r>
              <a:rPr lang="en-US" sz="1200" dirty="0">
                <a:solidFill>
                  <a:srgbClr val="02C39A"/>
                </a:solidFill>
                <a:latin typeface="Consolas" pitchFamily="34" charset="0"/>
                <a:ea typeface="Consolas" pitchFamily="34" charset="-122"/>
                <a:cs typeface="Consolas" pitchFamily="34" charset="-120"/>
              </a:rPr>
              <a:t>student@okan-lab:~/lab/scripts$ </a:t>
            </a:r>
            <a:r>
              <a:rPr lang="en-US" sz="1200" b="1" dirty="0">
                <a:solidFill>
                  <a:srgbClr val="FFFFFF"/>
                </a:solidFill>
                <a:latin typeface="Consolas" pitchFamily="34" charset="0"/>
                <a:ea typeface="Consolas" pitchFamily="34" charset="-122"/>
                <a:cs typeface="Consolas" pitchFamily="34" charset="-120"/>
              </a:rPr>
              <a:t>grep -q ERROR ../logs/system.log</a:t>
            </a:r>
            <a:endParaRPr lang="en-US" sz="1200" dirty="0"/>
          </a:p>
          <a:p>
            <a:pPr indent="0" marL="0">
              <a:lnSpc>
                <a:spcPct val="100000"/>
              </a:lnSpc>
              <a:buNone/>
            </a:pPr>
            <a:r>
              <a:rPr lang="en-US" sz="1200" dirty="0">
                <a:solidFill>
                  <a:srgbClr val="02C39A"/>
                </a:solidFill>
                <a:latin typeface="Consolas" pitchFamily="34" charset="0"/>
                <a:ea typeface="Consolas" pitchFamily="34" charset="-122"/>
                <a:cs typeface="Consolas" pitchFamily="34" charset="-120"/>
              </a:rPr>
              <a:t>student@okan-lab:~/lab/scripts$ </a:t>
            </a:r>
            <a:r>
              <a:rPr lang="en-US" sz="1200" b="1" dirty="0">
                <a:solidFill>
                  <a:srgbClr val="FFFFFF"/>
                </a:solidFill>
                <a:latin typeface="Consolas" pitchFamily="34" charset="0"/>
                <a:ea typeface="Consolas" pitchFamily="34" charset="-122"/>
                <a:cs typeface="Consolas" pitchFamily="34" charset="-120"/>
              </a:rPr>
              <a:t>echo $?</a:t>
            </a:r>
            <a:endParaRPr lang="en-US" sz="1200" dirty="0"/>
          </a:p>
          <a:p>
            <a:pPr indent="0" marL="0">
              <a:lnSpc>
                <a:spcPct val="100000"/>
              </a:lnSpc>
              <a:buNone/>
            </a:pPr>
            <a:r>
              <a:rPr lang="en-US" sz="1200" dirty="0">
                <a:solidFill>
                  <a:srgbClr val="C9D1D3"/>
                </a:solidFill>
                <a:latin typeface="Consolas" pitchFamily="34" charset="0"/>
                <a:ea typeface="Consolas" pitchFamily="34" charset="-122"/>
                <a:cs typeface="Consolas" pitchFamily="34" charset="-120"/>
              </a:rPr>
              <a:t>0</a:t>
            </a:r>
            <a:endParaRPr lang="en-US" sz="1200" dirty="0"/>
          </a:p>
          <a:p>
            <a:pPr indent="0" marL="0">
              <a:lnSpc>
                <a:spcPct val="100000"/>
              </a:lnSpc>
              <a:buNone/>
            </a:pPr>
            <a:r>
              <a:rPr lang="en-US" sz="1200" dirty="0">
                <a:solidFill>
                  <a:srgbClr val="02C39A"/>
                </a:solidFill>
                <a:latin typeface="Consolas" pitchFamily="34" charset="0"/>
                <a:ea typeface="Consolas" pitchFamily="34" charset="-122"/>
                <a:cs typeface="Consolas" pitchFamily="34" charset="-120"/>
              </a:rPr>
              <a:t>student@okan-lab:~/lab/scripts$ </a:t>
            </a:r>
            <a:r>
              <a:rPr lang="en-US" sz="1200" b="1" dirty="0">
                <a:solidFill>
                  <a:srgbClr val="FFFFFF"/>
                </a:solidFill>
                <a:latin typeface="Consolas" pitchFamily="34" charset="0"/>
                <a:ea typeface="Consolas" pitchFamily="34" charset="-122"/>
                <a:cs typeface="Consolas" pitchFamily="34" charset="-120"/>
              </a:rPr>
              <a:t>grep -q PANIC ../logs/system.log</a:t>
            </a:r>
            <a:endParaRPr lang="en-US" sz="1200" dirty="0"/>
          </a:p>
          <a:p>
            <a:pPr indent="0" marL="0">
              <a:lnSpc>
                <a:spcPct val="100000"/>
              </a:lnSpc>
              <a:buNone/>
            </a:pPr>
            <a:r>
              <a:rPr lang="en-US" sz="1200" dirty="0">
                <a:solidFill>
                  <a:srgbClr val="02C39A"/>
                </a:solidFill>
                <a:latin typeface="Consolas" pitchFamily="34" charset="0"/>
                <a:ea typeface="Consolas" pitchFamily="34" charset="-122"/>
                <a:cs typeface="Consolas" pitchFamily="34" charset="-120"/>
              </a:rPr>
              <a:t>student@okan-lab:~/lab/scripts$ </a:t>
            </a:r>
            <a:r>
              <a:rPr lang="en-US" sz="1200" b="1" dirty="0">
                <a:solidFill>
                  <a:srgbClr val="FFFFFF"/>
                </a:solidFill>
                <a:latin typeface="Consolas" pitchFamily="34" charset="0"/>
                <a:ea typeface="Consolas" pitchFamily="34" charset="-122"/>
                <a:cs typeface="Consolas" pitchFamily="34" charset="-120"/>
              </a:rPr>
              <a:t>echo $?</a:t>
            </a:r>
            <a:endParaRPr lang="en-US" sz="1200" dirty="0"/>
          </a:p>
          <a:p>
            <a:pPr indent="0" marL="0">
              <a:lnSpc>
                <a:spcPct val="100000"/>
              </a:lnSpc>
              <a:buNone/>
            </a:pPr>
            <a:r>
              <a:rPr lang="en-US" sz="1200" dirty="0">
                <a:solidFill>
                  <a:srgbClr val="C9D1D3"/>
                </a:solidFill>
                <a:latin typeface="Consolas" pitchFamily="34" charset="0"/>
                <a:ea typeface="Consolas" pitchFamily="34" charset="-122"/>
                <a:cs typeface="Consolas" pitchFamily="34" charset="-120"/>
              </a:rPr>
              <a:t>1</a:t>
            </a:r>
            <a:endParaRPr lang="en-US" sz="1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7360920" y="1508760"/>
          <a:ext cx="4297680" cy="914400"/>
        </p:xfrm>
        <a:graphic>
          <a:graphicData uri="http://schemas.openxmlformats.org/drawingml/2006/table">
            <a:tbl>
              <a:tblPr/>
              <a:tblGrid>
                <a:gridCol w="822960"/>
                <a:gridCol w="3474720"/>
              </a:tblGrid>
              <a:tr h="0">
                <a:tc>
                  <a:txBody>
                    <a:bodyPr/>
                    <a:lstStyle/>
                    <a:p>
                      <a:pPr indent="0" marL="0">
                        <a:buNone/>
                      </a:pPr>
                      <a:r>
                        <a:rPr lang="en-US" sz="1400" b="1" dirty="0">
                          <a:solidFill>
                            <a:srgbClr val="FFFFFF"/>
                          </a:solidFill>
                          <a:latin typeface="Cambria" pitchFamily="34" charset="0"/>
                          <a:ea typeface="Cambria" pitchFamily="34" charset="-122"/>
                          <a:cs typeface="Cambria" pitchFamily="34" charset="-120"/>
                        </a:rPr>
                        <a:t>$?</a:t>
                      </a:r>
                      <a:endParaRPr lang="en-US" sz="14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400" b="1" dirty="0">
                          <a:solidFill>
                            <a:srgbClr val="FFFFFF"/>
                          </a:solidFill>
                          <a:latin typeface="Cambria" pitchFamily="34" charset="0"/>
                          <a:ea typeface="Cambria" pitchFamily="34" charset="-122"/>
                          <a:cs typeface="Cambria" pitchFamily="34" charset="-120"/>
                        </a:rPr>
                        <a:t>Meaning</a:t>
                      </a:r>
                      <a:endParaRPr lang="en-US" sz="14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en-US" sz="1350" b="1" dirty="0">
                          <a:solidFill>
                            <a:srgbClr val="3A464C"/>
                          </a:solidFill>
                          <a:latin typeface="Consolas" pitchFamily="34" charset="0"/>
                          <a:ea typeface="Consolas" pitchFamily="34" charset="-122"/>
                          <a:cs typeface="Consolas" pitchFamily="34" charset="-120"/>
                        </a:rPr>
                        <a:t>0</a:t>
                      </a:r>
                      <a:endParaRPr lang="en-US" sz="1350" dirty="0">
                        <a:latin typeface="Consolas" charset="0"/>
                        <a:ea typeface="Consolas" charset="0"/>
                        <a:cs typeface="Consolas"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success ("true")</a:t>
                      </a:r>
                      <a:endParaRPr lang="en-US"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350" b="1" dirty="0">
                          <a:solidFill>
                            <a:srgbClr val="3A464C"/>
                          </a:solidFill>
                          <a:latin typeface="Consolas" pitchFamily="34" charset="0"/>
                          <a:ea typeface="Consolas" pitchFamily="34" charset="-122"/>
                          <a:cs typeface="Consolas" pitchFamily="34" charset="-120"/>
                        </a:rPr>
                        <a:t>1</a:t>
                      </a:r>
                      <a:endParaRPr lang="en-US" sz="1350" dirty="0">
                        <a:latin typeface="Consolas" charset="0"/>
                        <a:ea typeface="Consolas" charset="0"/>
                        <a:cs typeface="Consolas"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general failure / "false"</a:t>
                      </a:r>
                      <a:endParaRPr lang="en-US"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350" b="1" dirty="0">
                          <a:solidFill>
                            <a:srgbClr val="3A464C"/>
                          </a:solidFill>
                          <a:latin typeface="Consolas" pitchFamily="34" charset="0"/>
                          <a:ea typeface="Consolas" pitchFamily="34" charset="-122"/>
                          <a:cs typeface="Consolas" pitchFamily="34" charset="-120"/>
                        </a:rPr>
                        <a:t>2</a:t>
                      </a:r>
                      <a:endParaRPr lang="en-US" sz="1350" dirty="0">
                        <a:latin typeface="Consolas" charset="0"/>
                        <a:ea typeface="Consolas" charset="0"/>
                        <a:cs typeface="Consolas"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wrong usage (ls, grep: error)</a:t>
                      </a:r>
                      <a:endParaRPr lang="en-US"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350" b="1" dirty="0">
                          <a:solidFill>
                            <a:srgbClr val="3A464C"/>
                          </a:solidFill>
                          <a:latin typeface="Consolas" pitchFamily="34" charset="0"/>
                          <a:ea typeface="Consolas" pitchFamily="34" charset="-122"/>
                          <a:cs typeface="Consolas" pitchFamily="34" charset="-120"/>
                        </a:rPr>
                        <a:t>126</a:t>
                      </a:r>
                      <a:endParaRPr lang="en-US" sz="1350" dirty="0">
                        <a:latin typeface="Consolas" charset="0"/>
                        <a:ea typeface="Consolas" charset="0"/>
                        <a:cs typeface="Consolas"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found, but not executable</a:t>
                      </a:r>
                      <a:endParaRPr lang="en-US"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350" b="1" dirty="0">
                          <a:solidFill>
                            <a:srgbClr val="3A464C"/>
                          </a:solidFill>
                          <a:latin typeface="Consolas" pitchFamily="34" charset="0"/>
                          <a:ea typeface="Consolas" pitchFamily="34" charset="-122"/>
                          <a:cs typeface="Consolas" pitchFamily="34" charset="-120"/>
                        </a:rPr>
                        <a:t>127</a:t>
                      </a:r>
                      <a:endParaRPr lang="en-US" sz="1350" dirty="0">
                        <a:latin typeface="Consolas" charset="0"/>
                        <a:ea typeface="Consolas" charset="0"/>
                        <a:cs typeface="Consolas"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command not found</a:t>
                      </a:r>
                      <a:endParaRPr lang="en-US"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bl>
          </a:graphicData>
        </a:graphic>
      </p:graphicFrame>
      <p:sp>
        <p:nvSpPr>
          <p:cNvPr id="9" name="Shape 6"/>
          <p:cNvSpPr/>
          <p:nvPr/>
        </p:nvSpPr>
        <p:spPr>
          <a:xfrm>
            <a:off x="7360920" y="4343400"/>
            <a:ext cx="4297680" cy="1920240"/>
          </a:xfrm>
          <a:prstGeom prst="roundRect">
            <a:avLst>
              <a:gd name="adj" fmla="val 2857"/>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10" name="Text 7"/>
          <p:cNvSpPr txBox="1"/>
          <p:nvPr/>
        </p:nvSpPr>
        <p:spPr>
          <a:xfrm>
            <a:off x="7589520" y="4343400"/>
            <a:ext cx="3840480" cy="1920240"/>
          </a:xfrm>
          <a:prstGeom prst="rect">
            <a:avLst/>
          </a:prstGeom>
          <a:noFill/>
          <a:ln/>
        </p:spPr>
        <p:txBody>
          <a:bodyPr wrap="square" lIns="0" tIns="0" rIns="0" bIns="0" rtlCol="0" anchor="ctr"/>
          <a:lstStyle/>
          <a:p>
            <a:pPr indent="0" marL="0">
              <a:buNone/>
            </a:pPr>
            <a:r>
              <a:rPr lang="en-US" sz="1350" dirty="0">
                <a:solidFill>
                  <a:srgbClr val="F2F2F2"/>
                </a:solidFill>
                <a:latin typeface="Calibri" pitchFamily="34" charset="0"/>
                <a:ea typeface="Calibri" pitchFamily="34" charset="-122"/>
                <a:cs typeface="Calibri" pitchFamily="34" charset="-120"/>
              </a:rPr>
              <a:t>0 means success — the opposite of C, where 0 is false! A program sets it with exit(n) or return n from main (Week 3); a script sets it with exit n. Range 0–255.</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CONDITIONS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test and [ ]: A Command That Compares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14  ·  20</a:t>
            </a:r>
            <a:endParaRPr lang="en-US" sz="900" dirty="0"/>
          </a:p>
        </p:txBody>
      </p:sp>
      <p:sp>
        <p:nvSpPr>
          <p:cNvPr id="6" name="Shape 4"/>
          <p:cNvSpPr/>
          <p:nvPr/>
        </p:nvSpPr>
        <p:spPr>
          <a:xfrm>
            <a:off x="548640" y="1508760"/>
            <a:ext cx="5577840" cy="1874520"/>
          </a:xfrm>
          <a:prstGeom prst="roundRect">
            <a:avLst>
              <a:gd name="adj" fmla="val 2439"/>
            </a:avLst>
          </a:prstGeom>
          <a:solidFill>
            <a:srgbClr val="212121"/>
          </a:solidFill>
          <a:ln/>
        </p:spPr>
        <p:txBody>
          <a:bodyPr/>
          <a:p/>
        </p:txBody>
      </p:sp>
      <p:sp>
        <p:nvSpPr>
          <p:cNvPr id="7" name="Text 5"/>
          <p:cNvSpPr txBox="1"/>
          <p:nvPr/>
        </p:nvSpPr>
        <p:spPr>
          <a:xfrm>
            <a:off x="731520" y="1618488"/>
            <a:ext cx="5212080" cy="1655064"/>
          </a:xfrm>
          <a:prstGeom prst="rect">
            <a:avLst/>
          </a:prstGeom>
          <a:noFill/>
          <a:ln/>
        </p:spPr>
        <p:txBody>
          <a:bodyPr wrap="square" lIns="0" tIns="0" rIns="0" bIns="0" rtlCol="0" anchor="t"/>
          <a:lstStyle/>
          <a:p>
            <a:pPr indent="0" marL="0">
              <a:lnSpc>
                <a:spcPct val="100000"/>
              </a:lnSpc>
              <a:buNone/>
            </a:pPr>
            <a:r>
              <a:rPr lang="en-US" sz="1200" dirty="0">
                <a:solidFill>
                  <a:srgbClr val="02C39A"/>
                </a:solidFill>
                <a:latin typeface="Consolas" pitchFamily="34" charset="0"/>
                <a:ea typeface="Consolas" pitchFamily="34" charset="-122"/>
                <a:cs typeface="Consolas" pitchFamily="34" charset="-120"/>
              </a:rPr>
              <a:t>student@okan-lab:~/lab/scripts$ </a:t>
            </a:r>
            <a:r>
              <a:rPr lang="en-US" sz="1200" b="1" dirty="0">
                <a:solidFill>
                  <a:srgbClr val="FFFFFF"/>
                </a:solidFill>
                <a:latin typeface="Consolas" pitchFamily="34" charset="0"/>
                <a:ea typeface="Consolas" pitchFamily="34" charset="-122"/>
                <a:cs typeface="Consolas" pitchFamily="34" charset="-120"/>
              </a:rPr>
              <a:t>[ 5 -gt 3 ]</a:t>
            </a:r>
            <a:endParaRPr lang="en-US" sz="1200" dirty="0"/>
          </a:p>
          <a:p>
            <a:pPr indent="0" marL="0">
              <a:lnSpc>
                <a:spcPct val="100000"/>
              </a:lnSpc>
              <a:buNone/>
            </a:pPr>
            <a:r>
              <a:rPr lang="en-US" sz="1200" dirty="0">
                <a:solidFill>
                  <a:srgbClr val="02C39A"/>
                </a:solidFill>
                <a:latin typeface="Consolas" pitchFamily="34" charset="0"/>
                <a:ea typeface="Consolas" pitchFamily="34" charset="-122"/>
                <a:cs typeface="Consolas" pitchFamily="34" charset="-120"/>
              </a:rPr>
              <a:t>student@okan-lab:~/lab/scripts$ </a:t>
            </a:r>
            <a:r>
              <a:rPr lang="en-US" sz="1200" b="1" dirty="0">
                <a:solidFill>
                  <a:srgbClr val="FFFFFF"/>
                </a:solidFill>
                <a:latin typeface="Consolas" pitchFamily="34" charset="0"/>
                <a:ea typeface="Consolas" pitchFamily="34" charset="-122"/>
                <a:cs typeface="Consolas" pitchFamily="34" charset="-120"/>
              </a:rPr>
              <a:t>echo $?</a:t>
            </a:r>
            <a:endParaRPr lang="en-US" sz="1200" dirty="0"/>
          </a:p>
          <a:p>
            <a:pPr indent="0" marL="0">
              <a:lnSpc>
                <a:spcPct val="100000"/>
              </a:lnSpc>
              <a:buNone/>
            </a:pPr>
            <a:r>
              <a:rPr lang="en-US" sz="1200" dirty="0">
                <a:solidFill>
                  <a:srgbClr val="C9D1D3"/>
                </a:solidFill>
                <a:latin typeface="Consolas" pitchFamily="34" charset="0"/>
                <a:ea typeface="Consolas" pitchFamily="34" charset="-122"/>
                <a:cs typeface="Consolas" pitchFamily="34" charset="-120"/>
              </a:rPr>
              <a:t>0</a:t>
            </a:r>
            <a:endParaRPr lang="en-US" sz="1200" dirty="0"/>
          </a:p>
          <a:p>
            <a:pPr indent="0" marL="0">
              <a:lnSpc>
                <a:spcPct val="100000"/>
              </a:lnSpc>
              <a:buNone/>
            </a:pPr>
            <a:r>
              <a:rPr lang="en-US" sz="1200" dirty="0">
                <a:solidFill>
                  <a:srgbClr val="02C39A"/>
                </a:solidFill>
                <a:latin typeface="Consolas" pitchFamily="34" charset="0"/>
                <a:ea typeface="Consolas" pitchFamily="34" charset="-122"/>
                <a:cs typeface="Consolas" pitchFamily="34" charset="-120"/>
              </a:rPr>
              <a:t>student@okan-lab:~/lab/scripts$ </a:t>
            </a:r>
            <a:r>
              <a:rPr lang="en-US" sz="1200" b="1" dirty="0">
                <a:solidFill>
                  <a:srgbClr val="FFFFFF"/>
                </a:solidFill>
                <a:latin typeface="Consolas" pitchFamily="34" charset="0"/>
                <a:ea typeface="Consolas" pitchFamily="34" charset="-122"/>
                <a:cs typeface="Consolas" pitchFamily="34" charset="-120"/>
              </a:rPr>
              <a:t>[ "abc" = "abd" ]</a:t>
            </a:r>
            <a:endParaRPr lang="en-US" sz="1200" dirty="0"/>
          </a:p>
          <a:p>
            <a:pPr indent="0" marL="0">
              <a:lnSpc>
                <a:spcPct val="100000"/>
              </a:lnSpc>
              <a:buNone/>
            </a:pPr>
            <a:r>
              <a:rPr lang="en-US" sz="1200" dirty="0">
                <a:solidFill>
                  <a:srgbClr val="02C39A"/>
                </a:solidFill>
                <a:latin typeface="Consolas" pitchFamily="34" charset="0"/>
                <a:ea typeface="Consolas" pitchFamily="34" charset="-122"/>
                <a:cs typeface="Consolas" pitchFamily="34" charset="-120"/>
              </a:rPr>
              <a:t>student@okan-lab:~/lab/scripts$ </a:t>
            </a:r>
            <a:r>
              <a:rPr lang="en-US" sz="1200" b="1" dirty="0">
                <a:solidFill>
                  <a:srgbClr val="FFFFFF"/>
                </a:solidFill>
                <a:latin typeface="Consolas" pitchFamily="34" charset="0"/>
                <a:ea typeface="Consolas" pitchFamily="34" charset="-122"/>
                <a:cs typeface="Consolas" pitchFamily="34" charset="-120"/>
              </a:rPr>
              <a:t>echo $?</a:t>
            </a:r>
            <a:endParaRPr lang="en-US" sz="1200" dirty="0"/>
          </a:p>
          <a:p>
            <a:pPr indent="0" marL="0">
              <a:lnSpc>
                <a:spcPct val="100000"/>
              </a:lnSpc>
              <a:buNone/>
            </a:pPr>
            <a:r>
              <a:rPr lang="en-US" sz="1200" dirty="0">
                <a:solidFill>
                  <a:srgbClr val="C9D1D3"/>
                </a:solidFill>
                <a:latin typeface="Consolas" pitchFamily="34" charset="0"/>
                <a:ea typeface="Consolas" pitchFamily="34" charset="-122"/>
                <a:cs typeface="Consolas" pitchFamily="34" charset="-120"/>
              </a:rPr>
              <a:t>1</a:t>
            </a:r>
            <a:endParaRPr lang="en-US" sz="1200" dirty="0"/>
          </a:p>
          <a:p>
            <a:pPr indent="0" marL="0">
              <a:lnSpc>
                <a:spcPct val="100000"/>
              </a:lnSpc>
              <a:buNone/>
            </a:pPr>
            <a:r>
              <a:rPr lang="en-US" sz="1200" dirty="0">
                <a:solidFill>
                  <a:srgbClr val="02C39A"/>
                </a:solidFill>
                <a:latin typeface="Consolas" pitchFamily="34" charset="0"/>
                <a:ea typeface="Consolas" pitchFamily="34" charset="-122"/>
                <a:cs typeface="Consolas" pitchFamily="34" charset="-120"/>
              </a:rPr>
              <a:t>student@okan-lab:~/lab/scripts$ </a:t>
            </a:r>
            <a:r>
              <a:rPr lang="en-US" sz="1200" b="1" dirty="0">
                <a:solidFill>
                  <a:srgbClr val="FFFFFF"/>
                </a:solidFill>
                <a:latin typeface="Consolas" pitchFamily="34" charset="0"/>
                <a:ea typeface="Consolas" pitchFamily="34" charset="-122"/>
                <a:cs typeface="Consolas" pitchFamily="34" charset="-120"/>
              </a:rPr>
              <a:t>type [</a:t>
            </a:r>
            <a:endParaRPr lang="en-US" sz="1200" dirty="0"/>
          </a:p>
          <a:p>
            <a:pPr indent="0" marL="0">
              <a:lnSpc>
                <a:spcPct val="100000"/>
              </a:lnSpc>
              <a:buNone/>
            </a:pPr>
            <a:r>
              <a:rPr lang="en-US" sz="1200" dirty="0">
                <a:solidFill>
                  <a:srgbClr val="C9D1D3"/>
                </a:solidFill>
                <a:latin typeface="Consolas" pitchFamily="34" charset="0"/>
                <a:ea typeface="Consolas" pitchFamily="34" charset="-122"/>
                <a:cs typeface="Consolas" pitchFamily="34" charset="-120"/>
              </a:rPr>
              <a:t>[ is a shell builtin</a:t>
            </a:r>
            <a:endParaRPr lang="en-US" sz="1200" dirty="0"/>
          </a:p>
        </p:txBody>
      </p:sp>
      <p:sp>
        <p:nvSpPr>
          <p:cNvPr id="8" name="Shape 6"/>
          <p:cNvSpPr/>
          <p:nvPr/>
        </p:nvSpPr>
        <p:spPr>
          <a:xfrm>
            <a:off x="548640" y="3611880"/>
            <a:ext cx="5577840" cy="2651760"/>
          </a:xfrm>
          <a:prstGeom prst="roundRect">
            <a:avLst>
              <a:gd name="adj" fmla="val 206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9" name="Text 7"/>
          <p:cNvSpPr txBox="1"/>
          <p:nvPr/>
        </p:nvSpPr>
        <p:spPr>
          <a:xfrm>
            <a:off x="777240" y="3794760"/>
            <a:ext cx="512064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 is a command, so spaces matter</a:t>
            </a:r>
            <a:endParaRPr lang="en-US" sz="1500" dirty="0"/>
          </a:p>
        </p:txBody>
      </p:sp>
      <p:sp>
        <p:nvSpPr>
          <p:cNvPr id="10" name="Text 8"/>
          <p:cNvSpPr txBox="1"/>
          <p:nvPr/>
        </p:nvSpPr>
        <p:spPr>
          <a:xfrm>
            <a:off x="777240" y="4251960"/>
            <a:ext cx="5120640" cy="1874520"/>
          </a:xfrm>
          <a:prstGeom prst="rect">
            <a:avLst/>
          </a:prstGeom>
          <a:noFill/>
          <a:ln/>
        </p:spPr>
        <p:txBody>
          <a:bodyPr wrap="square" lIns="0" tIns="0" rIns="0" bIns="0" rtlCol="0" anchor="t"/>
          <a:lstStyle/>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[ 5 -gt 3 ] is the same as test 5 -gt 3. The last argument must be ].</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Every part is a separate word: [ "$n" -gt 3 ]. Without spaces, [$n becomes a command name: "[5: command not found".</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Quote variables inside [ ]: an empty $x would vanish and break the test.</a:t>
            </a:r>
            <a:endParaRPr lang="en-US" sz="13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355080" y="1508760"/>
          <a:ext cx="5303520" cy="914400"/>
        </p:xfrm>
        <a:graphic>
          <a:graphicData uri="http://schemas.openxmlformats.org/drawingml/2006/table">
            <a:tbl>
              <a:tblPr/>
              <a:tblGrid>
                <a:gridCol w="914400"/>
                <a:gridCol w="2514600"/>
                <a:gridCol w="1874520"/>
              </a:tblGrid>
              <a:tr h="0">
                <a:tc>
                  <a:txBody>
                    <a:bodyPr/>
                    <a:lstStyle/>
                    <a:p>
                      <a:pPr indent="0" marL="0">
                        <a:buNone/>
                      </a:pPr>
                      <a:r>
                        <a:rPr lang="en-US" sz="1350" b="1" dirty="0">
                          <a:solidFill>
                            <a:srgbClr val="FFFFFF"/>
                          </a:solidFill>
                          <a:latin typeface="Cambria" pitchFamily="34" charset="0"/>
                          <a:ea typeface="Cambria" pitchFamily="34" charset="-122"/>
                          <a:cs typeface="Cambria" pitchFamily="34" charset="-120"/>
                        </a:rPr>
                        <a:t>Type</a:t>
                      </a:r>
                      <a:endParaRPr lang="en-US" sz="1350" dirty="0">
                        <a:latin typeface="Cambria" charset="0"/>
                        <a:ea typeface="Cambria" charset="0"/>
                        <a:cs typeface="Cambria"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350" b="1" dirty="0">
                          <a:solidFill>
                            <a:srgbClr val="FFFFFF"/>
                          </a:solidFill>
                          <a:latin typeface="Cambria" pitchFamily="34" charset="0"/>
                          <a:ea typeface="Cambria" pitchFamily="34" charset="-122"/>
                          <a:cs typeface="Cambria" pitchFamily="34" charset="-120"/>
                        </a:rPr>
                        <a:t>Operators</a:t>
                      </a:r>
                      <a:endParaRPr lang="en-US" sz="1350" dirty="0">
                        <a:latin typeface="Cambria" charset="0"/>
                        <a:ea typeface="Cambria" charset="0"/>
                        <a:cs typeface="Cambria"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350" b="1" dirty="0">
                          <a:solidFill>
                            <a:srgbClr val="FFFFFF"/>
                          </a:solidFill>
                          <a:latin typeface="Cambria" pitchFamily="34" charset="0"/>
                          <a:ea typeface="Cambria" pitchFamily="34" charset="-122"/>
                          <a:cs typeface="Cambria" pitchFamily="34" charset="-120"/>
                        </a:rPr>
                        <a:t>Example</a:t>
                      </a:r>
                      <a:endParaRPr lang="en-US" sz="1350" dirty="0">
                        <a:latin typeface="Cambria" charset="0"/>
                        <a:ea typeface="Cambria" charset="0"/>
                        <a:cs typeface="Cambria"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en-US" sz="1250" b="1" dirty="0">
                          <a:solidFill>
                            <a:srgbClr val="3A464C"/>
                          </a:solidFill>
                          <a:latin typeface="Calibri" pitchFamily="34" charset="0"/>
                          <a:ea typeface="Calibri" pitchFamily="34" charset="-122"/>
                          <a:cs typeface="Calibri" pitchFamily="34" charset="-120"/>
                        </a:rPr>
                        <a:t>Numbers</a:t>
                      </a:r>
                      <a:endParaRPr lang="en-US" sz="1250" dirty="0">
                        <a:latin typeface="Calibri" charset="0"/>
                        <a:ea typeface="Calibri" charset="0"/>
                        <a:cs typeface="Calibri"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250" dirty="0">
                          <a:solidFill>
                            <a:srgbClr val="3A464C"/>
                          </a:solidFill>
                          <a:latin typeface="Consolas" pitchFamily="34" charset="0"/>
                          <a:ea typeface="Consolas" pitchFamily="34" charset="-122"/>
                          <a:cs typeface="Consolas" pitchFamily="34" charset="-120"/>
                        </a:rPr>
                        <a:t>-eq  -ne  -lt  -le  -gt  -ge</a:t>
                      </a:r>
                      <a:endParaRPr lang="en-US" sz="12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250" dirty="0">
                          <a:solidFill>
                            <a:srgbClr val="3A464C"/>
                          </a:solidFill>
                          <a:latin typeface="Consolas" pitchFamily="34" charset="0"/>
                          <a:ea typeface="Consolas" pitchFamily="34" charset="-122"/>
                          <a:cs typeface="Consolas" pitchFamily="34" charset="-120"/>
                        </a:rPr>
                        <a:t>[ "$n" -ge 50 ]</a:t>
                      </a:r>
                      <a:endParaRPr lang="en-US" sz="12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250" b="1" dirty="0">
                          <a:solidFill>
                            <a:srgbClr val="3A464C"/>
                          </a:solidFill>
                          <a:latin typeface="Calibri" pitchFamily="34" charset="0"/>
                          <a:ea typeface="Calibri" pitchFamily="34" charset="-122"/>
                          <a:cs typeface="Calibri" pitchFamily="34" charset="-120"/>
                        </a:rPr>
                        <a:t>Strings</a:t>
                      </a:r>
                      <a:endParaRPr lang="en-US" sz="1250" dirty="0">
                        <a:latin typeface="Calibri" charset="0"/>
                        <a:ea typeface="Calibri" charset="0"/>
                        <a:cs typeface="Calibri"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250" dirty="0">
                          <a:solidFill>
                            <a:srgbClr val="3A464C"/>
                          </a:solidFill>
                          <a:latin typeface="Consolas" pitchFamily="34" charset="0"/>
                          <a:ea typeface="Consolas" pitchFamily="34" charset="-122"/>
                          <a:cs typeface="Consolas" pitchFamily="34" charset="-120"/>
                        </a:rPr>
                        <a:t>=  !=  -z (empty)  -n (not empty)</a:t>
                      </a:r>
                      <a:endParaRPr lang="en-US" sz="12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250" dirty="0">
                          <a:solidFill>
                            <a:srgbClr val="3A464C"/>
                          </a:solidFill>
                          <a:latin typeface="Consolas" pitchFamily="34" charset="0"/>
                          <a:ea typeface="Consolas" pitchFamily="34" charset="-122"/>
                          <a:cs typeface="Consolas" pitchFamily="34" charset="-120"/>
                        </a:rPr>
                        <a:t>[ "$ans" = yes ]</a:t>
                      </a:r>
                      <a:endParaRPr lang="en-US" sz="12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3A464C"/>
                          </a:solidFill>
                          <a:latin typeface="Calibri" pitchFamily="34" charset="0"/>
                          <a:ea typeface="Calibri" pitchFamily="34" charset="-122"/>
                          <a:cs typeface="Calibri" pitchFamily="34" charset="-120"/>
                        </a:rPr>
                        <a:t>Files</a:t>
                      </a:r>
                      <a:endParaRPr lang="en-US" sz="1250" dirty="0">
                        <a:latin typeface="Calibri" charset="0"/>
                        <a:ea typeface="Calibri" charset="0"/>
                        <a:cs typeface="Calibri"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250" dirty="0">
                          <a:solidFill>
                            <a:srgbClr val="3A464C"/>
                          </a:solidFill>
                          <a:latin typeface="Consolas" pitchFamily="34" charset="0"/>
                          <a:ea typeface="Consolas" pitchFamily="34" charset="-122"/>
                          <a:cs typeface="Consolas" pitchFamily="34" charset="-120"/>
                        </a:rPr>
                        <a:t>-e exists  -f file  -d directory</a:t>
                      </a:r>
                      <a:endParaRPr lang="en-US" sz="12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250" dirty="0">
                          <a:solidFill>
                            <a:srgbClr val="3A464C"/>
                          </a:solidFill>
                          <a:latin typeface="Consolas" pitchFamily="34" charset="0"/>
                          <a:ea typeface="Consolas" pitchFamily="34" charset="-122"/>
                          <a:cs typeface="Consolas" pitchFamily="34" charset="-120"/>
                        </a:rPr>
                        <a:t>[ -d ~/lab/backup ]</a:t>
                      </a:r>
                      <a:endParaRPr lang="en-US" sz="12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endParaRPr lang="en-US" sz="1250" dirty="0">
                        <a:latin typeface="Calibri" charset="0"/>
                        <a:ea typeface="Calibri" charset="0"/>
                        <a:cs typeface="Calibri"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250" dirty="0">
                          <a:solidFill>
                            <a:srgbClr val="3A464C"/>
                          </a:solidFill>
                          <a:latin typeface="Consolas" pitchFamily="34" charset="0"/>
                          <a:ea typeface="Consolas" pitchFamily="34" charset="-122"/>
                          <a:cs typeface="Consolas" pitchFamily="34" charset="-120"/>
                        </a:rPr>
                        <a:t>-r readable  -w writable  -x exec.</a:t>
                      </a:r>
                      <a:endParaRPr lang="en-US" sz="12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250" dirty="0">
                          <a:solidFill>
                            <a:srgbClr val="3A464C"/>
                          </a:solidFill>
                          <a:latin typeface="Consolas" pitchFamily="34" charset="0"/>
                          <a:ea typeface="Consolas" pitchFamily="34" charset="-122"/>
                          <a:cs typeface="Consolas" pitchFamily="34" charset="-120"/>
                        </a:rPr>
                        <a:t>[ -x backup.sh ]</a:t>
                      </a:r>
                      <a:endParaRPr lang="en-US" sz="12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250" b="1" dirty="0">
                          <a:solidFill>
                            <a:srgbClr val="3A464C"/>
                          </a:solidFill>
                          <a:latin typeface="Calibri" pitchFamily="34" charset="0"/>
                          <a:ea typeface="Calibri" pitchFamily="34" charset="-122"/>
                          <a:cs typeface="Calibri" pitchFamily="34" charset="-120"/>
                        </a:rPr>
                        <a:t>Logic</a:t>
                      </a:r>
                      <a:endParaRPr lang="en-US" sz="1250" dirty="0">
                        <a:latin typeface="Calibri" charset="0"/>
                        <a:ea typeface="Calibri" charset="0"/>
                        <a:cs typeface="Calibri"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250" dirty="0">
                          <a:solidFill>
                            <a:srgbClr val="3A464C"/>
                          </a:solidFill>
                          <a:latin typeface="Consolas" pitchFamily="34" charset="0"/>
                          <a:ea typeface="Consolas" pitchFamily="34" charset="-122"/>
                          <a:cs typeface="Consolas" pitchFamily="34" charset="-120"/>
                        </a:rPr>
                        <a:t>!  (not)    &amp;&amp;  ||  between tests</a:t>
                      </a:r>
                      <a:endParaRPr lang="en-US" sz="12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250" dirty="0">
                          <a:solidFill>
                            <a:srgbClr val="3A464C"/>
                          </a:solidFill>
                          <a:latin typeface="Consolas" pitchFamily="34" charset="0"/>
                          <a:ea typeface="Consolas" pitchFamily="34" charset="-122"/>
                          <a:cs typeface="Consolas" pitchFamily="34" charset="-120"/>
                        </a:rPr>
                        <a:t>[ -f a ] &amp;&amp; [ -f b ]</a:t>
                      </a:r>
                      <a:endParaRPr lang="en-US" sz="1250" dirty="0">
                        <a:latin typeface="Consolas" charset="0"/>
                        <a:ea typeface="Consolas" charset="0"/>
                        <a:cs typeface="Consolas" charset="0"/>
                      </a:endParaRPr>
                    </a:p>
                  </a:txBody>
                  <a:tcPr marL="76200" marR="762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bl>
          </a:graphicData>
        </a:graphic>
      </p:graphicFrame>
      <p:sp>
        <p:nvSpPr>
          <p:cNvPr id="12" name="Shape 9"/>
          <p:cNvSpPr/>
          <p:nvPr/>
        </p:nvSpPr>
        <p:spPr>
          <a:xfrm>
            <a:off x="6355080" y="4892040"/>
            <a:ext cx="5303520" cy="1371600"/>
          </a:xfrm>
          <a:prstGeom prst="roundRect">
            <a:avLst>
              <a:gd name="adj" fmla="val 4000"/>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13" name="Text 10"/>
          <p:cNvSpPr txBox="1"/>
          <p:nvPr/>
        </p:nvSpPr>
        <p:spPr>
          <a:xfrm>
            <a:off x="6583680" y="4892040"/>
            <a:ext cx="4846320" cy="1371600"/>
          </a:xfrm>
          <a:prstGeom prst="rect">
            <a:avLst/>
          </a:prstGeom>
          <a:noFill/>
          <a:ln/>
        </p:spPr>
        <p:txBody>
          <a:bodyPr wrap="square" lIns="0" tIns="0" rIns="0" bIns="0" rtlCol="0" anchor="ctr"/>
          <a:lstStyle/>
          <a:p>
            <a:pPr indent="0" marL="0">
              <a:buNone/>
            </a:pPr>
            <a:r>
              <a:rPr lang="en-US" sz="1350" dirty="0">
                <a:solidFill>
                  <a:srgbClr val="F2F2F2"/>
                </a:solidFill>
                <a:latin typeface="Calibri" pitchFamily="34" charset="0"/>
                <a:ea typeface="Calibri" pitchFamily="34" charset="-122"/>
                <a:cs typeface="Calibri" pitchFamily="34" charset="-120"/>
              </a:rPr>
              <a:t>Numbers: -lt, -gt … (letters!).  Strings: = and !=.  Inside [ ], &lt; and &gt; are redirections (Week 12), not comparisons.</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IF / ELIF / ELSE</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if: Run Commands Only When a Test Succeeds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14  ·  21</a:t>
            </a:r>
            <a:endParaRPr lang="en-US" sz="900" dirty="0"/>
          </a:p>
        </p:txBody>
      </p:sp>
      <p:sp>
        <p:nvSpPr>
          <p:cNvPr id="6" name="Shape 4"/>
          <p:cNvSpPr/>
          <p:nvPr/>
        </p:nvSpPr>
        <p:spPr>
          <a:xfrm>
            <a:off x="548640" y="1508760"/>
            <a:ext cx="6675120" cy="4754880"/>
          </a:xfrm>
          <a:prstGeom prst="roundRect">
            <a:avLst>
              <a:gd name="adj" fmla="val 962"/>
            </a:avLst>
          </a:prstGeom>
          <a:solidFill>
            <a:srgbClr val="212121"/>
          </a:solidFill>
          <a:ln/>
        </p:spPr>
        <p:txBody>
          <a:bodyPr/>
          <a:p/>
        </p:txBody>
      </p:sp>
      <p:sp>
        <p:nvSpPr>
          <p:cNvPr id="7" name="Text 5"/>
          <p:cNvSpPr txBox="1"/>
          <p:nvPr/>
        </p:nvSpPr>
        <p:spPr>
          <a:xfrm>
            <a:off x="731520" y="1618488"/>
            <a:ext cx="6309360" cy="4535424"/>
          </a:xfrm>
          <a:prstGeom prst="rect">
            <a:avLst/>
          </a:prstGeom>
          <a:noFill/>
          <a:ln/>
        </p:spPr>
        <p:txBody>
          <a:bodyPr wrap="square" lIns="0" tIns="0" rIns="0" bIns="0" rtlCol="0" anchor="t"/>
          <a:lstStyle/>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if [ $# -ne 1 ]; then</a:t>
            </a:r>
            <a:r>
              <a:rPr lang="en-US" sz="1150" dirty="0">
                <a:solidFill>
                  <a:srgbClr val="8A9AA0"/>
                </a:solidFill>
                <a:latin typeface="Consolas" pitchFamily="34" charset="0"/>
                <a:ea typeface="Consolas" pitchFamily="34" charset="-122"/>
                <a:cs typeface="Consolas" pitchFamily="34" charset="-120"/>
              </a:rPr>
              <a:t>                  # exactly one argument?</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    echo "Usage: $0 PATH" &gt;&amp;2</a:t>
            </a:r>
            <a:r>
              <a:rPr lang="en-US" sz="1150" dirty="0">
                <a:solidFill>
                  <a:srgbClr val="8A9AA0"/>
                </a:solidFill>
                <a:latin typeface="Consolas" pitchFamily="34" charset="0"/>
                <a:ea typeface="Consolas" pitchFamily="34" charset="-122"/>
                <a:cs typeface="Consolas" pitchFamily="34" charset="-120"/>
              </a:rPr>
              <a:t>          # &gt;&amp;2 : message goes to stderr</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    exit 2</a:t>
            </a:r>
            <a:r>
              <a:rPr lang="en-US" sz="1150" dirty="0">
                <a:solidFill>
                  <a:srgbClr val="8A9AA0"/>
                </a:solidFill>
                <a:latin typeface="Consolas" pitchFamily="34" charset="0"/>
                <a:ea typeface="Consolas" pitchFamily="34" charset="-122"/>
                <a:cs typeface="Consolas" pitchFamily="34" charset="-120"/>
              </a:rPr>
              <a:t>                             # 2 = wrong usage</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fi</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path=$1</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if [ -f "$path" ]; then</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    echo "$path: regular file, $(wc -l &lt; "$path") lines"</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elif [ -d "$path" ]; then</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    echo "$path: directory"</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elif [ -e "$path" ]; then</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    echo "$path: exists, but is neither a file nor a directory"</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else</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    echo "$path: does not exist" &gt;&amp;2</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    exit 1</a:t>
            </a:r>
            <a:r>
              <a:rPr lang="en-US" sz="1150" dirty="0">
                <a:solidFill>
                  <a:srgbClr val="8A9AA0"/>
                </a:solidFill>
                <a:latin typeface="Consolas" pitchFamily="34" charset="0"/>
                <a:ea typeface="Consolas" pitchFamily="34" charset="-122"/>
                <a:cs typeface="Consolas" pitchFamily="34" charset="-120"/>
              </a:rPr>
              <a:t>                             # 1 = failure</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fi</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exit 0</a:t>
            </a:r>
            <a:r>
              <a:rPr lang="en-US" sz="1150" dirty="0">
                <a:solidFill>
                  <a:srgbClr val="8A9AA0"/>
                </a:solidFill>
                <a:latin typeface="Consolas" pitchFamily="34" charset="0"/>
                <a:ea typeface="Consolas" pitchFamily="34" charset="-122"/>
                <a:cs typeface="Consolas" pitchFamily="34" charset="-120"/>
              </a:rPr>
              <a:t>                                 # 0 = success</a:t>
            </a:r>
            <a:endParaRPr lang="en-US" sz="1150" dirty="0"/>
          </a:p>
        </p:txBody>
      </p:sp>
      <p:sp>
        <p:nvSpPr>
          <p:cNvPr id="8" name="Shape 6"/>
          <p:cNvSpPr/>
          <p:nvPr/>
        </p:nvSpPr>
        <p:spPr>
          <a:xfrm>
            <a:off x="7452360" y="1508760"/>
            <a:ext cx="4206240" cy="2514600"/>
          </a:xfrm>
          <a:prstGeom prst="roundRect">
            <a:avLst>
              <a:gd name="adj" fmla="val 2182"/>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9" name="Text 7"/>
          <p:cNvSpPr txBox="1"/>
          <p:nvPr/>
        </p:nvSpPr>
        <p:spPr>
          <a:xfrm>
            <a:off x="7680960" y="1691640"/>
            <a:ext cx="374904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The shape</a:t>
            </a:r>
            <a:endParaRPr lang="en-US" sz="1500" dirty="0"/>
          </a:p>
        </p:txBody>
      </p:sp>
      <p:sp>
        <p:nvSpPr>
          <p:cNvPr id="10" name="Text 8"/>
          <p:cNvSpPr txBox="1"/>
          <p:nvPr/>
        </p:nvSpPr>
        <p:spPr>
          <a:xfrm>
            <a:off x="7680960" y="2148840"/>
            <a:ext cx="3749040" cy="1737360"/>
          </a:xfrm>
          <a:prstGeom prst="rect">
            <a:avLst/>
          </a:prstGeom>
          <a:noFill/>
          <a:ln/>
        </p:spPr>
        <p:txBody>
          <a:bodyPr wrap="square" lIns="0" tIns="0" rIns="0" bIns="0" rtlCol="0" anchor="t"/>
          <a:lstStyle/>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if TEST; then … elif TEST; then … else … fi</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TEST can be any command: [ ], grep -q, mkdir …</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fi (if backwards) ends the block. Indent the body by 4 spaces.</a:t>
            </a:r>
            <a:endParaRPr lang="en-US" sz="1350" dirty="0"/>
          </a:p>
        </p:txBody>
      </p:sp>
      <p:sp>
        <p:nvSpPr>
          <p:cNvPr id="11" name="Shape 9"/>
          <p:cNvSpPr/>
          <p:nvPr/>
        </p:nvSpPr>
        <p:spPr>
          <a:xfrm>
            <a:off x="7452360" y="4206240"/>
            <a:ext cx="4206240" cy="2057400"/>
          </a:xfrm>
          <a:prstGeom prst="roundRect">
            <a:avLst>
              <a:gd name="adj" fmla="val 2667"/>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2" name="Text 10"/>
          <p:cNvSpPr txBox="1"/>
          <p:nvPr/>
        </p:nvSpPr>
        <p:spPr>
          <a:xfrm>
            <a:off x="7680960" y="4389120"/>
            <a:ext cx="374904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Good habits shown here</a:t>
            </a:r>
            <a:endParaRPr lang="en-US" sz="1500" dirty="0"/>
          </a:p>
        </p:txBody>
      </p:sp>
      <p:sp>
        <p:nvSpPr>
          <p:cNvPr id="13" name="Text 11"/>
          <p:cNvSpPr txBox="1"/>
          <p:nvPr/>
        </p:nvSpPr>
        <p:spPr>
          <a:xfrm>
            <a:off x="7680960" y="4846320"/>
            <a:ext cx="3749040" cy="1280160"/>
          </a:xfrm>
          <a:prstGeom prst="rect">
            <a:avLst/>
          </a:prstGeom>
          <a:noFill/>
          <a:ln/>
        </p:spPr>
        <p:txBody>
          <a:bodyPr wrap="square" lIns="0" tIns="0" rIns="0" bIns="0" rtlCol="0" anchor="t"/>
          <a:lstStyle/>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Check $# first; print a Usage line.</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Errors go to stderr: &gt;&amp;2 (Week 12).</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Distinct exit codes: 0 ok, 1 fail, 2 usage.</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LIVE DEMO</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check.sh: Four Kinds of Path, Three Exit Codes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14  ·  22</a:t>
            </a:r>
            <a:endParaRPr lang="en-US" sz="900" dirty="0"/>
          </a:p>
        </p:txBody>
      </p:sp>
      <p:sp>
        <p:nvSpPr>
          <p:cNvPr id="6" name="Shape 4"/>
          <p:cNvSpPr/>
          <p:nvPr/>
        </p:nvSpPr>
        <p:spPr>
          <a:xfrm>
            <a:off x="548640" y="1508760"/>
            <a:ext cx="6949440" cy="4754880"/>
          </a:xfrm>
          <a:prstGeom prst="roundRect">
            <a:avLst>
              <a:gd name="adj" fmla="val 962"/>
            </a:avLst>
          </a:prstGeom>
          <a:solidFill>
            <a:srgbClr val="212121"/>
          </a:solidFill>
          <a:ln/>
        </p:spPr>
        <p:txBody>
          <a:bodyPr/>
          <a:p/>
        </p:txBody>
      </p:sp>
      <p:sp>
        <p:nvSpPr>
          <p:cNvPr id="7" name="Text 5"/>
          <p:cNvSpPr txBox="1"/>
          <p:nvPr/>
        </p:nvSpPr>
        <p:spPr>
          <a:xfrm>
            <a:off x="731520" y="1618488"/>
            <a:ext cx="6583680" cy="4535424"/>
          </a:xfrm>
          <a:prstGeom prst="rect">
            <a:avLst/>
          </a:prstGeom>
          <a:noFill/>
          <a:ln/>
        </p:spPr>
        <p:txBody>
          <a:bodyPr wrap="square" lIns="0" tIns="0" rIns="0" bIns="0" rtlCol="0" anchor="t"/>
          <a:lstStyle/>
          <a:p>
            <a:pPr indent="0" marL="0">
              <a:lnSpc>
                <a:spcPct val="100000"/>
              </a:lnSpc>
              <a:buNone/>
            </a:pPr>
            <a:r>
              <a:rPr lang="en-US" sz="1300" dirty="0">
                <a:solidFill>
                  <a:srgbClr val="02C39A"/>
                </a:solidFill>
                <a:latin typeface="Consolas" pitchFamily="34" charset="0"/>
                <a:ea typeface="Consolas" pitchFamily="34" charset="-122"/>
                <a:cs typeface="Consolas" pitchFamily="34" charset="-120"/>
              </a:rPr>
              <a:t>student@okan-lab:~/lab/scripts$ </a:t>
            </a:r>
            <a:r>
              <a:rPr lang="en-US" sz="1300" b="1" dirty="0">
                <a:solidFill>
                  <a:srgbClr val="FFFFFF"/>
                </a:solidFill>
                <a:latin typeface="Consolas" pitchFamily="34" charset="0"/>
                <a:ea typeface="Consolas" pitchFamily="34" charset="-122"/>
                <a:cs typeface="Consolas" pitchFamily="34" charset="-120"/>
              </a:rPr>
              <a:t>./check.sh ../docs/syllabus.txt</a:t>
            </a:r>
            <a:endParaRPr lang="en-US" sz="1300" dirty="0"/>
          </a:p>
          <a:p>
            <a:pPr indent="0" marL="0">
              <a:lnSpc>
                <a:spcPct val="100000"/>
              </a:lnSpc>
              <a:buNone/>
            </a:pPr>
            <a:r>
              <a:rPr lang="en-US" sz="1300" dirty="0">
                <a:solidFill>
                  <a:srgbClr val="C9D1D3"/>
                </a:solidFill>
                <a:latin typeface="Consolas" pitchFamily="34" charset="0"/>
                <a:ea typeface="Consolas" pitchFamily="34" charset="-122"/>
                <a:cs typeface="Consolas" pitchFamily="34" charset="-120"/>
              </a:rPr>
              <a:t>../docs/syllabus.txt: regular file, 15 lines</a:t>
            </a:r>
            <a:endParaRPr lang="en-US" sz="1300" dirty="0"/>
          </a:p>
          <a:p>
            <a:pPr indent="0" marL="0">
              <a:lnSpc>
                <a:spcPct val="100000"/>
              </a:lnSpc>
              <a:buNone/>
            </a:pPr>
            <a:r>
              <a:rPr lang="en-US" sz="1300" dirty="0">
                <a:solidFill>
                  <a:srgbClr val="02C39A"/>
                </a:solidFill>
                <a:latin typeface="Consolas" pitchFamily="34" charset="0"/>
                <a:ea typeface="Consolas" pitchFamily="34" charset="-122"/>
                <a:cs typeface="Consolas" pitchFamily="34" charset="-120"/>
              </a:rPr>
              <a:t>student@okan-lab:~/lab/scripts$ </a:t>
            </a:r>
            <a:r>
              <a:rPr lang="en-US" sz="1300" b="1" dirty="0">
                <a:solidFill>
                  <a:srgbClr val="FFFFFF"/>
                </a:solidFill>
                <a:latin typeface="Consolas" pitchFamily="34" charset="0"/>
                <a:ea typeface="Consolas" pitchFamily="34" charset="-122"/>
                <a:cs typeface="Consolas" pitchFamily="34" charset="-120"/>
              </a:rPr>
              <a:t>./check.sh ../logs</a:t>
            </a:r>
            <a:endParaRPr lang="en-US" sz="1300" dirty="0"/>
          </a:p>
          <a:p>
            <a:pPr indent="0" marL="0">
              <a:lnSpc>
                <a:spcPct val="100000"/>
              </a:lnSpc>
              <a:buNone/>
            </a:pPr>
            <a:r>
              <a:rPr lang="en-US" sz="1300" dirty="0">
                <a:solidFill>
                  <a:srgbClr val="C9D1D3"/>
                </a:solidFill>
                <a:latin typeface="Consolas" pitchFamily="34" charset="0"/>
                <a:ea typeface="Consolas" pitchFamily="34" charset="-122"/>
                <a:cs typeface="Consolas" pitchFamily="34" charset="-120"/>
              </a:rPr>
              <a:t>../logs: directory</a:t>
            </a:r>
            <a:endParaRPr lang="en-US" sz="1300" dirty="0"/>
          </a:p>
          <a:p>
            <a:pPr indent="0" marL="0">
              <a:lnSpc>
                <a:spcPct val="100000"/>
              </a:lnSpc>
              <a:buNone/>
            </a:pPr>
            <a:r>
              <a:rPr lang="en-US" sz="1300" dirty="0">
                <a:solidFill>
                  <a:srgbClr val="02C39A"/>
                </a:solidFill>
                <a:latin typeface="Consolas" pitchFamily="34" charset="0"/>
                <a:ea typeface="Consolas" pitchFamily="34" charset="-122"/>
                <a:cs typeface="Consolas" pitchFamily="34" charset="-120"/>
              </a:rPr>
              <a:t>student@okan-lab:~/lab/scripts$ </a:t>
            </a:r>
            <a:r>
              <a:rPr lang="en-US" sz="1300" b="1" dirty="0">
                <a:solidFill>
                  <a:srgbClr val="FFFFFF"/>
                </a:solidFill>
                <a:latin typeface="Consolas" pitchFamily="34" charset="0"/>
                <a:ea typeface="Consolas" pitchFamily="34" charset="-122"/>
                <a:cs typeface="Consolas" pitchFamily="34" charset="-120"/>
              </a:rPr>
              <a:t>./check.sh /dev/null</a:t>
            </a:r>
            <a:endParaRPr lang="en-US" sz="1300" dirty="0"/>
          </a:p>
          <a:p>
            <a:pPr indent="0" marL="0">
              <a:lnSpc>
                <a:spcPct val="100000"/>
              </a:lnSpc>
              <a:buNone/>
            </a:pPr>
            <a:r>
              <a:rPr lang="en-US" sz="1300" dirty="0">
                <a:solidFill>
                  <a:srgbClr val="C9D1D3"/>
                </a:solidFill>
                <a:latin typeface="Consolas" pitchFamily="34" charset="0"/>
                <a:ea typeface="Consolas" pitchFamily="34" charset="-122"/>
                <a:cs typeface="Consolas" pitchFamily="34" charset="-120"/>
              </a:rPr>
              <a:t>/dev/null: exists, but is neither a file nor a directory</a:t>
            </a:r>
            <a:endParaRPr lang="en-US" sz="1300" dirty="0"/>
          </a:p>
          <a:p>
            <a:pPr indent="0" marL="0">
              <a:lnSpc>
                <a:spcPct val="100000"/>
              </a:lnSpc>
              <a:buNone/>
            </a:pPr>
            <a:r>
              <a:rPr lang="en-US" sz="1300" dirty="0">
                <a:solidFill>
                  <a:srgbClr val="02C39A"/>
                </a:solidFill>
                <a:latin typeface="Consolas" pitchFamily="34" charset="0"/>
                <a:ea typeface="Consolas" pitchFamily="34" charset="-122"/>
                <a:cs typeface="Consolas" pitchFamily="34" charset="-120"/>
              </a:rPr>
              <a:t>student@okan-lab:~/lab/scripts$ </a:t>
            </a:r>
            <a:r>
              <a:rPr lang="en-US" sz="1300" b="1" dirty="0">
                <a:solidFill>
                  <a:srgbClr val="FFFFFF"/>
                </a:solidFill>
                <a:latin typeface="Consolas" pitchFamily="34" charset="0"/>
                <a:ea typeface="Consolas" pitchFamily="34" charset="-122"/>
                <a:cs typeface="Consolas" pitchFamily="34" charset="-120"/>
              </a:rPr>
              <a:t>./check.sh nothing.txt</a:t>
            </a:r>
            <a:endParaRPr lang="en-US" sz="1300" dirty="0"/>
          </a:p>
          <a:p>
            <a:pPr indent="0" marL="0">
              <a:lnSpc>
                <a:spcPct val="100000"/>
              </a:lnSpc>
              <a:buNone/>
            </a:pPr>
            <a:r>
              <a:rPr lang="en-US" sz="1300" dirty="0">
                <a:solidFill>
                  <a:srgbClr val="C9D1D3"/>
                </a:solidFill>
                <a:latin typeface="Consolas" pitchFamily="34" charset="0"/>
                <a:ea typeface="Consolas" pitchFamily="34" charset="-122"/>
                <a:cs typeface="Consolas" pitchFamily="34" charset="-120"/>
              </a:rPr>
              <a:t>nothing.txt: does not exist</a:t>
            </a:r>
            <a:endParaRPr lang="en-US" sz="1300" dirty="0"/>
          </a:p>
          <a:p>
            <a:pPr indent="0" marL="0">
              <a:lnSpc>
                <a:spcPct val="100000"/>
              </a:lnSpc>
              <a:buNone/>
            </a:pPr>
            <a:r>
              <a:rPr lang="en-US" sz="1300" dirty="0">
                <a:solidFill>
                  <a:srgbClr val="02C39A"/>
                </a:solidFill>
                <a:latin typeface="Consolas" pitchFamily="34" charset="0"/>
                <a:ea typeface="Consolas" pitchFamily="34" charset="-122"/>
                <a:cs typeface="Consolas" pitchFamily="34" charset="-120"/>
              </a:rPr>
              <a:t>student@okan-lab:~/lab/scripts$ </a:t>
            </a:r>
            <a:r>
              <a:rPr lang="en-US" sz="1300" b="1" dirty="0">
                <a:solidFill>
                  <a:srgbClr val="FFFFFF"/>
                </a:solidFill>
                <a:latin typeface="Consolas" pitchFamily="34" charset="0"/>
                <a:ea typeface="Consolas" pitchFamily="34" charset="-122"/>
                <a:cs typeface="Consolas" pitchFamily="34" charset="-120"/>
              </a:rPr>
              <a:t>echo $?</a:t>
            </a:r>
            <a:endParaRPr lang="en-US" sz="1300" dirty="0"/>
          </a:p>
          <a:p>
            <a:pPr indent="0" marL="0">
              <a:lnSpc>
                <a:spcPct val="100000"/>
              </a:lnSpc>
              <a:buNone/>
            </a:pPr>
            <a:r>
              <a:rPr lang="en-US" sz="1300" dirty="0">
                <a:solidFill>
                  <a:srgbClr val="C9D1D3"/>
                </a:solidFill>
                <a:latin typeface="Consolas" pitchFamily="34" charset="0"/>
                <a:ea typeface="Consolas" pitchFamily="34" charset="-122"/>
                <a:cs typeface="Consolas" pitchFamily="34" charset="-120"/>
              </a:rPr>
              <a:t>1</a:t>
            </a:r>
            <a:endParaRPr lang="en-US" sz="1300" dirty="0"/>
          </a:p>
          <a:p>
            <a:pPr indent="0" marL="0">
              <a:lnSpc>
                <a:spcPct val="100000"/>
              </a:lnSpc>
              <a:buNone/>
            </a:pPr>
            <a:r>
              <a:rPr lang="en-US" sz="1300" dirty="0">
                <a:solidFill>
                  <a:srgbClr val="02C39A"/>
                </a:solidFill>
                <a:latin typeface="Consolas" pitchFamily="34" charset="0"/>
                <a:ea typeface="Consolas" pitchFamily="34" charset="-122"/>
                <a:cs typeface="Consolas" pitchFamily="34" charset="-120"/>
              </a:rPr>
              <a:t>student@okan-lab:~/lab/scripts$ </a:t>
            </a:r>
            <a:r>
              <a:rPr lang="en-US" sz="1300" b="1" dirty="0">
                <a:solidFill>
                  <a:srgbClr val="FFFFFF"/>
                </a:solidFill>
                <a:latin typeface="Consolas" pitchFamily="34" charset="0"/>
                <a:ea typeface="Consolas" pitchFamily="34" charset="-122"/>
                <a:cs typeface="Consolas" pitchFamily="34" charset="-120"/>
              </a:rPr>
              <a:t>./check.sh</a:t>
            </a:r>
            <a:endParaRPr lang="en-US" sz="1300" dirty="0"/>
          </a:p>
          <a:p>
            <a:pPr indent="0" marL="0">
              <a:lnSpc>
                <a:spcPct val="100000"/>
              </a:lnSpc>
              <a:buNone/>
            </a:pPr>
            <a:r>
              <a:rPr lang="en-US" sz="1300" dirty="0">
                <a:solidFill>
                  <a:srgbClr val="C9D1D3"/>
                </a:solidFill>
                <a:latin typeface="Consolas" pitchFamily="34" charset="0"/>
                <a:ea typeface="Consolas" pitchFamily="34" charset="-122"/>
                <a:cs typeface="Consolas" pitchFamily="34" charset="-120"/>
              </a:rPr>
              <a:t>Usage: ./check.sh PATH</a:t>
            </a:r>
            <a:endParaRPr lang="en-US" sz="1300" dirty="0"/>
          </a:p>
          <a:p>
            <a:pPr indent="0" marL="0">
              <a:lnSpc>
                <a:spcPct val="100000"/>
              </a:lnSpc>
              <a:buNone/>
            </a:pPr>
            <a:r>
              <a:rPr lang="en-US" sz="1300" dirty="0">
                <a:solidFill>
                  <a:srgbClr val="02C39A"/>
                </a:solidFill>
                <a:latin typeface="Consolas" pitchFamily="34" charset="0"/>
                <a:ea typeface="Consolas" pitchFamily="34" charset="-122"/>
                <a:cs typeface="Consolas" pitchFamily="34" charset="-120"/>
              </a:rPr>
              <a:t>student@okan-lab:~/lab/scripts$ </a:t>
            </a:r>
            <a:r>
              <a:rPr lang="en-US" sz="1300" b="1" dirty="0">
                <a:solidFill>
                  <a:srgbClr val="FFFFFF"/>
                </a:solidFill>
                <a:latin typeface="Consolas" pitchFamily="34" charset="0"/>
                <a:ea typeface="Consolas" pitchFamily="34" charset="-122"/>
                <a:cs typeface="Consolas" pitchFamily="34" charset="-120"/>
              </a:rPr>
              <a:t>echo $?</a:t>
            </a:r>
            <a:endParaRPr lang="en-US" sz="1300" dirty="0"/>
          </a:p>
          <a:p>
            <a:pPr indent="0" marL="0">
              <a:lnSpc>
                <a:spcPct val="100000"/>
              </a:lnSpc>
              <a:buNone/>
            </a:pPr>
            <a:r>
              <a:rPr lang="en-US" sz="1300" dirty="0">
                <a:solidFill>
                  <a:srgbClr val="C9D1D3"/>
                </a:solidFill>
                <a:latin typeface="Consolas" pitchFamily="34" charset="0"/>
                <a:ea typeface="Consolas" pitchFamily="34" charset="-122"/>
                <a:cs typeface="Consolas" pitchFamily="34" charset="-120"/>
              </a:rPr>
              <a:t>2</a:t>
            </a:r>
            <a:endParaRPr lang="en-US" sz="1300" dirty="0"/>
          </a:p>
        </p:txBody>
      </p:sp>
      <p:sp>
        <p:nvSpPr>
          <p:cNvPr id="8" name="Shape 6"/>
          <p:cNvSpPr/>
          <p:nvPr/>
        </p:nvSpPr>
        <p:spPr>
          <a:xfrm>
            <a:off x="7726680" y="1508760"/>
            <a:ext cx="3931920" cy="4754880"/>
          </a:xfrm>
          <a:prstGeom prst="roundRect">
            <a:avLst>
              <a:gd name="adj" fmla="val 139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9" name="Text 7"/>
          <p:cNvSpPr txBox="1"/>
          <p:nvPr/>
        </p:nvSpPr>
        <p:spPr>
          <a:xfrm>
            <a:off x="7955280" y="1691640"/>
            <a:ext cx="347472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What to observe</a:t>
            </a:r>
            <a:endParaRPr lang="en-US" sz="1500" dirty="0"/>
          </a:p>
        </p:txBody>
      </p:sp>
      <p:sp>
        <p:nvSpPr>
          <p:cNvPr id="10" name="Text 8"/>
          <p:cNvSpPr txBox="1"/>
          <p:nvPr/>
        </p:nvSpPr>
        <p:spPr>
          <a:xfrm>
            <a:off x="7955280" y="2148840"/>
            <a:ext cx="3474720" cy="3977640"/>
          </a:xfrm>
          <a:prstGeom prst="rect">
            <a:avLst/>
          </a:prstGeom>
          <a:noFill/>
          <a:ln/>
        </p:spPr>
        <p:txBody>
          <a:bodyPr wrap="square" lIns="0" tIns="0" rIns="0" bIns="0" rtlCol="0" anchor="t"/>
          <a:lstStyle/>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syllabus.txt: -f is true, so the first branch runs.</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../logs: -f false, -d true: the elif branch.</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/dev/null: exists (-e), but it is a device file (Week 9: /dev), so the else-if chain reaches the third branch.</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Missing file: exit 1. No argument: Usage and exit 2.</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NUMERIC TESTS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grade.sh: if / elif / else with Numbers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14  ·  23</a:t>
            </a:r>
            <a:endParaRPr lang="en-US" sz="900" dirty="0"/>
          </a:p>
        </p:txBody>
      </p:sp>
      <p:sp>
        <p:nvSpPr>
          <p:cNvPr id="6" name="Shape 4"/>
          <p:cNvSpPr/>
          <p:nvPr/>
        </p:nvSpPr>
        <p:spPr>
          <a:xfrm>
            <a:off x="548640" y="1508760"/>
            <a:ext cx="5943600" cy="4754880"/>
          </a:xfrm>
          <a:prstGeom prst="roundRect">
            <a:avLst>
              <a:gd name="adj" fmla="val 962"/>
            </a:avLst>
          </a:prstGeom>
          <a:solidFill>
            <a:srgbClr val="212121"/>
          </a:solidFill>
          <a:ln/>
        </p:spPr>
        <p:txBody>
          <a:bodyPr/>
          <a:p/>
        </p:txBody>
      </p:sp>
      <p:sp>
        <p:nvSpPr>
          <p:cNvPr id="7" name="Text 5"/>
          <p:cNvSpPr txBox="1"/>
          <p:nvPr/>
        </p:nvSpPr>
        <p:spPr>
          <a:xfrm>
            <a:off x="731520" y="1618488"/>
            <a:ext cx="5577840" cy="4535424"/>
          </a:xfrm>
          <a:prstGeom prst="rect">
            <a:avLst/>
          </a:prstGeom>
          <a:noFill/>
          <a:ln/>
        </p:spPr>
        <p:txBody>
          <a:bodyPr wrap="square" lIns="0" tIns="0" rIns="0" bIns="0" rtlCol="0" anchor="t"/>
          <a:lstStyle/>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score=$1</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if [ -z "$score" ]; then</a:t>
            </a:r>
            <a:r>
              <a:rPr lang="en-US" sz="1050" dirty="0">
                <a:solidFill>
                  <a:srgbClr val="8A9AA0"/>
                </a:solidFill>
                <a:latin typeface="Consolas" pitchFamily="34" charset="0"/>
                <a:ea typeface="Consolas" pitchFamily="34" charset="-122"/>
                <a:cs typeface="Consolas" pitchFamily="34" charset="-120"/>
              </a:rPr>
              <a:t>               # -z : the string is empty</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    echo "Usage: $0 SCORE (0-100)" &gt;&amp;2</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    exit 2</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fi</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if [ "$score" -lt 0 ] || [ "$score" -gt 100 ]; then</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    echo "Error: score must be between 0 and 100" &gt;&amp;2</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    exit 1</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elif [ "$score" -ge 85 ]; then</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    letter=A</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elif [ "$score" -ge 70 ]; then</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    letter=B</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elif [ "$score" -ge 50 ]; then</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    letter=C</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else</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    letter=F</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fi</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echo "Score $score -&gt; grade $letter"</a:t>
            </a:r>
            <a:endParaRPr lang="en-US" sz="1050" dirty="0"/>
          </a:p>
        </p:txBody>
      </p:sp>
      <p:sp>
        <p:nvSpPr>
          <p:cNvPr id="8" name="Shape 6"/>
          <p:cNvSpPr/>
          <p:nvPr/>
        </p:nvSpPr>
        <p:spPr>
          <a:xfrm>
            <a:off x="6675120" y="1508760"/>
            <a:ext cx="4983480" cy="3017520"/>
          </a:xfrm>
          <a:prstGeom prst="roundRect">
            <a:avLst>
              <a:gd name="adj" fmla="val 1515"/>
            </a:avLst>
          </a:prstGeom>
          <a:solidFill>
            <a:srgbClr val="212121"/>
          </a:solidFill>
          <a:ln/>
        </p:spPr>
        <p:txBody>
          <a:bodyPr/>
          <a:p/>
        </p:txBody>
      </p:sp>
      <p:sp>
        <p:nvSpPr>
          <p:cNvPr id="9" name="Text 7"/>
          <p:cNvSpPr txBox="1"/>
          <p:nvPr/>
        </p:nvSpPr>
        <p:spPr>
          <a:xfrm>
            <a:off x="6858000" y="1618488"/>
            <a:ext cx="4617720" cy="2798064"/>
          </a:xfrm>
          <a:prstGeom prst="rect">
            <a:avLst/>
          </a:prstGeom>
          <a:noFill/>
          <a:ln/>
        </p:spPr>
        <p:txBody>
          <a:bodyPr wrap="square" lIns="0" tIns="0" rIns="0" bIns="0" rtlCol="0" anchor="t"/>
          <a:lstStyle/>
          <a:p>
            <a:pPr indent="0" marL="0">
              <a:lnSpc>
                <a:spcPct val="100000"/>
              </a:lnSpc>
              <a:buNone/>
            </a:pPr>
            <a:r>
              <a:rPr lang="en-US" sz="1250" dirty="0">
                <a:solidFill>
                  <a:srgbClr val="02C39A"/>
                </a:solidFill>
                <a:latin typeface="Consolas" pitchFamily="34" charset="0"/>
                <a:ea typeface="Consolas" pitchFamily="34" charset="-122"/>
                <a:cs typeface="Consolas" pitchFamily="34" charset="-120"/>
              </a:rPr>
              <a:t>student@okan-lab:~/lab/scripts$ </a:t>
            </a:r>
            <a:r>
              <a:rPr lang="en-US" sz="1250" b="1" dirty="0">
                <a:solidFill>
                  <a:srgbClr val="FFFFFF"/>
                </a:solidFill>
                <a:latin typeface="Consolas" pitchFamily="34" charset="0"/>
                <a:ea typeface="Consolas" pitchFamily="34" charset="-122"/>
                <a:cs typeface="Consolas" pitchFamily="34" charset="-120"/>
              </a:rPr>
              <a:t>./grade.sh 92</a:t>
            </a:r>
            <a:endParaRPr lang="en-US" sz="1250" dirty="0"/>
          </a:p>
          <a:p>
            <a:pPr indent="0" marL="0">
              <a:lnSpc>
                <a:spcPct val="100000"/>
              </a:lnSpc>
              <a:buNone/>
            </a:pPr>
            <a:r>
              <a:rPr lang="en-US" sz="1250" dirty="0">
                <a:solidFill>
                  <a:srgbClr val="C9D1D3"/>
                </a:solidFill>
                <a:latin typeface="Consolas" pitchFamily="34" charset="0"/>
                <a:ea typeface="Consolas" pitchFamily="34" charset="-122"/>
                <a:cs typeface="Consolas" pitchFamily="34" charset="-120"/>
              </a:rPr>
              <a:t>Score 92 -&gt; grade A</a:t>
            </a:r>
            <a:endParaRPr lang="en-US" sz="1250" dirty="0"/>
          </a:p>
          <a:p>
            <a:pPr indent="0" marL="0">
              <a:lnSpc>
                <a:spcPct val="100000"/>
              </a:lnSpc>
              <a:buNone/>
            </a:pPr>
            <a:r>
              <a:rPr lang="en-US" sz="1250" dirty="0">
                <a:solidFill>
                  <a:srgbClr val="02C39A"/>
                </a:solidFill>
                <a:latin typeface="Consolas" pitchFamily="34" charset="0"/>
                <a:ea typeface="Consolas" pitchFamily="34" charset="-122"/>
                <a:cs typeface="Consolas" pitchFamily="34" charset="-120"/>
              </a:rPr>
              <a:t>student@okan-lab:~/lab/scripts$ </a:t>
            </a:r>
            <a:r>
              <a:rPr lang="en-US" sz="1250" b="1" dirty="0">
                <a:solidFill>
                  <a:srgbClr val="FFFFFF"/>
                </a:solidFill>
                <a:latin typeface="Consolas" pitchFamily="34" charset="0"/>
                <a:ea typeface="Consolas" pitchFamily="34" charset="-122"/>
                <a:cs typeface="Consolas" pitchFamily="34" charset="-120"/>
              </a:rPr>
              <a:t>./grade.sh 72</a:t>
            </a:r>
            <a:endParaRPr lang="en-US" sz="1250" dirty="0"/>
          </a:p>
          <a:p>
            <a:pPr indent="0" marL="0">
              <a:lnSpc>
                <a:spcPct val="100000"/>
              </a:lnSpc>
              <a:buNone/>
            </a:pPr>
            <a:r>
              <a:rPr lang="en-US" sz="1250" dirty="0">
                <a:solidFill>
                  <a:srgbClr val="C9D1D3"/>
                </a:solidFill>
                <a:latin typeface="Consolas" pitchFamily="34" charset="0"/>
                <a:ea typeface="Consolas" pitchFamily="34" charset="-122"/>
                <a:cs typeface="Consolas" pitchFamily="34" charset="-120"/>
              </a:rPr>
              <a:t>Score 72 -&gt; grade B</a:t>
            </a:r>
            <a:endParaRPr lang="en-US" sz="1250" dirty="0"/>
          </a:p>
          <a:p>
            <a:pPr indent="0" marL="0">
              <a:lnSpc>
                <a:spcPct val="100000"/>
              </a:lnSpc>
              <a:buNone/>
            </a:pPr>
            <a:r>
              <a:rPr lang="en-US" sz="1250" dirty="0">
                <a:solidFill>
                  <a:srgbClr val="02C39A"/>
                </a:solidFill>
                <a:latin typeface="Consolas" pitchFamily="34" charset="0"/>
                <a:ea typeface="Consolas" pitchFamily="34" charset="-122"/>
                <a:cs typeface="Consolas" pitchFamily="34" charset="-120"/>
              </a:rPr>
              <a:t>student@okan-lab:~/lab/scripts$ </a:t>
            </a:r>
            <a:r>
              <a:rPr lang="en-US" sz="1250" b="1" dirty="0">
                <a:solidFill>
                  <a:srgbClr val="FFFFFF"/>
                </a:solidFill>
                <a:latin typeface="Consolas" pitchFamily="34" charset="0"/>
                <a:ea typeface="Consolas" pitchFamily="34" charset="-122"/>
                <a:cs typeface="Consolas" pitchFamily="34" charset="-120"/>
              </a:rPr>
              <a:t>./grade.sh 49</a:t>
            </a:r>
            <a:endParaRPr lang="en-US" sz="1250" dirty="0"/>
          </a:p>
          <a:p>
            <a:pPr indent="0" marL="0">
              <a:lnSpc>
                <a:spcPct val="100000"/>
              </a:lnSpc>
              <a:buNone/>
            </a:pPr>
            <a:r>
              <a:rPr lang="en-US" sz="1250" dirty="0">
                <a:solidFill>
                  <a:srgbClr val="C9D1D3"/>
                </a:solidFill>
                <a:latin typeface="Consolas" pitchFamily="34" charset="0"/>
                <a:ea typeface="Consolas" pitchFamily="34" charset="-122"/>
                <a:cs typeface="Consolas" pitchFamily="34" charset="-120"/>
              </a:rPr>
              <a:t>Score 49 -&gt; grade F</a:t>
            </a:r>
            <a:endParaRPr lang="en-US" sz="1250" dirty="0"/>
          </a:p>
          <a:p>
            <a:pPr indent="0" marL="0">
              <a:lnSpc>
                <a:spcPct val="100000"/>
              </a:lnSpc>
              <a:buNone/>
            </a:pPr>
            <a:r>
              <a:rPr lang="en-US" sz="1250" dirty="0">
                <a:solidFill>
                  <a:srgbClr val="02C39A"/>
                </a:solidFill>
                <a:latin typeface="Consolas" pitchFamily="34" charset="0"/>
                <a:ea typeface="Consolas" pitchFamily="34" charset="-122"/>
                <a:cs typeface="Consolas" pitchFamily="34" charset="-120"/>
              </a:rPr>
              <a:t>student@okan-lab:~/lab/scripts$ </a:t>
            </a:r>
            <a:r>
              <a:rPr lang="en-US" sz="1250" b="1" dirty="0">
                <a:solidFill>
                  <a:srgbClr val="FFFFFF"/>
                </a:solidFill>
                <a:latin typeface="Consolas" pitchFamily="34" charset="0"/>
                <a:ea typeface="Consolas" pitchFamily="34" charset="-122"/>
                <a:cs typeface="Consolas" pitchFamily="34" charset="-120"/>
              </a:rPr>
              <a:t>./grade.sh 150</a:t>
            </a:r>
            <a:endParaRPr lang="en-US" sz="1250" dirty="0"/>
          </a:p>
          <a:p>
            <a:pPr indent="0" marL="0">
              <a:lnSpc>
                <a:spcPct val="100000"/>
              </a:lnSpc>
              <a:buNone/>
            </a:pPr>
            <a:r>
              <a:rPr lang="en-US" sz="1250" dirty="0">
                <a:solidFill>
                  <a:srgbClr val="C9D1D3"/>
                </a:solidFill>
                <a:latin typeface="Consolas" pitchFamily="34" charset="0"/>
                <a:ea typeface="Consolas" pitchFamily="34" charset="-122"/>
                <a:cs typeface="Consolas" pitchFamily="34" charset="-120"/>
              </a:rPr>
              <a:t>Error: score must be between 0 and 100</a:t>
            </a:r>
            <a:endParaRPr lang="en-US" sz="1250" dirty="0"/>
          </a:p>
          <a:p>
            <a:pPr indent="0" marL="0">
              <a:lnSpc>
                <a:spcPct val="100000"/>
              </a:lnSpc>
              <a:buNone/>
            </a:pPr>
            <a:r>
              <a:rPr lang="en-US" sz="1250" dirty="0">
                <a:solidFill>
                  <a:srgbClr val="02C39A"/>
                </a:solidFill>
                <a:latin typeface="Consolas" pitchFamily="34" charset="0"/>
                <a:ea typeface="Consolas" pitchFamily="34" charset="-122"/>
                <a:cs typeface="Consolas" pitchFamily="34" charset="-120"/>
              </a:rPr>
              <a:t>student@okan-lab:~/lab/scripts$ </a:t>
            </a:r>
            <a:r>
              <a:rPr lang="en-US" sz="1250" b="1" dirty="0">
                <a:solidFill>
                  <a:srgbClr val="FFFFFF"/>
                </a:solidFill>
                <a:latin typeface="Consolas" pitchFamily="34" charset="0"/>
                <a:ea typeface="Consolas" pitchFamily="34" charset="-122"/>
                <a:cs typeface="Consolas" pitchFamily="34" charset="-120"/>
              </a:rPr>
              <a:t>./grade.sh</a:t>
            </a:r>
            <a:endParaRPr lang="en-US" sz="1250" dirty="0"/>
          </a:p>
          <a:p>
            <a:pPr indent="0" marL="0">
              <a:lnSpc>
                <a:spcPct val="100000"/>
              </a:lnSpc>
              <a:buNone/>
            </a:pPr>
            <a:r>
              <a:rPr lang="en-US" sz="1250" dirty="0">
                <a:solidFill>
                  <a:srgbClr val="C9D1D3"/>
                </a:solidFill>
                <a:latin typeface="Consolas" pitchFamily="34" charset="0"/>
                <a:ea typeface="Consolas" pitchFamily="34" charset="-122"/>
                <a:cs typeface="Consolas" pitchFamily="34" charset="-120"/>
              </a:rPr>
              <a:t>Usage: ./grade.sh SCORE (0-100)</a:t>
            </a:r>
            <a:endParaRPr lang="en-US" sz="1250" dirty="0"/>
          </a:p>
        </p:txBody>
      </p:sp>
      <p:sp>
        <p:nvSpPr>
          <p:cNvPr id="10" name="Shape 8"/>
          <p:cNvSpPr/>
          <p:nvPr/>
        </p:nvSpPr>
        <p:spPr>
          <a:xfrm>
            <a:off x="6675120" y="4663440"/>
            <a:ext cx="4983480" cy="1600200"/>
          </a:xfrm>
          <a:prstGeom prst="roundRect">
            <a:avLst>
              <a:gd name="adj" fmla="val 342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1" name="Text 9"/>
          <p:cNvSpPr txBox="1"/>
          <p:nvPr/>
        </p:nvSpPr>
        <p:spPr>
          <a:xfrm>
            <a:off x="6903720" y="4846320"/>
            <a:ext cx="452628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Read it like a staircase</a:t>
            </a:r>
            <a:endParaRPr lang="en-US" sz="1500" dirty="0"/>
          </a:p>
        </p:txBody>
      </p:sp>
      <p:sp>
        <p:nvSpPr>
          <p:cNvPr id="12" name="Text 10"/>
          <p:cNvSpPr txBox="1"/>
          <p:nvPr/>
        </p:nvSpPr>
        <p:spPr>
          <a:xfrm>
            <a:off x="6903720" y="5303520"/>
            <a:ext cx="4526280" cy="822960"/>
          </a:xfrm>
          <a:prstGeom prst="rect">
            <a:avLst/>
          </a:prstGeom>
          <a:noFill/>
          <a:ln/>
        </p:spPr>
        <p:txBody>
          <a:bodyPr wrap="square" lIns="0" tIns="0" rIns="0" bIns="0" rtlCol="0" anchor="t"/>
          <a:lstStyle/>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bash tries the tests from top to bottom and runs only the FIRST branch whose test is true.</a:t>
            </a:r>
            <a:endParaRPr lang="en-US" sz="1300" dirty="0"/>
          </a:p>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 = or: the second test runs only if the first is false.</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DEBUGGING</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Debugging: bash -n, bash -x and Bad Input</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14  ·  24</a:t>
            </a:r>
            <a:endParaRPr lang="en-US" sz="900" dirty="0"/>
          </a:p>
        </p:txBody>
      </p:sp>
      <p:sp>
        <p:nvSpPr>
          <p:cNvPr id="6" name="Shape 4"/>
          <p:cNvSpPr/>
          <p:nvPr/>
        </p:nvSpPr>
        <p:spPr>
          <a:xfrm>
            <a:off x="548640" y="1508760"/>
            <a:ext cx="5486400" cy="2971800"/>
          </a:xfrm>
          <a:prstGeom prst="roundRect">
            <a:avLst>
              <a:gd name="adj" fmla="val 1538"/>
            </a:avLst>
          </a:prstGeom>
          <a:solidFill>
            <a:srgbClr val="212121"/>
          </a:solidFill>
          <a:ln/>
        </p:spPr>
        <p:txBody>
          <a:bodyPr/>
          <a:p/>
        </p:txBody>
      </p:sp>
      <p:sp>
        <p:nvSpPr>
          <p:cNvPr id="7" name="Text 5"/>
          <p:cNvSpPr txBox="1"/>
          <p:nvPr/>
        </p:nvSpPr>
        <p:spPr>
          <a:xfrm>
            <a:off x="731520" y="1618488"/>
            <a:ext cx="5120640" cy="2752344"/>
          </a:xfrm>
          <a:prstGeom prst="rect">
            <a:avLst/>
          </a:prstGeom>
          <a:noFill/>
          <a:ln/>
        </p:spPr>
        <p:txBody>
          <a:bodyPr wrap="square" lIns="0" tIns="0" rIns="0" bIns="0" rtlCol="0" anchor="t"/>
          <a:lstStyle/>
          <a:p>
            <a:pPr indent="0" marL="0">
              <a:lnSpc>
                <a:spcPct val="100000"/>
              </a:lnSpc>
              <a:buNone/>
            </a:pPr>
            <a:r>
              <a:rPr lang="en-US" sz="1250" dirty="0">
                <a:solidFill>
                  <a:srgbClr val="02C39A"/>
                </a:solidFill>
                <a:latin typeface="Consolas" pitchFamily="34" charset="0"/>
                <a:ea typeface="Consolas" pitchFamily="34" charset="-122"/>
                <a:cs typeface="Consolas" pitchFamily="34" charset="-120"/>
              </a:rPr>
              <a:t>student@okan-lab:~/lab/scripts$ </a:t>
            </a:r>
            <a:r>
              <a:rPr lang="en-US" sz="1250" b="1" dirty="0">
                <a:solidFill>
                  <a:srgbClr val="FFFFFF"/>
                </a:solidFill>
                <a:latin typeface="Consolas" pitchFamily="34" charset="0"/>
                <a:ea typeface="Consolas" pitchFamily="34" charset="-122"/>
                <a:cs typeface="Consolas" pitchFamily="34" charset="-120"/>
              </a:rPr>
              <a:t>bash -x grade.sh 72</a:t>
            </a:r>
            <a:endParaRPr lang="en-US" sz="1250" dirty="0"/>
          </a:p>
          <a:p>
            <a:pPr indent="0" marL="0">
              <a:lnSpc>
                <a:spcPct val="100000"/>
              </a:lnSpc>
              <a:buNone/>
            </a:pPr>
            <a:r>
              <a:rPr lang="en-US" sz="1250" dirty="0">
                <a:solidFill>
                  <a:srgbClr val="C9D1D3"/>
                </a:solidFill>
                <a:latin typeface="Consolas" pitchFamily="34" charset="0"/>
                <a:ea typeface="Consolas" pitchFamily="34" charset="-122"/>
                <a:cs typeface="Consolas" pitchFamily="34" charset="-120"/>
              </a:rPr>
              <a:t>+ score=72</a:t>
            </a:r>
            <a:endParaRPr lang="en-US" sz="1250" dirty="0"/>
          </a:p>
          <a:p>
            <a:pPr indent="0" marL="0">
              <a:lnSpc>
                <a:spcPct val="100000"/>
              </a:lnSpc>
              <a:buNone/>
            </a:pPr>
            <a:r>
              <a:rPr lang="en-US" sz="1250" dirty="0">
                <a:solidFill>
                  <a:srgbClr val="C9D1D3"/>
                </a:solidFill>
                <a:latin typeface="Consolas" pitchFamily="34" charset="0"/>
                <a:ea typeface="Consolas" pitchFamily="34" charset="-122"/>
                <a:cs typeface="Consolas" pitchFamily="34" charset="-120"/>
              </a:rPr>
              <a:t>+ '[' -z 72 ']'</a:t>
            </a:r>
            <a:endParaRPr lang="en-US" sz="1250" dirty="0"/>
          </a:p>
          <a:p>
            <a:pPr indent="0" marL="0">
              <a:lnSpc>
                <a:spcPct val="100000"/>
              </a:lnSpc>
              <a:buNone/>
            </a:pPr>
            <a:r>
              <a:rPr lang="en-US" sz="1250" dirty="0">
                <a:solidFill>
                  <a:srgbClr val="C9D1D3"/>
                </a:solidFill>
                <a:latin typeface="Consolas" pitchFamily="34" charset="0"/>
                <a:ea typeface="Consolas" pitchFamily="34" charset="-122"/>
                <a:cs typeface="Consolas" pitchFamily="34" charset="-120"/>
              </a:rPr>
              <a:t>+ '[' 72 -lt 0 ']'</a:t>
            </a:r>
            <a:endParaRPr lang="en-US" sz="1250" dirty="0"/>
          </a:p>
          <a:p>
            <a:pPr indent="0" marL="0">
              <a:lnSpc>
                <a:spcPct val="100000"/>
              </a:lnSpc>
              <a:buNone/>
            </a:pPr>
            <a:r>
              <a:rPr lang="en-US" sz="1250" dirty="0">
                <a:solidFill>
                  <a:srgbClr val="C9D1D3"/>
                </a:solidFill>
                <a:latin typeface="Consolas" pitchFamily="34" charset="0"/>
                <a:ea typeface="Consolas" pitchFamily="34" charset="-122"/>
                <a:cs typeface="Consolas" pitchFamily="34" charset="-120"/>
              </a:rPr>
              <a:t>+ '[' 72 -gt 100 ']'</a:t>
            </a:r>
            <a:endParaRPr lang="en-US" sz="1250" dirty="0"/>
          </a:p>
          <a:p>
            <a:pPr indent="0" marL="0">
              <a:lnSpc>
                <a:spcPct val="100000"/>
              </a:lnSpc>
              <a:buNone/>
            </a:pPr>
            <a:r>
              <a:rPr lang="en-US" sz="1250" dirty="0">
                <a:solidFill>
                  <a:srgbClr val="C9D1D3"/>
                </a:solidFill>
                <a:latin typeface="Consolas" pitchFamily="34" charset="0"/>
                <a:ea typeface="Consolas" pitchFamily="34" charset="-122"/>
                <a:cs typeface="Consolas" pitchFamily="34" charset="-120"/>
              </a:rPr>
              <a:t>+ '[' 72 -ge 85 ']'</a:t>
            </a:r>
            <a:endParaRPr lang="en-US" sz="1250" dirty="0"/>
          </a:p>
          <a:p>
            <a:pPr indent="0" marL="0">
              <a:lnSpc>
                <a:spcPct val="100000"/>
              </a:lnSpc>
              <a:buNone/>
            </a:pPr>
            <a:r>
              <a:rPr lang="en-US" sz="1250" dirty="0">
                <a:solidFill>
                  <a:srgbClr val="C9D1D3"/>
                </a:solidFill>
                <a:latin typeface="Consolas" pitchFamily="34" charset="0"/>
                <a:ea typeface="Consolas" pitchFamily="34" charset="-122"/>
                <a:cs typeface="Consolas" pitchFamily="34" charset="-120"/>
              </a:rPr>
              <a:t>+ '[' 72 -ge 70 ']'</a:t>
            </a:r>
            <a:endParaRPr lang="en-US" sz="1250" dirty="0"/>
          </a:p>
          <a:p>
            <a:pPr indent="0" marL="0">
              <a:lnSpc>
                <a:spcPct val="100000"/>
              </a:lnSpc>
              <a:buNone/>
            </a:pPr>
            <a:r>
              <a:rPr lang="en-US" sz="1250" dirty="0">
                <a:solidFill>
                  <a:srgbClr val="C9D1D3"/>
                </a:solidFill>
                <a:latin typeface="Consolas" pitchFamily="34" charset="0"/>
                <a:ea typeface="Consolas" pitchFamily="34" charset="-122"/>
                <a:cs typeface="Consolas" pitchFamily="34" charset="-120"/>
              </a:rPr>
              <a:t>+ letter=B</a:t>
            </a:r>
            <a:endParaRPr lang="en-US" sz="1250" dirty="0"/>
          </a:p>
          <a:p>
            <a:pPr indent="0" marL="0">
              <a:lnSpc>
                <a:spcPct val="100000"/>
              </a:lnSpc>
              <a:buNone/>
            </a:pPr>
            <a:r>
              <a:rPr lang="en-US" sz="1250" dirty="0">
                <a:solidFill>
                  <a:srgbClr val="C9D1D3"/>
                </a:solidFill>
                <a:latin typeface="Consolas" pitchFamily="34" charset="0"/>
                <a:ea typeface="Consolas" pitchFamily="34" charset="-122"/>
                <a:cs typeface="Consolas" pitchFamily="34" charset="-120"/>
              </a:rPr>
              <a:t>+ echo 'Score 72 -&gt; grade B'</a:t>
            </a:r>
            <a:endParaRPr lang="en-US" sz="1250" dirty="0"/>
          </a:p>
          <a:p>
            <a:pPr indent="0" marL="0">
              <a:lnSpc>
                <a:spcPct val="100000"/>
              </a:lnSpc>
              <a:buNone/>
            </a:pPr>
            <a:r>
              <a:rPr lang="en-US" sz="1250" dirty="0">
                <a:solidFill>
                  <a:srgbClr val="C9D1D3"/>
                </a:solidFill>
                <a:latin typeface="Consolas" pitchFamily="34" charset="0"/>
                <a:ea typeface="Consolas" pitchFamily="34" charset="-122"/>
                <a:cs typeface="Consolas" pitchFamily="34" charset="-120"/>
              </a:rPr>
              <a:t>Score 72 -&gt; grade B</a:t>
            </a:r>
            <a:endParaRPr lang="en-US" sz="1250" dirty="0"/>
          </a:p>
        </p:txBody>
      </p:sp>
      <p:sp>
        <p:nvSpPr>
          <p:cNvPr id="8" name="Shape 6"/>
          <p:cNvSpPr/>
          <p:nvPr/>
        </p:nvSpPr>
        <p:spPr>
          <a:xfrm>
            <a:off x="6263640" y="1508760"/>
            <a:ext cx="5394960" cy="2971800"/>
          </a:xfrm>
          <a:prstGeom prst="roundRect">
            <a:avLst>
              <a:gd name="adj" fmla="val 1538"/>
            </a:avLst>
          </a:prstGeom>
          <a:solidFill>
            <a:srgbClr val="212121"/>
          </a:solidFill>
          <a:ln/>
        </p:spPr>
        <p:txBody>
          <a:bodyPr/>
          <a:p/>
        </p:txBody>
      </p:sp>
      <p:sp>
        <p:nvSpPr>
          <p:cNvPr id="9" name="Text 7"/>
          <p:cNvSpPr txBox="1"/>
          <p:nvPr/>
        </p:nvSpPr>
        <p:spPr>
          <a:xfrm>
            <a:off x="6446520" y="1618488"/>
            <a:ext cx="5029200" cy="2752344"/>
          </a:xfrm>
          <a:prstGeom prst="rect">
            <a:avLst/>
          </a:prstGeom>
          <a:noFill/>
          <a:ln/>
        </p:spPr>
        <p:txBody>
          <a:bodyPr wrap="square" lIns="0" tIns="0" rIns="0" bIns="0" rtlCol="0" anchor="t"/>
          <a:lstStyle/>
          <a:p>
            <a:pPr indent="0" marL="0">
              <a:lnSpc>
                <a:spcPct val="100000"/>
              </a:lnSpc>
              <a:buNone/>
            </a:pPr>
            <a:r>
              <a:rPr lang="en-US" sz="1100" dirty="0">
                <a:solidFill>
                  <a:srgbClr val="02C39A"/>
                </a:solidFill>
                <a:latin typeface="Consolas" pitchFamily="34" charset="0"/>
                <a:ea typeface="Consolas" pitchFamily="34" charset="-122"/>
                <a:cs typeface="Consolas" pitchFamily="34" charset="-120"/>
              </a:rPr>
              <a:t>student@okan-lab:~/lab/scripts$ </a:t>
            </a:r>
            <a:r>
              <a:rPr lang="en-US" sz="1100" b="1" dirty="0">
                <a:solidFill>
                  <a:srgbClr val="FFFFFF"/>
                </a:solidFill>
                <a:latin typeface="Consolas" pitchFamily="34" charset="0"/>
                <a:ea typeface="Consolas" pitchFamily="34" charset="-122"/>
                <a:cs typeface="Consolas" pitchFamily="34" charset="-120"/>
              </a:rPr>
              <a:t>./grade.sh abc</a:t>
            </a:r>
            <a:endParaRPr lang="en-US" sz="1100" dirty="0"/>
          </a:p>
          <a:p>
            <a:pPr indent="0" marL="0">
              <a:lnSpc>
                <a:spcPct val="100000"/>
              </a:lnSpc>
              <a:buNone/>
            </a:pPr>
            <a:r>
              <a:rPr lang="en-US" sz="1100" dirty="0">
                <a:solidFill>
                  <a:srgbClr val="C9D1D3"/>
                </a:solidFill>
                <a:latin typeface="Consolas" pitchFamily="34" charset="0"/>
                <a:ea typeface="Consolas" pitchFamily="34" charset="-122"/>
                <a:cs typeface="Consolas" pitchFamily="34" charset="-120"/>
              </a:rPr>
              <a:t>./grade.sh: line 9: [: abc: integer expression expected</a:t>
            </a:r>
            <a:endParaRPr lang="en-US" sz="1100" dirty="0"/>
          </a:p>
          <a:p>
            <a:pPr indent="0" marL="0">
              <a:lnSpc>
                <a:spcPct val="100000"/>
              </a:lnSpc>
              <a:buNone/>
            </a:pPr>
            <a:r>
              <a:rPr lang="en-US" sz="1100" dirty="0">
                <a:solidFill>
                  <a:srgbClr val="C9D1D3"/>
                </a:solidFill>
                <a:latin typeface="Consolas" pitchFamily="34" charset="0"/>
                <a:ea typeface="Consolas" pitchFamily="34" charset="-122"/>
                <a:cs typeface="Consolas" pitchFamily="34" charset="-120"/>
              </a:rPr>
              <a:t>./grade.sh: line 9: [: abc: integer expression expected</a:t>
            </a:r>
            <a:endParaRPr lang="en-US" sz="1100" dirty="0"/>
          </a:p>
          <a:p>
            <a:pPr indent="0" marL="0">
              <a:lnSpc>
                <a:spcPct val="100000"/>
              </a:lnSpc>
              <a:buNone/>
            </a:pPr>
            <a:r>
              <a:rPr lang="en-US" sz="1100" dirty="0">
                <a:solidFill>
                  <a:srgbClr val="C9D1D3"/>
                </a:solidFill>
                <a:latin typeface="Consolas" pitchFamily="34" charset="0"/>
                <a:ea typeface="Consolas" pitchFamily="34" charset="-122"/>
                <a:cs typeface="Consolas" pitchFamily="34" charset="-120"/>
              </a:rPr>
              <a:t>./grade.sh: line 12: [: abc: integer expression expected</a:t>
            </a:r>
            <a:endParaRPr lang="en-US" sz="1100" dirty="0"/>
          </a:p>
          <a:p>
            <a:pPr indent="0" marL="0">
              <a:lnSpc>
                <a:spcPct val="100000"/>
              </a:lnSpc>
              <a:buNone/>
            </a:pPr>
            <a:r>
              <a:rPr lang="en-US" sz="1100" dirty="0">
                <a:solidFill>
                  <a:srgbClr val="C9D1D3"/>
                </a:solidFill>
                <a:latin typeface="Consolas" pitchFamily="34" charset="0"/>
                <a:ea typeface="Consolas" pitchFamily="34" charset="-122"/>
                <a:cs typeface="Consolas" pitchFamily="34" charset="-120"/>
              </a:rPr>
              <a:t>./grade.sh: line 14: [: abc: integer expression expected</a:t>
            </a:r>
            <a:endParaRPr lang="en-US" sz="1100" dirty="0"/>
          </a:p>
          <a:p>
            <a:pPr indent="0" marL="0">
              <a:lnSpc>
                <a:spcPct val="100000"/>
              </a:lnSpc>
              <a:buNone/>
            </a:pPr>
            <a:r>
              <a:rPr lang="en-US" sz="1100" dirty="0">
                <a:solidFill>
                  <a:srgbClr val="C9D1D3"/>
                </a:solidFill>
                <a:latin typeface="Consolas" pitchFamily="34" charset="0"/>
                <a:ea typeface="Consolas" pitchFamily="34" charset="-122"/>
                <a:cs typeface="Consolas" pitchFamily="34" charset="-120"/>
              </a:rPr>
              <a:t>./grade.sh: line 16: [: abc: integer expression expected</a:t>
            </a:r>
            <a:endParaRPr lang="en-US" sz="1100" dirty="0"/>
          </a:p>
          <a:p>
            <a:pPr indent="0" marL="0">
              <a:lnSpc>
                <a:spcPct val="100000"/>
              </a:lnSpc>
              <a:buNone/>
            </a:pPr>
            <a:r>
              <a:rPr lang="en-US" sz="1100" dirty="0">
                <a:solidFill>
                  <a:srgbClr val="C9D1D3"/>
                </a:solidFill>
                <a:latin typeface="Consolas" pitchFamily="34" charset="0"/>
                <a:ea typeface="Consolas" pitchFamily="34" charset="-122"/>
                <a:cs typeface="Consolas" pitchFamily="34" charset="-120"/>
              </a:rPr>
              <a:t>Score abc -&gt; grade F</a:t>
            </a:r>
            <a:endParaRPr lang="en-US" sz="1100" dirty="0"/>
          </a:p>
        </p:txBody>
      </p:sp>
      <p:sp>
        <p:nvSpPr>
          <p:cNvPr id="10" name="Shape 8"/>
          <p:cNvSpPr/>
          <p:nvPr/>
        </p:nvSpPr>
        <p:spPr>
          <a:xfrm>
            <a:off x="548640" y="4663440"/>
            <a:ext cx="11109960" cy="1600200"/>
          </a:xfrm>
          <a:prstGeom prst="roundRect">
            <a:avLst>
              <a:gd name="adj" fmla="val 342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1" name="Text 9"/>
          <p:cNvSpPr txBox="1"/>
          <p:nvPr/>
        </p:nvSpPr>
        <p:spPr>
          <a:xfrm>
            <a:off x="777240" y="4846320"/>
            <a:ext cx="1065276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Three tools</a:t>
            </a:r>
            <a:endParaRPr lang="en-US" sz="1500" dirty="0"/>
          </a:p>
        </p:txBody>
      </p:sp>
      <p:sp>
        <p:nvSpPr>
          <p:cNvPr id="12" name="Text 10"/>
          <p:cNvSpPr txBox="1"/>
          <p:nvPr/>
        </p:nvSpPr>
        <p:spPr>
          <a:xfrm>
            <a:off x="777240" y="5303520"/>
            <a:ext cx="10652760" cy="822960"/>
          </a:xfrm>
          <a:prstGeom prst="rect">
            <a:avLst/>
          </a:prstGeom>
          <a:noFill/>
          <a:ln/>
        </p:spPr>
        <p:txBody>
          <a:bodyPr wrap="square" lIns="0" tIns="0" rIns="0" bIns="0" rtlCol="0" anchor="t"/>
          <a:lstStyle/>
          <a:p>
            <a:pPr marL="228600" indent="-228600">
              <a:spcAft>
                <a:spcPts val="400"/>
              </a:spcAft>
              <a:buSzPct val="100000"/>
              <a:buChar char="•"/>
            </a:pPr>
            <a:r>
              <a:rPr lang="en-US" sz="1300" b="1" dirty="0">
                <a:solidFill>
                  <a:srgbClr val="3A464C"/>
                </a:solidFill>
                <a:latin typeface="Calibri" pitchFamily="34" charset="0"/>
                <a:ea typeface="Calibri" pitchFamily="34" charset="-122"/>
                <a:cs typeface="Calibri" pitchFamily="34" charset="-120"/>
              </a:rPr>
              <a:t>bash -n script.sh:</a:t>
            </a:r>
            <a:r>
              <a:rPr lang="en-US" sz="1300" dirty="0">
                <a:solidFill>
                  <a:srgbClr val="3A464C"/>
                </a:solidFill>
                <a:latin typeface="Calibri" pitchFamily="34" charset="0"/>
                <a:ea typeface="Calibri" pitchFamily="34" charset="-122"/>
                <a:cs typeface="Calibri" pitchFamily="34" charset="-120"/>
              </a:rPr>
              <a:t> syntax check only; nothing runs.    </a:t>
            </a:r>
            <a:endParaRPr lang="en-US" sz="1300" dirty="0"/>
          </a:p>
          <a:p>
            <a:pPr marL="228600" indent="-228600">
              <a:spcAft>
                <a:spcPts val="400"/>
              </a:spcAft>
              <a:buSzPct val="100000"/>
              <a:buChar char="•"/>
            </a:pPr>
            <a:r>
              <a:rPr lang="en-US" sz="1300" b="1" dirty="0">
                <a:solidFill>
                  <a:srgbClr val="3A464C"/>
                </a:solidFill>
                <a:latin typeface="Calibri" pitchFamily="34" charset="0"/>
                <a:ea typeface="Calibri" pitchFamily="34" charset="-122"/>
                <a:cs typeface="Calibri" pitchFamily="34" charset="-120"/>
              </a:rPr>
              <a:t>bash -x script.sh:</a:t>
            </a:r>
            <a:r>
              <a:rPr lang="en-US" sz="1300" dirty="0">
                <a:solidFill>
                  <a:srgbClr val="3A464C"/>
                </a:solidFill>
                <a:latin typeface="Calibri" pitchFamily="34" charset="0"/>
                <a:ea typeface="Calibri" pitchFamily="34" charset="-122"/>
                <a:cs typeface="Calibri" pitchFamily="34" charset="-120"/>
              </a:rPr>
              <a:t> prints every command (with + and the values already filled in) before running it. Inside a script: set -x … set +x around the part you want to trace.</a:t>
            </a:r>
            <a:endParaRPr lang="en-US" sz="1300" dirty="0"/>
          </a:p>
          <a:p>
            <a:pPr marL="228600" indent="-228600">
              <a:spcAft>
                <a:spcPts val="400"/>
              </a:spcAft>
              <a:buSzPct val="100000"/>
              <a:buChar char="•"/>
            </a:pPr>
            <a:r>
              <a:rPr lang="en-US" sz="1300" b="1" dirty="0">
                <a:solidFill>
                  <a:srgbClr val="3A464C"/>
                </a:solidFill>
                <a:latin typeface="Calibri" pitchFamily="34" charset="0"/>
                <a:ea typeface="Calibri" pitchFamily="34" charset="-122"/>
                <a:cs typeface="Calibri" pitchFamily="34" charset="-120"/>
              </a:rPr>
              <a:t>Validate input:</a:t>
            </a:r>
            <a:r>
              <a:rPr lang="en-US" sz="1300" dirty="0">
                <a:solidFill>
                  <a:srgbClr val="3A464C"/>
                </a:solidFill>
                <a:latin typeface="Calibri" pitchFamily="34" charset="0"/>
                <a:ea typeface="Calibri" pitchFamily="34" charset="-122"/>
                <a:cs typeface="Calibri" pitchFamily="34" charset="-120"/>
              </a:rPr>
              <a:t> grade.sh abc prints errors yet still says grade F — a bug. Check the input first (Lab exercise ideas).</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PART 4</a:t>
            </a:r>
            <a:endParaRPr lang="en-US"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Loops &amp; Functions</a:t>
            </a:r>
            <a:endParaRPr lang="en-US"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en-US" sz="1600" i="1" dirty="0">
                <a:solidFill>
                  <a:srgbClr val="F2F2F2"/>
                </a:solidFill>
                <a:latin typeface="Calibri" pitchFamily="34" charset="0"/>
                <a:ea typeface="Calibri" pitchFamily="34" charset="-122"/>
                <a:cs typeface="Calibri" pitchFamily="34" charset="-120"/>
              </a:rPr>
              <a:t>Do something for every item, or while a condition holds.</a:t>
            </a:r>
            <a:endParaRPr lang="en-US"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8A9AA0"/>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8A9AA0"/>
                </a:solidFill>
                <a:latin typeface="Calibri" pitchFamily="34" charset="0"/>
                <a:ea typeface="Calibri" pitchFamily="34" charset="-122"/>
                <a:cs typeface="Calibri" pitchFamily="34" charset="-120"/>
              </a:rPr>
              <a:t>Week 14  ·  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FOR LOOPS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for: Once for Every Item in a List</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14  ·  26</a:t>
            </a:r>
            <a:endParaRPr lang="en-US" sz="900" dirty="0"/>
          </a:p>
        </p:txBody>
      </p:sp>
      <p:sp>
        <p:nvSpPr>
          <p:cNvPr id="6" name="Shape 4"/>
          <p:cNvSpPr/>
          <p:nvPr/>
        </p:nvSpPr>
        <p:spPr>
          <a:xfrm>
            <a:off x="548640" y="1508760"/>
            <a:ext cx="6400800" cy="4754880"/>
          </a:xfrm>
          <a:prstGeom prst="roundRect">
            <a:avLst>
              <a:gd name="adj" fmla="val 962"/>
            </a:avLst>
          </a:prstGeom>
          <a:solidFill>
            <a:srgbClr val="212121"/>
          </a:solidFill>
          <a:ln/>
        </p:spPr>
        <p:txBody>
          <a:bodyPr/>
          <a:p/>
        </p:txBody>
      </p:sp>
      <p:sp>
        <p:nvSpPr>
          <p:cNvPr id="7" name="Text 5"/>
          <p:cNvSpPr txBox="1"/>
          <p:nvPr/>
        </p:nvSpPr>
        <p:spPr>
          <a:xfrm>
            <a:off x="731520" y="1618488"/>
            <a:ext cx="6035040" cy="4535424"/>
          </a:xfrm>
          <a:prstGeom prst="rect">
            <a:avLst/>
          </a:prstGeom>
          <a:noFill/>
          <a:ln/>
        </p:spPr>
        <p:txBody>
          <a:bodyPr wrap="square" lIns="0" tIns="0" rIns="0" bIns="0" rtlCol="0" anchor="t"/>
          <a:lstStyle/>
          <a:p>
            <a:pPr indent="0" marL="0">
              <a:lnSpc>
                <a:spcPct val="100000"/>
              </a:lnSpc>
              <a:buNone/>
            </a:pPr>
            <a:r>
              <a:rPr lang="en-US" sz="1000" dirty="0">
                <a:solidFill>
                  <a:srgbClr val="F2F2F2"/>
                </a:solidFill>
                <a:latin typeface="Consolas" pitchFamily="34" charset="0"/>
                <a:ea typeface="Consolas" pitchFamily="34" charset="-122"/>
                <a:cs typeface="Consolas" pitchFamily="34" charset="-120"/>
              </a:rPr>
              <a:t>for city in Istanbul Ankara Izmir; do</a:t>
            </a:r>
            <a:r>
              <a:rPr lang="en-US" sz="1000" dirty="0">
                <a:solidFill>
                  <a:srgbClr val="8A9AA0"/>
                </a:solidFill>
                <a:latin typeface="Consolas" pitchFamily="34" charset="0"/>
                <a:ea typeface="Consolas" pitchFamily="34" charset="-122"/>
                <a:cs typeface="Consolas" pitchFamily="34" charset="-120"/>
              </a:rPr>
              <a:t>       # 1) over a list of words</a:t>
            </a:r>
            <a:endParaRPr lang="en-US" sz="1000" dirty="0"/>
          </a:p>
          <a:p>
            <a:pPr indent="0" marL="0">
              <a:lnSpc>
                <a:spcPct val="100000"/>
              </a:lnSpc>
              <a:buNone/>
            </a:pPr>
            <a:r>
              <a:rPr lang="en-US" sz="1000" dirty="0">
                <a:solidFill>
                  <a:srgbClr val="F2F2F2"/>
                </a:solidFill>
                <a:latin typeface="Consolas" pitchFamily="34" charset="0"/>
                <a:ea typeface="Consolas" pitchFamily="34" charset="-122"/>
                <a:cs typeface="Consolas" pitchFamily="34" charset="-120"/>
              </a:rPr>
              <a:t>    echo "City: $city"</a:t>
            </a:r>
            <a:endParaRPr lang="en-US" sz="1000" dirty="0"/>
          </a:p>
          <a:p>
            <a:pPr indent="0" marL="0">
              <a:lnSpc>
                <a:spcPct val="100000"/>
              </a:lnSpc>
              <a:buNone/>
            </a:pPr>
            <a:r>
              <a:rPr lang="en-US" sz="1000" dirty="0">
                <a:solidFill>
                  <a:srgbClr val="F2F2F2"/>
                </a:solidFill>
                <a:latin typeface="Consolas" pitchFamily="34" charset="0"/>
                <a:ea typeface="Consolas" pitchFamily="34" charset="-122"/>
                <a:cs typeface="Consolas" pitchFamily="34" charset="-120"/>
              </a:rPr>
              <a:t>done</a:t>
            </a:r>
            <a:endParaRPr lang="en-US" sz="1000" dirty="0"/>
          </a:p>
          <a:p>
            <a:pPr indent="0" marL="0">
              <a:lnSpc>
                <a:spcPct val="100000"/>
              </a:lnSpc>
              <a:buNone/>
            </a:pPr>
            <a:r>
              <a:rPr lang="en-US" sz="1000" dirty="0">
                <a:solidFill>
                  <a:srgbClr val="F2F2F2"/>
                </a:solidFill>
                <a:latin typeface="Consolas" pitchFamily="34" charset="0"/>
                <a:ea typeface="Consolas" pitchFamily="34" charset="-122"/>
                <a:cs typeface="Consolas" pitchFamily="34" charset="-120"/>
              </a:rPr>
              <a:t> </a:t>
            </a:r>
            <a:endParaRPr lang="en-US" sz="1000" dirty="0"/>
          </a:p>
          <a:p>
            <a:pPr indent="0" marL="0">
              <a:lnSpc>
                <a:spcPct val="100000"/>
              </a:lnSpc>
              <a:buNone/>
            </a:pPr>
            <a:r>
              <a:rPr lang="en-US" sz="1000" dirty="0">
                <a:solidFill>
                  <a:srgbClr val="F2F2F2"/>
                </a:solidFill>
                <a:latin typeface="Consolas" pitchFamily="34" charset="0"/>
                <a:ea typeface="Consolas" pitchFamily="34" charset="-122"/>
                <a:cs typeface="Consolas" pitchFamily="34" charset="-120"/>
              </a:rPr>
              <a:t>for i in {1..5}; do</a:t>
            </a:r>
            <a:r>
              <a:rPr lang="en-US" sz="1000" dirty="0">
                <a:solidFill>
                  <a:srgbClr val="8A9AA0"/>
                </a:solidFill>
                <a:latin typeface="Consolas" pitchFamily="34" charset="0"/>
                <a:ea typeface="Consolas" pitchFamily="34" charset="-122"/>
                <a:cs typeface="Consolas" pitchFamily="34" charset="-120"/>
              </a:rPr>
              <a:t>                          # 2) over a range of numbers</a:t>
            </a:r>
            <a:endParaRPr lang="en-US" sz="1000" dirty="0"/>
          </a:p>
          <a:p>
            <a:pPr indent="0" marL="0">
              <a:lnSpc>
                <a:spcPct val="100000"/>
              </a:lnSpc>
              <a:buNone/>
            </a:pPr>
            <a:r>
              <a:rPr lang="en-US" sz="1000" dirty="0">
                <a:solidFill>
                  <a:srgbClr val="F2F2F2"/>
                </a:solidFill>
                <a:latin typeface="Consolas" pitchFamily="34" charset="0"/>
                <a:ea typeface="Consolas" pitchFamily="34" charset="-122"/>
                <a:cs typeface="Consolas" pitchFamily="34" charset="-120"/>
              </a:rPr>
              <a:t>    echo -n "$i squared is $((i * i)); "</a:t>
            </a:r>
            <a:endParaRPr lang="en-US" sz="1000" dirty="0"/>
          </a:p>
          <a:p>
            <a:pPr indent="0" marL="0">
              <a:lnSpc>
                <a:spcPct val="100000"/>
              </a:lnSpc>
              <a:buNone/>
            </a:pPr>
            <a:r>
              <a:rPr lang="en-US" sz="1000" dirty="0">
                <a:solidFill>
                  <a:srgbClr val="F2F2F2"/>
                </a:solidFill>
                <a:latin typeface="Consolas" pitchFamily="34" charset="0"/>
                <a:ea typeface="Consolas" pitchFamily="34" charset="-122"/>
                <a:cs typeface="Consolas" pitchFamily="34" charset="-120"/>
              </a:rPr>
              <a:t>done</a:t>
            </a:r>
            <a:endParaRPr lang="en-US" sz="1000" dirty="0"/>
          </a:p>
          <a:p>
            <a:pPr indent="0" marL="0">
              <a:lnSpc>
                <a:spcPct val="100000"/>
              </a:lnSpc>
              <a:buNone/>
            </a:pPr>
            <a:r>
              <a:rPr lang="en-US" sz="1000" dirty="0">
                <a:solidFill>
                  <a:srgbClr val="F2F2F2"/>
                </a:solidFill>
                <a:latin typeface="Consolas" pitchFamily="34" charset="0"/>
                <a:ea typeface="Consolas" pitchFamily="34" charset="-122"/>
                <a:cs typeface="Consolas" pitchFamily="34" charset="-120"/>
              </a:rPr>
              <a:t>echo</a:t>
            </a:r>
            <a:r>
              <a:rPr lang="en-US" sz="1000" dirty="0">
                <a:solidFill>
                  <a:srgbClr val="8A9AA0"/>
                </a:solidFill>
                <a:latin typeface="Consolas" pitchFamily="34" charset="0"/>
                <a:ea typeface="Consolas" pitchFamily="34" charset="-122"/>
                <a:cs typeface="Consolas" pitchFamily="34" charset="-120"/>
              </a:rPr>
              <a:t>                                         # finish the line</a:t>
            </a:r>
            <a:endParaRPr lang="en-US" sz="1000" dirty="0"/>
          </a:p>
          <a:p>
            <a:pPr indent="0" marL="0">
              <a:lnSpc>
                <a:spcPct val="100000"/>
              </a:lnSpc>
              <a:buNone/>
            </a:pPr>
            <a:r>
              <a:rPr lang="en-US" sz="1000" dirty="0">
                <a:solidFill>
                  <a:srgbClr val="F2F2F2"/>
                </a:solidFill>
                <a:latin typeface="Consolas" pitchFamily="34" charset="0"/>
                <a:ea typeface="Consolas" pitchFamily="34" charset="-122"/>
                <a:cs typeface="Consolas" pitchFamily="34" charset="-120"/>
              </a:rPr>
              <a:t> </a:t>
            </a:r>
            <a:endParaRPr lang="en-US" sz="1000" dirty="0"/>
          </a:p>
          <a:p>
            <a:pPr indent="0" marL="0">
              <a:lnSpc>
                <a:spcPct val="100000"/>
              </a:lnSpc>
              <a:buNone/>
            </a:pPr>
            <a:r>
              <a:rPr lang="en-US" sz="1000" dirty="0">
                <a:solidFill>
                  <a:srgbClr val="F2F2F2"/>
                </a:solidFill>
                <a:latin typeface="Consolas" pitchFamily="34" charset="0"/>
                <a:ea typeface="Consolas" pitchFamily="34" charset="-122"/>
                <a:cs typeface="Consolas" pitchFamily="34" charset="-120"/>
              </a:rPr>
              <a:t>for f in ~/lab/docs/*.txt; do</a:t>
            </a:r>
            <a:r>
              <a:rPr lang="en-US" sz="1000" dirty="0">
                <a:solidFill>
                  <a:srgbClr val="8A9AA0"/>
                </a:solidFill>
                <a:latin typeface="Consolas" pitchFamily="34" charset="0"/>
                <a:ea typeface="Consolas" pitchFamily="34" charset="-122"/>
                <a:cs typeface="Consolas" pitchFamily="34" charset="-120"/>
              </a:rPr>
              <a:t>                # 3) over files (wildcard)</a:t>
            </a:r>
            <a:endParaRPr lang="en-US" sz="1000" dirty="0"/>
          </a:p>
          <a:p>
            <a:pPr indent="0" marL="0">
              <a:lnSpc>
                <a:spcPct val="100000"/>
              </a:lnSpc>
              <a:buNone/>
            </a:pPr>
            <a:r>
              <a:rPr lang="en-US" sz="1000" dirty="0">
                <a:solidFill>
                  <a:srgbClr val="F2F2F2"/>
                </a:solidFill>
                <a:latin typeface="Consolas" pitchFamily="34" charset="0"/>
                <a:ea typeface="Consolas" pitchFamily="34" charset="-122"/>
                <a:cs typeface="Consolas" pitchFamily="34" charset="-120"/>
              </a:rPr>
              <a:t>    echo "$(basename "$f"): $(wc -l &lt; "$f") lines"</a:t>
            </a:r>
            <a:endParaRPr lang="en-US" sz="1000" dirty="0"/>
          </a:p>
          <a:p>
            <a:pPr indent="0" marL="0">
              <a:lnSpc>
                <a:spcPct val="100000"/>
              </a:lnSpc>
              <a:buNone/>
            </a:pPr>
            <a:r>
              <a:rPr lang="en-US" sz="1000" dirty="0">
                <a:solidFill>
                  <a:srgbClr val="F2F2F2"/>
                </a:solidFill>
                <a:latin typeface="Consolas" pitchFamily="34" charset="0"/>
                <a:ea typeface="Consolas" pitchFamily="34" charset="-122"/>
                <a:cs typeface="Consolas" pitchFamily="34" charset="-120"/>
              </a:rPr>
              <a:t>done</a:t>
            </a:r>
            <a:endParaRPr lang="en-US" sz="1000" dirty="0"/>
          </a:p>
        </p:txBody>
      </p:sp>
      <p:sp>
        <p:nvSpPr>
          <p:cNvPr id="8" name="Shape 6"/>
          <p:cNvSpPr/>
          <p:nvPr/>
        </p:nvSpPr>
        <p:spPr>
          <a:xfrm>
            <a:off x="7178040" y="1508760"/>
            <a:ext cx="4480560" cy="2514600"/>
          </a:xfrm>
          <a:prstGeom prst="roundRect">
            <a:avLst>
              <a:gd name="adj" fmla="val 1818"/>
            </a:avLst>
          </a:prstGeom>
          <a:solidFill>
            <a:srgbClr val="212121"/>
          </a:solidFill>
          <a:ln/>
        </p:spPr>
        <p:txBody>
          <a:bodyPr/>
          <a:p/>
        </p:txBody>
      </p:sp>
      <p:sp>
        <p:nvSpPr>
          <p:cNvPr id="9" name="Text 7"/>
          <p:cNvSpPr txBox="1"/>
          <p:nvPr/>
        </p:nvSpPr>
        <p:spPr>
          <a:xfrm>
            <a:off x="7360920" y="1618488"/>
            <a:ext cx="4114800" cy="2295144"/>
          </a:xfrm>
          <a:prstGeom prst="rect">
            <a:avLst/>
          </a:prstGeom>
          <a:noFill/>
          <a:ln/>
        </p:spPr>
        <p:txBody>
          <a:bodyPr wrap="square" lIns="0" tIns="0" rIns="0" bIns="0" rtlCol="0" anchor="t"/>
          <a:lstStyle/>
          <a:p>
            <a:pPr indent="0" marL="0">
              <a:lnSpc>
                <a:spcPct val="100000"/>
              </a:lnSpc>
              <a:buNone/>
            </a:pPr>
            <a:r>
              <a:rPr lang="en-US" sz="1200" dirty="0">
                <a:solidFill>
                  <a:srgbClr val="02C39A"/>
                </a:solidFill>
                <a:latin typeface="Consolas" pitchFamily="34" charset="0"/>
                <a:ea typeface="Consolas" pitchFamily="34" charset="-122"/>
                <a:cs typeface="Consolas" pitchFamily="34" charset="-120"/>
              </a:rPr>
              <a:t>student@okan-lab:~/lab/scripts$ </a:t>
            </a:r>
            <a:r>
              <a:rPr lang="en-US" sz="1200" b="1" dirty="0">
                <a:solidFill>
                  <a:srgbClr val="FFFFFF"/>
                </a:solidFill>
                <a:latin typeface="Consolas" pitchFamily="34" charset="0"/>
                <a:ea typeface="Consolas" pitchFamily="34" charset="-122"/>
                <a:cs typeface="Consolas" pitchFamily="34" charset="-120"/>
              </a:rPr>
              <a:t>./loops.sh</a:t>
            </a:r>
            <a:endParaRPr lang="en-US" sz="1200" dirty="0"/>
          </a:p>
          <a:p>
            <a:pPr indent="0" marL="0">
              <a:lnSpc>
                <a:spcPct val="100000"/>
              </a:lnSpc>
              <a:buNone/>
            </a:pPr>
            <a:r>
              <a:rPr lang="en-US" sz="1200" dirty="0">
                <a:solidFill>
                  <a:srgbClr val="C9D1D3"/>
                </a:solidFill>
                <a:latin typeface="Consolas" pitchFamily="34" charset="0"/>
                <a:ea typeface="Consolas" pitchFamily="34" charset="-122"/>
                <a:cs typeface="Consolas" pitchFamily="34" charset="-120"/>
              </a:rPr>
              <a:t>City: Istanbul</a:t>
            </a:r>
            <a:endParaRPr lang="en-US" sz="1200" dirty="0"/>
          </a:p>
          <a:p>
            <a:pPr indent="0" marL="0">
              <a:lnSpc>
                <a:spcPct val="100000"/>
              </a:lnSpc>
              <a:buNone/>
            </a:pPr>
            <a:r>
              <a:rPr lang="en-US" sz="1200" dirty="0">
                <a:solidFill>
                  <a:srgbClr val="C9D1D3"/>
                </a:solidFill>
                <a:latin typeface="Consolas" pitchFamily="34" charset="0"/>
                <a:ea typeface="Consolas" pitchFamily="34" charset="-122"/>
                <a:cs typeface="Consolas" pitchFamily="34" charset="-120"/>
              </a:rPr>
              <a:t>City: Ankara</a:t>
            </a:r>
            <a:endParaRPr lang="en-US" sz="1200" dirty="0"/>
          </a:p>
          <a:p>
            <a:pPr indent="0" marL="0">
              <a:lnSpc>
                <a:spcPct val="100000"/>
              </a:lnSpc>
              <a:buNone/>
            </a:pPr>
            <a:r>
              <a:rPr lang="en-US" sz="1200" dirty="0">
                <a:solidFill>
                  <a:srgbClr val="C9D1D3"/>
                </a:solidFill>
                <a:latin typeface="Consolas" pitchFamily="34" charset="0"/>
                <a:ea typeface="Consolas" pitchFamily="34" charset="-122"/>
                <a:cs typeface="Consolas" pitchFamily="34" charset="-120"/>
              </a:rPr>
              <a:t>City: Izmir</a:t>
            </a:r>
            <a:endParaRPr lang="en-US" sz="1200" dirty="0"/>
          </a:p>
          <a:p>
            <a:pPr indent="0" marL="0">
              <a:lnSpc>
                <a:spcPct val="100000"/>
              </a:lnSpc>
              <a:buNone/>
            </a:pPr>
            <a:r>
              <a:rPr lang="en-US" sz="1200" dirty="0">
                <a:solidFill>
                  <a:srgbClr val="C9D1D3"/>
                </a:solidFill>
                <a:latin typeface="Consolas" pitchFamily="34" charset="0"/>
                <a:ea typeface="Consolas" pitchFamily="34" charset="-122"/>
                <a:cs typeface="Consolas" pitchFamily="34" charset="-120"/>
              </a:rPr>
              <a:t>1 squared is 1; 2 squared is 4; ...</a:t>
            </a:r>
            <a:endParaRPr lang="en-US" sz="1200" dirty="0"/>
          </a:p>
          <a:p>
            <a:pPr indent="0" marL="0">
              <a:lnSpc>
                <a:spcPct val="100000"/>
              </a:lnSpc>
              <a:buNone/>
            </a:pPr>
            <a:r>
              <a:rPr lang="en-US" sz="1200" dirty="0">
                <a:solidFill>
                  <a:srgbClr val="C9D1D3"/>
                </a:solidFill>
                <a:latin typeface="Consolas" pitchFamily="34" charset="0"/>
                <a:ea typeface="Consolas" pitchFamily="34" charset="-122"/>
                <a:cs typeface="Consolas" pitchFamily="34" charset="-120"/>
              </a:rPr>
              <a:t>final report.txt: 2 lines</a:t>
            </a:r>
            <a:endParaRPr lang="en-US" sz="1200" dirty="0"/>
          </a:p>
          <a:p>
            <a:pPr indent="0" marL="0">
              <a:lnSpc>
                <a:spcPct val="100000"/>
              </a:lnSpc>
              <a:buNone/>
            </a:pPr>
            <a:r>
              <a:rPr lang="en-US" sz="1200" dirty="0">
                <a:solidFill>
                  <a:srgbClr val="C9D1D3"/>
                </a:solidFill>
                <a:latin typeface="Consolas" pitchFamily="34" charset="0"/>
                <a:ea typeface="Consolas" pitchFamily="34" charset="-122"/>
                <a:cs typeface="Consolas" pitchFamily="34" charset="-120"/>
              </a:rPr>
              <a:t>linux_quotes.txt: 5 lines</a:t>
            </a:r>
            <a:endParaRPr lang="en-US" sz="1200" dirty="0"/>
          </a:p>
          <a:p>
            <a:pPr indent="0" marL="0">
              <a:lnSpc>
                <a:spcPct val="100000"/>
              </a:lnSpc>
              <a:buNone/>
            </a:pPr>
            <a:r>
              <a:rPr lang="en-US" sz="1200" dirty="0">
                <a:solidFill>
                  <a:srgbClr val="C9D1D3"/>
                </a:solidFill>
                <a:latin typeface="Consolas" pitchFamily="34" charset="0"/>
                <a:ea typeface="Consolas" pitchFamily="34" charset="-122"/>
                <a:cs typeface="Consolas" pitchFamily="34" charset="-120"/>
              </a:rPr>
              <a:t>notes_01.txt: 1 lines</a:t>
            </a:r>
            <a:endParaRPr lang="en-US" sz="1200" dirty="0"/>
          </a:p>
          <a:p>
            <a:pPr indent="0" marL="0">
              <a:lnSpc>
                <a:spcPct val="100000"/>
              </a:lnSpc>
              <a:buNone/>
            </a:pPr>
            <a:r>
              <a:rPr lang="en-US" sz="1200" dirty="0">
                <a:solidFill>
                  <a:srgbClr val="C9D1D3"/>
                </a:solidFill>
                <a:latin typeface="Consolas" pitchFamily="34" charset="0"/>
                <a:ea typeface="Consolas" pitchFamily="34" charset="-122"/>
                <a:cs typeface="Consolas" pitchFamily="34" charset="-120"/>
              </a:rPr>
              <a:t>notes_02.txt: 1 lines</a:t>
            </a:r>
            <a:endParaRPr lang="en-US" sz="1200" dirty="0"/>
          </a:p>
          <a:p>
            <a:pPr indent="0" marL="0">
              <a:lnSpc>
                <a:spcPct val="100000"/>
              </a:lnSpc>
              <a:buNone/>
            </a:pPr>
            <a:r>
              <a:rPr lang="en-US" sz="1200" dirty="0">
                <a:solidFill>
                  <a:srgbClr val="C9D1D3"/>
                </a:solidFill>
                <a:latin typeface="Consolas" pitchFamily="34" charset="0"/>
                <a:ea typeface="Consolas" pitchFamily="34" charset="-122"/>
                <a:cs typeface="Consolas" pitchFamily="34" charset="-120"/>
              </a:rPr>
              <a:t>notes_03.txt: 1 lines</a:t>
            </a:r>
            <a:endParaRPr lang="en-US" sz="1200" dirty="0"/>
          </a:p>
          <a:p>
            <a:pPr indent="0" marL="0">
              <a:lnSpc>
                <a:spcPct val="100000"/>
              </a:lnSpc>
              <a:buNone/>
            </a:pPr>
            <a:r>
              <a:rPr lang="en-US" sz="1200" dirty="0">
                <a:solidFill>
                  <a:srgbClr val="C9D1D3"/>
                </a:solidFill>
                <a:latin typeface="Consolas" pitchFamily="34" charset="0"/>
                <a:ea typeface="Consolas" pitchFamily="34" charset="-122"/>
                <a:cs typeface="Consolas" pitchFamily="34" charset="-120"/>
              </a:rPr>
              <a:t>syllabus.txt: 15 lines</a:t>
            </a:r>
            <a:endParaRPr lang="en-US" sz="1200" dirty="0"/>
          </a:p>
        </p:txBody>
      </p:sp>
      <p:sp>
        <p:nvSpPr>
          <p:cNvPr id="10" name="Shape 8"/>
          <p:cNvSpPr/>
          <p:nvPr/>
        </p:nvSpPr>
        <p:spPr>
          <a:xfrm>
            <a:off x="7178040" y="4206240"/>
            <a:ext cx="4480560" cy="2057400"/>
          </a:xfrm>
          <a:prstGeom prst="roundRect">
            <a:avLst>
              <a:gd name="adj" fmla="val 2667"/>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1" name="Text 9"/>
          <p:cNvSpPr txBox="1"/>
          <p:nvPr/>
        </p:nvSpPr>
        <p:spPr>
          <a:xfrm>
            <a:off x="7406640" y="4389120"/>
            <a:ext cx="402336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for VAR in LIST; do … done</a:t>
            </a:r>
            <a:endParaRPr lang="en-US" sz="1500" dirty="0"/>
          </a:p>
        </p:txBody>
      </p:sp>
      <p:sp>
        <p:nvSpPr>
          <p:cNvPr id="12" name="Text 10"/>
          <p:cNvSpPr txBox="1"/>
          <p:nvPr/>
        </p:nvSpPr>
        <p:spPr>
          <a:xfrm>
            <a:off x="7406640" y="4846320"/>
            <a:ext cx="4023360" cy="1280160"/>
          </a:xfrm>
          <a:prstGeom prst="rect">
            <a:avLst/>
          </a:prstGeom>
          <a:noFill/>
          <a:ln/>
        </p:spPr>
        <p:txBody>
          <a:bodyPr wrap="square" lIns="0" tIns="0" rIns="0" bIns="0" rtlCol="0" anchor="t"/>
          <a:lstStyle/>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List of words:</a:t>
            </a:r>
            <a:r>
              <a:rPr lang="en-US" sz="1350" dirty="0">
                <a:solidFill>
                  <a:srgbClr val="3A464C"/>
                </a:solidFill>
                <a:latin typeface="Calibri" pitchFamily="34" charset="0"/>
                <a:ea typeface="Calibri" pitchFamily="34" charset="-122"/>
                <a:cs typeface="Calibri" pitchFamily="34" charset="-120"/>
              </a:rPr>
              <a:t> written out, or "$@".</a:t>
            </a:r>
            <a:endParaRPr lang="en-US" sz="1350" dirty="0"/>
          </a:p>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{1..5}:</a:t>
            </a:r>
            <a:r>
              <a:rPr lang="en-US" sz="1350" dirty="0">
                <a:solidFill>
                  <a:srgbClr val="3A464C"/>
                </a:solidFill>
                <a:latin typeface="Calibri" pitchFamily="34" charset="0"/>
                <a:ea typeface="Calibri" pitchFamily="34" charset="-122"/>
                <a:cs typeface="Calibri" pitchFamily="34" charset="-120"/>
              </a:rPr>
              <a:t> brace expansion → 1 2 3 4 5 (Week 10).</a:t>
            </a:r>
            <a:endParaRPr lang="en-US" sz="1350" dirty="0"/>
          </a:p>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*.txt:</a:t>
            </a:r>
            <a:r>
              <a:rPr lang="en-US" sz="1350" dirty="0">
                <a:solidFill>
                  <a:srgbClr val="3A464C"/>
                </a:solidFill>
                <a:latin typeface="Calibri" pitchFamily="34" charset="0"/>
                <a:ea typeface="Calibri" pitchFamily="34" charset="-122"/>
                <a:cs typeface="Calibri" pitchFamily="34" charset="-120"/>
              </a:rPr>
              <a:t> the shell expands the wildcard to the matching file names — safe even with spaces, if you write "$f".</a:t>
            </a:r>
            <a:endParaRPr lang="en-US" sz="1350" dirty="0"/>
          </a:p>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Also:</a:t>
            </a:r>
            <a:r>
              <a:rPr lang="en-US" sz="1350" dirty="0">
                <a:solidFill>
                  <a:srgbClr val="3A464C"/>
                </a:solidFill>
                <a:latin typeface="Calibri" pitchFamily="34" charset="0"/>
                <a:ea typeface="Calibri" pitchFamily="34" charset="-122"/>
                <a:cs typeface="Calibri" pitchFamily="34" charset="-120"/>
              </a:rPr>
              <a:t> $(command) as the list, e.g. for u in $(cut -d, -f3 file).</a:t>
            </a:r>
            <a:endParaRPr lang="en-US" sz="13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WHILE LOOPS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while: Repeat as Long as a Test Succeeds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14  ·  27</a:t>
            </a:r>
            <a:endParaRPr lang="en-US" sz="900" dirty="0"/>
          </a:p>
        </p:txBody>
      </p:sp>
      <p:sp>
        <p:nvSpPr>
          <p:cNvPr id="6" name="Shape 4"/>
          <p:cNvSpPr/>
          <p:nvPr/>
        </p:nvSpPr>
        <p:spPr>
          <a:xfrm>
            <a:off x="548640" y="1508760"/>
            <a:ext cx="6949440" cy="3291840"/>
          </a:xfrm>
          <a:prstGeom prst="roundRect">
            <a:avLst>
              <a:gd name="adj" fmla="val 1389"/>
            </a:avLst>
          </a:prstGeom>
          <a:solidFill>
            <a:srgbClr val="212121"/>
          </a:solidFill>
          <a:ln/>
        </p:spPr>
        <p:txBody>
          <a:bodyPr/>
          <a:p/>
        </p:txBody>
      </p:sp>
      <p:sp>
        <p:nvSpPr>
          <p:cNvPr id="7" name="Text 5"/>
          <p:cNvSpPr txBox="1"/>
          <p:nvPr/>
        </p:nvSpPr>
        <p:spPr>
          <a:xfrm>
            <a:off x="731520" y="1618488"/>
            <a:ext cx="6583680" cy="3072384"/>
          </a:xfrm>
          <a:prstGeom prst="rect">
            <a:avLst/>
          </a:prstGeom>
          <a:noFill/>
          <a:ln/>
        </p:spPr>
        <p:txBody>
          <a:bodyPr wrap="square" lIns="0" tIns="0" rIns="0" bIns="0" rtlCol="0" anchor="t"/>
          <a:lstStyle/>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n=3</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while [ "$n" -gt 0 ]; do</a:t>
            </a:r>
            <a:r>
              <a:rPr lang="en-US" sz="1050" dirty="0">
                <a:solidFill>
                  <a:srgbClr val="8A9AA0"/>
                </a:solidFill>
                <a:latin typeface="Consolas" pitchFamily="34" charset="0"/>
                <a:ea typeface="Consolas" pitchFamily="34" charset="-122"/>
                <a:cs typeface="Consolas" pitchFamily="34" charset="-120"/>
              </a:rPr>
              <a:t>                     # repeat WHILE the test is true</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    echo "Countdown: $n"</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    n=$((n - 1))</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done</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echo "Go!"</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 </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sum=0</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count=0</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while read -r x; do</a:t>
            </a:r>
            <a:r>
              <a:rPr lang="en-US" sz="1050" dirty="0">
                <a:solidFill>
                  <a:srgbClr val="8A9AA0"/>
                </a:solidFill>
                <a:latin typeface="Consolas" pitchFamily="34" charset="0"/>
                <a:ea typeface="Consolas" pitchFamily="34" charset="-122"/>
                <a:cs typeface="Consolas" pitchFamily="34" charset="-120"/>
              </a:rPr>
              <a:t>                          # one line of the file per turn</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    sum=$((sum + x))</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    count=$((count + 1))</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done &lt; ~/lab/data/numbers.txt</a:t>
            </a:r>
            <a:r>
              <a:rPr lang="en-US" sz="1050" dirty="0">
                <a:solidFill>
                  <a:srgbClr val="8A9AA0"/>
                </a:solidFill>
                <a:latin typeface="Consolas" pitchFamily="34" charset="0"/>
                <a:ea typeface="Consolas" pitchFamily="34" charset="-122"/>
                <a:cs typeface="Consolas" pitchFamily="34" charset="-120"/>
              </a:rPr>
              <a:t>                # the whole loop reads this file</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echo "$count numbers, sum = $sum, average = $((sum / count)) (integer)"</a:t>
            </a:r>
            <a:endParaRPr lang="en-US" sz="1050" dirty="0"/>
          </a:p>
        </p:txBody>
      </p:sp>
      <p:sp>
        <p:nvSpPr>
          <p:cNvPr id="8" name="Shape 6"/>
          <p:cNvSpPr/>
          <p:nvPr/>
        </p:nvSpPr>
        <p:spPr>
          <a:xfrm>
            <a:off x="548640" y="4983480"/>
            <a:ext cx="6949440" cy="1280160"/>
          </a:xfrm>
          <a:prstGeom prst="roundRect">
            <a:avLst>
              <a:gd name="adj" fmla="val 3571"/>
            </a:avLst>
          </a:prstGeom>
          <a:solidFill>
            <a:srgbClr val="212121"/>
          </a:solidFill>
          <a:ln/>
        </p:spPr>
        <p:txBody>
          <a:bodyPr/>
          <a:p/>
        </p:txBody>
      </p:sp>
      <p:sp>
        <p:nvSpPr>
          <p:cNvPr id="9" name="Text 7"/>
          <p:cNvSpPr txBox="1"/>
          <p:nvPr/>
        </p:nvSpPr>
        <p:spPr>
          <a:xfrm>
            <a:off x="731520" y="5093208"/>
            <a:ext cx="6583680" cy="1060704"/>
          </a:xfrm>
          <a:prstGeom prst="rect">
            <a:avLst/>
          </a:prstGeom>
          <a:noFill/>
          <a:ln/>
        </p:spPr>
        <p:txBody>
          <a:bodyPr wrap="square" lIns="0" tIns="0" rIns="0" bIns="0" rtlCol="0" anchor="t"/>
          <a:lstStyle/>
          <a:p>
            <a:pPr indent="0" marL="0">
              <a:lnSpc>
                <a:spcPct val="100000"/>
              </a:lnSpc>
              <a:buNone/>
            </a:pPr>
            <a:r>
              <a:rPr lang="en-US" sz="1050" dirty="0">
                <a:solidFill>
                  <a:srgbClr val="02C39A"/>
                </a:solidFill>
                <a:latin typeface="Consolas" pitchFamily="34" charset="0"/>
                <a:ea typeface="Consolas" pitchFamily="34" charset="-122"/>
                <a:cs typeface="Consolas" pitchFamily="34" charset="-120"/>
              </a:rPr>
              <a:t>student@okan-lab:~/lab/scripts$ </a:t>
            </a:r>
            <a:r>
              <a:rPr lang="en-US" sz="1050" b="1" dirty="0">
                <a:solidFill>
                  <a:srgbClr val="FFFFFF"/>
                </a:solidFill>
                <a:latin typeface="Consolas" pitchFamily="34" charset="0"/>
                <a:ea typeface="Consolas" pitchFamily="34" charset="-122"/>
                <a:cs typeface="Consolas" pitchFamily="34" charset="-120"/>
              </a:rPr>
              <a:t>./while.sh</a:t>
            </a:r>
            <a:endParaRPr lang="en-US" sz="1050" dirty="0"/>
          </a:p>
          <a:p>
            <a:pPr indent="0" marL="0">
              <a:lnSpc>
                <a:spcPct val="100000"/>
              </a:lnSpc>
              <a:buNone/>
            </a:pPr>
            <a:r>
              <a:rPr lang="en-US" sz="1050" dirty="0">
                <a:solidFill>
                  <a:srgbClr val="C9D1D3"/>
                </a:solidFill>
                <a:latin typeface="Consolas" pitchFamily="34" charset="0"/>
                <a:ea typeface="Consolas" pitchFamily="34" charset="-122"/>
                <a:cs typeface="Consolas" pitchFamily="34" charset="-120"/>
              </a:rPr>
              <a:t>Countdown: 3</a:t>
            </a:r>
            <a:endParaRPr lang="en-US" sz="1050" dirty="0"/>
          </a:p>
          <a:p>
            <a:pPr indent="0" marL="0">
              <a:lnSpc>
                <a:spcPct val="100000"/>
              </a:lnSpc>
              <a:buNone/>
            </a:pPr>
            <a:r>
              <a:rPr lang="en-US" sz="1050" dirty="0">
                <a:solidFill>
                  <a:srgbClr val="C9D1D3"/>
                </a:solidFill>
                <a:latin typeface="Consolas" pitchFamily="34" charset="0"/>
                <a:ea typeface="Consolas" pitchFamily="34" charset="-122"/>
                <a:cs typeface="Consolas" pitchFamily="34" charset="-120"/>
              </a:rPr>
              <a:t>Countdown: 2</a:t>
            </a:r>
            <a:endParaRPr lang="en-US" sz="1050" dirty="0"/>
          </a:p>
          <a:p>
            <a:pPr indent="0" marL="0">
              <a:lnSpc>
                <a:spcPct val="100000"/>
              </a:lnSpc>
              <a:buNone/>
            </a:pPr>
            <a:r>
              <a:rPr lang="en-US" sz="1050" dirty="0">
                <a:solidFill>
                  <a:srgbClr val="C9D1D3"/>
                </a:solidFill>
                <a:latin typeface="Consolas" pitchFamily="34" charset="0"/>
                <a:ea typeface="Consolas" pitchFamily="34" charset="-122"/>
                <a:cs typeface="Consolas" pitchFamily="34" charset="-120"/>
              </a:rPr>
              <a:t>Countdown: 1</a:t>
            </a:r>
            <a:endParaRPr lang="en-US" sz="1050" dirty="0"/>
          </a:p>
          <a:p>
            <a:pPr indent="0" marL="0">
              <a:lnSpc>
                <a:spcPct val="100000"/>
              </a:lnSpc>
              <a:buNone/>
            </a:pPr>
            <a:r>
              <a:rPr lang="en-US" sz="1050" dirty="0">
                <a:solidFill>
                  <a:srgbClr val="C9D1D3"/>
                </a:solidFill>
                <a:latin typeface="Consolas" pitchFamily="34" charset="0"/>
                <a:ea typeface="Consolas" pitchFamily="34" charset="-122"/>
                <a:cs typeface="Consolas" pitchFamily="34" charset="-120"/>
              </a:rPr>
              <a:t>Go!</a:t>
            </a:r>
            <a:endParaRPr lang="en-US" sz="1050" dirty="0"/>
          </a:p>
          <a:p>
            <a:pPr indent="0" marL="0">
              <a:lnSpc>
                <a:spcPct val="100000"/>
              </a:lnSpc>
              <a:buNone/>
            </a:pPr>
            <a:r>
              <a:rPr lang="en-US" sz="1050" dirty="0">
                <a:solidFill>
                  <a:srgbClr val="C9D1D3"/>
                </a:solidFill>
                <a:latin typeface="Consolas" pitchFamily="34" charset="0"/>
                <a:ea typeface="Consolas" pitchFamily="34" charset="-122"/>
                <a:cs typeface="Consolas" pitchFamily="34" charset="-120"/>
              </a:rPr>
              <a:t>20 numbers, sum = 11325, average = 566 (integer)</a:t>
            </a:r>
            <a:endParaRPr lang="en-US" sz="1050" dirty="0"/>
          </a:p>
        </p:txBody>
      </p:sp>
      <p:sp>
        <p:nvSpPr>
          <p:cNvPr id="10" name="Shape 8"/>
          <p:cNvSpPr/>
          <p:nvPr/>
        </p:nvSpPr>
        <p:spPr>
          <a:xfrm>
            <a:off x="7726680" y="1508760"/>
            <a:ext cx="3931920" cy="4754880"/>
          </a:xfrm>
          <a:prstGeom prst="roundRect">
            <a:avLst>
              <a:gd name="adj" fmla="val 139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1" name="Text 9"/>
          <p:cNvSpPr txBox="1"/>
          <p:nvPr/>
        </p:nvSpPr>
        <p:spPr>
          <a:xfrm>
            <a:off x="7955280" y="1691640"/>
            <a:ext cx="347472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Two classic patterns</a:t>
            </a:r>
            <a:endParaRPr lang="en-US" sz="1500" dirty="0"/>
          </a:p>
        </p:txBody>
      </p:sp>
      <p:sp>
        <p:nvSpPr>
          <p:cNvPr id="12" name="Text 10"/>
          <p:cNvSpPr txBox="1"/>
          <p:nvPr/>
        </p:nvSpPr>
        <p:spPr>
          <a:xfrm>
            <a:off x="7955280" y="2148840"/>
            <a:ext cx="3474720" cy="3977640"/>
          </a:xfrm>
          <a:prstGeom prst="rect">
            <a:avLst/>
          </a:prstGeom>
          <a:noFill/>
          <a:ln/>
        </p:spPr>
        <p:txBody>
          <a:bodyPr wrap="square" lIns="0" tIns="0" rIns="0" bIns="0" rtlCol="0" anchor="t"/>
          <a:lstStyle/>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Counter:</a:t>
            </a:r>
            <a:r>
              <a:rPr lang="en-US" sz="1350" dirty="0">
                <a:solidFill>
                  <a:srgbClr val="3A464C"/>
                </a:solidFill>
                <a:latin typeface="Calibri" pitchFamily="34" charset="0"/>
                <a:ea typeface="Calibri" pitchFamily="34" charset="-122"/>
                <a:cs typeface="Calibri" pitchFamily="34" charset="-120"/>
              </a:rPr>
              <a:t> change the variable inside the loop — forget n=$((n - 1)) and the loop never ends (Ctrl+C, Week 13).</a:t>
            </a:r>
            <a:endParaRPr lang="en-US" sz="1350" dirty="0"/>
          </a:p>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Read a file:</a:t>
            </a:r>
            <a:r>
              <a:rPr lang="en-US" sz="1350" dirty="0">
                <a:solidFill>
                  <a:srgbClr val="3A464C"/>
                </a:solidFill>
                <a:latin typeface="Calibri" pitchFamily="34" charset="0"/>
                <a:ea typeface="Calibri" pitchFamily="34" charset="-122"/>
                <a:cs typeface="Calibri" pitchFamily="34" charset="-120"/>
              </a:rPr>
              <a:t> while read -r line; do … done &lt; file reads one line per turn; read fails at end of file and the loop stops.</a:t>
            </a:r>
            <a:endParaRPr lang="en-US" sz="1350" dirty="0"/>
          </a:p>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Check:</a:t>
            </a:r>
            <a:r>
              <a:rPr lang="en-US" sz="1350" dirty="0">
                <a:solidFill>
                  <a:srgbClr val="3A464C"/>
                </a:solidFill>
                <a:latin typeface="Calibri" pitchFamily="34" charset="0"/>
                <a:ea typeface="Calibri" pitchFamily="34" charset="-122"/>
                <a:cs typeface="Calibri" pitchFamily="34" charset="-120"/>
              </a:rPr>
              <a:t> 11325 / 20 = 566.25, bash prints 566.</a:t>
            </a:r>
            <a:endParaRPr lang="en-US" sz="13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FUNCTIONS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Functions: Name a Block of Commands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14  ·  28</a:t>
            </a:r>
            <a:endParaRPr lang="en-US" sz="900" dirty="0"/>
          </a:p>
        </p:txBody>
      </p:sp>
      <p:sp>
        <p:nvSpPr>
          <p:cNvPr id="6" name="Shape 4"/>
          <p:cNvSpPr/>
          <p:nvPr/>
        </p:nvSpPr>
        <p:spPr>
          <a:xfrm>
            <a:off x="548640" y="1508760"/>
            <a:ext cx="6172200" cy="4754880"/>
          </a:xfrm>
          <a:prstGeom prst="roundRect">
            <a:avLst>
              <a:gd name="adj" fmla="val 962"/>
            </a:avLst>
          </a:prstGeom>
          <a:solidFill>
            <a:srgbClr val="212121"/>
          </a:solidFill>
          <a:ln/>
        </p:spPr>
        <p:txBody>
          <a:bodyPr/>
          <a:p/>
        </p:txBody>
      </p:sp>
      <p:sp>
        <p:nvSpPr>
          <p:cNvPr id="7" name="Text 5"/>
          <p:cNvSpPr txBox="1"/>
          <p:nvPr/>
        </p:nvSpPr>
        <p:spPr>
          <a:xfrm>
            <a:off x="731520" y="1618488"/>
            <a:ext cx="5806440" cy="4535424"/>
          </a:xfrm>
          <a:prstGeom prst="rect">
            <a:avLst/>
          </a:prstGeom>
          <a:noFill/>
          <a:ln/>
        </p:spPr>
        <p:txBody>
          <a:bodyPr wrap="square" lIns="0" tIns="0" rIns="0" bIns="0" rtlCol="0" anchor="t"/>
          <a:lstStyle/>
          <a:p>
            <a:pPr indent="0" marL="0">
              <a:lnSpc>
                <a:spcPct val="100000"/>
              </a:lnSpc>
              <a:buNone/>
            </a:pPr>
            <a:r>
              <a:rPr lang="en-US" sz="1000" dirty="0">
                <a:solidFill>
                  <a:srgbClr val="F2F2F2"/>
                </a:solidFill>
                <a:latin typeface="Consolas" pitchFamily="34" charset="0"/>
                <a:ea typeface="Consolas" pitchFamily="34" charset="-122"/>
                <a:cs typeface="Consolas" pitchFamily="34" charset="-120"/>
              </a:rPr>
              <a:t>line() {</a:t>
            </a:r>
            <a:r>
              <a:rPr lang="en-US" sz="1000" dirty="0">
                <a:solidFill>
                  <a:srgbClr val="8A9AA0"/>
                </a:solidFill>
                <a:latin typeface="Consolas" pitchFamily="34" charset="0"/>
                <a:ea typeface="Consolas" pitchFamily="34" charset="-122"/>
                <a:cs typeface="Consolas" pitchFamily="34" charset="-120"/>
              </a:rPr>
              <a:t>                                  # no arguments</a:t>
            </a:r>
            <a:endParaRPr lang="en-US" sz="1000" dirty="0"/>
          </a:p>
          <a:p>
            <a:pPr indent="0" marL="0">
              <a:lnSpc>
                <a:spcPct val="100000"/>
              </a:lnSpc>
              <a:buNone/>
            </a:pPr>
            <a:r>
              <a:rPr lang="en-US" sz="1000" dirty="0">
                <a:solidFill>
                  <a:srgbClr val="F2F2F2"/>
                </a:solidFill>
                <a:latin typeface="Consolas" pitchFamily="34" charset="0"/>
                <a:ea typeface="Consolas" pitchFamily="34" charset="-122"/>
                <a:cs typeface="Consolas" pitchFamily="34" charset="-120"/>
              </a:rPr>
              <a:t>    echo "------------------------------------"</a:t>
            </a:r>
            <a:endParaRPr lang="en-US" sz="1000" dirty="0"/>
          </a:p>
          <a:p>
            <a:pPr indent="0" marL="0">
              <a:lnSpc>
                <a:spcPct val="100000"/>
              </a:lnSpc>
              <a:buNone/>
            </a:pPr>
            <a:r>
              <a:rPr lang="en-US" sz="1000" dirty="0">
                <a:solidFill>
                  <a:srgbClr val="F2F2F2"/>
                </a:solidFill>
                <a:latin typeface="Consolas" pitchFamily="34" charset="0"/>
                <a:ea typeface="Consolas" pitchFamily="34" charset="-122"/>
                <a:cs typeface="Consolas" pitchFamily="34" charset="-120"/>
              </a:rPr>
              <a:t>}</a:t>
            </a:r>
            <a:endParaRPr lang="en-US" sz="1000" dirty="0"/>
          </a:p>
          <a:p>
            <a:pPr indent="0" marL="0">
              <a:lnSpc>
                <a:spcPct val="100000"/>
              </a:lnSpc>
              <a:buNone/>
            </a:pPr>
            <a:r>
              <a:rPr lang="en-US" sz="1000" dirty="0">
                <a:solidFill>
                  <a:srgbClr val="F2F2F2"/>
                </a:solidFill>
                <a:latin typeface="Consolas" pitchFamily="34" charset="0"/>
                <a:ea typeface="Consolas" pitchFamily="34" charset="-122"/>
                <a:cs typeface="Consolas" pitchFamily="34" charset="-120"/>
              </a:rPr>
              <a:t>count_word() {</a:t>
            </a:r>
            <a:r>
              <a:rPr lang="en-US" sz="1000" dirty="0">
                <a:solidFill>
                  <a:srgbClr val="8A9AA0"/>
                </a:solidFill>
                <a:latin typeface="Consolas" pitchFamily="34" charset="0"/>
                <a:ea typeface="Consolas" pitchFamily="34" charset="-122"/>
                <a:cs typeface="Consolas" pitchFamily="34" charset="-120"/>
              </a:rPr>
              <a:t>                            # $1 = word, $2 = file</a:t>
            </a:r>
            <a:endParaRPr lang="en-US" sz="1000" dirty="0"/>
          </a:p>
          <a:p>
            <a:pPr indent="0" marL="0">
              <a:lnSpc>
                <a:spcPct val="100000"/>
              </a:lnSpc>
              <a:buNone/>
            </a:pPr>
            <a:r>
              <a:rPr lang="en-US" sz="1000" dirty="0">
                <a:solidFill>
                  <a:srgbClr val="F2F2F2"/>
                </a:solidFill>
                <a:latin typeface="Consolas" pitchFamily="34" charset="0"/>
                <a:ea typeface="Consolas" pitchFamily="34" charset="-122"/>
                <a:cs typeface="Consolas" pitchFamily="34" charset="-120"/>
              </a:rPr>
              <a:t>    local n</a:t>
            </a:r>
            <a:r>
              <a:rPr lang="en-US" sz="1000" dirty="0">
                <a:solidFill>
                  <a:srgbClr val="8A9AA0"/>
                </a:solidFill>
                <a:latin typeface="Consolas" pitchFamily="34" charset="0"/>
                <a:ea typeface="Consolas" pitchFamily="34" charset="-122"/>
                <a:cs typeface="Consolas" pitchFamily="34" charset="-120"/>
              </a:rPr>
              <a:t>                               # local: exists only in here</a:t>
            </a:r>
            <a:endParaRPr lang="en-US" sz="1000" dirty="0"/>
          </a:p>
          <a:p>
            <a:pPr indent="0" marL="0">
              <a:lnSpc>
                <a:spcPct val="100000"/>
              </a:lnSpc>
              <a:buNone/>
            </a:pPr>
            <a:r>
              <a:rPr lang="en-US" sz="1000" dirty="0">
                <a:solidFill>
                  <a:srgbClr val="F2F2F2"/>
                </a:solidFill>
                <a:latin typeface="Consolas" pitchFamily="34" charset="0"/>
                <a:ea typeface="Consolas" pitchFamily="34" charset="-122"/>
                <a:cs typeface="Consolas" pitchFamily="34" charset="-120"/>
              </a:rPr>
              <a:t>    n=$(grep -c -- "$1" "$2")</a:t>
            </a:r>
            <a:endParaRPr lang="en-US" sz="1000" dirty="0"/>
          </a:p>
          <a:p>
            <a:pPr indent="0" marL="0">
              <a:lnSpc>
                <a:spcPct val="100000"/>
              </a:lnSpc>
              <a:buNone/>
            </a:pPr>
            <a:r>
              <a:rPr lang="en-US" sz="1000" dirty="0">
                <a:solidFill>
                  <a:srgbClr val="F2F2F2"/>
                </a:solidFill>
                <a:latin typeface="Consolas" pitchFamily="34" charset="0"/>
                <a:ea typeface="Consolas" pitchFamily="34" charset="-122"/>
                <a:cs typeface="Consolas" pitchFamily="34" charset="-120"/>
              </a:rPr>
              <a:t>    echo "$1 appears on $n lines of $(basename "$2")"</a:t>
            </a:r>
            <a:endParaRPr lang="en-US" sz="1000" dirty="0"/>
          </a:p>
          <a:p>
            <a:pPr indent="0" marL="0">
              <a:lnSpc>
                <a:spcPct val="100000"/>
              </a:lnSpc>
              <a:buNone/>
            </a:pPr>
            <a:r>
              <a:rPr lang="en-US" sz="1000" dirty="0">
                <a:solidFill>
                  <a:srgbClr val="F2F2F2"/>
                </a:solidFill>
                <a:latin typeface="Consolas" pitchFamily="34" charset="0"/>
                <a:ea typeface="Consolas" pitchFamily="34" charset="-122"/>
                <a:cs typeface="Consolas" pitchFamily="34" charset="-120"/>
              </a:rPr>
              <a:t>}</a:t>
            </a:r>
            <a:endParaRPr lang="en-US" sz="1000" dirty="0"/>
          </a:p>
          <a:p>
            <a:pPr indent="0" marL="0">
              <a:lnSpc>
                <a:spcPct val="100000"/>
              </a:lnSpc>
              <a:buNone/>
            </a:pPr>
            <a:r>
              <a:rPr lang="en-US" sz="1000" dirty="0">
                <a:solidFill>
                  <a:srgbClr val="F2F2F2"/>
                </a:solidFill>
                <a:latin typeface="Consolas" pitchFamily="34" charset="0"/>
                <a:ea typeface="Consolas" pitchFamily="34" charset="-122"/>
                <a:cs typeface="Consolas" pitchFamily="34" charset="-120"/>
              </a:rPr>
              <a:t>is_even() {</a:t>
            </a:r>
            <a:r>
              <a:rPr lang="en-US" sz="1000" dirty="0">
                <a:solidFill>
                  <a:srgbClr val="8A9AA0"/>
                </a:solidFill>
                <a:latin typeface="Consolas" pitchFamily="34" charset="0"/>
                <a:ea typeface="Consolas" pitchFamily="34" charset="-122"/>
                <a:cs typeface="Consolas" pitchFamily="34" charset="-120"/>
              </a:rPr>
              <a:t>                               # the exit status is the answer</a:t>
            </a:r>
            <a:endParaRPr lang="en-US" sz="1000" dirty="0"/>
          </a:p>
          <a:p>
            <a:pPr indent="0" marL="0">
              <a:lnSpc>
                <a:spcPct val="100000"/>
              </a:lnSpc>
              <a:buNone/>
            </a:pPr>
            <a:r>
              <a:rPr lang="en-US" sz="1000" dirty="0">
                <a:solidFill>
                  <a:srgbClr val="F2F2F2"/>
                </a:solidFill>
                <a:latin typeface="Consolas" pitchFamily="34" charset="0"/>
                <a:ea typeface="Consolas" pitchFamily="34" charset="-122"/>
                <a:cs typeface="Consolas" pitchFamily="34" charset="-120"/>
              </a:rPr>
              <a:t>    [ $(( $1 % 2 )) -eq 0 ]</a:t>
            </a:r>
            <a:endParaRPr lang="en-US" sz="1000" dirty="0"/>
          </a:p>
          <a:p>
            <a:pPr indent="0" marL="0">
              <a:lnSpc>
                <a:spcPct val="100000"/>
              </a:lnSpc>
              <a:buNone/>
            </a:pPr>
            <a:r>
              <a:rPr lang="en-US" sz="1000" dirty="0">
                <a:solidFill>
                  <a:srgbClr val="F2F2F2"/>
                </a:solidFill>
                <a:latin typeface="Consolas" pitchFamily="34" charset="0"/>
                <a:ea typeface="Consolas" pitchFamily="34" charset="-122"/>
                <a:cs typeface="Consolas" pitchFamily="34" charset="-120"/>
              </a:rPr>
              <a:t>}</a:t>
            </a:r>
            <a:endParaRPr lang="en-US" sz="1000" dirty="0"/>
          </a:p>
          <a:p>
            <a:pPr indent="0" marL="0">
              <a:lnSpc>
                <a:spcPct val="100000"/>
              </a:lnSpc>
              <a:buNone/>
            </a:pPr>
            <a:r>
              <a:rPr lang="en-US" sz="1000" dirty="0">
                <a:solidFill>
                  <a:srgbClr val="F2F2F2"/>
                </a:solidFill>
                <a:latin typeface="Consolas" pitchFamily="34" charset="0"/>
                <a:ea typeface="Consolas" pitchFamily="34" charset="-122"/>
                <a:cs typeface="Consolas" pitchFamily="34" charset="-120"/>
              </a:rPr>
              <a:t>line</a:t>
            </a:r>
            <a:endParaRPr lang="en-US" sz="1000" dirty="0"/>
          </a:p>
          <a:p>
            <a:pPr indent="0" marL="0">
              <a:lnSpc>
                <a:spcPct val="100000"/>
              </a:lnSpc>
              <a:buNone/>
            </a:pPr>
            <a:r>
              <a:rPr lang="en-US" sz="1000" dirty="0">
                <a:solidFill>
                  <a:srgbClr val="F2F2F2"/>
                </a:solidFill>
                <a:latin typeface="Consolas" pitchFamily="34" charset="0"/>
                <a:ea typeface="Consolas" pitchFamily="34" charset="-122"/>
                <a:cs typeface="Consolas" pitchFamily="34" charset="-120"/>
              </a:rPr>
              <a:t>count_word ERROR ~/lab/logs/system.log</a:t>
            </a:r>
            <a:endParaRPr lang="en-US" sz="1000" dirty="0"/>
          </a:p>
          <a:p>
            <a:pPr indent="0" marL="0">
              <a:lnSpc>
                <a:spcPct val="100000"/>
              </a:lnSpc>
              <a:buNone/>
            </a:pPr>
            <a:r>
              <a:rPr lang="en-US" sz="1000" dirty="0">
                <a:solidFill>
                  <a:srgbClr val="F2F2F2"/>
                </a:solidFill>
                <a:latin typeface="Consolas" pitchFamily="34" charset="0"/>
                <a:ea typeface="Consolas" pitchFamily="34" charset="-122"/>
                <a:cs typeface="Consolas" pitchFamily="34" charset="-120"/>
              </a:rPr>
              <a:t>count_word WARN  ~/lab/logs/system.log</a:t>
            </a:r>
            <a:endParaRPr lang="en-US" sz="1000" dirty="0"/>
          </a:p>
          <a:p>
            <a:pPr indent="0" marL="0">
              <a:lnSpc>
                <a:spcPct val="100000"/>
              </a:lnSpc>
              <a:buNone/>
            </a:pPr>
            <a:r>
              <a:rPr lang="en-US" sz="1000" dirty="0">
                <a:solidFill>
                  <a:srgbClr val="F2F2F2"/>
                </a:solidFill>
                <a:latin typeface="Consolas" pitchFamily="34" charset="0"/>
                <a:ea typeface="Consolas" pitchFamily="34" charset="-122"/>
                <a:cs typeface="Consolas" pitchFamily="34" charset="-120"/>
              </a:rPr>
              <a:t>line</a:t>
            </a:r>
            <a:endParaRPr lang="en-US" sz="1000" dirty="0"/>
          </a:p>
          <a:p>
            <a:pPr indent="0" marL="0">
              <a:lnSpc>
                <a:spcPct val="100000"/>
              </a:lnSpc>
              <a:buNone/>
            </a:pPr>
            <a:r>
              <a:rPr lang="en-US" sz="1000" dirty="0">
                <a:solidFill>
                  <a:srgbClr val="F2F2F2"/>
                </a:solidFill>
                <a:latin typeface="Consolas" pitchFamily="34" charset="0"/>
                <a:ea typeface="Consolas" pitchFamily="34" charset="-122"/>
                <a:cs typeface="Consolas" pitchFamily="34" charset="-120"/>
              </a:rPr>
              <a:t>for k in 7 12; do</a:t>
            </a:r>
            <a:endParaRPr lang="en-US" sz="1000" dirty="0"/>
          </a:p>
          <a:p>
            <a:pPr indent="0" marL="0">
              <a:lnSpc>
                <a:spcPct val="100000"/>
              </a:lnSpc>
              <a:buNone/>
            </a:pPr>
            <a:r>
              <a:rPr lang="en-US" sz="1000" dirty="0">
                <a:solidFill>
                  <a:srgbClr val="F2F2F2"/>
                </a:solidFill>
                <a:latin typeface="Consolas" pitchFamily="34" charset="0"/>
                <a:ea typeface="Consolas" pitchFamily="34" charset="-122"/>
                <a:cs typeface="Consolas" pitchFamily="34" charset="-120"/>
              </a:rPr>
              <a:t>    if is_even "$k"; then echo "$k is even"; else echo "$k is odd"; fi</a:t>
            </a:r>
            <a:endParaRPr lang="en-US" sz="1000" dirty="0"/>
          </a:p>
          <a:p>
            <a:pPr indent="0" marL="0">
              <a:lnSpc>
                <a:spcPct val="100000"/>
              </a:lnSpc>
              <a:buNone/>
            </a:pPr>
            <a:r>
              <a:rPr lang="en-US" sz="1000" dirty="0">
                <a:solidFill>
                  <a:srgbClr val="F2F2F2"/>
                </a:solidFill>
                <a:latin typeface="Consolas" pitchFamily="34" charset="0"/>
                <a:ea typeface="Consolas" pitchFamily="34" charset="-122"/>
                <a:cs typeface="Consolas" pitchFamily="34" charset="-120"/>
              </a:rPr>
              <a:t>done</a:t>
            </a:r>
            <a:endParaRPr lang="en-US" sz="1000" dirty="0"/>
          </a:p>
        </p:txBody>
      </p:sp>
      <p:sp>
        <p:nvSpPr>
          <p:cNvPr id="8" name="Shape 6"/>
          <p:cNvSpPr/>
          <p:nvPr/>
        </p:nvSpPr>
        <p:spPr>
          <a:xfrm>
            <a:off x="6949440" y="1508760"/>
            <a:ext cx="4709160" cy="2011680"/>
          </a:xfrm>
          <a:prstGeom prst="roundRect">
            <a:avLst>
              <a:gd name="adj" fmla="val 2273"/>
            </a:avLst>
          </a:prstGeom>
          <a:solidFill>
            <a:srgbClr val="212121"/>
          </a:solidFill>
          <a:ln/>
        </p:spPr>
        <p:txBody>
          <a:bodyPr/>
          <a:p/>
        </p:txBody>
      </p:sp>
      <p:sp>
        <p:nvSpPr>
          <p:cNvPr id="9" name="Text 7"/>
          <p:cNvSpPr txBox="1"/>
          <p:nvPr/>
        </p:nvSpPr>
        <p:spPr>
          <a:xfrm>
            <a:off x="7132320" y="1618488"/>
            <a:ext cx="4343400" cy="1792224"/>
          </a:xfrm>
          <a:prstGeom prst="rect">
            <a:avLst/>
          </a:prstGeom>
          <a:noFill/>
          <a:ln/>
        </p:spPr>
        <p:txBody>
          <a:bodyPr wrap="square" lIns="0" tIns="0" rIns="0" bIns="0" rtlCol="0" anchor="t"/>
          <a:lstStyle/>
          <a:p>
            <a:pPr indent="0" marL="0">
              <a:lnSpc>
                <a:spcPct val="100000"/>
              </a:lnSpc>
              <a:buNone/>
            </a:pPr>
            <a:r>
              <a:rPr lang="en-US" sz="1150" dirty="0">
                <a:solidFill>
                  <a:srgbClr val="02C39A"/>
                </a:solidFill>
                <a:latin typeface="Consolas" pitchFamily="34" charset="0"/>
                <a:ea typeface="Consolas" pitchFamily="34" charset="-122"/>
                <a:cs typeface="Consolas" pitchFamily="34" charset="-120"/>
              </a:rPr>
              <a:t>student@okan-lab:~/lab/scripts$ </a:t>
            </a:r>
            <a:r>
              <a:rPr lang="en-US" sz="1150" b="1" dirty="0">
                <a:solidFill>
                  <a:srgbClr val="FFFFFF"/>
                </a:solidFill>
                <a:latin typeface="Consolas" pitchFamily="34" charset="0"/>
                <a:ea typeface="Consolas" pitchFamily="34" charset="-122"/>
                <a:cs typeface="Consolas" pitchFamily="34" charset="-120"/>
              </a:rPr>
              <a:t>./functions.sh</a:t>
            </a:r>
            <a:endParaRPr lang="en-US" sz="1150" dirty="0"/>
          </a:p>
          <a:p>
            <a:pPr indent="0" marL="0">
              <a:lnSpc>
                <a:spcPct val="100000"/>
              </a:lnSpc>
              <a:buNone/>
            </a:pPr>
            <a:r>
              <a:rPr lang="en-US" sz="1150" dirty="0">
                <a:solidFill>
                  <a:srgbClr val="C9D1D3"/>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C9D1D3"/>
                </a:solidFill>
                <a:latin typeface="Consolas" pitchFamily="34" charset="0"/>
                <a:ea typeface="Consolas" pitchFamily="34" charset="-122"/>
                <a:cs typeface="Consolas" pitchFamily="34" charset="-120"/>
              </a:rPr>
              <a:t>ERROR appears on 13 lines of system.log</a:t>
            </a:r>
            <a:endParaRPr lang="en-US" sz="1150" dirty="0"/>
          </a:p>
          <a:p>
            <a:pPr indent="0" marL="0">
              <a:lnSpc>
                <a:spcPct val="100000"/>
              </a:lnSpc>
              <a:buNone/>
            </a:pPr>
            <a:r>
              <a:rPr lang="en-US" sz="1150" dirty="0">
                <a:solidFill>
                  <a:srgbClr val="C9D1D3"/>
                </a:solidFill>
                <a:latin typeface="Consolas" pitchFamily="34" charset="0"/>
                <a:ea typeface="Consolas" pitchFamily="34" charset="-122"/>
                <a:cs typeface="Consolas" pitchFamily="34" charset="-120"/>
              </a:rPr>
              <a:t>WARN appears on 28 lines of system.log</a:t>
            </a:r>
            <a:endParaRPr lang="en-US" sz="1150" dirty="0"/>
          </a:p>
          <a:p>
            <a:pPr indent="0" marL="0">
              <a:lnSpc>
                <a:spcPct val="100000"/>
              </a:lnSpc>
              <a:buNone/>
            </a:pPr>
            <a:r>
              <a:rPr lang="en-US" sz="1150" dirty="0">
                <a:solidFill>
                  <a:srgbClr val="C9D1D3"/>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C9D1D3"/>
                </a:solidFill>
                <a:latin typeface="Consolas" pitchFamily="34" charset="0"/>
                <a:ea typeface="Consolas" pitchFamily="34" charset="-122"/>
                <a:cs typeface="Consolas" pitchFamily="34" charset="-120"/>
              </a:rPr>
              <a:t>7 is odd</a:t>
            </a:r>
            <a:endParaRPr lang="en-US" sz="1150" dirty="0"/>
          </a:p>
          <a:p>
            <a:pPr indent="0" marL="0">
              <a:lnSpc>
                <a:spcPct val="100000"/>
              </a:lnSpc>
              <a:buNone/>
            </a:pPr>
            <a:r>
              <a:rPr lang="en-US" sz="1150" dirty="0">
                <a:solidFill>
                  <a:srgbClr val="C9D1D3"/>
                </a:solidFill>
                <a:latin typeface="Consolas" pitchFamily="34" charset="0"/>
                <a:ea typeface="Consolas" pitchFamily="34" charset="-122"/>
                <a:cs typeface="Consolas" pitchFamily="34" charset="-120"/>
              </a:rPr>
              <a:t>12 is even</a:t>
            </a:r>
            <a:endParaRPr lang="en-US" sz="1150" dirty="0"/>
          </a:p>
        </p:txBody>
      </p:sp>
      <p:sp>
        <p:nvSpPr>
          <p:cNvPr id="10" name="Shape 8"/>
          <p:cNvSpPr/>
          <p:nvPr/>
        </p:nvSpPr>
        <p:spPr>
          <a:xfrm>
            <a:off x="6949440" y="3703320"/>
            <a:ext cx="4709160" cy="2560320"/>
          </a:xfrm>
          <a:prstGeom prst="roundRect">
            <a:avLst>
              <a:gd name="adj" fmla="val 2143"/>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1" name="Text 9"/>
          <p:cNvSpPr txBox="1"/>
          <p:nvPr/>
        </p:nvSpPr>
        <p:spPr>
          <a:xfrm>
            <a:off x="7178040" y="3886200"/>
            <a:ext cx="425196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How they work</a:t>
            </a:r>
            <a:endParaRPr lang="en-US" sz="1500" dirty="0"/>
          </a:p>
        </p:txBody>
      </p:sp>
      <p:sp>
        <p:nvSpPr>
          <p:cNvPr id="12" name="Text 10"/>
          <p:cNvSpPr txBox="1"/>
          <p:nvPr/>
        </p:nvSpPr>
        <p:spPr>
          <a:xfrm>
            <a:off x="7178040" y="4343400"/>
            <a:ext cx="4251960" cy="1783080"/>
          </a:xfrm>
          <a:prstGeom prst="rect">
            <a:avLst/>
          </a:prstGeom>
          <a:noFill/>
          <a:ln/>
        </p:spPr>
        <p:txBody>
          <a:bodyPr wrap="square" lIns="0" tIns="0" rIns="0" bIns="0" rtlCol="0" anchor="t"/>
          <a:lstStyle/>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Define before use: name() { … }</a:t>
            </a:r>
            <a:endParaRPr lang="en-US" sz="1300" dirty="0"/>
          </a:p>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Call like a command: count_word WARN file. Inside, $1 $2 are the function's own arguments.</a:t>
            </a:r>
            <a:endParaRPr lang="en-US" sz="1300" dirty="0"/>
          </a:p>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local keeps a variable private. The exit status of the last command is the function's answer.</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CHEAT SHEET</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Control Structures at a Glance</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14  ·  29</a:t>
            </a:r>
            <a:endParaRPr lang="en-US" sz="9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109960" cy="914400"/>
        </p:xfrm>
        <a:graphic>
          <a:graphicData uri="http://schemas.openxmlformats.org/drawingml/2006/table">
            <a:tbl>
              <a:tblPr/>
              <a:tblGrid>
                <a:gridCol w="1920240"/>
                <a:gridCol w="7498080"/>
                <a:gridCol w="1691640"/>
              </a:tblGrid>
              <a:tr h="0">
                <a:tc>
                  <a:txBody>
                    <a:bodyPr/>
                    <a:lstStyle/>
                    <a:p>
                      <a:pPr indent="0" marL="0">
                        <a:buNone/>
                      </a:pPr>
                      <a:r>
                        <a:rPr lang="en-US" sz="1750" b="1" dirty="0">
                          <a:solidFill>
                            <a:srgbClr val="FFFFFF"/>
                          </a:solidFill>
                          <a:latin typeface="Cambria" pitchFamily="34" charset="0"/>
                          <a:ea typeface="Cambria" pitchFamily="34" charset="-122"/>
                          <a:cs typeface="Cambria" pitchFamily="34" charset="-120"/>
                        </a:rPr>
                        <a:t>Structure</a:t>
                      </a:r>
                      <a:endParaRPr lang="en-US" sz="17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750" b="1" dirty="0">
                          <a:solidFill>
                            <a:srgbClr val="FFFFFF"/>
                          </a:solidFill>
                          <a:latin typeface="Cambria" pitchFamily="34" charset="0"/>
                          <a:ea typeface="Cambria" pitchFamily="34" charset="-122"/>
                          <a:cs typeface="Cambria" pitchFamily="34" charset="-120"/>
                        </a:rPr>
                        <a:t>Syntax (one line)</a:t>
                      </a:r>
                      <a:endParaRPr lang="en-US" sz="17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750" b="1" dirty="0">
                          <a:solidFill>
                            <a:srgbClr val="FFFFFF"/>
                          </a:solidFill>
                          <a:latin typeface="Cambria" pitchFamily="34" charset="0"/>
                          <a:ea typeface="Cambria" pitchFamily="34" charset="-122"/>
                          <a:cs typeface="Cambria" pitchFamily="34" charset="-120"/>
                        </a:rPr>
                        <a:t>Ends with</a:t>
                      </a:r>
                      <a:endParaRPr lang="en-US" sz="17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en-US" sz="1650" b="1" dirty="0">
                          <a:solidFill>
                            <a:srgbClr val="3A464C"/>
                          </a:solidFill>
                          <a:latin typeface="Calibri" pitchFamily="34" charset="0"/>
                          <a:ea typeface="Calibri" pitchFamily="34" charset="-122"/>
                          <a:cs typeface="Calibri" pitchFamily="34" charset="-120"/>
                        </a:rPr>
                        <a:t>if</a:t>
                      </a:r>
                      <a:endParaRPr lang="en-US" sz="16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50" dirty="0">
                          <a:solidFill>
                            <a:srgbClr val="3A464C"/>
                          </a:solidFill>
                          <a:latin typeface="Calibri" pitchFamily="34" charset="0"/>
                          <a:ea typeface="Calibri" pitchFamily="34" charset="-122"/>
                          <a:cs typeface="Calibri" pitchFamily="34" charset="-120"/>
                        </a:rPr>
                        <a:t>if [ "$n" -gt 0 ]; then …; elif …; then …; else …; fi</a:t>
                      </a:r>
                      <a:endParaRPr lang="en-US" sz="16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50" dirty="0">
                          <a:solidFill>
                            <a:srgbClr val="3A464C"/>
                          </a:solidFill>
                          <a:latin typeface="Calibri" pitchFamily="34" charset="0"/>
                          <a:ea typeface="Calibri" pitchFamily="34" charset="-122"/>
                          <a:cs typeface="Calibri" pitchFamily="34" charset="-120"/>
                        </a:rPr>
                        <a:t>fi</a:t>
                      </a:r>
                      <a:endParaRPr lang="en-US" sz="16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650" b="1" dirty="0">
                          <a:solidFill>
                            <a:srgbClr val="3A464C"/>
                          </a:solidFill>
                          <a:latin typeface="Calibri" pitchFamily="34" charset="0"/>
                          <a:ea typeface="Calibri" pitchFamily="34" charset="-122"/>
                          <a:cs typeface="Calibri" pitchFamily="34" charset="-120"/>
                        </a:rPr>
                        <a:t>for (list)</a:t>
                      </a:r>
                      <a:endParaRPr lang="en-US" sz="16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50" dirty="0">
                          <a:solidFill>
                            <a:srgbClr val="3A464C"/>
                          </a:solidFill>
                          <a:latin typeface="Calibri" pitchFamily="34" charset="0"/>
                          <a:ea typeface="Calibri" pitchFamily="34" charset="-122"/>
                          <a:cs typeface="Calibri" pitchFamily="34" charset="-120"/>
                        </a:rPr>
                        <a:t>for f in *.txt; do echo "$f"; done</a:t>
                      </a:r>
                      <a:endParaRPr lang="en-US" sz="16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50" dirty="0">
                          <a:solidFill>
                            <a:srgbClr val="3A464C"/>
                          </a:solidFill>
                          <a:latin typeface="Calibri" pitchFamily="34" charset="0"/>
                          <a:ea typeface="Calibri" pitchFamily="34" charset="-122"/>
                          <a:cs typeface="Calibri" pitchFamily="34" charset="-120"/>
                        </a:rPr>
                        <a:t>done</a:t>
                      </a:r>
                      <a:endParaRPr lang="en-US" sz="16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650" b="1" dirty="0">
                          <a:solidFill>
                            <a:srgbClr val="3A464C"/>
                          </a:solidFill>
                          <a:latin typeface="Calibri" pitchFamily="34" charset="0"/>
                          <a:ea typeface="Calibri" pitchFamily="34" charset="-122"/>
                          <a:cs typeface="Calibri" pitchFamily="34" charset="-120"/>
                        </a:rPr>
                        <a:t>for (range)</a:t>
                      </a:r>
                      <a:endParaRPr lang="en-US" sz="16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50" dirty="0">
                          <a:solidFill>
                            <a:srgbClr val="3A464C"/>
                          </a:solidFill>
                          <a:latin typeface="Calibri" pitchFamily="34" charset="0"/>
                          <a:ea typeface="Calibri" pitchFamily="34" charset="-122"/>
                          <a:cs typeface="Calibri" pitchFamily="34" charset="-120"/>
                        </a:rPr>
                        <a:t>for i in {1..5}; do echo "$i"; done</a:t>
                      </a:r>
                      <a:endParaRPr lang="en-US" sz="16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50" dirty="0">
                          <a:solidFill>
                            <a:srgbClr val="3A464C"/>
                          </a:solidFill>
                          <a:latin typeface="Calibri" pitchFamily="34" charset="0"/>
                          <a:ea typeface="Calibri" pitchFamily="34" charset="-122"/>
                          <a:cs typeface="Calibri" pitchFamily="34" charset="-120"/>
                        </a:rPr>
                        <a:t>done</a:t>
                      </a:r>
                      <a:endParaRPr lang="en-US" sz="16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650" b="1" dirty="0">
                          <a:solidFill>
                            <a:srgbClr val="3A464C"/>
                          </a:solidFill>
                          <a:latin typeface="Calibri" pitchFamily="34" charset="0"/>
                          <a:ea typeface="Calibri" pitchFamily="34" charset="-122"/>
                          <a:cs typeface="Calibri" pitchFamily="34" charset="-120"/>
                        </a:rPr>
                        <a:t>while</a:t>
                      </a:r>
                      <a:endParaRPr lang="en-US" sz="16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50" dirty="0">
                          <a:solidFill>
                            <a:srgbClr val="3A464C"/>
                          </a:solidFill>
                          <a:latin typeface="Calibri" pitchFamily="34" charset="0"/>
                          <a:ea typeface="Calibri" pitchFamily="34" charset="-122"/>
                          <a:cs typeface="Calibri" pitchFamily="34" charset="-120"/>
                        </a:rPr>
                        <a:t>while [ "$n" -gt 0 ]; do n=$((n - 1)); done</a:t>
                      </a:r>
                      <a:endParaRPr lang="en-US" sz="16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50" dirty="0">
                          <a:solidFill>
                            <a:srgbClr val="3A464C"/>
                          </a:solidFill>
                          <a:latin typeface="Calibri" pitchFamily="34" charset="0"/>
                          <a:ea typeface="Calibri" pitchFamily="34" charset="-122"/>
                          <a:cs typeface="Calibri" pitchFamily="34" charset="-120"/>
                        </a:rPr>
                        <a:t>done</a:t>
                      </a:r>
                      <a:endParaRPr lang="en-US" sz="16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650" b="1" dirty="0">
                          <a:solidFill>
                            <a:srgbClr val="3A464C"/>
                          </a:solidFill>
                          <a:latin typeface="Calibri" pitchFamily="34" charset="0"/>
                          <a:ea typeface="Calibri" pitchFamily="34" charset="-122"/>
                          <a:cs typeface="Calibri" pitchFamily="34" charset="-120"/>
                        </a:rPr>
                        <a:t>read a file</a:t>
                      </a:r>
                      <a:endParaRPr lang="en-US" sz="16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50" dirty="0">
                          <a:solidFill>
                            <a:srgbClr val="3A464C"/>
                          </a:solidFill>
                          <a:latin typeface="Calibri" pitchFamily="34" charset="0"/>
                          <a:ea typeface="Calibri" pitchFamily="34" charset="-122"/>
                          <a:cs typeface="Calibri" pitchFamily="34" charset="-120"/>
                        </a:rPr>
                        <a:t>while read -r line; do …; done &lt; file.txt</a:t>
                      </a:r>
                      <a:endParaRPr lang="en-US" sz="16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50" dirty="0">
                          <a:solidFill>
                            <a:srgbClr val="3A464C"/>
                          </a:solidFill>
                          <a:latin typeface="Calibri" pitchFamily="34" charset="0"/>
                          <a:ea typeface="Calibri" pitchFamily="34" charset="-122"/>
                          <a:cs typeface="Calibri" pitchFamily="34" charset="-120"/>
                        </a:rPr>
                        <a:t>done</a:t>
                      </a:r>
                      <a:endParaRPr lang="en-US" sz="16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650" b="1" dirty="0">
                          <a:solidFill>
                            <a:srgbClr val="3A464C"/>
                          </a:solidFill>
                          <a:latin typeface="Calibri" pitchFamily="34" charset="0"/>
                          <a:ea typeface="Calibri" pitchFamily="34" charset="-122"/>
                          <a:cs typeface="Calibri" pitchFamily="34" charset="-120"/>
                        </a:rPr>
                        <a:t>function</a:t>
                      </a:r>
                      <a:endParaRPr lang="en-US" sz="16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50" dirty="0">
                          <a:solidFill>
                            <a:srgbClr val="3A464C"/>
                          </a:solidFill>
                          <a:latin typeface="Calibri" pitchFamily="34" charset="0"/>
                          <a:ea typeface="Calibri" pitchFamily="34" charset="-122"/>
                          <a:cs typeface="Calibri" pitchFamily="34" charset="-120"/>
                        </a:rPr>
                        <a:t>name() { local x=$1; echo "$x"; }</a:t>
                      </a:r>
                      <a:endParaRPr lang="en-US" sz="16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50" dirty="0">
                          <a:solidFill>
                            <a:srgbClr val="3A464C"/>
                          </a:solidFill>
                          <a:latin typeface="Calibri" pitchFamily="34" charset="0"/>
                          <a:ea typeface="Calibri" pitchFamily="34" charset="-122"/>
                          <a:cs typeface="Calibri" pitchFamily="34" charset="-120"/>
                        </a:rPr>
                        <a:t>}</a:t>
                      </a:r>
                      <a:endParaRPr lang="en-US" sz="16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650" b="1" dirty="0">
                          <a:solidFill>
                            <a:srgbClr val="3A464C"/>
                          </a:solidFill>
                          <a:latin typeface="Calibri" pitchFamily="34" charset="0"/>
                          <a:ea typeface="Calibri" pitchFamily="34" charset="-122"/>
                          <a:cs typeface="Calibri" pitchFamily="34" charset="-120"/>
                        </a:rPr>
                        <a:t>and / or</a:t>
                      </a:r>
                      <a:endParaRPr lang="en-US" sz="16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50" dirty="0">
                          <a:solidFill>
                            <a:srgbClr val="3A464C"/>
                          </a:solidFill>
                          <a:latin typeface="Calibri" pitchFamily="34" charset="0"/>
                          <a:ea typeface="Calibri" pitchFamily="34" charset="-122"/>
                          <a:cs typeface="Calibri" pitchFamily="34" charset="-120"/>
                        </a:rPr>
                        <a:t>mkdir -p dir &amp;&amp; echo ok;   [ -f f ] || exit 1</a:t>
                      </a:r>
                      <a:endParaRPr lang="en-US" sz="16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50" dirty="0">
                          <a:solidFill>
                            <a:srgbClr val="3A464C"/>
                          </a:solidFill>
                          <a:latin typeface="Calibri" pitchFamily="34" charset="0"/>
                          <a:ea typeface="Calibri" pitchFamily="34" charset="-122"/>
                          <a:cs typeface="Calibri" pitchFamily="34" charset="-120"/>
                        </a:rPr>
                        <a:t>—</a:t>
                      </a:r>
                      <a:endParaRPr lang="en-US" sz="16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PART 5</a:t>
            </a:r>
            <a:endParaRPr lang="en-US"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Two Real Automation Scripts</a:t>
            </a:r>
            <a:endParaRPr lang="en-US"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en-US" sz="1600" i="1" dirty="0">
                <a:solidFill>
                  <a:srgbClr val="F2F2F2"/>
                </a:solidFill>
                <a:latin typeface="Calibri" pitchFamily="34" charset="0"/>
                <a:ea typeface="Calibri" pitchFamily="34" charset="-122"/>
                <a:cs typeface="Calibri" pitchFamily="34" charset="-120"/>
              </a:rPr>
              <a:t>backup.sh and report.sh in ~/lab/scripts</a:t>
            </a:r>
            <a:endParaRPr lang="en-US"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8A9AA0"/>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8A9AA0"/>
                </a:solidFill>
                <a:latin typeface="Calibri" pitchFamily="34" charset="0"/>
                <a:ea typeface="Calibri" pitchFamily="34" charset="-122"/>
                <a:cs typeface="Calibri" pitchFamily="34" charset="-120"/>
              </a:rPr>
              <a:t>Week 14  ·  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AUTOMATION 1</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backup.sh: A Timestamped Archive of docs/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14  ·  31</a:t>
            </a:r>
            <a:endParaRPr lang="en-US" sz="900" dirty="0"/>
          </a:p>
        </p:txBody>
      </p:sp>
      <p:sp>
        <p:nvSpPr>
          <p:cNvPr id="6" name="Shape 4"/>
          <p:cNvSpPr/>
          <p:nvPr/>
        </p:nvSpPr>
        <p:spPr>
          <a:xfrm>
            <a:off x="548640" y="1508760"/>
            <a:ext cx="7223760" cy="4754880"/>
          </a:xfrm>
          <a:prstGeom prst="roundRect">
            <a:avLst>
              <a:gd name="adj" fmla="val 962"/>
            </a:avLst>
          </a:prstGeom>
          <a:solidFill>
            <a:srgbClr val="212121"/>
          </a:solidFill>
          <a:ln/>
        </p:spPr>
        <p:txBody>
          <a:bodyPr/>
          <a:p/>
        </p:txBody>
      </p:sp>
      <p:sp>
        <p:nvSpPr>
          <p:cNvPr id="7" name="Text 5"/>
          <p:cNvSpPr txBox="1"/>
          <p:nvPr/>
        </p:nvSpPr>
        <p:spPr>
          <a:xfrm>
            <a:off x="731520" y="1618488"/>
            <a:ext cx="6858000" cy="4535424"/>
          </a:xfrm>
          <a:prstGeom prst="rect">
            <a:avLst/>
          </a:prstGeom>
          <a:noFill/>
          <a:ln/>
        </p:spPr>
        <p:txBody>
          <a:bodyPr wrap="square" lIns="0" tIns="0" rIns="0" bIns="0" rtlCol="0" anchor="t"/>
          <a:lstStyle/>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lab="$HOME/lab"</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src="docs"</a:t>
            </a:r>
            <a:r>
              <a:rPr lang="en-US" sz="1150" dirty="0">
                <a:solidFill>
                  <a:srgbClr val="8A9AA0"/>
                </a:solidFill>
                <a:latin typeface="Consolas" pitchFamily="34" charset="0"/>
                <a:ea typeface="Consolas" pitchFamily="34" charset="-122"/>
                <a:cs typeface="Consolas" pitchFamily="34" charset="-120"/>
              </a:rPr>
              <a:t>                                  # folder to save (inside $lab)</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dest="$lab/backup"</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stamp=$(date +%Y%m%d_%H%M%S)</a:t>
            </a:r>
            <a:r>
              <a:rPr lang="en-US" sz="1150" dirty="0">
                <a:solidFill>
                  <a:srgbClr val="8A9AA0"/>
                </a:solidFill>
                <a:latin typeface="Consolas" pitchFamily="34" charset="0"/>
                <a:ea typeface="Consolas" pitchFamily="34" charset="-122"/>
                <a:cs typeface="Consolas" pitchFamily="34" charset="-120"/>
              </a:rPr>
              <a:t>                # e.g. 20261012_143005</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archive="$dest/docs_$stamp.tar.gz"</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 </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if [ ! -d "$lab/$src" ]; then</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    echo "Error: $lab/$src not found" &gt;&amp;2</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    exit 1</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fi</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mkdir -p "$dest"</a:t>
            </a:r>
            <a:r>
              <a:rPr lang="en-US" sz="1150" dirty="0">
                <a:solidFill>
                  <a:srgbClr val="8A9AA0"/>
                </a:solidFill>
                <a:latin typeface="Consolas" pitchFamily="34" charset="0"/>
                <a:ea typeface="Consolas" pitchFamily="34" charset="-122"/>
                <a:cs typeface="Consolas" pitchFamily="34" charset="-120"/>
              </a:rPr>
              <a:t>                            # no error if it exists</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if tar -czf "$archive" -C "$lab" "$src"; then</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    n=$(tar -tzf "$archive" | grep -vc '/$')</a:t>
            </a:r>
            <a:r>
              <a:rPr lang="en-US" sz="1150" dirty="0">
                <a:solidFill>
                  <a:srgbClr val="8A9AA0"/>
                </a:solidFill>
                <a:latin typeface="Consolas" pitchFamily="34" charset="0"/>
                <a:ea typeface="Consolas" pitchFamily="34" charset="-122"/>
                <a:cs typeface="Consolas" pitchFamily="34" charset="-120"/>
              </a:rPr>
              <a:t>    # count files, not folders</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    echo "Backup created: $archive"</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    echo "Files: $n, size: $(du -h "$archive" | cut -f1)"</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else</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    echo "Error: tar failed" &gt;&amp;2</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    exit 1</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fi</a:t>
            </a:r>
            <a:endParaRPr lang="en-US" sz="1150" dirty="0"/>
          </a:p>
        </p:txBody>
      </p:sp>
      <p:sp>
        <p:nvSpPr>
          <p:cNvPr id="8" name="Shape 6"/>
          <p:cNvSpPr/>
          <p:nvPr/>
        </p:nvSpPr>
        <p:spPr>
          <a:xfrm>
            <a:off x="8001000" y="1508760"/>
            <a:ext cx="3657600" cy="4754880"/>
          </a:xfrm>
          <a:prstGeom prst="roundRect">
            <a:avLst>
              <a:gd name="adj" fmla="val 1500"/>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9" name="Text 7"/>
          <p:cNvSpPr txBox="1"/>
          <p:nvPr/>
        </p:nvSpPr>
        <p:spPr>
          <a:xfrm>
            <a:off x="8229600" y="1691640"/>
            <a:ext cx="320040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Line by line</a:t>
            </a:r>
            <a:endParaRPr lang="en-US" sz="1500" dirty="0"/>
          </a:p>
        </p:txBody>
      </p:sp>
      <p:sp>
        <p:nvSpPr>
          <p:cNvPr id="10" name="Text 8"/>
          <p:cNvSpPr txBox="1"/>
          <p:nvPr/>
        </p:nvSpPr>
        <p:spPr>
          <a:xfrm>
            <a:off x="8229600" y="2148840"/>
            <a:ext cx="3200400" cy="3977640"/>
          </a:xfrm>
          <a:prstGeom prst="rect">
            <a:avLst/>
          </a:prstGeom>
          <a:noFill/>
          <a:ln/>
        </p:spPr>
        <p:txBody>
          <a:bodyPr wrap="square" lIns="0" tIns="0" rIns="0" bIns="0" rtlCol="0" anchor="t"/>
          <a:lstStyle/>
          <a:p>
            <a:pPr marL="228600" indent="-228600">
              <a:spcAft>
                <a:spcPts val="400"/>
              </a:spcAft>
              <a:buSzPct val="100000"/>
              <a:buChar char="•"/>
            </a:pPr>
            <a:r>
              <a:rPr lang="en-US" sz="1300" b="1" dirty="0">
                <a:solidFill>
                  <a:srgbClr val="3A464C"/>
                </a:solidFill>
                <a:latin typeface="Calibri" pitchFamily="34" charset="0"/>
                <a:ea typeface="Calibri" pitchFamily="34" charset="-122"/>
                <a:cs typeface="Calibri" pitchFamily="34" charset="-120"/>
              </a:rPr>
              <a:t>date +%Y%m%d_%H%M%S</a:t>
            </a:r>
            <a:r>
              <a:rPr lang="en-US" sz="1300" dirty="0">
                <a:solidFill>
                  <a:srgbClr val="3A464C"/>
                </a:solidFill>
                <a:latin typeface="Calibri" pitchFamily="34" charset="0"/>
                <a:ea typeface="Calibri" pitchFamily="34" charset="-122"/>
                <a:cs typeface="Calibri" pitchFamily="34" charset="-120"/>
              </a:rPr>
              <a:t> gives a unique, sortable name.</a:t>
            </a:r>
            <a:endParaRPr lang="en-US" sz="1300" dirty="0"/>
          </a:p>
          <a:p>
            <a:pPr marL="228600" indent="-228600">
              <a:spcAft>
                <a:spcPts val="400"/>
              </a:spcAft>
              <a:buSzPct val="100000"/>
              <a:buChar char="•"/>
            </a:pPr>
            <a:r>
              <a:rPr lang="en-US" sz="1300" b="1" dirty="0">
                <a:solidFill>
                  <a:srgbClr val="3A464C"/>
                </a:solidFill>
                <a:latin typeface="Calibri" pitchFamily="34" charset="0"/>
                <a:ea typeface="Calibri" pitchFamily="34" charset="-122"/>
                <a:cs typeface="Calibri" pitchFamily="34" charset="-120"/>
              </a:rPr>
              <a:t>[ ! -d … ]:</a:t>
            </a:r>
            <a:r>
              <a:rPr lang="en-US" sz="1300" dirty="0">
                <a:solidFill>
                  <a:srgbClr val="3A464C"/>
                </a:solidFill>
                <a:latin typeface="Calibri" pitchFamily="34" charset="0"/>
                <a:ea typeface="Calibri" pitchFamily="34" charset="-122"/>
                <a:cs typeface="Calibri" pitchFamily="34" charset="-120"/>
              </a:rPr>
              <a:t> stop early if the source is missing.</a:t>
            </a:r>
            <a:endParaRPr lang="en-US" sz="1300" dirty="0"/>
          </a:p>
          <a:p>
            <a:pPr marL="228600" indent="-228600">
              <a:spcAft>
                <a:spcPts val="400"/>
              </a:spcAft>
              <a:buSzPct val="100000"/>
              <a:buChar char="•"/>
            </a:pPr>
            <a:r>
              <a:rPr lang="en-US" sz="1300" b="1" dirty="0">
                <a:solidFill>
                  <a:srgbClr val="3A464C"/>
                </a:solidFill>
                <a:latin typeface="Calibri" pitchFamily="34" charset="0"/>
                <a:ea typeface="Calibri" pitchFamily="34" charset="-122"/>
                <a:cs typeface="Calibri" pitchFamily="34" charset="-120"/>
              </a:rPr>
              <a:t>tar -czf A -C dir docs:</a:t>
            </a:r>
            <a:r>
              <a:rPr lang="en-US" sz="1300" dirty="0">
                <a:solidFill>
                  <a:srgbClr val="3A464C"/>
                </a:solidFill>
                <a:latin typeface="Calibri" pitchFamily="34" charset="0"/>
                <a:ea typeface="Calibri" pitchFamily="34" charset="-122"/>
                <a:cs typeface="Calibri" pitchFamily="34" charset="-120"/>
              </a:rPr>
              <a:t> create (c) a gzip-compressed (z) archive file (f); -C = change into ~/lab first, so paths start with docs/.</a:t>
            </a:r>
            <a:endParaRPr lang="en-US" sz="1300" dirty="0"/>
          </a:p>
          <a:p>
            <a:pPr marL="228600" indent="-228600">
              <a:spcAft>
                <a:spcPts val="400"/>
              </a:spcAft>
              <a:buSzPct val="100000"/>
              <a:buChar char="•"/>
            </a:pPr>
            <a:r>
              <a:rPr lang="en-US" sz="1300" b="1" dirty="0">
                <a:solidFill>
                  <a:srgbClr val="3A464C"/>
                </a:solidFill>
                <a:latin typeface="Calibri" pitchFamily="34" charset="0"/>
                <a:ea typeface="Calibri" pitchFamily="34" charset="-122"/>
                <a:cs typeface="Calibri" pitchFamily="34" charset="-120"/>
              </a:rPr>
              <a:t>if tar …:</a:t>
            </a:r>
            <a:r>
              <a:rPr lang="en-US" sz="1300" dirty="0">
                <a:solidFill>
                  <a:srgbClr val="3A464C"/>
                </a:solidFill>
                <a:latin typeface="Calibri" pitchFamily="34" charset="0"/>
                <a:ea typeface="Calibri" pitchFamily="34" charset="-122"/>
                <a:cs typeface="Calibri" pitchFamily="34" charset="-120"/>
              </a:rPr>
              <a:t> test tar's own exit status.</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LIVE DEMO</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backup.sh in Action</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14  ·  32</a:t>
            </a:r>
            <a:endParaRPr lang="en-US" sz="900" dirty="0"/>
          </a:p>
        </p:txBody>
      </p:sp>
      <p:sp>
        <p:nvSpPr>
          <p:cNvPr id="6" name="Shape 4"/>
          <p:cNvSpPr/>
          <p:nvPr/>
        </p:nvSpPr>
        <p:spPr>
          <a:xfrm>
            <a:off x="548640" y="1508760"/>
            <a:ext cx="6949440" cy="4754880"/>
          </a:xfrm>
          <a:prstGeom prst="roundRect">
            <a:avLst>
              <a:gd name="adj" fmla="val 962"/>
            </a:avLst>
          </a:prstGeom>
          <a:solidFill>
            <a:srgbClr val="212121"/>
          </a:solidFill>
          <a:ln/>
        </p:spPr>
        <p:txBody>
          <a:bodyPr/>
          <a:p/>
        </p:txBody>
      </p:sp>
      <p:sp>
        <p:nvSpPr>
          <p:cNvPr id="7" name="Text 5"/>
          <p:cNvSpPr txBox="1"/>
          <p:nvPr/>
        </p:nvSpPr>
        <p:spPr>
          <a:xfrm>
            <a:off x="731520" y="1618488"/>
            <a:ext cx="6583680" cy="4535424"/>
          </a:xfrm>
          <a:prstGeom prst="rect">
            <a:avLst/>
          </a:prstGeom>
          <a:noFill/>
          <a:ln/>
        </p:spPr>
        <p:txBody>
          <a:bodyPr wrap="square" lIns="0" tIns="0" rIns="0" bIns="0" rtlCol="0" anchor="t"/>
          <a:lstStyle/>
          <a:p>
            <a:pPr indent="0" marL="0">
              <a:lnSpc>
                <a:spcPct val="100000"/>
              </a:lnSpc>
              <a:buNone/>
            </a:pPr>
            <a:r>
              <a:rPr lang="en-US" sz="1100" dirty="0">
                <a:solidFill>
                  <a:srgbClr val="02C39A"/>
                </a:solidFill>
                <a:latin typeface="Consolas" pitchFamily="34" charset="0"/>
                <a:ea typeface="Consolas" pitchFamily="34" charset="-122"/>
                <a:cs typeface="Consolas" pitchFamily="34" charset="-120"/>
              </a:rPr>
              <a:t>student@okan-lab:~/lab/scripts$ </a:t>
            </a:r>
            <a:r>
              <a:rPr lang="en-US" sz="1100" b="1" dirty="0">
                <a:solidFill>
                  <a:srgbClr val="FFFFFF"/>
                </a:solidFill>
                <a:latin typeface="Consolas" pitchFamily="34" charset="0"/>
                <a:ea typeface="Consolas" pitchFamily="34" charset="-122"/>
                <a:cs typeface="Consolas" pitchFamily="34" charset="-120"/>
              </a:rPr>
              <a:t>./backup.sh</a:t>
            </a:r>
            <a:endParaRPr lang="en-US" sz="1100" dirty="0"/>
          </a:p>
          <a:p>
            <a:pPr indent="0" marL="0">
              <a:lnSpc>
                <a:spcPct val="100000"/>
              </a:lnSpc>
              <a:buNone/>
            </a:pPr>
            <a:r>
              <a:rPr lang="en-US" sz="1100" dirty="0">
                <a:solidFill>
                  <a:srgbClr val="C9D1D3"/>
                </a:solidFill>
                <a:latin typeface="Consolas" pitchFamily="34" charset="0"/>
                <a:ea typeface="Consolas" pitchFamily="34" charset="-122"/>
                <a:cs typeface="Consolas" pitchFamily="34" charset="-120"/>
              </a:rPr>
              <a:t>Backup created: /home/student/lab/backup/docs_20261012_085013.tar.gz</a:t>
            </a:r>
            <a:endParaRPr lang="en-US" sz="1100" dirty="0"/>
          </a:p>
          <a:p>
            <a:pPr indent="0" marL="0">
              <a:lnSpc>
                <a:spcPct val="100000"/>
              </a:lnSpc>
              <a:buNone/>
            </a:pPr>
            <a:r>
              <a:rPr lang="en-US" sz="1100" dirty="0">
                <a:solidFill>
                  <a:srgbClr val="C9D1D3"/>
                </a:solidFill>
                <a:latin typeface="Consolas" pitchFamily="34" charset="0"/>
                <a:ea typeface="Consolas" pitchFamily="34" charset="-122"/>
                <a:cs typeface="Consolas" pitchFamily="34" charset="-120"/>
              </a:rPr>
              <a:t>Files: 7, size: 4.0K</a:t>
            </a:r>
            <a:endParaRPr lang="en-US" sz="1100" dirty="0"/>
          </a:p>
          <a:p>
            <a:pPr indent="0" marL="0">
              <a:lnSpc>
                <a:spcPct val="100000"/>
              </a:lnSpc>
              <a:buNone/>
            </a:pPr>
            <a:r>
              <a:rPr lang="en-US" sz="1100" dirty="0">
                <a:solidFill>
                  <a:srgbClr val="02C39A"/>
                </a:solidFill>
                <a:latin typeface="Consolas" pitchFamily="34" charset="0"/>
                <a:ea typeface="Consolas" pitchFamily="34" charset="-122"/>
                <a:cs typeface="Consolas" pitchFamily="34" charset="-120"/>
              </a:rPr>
              <a:t>student@okan-lab:~/lab/scripts$ </a:t>
            </a:r>
            <a:r>
              <a:rPr lang="en-US" sz="1100" b="1" dirty="0">
                <a:solidFill>
                  <a:srgbClr val="FFFFFF"/>
                </a:solidFill>
                <a:latin typeface="Consolas" pitchFamily="34" charset="0"/>
                <a:ea typeface="Consolas" pitchFamily="34" charset="-122"/>
                <a:cs typeface="Consolas" pitchFamily="34" charset="-120"/>
              </a:rPr>
              <a:t>ls -l ../backup</a:t>
            </a:r>
            <a:endParaRPr lang="en-US" sz="1100" dirty="0"/>
          </a:p>
          <a:p>
            <a:pPr indent="0" marL="0">
              <a:lnSpc>
                <a:spcPct val="100000"/>
              </a:lnSpc>
              <a:buNone/>
            </a:pPr>
            <a:r>
              <a:rPr lang="en-US" sz="1100" dirty="0">
                <a:solidFill>
                  <a:srgbClr val="C9D1D3"/>
                </a:solidFill>
                <a:latin typeface="Consolas" pitchFamily="34" charset="0"/>
                <a:ea typeface="Consolas" pitchFamily="34" charset="-122"/>
                <a:cs typeface="Consolas" pitchFamily="34" charset="-120"/>
              </a:rPr>
              <a:t>total 4</a:t>
            </a:r>
            <a:endParaRPr lang="en-US" sz="1100" dirty="0"/>
          </a:p>
          <a:p>
            <a:pPr indent="0" marL="0">
              <a:lnSpc>
                <a:spcPct val="100000"/>
              </a:lnSpc>
              <a:buNone/>
            </a:pPr>
            <a:r>
              <a:rPr lang="en-US" sz="1100" dirty="0">
                <a:solidFill>
                  <a:srgbClr val="C9D1D3"/>
                </a:solidFill>
                <a:latin typeface="Consolas" pitchFamily="34" charset="0"/>
                <a:ea typeface="Consolas" pitchFamily="34" charset="-122"/>
                <a:cs typeface="Consolas" pitchFamily="34" charset="-120"/>
              </a:rPr>
              <a:t>-rw-rw-r-- 1 student student 862 Oct 12 08:50 docs_20261012_085013.tar.gz</a:t>
            </a:r>
            <a:endParaRPr lang="en-US" sz="1100" dirty="0"/>
          </a:p>
          <a:p>
            <a:pPr indent="0" marL="0">
              <a:lnSpc>
                <a:spcPct val="100000"/>
              </a:lnSpc>
              <a:buNone/>
            </a:pPr>
            <a:r>
              <a:rPr lang="en-US" sz="1100" dirty="0">
                <a:solidFill>
                  <a:srgbClr val="02C39A"/>
                </a:solidFill>
                <a:latin typeface="Consolas" pitchFamily="34" charset="0"/>
                <a:ea typeface="Consolas" pitchFamily="34" charset="-122"/>
                <a:cs typeface="Consolas" pitchFamily="34" charset="-120"/>
              </a:rPr>
              <a:t>student@okan-lab:~/lab/scripts$ </a:t>
            </a:r>
            <a:r>
              <a:rPr lang="en-US" sz="1100" b="1" dirty="0">
                <a:solidFill>
                  <a:srgbClr val="FFFFFF"/>
                </a:solidFill>
                <a:latin typeface="Consolas" pitchFamily="34" charset="0"/>
                <a:ea typeface="Consolas" pitchFamily="34" charset="-122"/>
                <a:cs typeface="Consolas" pitchFamily="34" charset="-120"/>
              </a:rPr>
              <a:t>tar -tzf ../backup/docs_*.tar.gz</a:t>
            </a:r>
            <a:endParaRPr lang="en-US" sz="1100" dirty="0"/>
          </a:p>
          <a:p>
            <a:pPr indent="0" marL="0">
              <a:lnSpc>
                <a:spcPct val="100000"/>
              </a:lnSpc>
              <a:buNone/>
            </a:pPr>
            <a:r>
              <a:rPr lang="en-US" sz="1100" dirty="0">
                <a:solidFill>
                  <a:srgbClr val="C9D1D3"/>
                </a:solidFill>
                <a:latin typeface="Consolas" pitchFamily="34" charset="0"/>
                <a:ea typeface="Consolas" pitchFamily="34" charset="-122"/>
                <a:cs typeface="Consolas" pitchFamily="34" charset="-120"/>
              </a:rPr>
              <a:t>docs/</a:t>
            </a:r>
            <a:endParaRPr lang="en-US" sz="1100" dirty="0"/>
          </a:p>
          <a:p>
            <a:pPr indent="0" marL="0">
              <a:lnSpc>
                <a:spcPct val="100000"/>
              </a:lnSpc>
              <a:buNone/>
            </a:pPr>
            <a:r>
              <a:rPr lang="en-US" sz="1100" dirty="0">
                <a:solidFill>
                  <a:srgbClr val="C9D1D3"/>
                </a:solidFill>
                <a:latin typeface="Consolas" pitchFamily="34" charset="0"/>
                <a:ea typeface="Consolas" pitchFamily="34" charset="-122"/>
                <a:cs typeface="Consolas" pitchFamily="34" charset="-120"/>
              </a:rPr>
              <a:t>docs/notes_02.txt</a:t>
            </a:r>
            <a:endParaRPr lang="en-US" sz="1100" dirty="0"/>
          </a:p>
          <a:p>
            <a:pPr indent="0" marL="0">
              <a:lnSpc>
                <a:spcPct val="100000"/>
              </a:lnSpc>
              <a:buNone/>
            </a:pPr>
            <a:r>
              <a:rPr lang="en-US" sz="1100" dirty="0">
                <a:solidFill>
                  <a:srgbClr val="C9D1D3"/>
                </a:solidFill>
                <a:latin typeface="Consolas" pitchFamily="34" charset="0"/>
                <a:ea typeface="Consolas" pitchFamily="34" charset="-122"/>
                <a:cs typeface="Consolas" pitchFamily="34" charset="-120"/>
              </a:rPr>
              <a:t>docs/syllabus.txt</a:t>
            </a:r>
            <a:endParaRPr lang="en-US" sz="1100" dirty="0"/>
          </a:p>
          <a:p>
            <a:pPr indent="0" marL="0">
              <a:lnSpc>
                <a:spcPct val="100000"/>
              </a:lnSpc>
              <a:buNone/>
            </a:pPr>
            <a:r>
              <a:rPr lang="en-US" sz="1100" dirty="0">
                <a:solidFill>
                  <a:srgbClr val="C9D1D3"/>
                </a:solidFill>
                <a:latin typeface="Consolas" pitchFamily="34" charset="0"/>
                <a:ea typeface="Consolas" pitchFamily="34" charset="-122"/>
                <a:cs typeface="Consolas" pitchFamily="34" charset="-120"/>
              </a:rPr>
              <a:t>docs/.settings</a:t>
            </a:r>
            <a:endParaRPr lang="en-US" sz="1100" dirty="0"/>
          </a:p>
          <a:p>
            <a:pPr indent="0" marL="0">
              <a:lnSpc>
                <a:spcPct val="100000"/>
              </a:lnSpc>
              <a:buNone/>
            </a:pPr>
            <a:r>
              <a:rPr lang="en-US" sz="1100" dirty="0">
                <a:solidFill>
                  <a:srgbClr val="C9D1D3"/>
                </a:solidFill>
                <a:latin typeface="Consolas" pitchFamily="34" charset="0"/>
                <a:ea typeface="Consolas" pitchFamily="34" charset="-122"/>
                <a:cs typeface="Consolas" pitchFamily="34" charset="-120"/>
              </a:rPr>
              <a:t>docs/notes_01.txt</a:t>
            </a:r>
            <a:endParaRPr lang="en-US" sz="1100" dirty="0"/>
          </a:p>
          <a:p>
            <a:pPr indent="0" marL="0">
              <a:lnSpc>
                <a:spcPct val="100000"/>
              </a:lnSpc>
              <a:buNone/>
            </a:pPr>
            <a:r>
              <a:rPr lang="en-US" sz="1100" dirty="0">
                <a:solidFill>
                  <a:srgbClr val="C9D1D3"/>
                </a:solidFill>
                <a:latin typeface="Consolas" pitchFamily="34" charset="0"/>
                <a:ea typeface="Consolas" pitchFamily="34" charset="-122"/>
                <a:cs typeface="Consolas" pitchFamily="34" charset="-120"/>
              </a:rPr>
              <a:t>docs/notes_03.txt</a:t>
            </a:r>
            <a:endParaRPr lang="en-US" sz="1100" dirty="0"/>
          </a:p>
          <a:p>
            <a:pPr indent="0" marL="0">
              <a:lnSpc>
                <a:spcPct val="100000"/>
              </a:lnSpc>
              <a:buNone/>
            </a:pPr>
            <a:r>
              <a:rPr lang="en-US" sz="1100" dirty="0">
                <a:solidFill>
                  <a:srgbClr val="C9D1D3"/>
                </a:solidFill>
                <a:latin typeface="Consolas" pitchFamily="34" charset="0"/>
                <a:ea typeface="Consolas" pitchFamily="34" charset="-122"/>
                <a:cs typeface="Consolas" pitchFamily="34" charset="-120"/>
              </a:rPr>
              <a:t>docs/linux_quotes.txt</a:t>
            </a:r>
            <a:endParaRPr lang="en-US" sz="1100" dirty="0"/>
          </a:p>
          <a:p>
            <a:pPr indent="0" marL="0">
              <a:lnSpc>
                <a:spcPct val="100000"/>
              </a:lnSpc>
              <a:buNone/>
            </a:pPr>
            <a:r>
              <a:rPr lang="en-US" sz="1100" dirty="0">
                <a:solidFill>
                  <a:srgbClr val="C9D1D3"/>
                </a:solidFill>
                <a:latin typeface="Consolas" pitchFamily="34" charset="0"/>
                <a:ea typeface="Consolas" pitchFamily="34" charset="-122"/>
                <a:cs typeface="Consolas" pitchFamily="34" charset="-120"/>
              </a:rPr>
              <a:t>docs/final report.txt</a:t>
            </a:r>
            <a:endParaRPr lang="en-US" sz="1100" dirty="0"/>
          </a:p>
          <a:p>
            <a:pPr indent="0" marL="0">
              <a:lnSpc>
                <a:spcPct val="100000"/>
              </a:lnSpc>
              <a:buNone/>
            </a:pPr>
            <a:r>
              <a:rPr lang="en-US" sz="1100" dirty="0">
                <a:solidFill>
                  <a:srgbClr val="02C39A"/>
                </a:solidFill>
                <a:latin typeface="Consolas" pitchFamily="34" charset="0"/>
                <a:ea typeface="Consolas" pitchFamily="34" charset="-122"/>
                <a:cs typeface="Consolas" pitchFamily="34" charset="-120"/>
              </a:rPr>
              <a:t>student@okan-lab:~/lab/scripts$ </a:t>
            </a:r>
            <a:r>
              <a:rPr lang="en-US" sz="1100" b="1" dirty="0">
                <a:solidFill>
                  <a:srgbClr val="FFFFFF"/>
                </a:solidFill>
                <a:latin typeface="Consolas" pitchFamily="34" charset="0"/>
                <a:ea typeface="Consolas" pitchFamily="34" charset="-122"/>
                <a:cs typeface="Consolas" pitchFamily="34" charset="-120"/>
              </a:rPr>
              <a:t>./backup.sh</a:t>
            </a:r>
            <a:endParaRPr lang="en-US" sz="1100" dirty="0"/>
          </a:p>
          <a:p>
            <a:pPr indent="0" marL="0">
              <a:lnSpc>
                <a:spcPct val="100000"/>
              </a:lnSpc>
              <a:buNone/>
            </a:pPr>
            <a:r>
              <a:rPr lang="en-US" sz="1100" dirty="0">
                <a:solidFill>
                  <a:srgbClr val="C9D1D3"/>
                </a:solidFill>
                <a:latin typeface="Consolas" pitchFamily="34" charset="0"/>
                <a:ea typeface="Consolas" pitchFamily="34" charset="-122"/>
                <a:cs typeface="Consolas" pitchFamily="34" charset="-120"/>
              </a:rPr>
              <a:t>Backup created: /home/student/lab/backup/docs_20261012_085015.tar.gz</a:t>
            </a:r>
            <a:endParaRPr lang="en-US" sz="1100" dirty="0"/>
          </a:p>
          <a:p>
            <a:pPr indent="0" marL="0">
              <a:lnSpc>
                <a:spcPct val="100000"/>
              </a:lnSpc>
              <a:buNone/>
            </a:pPr>
            <a:r>
              <a:rPr lang="en-US" sz="1100" dirty="0">
                <a:solidFill>
                  <a:srgbClr val="C9D1D3"/>
                </a:solidFill>
                <a:latin typeface="Consolas" pitchFamily="34" charset="0"/>
                <a:ea typeface="Consolas" pitchFamily="34" charset="-122"/>
                <a:cs typeface="Consolas" pitchFamily="34" charset="-120"/>
              </a:rPr>
              <a:t>Files: 7, size: 4.0K</a:t>
            </a:r>
            <a:endParaRPr lang="en-US" sz="1100" dirty="0"/>
          </a:p>
          <a:p>
            <a:pPr indent="0" marL="0">
              <a:lnSpc>
                <a:spcPct val="100000"/>
              </a:lnSpc>
              <a:buNone/>
            </a:pPr>
            <a:r>
              <a:rPr lang="en-US" sz="1100" dirty="0">
                <a:solidFill>
                  <a:srgbClr val="02C39A"/>
                </a:solidFill>
                <a:latin typeface="Consolas" pitchFamily="34" charset="0"/>
                <a:ea typeface="Consolas" pitchFamily="34" charset="-122"/>
                <a:cs typeface="Consolas" pitchFamily="34" charset="-120"/>
              </a:rPr>
              <a:t>student@okan-lab:~/lab/scripts$ </a:t>
            </a:r>
            <a:r>
              <a:rPr lang="en-US" sz="1100" b="1" dirty="0">
                <a:solidFill>
                  <a:srgbClr val="FFFFFF"/>
                </a:solidFill>
                <a:latin typeface="Consolas" pitchFamily="34" charset="0"/>
                <a:ea typeface="Consolas" pitchFamily="34" charset="-122"/>
                <a:cs typeface="Consolas" pitchFamily="34" charset="-120"/>
              </a:rPr>
              <a:t>ls ../backup</a:t>
            </a:r>
            <a:endParaRPr lang="en-US" sz="1100" dirty="0"/>
          </a:p>
          <a:p>
            <a:pPr indent="0" marL="0">
              <a:lnSpc>
                <a:spcPct val="100000"/>
              </a:lnSpc>
              <a:buNone/>
            </a:pPr>
            <a:r>
              <a:rPr lang="en-US" sz="1100" dirty="0">
                <a:solidFill>
                  <a:srgbClr val="C9D1D3"/>
                </a:solidFill>
                <a:latin typeface="Consolas" pitchFamily="34" charset="0"/>
                <a:ea typeface="Consolas" pitchFamily="34" charset="-122"/>
                <a:cs typeface="Consolas" pitchFamily="34" charset="-120"/>
              </a:rPr>
              <a:t>docs_20261012_085013.tar.gz  docs_20261012_085015.tar.gz</a:t>
            </a:r>
            <a:endParaRPr lang="en-US" sz="1100" dirty="0"/>
          </a:p>
        </p:txBody>
      </p:sp>
      <p:sp>
        <p:nvSpPr>
          <p:cNvPr id="8" name="Shape 6"/>
          <p:cNvSpPr/>
          <p:nvPr/>
        </p:nvSpPr>
        <p:spPr>
          <a:xfrm>
            <a:off x="7726680" y="1508760"/>
            <a:ext cx="3931920" cy="4754880"/>
          </a:xfrm>
          <a:prstGeom prst="roundRect">
            <a:avLst>
              <a:gd name="adj" fmla="val 139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9" name="Text 7"/>
          <p:cNvSpPr txBox="1"/>
          <p:nvPr/>
        </p:nvSpPr>
        <p:spPr>
          <a:xfrm>
            <a:off x="7955280" y="1691640"/>
            <a:ext cx="347472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What to observe</a:t>
            </a:r>
            <a:endParaRPr lang="en-US" sz="1500" dirty="0"/>
          </a:p>
        </p:txBody>
      </p:sp>
      <p:sp>
        <p:nvSpPr>
          <p:cNvPr id="10" name="Text 8"/>
          <p:cNvSpPr txBox="1"/>
          <p:nvPr/>
        </p:nvSpPr>
        <p:spPr>
          <a:xfrm>
            <a:off x="7955280" y="2148840"/>
            <a:ext cx="3474720" cy="3977640"/>
          </a:xfrm>
          <a:prstGeom prst="rect">
            <a:avLst/>
          </a:prstGeom>
          <a:noFill/>
          <a:ln/>
        </p:spPr>
        <p:txBody>
          <a:bodyPr wrap="square" lIns="0" tIns="0" rIns="0" bIns="0" rtlCol="0" anchor="t"/>
          <a:lstStyle/>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Each run makes a new file: the timestamp is part of the name, nothing is overwritten.</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Files: 7 — six visible documents plus the hidden .settings (tar includes hidden files).</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"final report.txt" is archived correctly: the script quotes every variable.</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Names sort by time because the date is written year-first.</a:t>
            </a:r>
            <a:endParaRPr lang="en-US" sz="13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AUTOMATION 2</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report.sh: Summarising a Log File and a CSV</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14  ·  33</a:t>
            </a:r>
            <a:endParaRPr lang="en-US" sz="900" dirty="0"/>
          </a:p>
        </p:txBody>
      </p:sp>
      <p:sp>
        <p:nvSpPr>
          <p:cNvPr id="6" name="Shape 4"/>
          <p:cNvSpPr/>
          <p:nvPr/>
        </p:nvSpPr>
        <p:spPr>
          <a:xfrm>
            <a:off x="548640" y="1508760"/>
            <a:ext cx="11109960" cy="4754880"/>
          </a:xfrm>
          <a:prstGeom prst="roundRect">
            <a:avLst>
              <a:gd name="adj" fmla="val 962"/>
            </a:avLst>
          </a:prstGeom>
          <a:solidFill>
            <a:srgbClr val="212121"/>
          </a:solidFill>
          <a:ln/>
        </p:spPr>
        <p:txBody>
          <a:bodyPr/>
          <a:p/>
        </p:txBody>
      </p:sp>
      <p:sp>
        <p:nvSpPr>
          <p:cNvPr id="7" name="Text 5"/>
          <p:cNvSpPr txBox="1"/>
          <p:nvPr/>
        </p:nvSpPr>
        <p:spPr>
          <a:xfrm>
            <a:off x="731520" y="1618488"/>
            <a:ext cx="10744200" cy="4535424"/>
          </a:xfrm>
          <a:prstGeom prst="rect">
            <a:avLst/>
          </a:prstGeom>
          <a:noFill/>
          <a:ln/>
        </p:spPr>
        <p:txBody>
          <a:bodyPr wrap="square" lIns="0" tIns="0" rIns="0" bIns="0" rtlCol="0" anchor="t"/>
          <a:lstStyle/>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log="$HOME/lab/logs/access.log"</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csv="$HOME/lab/data/students.csv"</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for f in "$log" "$csv"; do</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    if [ ! -r "$f" ]; then echo "Error: cannot read $f" &gt;&amp;2; exit 1; fi</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done</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echo "===== Lab report, $(date '+%Y-%m-%d %H:%M') ====="</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 </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echo "--- Web server: $(basename "$log") ---"</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total=$(wc -l &lt; "$log")</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errors=$(awk '$9 &gt;= 400' "$log" | wc -l)</a:t>
            </a:r>
            <a:r>
              <a:rPr lang="en-US" sz="1200" dirty="0">
                <a:solidFill>
                  <a:srgbClr val="8A9AA0"/>
                </a:solidFill>
                <a:latin typeface="Consolas" pitchFamily="34" charset="0"/>
                <a:ea typeface="Consolas" pitchFamily="34" charset="-122"/>
                <a:cs typeface="Consolas" pitchFamily="34" charset="-120"/>
              </a:rPr>
              <a:t>    # field 9 = status code</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echo "Requests: $total, errors (4xx/5xx): $errors ($((100 * errors / total))%)"</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echo "Top 3 pages:"</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awk '{print $7}' "$log" | sort | uniq -c | sort -rn | head -3</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 </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echo "--- Students: $(basename "$csv") ---"</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echo "Students: $(tail -n +2 "$csv" | wc -l)"</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echo "Per department:"</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tail -n +2 "$csv" | cut -d, -f3 | sort | uniq -c</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awk -F, 'NR &gt; 1 { m += $4; f += $5; n++ }</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         END { printf "Average midterm %.1f, average final %.1f\n", m/n, f/n }' "$csv"</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passed=$(awk -F, 'NR &gt; 1 &amp;&amp; 0.4*$4 + 0.6*$5 &gt;= 50' "$csv" | wc -l)</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echo "Passed (0.4 x midterm + 0.6 x final &gt;= 50): $passed"</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LIVE DEMO</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report.sh: Real Output, Checked</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14  ·  34</a:t>
            </a:r>
            <a:endParaRPr lang="en-US" sz="900" dirty="0"/>
          </a:p>
        </p:txBody>
      </p:sp>
      <p:sp>
        <p:nvSpPr>
          <p:cNvPr id="6" name="Shape 4"/>
          <p:cNvSpPr/>
          <p:nvPr/>
        </p:nvSpPr>
        <p:spPr>
          <a:xfrm>
            <a:off x="548640" y="1508760"/>
            <a:ext cx="6675120" cy="4754880"/>
          </a:xfrm>
          <a:prstGeom prst="roundRect">
            <a:avLst>
              <a:gd name="adj" fmla="val 962"/>
            </a:avLst>
          </a:prstGeom>
          <a:solidFill>
            <a:srgbClr val="212121"/>
          </a:solidFill>
          <a:ln/>
        </p:spPr>
        <p:txBody>
          <a:bodyPr/>
          <a:p/>
        </p:txBody>
      </p:sp>
      <p:sp>
        <p:nvSpPr>
          <p:cNvPr id="7" name="Text 5"/>
          <p:cNvSpPr txBox="1"/>
          <p:nvPr/>
        </p:nvSpPr>
        <p:spPr>
          <a:xfrm>
            <a:off x="731520" y="1618488"/>
            <a:ext cx="6309360" cy="4535424"/>
          </a:xfrm>
          <a:prstGeom prst="rect">
            <a:avLst/>
          </a:prstGeom>
          <a:noFill/>
          <a:ln/>
        </p:spPr>
        <p:txBody>
          <a:bodyPr wrap="square" lIns="0" tIns="0" rIns="0" bIns="0" rtlCol="0" anchor="t"/>
          <a:lstStyle/>
          <a:p>
            <a:pPr indent="0" marL="0">
              <a:lnSpc>
                <a:spcPct val="100000"/>
              </a:lnSpc>
              <a:buNone/>
            </a:pPr>
            <a:r>
              <a:rPr lang="en-US" sz="1300" dirty="0">
                <a:solidFill>
                  <a:srgbClr val="02C39A"/>
                </a:solidFill>
                <a:latin typeface="Consolas" pitchFamily="34" charset="0"/>
                <a:ea typeface="Consolas" pitchFamily="34" charset="-122"/>
                <a:cs typeface="Consolas" pitchFamily="34" charset="-120"/>
              </a:rPr>
              <a:t>student@okan-lab:~/lab/scripts$ </a:t>
            </a:r>
            <a:r>
              <a:rPr lang="en-US" sz="1300" b="1" dirty="0">
                <a:solidFill>
                  <a:srgbClr val="FFFFFF"/>
                </a:solidFill>
                <a:latin typeface="Consolas" pitchFamily="34" charset="0"/>
                <a:ea typeface="Consolas" pitchFamily="34" charset="-122"/>
                <a:cs typeface="Consolas" pitchFamily="34" charset="-120"/>
              </a:rPr>
              <a:t>./report.sh</a:t>
            </a:r>
            <a:endParaRPr lang="en-US" sz="1300" dirty="0"/>
          </a:p>
          <a:p>
            <a:pPr indent="0" marL="0">
              <a:lnSpc>
                <a:spcPct val="100000"/>
              </a:lnSpc>
              <a:buNone/>
            </a:pPr>
            <a:r>
              <a:rPr lang="en-US" sz="1300" dirty="0">
                <a:solidFill>
                  <a:srgbClr val="C9D1D3"/>
                </a:solidFill>
                <a:latin typeface="Consolas" pitchFamily="34" charset="0"/>
                <a:ea typeface="Consolas" pitchFamily="34" charset="-122"/>
                <a:cs typeface="Consolas" pitchFamily="34" charset="-120"/>
              </a:rPr>
              <a:t>===== Lab report, 2026-10-12 08:50 =====</a:t>
            </a:r>
            <a:endParaRPr lang="en-US" sz="1300" dirty="0"/>
          </a:p>
          <a:p>
            <a:pPr indent="0" marL="0">
              <a:lnSpc>
                <a:spcPct val="100000"/>
              </a:lnSpc>
              <a:buNone/>
            </a:pPr>
            <a:r>
              <a:rPr lang="en-US" sz="1300" dirty="0">
                <a:solidFill>
                  <a:srgbClr val="C9D1D3"/>
                </a:solidFill>
                <a:latin typeface="Consolas" pitchFamily="34" charset="0"/>
                <a:ea typeface="Consolas" pitchFamily="34" charset="-122"/>
                <a:cs typeface="Consolas" pitchFamily="34" charset="-120"/>
              </a:rPr>
              <a:t>--- Web server: access.log ---</a:t>
            </a:r>
            <a:endParaRPr lang="en-US" sz="1300" dirty="0"/>
          </a:p>
          <a:p>
            <a:pPr indent="0" marL="0">
              <a:lnSpc>
                <a:spcPct val="100000"/>
              </a:lnSpc>
              <a:buNone/>
            </a:pPr>
            <a:r>
              <a:rPr lang="en-US" sz="1300" dirty="0">
                <a:solidFill>
                  <a:srgbClr val="C9D1D3"/>
                </a:solidFill>
                <a:latin typeface="Consolas" pitchFamily="34" charset="0"/>
                <a:ea typeface="Consolas" pitchFamily="34" charset="-122"/>
                <a:cs typeface="Consolas" pitchFamily="34" charset="-120"/>
              </a:rPr>
              <a:t>Requests: 300, errors (4xx/5xx): 98 (32%)</a:t>
            </a:r>
            <a:endParaRPr lang="en-US" sz="1300" dirty="0"/>
          </a:p>
          <a:p>
            <a:pPr indent="0" marL="0">
              <a:lnSpc>
                <a:spcPct val="100000"/>
              </a:lnSpc>
              <a:buNone/>
            </a:pPr>
            <a:r>
              <a:rPr lang="en-US" sz="1300" dirty="0">
                <a:solidFill>
                  <a:srgbClr val="C9D1D3"/>
                </a:solidFill>
                <a:latin typeface="Consolas" pitchFamily="34" charset="0"/>
                <a:ea typeface="Consolas" pitchFamily="34" charset="-122"/>
                <a:cs typeface="Consolas" pitchFamily="34" charset="-120"/>
              </a:rPr>
              <a:t>Top 3 pages:</a:t>
            </a:r>
            <a:endParaRPr lang="en-US" sz="1300" dirty="0"/>
          </a:p>
          <a:p>
            <a:pPr indent="0" marL="0">
              <a:lnSpc>
                <a:spcPct val="100000"/>
              </a:lnSpc>
              <a:buNone/>
            </a:pPr>
            <a:r>
              <a:rPr lang="en-US" sz="1300" dirty="0">
                <a:solidFill>
                  <a:srgbClr val="C9D1D3"/>
                </a:solidFill>
                <a:latin typeface="Consolas" pitchFamily="34" charset="0"/>
                <a:ea typeface="Consolas" pitchFamily="34" charset="-122"/>
                <a:cs typeface="Consolas" pitchFamily="34" charset="-120"/>
              </a:rPr>
              <a:t>     41 /courses/mcmp117</a:t>
            </a:r>
            <a:endParaRPr lang="en-US" sz="1300" dirty="0"/>
          </a:p>
          <a:p>
            <a:pPr indent="0" marL="0">
              <a:lnSpc>
                <a:spcPct val="100000"/>
              </a:lnSpc>
              <a:buNone/>
            </a:pPr>
            <a:r>
              <a:rPr lang="en-US" sz="1300" dirty="0">
                <a:solidFill>
                  <a:srgbClr val="C9D1D3"/>
                </a:solidFill>
                <a:latin typeface="Consolas" pitchFamily="34" charset="0"/>
                <a:ea typeface="Consolas" pitchFamily="34" charset="-122"/>
                <a:cs typeface="Consolas" pitchFamily="34" charset="-120"/>
              </a:rPr>
              <a:t>     37 /about.html</a:t>
            </a:r>
            <a:endParaRPr lang="en-US" sz="1300" dirty="0"/>
          </a:p>
          <a:p>
            <a:pPr indent="0" marL="0">
              <a:lnSpc>
                <a:spcPct val="100000"/>
              </a:lnSpc>
              <a:buNone/>
            </a:pPr>
            <a:r>
              <a:rPr lang="en-US" sz="1300" dirty="0">
                <a:solidFill>
                  <a:srgbClr val="C9D1D3"/>
                </a:solidFill>
                <a:latin typeface="Consolas" pitchFamily="34" charset="0"/>
                <a:ea typeface="Consolas" pitchFamily="34" charset="-122"/>
                <a:cs typeface="Consolas" pitchFamily="34" charset="-120"/>
              </a:rPr>
              <a:t>     33 /index.html</a:t>
            </a:r>
            <a:endParaRPr lang="en-US" sz="1300" dirty="0"/>
          </a:p>
          <a:p>
            <a:pPr indent="0" marL="0">
              <a:lnSpc>
                <a:spcPct val="100000"/>
              </a:lnSpc>
              <a:buNone/>
            </a:pPr>
            <a:r>
              <a:rPr lang="en-US" sz="1300" dirty="0">
                <a:solidFill>
                  <a:srgbClr val="C9D1D3"/>
                </a:solidFill>
                <a:latin typeface="Consolas" pitchFamily="34" charset="0"/>
                <a:ea typeface="Consolas" pitchFamily="34" charset="-122"/>
                <a:cs typeface="Consolas" pitchFamily="34" charset="-120"/>
              </a:rPr>
              <a:t>--- Students: students.csv ---</a:t>
            </a:r>
            <a:endParaRPr lang="en-US" sz="1300" dirty="0"/>
          </a:p>
          <a:p>
            <a:pPr indent="0" marL="0">
              <a:lnSpc>
                <a:spcPct val="100000"/>
              </a:lnSpc>
              <a:buNone/>
            </a:pPr>
            <a:r>
              <a:rPr lang="en-US" sz="1300" dirty="0">
                <a:solidFill>
                  <a:srgbClr val="C9D1D3"/>
                </a:solidFill>
                <a:latin typeface="Consolas" pitchFamily="34" charset="0"/>
                <a:ea typeface="Consolas" pitchFamily="34" charset="-122"/>
                <a:cs typeface="Consolas" pitchFamily="34" charset="-120"/>
              </a:rPr>
              <a:t>Students: 40</a:t>
            </a:r>
            <a:endParaRPr lang="en-US" sz="1300" dirty="0"/>
          </a:p>
          <a:p>
            <a:pPr indent="0" marL="0">
              <a:lnSpc>
                <a:spcPct val="100000"/>
              </a:lnSpc>
              <a:buNone/>
            </a:pPr>
            <a:r>
              <a:rPr lang="en-US" sz="1300" dirty="0">
                <a:solidFill>
                  <a:srgbClr val="C9D1D3"/>
                </a:solidFill>
                <a:latin typeface="Consolas" pitchFamily="34" charset="0"/>
                <a:ea typeface="Consolas" pitchFamily="34" charset="-122"/>
                <a:cs typeface="Consolas" pitchFamily="34" charset="-120"/>
              </a:rPr>
              <a:t>Per department:</a:t>
            </a:r>
            <a:endParaRPr lang="en-US" sz="1300" dirty="0"/>
          </a:p>
          <a:p>
            <a:pPr indent="0" marL="0">
              <a:lnSpc>
                <a:spcPct val="100000"/>
              </a:lnSpc>
              <a:buNone/>
            </a:pPr>
            <a:r>
              <a:rPr lang="en-US" sz="1300" dirty="0">
                <a:solidFill>
                  <a:srgbClr val="C9D1D3"/>
                </a:solidFill>
                <a:latin typeface="Consolas" pitchFamily="34" charset="0"/>
                <a:ea typeface="Consolas" pitchFamily="34" charset="-122"/>
                <a:cs typeface="Consolas" pitchFamily="34" charset="-120"/>
              </a:rPr>
              <a:t>     10 CS</a:t>
            </a:r>
            <a:endParaRPr lang="en-US" sz="1300" dirty="0"/>
          </a:p>
          <a:p>
            <a:pPr indent="0" marL="0">
              <a:lnSpc>
                <a:spcPct val="100000"/>
              </a:lnSpc>
              <a:buNone/>
            </a:pPr>
            <a:r>
              <a:rPr lang="en-US" sz="1300" dirty="0">
                <a:solidFill>
                  <a:srgbClr val="C9D1D3"/>
                </a:solidFill>
                <a:latin typeface="Consolas" pitchFamily="34" charset="0"/>
                <a:ea typeface="Consolas" pitchFamily="34" charset="-122"/>
                <a:cs typeface="Consolas" pitchFamily="34" charset="-120"/>
              </a:rPr>
              <a:t>     17 ECT</a:t>
            </a:r>
            <a:endParaRPr lang="en-US" sz="1300" dirty="0"/>
          </a:p>
          <a:p>
            <a:pPr indent="0" marL="0">
              <a:lnSpc>
                <a:spcPct val="100000"/>
              </a:lnSpc>
              <a:buNone/>
            </a:pPr>
            <a:r>
              <a:rPr lang="en-US" sz="1300" dirty="0">
                <a:solidFill>
                  <a:srgbClr val="C9D1D3"/>
                </a:solidFill>
                <a:latin typeface="Consolas" pitchFamily="34" charset="0"/>
                <a:ea typeface="Consolas" pitchFamily="34" charset="-122"/>
                <a:cs typeface="Consolas" pitchFamily="34" charset="-120"/>
              </a:rPr>
              <a:t>      2 EE</a:t>
            </a:r>
            <a:endParaRPr lang="en-US" sz="1300" dirty="0"/>
          </a:p>
          <a:p>
            <a:pPr indent="0" marL="0">
              <a:lnSpc>
                <a:spcPct val="100000"/>
              </a:lnSpc>
              <a:buNone/>
            </a:pPr>
            <a:r>
              <a:rPr lang="en-US" sz="1300" dirty="0">
                <a:solidFill>
                  <a:srgbClr val="C9D1D3"/>
                </a:solidFill>
                <a:latin typeface="Consolas" pitchFamily="34" charset="0"/>
                <a:ea typeface="Consolas" pitchFamily="34" charset="-122"/>
                <a:cs typeface="Consolas" pitchFamily="34" charset="-120"/>
              </a:rPr>
              <a:t>     11 ME</a:t>
            </a:r>
            <a:endParaRPr lang="en-US" sz="1300" dirty="0"/>
          </a:p>
          <a:p>
            <a:pPr indent="0" marL="0">
              <a:lnSpc>
                <a:spcPct val="100000"/>
              </a:lnSpc>
              <a:buNone/>
            </a:pPr>
            <a:r>
              <a:rPr lang="en-US" sz="1300" dirty="0">
                <a:solidFill>
                  <a:srgbClr val="C9D1D3"/>
                </a:solidFill>
                <a:latin typeface="Consolas" pitchFamily="34" charset="0"/>
                <a:ea typeface="Consolas" pitchFamily="34" charset="-122"/>
                <a:cs typeface="Consolas" pitchFamily="34" charset="-120"/>
              </a:rPr>
              <a:t>Average midterm 67.0, average final 65.6</a:t>
            </a:r>
            <a:endParaRPr lang="en-US" sz="1300" dirty="0"/>
          </a:p>
          <a:p>
            <a:pPr indent="0" marL="0">
              <a:lnSpc>
                <a:spcPct val="100000"/>
              </a:lnSpc>
              <a:buNone/>
            </a:pPr>
            <a:r>
              <a:rPr lang="en-US" sz="1300" dirty="0">
                <a:solidFill>
                  <a:srgbClr val="C9D1D3"/>
                </a:solidFill>
                <a:latin typeface="Consolas" pitchFamily="34" charset="0"/>
                <a:ea typeface="Consolas" pitchFamily="34" charset="-122"/>
                <a:cs typeface="Consolas" pitchFamily="34" charset="-120"/>
              </a:rPr>
              <a:t>Passed (0.4 x midterm + 0.6 x final &gt;= 50): 35</a:t>
            </a:r>
            <a:endParaRPr lang="en-US" sz="1300" dirty="0"/>
          </a:p>
        </p:txBody>
      </p:sp>
      <p:sp>
        <p:nvSpPr>
          <p:cNvPr id="8" name="Shape 6"/>
          <p:cNvSpPr/>
          <p:nvPr/>
        </p:nvSpPr>
        <p:spPr>
          <a:xfrm>
            <a:off x="7452360" y="1508760"/>
            <a:ext cx="4206240" cy="4754880"/>
          </a:xfrm>
          <a:prstGeom prst="roundRect">
            <a:avLst>
              <a:gd name="adj" fmla="val 130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9" name="Text 7"/>
          <p:cNvSpPr txBox="1"/>
          <p:nvPr/>
        </p:nvSpPr>
        <p:spPr>
          <a:xfrm>
            <a:off x="7680960" y="1691640"/>
            <a:ext cx="374904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Numbers verified (Python)</a:t>
            </a:r>
            <a:endParaRPr lang="en-US" sz="1500" dirty="0"/>
          </a:p>
        </p:txBody>
      </p:sp>
      <p:sp>
        <p:nvSpPr>
          <p:cNvPr id="10" name="Text 8"/>
          <p:cNvSpPr txBox="1"/>
          <p:nvPr/>
        </p:nvSpPr>
        <p:spPr>
          <a:xfrm>
            <a:off x="7680960" y="2148840"/>
            <a:ext cx="3749040" cy="3977640"/>
          </a:xfrm>
          <a:prstGeom prst="rect">
            <a:avLst/>
          </a:prstGeom>
          <a:noFill/>
          <a:ln/>
        </p:spPr>
        <p:txBody>
          <a:bodyPr wrap="square" lIns="0" tIns="0" rIns="0" bIns="0" rtlCol="0" anchor="t"/>
          <a:lstStyle/>
          <a:p>
            <a:pPr marL="228600" indent="-228600">
              <a:spcAft>
                <a:spcPts val="400"/>
              </a:spcAft>
              <a:buSzPct val="100000"/>
              <a:buChar char="•"/>
            </a:pPr>
            <a:r>
              <a:rPr lang="en-US" sz="1300" b="1" dirty="0">
                <a:solidFill>
                  <a:srgbClr val="3A464C"/>
                </a:solidFill>
                <a:latin typeface="Calibri" pitchFamily="34" charset="0"/>
                <a:ea typeface="Calibri" pitchFamily="34" charset="-122"/>
                <a:cs typeface="Calibri" pitchFamily="34" charset="-120"/>
              </a:rPr>
              <a:t>Errors:</a:t>
            </a:r>
            <a:r>
              <a:rPr lang="en-US" sz="1300" dirty="0">
                <a:solidFill>
                  <a:srgbClr val="3A464C"/>
                </a:solidFill>
                <a:latin typeface="Calibri" pitchFamily="34" charset="0"/>
                <a:ea typeface="Calibri" pitchFamily="34" charset="-122"/>
                <a:cs typeface="Calibri" pitchFamily="34" charset="-120"/>
              </a:rPr>
              <a:t> 98 of 300 requests have status ≥ 400; 100·98/300 = 32.67, bash integer arithmetic prints 32.</a:t>
            </a:r>
            <a:endParaRPr lang="en-US" sz="1300" dirty="0"/>
          </a:p>
          <a:p>
            <a:pPr marL="228600" indent="-228600">
              <a:spcAft>
                <a:spcPts val="400"/>
              </a:spcAft>
              <a:buSzPct val="100000"/>
              <a:buChar char="•"/>
            </a:pPr>
            <a:r>
              <a:rPr lang="en-US" sz="1300" b="1" dirty="0">
                <a:solidFill>
                  <a:srgbClr val="3A464C"/>
                </a:solidFill>
                <a:latin typeface="Calibri" pitchFamily="34" charset="0"/>
                <a:ea typeface="Calibri" pitchFamily="34" charset="-122"/>
                <a:cs typeface="Calibri" pitchFamily="34" charset="-120"/>
              </a:rPr>
              <a:t>Ties:</a:t>
            </a:r>
            <a:r>
              <a:rPr lang="en-US" sz="1300" dirty="0">
                <a:solidFill>
                  <a:srgbClr val="3A464C"/>
                </a:solidFill>
                <a:latin typeface="Calibri" pitchFamily="34" charset="0"/>
                <a:ea typeface="Calibri" pitchFamily="34" charset="-122"/>
                <a:cs typeface="Calibri" pitchFamily="34" charset="-120"/>
              </a:rPr>
              <a:t> /index.html and /images/logo.png both have 33 hits; sort decides the order.</a:t>
            </a:r>
            <a:endParaRPr lang="en-US" sz="1300" dirty="0"/>
          </a:p>
          <a:p>
            <a:pPr marL="228600" indent="-228600">
              <a:spcAft>
                <a:spcPts val="400"/>
              </a:spcAft>
              <a:buSzPct val="100000"/>
              <a:buChar char="•"/>
            </a:pPr>
            <a:r>
              <a:rPr lang="en-US" sz="1300" b="1" dirty="0">
                <a:solidFill>
                  <a:srgbClr val="3A464C"/>
                </a:solidFill>
                <a:latin typeface="Calibri" pitchFamily="34" charset="0"/>
                <a:ea typeface="Calibri" pitchFamily="34" charset="-122"/>
                <a:cs typeface="Calibri" pitchFamily="34" charset="-120"/>
              </a:rPr>
              <a:t>Departments:</a:t>
            </a:r>
            <a:r>
              <a:rPr lang="en-US" sz="1300" dirty="0">
                <a:solidFill>
                  <a:srgbClr val="3A464C"/>
                </a:solidFill>
                <a:latin typeface="Calibri" pitchFamily="34" charset="0"/>
                <a:ea typeface="Calibri" pitchFamily="34" charset="-122"/>
                <a:cs typeface="Calibri" pitchFamily="34" charset="-120"/>
              </a:rPr>
              <a:t> 17 + 11 + 10 + 2 = 40.</a:t>
            </a:r>
            <a:endParaRPr lang="en-US" sz="1300" dirty="0"/>
          </a:p>
          <a:p>
            <a:pPr marL="228600" indent="-228600">
              <a:spcAft>
                <a:spcPts val="400"/>
              </a:spcAft>
              <a:buSzPct val="100000"/>
              <a:buChar char="•"/>
            </a:pPr>
            <a:r>
              <a:rPr lang="en-US" sz="1300" b="1" dirty="0">
                <a:solidFill>
                  <a:srgbClr val="3A464C"/>
                </a:solidFill>
                <a:latin typeface="Calibri" pitchFamily="34" charset="0"/>
                <a:ea typeface="Calibri" pitchFamily="34" charset="-122"/>
                <a:cs typeface="Calibri" pitchFamily="34" charset="-120"/>
              </a:rPr>
              <a:t>Averages:</a:t>
            </a:r>
            <a:r>
              <a:rPr lang="en-US" sz="1300" dirty="0">
                <a:solidFill>
                  <a:srgbClr val="3A464C"/>
                </a:solidFill>
                <a:latin typeface="Calibri" pitchFamily="34" charset="0"/>
                <a:ea typeface="Calibri" pitchFamily="34" charset="-122"/>
                <a:cs typeface="Calibri" pitchFamily="34" charset="-120"/>
              </a:rPr>
              <a:t> midterm 66.95 → printed 67.0; final 65.6.</a:t>
            </a:r>
            <a:endParaRPr lang="en-US" sz="1300" dirty="0"/>
          </a:p>
          <a:p>
            <a:pPr marL="228600" indent="-228600">
              <a:spcAft>
                <a:spcPts val="400"/>
              </a:spcAft>
              <a:buSzPct val="100000"/>
              <a:buChar char="•"/>
            </a:pPr>
            <a:r>
              <a:rPr lang="en-US" sz="1300" b="1" dirty="0">
                <a:solidFill>
                  <a:srgbClr val="3A464C"/>
                </a:solidFill>
                <a:latin typeface="Calibri" pitchFamily="34" charset="0"/>
                <a:ea typeface="Calibri" pitchFamily="34" charset="-122"/>
                <a:cs typeface="Calibri" pitchFamily="34" charset="-120"/>
              </a:rPr>
              <a:t>Passed:</a:t>
            </a:r>
            <a:r>
              <a:rPr lang="en-US" sz="1300" dirty="0">
                <a:solidFill>
                  <a:srgbClr val="3A464C"/>
                </a:solidFill>
                <a:latin typeface="Calibri" pitchFamily="34" charset="0"/>
                <a:ea typeface="Calibri" pitchFamily="34" charset="-122"/>
                <a:cs typeface="Calibri" pitchFamily="34" charset="-120"/>
              </a:rPr>
              <a:t> 35 of 40 have 0.4m + 0.6f ≥ 50.</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COMMON MISTAKES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Mistakes You Will Make (Everybody Does)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14  ·  35</a:t>
            </a:r>
            <a:endParaRPr lang="en-US" sz="900" dirty="0"/>
          </a:p>
        </p:txBody>
      </p:sp>
      <p:sp>
        <p:nvSpPr>
          <p:cNvPr id="6" name="Text 4"/>
          <p:cNvSpPr txBox="1"/>
          <p:nvPr/>
        </p:nvSpPr>
        <p:spPr>
          <a:xfrm>
            <a:off x="548640" y="1508760"/>
            <a:ext cx="3566160" cy="292608"/>
          </a:xfrm>
          <a:prstGeom prst="rect">
            <a:avLst/>
          </a:prstGeom>
          <a:noFill/>
          <a:ln/>
        </p:spPr>
        <p:txBody>
          <a:bodyPr wrap="square" lIns="0" tIns="0" rIns="0" bIns="0" rtlCol="0" anchor="t"/>
          <a:lstStyle/>
          <a:p>
            <a:pPr indent="0" marL="0">
              <a:buNone/>
            </a:pPr>
            <a:r>
              <a:rPr lang="en-US" sz="1250" b="1" dirty="0">
                <a:solidFill>
                  <a:srgbClr val="B5453A"/>
                </a:solidFill>
                <a:latin typeface="Calibri" pitchFamily="34" charset="0"/>
                <a:ea typeface="Calibri" pitchFamily="34" charset="-122"/>
                <a:cs typeface="Calibri" pitchFamily="34" charset="-120"/>
              </a:rPr>
              <a:t>Spaces around =</a:t>
            </a:r>
            <a:endParaRPr lang="en-US" sz="1250" dirty="0"/>
          </a:p>
        </p:txBody>
      </p:sp>
      <p:sp>
        <p:nvSpPr>
          <p:cNvPr id="7" name="Shape 5"/>
          <p:cNvSpPr/>
          <p:nvPr/>
        </p:nvSpPr>
        <p:spPr>
          <a:xfrm>
            <a:off x="548640" y="1874520"/>
            <a:ext cx="3566160" cy="2514600"/>
          </a:xfrm>
          <a:prstGeom prst="roundRect">
            <a:avLst>
              <a:gd name="adj" fmla="val 1818"/>
            </a:avLst>
          </a:prstGeom>
          <a:solidFill>
            <a:srgbClr val="212121"/>
          </a:solidFill>
          <a:ln/>
        </p:spPr>
        <p:txBody>
          <a:bodyPr/>
          <a:p/>
        </p:txBody>
      </p:sp>
      <p:sp>
        <p:nvSpPr>
          <p:cNvPr id="8" name="Text 6"/>
          <p:cNvSpPr txBox="1"/>
          <p:nvPr/>
        </p:nvSpPr>
        <p:spPr>
          <a:xfrm>
            <a:off x="685800" y="1993392"/>
            <a:ext cx="3291840" cy="2331720"/>
          </a:xfrm>
          <a:prstGeom prst="rect">
            <a:avLst/>
          </a:prstGeom>
          <a:noFill/>
          <a:ln/>
        </p:spPr>
        <p:txBody>
          <a:bodyPr wrap="square" lIns="0" tIns="0" rIns="0" bIns="0" rtlCol="0" anchor="t"/>
          <a:lstStyle/>
          <a:p>
            <a:pPr indent="0" marL="0">
              <a:buNone/>
            </a:pPr>
            <a:r>
              <a:rPr lang="en-US" sz="1150" dirty="0">
                <a:solidFill>
                  <a:srgbClr val="F2F2F2"/>
                </a:solidFill>
                <a:latin typeface="Consolas" pitchFamily="34" charset="0"/>
                <a:ea typeface="Consolas" pitchFamily="34" charset="-122"/>
                <a:cs typeface="Consolas" pitchFamily="34" charset="-120"/>
              </a:rPr>
              <a:t>name = "Ayse"</a:t>
            </a:r>
            <a:endParaRPr lang="en-US" sz="1150" dirty="0"/>
          </a:p>
          <a:p>
            <a:pPr indent="0" marL="0">
              <a:buNone/>
            </a:pPr>
            <a:r>
              <a:rPr lang="en-US" sz="1150" dirty="0">
                <a:solidFill>
                  <a:srgbClr val="F2F2F2"/>
                </a:solidFill>
                <a:latin typeface="Consolas" pitchFamily="34" charset="0"/>
                <a:ea typeface="Consolas" pitchFamily="34" charset="-122"/>
                <a:cs typeface="Consolas" pitchFamily="34" charset="-120"/>
              </a:rPr>
              <a:t>echo "Hello $name"</a:t>
            </a:r>
            <a:endParaRPr lang="en-US" sz="1150" dirty="0"/>
          </a:p>
          <a:p>
            <a:pPr indent="0" marL="0">
              <a:buNone/>
            </a:pPr>
            <a:r>
              <a:rPr lang="en-US" sz="1150" dirty="0">
                <a:solidFill>
                  <a:srgbClr val="02C39A"/>
                </a:solidFill>
                <a:latin typeface="Consolas" pitchFamily="34" charset="0"/>
                <a:ea typeface="Consolas" pitchFamily="34" charset="-122"/>
                <a:cs typeface="Consolas" pitchFamily="34" charset="-120"/>
              </a:rPr>
              <a:t>$ ./bad_space.sh</a:t>
            </a:r>
            <a:endParaRPr lang="en-US" sz="1150" dirty="0"/>
          </a:p>
          <a:p>
            <a:pPr indent="0" marL="0">
              <a:buNone/>
            </a:pPr>
            <a:r>
              <a:rPr lang="en-US" sz="1150" dirty="0">
                <a:solidFill>
                  <a:srgbClr val="F2A49A"/>
                </a:solidFill>
                <a:latin typeface="Consolas" pitchFamily="34" charset="0"/>
                <a:ea typeface="Consolas" pitchFamily="34" charset="-122"/>
                <a:cs typeface="Consolas" pitchFamily="34" charset="-120"/>
              </a:rPr>
              <a:t>./bad_space.sh: line 2: name: command not found</a:t>
            </a:r>
            <a:endParaRPr lang="en-US" sz="1150" dirty="0"/>
          </a:p>
          <a:p>
            <a:pPr indent="0" marL="0">
              <a:buNone/>
            </a:pPr>
            <a:r>
              <a:rPr lang="en-US" sz="1150" dirty="0">
                <a:solidFill>
                  <a:srgbClr val="F2F2F2"/>
                </a:solidFill>
                <a:latin typeface="Consolas" pitchFamily="34" charset="0"/>
                <a:ea typeface="Consolas" pitchFamily="34" charset="-122"/>
                <a:cs typeface="Consolas" pitchFamily="34" charset="-120"/>
              </a:rPr>
              <a:t>Hello </a:t>
            </a:r>
            <a:endParaRPr lang="en-US" sz="1150" dirty="0"/>
          </a:p>
        </p:txBody>
      </p:sp>
      <p:sp>
        <p:nvSpPr>
          <p:cNvPr id="9" name="Shape 7"/>
          <p:cNvSpPr/>
          <p:nvPr/>
        </p:nvSpPr>
        <p:spPr>
          <a:xfrm>
            <a:off x="548640" y="4572000"/>
            <a:ext cx="3566160" cy="594360"/>
          </a:xfrm>
          <a:prstGeom prst="roundRect">
            <a:avLst>
              <a:gd name="adj" fmla="val 7692"/>
            </a:avLst>
          </a:prstGeom>
          <a:solidFill>
            <a:srgbClr val="D7E9E6"/>
          </a:solidFill>
          <a:ln/>
        </p:spPr>
        <p:txBody>
          <a:bodyPr/>
          <a:p/>
        </p:txBody>
      </p:sp>
      <p:sp>
        <p:nvSpPr>
          <p:cNvPr id="10" name="Text 8"/>
          <p:cNvSpPr txBox="1"/>
          <p:nvPr/>
        </p:nvSpPr>
        <p:spPr>
          <a:xfrm>
            <a:off x="548640" y="4572000"/>
            <a:ext cx="3566160" cy="594360"/>
          </a:xfrm>
          <a:prstGeom prst="rect">
            <a:avLst/>
          </a:prstGeom>
          <a:noFill/>
          <a:ln/>
        </p:spPr>
        <p:txBody>
          <a:bodyPr wrap="square" lIns="38100" tIns="38100" rIns="38100" bIns="38100" rtlCol="0" anchor="ctr"/>
          <a:lstStyle/>
          <a:p>
            <a:pPr algn="ctr" indent="0" marL="0">
              <a:buNone/>
            </a:pPr>
            <a:r>
              <a:rPr lang="en-US" sz="1250" dirty="0">
                <a:solidFill>
                  <a:srgbClr val="212121"/>
                </a:solidFill>
                <a:latin typeface="Consolas" pitchFamily="34" charset="0"/>
                <a:ea typeface="Consolas" pitchFamily="34" charset="-122"/>
                <a:cs typeface="Consolas" pitchFamily="34" charset="-120"/>
              </a:rPr>
              <a:t>Fix: name="Ayse"</a:t>
            </a:r>
            <a:endParaRPr lang="en-US" sz="1250" dirty="0"/>
          </a:p>
        </p:txBody>
      </p:sp>
      <p:sp>
        <p:nvSpPr>
          <p:cNvPr id="11" name="Text 9"/>
          <p:cNvSpPr txBox="1"/>
          <p:nvPr/>
        </p:nvSpPr>
        <p:spPr>
          <a:xfrm>
            <a:off x="4320540" y="1508760"/>
            <a:ext cx="3566160" cy="292608"/>
          </a:xfrm>
          <a:prstGeom prst="rect">
            <a:avLst/>
          </a:prstGeom>
          <a:noFill/>
          <a:ln/>
        </p:spPr>
        <p:txBody>
          <a:bodyPr wrap="square" lIns="0" tIns="0" rIns="0" bIns="0" rtlCol="0" anchor="t"/>
          <a:lstStyle/>
          <a:p>
            <a:pPr indent="0" marL="0">
              <a:buNone/>
            </a:pPr>
            <a:r>
              <a:rPr lang="en-US" sz="1250" b="1" dirty="0">
                <a:solidFill>
                  <a:srgbClr val="B5453A"/>
                </a:solidFill>
                <a:latin typeface="Calibri" pitchFamily="34" charset="0"/>
                <a:ea typeface="Calibri" pitchFamily="34" charset="-122"/>
                <a:cs typeface="Calibri" pitchFamily="34" charset="-120"/>
              </a:rPr>
              <a:t>No spaces inside [ ]</a:t>
            </a:r>
            <a:endParaRPr lang="en-US" sz="1250" dirty="0"/>
          </a:p>
        </p:txBody>
      </p:sp>
      <p:sp>
        <p:nvSpPr>
          <p:cNvPr id="12" name="Shape 10"/>
          <p:cNvSpPr/>
          <p:nvPr/>
        </p:nvSpPr>
        <p:spPr>
          <a:xfrm>
            <a:off x="4320540" y="1874520"/>
            <a:ext cx="3566160" cy="2514600"/>
          </a:xfrm>
          <a:prstGeom prst="roundRect">
            <a:avLst>
              <a:gd name="adj" fmla="val 1818"/>
            </a:avLst>
          </a:prstGeom>
          <a:solidFill>
            <a:srgbClr val="212121"/>
          </a:solidFill>
          <a:ln/>
        </p:spPr>
        <p:txBody>
          <a:bodyPr/>
          <a:p/>
        </p:txBody>
      </p:sp>
      <p:sp>
        <p:nvSpPr>
          <p:cNvPr id="13" name="Text 11"/>
          <p:cNvSpPr txBox="1"/>
          <p:nvPr/>
        </p:nvSpPr>
        <p:spPr>
          <a:xfrm>
            <a:off x="4457700" y="1993392"/>
            <a:ext cx="3291840" cy="2331720"/>
          </a:xfrm>
          <a:prstGeom prst="rect">
            <a:avLst/>
          </a:prstGeom>
          <a:noFill/>
          <a:ln/>
        </p:spPr>
        <p:txBody>
          <a:bodyPr wrap="square" lIns="0" tIns="0" rIns="0" bIns="0" rtlCol="0" anchor="t"/>
          <a:lstStyle/>
          <a:p>
            <a:pPr indent="0" marL="0">
              <a:buNone/>
            </a:pPr>
            <a:r>
              <a:rPr lang="en-US" sz="1150" dirty="0">
                <a:solidFill>
                  <a:srgbClr val="F2F2F2"/>
                </a:solidFill>
                <a:latin typeface="Consolas" pitchFamily="34" charset="0"/>
                <a:ea typeface="Consolas" pitchFamily="34" charset="-122"/>
                <a:cs typeface="Consolas" pitchFamily="34" charset="-120"/>
              </a:rPr>
              <a:t>n=5</a:t>
            </a:r>
            <a:endParaRPr lang="en-US" sz="1150" dirty="0"/>
          </a:p>
          <a:p>
            <a:pPr indent="0" marL="0">
              <a:buNone/>
            </a:pPr>
            <a:r>
              <a:rPr lang="en-US" sz="1150" dirty="0">
                <a:solidFill>
                  <a:srgbClr val="F2F2F2"/>
                </a:solidFill>
                <a:latin typeface="Consolas" pitchFamily="34" charset="0"/>
                <a:ea typeface="Consolas" pitchFamily="34" charset="-122"/>
                <a:cs typeface="Consolas" pitchFamily="34" charset="-120"/>
              </a:rPr>
              <a:t>if [$n -gt 3]; then echo "big"; fi</a:t>
            </a:r>
            <a:endParaRPr lang="en-US" sz="1150" dirty="0"/>
          </a:p>
          <a:p>
            <a:pPr indent="0" marL="0">
              <a:buNone/>
            </a:pPr>
            <a:r>
              <a:rPr lang="en-US" sz="1150" dirty="0">
                <a:solidFill>
                  <a:srgbClr val="02C39A"/>
                </a:solidFill>
                <a:latin typeface="Consolas" pitchFamily="34" charset="0"/>
                <a:ea typeface="Consolas" pitchFamily="34" charset="-122"/>
                <a:cs typeface="Consolas" pitchFamily="34" charset="-120"/>
              </a:rPr>
              <a:t>$ ./bad_test.sh</a:t>
            </a:r>
            <a:endParaRPr lang="en-US" sz="1150" dirty="0"/>
          </a:p>
          <a:p>
            <a:pPr indent="0" marL="0">
              <a:buNone/>
            </a:pPr>
            <a:r>
              <a:rPr lang="en-US" sz="1150" dirty="0">
                <a:solidFill>
                  <a:srgbClr val="F2A49A"/>
                </a:solidFill>
                <a:latin typeface="Consolas" pitchFamily="34" charset="0"/>
                <a:ea typeface="Consolas" pitchFamily="34" charset="-122"/>
                <a:cs typeface="Consolas" pitchFamily="34" charset="-120"/>
              </a:rPr>
              <a:t>./bad_test.sh: line 3: [5: command not found</a:t>
            </a:r>
            <a:endParaRPr lang="en-US" sz="1150" dirty="0"/>
          </a:p>
        </p:txBody>
      </p:sp>
      <p:sp>
        <p:nvSpPr>
          <p:cNvPr id="14" name="Shape 12"/>
          <p:cNvSpPr/>
          <p:nvPr/>
        </p:nvSpPr>
        <p:spPr>
          <a:xfrm>
            <a:off x="4320540" y="4572000"/>
            <a:ext cx="3566160" cy="594360"/>
          </a:xfrm>
          <a:prstGeom prst="roundRect">
            <a:avLst>
              <a:gd name="adj" fmla="val 7692"/>
            </a:avLst>
          </a:prstGeom>
          <a:solidFill>
            <a:srgbClr val="D7E9E6"/>
          </a:solidFill>
          <a:ln/>
        </p:spPr>
        <p:txBody>
          <a:bodyPr/>
          <a:p/>
        </p:txBody>
      </p:sp>
      <p:sp>
        <p:nvSpPr>
          <p:cNvPr id="15" name="Text 13"/>
          <p:cNvSpPr txBox="1"/>
          <p:nvPr/>
        </p:nvSpPr>
        <p:spPr>
          <a:xfrm>
            <a:off x="4320540" y="4572000"/>
            <a:ext cx="3566160" cy="594360"/>
          </a:xfrm>
          <a:prstGeom prst="rect">
            <a:avLst/>
          </a:prstGeom>
          <a:noFill/>
          <a:ln/>
        </p:spPr>
        <p:txBody>
          <a:bodyPr wrap="square" lIns="38100" tIns="38100" rIns="38100" bIns="38100" rtlCol="0" anchor="ctr"/>
          <a:lstStyle/>
          <a:p>
            <a:pPr algn="ctr" indent="0" marL="0">
              <a:buNone/>
            </a:pPr>
            <a:r>
              <a:rPr lang="en-US" sz="1250" dirty="0">
                <a:solidFill>
                  <a:srgbClr val="212121"/>
                </a:solidFill>
                <a:latin typeface="Consolas" pitchFamily="34" charset="0"/>
                <a:ea typeface="Consolas" pitchFamily="34" charset="-122"/>
                <a:cs typeface="Consolas" pitchFamily="34" charset="-120"/>
              </a:rPr>
              <a:t>Fix: if [ "$n" -gt 3 ]; then</a:t>
            </a:r>
            <a:endParaRPr lang="en-US" sz="1250" dirty="0"/>
          </a:p>
        </p:txBody>
      </p:sp>
      <p:sp>
        <p:nvSpPr>
          <p:cNvPr id="16" name="Text 14"/>
          <p:cNvSpPr txBox="1"/>
          <p:nvPr/>
        </p:nvSpPr>
        <p:spPr>
          <a:xfrm>
            <a:off x="8092440" y="1508760"/>
            <a:ext cx="3566160" cy="292608"/>
          </a:xfrm>
          <a:prstGeom prst="rect">
            <a:avLst/>
          </a:prstGeom>
          <a:noFill/>
          <a:ln/>
        </p:spPr>
        <p:txBody>
          <a:bodyPr wrap="square" lIns="0" tIns="0" rIns="0" bIns="0" rtlCol="0" anchor="t"/>
          <a:lstStyle/>
          <a:p>
            <a:pPr indent="0" marL="0">
              <a:buNone/>
            </a:pPr>
            <a:r>
              <a:rPr lang="en-US" sz="1250" b="1" dirty="0">
                <a:solidFill>
                  <a:srgbClr val="B5453A"/>
                </a:solidFill>
                <a:latin typeface="Calibri" pitchFamily="34" charset="0"/>
                <a:ea typeface="Calibri" pitchFamily="34" charset="-122"/>
                <a:cs typeface="Calibri" pitchFamily="34" charset="-120"/>
              </a:rPr>
              <a:t>Missing quotes</a:t>
            </a:r>
            <a:endParaRPr lang="en-US" sz="1250" dirty="0"/>
          </a:p>
        </p:txBody>
      </p:sp>
      <p:sp>
        <p:nvSpPr>
          <p:cNvPr id="17" name="Shape 15"/>
          <p:cNvSpPr/>
          <p:nvPr/>
        </p:nvSpPr>
        <p:spPr>
          <a:xfrm>
            <a:off x="8092440" y="1874520"/>
            <a:ext cx="3566160" cy="2514600"/>
          </a:xfrm>
          <a:prstGeom prst="roundRect">
            <a:avLst>
              <a:gd name="adj" fmla="val 1818"/>
            </a:avLst>
          </a:prstGeom>
          <a:solidFill>
            <a:srgbClr val="212121"/>
          </a:solidFill>
          <a:ln/>
        </p:spPr>
        <p:txBody>
          <a:bodyPr/>
          <a:p/>
        </p:txBody>
      </p:sp>
      <p:sp>
        <p:nvSpPr>
          <p:cNvPr id="18" name="Text 16"/>
          <p:cNvSpPr txBox="1"/>
          <p:nvPr/>
        </p:nvSpPr>
        <p:spPr>
          <a:xfrm>
            <a:off x="8229600" y="1993392"/>
            <a:ext cx="3291840" cy="2331720"/>
          </a:xfrm>
          <a:prstGeom prst="rect">
            <a:avLst/>
          </a:prstGeom>
          <a:noFill/>
          <a:ln/>
        </p:spPr>
        <p:txBody>
          <a:bodyPr wrap="square" lIns="0" tIns="0" rIns="0" bIns="0" rtlCol="0" anchor="t"/>
          <a:lstStyle/>
          <a:p>
            <a:pPr indent="0" marL="0">
              <a:buNone/>
            </a:pPr>
            <a:r>
              <a:rPr lang="en-US" sz="1150" dirty="0">
                <a:solidFill>
                  <a:srgbClr val="F2F2F2"/>
                </a:solidFill>
                <a:latin typeface="Consolas" pitchFamily="34" charset="0"/>
                <a:ea typeface="Consolas" pitchFamily="34" charset="-122"/>
                <a:cs typeface="Consolas" pitchFamily="34" charset="-120"/>
              </a:rPr>
              <a:t>answer=""</a:t>
            </a:r>
            <a:endParaRPr lang="en-US" sz="1150" dirty="0"/>
          </a:p>
          <a:p>
            <a:pPr indent="0" marL="0">
              <a:buNone/>
            </a:pPr>
            <a:r>
              <a:rPr lang="en-US" sz="1150" dirty="0">
                <a:solidFill>
                  <a:srgbClr val="F2F2F2"/>
                </a:solidFill>
                <a:latin typeface="Consolas" pitchFamily="34" charset="0"/>
                <a:ea typeface="Consolas" pitchFamily="34" charset="-122"/>
                <a:cs typeface="Consolas" pitchFamily="34" charset="-120"/>
              </a:rPr>
              <a:t>if [ $answer = yes ]; then echo "OK"; fi</a:t>
            </a:r>
            <a:endParaRPr lang="en-US" sz="1150" dirty="0"/>
          </a:p>
          <a:p>
            <a:pPr indent="0" marL="0">
              <a:buNone/>
            </a:pPr>
            <a:r>
              <a:rPr lang="en-US" sz="1150" dirty="0">
                <a:solidFill>
                  <a:srgbClr val="02C39A"/>
                </a:solidFill>
                <a:latin typeface="Consolas" pitchFamily="34" charset="0"/>
                <a:ea typeface="Consolas" pitchFamily="34" charset="-122"/>
                <a:cs typeface="Consolas" pitchFamily="34" charset="-120"/>
              </a:rPr>
              <a:t>$ ./bad_quotes.sh</a:t>
            </a:r>
            <a:endParaRPr lang="en-US" sz="1150" dirty="0"/>
          </a:p>
          <a:p>
            <a:pPr indent="0" marL="0">
              <a:buNone/>
            </a:pPr>
            <a:r>
              <a:rPr lang="en-US" sz="1150" dirty="0">
                <a:solidFill>
                  <a:srgbClr val="F2A49A"/>
                </a:solidFill>
                <a:latin typeface="Consolas" pitchFamily="34" charset="0"/>
                <a:ea typeface="Consolas" pitchFamily="34" charset="-122"/>
                <a:cs typeface="Consolas" pitchFamily="34" charset="-120"/>
              </a:rPr>
              <a:t>./bad_quotes.sh: line 3: [: =: unary operator expected</a:t>
            </a:r>
            <a:endParaRPr lang="en-US" sz="1150" dirty="0"/>
          </a:p>
        </p:txBody>
      </p:sp>
      <p:sp>
        <p:nvSpPr>
          <p:cNvPr id="19" name="Shape 17"/>
          <p:cNvSpPr/>
          <p:nvPr/>
        </p:nvSpPr>
        <p:spPr>
          <a:xfrm>
            <a:off x="8092440" y="4572000"/>
            <a:ext cx="3566160" cy="594360"/>
          </a:xfrm>
          <a:prstGeom prst="roundRect">
            <a:avLst>
              <a:gd name="adj" fmla="val 7692"/>
            </a:avLst>
          </a:prstGeom>
          <a:solidFill>
            <a:srgbClr val="D7E9E6"/>
          </a:solidFill>
          <a:ln/>
        </p:spPr>
        <p:txBody>
          <a:bodyPr/>
          <a:p/>
        </p:txBody>
      </p:sp>
      <p:sp>
        <p:nvSpPr>
          <p:cNvPr id="20" name="Text 18"/>
          <p:cNvSpPr txBox="1"/>
          <p:nvPr/>
        </p:nvSpPr>
        <p:spPr>
          <a:xfrm>
            <a:off x="8092440" y="4572000"/>
            <a:ext cx="3566160" cy="594360"/>
          </a:xfrm>
          <a:prstGeom prst="rect">
            <a:avLst/>
          </a:prstGeom>
          <a:noFill/>
          <a:ln/>
        </p:spPr>
        <p:txBody>
          <a:bodyPr wrap="square" lIns="38100" tIns="38100" rIns="38100" bIns="38100" rtlCol="0" anchor="ctr"/>
          <a:lstStyle/>
          <a:p>
            <a:pPr algn="ctr" indent="0" marL="0">
              <a:buNone/>
            </a:pPr>
            <a:r>
              <a:rPr lang="en-US" sz="1250" dirty="0">
                <a:solidFill>
                  <a:srgbClr val="212121"/>
                </a:solidFill>
                <a:latin typeface="Consolas" pitchFamily="34" charset="0"/>
                <a:ea typeface="Consolas" pitchFamily="34" charset="-122"/>
                <a:cs typeface="Consolas" pitchFamily="34" charset="-120"/>
              </a:rPr>
              <a:t>Fix: [ "$answer" = yes ]</a:t>
            </a:r>
            <a:endParaRPr lang="en-US" sz="1250" dirty="0"/>
          </a:p>
        </p:txBody>
      </p:sp>
      <p:sp>
        <p:nvSpPr>
          <p:cNvPr id="21" name="Text 19"/>
          <p:cNvSpPr txBox="1"/>
          <p:nvPr/>
        </p:nvSpPr>
        <p:spPr>
          <a:xfrm>
            <a:off x="548640" y="5440680"/>
            <a:ext cx="11109960" cy="731520"/>
          </a:xfrm>
          <a:prstGeom prst="rect">
            <a:avLst/>
          </a:prstGeom>
          <a:noFill/>
          <a:ln/>
        </p:spPr>
        <p:txBody>
          <a:bodyPr wrap="square" lIns="0" tIns="0" rIns="0" bIns="0" rtlCol="0" anchor="t"/>
          <a:lstStyle/>
          <a:p>
            <a:pPr indent="0" marL="0">
              <a:buNone/>
            </a:pPr>
            <a:r>
              <a:rPr lang="en-US" sz="1600" i="1" dirty="0">
                <a:solidFill>
                  <a:srgbClr val="6B7679"/>
                </a:solidFill>
                <a:latin typeface="Calibri" pitchFamily="34" charset="0"/>
                <a:ea typeface="Calibri" pitchFamily="34" charset="-122"/>
                <a:cs typeface="Calibri" pitchFamily="34" charset="-120"/>
              </a:rPr>
              <a:t>Read the error message: it names the script, the line number and the word bash could not understand.</a:t>
            </a:r>
            <a:endParaRPr lang="en-US" sz="1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COMMON MISTAKES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Windows Line Endings, Missing fi, Missing chmod</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14  ·  36</a:t>
            </a:r>
            <a:endParaRPr lang="en-US" sz="900" dirty="0"/>
          </a:p>
        </p:txBody>
      </p:sp>
      <p:sp>
        <p:nvSpPr>
          <p:cNvPr id="6" name="Shape 4"/>
          <p:cNvSpPr/>
          <p:nvPr/>
        </p:nvSpPr>
        <p:spPr>
          <a:xfrm>
            <a:off x="548640" y="1508760"/>
            <a:ext cx="7223760" cy="3429000"/>
          </a:xfrm>
          <a:prstGeom prst="roundRect">
            <a:avLst>
              <a:gd name="adj" fmla="val 1333"/>
            </a:avLst>
          </a:prstGeom>
          <a:solidFill>
            <a:srgbClr val="212121"/>
          </a:solidFill>
          <a:ln/>
        </p:spPr>
        <p:txBody>
          <a:bodyPr/>
          <a:p/>
        </p:txBody>
      </p:sp>
      <p:sp>
        <p:nvSpPr>
          <p:cNvPr id="7" name="Text 5"/>
          <p:cNvSpPr txBox="1"/>
          <p:nvPr/>
        </p:nvSpPr>
        <p:spPr>
          <a:xfrm>
            <a:off x="731520" y="1618488"/>
            <a:ext cx="6858000" cy="3209544"/>
          </a:xfrm>
          <a:prstGeom prst="rect">
            <a:avLst/>
          </a:prstGeom>
          <a:noFill/>
          <a:ln/>
        </p:spPr>
        <p:txBody>
          <a:bodyPr wrap="square" lIns="0" tIns="0" rIns="0" bIns="0" rtlCol="0" anchor="t"/>
          <a:lstStyle/>
          <a:p>
            <a:pPr indent="0" marL="0">
              <a:lnSpc>
                <a:spcPct val="100000"/>
              </a:lnSpc>
              <a:buNone/>
            </a:pPr>
            <a:r>
              <a:rPr lang="en-US" sz="1250" dirty="0">
                <a:solidFill>
                  <a:srgbClr val="02C39A"/>
                </a:solidFill>
                <a:latin typeface="Consolas" pitchFamily="34" charset="0"/>
                <a:ea typeface="Consolas" pitchFamily="34" charset="-122"/>
                <a:cs typeface="Consolas" pitchFamily="34" charset="-120"/>
              </a:rPr>
              <a:t>student@okan-lab:~/lab/scripts$ </a:t>
            </a:r>
            <a:r>
              <a:rPr lang="en-US" sz="1250" b="1" dirty="0">
                <a:solidFill>
                  <a:srgbClr val="FFFFFF"/>
                </a:solidFill>
                <a:latin typeface="Consolas" pitchFamily="34" charset="0"/>
                <a:ea typeface="Consolas" pitchFamily="34" charset="-122"/>
                <a:cs typeface="Consolas" pitchFamily="34" charset="-120"/>
              </a:rPr>
              <a:t>./win.sh</a:t>
            </a:r>
            <a:endParaRPr lang="en-US" sz="1250" dirty="0"/>
          </a:p>
          <a:p>
            <a:pPr indent="0" marL="0">
              <a:lnSpc>
                <a:spcPct val="100000"/>
              </a:lnSpc>
              <a:buNone/>
            </a:pPr>
            <a:r>
              <a:rPr lang="en-US" sz="1250" dirty="0">
                <a:solidFill>
                  <a:srgbClr val="C9D1D3"/>
                </a:solidFill>
                <a:latin typeface="Consolas" pitchFamily="34" charset="0"/>
                <a:ea typeface="Consolas" pitchFamily="34" charset="-122"/>
                <a:cs typeface="Consolas" pitchFamily="34" charset="-120"/>
              </a:rPr>
              <a:t>bash: ./win.sh: cannot execute: required file not found</a:t>
            </a:r>
            <a:endParaRPr lang="en-US" sz="1250" dirty="0"/>
          </a:p>
          <a:p>
            <a:pPr indent="0" marL="0">
              <a:lnSpc>
                <a:spcPct val="100000"/>
              </a:lnSpc>
              <a:buNone/>
            </a:pPr>
            <a:r>
              <a:rPr lang="en-US" sz="1250" dirty="0">
                <a:solidFill>
                  <a:srgbClr val="02C39A"/>
                </a:solidFill>
                <a:latin typeface="Consolas" pitchFamily="34" charset="0"/>
                <a:ea typeface="Consolas" pitchFamily="34" charset="-122"/>
                <a:cs typeface="Consolas" pitchFamily="34" charset="-120"/>
              </a:rPr>
              <a:t>student@okan-lab:~/lab/scripts$ </a:t>
            </a:r>
            <a:r>
              <a:rPr lang="en-US" sz="1250" b="1" dirty="0">
                <a:solidFill>
                  <a:srgbClr val="FFFFFF"/>
                </a:solidFill>
                <a:latin typeface="Consolas" pitchFamily="34" charset="0"/>
                <a:ea typeface="Consolas" pitchFamily="34" charset="-122"/>
                <a:cs typeface="Consolas" pitchFamily="34" charset="-120"/>
              </a:rPr>
              <a:t>bash win.sh</a:t>
            </a:r>
            <a:endParaRPr lang="en-US" sz="1250" dirty="0"/>
          </a:p>
          <a:p>
            <a:pPr indent="0" marL="0">
              <a:lnSpc>
                <a:spcPct val="100000"/>
              </a:lnSpc>
              <a:buNone/>
            </a:pPr>
            <a:r>
              <a:rPr lang="en-US" sz="1250" dirty="0">
                <a:solidFill>
                  <a:srgbClr val="C9D1D3"/>
                </a:solidFill>
                <a:latin typeface="Consolas" pitchFamily="34" charset="0"/>
                <a:ea typeface="Consolas" pitchFamily="34" charset="-122"/>
                <a:cs typeface="Consolas" pitchFamily="34" charset="-120"/>
              </a:rPr>
              <a:t>win.sh: line 2: cd: $'/home/student/lab\r': No such file or directory</a:t>
            </a:r>
            <a:endParaRPr lang="en-US" sz="1250" dirty="0"/>
          </a:p>
          <a:p>
            <a:pPr indent="0" marL="0">
              <a:lnSpc>
                <a:spcPct val="100000"/>
              </a:lnSpc>
              <a:buNone/>
            </a:pPr>
            <a:r>
              <a:rPr lang="en-US" sz="1250" dirty="0">
                <a:solidFill>
                  <a:srgbClr val="C9D1D3"/>
                </a:solidFill>
                <a:latin typeface="Consolas" pitchFamily="34" charset="0"/>
                <a:ea typeface="Consolas" pitchFamily="34" charset="-122"/>
                <a:cs typeface="Consolas" pitchFamily="34" charset="-120"/>
              </a:rPr>
              <a:t>Hello from Windows</a:t>
            </a:r>
            <a:endParaRPr lang="en-US" sz="1250" dirty="0"/>
          </a:p>
          <a:p>
            <a:pPr indent="0" marL="0">
              <a:lnSpc>
                <a:spcPct val="100000"/>
              </a:lnSpc>
              <a:buNone/>
            </a:pPr>
            <a:r>
              <a:rPr lang="en-US" sz="1250" dirty="0">
                <a:solidFill>
                  <a:srgbClr val="02C39A"/>
                </a:solidFill>
                <a:latin typeface="Consolas" pitchFamily="34" charset="0"/>
                <a:ea typeface="Consolas" pitchFamily="34" charset="-122"/>
                <a:cs typeface="Consolas" pitchFamily="34" charset="-120"/>
              </a:rPr>
              <a:t>student@okan-lab:~/lab/scripts$ </a:t>
            </a:r>
            <a:r>
              <a:rPr lang="en-US" sz="1250" b="1" dirty="0">
                <a:solidFill>
                  <a:srgbClr val="FFFFFF"/>
                </a:solidFill>
                <a:latin typeface="Consolas" pitchFamily="34" charset="0"/>
                <a:ea typeface="Consolas" pitchFamily="34" charset="-122"/>
                <a:cs typeface="Consolas" pitchFamily="34" charset="-120"/>
              </a:rPr>
              <a:t>cat -A win.sh</a:t>
            </a:r>
            <a:endParaRPr lang="en-US" sz="1250" dirty="0"/>
          </a:p>
          <a:p>
            <a:pPr indent="0" marL="0">
              <a:lnSpc>
                <a:spcPct val="100000"/>
              </a:lnSpc>
              <a:buNone/>
            </a:pPr>
            <a:r>
              <a:rPr lang="en-US" sz="1250" dirty="0">
                <a:solidFill>
                  <a:srgbClr val="C9D1D3"/>
                </a:solidFill>
                <a:latin typeface="Consolas" pitchFamily="34" charset="0"/>
                <a:ea typeface="Consolas" pitchFamily="34" charset="-122"/>
                <a:cs typeface="Consolas" pitchFamily="34" charset="-120"/>
              </a:rPr>
              <a:t>#!/bin/bash^M$</a:t>
            </a:r>
            <a:endParaRPr lang="en-US" sz="1250" dirty="0"/>
          </a:p>
          <a:p>
            <a:pPr indent="0" marL="0">
              <a:lnSpc>
                <a:spcPct val="100000"/>
              </a:lnSpc>
              <a:buNone/>
            </a:pPr>
            <a:r>
              <a:rPr lang="en-US" sz="1250" dirty="0">
                <a:solidFill>
                  <a:srgbClr val="C9D1D3"/>
                </a:solidFill>
                <a:latin typeface="Consolas" pitchFamily="34" charset="0"/>
                <a:ea typeface="Consolas" pitchFamily="34" charset="-122"/>
                <a:cs typeface="Consolas" pitchFamily="34" charset="-120"/>
              </a:rPr>
              <a:t>cd ~/lab^M$</a:t>
            </a:r>
            <a:endParaRPr lang="en-US" sz="1250" dirty="0"/>
          </a:p>
          <a:p>
            <a:pPr indent="0" marL="0">
              <a:lnSpc>
                <a:spcPct val="100000"/>
              </a:lnSpc>
              <a:buNone/>
            </a:pPr>
            <a:r>
              <a:rPr lang="en-US" sz="1250" dirty="0">
                <a:solidFill>
                  <a:srgbClr val="C9D1D3"/>
                </a:solidFill>
                <a:latin typeface="Consolas" pitchFamily="34" charset="0"/>
                <a:ea typeface="Consolas" pitchFamily="34" charset="-122"/>
                <a:cs typeface="Consolas" pitchFamily="34" charset="-120"/>
              </a:rPr>
              <a:t>echo "Hello from Windows"^M$</a:t>
            </a:r>
            <a:endParaRPr lang="en-US" sz="1250" dirty="0"/>
          </a:p>
          <a:p>
            <a:pPr indent="0" marL="0">
              <a:lnSpc>
                <a:spcPct val="100000"/>
              </a:lnSpc>
              <a:buNone/>
            </a:pPr>
            <a:r>
              <a:rPr lang="en-US" sz="1250" dirty="0">
                <a:solidFill>
                  <a:srgbClr val="02C39A"/>
                </a:solidFill>
                <a:latin typeface="Consolas" pitchFamily="34" charset="0"/>
                <a:ea typeface="Consolas" pitchFamily="34" charset="-122"/>
                <a:cs typeface="Consolas" pitchFamily="34" charset="-120"/>
              </a:rPr>
              <a:t>student@okan-lab:~/lab/scripts$ </a:t>
            </a:r>
            <a:r>
              <a:rPr lang="en-US" sz="1250" b="1" dirty="0">
                <a:solidFill>
                  <a:srgbClr val="FFFFFF"/>
                </a:solidFill>
                <a:latin typeface="Consolas" pitchFamily="34" charset="0"/>
                <a:ea typeface="Consolas" pitchFamily="34" charset="-122"/>
                <a:cs typeface="Consolas" pitchFamily="34" charset="-120"/>
              </a:rPr>
              <a:t>sed -i 's/\r$//' win.sh</a:t>
            </a:r>
            <a:endParaRPr lang="en-US" sz="1250" dirty="0"/>
          </a:p>
          <a:p>
            <a:pPr indent="0" marL="0">
              <a:lnSpc>
                <a:spcPct val="100000"/>
              </a:lnSpc>
              <a:buNone/>
            </a:pPr>
            <a:r>
              <a:rPr lang="en-US" sz="1250" dirty="0">
                <a:solidFill>
                  <a:srgbClr val="02C39A"/>
                </a:solidFill>
                <a:latin typeface="Consolas" pitchFamily="34" charset="0"/>
                <a:ea typeface="Consolas" pitchFamily="34" charset="-122"/>
                <a:cs typeface="Consolas" pitchFamily="34" charset="-120"/>
              </a:rPr>
              <a:t>student@okan-lab:~/lab/scripts$ </a:t>
            </a:r>
            <a:r>
              <a:rPr lang="en-US" sz="1250" b="1" dirty="0">
                <a:solidFill>
                  <a:srgbClr val="FFFFFF"/>
                </a:solidFill>
                <a:latin typeface="Consolas" pitchFamily="34" charset="0"/>
                <a:ea typeface="Consolas" pitchFamily="34" charset="-122"/>
                <a:cs typeface="Consolas" pitchFamily="34" charset="-120"/>
              </a:rPr>
              <a:t>./win.sh</a:t>
            </a:r>
            <a:endParaRPr lang="en-US" sz="1250" dirty="0"/>
          </a:p>
          <a:p>
            <a:pPr indent="0" marL="0">
              <a:lnSpc>
                <a:spcPct val="100000"/>
              </a:lnSpc>
              <a:buNone/>
            </a:pPr>
            <a:r>
              <a:rPr lang="en-US" sz="1250" dirty="0">
                <a:solidFill>
                  <a:srgbClr val="C9D1D3"/>
                </a:solidFill>
                <a:latin typeface="Consolas" pitchFamily="34" charset="0"/>
                <a:ea typeface="Consolas" pitchFamily="34" charset="-122"/>
                <a:cs typeface="Consolas" pitchFamily="34" charset="-120"/>
              </a:rPr>
              <a:t>Hello from Windows</a:t>
            </a:r>
            <a:endParaRPr lang="en-US" sz="1250" dirty="0"/>
          </a:p>
        </p:txBody>
      </p:sp>
      <p:sp>
        <p:nvSpPr>
          <p:cNvPr id="8" name="Shape 6"/>
          <p:cNvSpPr/>
          <p:nvPr/>
        </p:nvSpPr>
        <p:spPr>
          <a:xfrm>
            <a:off x="548640" y="5120640"/>
            <a:ext cx="7223760" cy="1143000"/>
          </a:xfrm>
          <a:prstGeom prst="roundRect">
            <a:avLst>
              <a:gd name="adj" fmla="val 4000"/>
            </a:avLst>
          </a:prstGeom>
          <a:solidFill>
            <a:srgbClr val="212121"/>
          </a:solidFill>
          <a:ln/>
        </p:spPr>
        <p:txBody>
          <a:bodyPr/>
          <a:p/>
        </p:txBody>
      </p:sp>
      <p:sp>
        <p:nvSpPr>
          <p:cNvPr id="9" name="Text 7"/>
          <p:cNvSpPr txBox="1"/>
          <p:nvPr/>
        </p:nvSpPr>
        <p:spPr>
          <a:xfrm>
            <a:off x="731520" y="5230368"/>
            <a:ext cx="6858000" cy="923544"/>
          </a:xfrm>
          <a:prstGeom prst="rect">
            <a:avLst/>
          </a:prstGeom>
          <a:noFill/>
          <a:ln/>
        </p:spPr>
        <p:txBody>
          <a:bodyPr wrap="square" lIns="0" tIns="0" rIns="0" bIns="0" rtlCol="0" anchor="t"/>
          <a:lstStyle/>
          <a:p>
            <a:pPr indent="0" marL="0">
              <a:lnSpc>
                <a:spcPct val="100000"/>
              </a:lnSpc>
              <a:buNone/>
            </a:pPr>
            <a:r>
              <a:rPr lang="en-US" sz="1250" dirty="0">
                <a:solidFill>
                  <a:srgbClr val="02C39A"/>
                </a:solidFill>
                <a:latin typeface="Consolas" pitchFamily="34" charset="0"/>
                <a:ea typeface="Consolas" pitchFamily="34" charset="-122"/>
                <a:cs typeface="Consolas" pitchFamily="34" charset="-120"/>
              </a:rPr>
              <a:t>student@okan-lab:~/lab/scripts$ </a:t>
            </a:r>
            <a:r>
              <a:rPr lang="en-US" sz="1250" b="1" dirty="0">
                <a:solidFill>
                  <a:srgbClr val="FFFFFF"/>
                </a:solidFill>
                <a:latin typeface="Consolas" pitchFamily="34" charset="0"/>
                <a:ea typeface="Consolas" pitchFamily="34" charset="-122"/>
                <a:cs typeface="Consolas" pitchFamily="34" charset="-120"/>
              </a:rPr>
              <a:t>bash -n bad_if.sh</a:t>
            </a:r>
            <a:endParaRPr lang="en-US" sz="1250" dirty="0"/>
          </a:p>
          <a:p>
            <a:pPr indent="0" marL="0">
              <a:lnSpc>
                <a:spcPct val="100000"/>
              </a:lnSpc>
              <a:buNone/>
            </a:pPr>
            <a:r>
              <a:rPr lang="en-US" sz="1250" dirty="0">
                <a:solidFill>
                  <a:srgbClr val="C9D1D3"/>
                </a:solidFill>
                <a:latin typeface="Consolas" pitchFamily="34" charset="0"/>
                <a:ea typeface="Consolas" pitchFamily="34" charset="-122"/>
                <a:cs typeface="Consolas" pitchFamily="34" charset="-120"/>
              </a:rPr>
              <a:t>bad_if.sh: line 4: syntax error: unexpected end of file</a:t>
            </a:r>
            <a:endParaRPr lang="en-US" sz="1250" dirty="0"/>
          </a:p>
        </p:txBody>
      </p:sp>
      <p:sp>
        <p:nvSpPr>
          <p:cNvPr id="10" name="Shape 8"/>
          <p:cNvSpPr/>
          <p:nvPr/>
        </p:nvSpPr>
        <p:spPr>
          <a:xfrm>
            <a:off x="8001000" y="1508760"/>
            <a:ext cx="3657600" cy="4754880"/>
          </a:xfrm>
          <a:prstGeom prst="roundRect">
            <a:avLst>
              <a:gd name="adj" fmla="val 1500"/>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1" name="Text 9"/>
          <p:cNvSpPr txBox="1"/>
          <p:nvPr/>
        </p:nvSpPr>
        <p:spPr>
          <a:xfrm>
            <a:off x="8229600" y="1691640"/>
            <a:ext cx="320040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CRLF: the invisible bug</a:t>
            </a:r>
            <a:endParaRPr lang="en-US" sz="1500" dirty="0"/>
          </a:p>
        </p:txBody>
      </p:sp>
      <p:sp>
        <p:nvSpPr>
          <p:cNvPr id="12" name="Text 10"/>
          <p:cNvSpPr txBox="1"/>
          <p:nvPr/>
        </p:nvSpPr>
        <p:spPr>
          <a:xfrm>
            <a:off x="8229600" y="2148840"/>
            <a:ext cx="3200400" cy="3977640"/>
          </a:xfrm>
          <a:prstGeom prst="rect">
            <a:avLst/>
          </a:prstGeom>
          <a:noFill/>
          <a:ln/>
        </p:spPr>
        <p:txBody>
          <a:bodyPr wrap="square" lIns="0" tIns="0" rIns="0" bIns="0" rtlCol="0" anchor="t"/>
          <a:lstStyle/>
          <a:p>
            <a:pPr marL="228600" indent="-228600">
              <a:spcAft>
                <a:spcPts val="400"/>
              </a:spcAft>
              <a:buSzPct val="100000"/>
              <a:buChar char="•"/>
            </a:pPr>
            <a:r>
              <a:rPr lang="en-US" sz="1250" dirty="0">
                <a:solidFill>
                  <a:srgbClr val="3A464C"/>
                </a:solidFill>
                <a:latin typeface="Calibri" pitchFamily="34" charset="0"/>
                <a:ea typeface="Calibri" pitchFamily="34" charset="-122"/>
                <a:cs typeface="Calibri" pitchFamily="34" charset="-120"/>
              </a:rPr>
              <a:t>Windows editors end lines with \r\n; Linux expects \n. The \r (shown as ^M) sticks to the words: the kernel looks for an interpreter called "/bin/bash\r".</a:t>
            </a:r>
            <a:endParaRPr lang="en-US" sz="1250" dirty="0"/>
          </a:p>
          <a:p>
            <a:pPr marL="228600" indent="-228600">
              <a:spcAft>
                <a:spcPts val="400"/>
              </a:spcAft>
              <a:buSzPct val="100000"/>
              <a:buChar char="•"/>
            </a:pPr>
            <a:r>
              <a:rPr lang="en-US" sz="1250" dirty="0">
                <a:solidFill>
                  <a:srgbClr val="3A464C"/>
                </a:solidFill>
                <a:latin typeface="Calibri" pitchFamily="34" charset="0"/>
                <a:ea typeface="Calibri" pitchFamily="34" charset="-122"/>
                <a:cs typeface="Calibri" pitchFamily="34" charset="-120"/>
              </a:rPr>
              <a:t>Newer bash: "cannot execute: required file not found"; older bash (e.g. Ubuntu 22.04): "/bin/bash^M: bad interpreter".</a:t>
            </a:r>
            <a:endParaRPr lang="en-US" sz="1250" dirty="0"/>
          </a:p>
          <a:p>
            <a:pPr marL="228600" indent="-228600">
              <a:spcAft>
                <a:spcPts val="400"/>
              </a:spcAft>
              <a:buSzPct val="100000"/>
              <a:buChar char="•"/>
            </a:pPr>
            <a:r>
              <a:rPr lang="en-US" sz="1250" dirty="0">
                <a:solidFill>
                  <a:srgbClr val="3A464C"/>
                </a:solidFill>
                <a:latin typeface="Calibri" pitchFamily="34" charset="0"/>
                <a:ea typeface="Calibri" pitchFamily="34" charset="-122"/>
                <a:cs typeface="Calibri" pitchFamily="34" charset="-120"/>
              </a:rPr>
              <a:t>Fix: sed -i 's/\r$//' file, or dos2unix file; in VS Code set LF.</a:t>
            </a:r>
            <a:endParaRPr lang="en-US" sz="1250" dirty="0"/>
          </a:p>
          <a:p>
            <a:pPr marL="228600" indent="-228600">
              <a:spcAft>
                <a:spcPts val="400"/>
              </a:spcAft>
              <a:buSzPct val="100000"/>
              <a:buChar char="•"/>
            </a:pPr>
            <a:r>
              <a:rPr lang="en-US" sz="1250" dirty="0">
                <a:solidFill>
                  <a:srgbClr val="3A464C"/>
                </a:solidFill>
                <a:latin typeface="Calibri" pitchFamily="34" charset="0"/>
                <a:ea typeface="Calibri" pitchFamily="34" charset="-122"/>
                <a:cs typeface="Calibri" pitchFamily="34" charset="-120"/>
              </a:rPr>
              <a:t>Missing chmod +x → Permission denied (slide 8).</a:t>
            </a:r>
            <a:endParaRPr lang="en-US" sz="12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LAB · GRADED</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In-Class Lab: Write Four Scripts (35 Minutes)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14  ·  37</a:t>
            </a:r>
            <a:endParaRPr lang="en-US" sz="900" dirty="0"/>
          </a:p>
        </p:txBody>
      </p:sp>
      <p:sp>
        <p:nvSpPr>
          <p:cNvPr id="6" name="Shape 4"/>
          <p:cNvSpPr/>
          <p:nvPr/>
        </p:nvSpPr>
        <p:spPr>
          <a:xfrm>
            <a:off x="548640" y="1508760"/>
            <a:ext cx="731520" cy="749808"/>
          </a:xfrm>
          <a:prstGeom prst="roundRect">
            <a:avLst>
              <a:gd name="adj" fmla="val 6250"/>
            </a:avLst>
          </a:prstGeom>
          <a:solidFill>
            <a:srgbClr val="02C39A"/>
          </a:solidFill>
          <a:ln/>
        </p:spPr>
        <p:txBody>
          <a:bodyPr/>
          <a:p/>
        </p:txBody>
      </p:sp>
      <p:sp>
        <p:nvSpPr>
          <p:cNvPr id="7" name="Text 5"/>
          <p:cNvSpPr txBox="1"/>
          <p:nvPr/>
        </p:nvSpPr>
        <p:spPr>
          <a:xfrm>
            <a:off x="548640" y="1508760"/>
            <a:ext cx="731520" cy="749808"/>
          </a:xfrm>
          <a:prstGeom prst="rect">
            <a:avLst/>
          </a:prstGeom>
          <a:noFill/>
          <a:ln/>
        </p:spPr>
        <p:txBody>
          <a:bodyPr wrap="square" lIns="38100" tIns="38100" rIns="38100" bIns="38100" rtlCol="0" anchor="ctr"/>
          <a:lstStyle/>
          <a:p>
            <a:pPr algn="ctr" indent="0" marL="0">
              <a:buNone/>
            </a:pPr>
            <a:r>
              <a:rPr lang="en-US" sz="2000" b="1" dirty="0">
                <a:solidFill>
                  <a:srgbClr val="36454F"/>
                </a:solidFill>
                <a:latin typeface="Cambria" pitchFamily="34" charset="0"/>
                <a:ea typeface="Cambria" pitchFamily="34" charset="-122"/>
                <a:cs typeface="Cambria" pitchFamily="34" charset="-120"/>
              </a:rPr>
              <a:t>1</a:t>
            </a:r>
            <a:endParaRPr lang="en-US" sz="2000" dirty="0"/>
          </a:p>
        </p:txBody>
      </p:sp>
      <p:sp>
        <p:nvSpPr>
          <p:cNvPr id="8" name="Shape 6"/>
          <p:cNvSpPr/>
          <p:nvPr/>
        </p:nvSpPr>
        <p:spPr>
          <a:xfrm>
            <a:off x="1417320" y="1508760"/>
            <a:ext cx="10241280" cy="749808"/>
          </a:xfrm>
          <a:prstGeom prst="roundRect">
            <a:avLst>
              <a:gd name="adj" fmla="val 6098"/>
            </a:avLst>
          </a:prstGeom>
          <a:solidFill>
            <a:srgbClr val="F2F2F2"/>
          </a:solidFill>
          <a:ln/>
        </p:spPr>
        <p:txBody>
          <a:bodyPr/>
          <a:p/>
        </p:txBody>
      </p:sp>
      <p:sp>
        <p:nvSpPr>
          <p:cNvPr id="9" name="Text 7"/>
          <p:cNvSpPr txBox="1"/>
          <p:nvPr/>
        </p:nvSpPr>
        <p:spPr>
          <a:xfrm>
            <a:off x="1600200" y="1508760"/>
            <a:ext cx="2423160" cy="749808"/>
          </a:xfrm>
          <a:prstGeom prst="rect">
            <a:avLst/>
          </a:prstGeom>
          <a:noFill/>
          <a:ln/>
        </p:spPr>
        <p:txBody>
          <a:bodyPr wrap="square" lIns="0" tIns="0" rIns="0" bIns="0" rtlCol="0" anchor="ctr"/>
          <a:lstStyle/>
          <a:p>
            <a:pPr indent="0" marL="0">
              <a:buNone/>
            </a:pPr>
            <a:r>
              <a:rPr lang="en-US" sz="1500" b="1" dirty="0">
                <a:solidFill>
                  <a:srgbClr val="36454F"/>
                </a:solidFill>
                <a:latin typeface="Consolas" pitchFamily="34" charset="0"/>
                <a:ea typeface="Consolas" pitchFamily="34" charset="-122"/>
                <a:cs typeface="Consolas" pitchFamily="34" charset="-120"/>
              </a:rPr>
              <a:t>power.sh N</a:t>
            </a:r>
            <a:endParaRPr lang="en-US" sz="1500" dirty="0"/>
          </a:p>
        </p:txBody>
      </p:sp>
      <p:sp>
        <p:nvSpPr>
          <p:cNvPr id="10" name="Text 8"/>
          <p:cNvSpPr txBox="1"/>
          <p:nvPr/>
        </p:nvSpPr>
        <p:spPr>
          <a:xfrm>
            <a:off x="4069080" y="1508760"/>
            <a:ext cx="6492240" cy="749808"/>
          </a:xfrm>
          <a:prstGeom prst="rect">
            <a:avLst/>
          </a:prstGeom>
          <a:noFill/>
          <a:ln/>
        </p:spPr>
        <p:txBody>
          <a:bodyPr wrap="square" lIns="0" tIns="0" rIns="0" bIns="0" rtlCol="0" anchor="ctr"/>
          <a:lstStyle/>
          <a:p>
            <a:pPr indent="0" marL="0">
              <a:buNone/>
            </a:pPr>
            <a:r>
              <a:rPr lang="en-US" sz="1450" dirty="0">
                <a:solidFill>
                  <a:srgbClr val="3A464C"/>
                </a:solidFill>
                <a:latin typeface="Calibri" pitchFamily="34" charset="0"/>
                <a:ea typeface="Calibri" pitchFamily="34" charset="-122"/>
                <a:cs typeface="Calibri" pitchFamily="34" charset="-120"/>
              </a:rPr>
              <a:t>Print N, N² and N³. Without an argument: a Usage line and exit 2.</a:t>
            </a:r>
            <a:endParaRPr lang="en-US" sz="1450" dirty="0"/>
          </a:p>
        </p:txBody>
      </p:sp>
      <p:sp>
        <p:nvSpPr>
          <p:cNvPr id="11" name="Text 9"/>
          <p:cNvSpPr txBox="1"/>
          <p:nvPr/>
        </p:nvSpPr>
        <p:spPr>
          <a:xfrm>
            <a:off x="10561320" y="1508760"/>
            <a:ext cx="960120" cy="749808"/>
          </a:xfrm>
          <a:prstGeom prst="rect">
            <a:avLst/>
          </a:prstGeom>
          <a:noFill/>
          <a:ln/>
        </p:spPr>
        <p:txBody>
          <a:bodyPr wrap="square" lIns="0" tIns="0" rIns="0" bIns="0" rtlCol="0" anchor="ctr"/>
          <a:lstStyle/>
          <a:p>
            <a:pPr algn="r" indent="0" marL="0">
              <a:buNone/>
            </a:pPr>
            <a:r>
              <a:rPr lang="en-US" sz="1250" i="1" dirty="0">
                <a:solidFill>
                  <a:srgbClr val="6B7679"/>
                </a:solidFill>
                <a:latin typeface="Calibri" pitchFamily="34" charset="0"/>
                <a:ea typeface="Calibri" pitchFamily="34" charset="-122"/>
                <a:cs typeface="Calibri" pitchFamily="34" charset="-120"/>
              </a:rPr>
              <a:t>Ex. 2</a:t>
            </a:r>
            <a:endParaRPr lang="en-US" sz="1250" dirty="0"/>
          </a:p>
        </p:txBody>
      </p:sp>
      <p:sp>
        <p:nvSpPr>
          <p:cNvPr id="12" name="Shape 10"/>
          <p:cNvSpPr/>
          <p:nvPr/>
        </p:nvSpPr>
        <p:spPr>
          <a:xfrm>
            <a:off x="548640" y="2404872"/>
            <a:ext cx="731520" cy="749808"/>
          </a:xfrm>
          <a:prstGeom prst="roundRect">
            <a:avLst>
              <a:gd name="adj" fmla="val 6250"/>
            </a:avLst>
          </a:prstGeom>
          <a:solidFill>
            <a:srgbClr val="02C39A"/>
          </a:solidFill>
          <a:ln/>
        </p:spPr>
        <p:txBody>
          <a:bodyPr/>
          <a:p/>
        </p:txBody>
      </p:sp>
      <p:sp>
        <p:nvSpPr>
          <p:cNvPr id="13" name="Text 11"/>
          <p:cNvSpPr txBox="1"/>
          <p:nvPr/>
        </p:nvSpPr>
        <p:spPr>
          <a:xfrm>
            <a:off x="548640" y="2404872"/>
            <a:ext cx="731520" cy="749808"/>
          </a:xfrm>
          <a:prstGeom prst="rect">
            <a:avLst/>
          </a:prstGeom>
          <a:noFill/>
          <a:ln/>
        </p:spPr>
        <p:txBody>
          <a:bodyPr wrap="square" lIns="38100" tIns="38100" rIns="38100" bIns="38100" rtlCol="0" anchor="ctr"/>
          <a:lstStyle/>
          <a:p>
            <a:pPr algn="ctr" indent="0" marL="0">
              <a:buNone/>
            </a:pPr>
            <a:r>
              <a:rPr lang="en-US" sz="2000" b="1" dirty="0">
                <a:solidFill>
                  <a:srgbClr val="36454F"/>
                </a:solidFill>
                <a:latin typeface="Cambria" pitchFamily="34" charset="0"/>
                <a:ea typeface="Cambria" pitchFamily="34" charset="-122"/>
                <a:cs typeface="Cambria" pitchFamily="34" charset="-120"/>
              </a:rPr>
              <a:t>2</a:t>
            </a:r>
            <a:endParaRPr lang="en-US" sz="2000" dirty="0"/>
          </a:p>
        </p:txBody>
      </p:sp>
      <p:sp>
        <p:nvSpPr>
          <p:cNvPr id="14" name="Shape 12"/>
          <p:cNvSpPr/>
          <p:nvPr/>
        </p:nvSpPr>
        <p:spPr>
          <a:xfrm>
            <a:off x="1417320" y="2404872"/>
            <a:ext cx="10241280" cy="749808"/>
          </a:xfrm>
          <a:prstGeom prst="roundRect">
            <a:avLst>
              <a:gd name="adj" fmla="val 6098"/>
            </a:avLst>
          </a:prstGeom>
          <a:solidFill>
            <a:srgbClr val="F2F2F2"/>
          </a:solidFill>
          <a:ln/>
        </p:spPr>
        <p:txBody>
          <a:bodyPr/>
          <a:p/>
        </p:txBody>
      </p:sp>
      <p:sp>
        <p:nvSpPr>
          <p:cNvPr id="15" name="Text 13"/>
          <p:cNvSpPr txBox="1"/>
          <p:nvPr/>
        </p:nvSpPr>
        <p:spPr>
          <a:xfrm>
            <a:off x="1600200" y="2404872"/>
            <a:ext cx="2423160" cy="749808"/>
          </a:xfrm>
          <a:prstGeom prst="rect">
            <a:avLst/>
          </a:prstGeom>
          <a:noFill/>
          <a:ln/>
        </p:spPr>
        <p:txBody>
          <a:bodyPr wrap="square" lIns="0" tIns="0" rIns="0" bIns="0" rtlCol="0" anchor="ctr"/>
          <a:lstStyle/>
          <a:p>
            <a:pPr indent="0" marL="0">
              <a:buNone/>
            </a:pPr>
            <a:r>
              <a:rPr lang="en-US" sz="1500" b="1" dirty="0">
                <a:solidFill>
                  <a:srgbClr val="36454F"/>
                </a:solidFill>
                <a:latin typeface="Consolas" pitchFamily="34" charset="0"/>
                <a:ea typeface="Consolas" pitchFamily="34" charset="-122"/>
                <a:cs typeface="Consolas" pitchFamily="34" charset="-120"/>
              </a:rPr>
              <a:t>what.sh PATH…</a:t>
            </a:r>
            <a:endParaRPr lang="en-US" sz="1500" dirty="0"/>
          </a:p>
        </p:txBody>
      </p:sp>
      <p:sp>
        <p:nvSpPr>
          <p:cNvPr id="16" name="Text 14"/>
          <p:cNvSpPr txBox="1"/>
          <p:nvPr/>
        </p:nvSpPr>
        <p:spPr>
          <a:xfrm>
            <a:off x="4069080" y="2404872"/>
            <a:ext cx="6492240" cy="749808"/>
          </a:xfrm>
          <a:prstGeom prst="rect">
            <a:avLst/>
          </a:prstGeom>
          <a:noFill/>
          <a:ln/>
        </p:spPr>
        <p:txBody>
          <a:bodyPr wrap="square" lIns="0" tIns="0" rIns="0" bIns="0" rtlCol="0" anchor="ctr"/>
          <a:lstStyle/>
          <a:p>
            <a:pPr indent="0" marL="0">
              <a:buNone/>
            </a:pPr>
            <a:r>
              <a:rPr lang="en-US" sz="1450" dirty="0">
                <a:solidFill>
                  <a:srgbClr val="3A464C"/>
                </a:solidFill>
                <a:latin typeface="Calibri" pitchFamily="34" charset="0"/>
                <a:ea typeface="Calibri" pitchFamily="34" charset="-122"/>
                <a:cs typeface="Calibri" pitchFamily="34" charset="-120"/>
              </a:rPr>
              <a:t>For every argument say file (with line count), directory or missing; exit 1 if any is missing.</a:t>
            </a:r>
            <a:endParaRPr lang="en-US" sz="1450" dirty="0"/>
          </a:p>
        </p:txBody>
      </p:sp>
      <p:sp>
        <p:nvSpPr>
          <p:cNvPr id="17" name="Text 15"/>
          <p:cNvSpPr txBox="1"/>
          <p:nvPr/>
        </p:nvSpPr>
        <p:spPr>
          <a:xfrm>
            <a:off x="10561320" y="2404872"/>
            <a:ext cx="960120" cy="749808"/>
          </a:xfrm>
          <a:prstGeom prst="rect">
            <a:avLst/>
          </a:prstGeom>
          <a:noFill/>
          <a:ln/>
        </p:spPr>
        <p:txBody>
          <a:bodyPr wrap="square" lIns="0" tIns="0" rIns="0" bIns="0" rtlCol="0" anchor="ctr"/>
          <a:lstStyle/>
          <a:p>
            <a:pPr algn="r" indent="0" marL="0">
              <a:buNone/>
            </a:pPr>
            <a:r>
              <a:rPr lang="en-US" sz="1250" i="1" dirty="0">
                <a:solidFill>
                  <a:srgbClr val="6B7679"/>
                </a:solidFill>
                <a:latin typeface="Calibri" pitchFamily="34" charset="0"/>
                <a:ea typeface="Calibri" pitchFamily="34" charset="-122"/>
                <a:cs typeface="Calibri" pitchFamily="34" charset="-120"/>
              </a:rPr>
              <a:t>Ex. 6</a:t>
            </a:r>
            <a:endParaRPr lang="en-US" sz="1250" dirty="0"/>
          </a:p>
        </p:txBody>
      </p:sp>
      <p:sp>
        <p:nvSpPr>
          <p:cNvPr id="18" name="Shape 16"/>
          <p:cNvSpPr/>
          <p:nvPr/>
        </p:nvSpPr>
        <p:spPr>
          <a:xfrm>
            <a:off x="548640" y="3300984"/>
            <a:ext cx="731520" cy="749808"/>
          </a:xfrm>
          <a:prstGeom prst="roundRect">
            <a:avLst>
              <a:gd name="adj" fmla="val 6250"/>
            </a:avLst>
          </a:prstGeom>
          <a:solidFill>
            <a:srgbClr val="02C39A"/>
          </a:solidFill>
          <a:ln/>
        </p:spPr>
        <p:txBody>
          <a:bodyPr/>
          <a:p/>
        </p:txBody>
      </p:sp>
      <p:sp>
        <p:nvSpPr>
          <p:cNvPr id="19" name="Text 17"/>
          <p:cNvSpPr txBox="1"/>
          <p:nvPr/>
        </p:nvSpPr>
        <p:spPr>
          <a:xfrm>
            <a:off x="548640" y="3300984"/>
            <a:ext cx="731520" cy="749808"/>
          </a:xfrm>
          <a:prstGeom prst="rect">
            <a:avLst/>
          </a:prstGeom>
          <a:noFill/>
          <a:ln/>
        </p:spPr>
        <p:txBody>
          <a:bodyPr wrap="square" lIns="38100" tIns="38100" rIns="38100" bIns="38100" rtlCol="0" anchor="ctr"/>
          <a:lstStyle/>
          <a:p>
            <a:pPr algn="ctr" indent="0" marL="0">
              <a:buNone/>
            </a:pPr>
            <a:r>
              <a:rPr lang="en-US" sz="2000" b="1" dirty="0">
                <a:solidFill>
                  <a:srgbClr val="36454F"/>
                </a:solidFill>
                <a:latin typeface="Cambria" pitchFamily="34" charset="0"/>
                <a:ea typeface="Cambria" pitchFamily="34" charset="-122"/>
                <a:cs typeface="Cambria" pitchFamily="34" charset="-120"/>
              </a:rPr>
              <a:t>3</a:t>
            </a:r>
            <a:endParaRPr lang="en-US" sz="2000" dirty="0"/>
          </a:p>
        </p:txBody>
      </p:sp>
      <p:sp>
        <p:nvSpPr>
          <p:cNvPr id="20" name="Shape 18"/>
          <p:cNvSpPr/>
          <p:nvPr/>
        </p:nvSpPr>
        <p:spPr>
          <a:xfrm>
            <a:off x="1417320" y="3300984"/>
            <a:ext cx="10241280" cy="749808"/>
          </a:xfrm>
          <a:prstGeom prst="roundRect">
            <a:avLst>
              <a:gd name="adj" fmla="val 6098"/>
            </a:avLst>
          </a:prstGeom>
          <a:solidFill>
            <a:srgbClr val="F2F2F2"/>
          </a:solidFill>
          <a:ln/>
        </p:spPr>
        <p:txBody>
          <a:bodyPr/>
          <a:p/>
        </p:txBody>
      </p:sp>
      <p:sp>
        <p:nvSpPr>
          <p:cNvPr id="21" name="Text 19"/>
          <p:cNvSpPr txBox="1"/>
          <p:nvPr/>
        </p:nvSpPr>
        <p:spPr>
          <a:xfrm>
            <a:off x="1600200" y="3300984"/>
            <a:ext cx="2423160" cy="749808"/>
          </a:xfrm>
          <a:prstGeom prst="rect">
            <a:avLst/>
          </a:prstGeom>
          <a:noFill/>
          <a:ln/>
        </p:spPr>
        <p:txBody>
          <a:bodyPr wrap="square" lIns="0" tIns="0" rIns="0" bIns="0" rtlCol="0" anchor="ctr"/>
          <a:lstStyle/>
          <a:p>
            <a:pPr indent="0" marL="0">
              <a:buNone/>
            </a:pPr>
            <a:r>
              <a:rPr lang="en-US" sz="1500" b="1" dirty="0">
                <a:solidFill>
                  <a:srgbClr val="36454F"/>
                </a:solidFill>
                <a:latin typeface="Consolas" pitchFamily="34" charset="0"/>
                <a:ea typeface="Consolas" pitchFamily="34" charset="-122"/>
                <a:cs typeface="Consolas" pitchFamily="34" charset="-120"/>
              </a:rPr>
              <a:t>levels.sh</a:t>
            </a:r>
            <a:endParaRPr lang="en-US" sz="1500" dirty="0"/>
          </a:p>
        </p:txBody>
      </p:sp>
      <p:sp>
        <p:nvSpPr>
          <p:cNvPr id="22" name="Text 20"/>
          <p:cNvSpPr txBox="1"/>
          <p:nvPr/>
        </p:nvSpPr>
        <p:spPr>
          <a:xfrm>
            <a:off x="4069080" y="3300984"/>
            <a:ext cx="6492240" cy="749808"/>
          </a:xfrm>
          <a:prstGeom prst="rect">
            <a:avLst/>
          </a:prstGeom>
          <a:noFill/>
          <a:ln/>
        </p:spPr>
        <p:txBody>
          <a:bodyPr wrap="square" lIns="0" tIns="0" rIns="0" bIns="0" rtlCol="0" anchor="ctr"/>
          <a:lstStyle/>
          <a:p>
            <a:pPr indent="0" marL="0">
              <a:buNone/>
            </a:pPr>
            <a:r>
              <a:rPr lang="en-US" sz="1450" dirty="0">
                <a:solidFill>
                  <a:srgbClr val="3A464C"/>
                </a:solidFill>
                <a:latin typeface="Calibri" pitchFamily="34" charset="0"/>
                <a:ea typeface="Calibri" pitchFamily="34" charset="-122"/>
                <a:cs typeface="Calibri" pitchFamily="34" charset="-120"/>
              </a:rPr>
              <a:t>Count the INFO, WARN and ERROR lines of ~/lab/logs/system.log with a for loop and grep -c.</a:t>
            </a:r>
            <a:endParaRPr lang="en-US" sz="1450" dirty="0"/>
          </a:p>
        </p:txBody>
      </p:sp>
      <p:sp>
        <p:nvSpPr>
          <p:cNvPr id="23" name="Text 21"/>
          <p:cNvSpPr txBox="1"/>
          <p:nvPr/>
        </p:nvSpPr>
        <p:spPr>
          <a:xfrm>
            <a:off x="10561320" y="3300984"/>
            <a:ext cx="960120" cy="749808"/>
          </a:xfrm>
          <a:prstGeom prst="rect">
            <a:avLst/>
          </a:prstGeom>
          <a:noFill/>
          <a:ln/>
        </p:spPr>
        <p:txBody>
          <a:bodyPr wrap="square" lIns="0" tIns="0" rIns="0" bIns="0" rtlCol="0" anchor="ctr"/>
          <a:lstStyle/>
          <a:p>
            <a:pPr algn="r" indent="0" marL="0">
              <a:buNone/>
            </a:pPr>
            <a:r>
              <a:rPr lang="en-US" sz="1250" i="1" dirty="0">
                <a:solidFill>
                  <a:srgbClr val="6B7679"/>
                </a:solidFill>
                <a:latin typeface="Calibri" pitchFamily="34" charset="0"/>
                <a:ea typeface="Calibri" pitchFamily="34" charset="-122"/>
                <a:cs typeface="Calibri" pitchFamily="34" charset="-120"/>
              </a:rPr>
              <a:t>Ex. 11</a:t>
            </a:r>
            <a:endParaRPr lang="en-US" sz="1250" dirty="0"/>
          </a:p>
        </p:txBody>
      </p:sp>
      <p:sp>
        <p:nvSpPr>
          <p:cNvPr id="24" name="Shape 22"/>
          <p:cNvSpPr/>
          <p:nvPr/>
        </p:nvSpPr>
        <p:spPr>
          <a:xfrm>
            <a:off x="548640" y="4197096"/>
            <a:ext cx="731520" cy="749808"/>
          </a:xfrm>
          <a:prstGeom prst="roundRect">
            <a:avLst>
              <a:gd name="adj" fmla="val 6250"/>
            </a:avLst>
          </a:prstGeom>
          <a:solidFill>
            <a:srgbClr val="02C39A"/>
          </a:solidFill>
          <a:ln/>
        </p:spPr>
        <p:txBody>
          <a:bodyPr/>
          <a:p/>
        </p:txBody>
      </p:sp>
      <p:sp>
        <p:nvSpPr>
          <p:cNvPr id="25" name="Text 23"/>
          <p:cNvSpPr txBox="1"/>
          <p:nvPr/>
        </p:nvSpPr>
        <p:spPr>
          <a:xfrm>
            <a:off x="548640" y="4197096"/>
            <a:ext cx="731520" cy="749808"/>
          </a:xfrm>
          <a:prstGeom prst="rect">
            <a:avLst/>
          </a:prstGeom>
          <a:noFill/>
          <a:ln/>
        </p:spPr>
        <p:txBody>
          <a:bodyPr wrap="square" lIns="38100" tIns="38100" rIns="38100" bIns="38100" rtlCol="0" anchor="ctr"/>
          <a:lstStyle/>
          <a:p>
            <a:pPr algn="ctr" indent="0" marL="0">
              <a:buNone/>
            </a:pPr>
            <a:r>
              <a:rPr lang="en-US" sz="2000" b="1" dirty="0">
                <a:solidFill>
                  <a:srgbClr val="36454F"/>
                </a:solidFill>
                <a:latin typeface="Cambria" pitchFamily="34" charset="0"/>
                <a:ea typeface="Cambria" pitchFamily="34" charset="-122"/>
                <a:cs typeface="Cambria" pitchFamily="34" charset="-120"/>
              </a:rPr>
              <a:t>4</a:t>
            </a:r>
            <a:endParaRPr lang="en-US" sz="2000" dirty="0"/>
          </a:p>
        </p:txBody>
      </p:sp>
      <p:sp>
        <p:nvSpPr>
          <p:cNvPr id="26" name="Shape 24"/>
          <p:cNvSpPr/>
          <p:nvPr/>
        </p:nvSpPr>
        <p:spPr>
          <a:xfrm>
            <a:off x="1417320" y="4197096"/>
            <a:ext cx="10241280" cy="749808"/>
          </a:xfrm>
          <a:prstGeom prst="roundRect">
            <a:avLst>
              <a:gd name="adj" fmla="val 6098"/>
            </a:avLst>
          </a:prstGeom>
          <a:solidFill>
            <a:srgbClr val="F2F2F2"/>
          </a:solidFill>
          <a:ln/>
        </p:spPr>
        <p:txBody>
          <a:bodyPr/>
          <a:p/>
        </p:txBody>
      </p:sp>
      <p:sp>
        <p:nvSpPr>
          <p:cNvPr id="27" name="Text 25"/>
          <p:cNvSpPr txBox="1"/>
          <p:nvPr/>
        </p:nvSpPr>
        <p:spPr>
          <a:xfrm>
            <a:off x="1600200" y="4197096"/>
            <a:ext cx="2423160" cy="749808"/>
          </a:xfrm>
          <a:prstGeom prst="rect">
            <a:avLst/>
          </a:prstGeom>
          <a:noFill/>
          <a:ln/>
        </p:spPr>
        <p:txBody>
          <a:bodyPr wrap="square" lIns="0" tIns="0" rIns="0" bIns="0" rtlCol="0" anchor="ctr"/>
          <a:lstStyle/>
          <a:p>
            <a:pPr indent="0" marL="0">
              <a:buNone/>
            </a:pPr>
            <a:r>
              <a:rPr lang="en-US" sz="1500" b="1" dirty="0">
                <a:solidFill>
                  <a:srgbClr val="36454F"/>
                </a:solidFill>
                <a:latin typeface="Consolas" pitchFamily="34" charset="0"/>
                <a:ea typeface="Consolas" pitchFamily="34" charset="-122"/>
                <a:cs typeface="Consolas" pitchFamily="34" charset="-120"/>
              </a:rPr>
              <a:t>backup_keep.sh</a:t>
            </a:r>
            <a:endParaRPr lang="en-US" sz="1500" dirty="0"/>
          </a:p>
        </p:txBody>
      </p:sp>
      <p:sp>
        <p:nvSpPr>
          <p:cNvPr id="28" name="Text 26"/>
          <p:cNvSpPr txBox="1"/>
          <p:nvPr/>
        </p:nvSpPr>
        <p:spPr>
          <a:xfrm>
            <a:off x="4069080" y="4197096"/>
            <a:ext cx="6492240" cy="749808"/>
          </a:xfrm>
          <a:prstGeom prst="rect">
            <a:avLst/>
          </a:prstGeom>
          <a:noFill/>
          <a:ln/>
        </p:spPr>
        <p:txBody>
          <a:bodyPr wrap="square" lIns="0" tIns="0" rIns="0" bIns="0" rtlCol="0" anchor="ctr"/>
          <a:lstStyle/>
          <a:p>
            <a:pPr indent="0" marL="0">
              <a:buNone/>
            </a:pPr>
            <a:r>
              <a:rPr lang="en-US" sz="1450" dirty="0">
                <a:solidFill>
                  <a:srgbClr val="3A464C"/>
                </a:solidFill>
                <a:latin typeface="Calibri" pitchFamily="34" charset="0"/>
                <a:ea typeface="Calibri" pitchFamily="34" charset="-122"/>
                <a:cs typeface="Calibri" pitchFamily="34" charset="-120"/>
              </a:rPr>
              <a:t>Challenge: extend backup.sh so that only the 3 newest archives are kept.</a:t>
            </a:r>
            <a:endParaRPr lang="en-US" sz="1450" dirty="0"/>
          </a:p>
        </p:txBody>
      </p:sp>
      <p:sp>
        <p:nvSpPr>
          <p:cNvPr id="29" name="Text 27"/>
          <p:cNvSpPr txBox="1"/>
          <p:nvPr/>
        </p:nvSpPr>
        <p:spPr>
          <a:xfrm>
            <a:off x="10561320" y="4197096"/>
            <a:ext cx="960120" cy="749808"/>
          </a:xfrm>
          <a:prstGeom prst="rect">
            <a:avLst/>
          </a:prstGeom>
          <a:noFill/>
          <a:ln/>
        </p:spPr>
        <p:txBody>
          <a:bodyPr wrap="square" lIns="0" tIns="0" rIns="0" bIns="0" rtlCol="0" anchor="ctr"/>
          <a:lstStyle/>
          <a:p>
            <a:pPr algn="r" indent="0" marL="0">
              <a:buNone/>
            </a:pPr>
            <a:r>
              <a:rPr lang="en-US" sz="1250" i="1" dirty="0">
                <a:solidFill>
                  <a:srgbClr val="6B7679"/>
                </a:solidFill>
                <a:latin typeface="Calibri" pitchFamily="34" charset="0"/>
                <a:ea typeface="Calibri" pitchFamily="34" charset="-122"/>
                <a:cs typeface="Calibri" pitchFamily="34" charset="-120"/>
              </a:rPr>
              <a:t>Ex. 13</a:t>
            </a:r>
            <a:endParaRPr lang="en-US" sz="1250" dirty="0"/>
          </a:p>
        </p:txBody>
      </p:sp>
      <p:sp>
        <p:nvSpPr>
          <p:cNvPr id="30" name="Shape 28"/>
          <p:cNvSpPr/>
          <p:nvPr/>
        </p:nvSpPr>
        <p:spPr>
          <a:xfrm>
            <a:off x="548640" y="5212080"/>
            <a:ext cx="11109960" cy="1051560"/>
          </a:xfrm>
          <a:prstGeom prst="roundRect">
            <a:avLst>
              <a:gd name="adj" fmla="val 5217"/>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31" name="Text 29"/>
          <p:cNvSpPr txBox="1"/>
          <p:nvPr/>
        </p:nvSpPr>
        <p:spPr>
          <a:xfrm>
            <a:off x="777240" y="5212080"/>
            <a:ext cx="10652760" cy="1051560"/>
          </a:xfrm>
          <a:prstGeom prst="rect">
            <a:avLst/>
          </a:prstGeom>
          <a:noFill/>
          <a:ln/>
        </p:spPr>
        <p:txBody>
          <a:bodyPr wrap="square" lIns="0" tIns="0" rIns="0" bIns="0" rtlCol="0" anchor="ctr"/>
          <a:lstStyle/>
          <a:p>
            <a:pPr indent="0" marL="0">
              <a:buNone/>
            </a:pPr>
            <a:r>
              <a:rPr lang="en-US" sz="1350" dirty="0">
                <a:solidFill>
                  <a:srgbClr val="F2F2F2"/>
                </a:solidFill>
                <a:latin typeface="Calibri" pitchFamily="34" charset="0"/>
                <a:ea typeface="Calibri" pitchFamily="34" charset="-122"/>
                <a:cs typeface="Calibri" pitchFamily="34" charset="-120"/>
              </a:rPr>
              <a:t>Grading: runs without errors (40 %), correct output (30 %), handles bad input (15 %), comments + quoting + shebang (15 %). Test each script with bash -n first. Submit the four .sh files as announced on the course Telegram channel.</a:t>
            </a:r>
            <a:endParaRPr lang="en-US" sz="13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QUICK QUIZ</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Check Your Understanding</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14  ·  38</a:t>
            </a:r>
            <a:endParaRPr lang="en-US" sz="900" dirty="0"/>
          </a:p>
        </p:txBody>
      </p:sp>
      <p:sp>
        <p:nvSpPr>
          <p:cNvPr id="6" name="Shape 4"/>
          <p:cNvSpPr/>
          <p:nvPr/>
        </p:nvSpPr>
        <p:spPr>
          <a:xfrm>
            <a:off x="548640" y="1508760"/>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7" name="Shape 5"/>
          <p:cNvSpPr/>
          <p:nvPr/>
        </p:nvSpPr>
        <p:spPr>
          <a:xfrm>
            <a:off x="777240" y="1780794"/>
            <a:ext cx="493776" cy="493776"/>
          </a:xfrm>
          <a:prstGeom prst="ellipse">
            <a:avLst/>
          </a:prstGeom>
          <a:solidFill>
            <a:srgbClr val="02C39A"/>
          </a:solidFill>
          <a:ln/>
        </p:spPr>
        <p:txBody>
          <a:bodyPr/>
          <a:p/>
        </p:txBody>
      </p:sp>
      <p:sp>
        <p:nvSpPr>
          <p:cNvPr id="8" name="Text 6"/>
          <p:cNvSpPr txBox="1"/>
          <p:nvPr/>
        </p:nvSpPr>
        <p:spPr>
          <a:xfrm>
            <a:off x="777240" y="1780794"/>
            <a:ext cx="493776" cy="49377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9" name="Text 7"/>
          <p:cNvSpPr txBox="1"/>
          <p:nvPr/>
        </p:nvSpPr>
        <p:spPr>
          <a:xfrm>
            <a:off x="1508760" y="1508760"/>
            <a:ext cx="9921240" cy="1037844"/>
          </a:xfrm>
          <a:prstGeom prst="rect">
            <a:avLst/>
          </a:prstGeom>
          <a:noFill/>
          <a:ln/>
        </p:spPr>
        <p:txBody>
          <a:bodyPr wrap="square" lIns="0" tIns="0" rIns="0" bIns="0" rtlCol="0" anchor="ctr"/>
          <a:lstStyle/>
          <a:p>
            <a:pPr indent="0" marL="0">
              <a:buNone/>
            </a:pPr>
            <a:r>
              <a:rPr lang="en-US" sz="1600" dirty="0">
                <a:solidFill>
                  <a:srgbClr val="3A464C"/>
                </a:solidFill>
                <a:latin typeface="Calibri" pitchFamily="34" charset="0"/>
                <a:ea typeface="Calibri" pitchFamily="34" charset="-122"/>
                <a:cs typeface="Calibri" pitchFamily="34" charset="-120"/>
              </a:rPr>
              <a:t>Why does ./hello.sh print "Permission denied" while bash hello.sh works? Which exit status do you get?</a:t>
            </a:r>
            <a:endParaRPr lang="en-US" sz="1600" dirty="0"/>
          </a:p>
        </p:txBody>
      </p:sp>
      <p:sp>
        <p:nvSpPr>
          <p:cNvPr id="10" name="Shape 8"/>
          <p:cNvSpPr/>
          <p:nvPr/>
        </p:nvSpPr>
        <p:spPr>
          <a:xfrm>
            <a:off x="548640" y="2747772"/>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1" name="Shape 9"/>
          <p:cNvSpPr/>
          <p:nvPr/>
        </p:nvSpPr>
        <p:spPr>
          <a:xfrm>
            <a:off x="777240" y="3019806"/>
            <a:ext cx="493776" cy="493776"/>
          </a:xfrm>
          <a:prstGeom prst="ellipse">
            <a:avLst/>
          </a:prstGeom>
          <a:solidFill>
            <a:srgbClr val="02C39A"/>
          </a:solidFill>
          <a:ln/>
        </p:spPr>
        <p:txBody>
          <a:bodyPr/>
          <a:p/>
        </p:txBody>
      </p:sp>
      <p:sp>
        <p:nvSpPr>
          <p:cNvPr id="12" name="Text 10"/>
          <p:cNvSpPr txBox="1"/>
          <p:nvPr/>
        </p:nvSpPr>
        <p:spPr>
          <a:xfrm>
            <a:off x="777240" y="3019806"/>
            <a:ext cx="493776" cy="49377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3" name="Text 11"/>
          <p:cNvSpPr txBox="1"/>
          <p:nvPr/>
        </p:nvSpPr>
        <p:spPr>
          <a:xfrm>
            <a:off x="1508760" y="2747772"/>
            <a:ext cx="9921240" cy="1037844"/>
          </a:xfrm>
          <a:prstGeom prst="rect">
            <a:avLst/>
          </a:prstGeom>
          <a:noFill/>
          <a:ln/>
        </p:spPr>
        <p:txBody>
          <a:bodyPr wrap="square" lIns="0" tIns="0" rIns="0" bIns="0" rtlCol="0" anchor="ctr"/>
          <a:lstStyle/>
          <a:p>
            <a:pPr indent="0" marL="0">
              <a:buNone/>
            </a:pPr>
            <a:r>
              <a:rPr lang="en-US" sz="1600" dirty="0">
                <a:solidFill>
                  <a:srgbClr val="3A464C"/>
                </a:solidFill>
                <a:latin typeface="Calibri" pitchFamily="34" charset="0"/>
                <a:ea typeface="Calibri" pitchFamily="34" charset="-122"/>
                <a:cs typeface="Calibri" pitchFamily="34" charset="-120"/>
              </a:rPr>
              <a:t>x=7; y=2. What do echo "$((x / y))", echo '$x' and echo "$x$y" print?</a:t>
            </a:r>
            <a:endParaRPr lang="en-US" sz="1600" dirty="0"/>
          </a:p>
        </p:txBody>
      </p:sp>
      <p:sp>
        <p:nvSpPr>
          <p:cNvPr id="14" name="Shape 12"/>
          <p:cNvSpPr/>
          <p:nvPr/>
        </p:nvSpPr>
        <p:spPr>
          <a:xfrm>
            <a:off x="548640" y="3986784"/>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5" name="Shape 13"/>
          <p:cNvSpPr/>
          <p:nvPr/>
        </p:nvSpPr>
        <p:spPr>
          <a:xfrm>
            <a:off x="777240" y="4258818"/>
            <a:ext cx="493776" cy="493776"/>
          </a:xfrm>
          <a:prstGeom prst="ellipse">
            <a:avLst/>
          </a:prstGeom>
          <a:solidFill>
            <a:srgbClr val="02C39A"/>
          </a:solidFill>
          <a:ln/>
        </p:spPr>
        <p:txBody>
          <a:bodyPr/>
          <a:p/>
        </p:txBody>
      </p:sp>
      <p:sp>
        <p:nvSpPr>
          <p:cNvPr id="16" name="Text 14"/>
          <p:cNvSpPr txBox="1"/>
          <p:nvPr/>
        </p:nvSpPr>
        <p:spPr>
          <a:xfrm>
            <a:off x="777240" y="4258818"/>
            <a:ext cx="493776" cy="49377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txBox="1"/>
          <p:nvPr/>
        </p:nvSpPr>
        <p:spPr>
          <a:xfrm>
            <a:off x="1508760" y="3986784"/>
            <a:ext cx="9921240" cy="1037844"/>
          </a:xfrm>
          <a:prstGeom prst="rect">
            <a:avLst/>
          </a:prstGeom>
          <a:noFill/>
          <a:ln/>
        </p:spPr>
        <p:txBody>
          <a:bodyPr wrap="square" lIns="0" tIns="0" rIns="0" bIns="0" rtlCol="0" anchor="ctr"/>
          <a:lstStyle/>
          <a:p>
            <a:pPr indent="0" marL="0">
              <a:buNone/>
            </a:pPr>
            <a:r>
              <a:rPr lang="en-US" sz="1600" dirty="0">
                <a:solidFill>
                  <a:srgbClr val="3A464C"/>
                </a:solidFill>
                <a:latin typeface="Calibri" pitchFamily="34" charset="0"/>
                <a:ea typeface="Calibri" pitchFamily="34" charset="-122"/>
                <a:cs typeface="Calibri" pitchFamily="34" charset="-120"/>
              </a:rPr>
              <a:t>Write a test that is true when the file report.txt exists AND the variable n is greater than 10.</a:t>
            </a:r>
            <a:endParaRPr lang="en-US" sz="1600" dirty="0"/>
          </a:p>
        </p:txBody>
      </p:sp>
      <p:sp>
        <p:nvSpPr>
          <p:cNvPr id="18" name="Shape 16"/>
          <p:cNvSpPr/>
          <p:nvPr/>
        </p:nvSpPr>
        <p:spPr>
          <a:xfrm>
            <a:off x="548640" y="5225796"/>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9" name="Shape 17"/>
          <p:cNvSpPr/>
          <p:nvPr/>
        </p:nvSpPr>
        <p:spPr>
          <a:xfrm>
            <a:off x="777240" y="5497830"/>
            <a:ext cx="493776" cy="493776"/>
          </a:xfrm>
          <a:prstGeom prst="ellipse">
            <a:avLst/>
          </a:prstGeom>
          <a:solidFill>
            <a:srgbClr val="02C39A"/>
          </a:solidFill>
          <a:ln/>
        </p:spPr>
        <p:txBody>
          <a:bodyPr/>
          <a:p/>
        </p:txBody>
      </p:sp>
      <p:sp>
        <p:nvSpPr>
          <p:cNvPr id="20" name="Text 18"/>
          <p:cNvSpPr txBox="1"/>
          <p:nvPr/>
        </p:nvSpPr>
        <p:spPr>
          <a:xfrm>
            <a:off x="777240" y="5497830"/>
            <a:ext cx="493776" cy="49377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1" name="Text 19"/>
          <p:cNvSpPr txBox="1"/>
          <p:nvPr/>
        </p:nvSpPr>
        <p:spPr>
          <a:xfrm>
            <a:off x="1508760" y="5225796"/>
            <a:ext cx="9921240" cy="1037844"/>
          </a:xfrm>
          <a:prstGeom prst="rect">
            <a:avLst/>
          </a:prstGeom>
          <a:noFill/>
          <a:ln/>
        </p:spPr>
        <p:txBody>
          <a:bodyPr wrap="square" lIns="0" tIns="0" rIns="0" bIns="0" rtlCol="0" anchor="ctr"/>
          <a:lstStyle/>
          <a:p>
            <a:pPr indent="0" marL="0">
              <a:buNone/>
            </a:pPr>
            <a:r>
              <a:rPr lang="en-US" sz="1600" dirty="0">
                <a:solidFill>
                  <a:srgbClr val="3A464C"/>
                </a:solidFill>
                <a:latin typeface="Calibri" pitchFamily="34" charset="0"/>
                <a:ea typeface="Calibri" pitchFamily="34" charset="-122"/>
                <a:cs typeface="Calibri" pitchFamily="34" charset="-120"/>
              </a:rPr>
              <a:t>./args.sh one "two three" four — what are $# and $2?</a:t>
            </a:r>
            <a:endParaRPr lang="en-US"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WRAP-UP</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Week 14 — Key Takeaways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14  ·  39</a:t>
            </a:r>
            <a:endParaRPr lang="en-US" sz="900" dirty="0"/>
          </a:p>
        </p:txBody>
      </p:sp>
      <p:sp>
        <p:nvSpPr>
          <p:cNvPr id="6" name="Text 4"/>
          <p:cNvSpPr txBox="1"/>
          <p:nvPr/>
        </p:nvSpPr>
        <p:spPr>
          <a:xfrm>
            <a:off x="548640" y="1554480"/>
            <a:ext cx="11064240" cy="4709160"/>
          </a:xfrm>
          <a:prstGeom prst="rect">
            <a:avLst/>
          </a:prstGeom>
          <a:noFill/>
          <a:ln/>
        </p:spPr>
        <p:txBody>
          <a:bodyPr wrap="square" lIns="0" tIns="0" rIns="0" bIns="0" rtlCol="0" anchor="t"/>
          <a:lstStyle/>
          <a:p>
            <a:pPr marL="228600" indent="-228600">
              <a:spcAft>
                <a:spcPts val="1400"/>
              </a:spcAft>
              <a:buSzPct val="100000"/>
              <a:buChar char="•"/>
            </a:pPr>
            <a:r>
              <a:rPr lang="en-US" sz="2000" b="1" dirty="0">
                <a:solidFill>
                  <a:srgbClr val="3A464C"/>
                </a:solidFill>
                <a:latin typeface="Calibri" pitchFamily="34" charset="0"/>
                <a:ea typeface="Calibri" pitchFamily="34" charset="-122"/>
                <a:cs typeface="Calibri" pitchFamily="34" charset="-120"/>
              </a:rPr>
              <a:t>Script:</a:t>
            </a:r>
            <a:r>
              <a:rPr lang="en-US" sz="2000" dirty="0">
                <a:solidFill>
                  <a:srgbClr val="3A464C"/>
                </a:solidFill>
                <a:latin typeface="Calibri" pitchFamily="34" charset="0"/>
                <a:ea typeface="Calibri" pitchFamily="34" charset="-122"/>
                <a:cs typeface="Calibri" pitchFamily="34" charset="-120"/>
              </a:rPr>
              <a:t> a text file of commands; #!/bin/bash on line 1, chmod +x, run with ./script.sh. It runs in a child process (fork + exec).</a:t>
            </a:r>
            <a:endParaRPr lang="en-US" sz="2000" dirty="0"/>
          </a:p>
          <a:p>
            <a:pPr marL="228600" indent="-228600">
              <a:spcAft>
                <a:spcPts val="1400"/>
              </a:spcAft>
              <a:buSzPct val="100000"/>
              <a:buChar char="•"/>
            </a:pPr>
            <a:r>
              <a:rPr lang="en-US" sz="2000" b="1" dirty="0">
                <a:solidFill>
                  <a:srgbClr val="3A464C"/>
                </a:solidFill>
                <a:latin typeface="Calibri" pitchFamily="34" charset="0"/>
                <a:ea typeface="Calibri" pitchFamily="34" charset="-122"/>
                <a:cs typeface="Calibri" pitchFamily="34" charset="-120"/>
              </a:rPr>
              <a:t>Variables:</a:t>
            </a:r>
            <a:r>
              <a:rPr lang="en-US" sz="2000" dirty="0">
                <a:solidFill>
                  <a:srgbClr val="3A464C"/>
                </a:solidFill>
                <a:latin typeface="Calibri" pitchFamily="34" charset="0"/>
                <a:ea typeface="Calibri" pitchFamily="34" charset="-122"/>
                <a:cs typeface="Calibri" pitchFamily="34" charset="-120"/>
              </a:rPr>
              <a:t> name=value without spaces; "$name" in double quotes; $( ) inserts command output; $(( )) does integer arithmetic.</a:t>
            </a:r>
            <a:endParaRPr lang="en-US" sz="2000" dirty="0"/>
          </a:p>
          <a:p>
            <a:pPr marL="228600" indent="-228600">
              <a:spcAft>
                <a:spcPts val="1400"/>
              </a:spcAft>
              <a:buSzPct val="100000"/>
              <a:buChar char="•"/>
            </a:pPr>
            <a:r>
              <a:rPr lang="en-US" sz="2000" b="1" dirty="0">
                <a:solidFill>
                  <a:srgbClr val="3A464C"/>
                </a:solidFill>
                <a:latin typeface="Calibri" pitchFamily="34" charset="0"/>
                <a:ea typeface="Calibri" pitchFamily="34" charset="-122"/>
                <a:cs typeface="Calibri" pitchFamily="34" charset="-120"/>
              </a:rPr>
              <a:t>Input:</a:t>
            </a:r>
            <a:r>
              <a:rPr lang="en-US" sz="2000" dirty="0">
                <a:solidFill>
                  <a:srgbClr val="3A464C"/>
                </a:solidFill>
                <a:latin typeface="Calibri" pitchFamily="34" charset="0"/>
                <a:ea typeface="Calibri" pitchFamily="34" charset="-122"/>
                <a:cs typeface="Calibri" pitchFamily="34" charset="-120"/>
              </a:rPr>
              <a:t> arguments $1 … $9, $#, "$@"; keyboard with read -r.</a:t>
            </a:r>
            <a:endParaRPr lang="en-US" sz="2000" dirty="0"/>
          </a:p>
          <a:p>
            <a:pPr marL="228600" indent="-228600">
              <a:spcAft>
                <a:spcPts val="1400"/>
              </a:spcAft>
              <a:buSzPct val="100000"/>
              <a:buChar char="•"/>
            </a:pPr>
            <a:r>
              <a:rPr lang="en-US" sz="2000" b="1" dirty="0">
                <a:solidFill>
                  <a:srgbClr val="3A464C"/>
                </a:solidFill>
                <a:latin typeface="Calibri" pitchFamily="34" charset="0"/>
                <a:ea typeface="Calibri" pitchFamily="34" charset="-122"/>
                <a:cs typeface="Calibri" pitchFamily="34" charset="-120"/>
              </a:rPr>
              <a:t>Decisions:</a:t>
            </a:r>
            <a:r>
              <a:rPr lang="en-US" sz="2000" dirty="0">
                <a:solidFill>
                  <a:srgbClr val="3A464C"/>
                </a:solidFill>
                <a:latin typeface="Calibri" pitchFamily="34" charset="0"/>
                <a:ea typeface="Calibri" pitchFamily="34" charset="-122"/>
                <a:cs typeface="Calibri" pitchFamily="34" charset="-120"/>
              </a:rPr>
              <a:t> every command has an exit status (0 = success); [ ] tests numbers (-lt), strings (=, -z) and files (-f, -d, -e); if / elif / else / fi.</a:t>
            </a:r>
            <a:endParaRPr lang="en-US" sz="2000" dirty="0"/>
          </a:p>
          <a:p>
            <a:pPr marL="228600" indent="-228600">
              <a:spcAft>
                <a:spcPts val="1400"/>
              </a:spcAft>
              <a:buSzPct val="100000"/>
              <a:buChar char="•"/>
            </a:pPr>
            <a:r>
              <a:rPr lang="en-US" sz="2000" b="1" dirty="0">
                <a:solidFill>
                  <a:srgbClr val="3A464C"/>
                </a:solidFill>
                <a:latin typeface="Calibri" pitchFamily="34" charset="0"/>
                <a:ea typeface="Calibri" pitchFamily="34" charset="-122"/>
                <a:cs typeface="Calibri" pitchFamily="34" charset="-120"/>
              </a:rPr>
              <a:t>Loops &amp; functions:</a:t>
            </a:r>
            <a:r>
              <a:rPr lang="en-US" sz="2000" dirty="0">
                <a:solidFill>
                  <a:srgbClr val="3A464C"/>
                </a:solidFill>
                <a:latin typeface="Calibri" pitchFamily="34" charset="0"/>
                <a:ea typeface="Calibri" pitchFamily="34" charset="-122"/>
                <a:cs typeface="Calibri" pitchFamily="34" charset="-120"/>
              </a:rPr>
              <a:t> for over lists, {1..5} and *.txt; while with a counter or reading a file; name() { … }.</a:t>
            </a:r>
            <a:endParaRPr lang="en-US" sz="2000" dirty="0"/>
          </a:p>
          <a:p>
            <a:pPr marL="228600" indent="-228600">
              <a:spcAft>
                <a:spcPts val="1400"/>
              </a:spcAft>
              <a:buSzPct val="100000"/>
              <a:buChar char="•"/>
            </a:pPr>
            <a:r>
              <a:rPr lang="en-US" sz="2000" b="1" dirty="0">
                <a:solidFill>
                  <a:srgbClr val="3A464C"/>
                </a:solidFill>
                <a:latin typeface="Calibri" pitchFamily="34" charset="0"/>
                <a:ea typeface="Calibri" pitchFamily="34" charset="-122"/>
                <a:cs typeface="Calibri" pitchFamily="34" charset="-120"/>
              </a:rPr>
              <a:t>Debugging:</a:t>
            </a:r>
            <a:r>
              <a:rPr lang="en-US" sz="2000" dirty="0">
                <a:solidFill>
                  <a:srgbClr val="3A464C"/>
                </a:solidFill>
                <a:latin typeface="Calibri" pitchFamily="34" charset="0"/>
                <a:ea typeface="Calibri" pitchFamily="34" charset="-122"/>
                <a:cs typeface="Calibri" pitchFamily="34" charset="-120"/>
              </a:rPr>
              <a:t> bash -n (syntax), bash -x (trace); read the error line number; beware CRLF line endings.</a:t>
            </a:r>
            <a:endParaRPr lang="en-US" sz="2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1417320"/>
            <a:ext cx="9144000" cy="32004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NEXT WEEK</a:t>
            </a:r>
            <a:endParaRPr lang="en-US" sz="1300" dirty="0"/>
          </a:p>
        </p:txBody>
      </p:sp>
      <p:sp>
        <p:nvSpPr>
          <p:cNvPr id="3" name="Text 1"/>
          <p:cNvSpPr txBox="1"/>
          <p:nvPr/>
        </p:nvSpPr>
        <p:spPr>
          <a:xfrm>
            <a:off x="548640" y="1783080"/>
            <a:ext cx="1097280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Final Exam Review (Week 15)</a:t>
            </a:r>
            <a:endParaRPr lang="en-US" sz="3400" dirty="0"/>
          </a:p>
        </p:txBody>
      </p:sp>
      <p:sp>
        <p:nvSpPr>
          <p:cNvPr id="4" name="Shape 2"/>
          <p:cNvSpPr/>
          <p:nvPr/>
        </p:nvSpPr>
        <p:spPr>
          <a:xfrm>
            <a:off x="548640" y="2834640"/>
            <a:ext cx="7680960" cy="2926080"/>
          </a:xfrm>
          <a:prstGeom prst="roundRect">
            <a:avLst>
              <a:gd name="adj" fmla="val 1875"/>
            </a:avLst>
          </a:prstGeom>
          <a:solidFill>
            <a:srgbClr val="36454F"/>
          </a:solidFill>
          <a:ln/>
        </p:spPr>
        <p:txBody>
          <a:bodyPr/>
          <a:p/>
        </p:txBody>
      </p:sp>
      <p:sp>
        <p:nvSpPr>
          <p:cNvPr id="5" name="Text 3"/>
          <p:cNvSpPr txBox="1"/>
          <p:nvPr/>
        </p:nvSpPr>
        <p:spPr>
          <a:xfrm>
            <a:off x="868680" y="3017520"/>
            <a:ext cx="7132320" cy="365760"/>
          </a:xfrm>
          <a:prstGeom prst="rect">
            <a:avLst/>
          </a:prstGeom>
          <a:noFill/>
          <a:ln/>
        </p:spPr>
        <p:txBody>
          <a:bodyPr wrap="square" lIns="0" tIns="0" rIns="0" bIns="0" rtlCol="0" anchor="ctr"/>
          <a:lstStyle/>
          <a:p>
            <a:pPr indent="0" marL="0">
              <a:buNone/>
            </a:pPr>
            <a:r>
              <a:rPr lang="en-US" sz="1400" b="1" dirty="0">
                <a:solidFill>
                  <a:srgbClr val="02C39A"/>
                </a:solidFill>
                <a:latin typeface="Calibri" pitchFamily="34" charset="0"/>
                <a:ea typeface="Calibri" pitchFamily="34" charset="-122"/>
                <a:cs typeface="Calibri" pitchFamily="34" charset="-120"/>
              </a:rPr>
              <a:t>Week 15 will cover:</a:t>
            </a:r>
            <a:endParaRPr lang="en-US" sz="1400" dirty="0"/>
          </a:p>
        </p:txBody>
      </p:sp>
      <p:sp>
        <p:nvSpPr>
          <p:cNvPr id="6" name="Text 4"/>
          <p:cNvSpPr txBox="1"/>
          <p:nvPr/>
        </p:nvSpPr>
        <p:spPr>
          <a:xfrm>
            <a:off x="868680" y="3474720"/>
            <a:ext cx="7132320" cy="2148840"/>
          </a:xfrm>
          <a:prstGeom prst="rect">
            <a:avLst/>
          </a:prstGeom>
          <a:noFill/>
          <a:ln/>
        </p:spPr>
        <p:txBody>
          <a:bodyPr wrap="square" lIns="0" tIns="0" rIns="0" bIns="0" rtlCol="0" anchor="t"/>
          <a:lstStyle/>
          <a:p>
            <a:pPr marL="228600" indent="-228600">
              <a:spcAft>
                <a:spcPts val="600"/>
              </a:spcAft>
              <a:buSzPct val="100000"/>
              <a:buChar char="•"/>
            </a:pPr>
            <a:r>
              <a:rPr lang="en-US" sz="1500" dirty="0">
                <a:solidFill>
                  <a:srgbClr val="F2F2F2"/>
                </a:solidFill>
                <a:latin typeface="Calibri" pitchFamily="34" charset="0"/>
                <a:ea typeface="Calibri" pitchFamily="34" charset="-122"/>
                <a:cs typeface="Calibri" pitchFamily="34" charset="-120"/>
              </a:rPr>
              <a:t>Whole course: theory Weeks 1–7 and Linux Weeks 9–14</a:t>
            </a:r>
            <a:endParaRPr lang="en-US" sz="1500" dirty="0"/>
          </a:p>
          <a:p>
            <a:pPr marL="228600" indent="-228600">
              <a:spcAft>
                <a:spcPts val="600"/>
              </a:spcAft>
              <a:buSzPct val="100000"/>
              <a:buChar char="•"/>
            </a:pPr>
            <a:r>
              <a:rPr lang="en-US" sz="1500" dirty="0">
                <a:solidFill>
                  <a:srgbClr val="F2F2F2"/>
                </a:solidFill>
                <a:latin typeface="Calibri" pitchFamily="34" charset="0"/>
                <a:ea typeface="Calibri" pitchFamily="34" charset="-122"/>
                <a:cs typeface="Calibri" pitchFamily="34" charset="-120"/>
              </a:rPr>
              <a:t>Practice problems: scheduling, memory, page replacement</a:t>
            </a:r>
            <a:endParaRPr lang="en-US" sz="1500" dirty="0"/>
          </a:p>
          <a:p>
            <a:pPr marL="228600" indent="-228600">
              <a:spcAft>
                <a:spcPts val="600"/>
              </a:spcAft>
              <a:buSzPct val="100000"/>
              <a:buChar char="•"/>
            </a:pPr>
            <a:r>
              <a:rPr lang="en-US" sz="1500" dirty="0">
                <a:solidFill>
                  <a:srgbClr val="F2F2F2"/>
                </a:solidFill>
                <a:latin typeface="Calibri" pitchFamily="34" charset="0"/>
                <a:ea typeface="Calibri" pitchFamily="34" charset="-122"/>
                <a:cs typeface="Calibri" pitchFamily="34" charset="-120"/>
              </a:rPr>
              <a:t>"Write the command / pipeline / script" questions</a:t>
            </a:r>
            <a:endParaRPr lang="en-US" sz="1500" dirty="0"/>
          </a:p>
          <a:p>
            <a:pPr marL="228600" indent="-228600">
              <a:spcAft>
                <a:spcPts val="600"/>
              </a:spcAft>
              <a:buSzPct val="100000"/>
              <a:buChar char="•"/>
            </a:pPr>
            <a:r>
              <a:rPr lang="en-US" sz="1500" dirty="0">
                <a:solidFill>
                  <a:srgbClr val="F2F2F2"/>
                </a:solidFill>
                <a:latin typeface="Calibri" pitchFamily="34" charset="0"/>
                <a:ea typeface="Calibri" pitchFamily="34" charset="-122"/>
                <a:cs typeface="Calibri" pitchFamily="34" charset="-120"/>
              </a:rPr>
              <a:t>A sample final paper with an answer key</a:t>
            </a:r>
            <a:endParaRPr lang="en-US" sz="1500" dirty="0"/>
          </a:p>
          <a:p>
            <a:pPr marL="228600" indent="-228600">
              <a:spcAft>
                <a:spcPts val="600"/>
              </a:spcAft>
              <a:buSzPct val="100000"/>
              <a:buChar char="•"/>
            </a:pPr>
            <a:r>
              <a:rPr lang="en-US" sz="1500" dirty="0">
                <a:solidFill>
                  <a:srgbClr val="F2F2F2"/>
                </a:solidFill>
                <a:latin typeface="Calibri" pitchFamily="34" charset="0"/>
                <a:ea typeface="Calibri" pitchFamily="34" charset="-122"/>
                <a:cs typeface="Calibri" pitchFamily="34" charset="-120"/>
              </a:rPr>
              <a:t>Exam date and room: check the course Telegram channel</a:t>
            </a:r>
            <a:endParaRPr lang="en-US" sz="1500" dirty="0"/>
          </a:p>
        </p:txBody>
      </p:sp>
      <p:sp>
        <p:nvSpPr>
          <p:cNvPr id="7" name="Text 5"/>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8A9AA0"/>
                </a:solidFill>
                <a:latin typeface="Calibri" pitchFamily="34" charset="0"/>
                <a:ea typeface="Calibri" pitchFamily="34" charset="-122"/>
                <a:cs typeface="Calibri" pitchFamily="34" charset="-120"/>
              </a:rPr>
              <a:t>MCMP117 — Fundamentals of Operating Systems</a:t>
            </a:r>
            <a:endParaRPr lang="en-US" sz="900" dirty="0"/>
          </a:p>
        </p:txBody>
      </p:sp>
      <p:sp>
        <p:nvSpPr>
          <p:cNvPr id="8" name="Text 6"/>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8A9AA0"/>
                </a:solidFill>
                <a:latin typeface="Calibri" pitchFamily="34" charset="0"/>
                <a:ea typeface="Calibri" pitchFamily="34" charset="-122"/>
                <a:cs typeface="Calibri" pitchFamily="34" charset="-120"/>
              </a:rPr>
              <a:t>Week 14  ·  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1417320"/>
            <a:ext cx="9144000" cy="32004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QUESTIONS?</a:t>
            </a:r>
            <a:endParaRPr lang="en-US" sz="1300" dirty="0"/>
          </a:p>
        </p:txBody>
      </p:sp>
      <p:sp>
        <p:nvSpPr>
          <p:cNvPr id="3" name="Text 1"/>
          <p:cNvSpPr txBox="1"/>
          <p:nvPr/>
        </p:nvSpPr>
        <p:spPr>
          <a:xfrm>
            <a:off x="548640" y="1783080"/>
            <a:ext cx="9144000" cy="77724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Discussion</a:t>
            </a:r>
            <a:endParaRPr lang="en-US" sz="3800" dirty="0"/>
          </a:p>
        </p:txBody>
      </p:sp>
      <p:sp>
        <p:nvSpPr>
          <p:cNvPr id="4" name="Text 2"/>
          <p:cNvSpPr txBox="1"/>
          <p:nvPr/>
        </p:nvSpPr>
        <p:spPr>
          <a:xfrm>
            <a:off x="548640" y="2697480"/>
            <a:ext cx="6858000" cy="640080"/>
          </a:xfrm>
          <a:prstGeom prst="rect">
            <a:avLst/>
          </a:prstGeom>
          <a:noFill/>
          <a:ln/>
        </p:spPr>
        <p:txBody>
          <a:bodyPr wrap="square" lIns="0" tIns="0" rIns="0" bIns="0" rtlCol="0" anchor="ctr"/>
          <a:lstStyle/>
          <a:p>
            <a:pPr indent="0" marL="0">
              <a:buNone/>
            </a:pPr>
            <a:r>
              <a:rPr lang="en-US" sz="1400" i="1" dirty="0">
                <a:solidFill>
                  <a:srgbClr val="F2F2F2"/>
                </a:solidFill>
                <a:latin typeface="Calibri" pitchFamily="34" charset="0"/>
                <a:ea typeface="Calibri" pitchFamily="34" charset="-122"/>
                <a:cs typeface="Calibri" pitchFamily="34" charset="-120"/>
              </a:rPr>
              <a:t>If you have questions after class, ask them on the course Telegram channel — everyone benefits from the answer.</a:t>
            </a:r>
            <a:endParaRPr lang="en-US" sz="1400" dirty="0"/>
          </a:p>
        </p:txBody>
      </p:sp>
      <p:sp>
        <p:nvSpPr>
          <p:cNvPr id="7" name="Text 4"/>
          <p:cNvSpPr txBox="1"/>
          <p:nvPr/>
        </p:nvSpPr>
        <p:spPr>
          <a:xfrm>
            <a:off x="548640" y="3703320"/>
            <a:ext cx="5486400" cy="1463040"/>
          </a:xfrm>
          <a:prstGeom prst="rect">
            <a:avLst/>
          </a:prstGeom>
          <a:noFill/>
          <a:ln/>
        </p:spPr>
        <p:txBody>
          <a:bodyPr wrap="square" lIns="0" tIns="0" rIns="0" bIns="0" rtlCol="0" anchor="t"/>
          <a:lstStyle/>
          <a:p>
            <a:pPr indent="0" marL="0">
              <a:spcAft>
                <a:spcPts val="400"/>
              </a:spcAft>
              <a:buNone/>
            </a:pPr>
            <a:r>
              <a:rPr lang="en-US" sz="1400" b="1" dirty="0">
                <a:solidFill>
                  <a:srgbClr val="F2F2F2"/>
                </a:solidFill>
                <a:latin typeface="Calibri" pitchFamily="34" charset="0"/>
                <a:ea typeface="Calibri" pitchFamily="34" charset="-122"/>
                <a:cs typeface="Calibri" pitchFamily="34" charset="-120"/>
              </a:rPr>
              <a:t>Asst. Prof. Dr. Hasan Oğuz</a:t>
            </a:r>
            <a:endParaRPr lang="en-US" sz="1400" dirty="0"/>
          </a:p>
        </p:txBody>
      </p:sp>
      <p:sp>
        <p:nvSpPr>
          <p:cNvPr id="8" name="Text 5"/>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8A9AA0"/>
                </a:solidFill>
                <a:latin typeface="Calibri" pitchFamily="34" charset="0"/>
                <a:ea typeface="Calibri" pitchFamily="34" charset="-122"/>
                <a:cs typeface="Calibri" pitchFamily="34" charset="-120"/>
              </a:rPr>
              <a:t>MCMP117 — Fundamentals of Operating Systems</a:t>
            </a:r>
            <a:endParaRPr lang="en-US" sz="900" dirty="0"/>
          </a:p>
        </p:txBody>
      </p:sp>
      <p:sp>
        <p:nvSpPr>
          <p:cNvPr id="9" name="Text 6"/>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8A9AA0"/>
                </a:solidFill>
                <a:latin typeface="Calibri" pitchFamily="34" charset="0"/>
                <a:ea typeface="Calibri" pitchFamily="34" charset="-122"/>
                <a:cs typeface="Calibri" pitchFamily="34" charset="-120"/>
              </a:rPr>
              <a:t>Week 14  ·  41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MCMP117 Week 14</dc:title>
  <dc:subject>PptxGenJS Presentation</dc:subject>
  <dc:creator>PptxGenJS</dc:creator>
  <cp:lastModifiedBy>PptxGenJS</cp:lastModifiedBy>
  <cp:revision>1</cp:revision>
  <dcterms:created xsi:type="dcterms:W3CDTF">2026-10-12T17:19:08Z</dcterms:created>
  <dcterms:modified xsi:type="dcterms:W3CDTF">2026-10-12T17:19:08Z</dcterms:modified>
</cp:coreProperties>
</file>