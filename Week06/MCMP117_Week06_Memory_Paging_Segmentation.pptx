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6. Weeks 4 and 5 were about sharing the CPU in time. Today is about sharing main memory in space. First hour: the basic hardware (base and limit registers, the MMU), swapping, and contiguous allocation with its fragmentation problem. Second hour: paging, the TLB and segmentation, and then we look at real addresses on a Linux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two minutes. Ask one student for the average waiting time idea, one for what a race condition is. Link to Week 2: time multiplexing (CPU) versus space multiplexing (memory). Today is space multiplexing.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and 2 before the break, paging and segmentation after the break, then the live demo. Everything today happens in hardware plus the OS; next week (virtual memory) builds directly on paging.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the problem and the simplest hardware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storage hierarchy (Week 2): the CPU accesses registers and RAM directly; disks only through I/O. So a program must be in RAM to run. Three needs: share RAM between many processes, protect them from each other, and allow programs to be loaded anywhere. Ask: what happens on MS-DOS (Week 2) without protection? One bad pointer and the machine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'count' in the C source is a name. The compiler may turn it into 'offset 14 in my data section' (relocatable). The loader may turn it into 74014 if the program is loaded at 74000 (load-time binding). With execution-time binding the program keeps using 14 and the hardware adds the start address on every access. That last one needs special hardware: the MMU,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of the whole week. The user program never sees physical addresses. In the hands-on part, two processes will print the same logical address for different data: that only works because logical is not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CPU executes 'load from 346'. The MMU adds 14000 on the fly, for every single memory access, in hardware, so there is no software overhead. This is execution-time binding. Classic numbers from Silberschatz.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and the addition happen in parallel in real hardware, on every access. If the check fails, the CPU traps (Week 2: a trap is a software-generated interrupt) and the OS usually terminates the process. The famous 'Segmentation fault (core dumped)' message on Linux is exactly this kind of trap, today produced by the paging hardware rather than by a limit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hex row on the board: 0x4000 + 0x02A4 = 0x42A4 because the low digits of the base are zero — just write the offset into the low digits. Check in decimal: 16384 + 676 = 17060. Ask: what is the last legal hex logical address? 0x0FFF, giving physical 0x4FFF.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time is dominated by transfer time, proportional to the amount of memory moved. 100 MB at 50 MB/s is 2 s each way. Compared with a time quantum of 10-100 ms (Week 5) this is enormous. Standard whole-process swapping is used today only in emergencies; Linux, Windows and macOS swap pages (paging, Part 3 and Week 7). Mobile OSs (iOS, Android) usually do not swap at all; they kill background apps instead. 4096 B / 50e6 B/s = 82 µs.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running example; the same memory appears on the next three slides. Memory is 2800 KB (a toy size so the numbers stay readable). OS at the bottom, five processes P1..P5 and five holes. The OS keeps a list of holes. The question is: which hole should a new process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request A together on the board: first-fit scans from the low addresses: 150 is too small, 450 fits -&gt; hole at 600. Best-fit: the holes that fit are 450, 350, 550; smallest is 350 -&gt; hole at 1600. Worst-fit: largest, 550 -&gt; hole at 2100. Then let students do B, C and D in pairs for 3 minutes before showing the next slide. Results are verified by code/fit.py.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bars. First-fit: A-&gt;600, B-&gt;2100, C-&gt;300, D cannot be placed although 950 KB are free in total; the largest hole is 350. Best-fit: A-&gt;1600 (350), B-&gt;600 (450), C fits exactly into the 130 KB leftover at 1820, D-&gt;2100: everything fits. Worst-fit: A-&gt;2100, B-&gt;600, C-&gt;1600, D waits (largest hole 330). Warn: this is one example; best-fit is not always best. It tends to create tiny useless holes (here 50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50-percent rule is a statistical result (Knuth's analysis, quoted by Silberschatz): if N blocks are allocated, another N/2 blocks are lost to fragmentation. Fraction lost = 0.5N / (N + 0.5N) = 1/3. Internal fragmentation example: keeping track of a 2-byte hole costs more than the hole itself, so the allocator rounds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compaction the free memory is 2800 - 1850 = 950 KB in one piece; D takes 430 and 520 KB remain. Compaction is like defragmenting a disk: correct but slow. The better solution is to allow a process's memory to be non-contiguous. That is paging,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Before the break, ask students to think: what if a process did not have to be in one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paging, the scheme used by every modern general-purpose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table (0-&gt;5, 1-&gt;9, 2-&gt;1, 3-&gt;7, 4-&gt;12) is the one used in the next slides and in page_split.c. Point out: frames 1, 5, 7, 9, 12 are scattered and out of order, yet the process sees a contiguous logical memory 0..20479. The frames marked 'other' belong to other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powers of two? Because then splitting needs no division: the hardware just takes wires. Shifting right by n bits = dividing by 2^n; AND with 2^n - 1 = taking the remainder. Students should be able to do the hex split in their heads by the end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twice: once in hex (replace the first digit 3 by 7: 0x3A7F -&gt; 0x7A7F), once in decimal to convince everyone. Ask: what is the physical address of logical 0x1234? Page 1 -&gt; frame 9 -&gt; 0x9234 = 37428. And logical 0x5000? Page 5 is not in the table: trap (we come back to this with the valid bit). The program page_split.c in the hands-on part prints exactly these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10000 / 4096 = 2 remainder 1808. The process needs 3 frames, and 4096 - 1808 = 2288 bytes of the third frame are wasted. If process sizes are random, the last page is on average half full, so the expected waste is half a page per process. getconf PAGESIZE on Linux prints 4096; /proc/meminfo shows Hugepagesize: 2048 kB (we saw this on our test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 / 2^12 = 2^20 entries, times 4 bytes = 2^22 bytes = 4 MB. For every process! Worse for 64-bit: a flat table for 48-bit addresses with 8-byte entries would be 2^36 x 8 B = 512 GB. Solution (only briefly today): split the page number into several parts and page the page table itself, so inner tables exist only for parts of the address space that are used. Students only need the idea, not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the page number is looked up in the TLB, all entries in parallel. Hit: the frame number comes out immediately. Miss: the MMU (or the OS on some CPUs) reads the page table in RAM, then stores the entry in the TLB for next time. Because programs access memory with locality (loops, arrays, stack), hit ratios of 99% and more are normal. On a context switch the TLB must be flushed, or entries tagged with an address-space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formula on the board and explain each term: with probability alpha we pay one TLB lookup plus one memory access; with probability 1 - alpha one lookup plus two memory accesses. Simplify to t_TLB + (2 - alpha) t_m: 20 + 1.2 x 100 = 140. Always say which convention you use in an exam answer; the textbooks differ. Checked in code/verify.py.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paging version of the limit register. Next week the valid bit gets a second meaning: 'valid but currently not in RAM' -&gt; page fault, demand paging. For now: invalid means illegal. The NX (no-execute) bit exists on x86-64 since about 2004.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process has its own page table, but the entries for the library pages point to the same frames 3, 4 and 6. Only the private data page differs (frames 8, 11, 14). This is why shared libraries (.so on Linux, .dll on Windows) save so much memory; /proc/self/maps lists libc.so.6 in every process. Shared code must be reentrant: it never modifies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the other classical scheme. Shorter: segmentation is mainly of historical and conceptual importance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Heights are proportional to the segment sizes (limit values on the next slide). Unlike pages, segments have different sizes and correspond to meaningful parts of the program, so protection can be set per meaningful unit (code read-only, stack read-write). The price: segments are variable-size, contiguous blocks again -&gt; external fragmentation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four examples. Ask students to find the largest legal offset in segment 1: 299, giving 6799, the last byte. Offset 1222 in segment 0 exceeds the limit 1200: the hardware traps. The name 'segmentation fault' comes from this kind of check. Numbers checked in code/verify.py.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paging solves external fragmentation and makes allocation trivial (any free frame). Segmentation matches the programmer's view and gives natural protection units. Historically, systems combined the two (segments made of pages, e.g. Intel 80386 / Multics). Today paging won; the segment idea survives as 'regions' (VMAs) in /proc/self/maps.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overview, not exam material in detail. In 64-bit mode the CPU ignores the base and limit of CS, DS, ES and SS. ARM64 (phones, Apple M-series) has no segmentation at all. A 'segmentation fault' on Linux today is reported when an access violates the page-table/region rules: the name survived the hardware. CR3 holds the physical address of the top-level page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make; ./mem_layout. text is in the r-xp region of mem_layout (executable, not writable), data and bss in the rw-p region, the heap in [heap], the local variable in [stack]. Run it twice: the addresses change every time because of ASLR (address-space layout randomisation), a security feature. These are logical (virtual) addresses — we never see physical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captured in our Linux test environment (trimmed spacing in the last column). /proc/self always means 'the process that is reading it', here head itself. Ask students to compute the size of the heap region: 0x559970e18000 - 0x559970df7000 = 0x21000 = 135168 bytes = 33 pages. Every start and end address ends in three hex zeros: regions consist of whole 4 KB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convincing demo of the day. Both lines show the same address, yet two different values: impossible if &amp;x were a physical address. Technically, after fork() both page tables first point to the same frame, marked read-only; when the child writes, the kernel copies the page (copy-on-write, Week 7) and changes the child's page-table entry. ASLR changes the address between runs, but parent and child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MMU does exactly this in hardware, in a fraction of a nanosecond. Students can test any address: ./page_split 0x0 0xFFF 0x1000 and see the page boundary. Page 5 is invalid in our table, so 0x5000 traps.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Homework-style exploration; answers vary per machine. Apple silicon Macs use 16 KB pages (getconf PAGESIZE prints 16384); most x86 PCs use 4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0x07FF &lt; 0x0800 so physical 0x2000 + 0x07FF = 0x27FF; 0x0800 is not &lt; limit -&gt; trap. (2) p = 0x5 = 5, d = 0xC21 = 3105. (3) EAT = 0.9 x 120 + 0.1 x 220 = 108 + 22 = 130 ns (= 20 + 1.1 x 100). (4) Every free frame fits every page, so free memory is never too fragmented to use; but memory is handed out in whole pages, so the last page of a process is partly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sentences to remember. Next week's virtual memory adds one idea on top of paging: a page does not have to be in RAM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completes the memory story: what happens when a page is valid but not in RAM. It also starts file systems. Remind students: Week 7 is the last lecture before the midterm in Week 8, which covers Weeks 1 to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Point to the course Telegram channel for questions after class and to the Week 6 notes, which contain more worked examples and review questions with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6</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6  ·  Memory Management: Contiguous Allocation, Paging &amp; Segmentation</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Many programs, one RAM: how does every process get its own safe piece of memory?</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5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Scheduling algorithms</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650" dirty="0">
                <a:solidFill>
                  <a:srgbClr val="3A464C"/>
                </a:solidFill>
                <a:latin typeface="Calibri" pitchFamily="34" charset="0"/>
                <a:ea typeface="Calibri" pitchFamily="34" charset="-122"/>
                <a:cs typeface="Calibri" pitchFamily="34" charset="-120"/>
              </a:rPr>
              <a:t>FCFS, SJF/SRTF, Priority and Round Robin, compared with Gantt charts and average waiting time.</a:t>
            </a:r>
            <a:endParaRPr lang="en-US" sz="165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The time quantum</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650" dirty="0">
                <a:solidFill>
                  <a:srgbClr val="3A464C"/>
                </a:solidFill>
                <a:latin typeface="Calibri" pitchFamily="34" charset="0"/>
                <a:ea typeface="Calibri" pitchFamily="34" charset="-122"/>
                <a:cs typeface="Calibri" pitchFamily="34" charset="-120"/>
              </a:rPr>
              <a:t>Round Robin with a tiny quantum wastes time on context switches; a huge one turns into FCFS.</a:t>
            </a:r>
            <a:endParaRPr lang="en-US" sz="165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Race conditions</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650" dirty="0">
                <a:solidFill>
                  <a:srgbClr val="3A464C"/>
                </a:solidFill>
                <a:latin typeface="Calibri" pitchFamily="34" charset="0"/>
                <a:ea typeface="Calibri" pitchFamily="34" charset="-122"/>
                <a:cs typeface="Calibri" pitchFamily="34" charset="-120"/>
              </a:rPr>
              <a:t>When threads update shared data without coordination, the result depends on timing. The critical section must be protected.</a:t>
            </a:r>
            <a:endParaRPr lang="en-US" sz="165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Mutexes &amp; semaphores</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en-US" sz="1650" dirty="0">
                <a:solidFill>
                  <a:srgbClr val="3A464C"/>
                </a:solidFill>
                <a:latin typeface="Calibri" pitchFamily="34" charset="0"/>
                <a:ea typeface="Calibri" pitchFamily="34" charset="-122"/>
                <a:cs typeface="Calibri" pitchFamily="34" charset="-120"/>
              </a:rPr>
              <a:t>lock()/unlock() and wait()/signal() give mutual exclusion and let threads wait without burning the CPU.</a:t>
            </a:r>
            <a:endParaRPr lang="en-US" sz="165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Week 5 shared the CPU in time. Today we share main memory in space: many processes in RAM at once, each protected from the others.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6</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a:t>
            </a:r>
            <a:endParaRPr lang="en-US" sz="900" dirty="0"/>
          </a:p>
        </p:txBody>
      </p:sp>
      <p:sp>
        <p:nvSpPr>
          <p:cNvPr id="6" name="Shape 4"/>
          <p:cNvSpPr/>
          <p:nvPr/>
        </p:nvSpPr>
        <p:spPr>
          <a:xfrm>
            <a:off x="548640" y="1554480"/>
            <a:ext cx="731520" cy="731520"/>
          </a:xfrm>
          <a:prstGeom prst="roundRect">
            <a:avLst>
              <a:gd name="adj" fmla="val 6250"/>
            </a:avLst>
          </a:prstGeom>
          <a:solidFill>
            <a:srgbClr val="02C39A"/>
          </a:solidFill>
          <a:ln/>
        </p:spPr>
        <p:txBody>
          <a:bodyPr/>
          <a:p/>
        </p:txBody>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463040" y="1554480"/>
            <a:ext cx="10195560" cy="731520"/>
          </a:xfrm>
          <a:prstGeom prst="roundRect">
            <a:avLst>
              <a:gd name="adj" fmla="val 6250"/>
            </a:avLst>
          </a:prstGeom>
          <a:solidFill>
            <a:srgbClr val="F2F2F2"/>
          </a:solidFill>
          <a:ln/>
        </p:spPr>
        <p:txBody>
          <a:bodyPr/>
          <a:p/>
        </p:txBody>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Basics   </a:t>
            </a:r>
            <a:r>
              <a:rPr lang="en-US" sz="1500" dirty="0">
                <a:solidFill>
                  <a:srgbClr val="3A464C"/>
                </a:solidFill>
                <a:latin typeface="Calibri" pitchFamily="34" charset="0"/>
                <a:ea typeface="Calibri" pitchFamily="34" charset="-122"/>
                <a:cs typeface="Calibri" pitchFamily="34" charset="-120"/>
              </a:rPr>
              <a:t>Address binding, logical vs. physical addresses, the MMU, base &amp; limit registers, swapping.</a:t>
            </a:r>
            <a:endParaRPr lang="en-US" sz="1400" dirty="0"/>
          </a:p>
        </p:txBody>
      </p:sp>
      <p:sp>
        <p:nvSpPr>
          <p:cNvPr id="10" name="Shape 8"/>
          <p:cNvSpPr/>
          <p:nvPr/>
        </p:nvSpPr>
        <p:spPr>
          <a:xfrm>
            <a:off x="548640" y="2468880"/>
            <a:ext cx="731520" cy="731520"/>
          </a:xfrm>
          <a:prstGeom prst="roundRect">
            <a:avLst>
              <a:gd name="adj" fmla="val 6250"/>
            </a:avLst>
          </a:prstGeom>
          <a:solidFill>
            <a:srgbClr val="02C39A"/>
          </a:solidFill>
          <a:ln/>
        </p:spPr>
        <p:txBody>
          <a:bodyPr/>
          <a:p/>
        </p:txBody>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txBody>
          <a:bodyPr/>
          <a:p/>
        </p:txBody>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Contiguous allocation   </a:t>
            </a:r>
            <a:r>
              <a:rPr lang="en-US" sz="1500" dirty="0">
                <a:solidFill>
                  <a:srgbClr val="3A464C"/>
                </a:solidFill>
                <a:latin typeface="Calibri" pitchFamily="34" charset="0"/>
                <a:ea typeface="Calibri" pitchFamily="34" charset="-122"/>
                <a:cs typeface="Calibri" pitchFamily="34" charset="-120"/>
              </a:rPr>
              <a:t>Holes, first-fit / best-fit / worst-fit, fragmentation, compaction.</a:t>
            </a:r>
            <a:endParaRPr lang="en-US" sz="1400" dirty="0"/>
          </a:p>
        </p:txBody>
      </p:sp>
      <p:sp>
        <p:nvSpPr>
          <p:cNvPr id="14" name="Shape 12"/>
          <p:cNvSpPr/>
          <p:nvPr/>
        </p:nvSpPr>
        <p:spPr>
          <a:xfrm>
            <a:off x="548640" y="3383280"/>
            <a:ext cx="731520" cy="731520"/>
          </a:xfrm>
          <a:prstGeom prst="roundRect">
            <a:avLst>
              <a:gd name="adj" fmla="val 6250"/>
            </a:avLst>
          </a:prstGeom>
          <a:solidFill>
            <a:srgbClr val="02C39A"/>
          </a:solidFill>
          <a:ln/>
        </p:spPr>
        <p:txBody>
          <a:bodyPr/>
          <a:p/>
        </p:txBody>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txBody>
          <a:bodyPr/>
          <a:p/>
        </p:txBody>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Paging   </a:t>
            </a:r>
            <a:r>
              <a:rPr lang="en-US" sz="1500" dirty="0">
                <a:solidFill>
                  <a:srgbClr val="3A464C"/>
                </a:solidFill>
                <a:latin typeface="Calibri" pitchFamily="34" charset="0"/>
                <a:ea typeface="Calibri" pitchFamily="34" charset="-122"/>
                <a:cs typeface="Calibri" pitchFamily="34" charset="-120"/>
              </a:rPr>
              <a:t>Pages and frames, page tables, address translation, the TLB, effective access time.</a:t>
            </a:r>
            <a:endParaRPr lang="en-US" sz="1400" dirty="0"/>
          </a:p>
        </p:txBody>
      </p:sp>
      <p:sp>
        <p:nvSpPr>
          <p:cNvPr id="18" name="Shape 16"/>
          <p:cNvSpPr/>
          <p:nvPr/>
        </p:nvSpPr>
        <p:spPr>
          <a:xfrm>
            <a:off x="548640" y="4297680"/>
            <a:ext cx="731520" cy="731520"/>
          </a:xfrm>
          <a:prstGeom prst="roundRect">
            <a:avLst>
              <a:gd name="adj" fmla="val 6250"/>
            </a:avLst>
          </a:prstGeom>
          <a:solidFill>
            <a:srgbClr val="02C39A"/>
          </a:solidFill>
          <a:ln/>
        </p:spPr>
        <p:txBody>
          <a:bodyPr/>
          <a:p/>
        </p:txBody>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txBody>
          <a:bodyPr/>
          <a:p/>
        </p:txBody>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Segmentation   </a:t>
            </a:r>
            <a:r>
              <a:rPr lang="en-US" sz="1500" dirty="0">
                <a:solidFill>
                  <a:srgbClr val="3A464C"/>
                </a:solidFill>
                <a:latin typeface="Calibri" pitchFamily="34" charset="0"/>
                <a:ea typeface="Calibri" pitchFamily="34" charset="-122"/>
                <a:cs typeface="Calibri" pitchFamily="34" charset="-120"/>
              </a:rPr>
              <a:t>The programmer's view of memory, segment tables — and what x86-64 Linux really does.</a:t>
            </a:r>
            <a:endParaRPr lang="en-US" sz="1400" dirty="0"/>
          </a:p>
        </p:txBody>
      </p:sp>
      <p:sp>
        <p:nvSpPr>
          <p:cNvPr id="22" name="Shape 20"/>
          <p:cNvSpPr/>
          <p:nvPr/>
        </p:nvSpPr>
        <p:spPr>
          <a:xfrm>
            <a:off x="548640" y="5212080"/>
            <a:ext cx="731520" cy="731520"/>
          </a:xfrm>
          <a:prstGeom prst="roundRect">
            <a:avLst>
              <a:gd name="adj" fmla="val 6250"/>
            </a:avLst>
          </a:prstGeom>
          <a:solidFill>
            <a:srgbClr val="02C39A"/>
          </a:solidFill>
          <a:ln/>
        </p:spPr>
        <p:txBody>
          <a:bodyPr/>
          <a:p/>
        </p:txBody>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txBody>
          <a:bodyPr/>
          <a:p/>
        </p:txBody>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Hands-on   </a:t>
            </a:r>
            <a:r>
              <a:rPr lang="en-US" sz="1500" dirty="0">
                <a:solidFill>
                  <a:srgbClr val="3A464C"/>
                </a:solidFill>
                <a:latin typeface="Calibri" pitchFamily="34" charset="0"/>
                <a:ea typeface="Calibri" pitchFamily="34" charset="-122"/>
                <a:cs typeface="Calibri" pitchFamily="34" charset="-120"/>
              </a:rPr>
              <a:t>Real addresses on Linux: /proc/self/maps, fork() and the same address twice.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Memory Management Basics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Many processes in one RAM — and none may touch another's memory.</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6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Does Memory Need Managing?</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CPU can only execute instructions and read data that are in main memory (registers and cache are copies of RAM).</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5</a:t>
            </a:r>
            <a:endParaRPr lang="en-US"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Many processes at once</a:t>
            </a:r>
            <a:endParaRPr lang="en-US"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Multiprogramming (Week 1) keeps several processes in RAM so the CPU is never idle.</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Who gets which part of RAM?</a:t>
            </a:r>
            <a:endParaRPr lang="en-US" sz="165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Protection</a:t>
            </a:r>
            <a:endParaRPr lang="en-US"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A process must not read or overwrite the memory of another process — or of the kernel.</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Checking every access in software is far too slow: the hardware must do it.</a:t>
            </a:r>
            <a:endParaRPr lang="en-US" sz="165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Relocation</a:t>
            </a:r>
            <a:endParaRPr lang="en-US"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A program does not know in advance where in RAM it will be loaded.</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It may even be moved while it runs.</a:t>
            </a:r>
            <a:endParaRPr lang="en-US" sz="165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Reminder: every process has the layout text · data · heap · stack (Week 3). Today: where do these bytes actually live in RAM?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ADDRESS BINDING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When Does a Name Become an Address?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program refers to variables by name; the hardware needs numbers. Binding can happen at three different times.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6</a:t>
            </a:r>
            <a:endParaRPr lang="en-US" sz="900" dirty="0"/>
          </a:p>
        </p:txBody>
      </p:sp>
      <p:sp>
        <p:nvSpPr>
          <p:cNvPr id="7" name="Shape 5"/>
          <p:cNvSpPr/>
          <p:nvPr/>
        </p:nvSpPr>
        <p:spPr>
          <a:xfrm>
            <a:off x="548640" y="2194560"/>
            <a:ext cx="1874520" cy="868680"/>
          </a:xfrm>
          <a:prstGeom prst="roundRect">
            <a:avLst>
              <a:gd name="adj" fmla="val 5263"/>
            </a:avLst>
          </a:prstGeom>
          <a:solidFill>
            <a:srgbClr val="F2F2F2"/>
          </a:solidFill>
          <a:ln/>
        </p:spPr>
        <p:txBody>
          <a:bodyPr/>
          <a:p/>
        </p:txBody>
      </p:sp>
      <p:sp>
        <p:nvSpPr>
          <p:cNvPr id="8" name="Text 6"/>
          <p:cNvSpPr txBox="1"/>
          <p:nvPr/>
        </p:nvSpPr>
        <p:spPr>
          <a:xfrm>
            <a:off x="548640" y="2194560"/>
            <a:ext cx="1874520" cy="86868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Source program</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count.c</a:t>
            </a:r>
            <a:endParaRPr lang="en-US" sz="1400" dirty="0"/>
          </a:p>
        </p:txBody>
      </p:sp>
      <p:sp>
        <p:nvSpPr>
          <p:cNvPr id="9" name="Shape 7"/>
          <p:cNvSpPr/>
          <p:nvPr/>
        </p:nvSpPr>
        <p:spPr>
          <a:xfrm>
            <a:off x="2459736" y="2633472"/>
            <a:ext cx="813816" cy="91"/>
          </a:xfrm>
          <a:prstGeom prst="line">
            <a:avLst/>
          </a:prstGeom>
          <a:noFill/>
          <a:ln w="22225">
            <a:solidFill>
              <a:srgbClr val="50808E"/>
            </a:solidFill>
            <a:prstDash val="solid"/>
            <a:tailEnd type="triangle"/>
          </a:ln>
        </p:spPr>
        <p:txBody>
          <a:bodyPr/>
          <a:p/>
        </p:txBody>
      </p:sp>
      <p:sp>
        <p:nvSpPr>
          <p:cNvPr id="10" name="Text 8"/>
          <p:cNvSpPr txBox="1"/>
          <p:nvPr/>
        </p:nvSpPr>
        <p:spPr>
          <a:xfrm>
            <a:off x="2423160" y="2240280"/>
            <a:ext cx="886968" cy="274320"/>
          </a:xfrm>
          <a:prstGeom prst="rect">
            <a:avLst/>
          </a:prstGeom>
          <a:noFill/>
          <a:ln/>
        </p:spPr>
        <p:txBody>
          <a:bodyPr wrap="square" lIns="0" tIns="0" rIns="0" bIns="0" rtlCol="0" anchor="t"/>
          <a:lstStyle/>
          <a:p>
            <a:pPr algn="ctr" indent="0" marL="0">
              <a:buNone/>
            </a:pPr>
            <a:r>
              <a:rPr lang="en-US" sz="1150" i="1" dirty="0">
                <a:solidFill>
                  <a:srgbClr val="50808E"/>
                </a:solidFill>
                <a:latin typeface="Calibri" pitchFamily="34" charset="0"/>
                <a:ea typeface="Calibri" pitchFamily="34" charset="-122"/>
                <a:cs typeface="Calibri" pitchFamily="34" charset="-120"/>
              </a:rPr>
              <a:t>compiler</a:t>
            </a:r>
            <a:endParaRPr lang="en-US" sz="1150" dirty="0"/>
          </a:p>
        </p:txBody>
      </p:sp>
      <p:sp>
        <p:nvSpPr>
          <p:cNvPr id="11" name="Shape 9"/>
          <p:cNvSpPr/>
          <p:nvPr/>
        </p:nvSpPr>
        <p:spPr>
          <a:xfrm>
            <a:off x="3310128" y="2194560"/>
            <a:ext cx="1874520" cy="868680"/>
          </a:xfrm>
          <a:prstGeom prst="roundRect">
            <a:avLst>
              <a:gd name="adj" fmla="val 5263"/>
            </a:avLst>
          </a:prstGeom>
          <a:solidFill>
            <a:srgbClr val="D7E9E6"/>
          </a:solidFill>
          <a:ln/>
        </p:spPr>
        <p:txBody>
          <a:bodyPr/>
          <a:p/>
        </p:txBody>
      </p:sp>
      <p:sp>
        <p:nvSpPr>
          <p:cNvPr id="12" name="Text 10"/>
          <p:cNvSpPr txBox="1"/>
          <p:nvPr/>
        </p:nvSpPr>
        <p:spPr>
          <a:xfrm>
            <a:off x="3310128" y="2194560"/>
            <a:ext cx="1874520" cy="86868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Object module</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count.o</a:t>
            </a:r>
            <a:endParaRPr lang="en-US" sz="1400" dirty="0"/>
          </a:p>
        </p:txBody>
      </p:sp>
      <p:sp>
        <p:nvSpPr>
          <p:cNvPr id="13" name="Shape 11"/>
          <p:cNvSpPr/>
          <p:nvPr/>
        </p:nvSpPr>
        <p:spPr>
          <a:xfrm>
            <a:off x="5221224" y="2633472"/>
            <a:ext cx="813816" cy="91"/>
          </a:xfrm>
          <a:prstGeom prst="line">
            <a:avLst/>
          </a:prstGeom>
          <a:noFill/>
          <a:ln w="22225">
            <a:solidFill>
              <a:srgbClr val="50808E"/>
            </a:solidFill>
            <a:prstDash val="solid"/>
            <a:tailEnd type="triangle"/>
          </a:ln>
        </p:spPr>
        <p:txBody>
          <a:bodyPr/>
          <a:p/>
        </p:txBody>
      </p:sp>
      <p:sp>
        <p:nvSpPr>
          <p:cNvPr id="14" name="Text 12"/>
          <p:cNvSpPr txBox="1"/>
          <p:nvPr/>
        </p:nvSpPr>
        <p:spPr>
          <a:xfrm>
            <a:off x="5184648" y="2240280"/>
            <a:ext cx="886968" cy="274320"/>
          </a:xfrm>
          <a:prstGeom prst="rect">
            <a:avLst/>
          </a:prstGeom>
          <a:noFill/>
          <a:ln/>
        </p:spPr>
        <p:txBody>
          <a:bodyPr wrap="square" lIns="0" tIns="0" rIns="0" bIns="0" rtlCol="0" anchor="t"/>
          <a:lstStyle/>
          <a:p>
            <a:pPr algn="ctr" indent="0" marL="0">
              <a:buNone/>
            </a:pPr>
            <a:r>
              <a:rPr lang="en-US" sz="1150" i="1" dirty="0">
                <a:solidFill>
                  <a:srgbClr val="50808E"/>
                </a:solidFill>
                <a:latin typeface="Calibri" pitchFamily="34" charset="0"/>
                <a:ea typeface="Calibri" pitchFamily="34" charset="-122"/>
                <a:cs typeface="Calibri" pitchFamily="34" charset="-120"/>
              </a:rPr>
              <a:t>linker</a:t>
            </a:r>
            <a:endParaRPr lang="en-US" sz="1150" dirty="0"/>
          </a:p>
        </p:txBody>
      </p:sp>
      <p:sp>
        <p:nvSpPr>
          <p:cNvPr id="15" name="Shape 13"/>
          <p:cNvSpPr/>
          <p:nvPr/>
        </p:nvSpPr>
        <p:spPr>
          <a:xfrm>
            <a:off x="6071616" y="2194560"/>
            <a:ext cx="1874520" cy="868680"/>
          </a:xfrm>
          <a:prstGeom prst="roundRect">
            <a:avLst>
              <a:gd name="adj" fmla="val 5263"/>
            </a:avLst>
          </a:prstGeom>
          <a:solidFill>
            <a:srgbClr val="D7E9E6"/>
          </a:solidFill>
          <a:ln/>
        </p:spPr>
        <p:txBody>
          <a:bodyPr/>
          <a:p/>
        </p:txBody>
      </p:sp>
      <p:sp>
        <p:nvSpPr>
          <p:cNvPr id="16" name="Text 14"/>
          <p:cNvSpPr txBox="1"/>
          <p:nvPr/>
        </p:nvSpPr>
        <p:spPr>
          <a:xfrm>
            <a:off x="6071616" y="2194560"/>
            <a:ext cx="1874520" cy="86868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Executable</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count (on disk)</a:t>
            </a:r>
            <a:endParaRPr lang="en-US" sz="1400" dirty="0"/>
          </a:p>
        </p:txBody>
      </p:sp>
      <p:sp>
        <p:nvSpPr>
          <p:cNvPr id="17" name="Shape 15"/>
          <p:cNvSpPr/>
          <p:nvPr/>
        </p:nvSpPr>
        <p:spPr>
          <a:xfrm>
            <a:off x="7982712" y="2633472"/>
            <a:ext cx="813816" cy="91"/>
          </a:xfrm>
          <a:prstGeom prst="line">
            <a:avLst/>
          </a:prstGeom>
          <a:noFill/>
          <a:ln w="22225">
            <a:solidFill>
              <a:srgbClr val="50808E"/>
            </a:solidFill>
            <a:prstDash val="solid"/>
            <a:tailEnd type="triangle"/>
          </a:ln>
        </p:spPr>
        <p:txBody>
          <a:bodyPr/>
          <a:p/>
        </p:txBody>
      </p:sp>
      <p:sp>
        <p:nvSpPr>
          <p:cNvPr id="18" name="Text 16"/>
          <p:cNvSpPr txBox="1"/>
          <p:nvPr/>
        </p:nvSpPr>
        <p:spPr>
          <a:xfrm>
            <a:off x="7946136" y="2240280"/>
            <a:ext cx="886968" cy="274320"/>
          </a:xfrm>
          <a:prstGeom prst="rect">
            <a:avLst/>
          </a:prstGeom>
          <a:noFill/>
          <a:ln/>
        </p:spPr>
        <p:txBody>
          <a:bodyPr wrap="square" lIns="0" tIns="0" rIns="0" bIns="0" rtlCol="0" anchor="t"/>
          <a:lstStyle/>
          <a:p>
            <a:pPr algn="ctr" indent="0" marL="0">
              <a:buNone/>
            </a:pPr>
            <a:r>
              <a:rPr lang="en-US" sz="1150" i="1" dirty="0">
                <a:solidFill>
                  <a:srgbClr val="50808E"/>
                </a:solidFill>
                <a:latin typeface="Calibri" pitchFamily="34" charset="0"/>
                <a:ea typeface="Calibri" pitchFamily="34" charset="-122"/>
                <a:cs typeface="Calibri" pitchFamily="34" charset="-120"/>
              </a:rPr>
              <a:t>loader</a:t>
            </a:r>
            <a:endParaRPr lang="en-US" sz="1150" dirty="0"/>
          </a:p>
        </p:txBody>
      </p:sp>
      <p:sp>
        <p:nvSpPr>
          <p:cNvPr id="19" name="Shape 17"/>
          <p:cNvSpPr/>
          <p:nvPr/>
        </p:nvSpPr>
        <p:spPr>
          <a:xfrm>
            <a:off x="8833104" y="2194560"/>
            <a:ext cx="1874520" cy="868680"/>
          </a:xfrm>
          <a:prstGeom prst="roundRect">
            <a:avLst>
              <a:gd name="adj" fmla="val 5263"/>
            </a:avLst>
          </a:prstGeom>
          <a:solidFill>
            <a:srgbClr val="02C39A"/>
          </a:solidFill>
          <a:ln/>
        </p:spPr>
        <p:txBody>
          <a:bodyPr/>
          <a:p/>
        </p:txBody>
      </p:sp>
      <p:sp>
        <p:nvSpPr>
          <p:cNvPr id="20" name="Text 18"/>
          <p:cNvSpPr txBox="1"/>
          <p:nvPr/>
        </p:nvSpPr>
        <p:spPr>
          <a:xfrm>
            <a:off x="8833104" y="2194560"/>
            <a:ext cx="1874520" cy="86868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Process in memory</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running</a:t>
            </a:r>
            <a:endParaRPr lang="en-US" sz="1400" dirty="0"/>
          </a:p>
        </p:txBody>
      </p:sp>
      <p:sp>
        <p:nvSpPr>
          <p:cNvPr id="21" name="Shape 19"/>
          <p:cNvSpPr/>
          <p:nvPr/>
        </p:nvSpPr>
        <p:spPr>
          <a:xfrm>
            <a:off x="548640"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777240" y="3611880"/>
            <a:ext cx="3108960" cy="384048"/>
          </a:xfrm>
          <a:prstGeom prst="rect">
            <a:avLst/>
          </a:prstGeom>
          <a:noFill/>
          <a:ln/>
        </p:spPr>
        <p:txBody>
          <a:bodyPr wrap="square" lIns="0" tIns="0" rIns="0" bIns="0" rtlCol="0" anchor="ctr"/>
          <a:lstStyle/>
          <a:p>
            <a:pPr indent="0" marL="0">
              <a:buNone/>
            </a:pPr>
            <a:r>
              <a:rPr lang="en-US" sz="1500" b="1" dirty="0">
                <a:solidFill>
                  <a:srgbClr val="50808E"/>
                </a:solidFill>
                <a:latin typeface="Cambria" pitchFamily="34" charset="0"/>
                <a:ea typeface="Cambria" pitchFamily="34" charset="-122"/>
                <a:cs typeface="Cambria" pitchFamily="34" charset="-120"/>
              </a:rPr>
              <a:t>Compile time</a:t>
            </a:r>
            <a:endParaRPr lang="en-US" sz="1500" dirty="0"/>
          </a:p>
        </p:txBody>
      </p:sp>
      <p:sp>
        <p:nvSpPr>
          <p:cNvPr id="23" name="Text 21"/>
          <p:cNvSpPr txBox="1"/>
          <p:nvPr/>
        </p:nvSpPr>
        <p:spPr>
          <a:xfrm>
            <a:off x="777240" y="4069080"/>
            <a:ext cx="3108960" cy="20574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If the final location is known, the compiler can emit absolute addresses. Moving the program means recompiling. (MS-DOS .COM files)</a:t>
            </a:r>
            <a:endParaRPr lang="en-US" sz="1600" dirty="0"/>
          </a:p>
        </p:txBody>
      </p:sp>
      <p:sp>
        <p:nvSpPr>
          <p:cNvPr id="24" name="Shape 22"/>
          <p:cNvSpPr/>
          <p:nvPr/>
        </p:nvSpPr>
        <p:spPr>
          <a:xfrm>
            <a:off x="4315968"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4544568" y="3611880"/>
            <a:ext cx="3108960" cy="384048"/>
          </a:xfrm>
          <a:prstGeom prst="rect">
            <a:avLst/>
          </a:prstGeom>
          <a:noFill/>
          <a:ln/>
        </p:spPr>
        <p:txBody>
          <a:bodyPr wrap="square" lIns="0" tIns="0" rIns="0" bIns="0" rtlCol="0" anchor="ctr"/>
          <a:lstStyle/>
          <a:p>
            <a:pPr indent="0" marL="0">
              <a:buNone/>
            </a:pPr>
            <a:r>
              <a:rPr lang="en-US" sz="1500" b="1" dirty="0">
                <a:solidFill>
                  <a:srgbClr val="50808E"/>
                </a:solidFill>
                <a:latin typeface="Cambria" pitchFamily="34" charset="0"/>
                <a:ea typeface="Cambria" pitchFamily="34" charset="-122"/>
                <a:cs typeface="Cambria" pitchFamily="34" charset="-120"/>
              </a:rPr>
              <a:t>Load time</a:t>
            </a:r>
            <a:endParaRPr lang="en-US" sz="1500" dirty="0"/>
          </a:p>
        </p:txBody>
      </p:sp>
      <p:sp>
        <p:nvSpPr>
          <p:cNvPr id="26" name="Text 24"/>
          <p:cNvSpPr txBox="1"/>
          <p:nvPr/>
        </p:nvSpPr>
        <p:spPr>
          <a:xfrm>
            <a:off x="4544568" y="4069080"/>
            <a:ext cx="3108960" cy="20574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The compiler emits relocatable code ("14 bytes from the start"); the loader fixes the addresses. Once loaded, the program cannot move.</a:t>
            </a:r>
            <a:endParaRPr lang="en-US" sz="1600" dirty="0"/>
          </a:p>
        </p:txBody>
      </p:sp>
      <p:sp>
        <p:nvSpPr>
          <p:cNvPr id="27" name="Shape 25"/>
          <p:cNvSpPr/>
          <p:nvPr/>
        </p:nvSpPr>
        <p:spPr>
          <a:xfrm>
            <a:off x="8083296"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8311896" y="361188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Execution time</a:t>
            </a:r>
            <a:endParaRPr lang="en-US" sz="1500" dirty="0"/>
          </a:p>
        </p:txBody>
      </p:sp>
      <p:sp>
        <p:nvSpPr>
          <p:cNvPr id="29" name="Text 27"/>
          <p:cNvSpPr txBox="1"/>
          <p:nvPr/>
        </p:nvSpPr>
        <p:spPr>
          <a:xfrm>
            <a:off x="8311896" y="4069080"/>
            <a:ext cx="3108960" cy="20574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Addresses are translated by hardware on every access, so the process can be moved while it runs. Used by all modern OSs.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TWO KINDS OF ADDRESS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Logical vs. Physical Addresses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7</a:t>
            </a:r>
            <a:endParaRPr lang="en-US"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Logical (virtual) address</a:t>
            </a:r>
            <a:endParaRPr lang="en-US" sz="17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Generated by the CPU while the program runs.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What the program — and you, with printf("%p") — sees.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Every process can start at address 0.</a:t>
            </a:r>
            <a:endParaRPr lang="en-US" sz="1650" dirty="0"/>
          </a:p>
          <a:p>
            <a:pPr marL="228600" indent="-228600">
              <a:spcAft>
                <a:spcPts val="400"/>
              </a:spcAft>
              <a:buSzPct val="100000"/>
              <a:buChar char="•"/>
            </a:pPr>
            <a:r>
              <a:rPr lang="en-US" sz="1650" b="1" dirty="0">
                <a:solidFill>
                  <a:srgbClr val="3A464C"/>
                </a:solidFill>
                <a:latin typeface="Calibri" pitchFamily="34" charset="0"/>
                <a:ea typeface="Calibri" pitchFamily="34" charset="-122"/>
                <a:cs typeface="Calibri" pitchFamily="34" charset="-120"/>
              </a:rPr>
              <a:t>Logical address space:</a:t>
            </a:r>
            <a:r>
              <a:rPr lang="en-US" sz="1650" dirty="0">
                <a:solidFill>
                  <a:srgbClr val="3A464C"/>
                </a:solidFill>
                <a:latin typeface="Calibri" pitchFamily="34" charset="0"/>
                <a:ea typeface="Calibri" pitchFamily="34" charset="-122"/>
                <a:cs typeface="Calibri" pitchFamily="34" charset="-120"/>
              </a:rPr>
              <a:t> the set of all logical addresses of a process.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Example: 346 in the MMU example on the next slide; 0x55f2… printed by our C program.</a:t>
            </a:r>
            <a:endParaRPr lang="en-US" sz="165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700" b="1" dirty="0">
                <a:solidFill>
                  <a:srgbClr val="50808E"/>
                </a:solidFill>
                <a:latin typeface="Cambria" pitchFamily="34" charset="0"/>
                <a:ea typeface="Cambria" pitchFamily="34" charset="-122"/>
                <a:cs typeface="Cambria" pitchFamily="34" charset="-120"/>
              </a:rPr>
              <a:t>Physical address</a:t>
            </a:r>
            <a:endParaRPr lang="en-US" sz="17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The address that is actually put on the memory bus.</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Seen only by the memory hardware.</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Each byte of RAM has exactly one physical address.</a:t>
            </a:r>
            <a:endParaRPr lang="en-US" sz="1650" dirty="0"/>
          </a:p>
          <a:p>
            <a:pPr marL="228600" indent="-228600">
              <a:spcAft>
                <a:spcPts val="400"/>
              </a:spcAft>
              <a:buSzPct val="100000"/>
              <a:buChar char="•"/>
            </a:pPr>
            <a:r>
              <a:rPr lang="en-US" sz="1650" b="1" dirty="0">
                <a:solidFill>
                  <a:srgbClr val="3A464C"/>
                </a:solidFill>
                <a:latin typeface="Calibri" pitchFamily="34" charset="0"/>
                <a:ea typeface="Calibri" pitchFamily="34" charset="-122"/>
                <a:cs typeface="Calibri" pitchFamily="34" charset="-120"/>
              </a:rPr>
              <a:t>Physical address space:</a:t>
            </a:r>
            <a:r>
              <a:rPr lang="en-US" sz="1650" dirty="0">
                <a:solidFill>
                  <a:srgbClr val="3A464C"/>
                </a:solidFill>
                <a:latin typeface="Calibri" pitchFamily="34" charset="0"/>
                <a:ea typeface="Calibri" pitchFamily="34" charset="-122"/>
                <a:cs typeface="Calibri" pitchFamily="34" charset="-120"/>
              </a:rPr>
              <a:t> the set of physical addresses that correspond to them.</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Example: 14346 — where logical 346 really ends up in RAM.</a:t>
            </a:r>
            <a:endParaRPr lang="en-US" sz="165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With compile- or load-time binding the two are identical. With execution-time binding they differ, and a hardware unit — the memory-management unit (MMU) — translates one into the other.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HARDWARE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MMU with a Relocation Register</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simplest MMU adds the value of a relocation (base) register to every address the CPU generates.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8</a:t>
            </a:r>
            <a:endParaRPr lang="en-US" sz="900" dirty="0"/>
          </a:p>
        </p:txBody>
      </p:sp>
      <p:sp>
        <p:nvSpPr>
          <p:cNvPr id="7" name="Shape 5"/>
          <p:cNvSpPr/>
          <p:nvPr/>
        </p:nvSpPr>
        <p:spPr>
          <a:xfrm>
            <a:off x="548640" y="3291840"/>
            <a:ext cx="1463040" cy="1097280"/>
          </a:xfrm>
          <a:prstGeom prst="roundRect">
            <a:avLst>
              <a:gd name="adj" fmla="val 4167"/>
            </a:avLst>
          </a:prstGeom>
          <a:solidFill>
            <a:srgbClr val="36454F"/>
          </a:solidFill>
          <a:ln/>
        </p:spPr>
        <p:txBody>
          <a:bodyPr/>
          <a:p/>
        </p:txBody>
      </p:sp>
      <p:sp>
        <p:nvSpPr>
          <p:cNvPr id="8" name="Text 6"/>
          <p:cNvSpPr txBox="1"/>
          <p:nvPr/>
        </p:nvSpPr>
        <p:spPr>
          <a:xfrm>
            <a:off x="548640" y="3291840"/>
            <a:ext cx="1463040" cy="1097280"/>
          </a:xfrm>
          <a:prstGeom prst="rect">
            <a:avLst/>
          </a:prstGeom>
          <a:noFill/>
          <a:ln/>
        </p:spPr>
        <p:txBody>
          <a:bodyPr wrap="square" lIns="38100" tIns="38100" rIns="38100" bIns="381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CPU</a:t>
            </a:r>
            <a:endParaRPr lang="en-US" sz="1800" dirty="0"/>
          </a:p>
        </p:txBody>
      </p:sp>
      <p:sp>
        <p:nvSpPr>
          <p:cNvPr id="9" name="Shape 7"/>
          <p:cNvSpPr/>
          <p:nvPr/>
        </p:nvSpPr>
        <p:spPr>
          <a:xfrm>
            <a:off x="2788920" y="2148840"/>
            <a:ext cx="3017520" cy="2971800"/>
          </a:xfrm>
          <a:prstGeom prst="roundRect">
            <a:avLst>
              <a:gd name="adj" fmla="val 1846"/>
            </a:avLst>
          </a:prstGeom>
          <a:ln w="15875">
            <a:solidFill>
              <a:srgbClr val="50808E"/>
            </a:solidFill>
            <a:prstDash val="dash"/>
          </a:ln>
        </p:spPr>
        <p:txBody>
          <a:bodyPr/>
          <a:p/>
        </p:txBody>
      </p:sp>
      <p:sp>
        <p:nvSpPr>
          <p:cNvPr id="10" name="Text 8"/>
          <p:cNvSpPr txBox="1"/>
          <p:nvPr/>
        </p:nvSpPr>
        <p:spPr>
          <a:xfrm>
            <a:off x="2926080" y="4754880"/>
            <a:ext cx="914400" cy="274320"/>
          </a:xfrm>
          <a:prstGeom prst="rect">
            <a:avLst/>
          </a:prstGeom>
          <a:noFill/>
          <a:ln/>
        </p:spPr>
        <p:txBody>
          <a:bodyPr wrap="square" lIns="0" tIns="0" rIns="0" bIns="0" rtlCol="0" anchor="t"/>
          <a:lstStyle/>
          <a:p>
            <a:pPr indent="0" marL="0">
              <a:buNone/>
            </a:pPr>
            <a:r>
              <a:rPr lang="en-US" sz="1200" b="1" dirty="0">
                <a:solidFill>
                  <a:srgbClr val="50808E"/>
                </a:solidFill>
                <a:latin typeface="Calibri" pitchFamily="34" charset="0"/>
                <a:ea typeface="Calibri" pitchFamily="34" charset="-122"/>
                <a:cs typeface="Calibri" pitchFamily="34" charset="-120"/>
              </a:rPr>
              <a:t>MMU</a:t>
            </a:r>
            <a:endParaRPr lang="en-US" sz="1200" dirty="0"/>
          </a:p>
        </p:txBody>
      </p:sp>
      <p:sp>
        <p:nvSpPr>
          <p:cNvPr id="11" name="Shape 9"/>
          <p:cNvSpPr/>
          <p:nvPr/>
        </p:nvSpPr>
        <p:spPr>
          <a:xfrm>
            <a:off x="3017520" y="2286000"/>
            <a:ext cx="2560320" cy="777240"/>
          </a:xfrm>
          <a:prstGeom prst="roundRect">
            <a:avLst>
              <a:gd name="adj" fmla="val 5882"/>
            </a:avLst>
          </a:prstGeom>
          <a:solidFill>
            <a:srgbClr val="D7E9E6"/>
          </a:solidFill>
          <a:ln/>
        </p:spPr>
        <p:txBody>
          <a:bodyPr/>
          <a:p/>
        </p:txBody>
      </p:sp>
      <p:sp>
        <p:nvSpPr>
          <p:cNvPr id="12" name="Text 10"/>
          <p:cNvSpPr txBox="1"/>
          <p:nvPr/>
        </p:nvSpPr>
        <p:spPr>
          <a:xfrm>
            <a:off x="3017520" y="2286000"/>
            <a:ext cx="2560320" cy="777240"/>
          </a:xfrm>
          <a:prstGeom prst="rect">
            <a:avLst/>
          </a:prstGeom>
          <a:noFill/>
          <a:ln/>
        </p:spPr>
        <p:txBody>
          <a:bodyPr wrap="square" lIns="38100" tIns="38100" rIns="38100" bIns="38100" rtlCol="0" anchor="ctr"/>
          <a:lstStyle/>
          <a:p>
            <a:pPr algn="ctr" indent="0" marL="0">
              <a:buNone/>
            </a:pPr>
            <a:r>
              <a:rPr lang="en-US" sz="1700" b="1" dirty="0">
                <a:solidFill>
                  <a:srgbClr val="212121"/>
                </a:solidFill>
                <a:latin typeface="Calibri" pitchFamily="34" charset="0"/>
                <a:ea typeface="Calibri" pitchFamily="34" charset="-122"/>
                <a:cs typeface="Calibri" pitchFamily="34" charset="-120"/>
              </a:rPr>
              <a:t>14000</a:t>
            </a:r>
            <a:endParaRPr lang="en-US" sz="1700" dirty="0"/>
          </a:p>
          <a:p>
            <a:pPr algn="ctr" indent="0" marL="0">
              <a:buNone/>
            </a:pPr>
            <a:r>
              <a:rPr lang="en-US" sz="1100" dirty="0">
                <a:solidFill>
                  <a:srgbClr val="212121"/>
                </a:solidFill>
                <a:latin typeface="Calibri" pitchFamily="34" charset="0"/>
                <a:ea typeface="Calibri" pitchFamily="34" charset="-122"/>
                <a:cs typeface="Calibri" pitchFamily="34" charset="-120"/>
              </a:rPr>
              <a:t>relocation register</a:t>
            </a:r>
            <a:endParaRPr lang="en-US" sz="1700" dirty="0"/>
          </a:p>
        </p:txBody>
      </p:sp>
      <p:sp>
        <p:nvSpPr>
          <p:cNvPr id="13" name="Shape 11"/>
          <p:cNvSpPr/>
          <p:nvPr/>
        </p:nvSpPr>
        <p:spPr>
          <a:xfrm>
            <a:off x="3931920" y="3474720"/>
            <a:ext cx="731520" cy="731520"/>
          </a:xfrm>
          <a:prstGeom prst="ellipse">
            <a:avLst/>
          </a:prstGeom>
          <a:solidFill>
            <a:srgbClr val="02C39A"/>
          </a:solidFill>
          <a:ln/>
        </p:spPr>
        <p:txBody>
          <a:bodyPr/>
          <a:p/>
        </p:txBody>
      </p:sp>
      <p:sp>
        <p:nvSpPr>
          <p:cNvPr id="14" name="Text 12"/>
          <p:cNvSpPr txBox="1"/>
          <p:nvPr/>
        </p:nvSpPr>
        <p:spPr>
          <a:xfrm>
            <a:off x="3931920" y="3474720"/>
            <a:ext cx="731520" cy="731520"/>
          </a:xfrm>
          <a:prstGeom prst="rect">
            <a:avLst/>
          </a:prstGeom>
          <a:noFill/>
          <a:ln/>
        </p:spPr>
        <p:txBody>
          <a:bodyPr wrap="square" lIns="0" tIns="0" rIns="0" bIns="0" rtlCol="0" anchor="ctr"/>
          <a:lstStyle/>
          <a:p>
            <a:pPr algn="ctr" indent="0" marL="0">
              <a:buNone/>
            </a:pPr>
            <a:r>
              <a:rPr lang="en-US" sz="2000" b="1" dirty="0">
                <a:solidFill>
                  <a:srgbClr val="212121"/>
                </a:solidFill>
                <a:latin typeface="Cambria" pitchFamily="34" charset="0"/>
                <a:ea typeface="Cambria" pitchFamily="34" charset="-122"/>
                <a:cs typeface="Cambria" pitchFamily="34" charset="-120"/>
              </a:rPr>
              <a:t>+</a:t>
            </a:r>
            <a:endParaRPr lang="en-US" sz="2000" dirty="0"/>
          </a:p>
        </p:txBody>
      </p:sp>
      <p:sp>
        <p:nvSpPr>
          <p:cNvPr id="15" name="Shape 13"/>
          <p:cNvSpPr/>
          <p:nvPr/>
        </p:nvSpPr>
        <p:spPr>
          <a:xfrm>
            <a:off x="4297680" y="3081528"/>
            <a:ext cx="91" cy="374904"/>
          </a:xfrm>
          <a:prstGeom prst="line">
            <a:avLst/>
          </a:prstGeom>
          <a:noFill/>
          <a:ln w="22225">
            <a:solidFill>
              <a:srgbClr val="50808E"/>
            </a:solidFill>
            <a:prstDash val="solid"/>
            <a:tailEnd type="triangle"/>
          </a:ln>
        </p:spPr>
        <p:txBody>
          <a:bodyPr/>
          <a:p/>
        </p:txBody>
      </p:sp>
      <p:sp>
        <p:nvSpPr>
          <p:cNvPr id="16" name="Shape 14"/>
          <p:cNvSpPr/>
          <p:nvPr/>
        </p:nvSpPr>
        <p:spPr>
          <a:xfrm>
            <a:off x="2029968" y="3840480"/>
            <a:ext cx="1883664" cy="91"/>
          </a:xfrm>
          <a:prstGeom prst="line">
            <a:avLst/>
          </a:prstGeom>
          <a:noFill/>
          <a:ln w="22225">
            <a:solidFill>
              <a:srgbClr val="50808E"/>
            </a:solidFill>
            <a:prstDash val="solid"/>
            <a:tailEnd type="triangle"/>
          </a:ln>
        </p:spPr>
        <p:txBody>
          <a:bodyPr/>
          <a:p/>
        </p:txBody>
      </p:sp>
      <p:sp>
        <p:nvSpPr>
          <p:cNvPr id="17" name="Text 15"/>
          <p:cNvSpPr txBox="1"/>
          <p:nvPr/>
        </p:nvSpPr>
        <p:spPr>
          <a:xfrm>
            <a:off x="2103120" y="3950208"/>
            <a:ext cx="1463040" cy="54864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logical</a:t>
            </a:r>
            <a:endParaRPr lang="en-US" sz="1200" dirty="0"/>
          </a:p>
          <a:p>
            <a:pPr indent="0" marL="0">
              <a:buNone/>
            </a:pPr>
            <a:r>
              <a:rPr lang="en-US" sz="1200" b="1" dirty="0">
                <a:solidFill>
                  <a:srgbClr val="028090"/>
                </a:solidFill>
                <a:latin typeface="Calibri" pitchFamily="34" charset="0"/>
                <a:ea typeface="Calibri" pitchFamily="34" charset="-122"/>
                <a:cs typeface="Calibri" pitchFamily="34" charset="-120"/>
              </a:rPr>
              <a:t>address  346</a:t>
            </a:r>
            <a:endParaRPr lang="en-US" sz="1200" dirty="0"/>
          </a:p>
        </p:txBody>
      </p:sp>
      <p:sp>
        <p:nvSpPr>
          <p:cNvPr id="18" name="Shape 16"/>
          <p:cNvSpPr/>
          <p:nvPr/>
        </p:nvSpPr>
        <p:spPr>
          <a:xfrm>
            <a:off x="4681728" y="3840480"/>
            <a:ext cx="1673352" cy="91"/>
          </a:xfrm>
          <a:prstGeom prst="line">
            <a:avLst/>
          </a:prstGeom>
          <a:noFill/>
          <a:ln w="22225">
            <a:solidFill>
              <a:srgbClr val="50808E"/>
            </a:solidFill>
            <a:prstDash val="solid"/>
            <a:tailEnd type="triangle"/>
          </a:ln>
        </p:spPr>
        <p:txBody>
          <a:bodyPr/>
          <a:p/>
        </p:txBody>
      </p:sp>
      <p:sp>
        <p:nvSpPr>
          <p:cNvPr id="19" name="Text 17"/>
          <p:cNvSpPr txBox="1"/>
          <p:nvPr/>
        </p:nvSpPr>
        <p:spPr>
          <a:xfrm>
            <a:off x="4709160" y="3950208"/>
            <a:ext cx="1645920" cy="54864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physical</a:t>
            </a:r>
            <a:endParaRPr lang="en-US" sz="1200" dirty="0"/>
          </a:p>
          <a:p>
            <a:pPr indent="0" marL="0">
              <a:buNone/>
            </a:pPr>
            <a:r>
              <a:rPr lang="en-US" sz="1200" b="1" dirty="0">
                <a:solidFill>
                  <a:srgbClr val="028090"/>
                </a:solidFill>
                <a:latin typeface="Calibri" pitchFamily="34" charset="0"/>
                <a:ea typeface="Calibri" pitchFamily="34" charset="-122"/>
                <a:cs typeface="Calibri" pitchFamily="34" charset="-120"/>
              </a:rPr>
              <a:t>address  14346</a:t>
            </a:r>
            <a:endParaRPr lang="en-US" sz="1200" dirty="0"/>
          </a:p>
        </p:txBody>
      </p:sp>
      <p:sp>
        <p:nvSpPr>
          <p:cNvPr id="20" name="Shape 18"/>
          <p:cNvSpPr/>
          <p:nvPr/>
        </p:nvSpPr>
        <p:spPr>
          <a:xfrm>
            <a:off x="6400800" y="2148840"/>
            <a:ext cx="1097280" cy="3657600"/>
          </a:xfrm>
          <a:prstGeom prst="roundRect">
            <a:avLst>
              <a:gd name="adj" fmla="val 4167"/>
            </a:avLst>
          </a:prstGeom>
          <a:solidFill>
            <a:srgbClr val="F2F2F2"/>
          </a:solidFill>
          <a:ln/>
        </p:spPr>
        <p:txBody>
          <a:bodyPr/>
          <a:p/>
        </p:txBody>
      </p:sp>
      <p:sp>
        <p:nvSpPr>
          <p:cNvPr id="21" name="Text 19"/>
          <p:cNvSpPr txBox="1"/>
          <p:nvPr/>
        </p:nvSpPr>
        <p:spPr>
          <a:xfrm>
            <a:off x="6400800" y="2148840"/>
            <a:ext cx="1097280" cy="365760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Memory</a:t>
            </a:r>
            <a:endParaRPr lang="en-US" sz="1400" dirty="0"/>
          </a:p>
        </p:txBody>
      </p:sp>
      <p:sp>
        <p:nvSpPr>
          <p:cNvPr id="22" name="Shape 20"/>
          <p:cNvSpPr/>
          <p:nvPr/>
        </p:nvSpPr>
        <p:spPr>
          <a:xfrm>
            <a:off x="7818120" y="2148840"/>
            <a:ext cx="3840480" cy="4114800"/>
          </a:xfrm>
          <a:prstGeom prst="roundRect">
            <a:avLst>
              <a:gd name="adj" fmla="val 14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8046720" y="2331720"/>
            <a:ext cx="33832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it means</a:t>
            </a:r>
            <a:endParaRPr lang="en-US" sz="1500" dirty="0"/>
          </a:p>
        </p:txBody>
      </p:sp>
      <p:sp>
        <p:nvSpPr>
          <p:cNvPr id="24" name="Text 22"/>
          <p:cNvSpPr txBox="1"/>
          <p:nvPr/>
        </p:nvSpPr>
        <p:spPr>
          <a:xfrm>
            <a:off x="8046720" y="2788920"/>
            <a:ext cx="3383280" cy="33375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program believes it runs at addresses 0 … 2999.</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OS loaded it at 14000 and wrote 14000 into the relocation register.</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To move the process, the OS copies it and changes one register.</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Loading the register is a privileged instruction: only the kernel may do it (Week 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PROTECTION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Base and Limit Registers: The Protection Check</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second register, the limit, holds the size of the process. Every access is checked before relocation.</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9</a:t>
            </a:r>
            <a:endParaRPr lang="en-US" sz="900" dirty="0"/>
          </a:p>
        </p:txBody>
      </p:sp>
      <p:sp>
        <p:nvSpPr>
          <p:cNvPr id="7" name="Shape 5"/>
          <p:cNvSpPr/>
          <p:nvPr/>
        </p:nvSpPr>
        <p:spPr>
          <a:xfrm>
            <a:off x="548640" y="3429000"/>
            <a:ext cx="1280160" cy="1005840"/>
          </a:xfrm>
          <a:prstGeom prst="roundRect">
            <a:avLst>
              <a:gd name="adj" fmla="val 4545"/>
            </a:avLst>
          </a:prstGeom>
          <a:solidFill>
            <a:srgbClr val="36454F"/>
          </a:solidFill>
          <a:ln/>
        </p:spPr>
        <p:txBody>
          <a:bodyPr/>
          <a:p/>
        </p:txBody>
      </p:sp>
      <p:sp>
        <p:nvSpPr>
          <p:cNvPr id="8" name="Text 6"/>
          <p:cNvSpPr txBox="1"/>
          <p:nvPr/>
        </p:nvSpPr>
        <p:spPr>
          <a:xfrm>
            <a:off x="548640" y="3429000"/>
            <a:ext cx="1280160" cy="1005840"/>
          </a:xfrm>
          <a:prstGeom prst="rect">
            <a:avLst/>
          </a:prstGeom>
          <a:noFill/>
          <a:ln/>
        </p:spPr>
        <p:txBody>
          <a:bodyPr wrap="square" lIns="38100" tIns="38100" rIns="38100" bIns="381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CPU</a:t>
            </a:r>
            <a:endParaRPr lang="en-US" sz="1800" dirty="0"/>
          </a:p>
        </p:txBody>
      </p:sp>
      <p:sp>
        <p:nvSpPr>
          <p:cNvPr id="9" name="Shape 7"/>
          <p:cNvSpPr/>
          <p:nvPr/>
        </p:nvSpPr>
        <p:spPr>
          <a:xfrm>
            <a:off x="2514600" y="2148840"/>
            <a:ext cx="2011680" cy="731520"/>
          </a:xfrm>
          <a:prstGeom prst="roundRect">
            <a:avLst>
              <a:gd name="adj" fmla="val 6250"/>
            </a:avLst>
          </a:prstGeom>
          <a:solidFill>
            <a:srgbClr val="D7E9E6"/>
          </a:solidFill>
          <a:ln/>
        </p:spPr>
        <p:txBody>
          <a:bodyPr/>
          <a:p/>
        </p:txBody>
      </p:sp>
      <p:sp>
        <p:nvSpPr>
          <p:cNvPr id="10" name="Text 8"/>
          <p:cNvSpPr txBox="1"/>
          <p:nvPr/>
        </p:nvSpPr>
        <p:spPr>
          <a:xfrm>
            <a:off x="2514600" y="2148840"/>
            <a:ext cx="2011680" cy="73152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limit</a:t>
            </a:r>
            <a:endParaRPr lang="en-US" sz="1400" dirty="0"/>
          </a:p>
          <a:p>
            <a:pPr algn="ctr" indent="0" marL="0">
              <a:buNone/>
            </a:pPr>
            <a:r>
              <a:rPr lang="en-US" sz="1300" dirty="0">
                <a:solidFill>
                  <a:srgbClr val="212121"/>
                </a:solidFill>
                <a:latin typeface="Calibri" pitchFamily="34" charset="0"/>
                <a:ea typeface="Calibri" pitchFamily="34" charset="-122"/>
                <a:cs typeface="Calibri" pitchFamily="34" charset="-120"/>
              </a:rPr>
              <a:t>3000</a:t>
            </a:r>
            <a:endParaRPr lang="en-US" sz="1400" dirty="0"/>
          </a:p>
        </p:txBody>
      </p:sp>
      <p:sp>
        <p:nvSpPr>
          <p:cNvPr id="11" name="Shape 9"/>
          <p:cNvSpPr/>
          <p:nvPr/>
        </p:nvSpPr>
        <p:spPr>
          <a:xfrm>
            <a:off x="5532120" y="2148840"/>
            <a:ext cx="2011680" cy="731520"/>
          </a:xfrm>
          <a:prstGeom prst="roundRect">
            <a:avLst>
              <a:gd name="adj" fmla="val 6250"/>
            </a:avLst>
          </a:prstGeom>
          <a:solidFill>
            <a:srgbClr val="D7E9E6"/>
          </a:solidFill>
          <a:ln/>
        </p:spPr>
        <p:txBody>
          <a:bodyPr/>
          <a:p/>
        </p:txBody>
      </p:sp>
      <p:sp>
        <p:nvSpPr>
          <p:cNvPr id="12" name="Text 10"/>
          <p:cNvSpPr txBox="1"/>
          <p:nvPr/>
        </p:nvSpPr>
        <p:spPr>
          <a:xfrm>
            <a:off x="5532120" y="2148840"/>
            <a:ext cx="2011680" cy="73152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relocation (base)</a:t>
            </a:r>
            <a:endParaRPr lang="en-US" sz="1400" dirty="0"/>
          </a:p>
          <a:p>
            <a:pPr algn="ctr" indent="0" marL="0">
              <a:buNone/>
            </a:pPr>
            <a:r>
              <a:rPr lang="en-US" sz="1300" dirty="0">
                <a:solidFill>
                  <a:srgbClr val="212121"/>
                </a:solidFill>
                <a:latin typeface="Calibri" pitchFamily="34" charset="0"/>
                <a:ea typeface="Calibri" pitchFamily="34" charset="-122"/>
                <a:cs typeface="Calibri" pitchFamily="34" charset="-120"/>
              </a:rPr>
              <a:t>14000</a:t>
            </a:r>
            <a:endParaRPr lang="en-US" sz="1400" dirty="0"/>
          </a:p>
        </p:txBody>
      </p:sp>
      <p:sp>
        <p:nvSpPr>
          <p:cNvPr id="13" name="Shape 11"/>
          <p:cNvSpPr/>
          <p:nvPr/>
        </p:nvSpPr>
        <p:spPr>
          <a:xfrm>
            <a:off x="2514600" y="3246120"/>
            <a:ext cx="2011680" cy="1371600"/>
          </a:xfrm>
          <a:prstGeom prst="diamond">
            <a:avLst/>
          </a:prstGeom>
          <a:solidFill>
            <a:srgbClr val="02C39A"/>
          </a:solidFill>
          <a:ln/>
        </p:spPr>
        <p:txBody>
          <a:bodyPr/>
          <a:p/>
        </p:txBody>
      </p:sp>
      <p:sp>
        <p:nvSpPr>
          <p:cNvPr id="14" name="Text 12"/>
          <p:cNvSpPr txBox="1"/>
          <p:nvPr/>
        </p:nvSpPr>
        <p:spPr>
          <a:xfrm>
            <a:off x="2514600" y="3246120"/>
            <a:ext cx="2011680" cy="1371600"/>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logical</a:t>
            </a:r>
            <a:endParaRPr lang="en-US" sz="1300" dirty="0"/>
          </a:p>
          <a:p>
            <a:pPr algn="ctr" indent="0" marL="0">
              <a:buNone/>
            </a:pPr>
            <a:r>
              <a:rPr lang="en-US" sz="1300" b="1" dirty="0">
                <a:solidFill>
                  <a:srgbClr val="212121"/>
                </a:solidFill>
                <a:latin typeface="Calibri" pitchFamily="34" charset="0"/>
                <a:ea typeface="Calibri" pitchFamily="34" charset="-122"/>
                <a:cs typeface="Calibri" pitchFamily="34" charset="-120"/>
              </a:rPr>
              <a:t>&lt; limit ?</a:t>
            </a:r>
            <a:endParaRPr lang="en-US" sz="1300" dirty="0"/>
          </a:p>
        </p:txBody>
      </p:sp>
      <p:sp>
        <p:nvSpPr>
          <p:cNvPr id="15" name="Shape 13"/>
          <p:cNvSpPr/>
          <p:nvPr/>
        </p:nvSpPr>
        <p:spPr>
          <a:xfrm>
            <a:off x="3520440" y="2898648"/>
            <a:ext cx="91" cy="329184"/>
          </a:xfrm>
          <a:prstGeom prst="line">
            <a:avLst/>
          </a:prstGeom>
          <a:noFill/>
          <a:ln w="19050">
            <a:solidFill>
              <a:srgbClr val="50808E"/>
            </a:solidFill>
            <a:prstDash val="solid"/>
            <a:tailEnd type="triangle"/>
          </a:ln>
        </p:spPr>
        <p:txBody>
          <a:bodyPr/>
          <a:p/>
        </p:txBody>
      </p:sp>
      <p:sp>
        <p:nvSpPr>
          <p:cNvPr id="16" name="Shape 14"/>
          <p:cNvSpPr/>
          <p:nvPr/>
        </p:nvSpPr>
        <p:spPr>
          <a:xfrm>
            <a:off x="1847088" y="3931920"/>
            <a:ext cx="649224" cy="91"/>
          </a:xfrm>
          <a:prstGeom prst="line">
            <a:avLst/>
          </a:prstGeom>
          <a:noFill/>
          <a:ln w="22225">
            <a:solidFill>
              <a:srgbClr val="50808E"/>
            </a:solidFill>
            <a:prstDash val="solid"/>
            <a:tailEnd type="triangle"/>
          </a:ln>
        </p:spPr>
        <p:txBody>
          <a:bodyPr/>
          <a:p/>
        </p:txBody>
      </p:sp>
      <p:sp>
        <p:nvSpPr>
          <p:cNvPr id="17" name="Text 15"/>
          <p:cNvSpPr txBox="1"/>
          <p:nvPr/>
        </p:nvSpPr>
        <p:spPr>
          <a:xfrm>
            <a:off x="1874520" y="3977640"/>
            <a:ext cx="100584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logical</a:t>
            </a:r>
            <a:endParaRPr lang="en-US" sz="1200" dirty="0"/>
          </a:p>
        </p:txBody>
      </p:sp>
      <p:sp>
        <p:nvSpPr>
          <p:cNvPr id="18" name="Shape 16"/>
          <p:cNvSpPr/>
          <p:nvPr/>
        </p:nvSpPr>
        <p:spPr>
          <a:xfrm>
            <a:off x="6172200" y="3566160"/>
            <a:ext cx="731520" cy="731520"/>
          </a:xfrm>
          <a:prstGeom prst="ellipse">
            <a:avLst/>
          </a:prstGeom>
          <a:solidFill>
            <a:srgbClr val="02C39A"/>
          </a:solidFill>
          <a:ln/>
        </p:spPr>
        <p:txBody>
          <a:bodyPr/>
          <a:p/>
        </p:txBody>
      </p:sp>
      <p:sp>
        <p:nvSpPr>
          <p:cNvPr id="19" name="Text 17"/>
          <p:cNvSpPr txBox="1"/>
          <p:nvPr/>
        </p:nvSpPr>
        <p:spPr>
          <a:xfrm>
            <a:off x="6172200" y="3566160"/>
            <a:ext cx="731520" cy="731520"/>
          </a:xfrm>
          <a:prstGeom prst="rect">
            <a:avLst/>
          </a:prstGeom>
          <a:noFill/>
          <a:ln/>
        </p:spPr>
        <p:txBody>
          <a:bodyPr wrap="square" lIns="0" tIns="0" rIns="0" bIns="0" rtlCol="0" anchor="ctr"/>
          <a:lstStyle/>
          <a:p>
            <a:pPr algn="ctr" indent="0" marL="0">
              <a:buNone/>
            </a:pPr>
            <a:r>
              <a:rPr lang="en-US" sz="2000" b="1" dirty="0">
                <a:solidFill>
                  <a:srgbClr val="212121"/>
                </a:solidFill>
                <a:latin typeface="Cambria" pitchFamily="34" charset="0"/>
                <a:ea typeface="Cambria" pitchFamily="34" charset="-122"/>
                <a:cs typeface="Cambria" pitchFamily="34" charset="-120"/>
              </a:rPr>
              <a:t>+</a:t>
            </a:r>
            <a:endParaRPr lang="en-US" sz="2000" dirty="0"/>
          </a:p>
        </p:txBody>
      </p:sp>
      <p:sp>
        <p:nvSpPr>
          <p:cNvPr id="20" name="Shape 18"/>
          <p:cNvSpPr/>
          <p:nvPr/>
        </p:nvSpPr>
        <p:spPr>
          <a:xfrm>
            <a:off x="6537960" y="2898648"/>
            <a:ext cx="91" cy="649224"/>
          </a:xfrm>
          <a:prstGeom prst="line">
            <a:avLst/>
          </a:prstGeom>
          <a:noFill/>
          <a:ln w="19050">
            <a:solidFill>
              <a:srgbClr val="50808E"/>
            </a:solidFill>
            <a:prstDash val="solid"/>
            <a:tailEnd type="triangle"/>
          </a:ln>
        </p:spPr>
        <p:txBody>
          <a:bodyPr/>
          <a:p/>
        </p:txBody>
      </p:sp>
      <p:sp>
        <p:nvSpPr>
          <p:cNvPr id="21" name="Shape 19"/>
          <p:cNvSpPr/>
          <p:nvPr/>
        </p:nvSpPr>
        <p:spPr>
          <a:xfrm>
            <a:off x="4544568" y="3931920"/>
            <a:ext cx="1609344" cy="91"/>
          </a:xfrm>
          <a:prstGeom prst="line">
            <a:avLst/>
          </a:prstGeom>
          <a:noFill/>
          <a:ln w="22225">
            <a:solidFill>
              <a:srgbClr val="50808E"/>
            </a:solidFill>
            <a:prstDash val="solid"/>
            <a:tailEnd type="triangle"/>
          </a:ln>
        </p:spPr>
        <p:txBody>
          <a:bodyPr/>
          <a:p/>
        </p:txBody>
      </p:sp>
      <p:sp>
        <p:nvSpPr>
          <p:cNvPr id="22" name="Text 20"/>
          <p:cNvSpPr txBox="1"/>
          <p:nvPr/>
        </p:nvSpPr>
        <p:spPr>
          <a:xfrm>
            <a:off x="4846320" y="3566160"/>
            <a:ext cx="73152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yes</a:t>
            </a:r>
            <a:endParaRPr lang="en-US" sz="1200" dirty="0"/>
          </a:p>
        </p:txBody>
      </p:sp>
      <p:sp>
        <p:nvSpPr>
          <p:cNvPr id="23" name="Shape 21"/>
          <p:cNvSpPr/>
          <p:nvPr/>
        </p:nvSpPr>
        <p:spPr>
          <a:xfrm>
            <a:off x="6922008" y="3931920"/>
            <a:ext cx="941832" cy="91"/>
          </a:xfrm>
          <a:prstGeom prst="line">
            <a:avLst/>
          </a:prstGeom>
          <a:noFill/>
          <a:ln w="22225">
            <a:solidFill>
              <a:srgbClr val="50808E"/>
            </a:solidFill>
            <a:prstDash val="solid"/>
            <a:tailEnd type="triangle"/>
          </a:ln>
        </p:spPr>
        <p:txBody>
          <a:bodyPr/>
          <a:p/>
        </p:txBody>
      </p:sp>
      <p:sp>
        <p:nvSpPr>
          <p:cNvPr id="24" name="Text 22"/>
          <p:cNvSpPr txBox="1"/>
          <p:nvPr/>
        </p:nvSpPr>
        <p:spPr>
          <a:xfrm>
            <a:off x="6903720" y="3977640"/>
            <a:ext cx="100584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physical</a:t>
            </a:r>
            <a:endParaRPr lang="en-US" sz="1200" dirty="0"/>
          </a:p>
        </p:txBody>
      </p:sp>
      <p:sp>
        <p:nvSpPr>
          <p:cNvPr id="25" name="Shape 23"/>
          <p:cNvSpPr/>
          <p:nvPr/>
        </p:nvSpPr>
        <p:spPr>
          <a:xfrm>
            <a:off x="7909560" y="2148840"/>
            <a:ext cx="914400" cy="4114800"/>
          </a:xfrm>
          <a:prstGeom prst="roundRect">
            <a:avLst>
              <a:gd name="adj" fmla="val 5000"/>
            </a:avLst>
          </a:prstGeom>
          <a:solidFill>
            <a:srgbClr val="F2F2F2"/>
          </a:solidFill>
          <a:ln/>
        </p:spPr>
        <p:txBody>
          <a:bodyPr/>
          <a:p/>
        </p:txBody>
      </p:sp>
      <p:sp>
        <p:nvSpPr>
          <p:cNvPr id="26" name="Text 24"/>
          <p:cNvSpPr txBox="1"/>
          <p:nvPr/>
        </p:nvSpPr>
        <p:spPr>
          <a:xfrm>
            <a:off x="7909560" y="2148840"/>
            <a:ext cx="914400" cy="41148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Memory</a:t>
            </a:r>
            <a:endParaRPr lang="en-US" sz="1200" dirty="0"/>
          </a:p>
        </p:txBody>
      </p:sp>
      <p:sp>
        <p:nvSpPr>
          <p:cNvPr id="27" name="Shape 25"/>
          <p:cNvSpPr/>
          <p:nvPr/>
        </p:nvSpPr>
        <p:spPr>
          <a:xfrm>
            <a:off x="3520440" y="4636008"/>
            <a:ext cx="91" cy="850392"/>
          </a:xfrm>
          <a:prstGeom prst="line">
            <a:avLst/>
          </a:prstGeom>
          <a:noFill/>
          <a:ln w="22225">
            <a:solidFill>
              <a:srgbClr val="B5453A"/>
            </a:solidFill>
            <a:prstDash val="solid"/>
            <a:tailEnd type="triangle"/>
          </a:ln>
        </p:spPr>
        <p:txBody>
          <a:bodyPr/>
          <a:p/>
        </p:txBody>
      </p:sp>
      <p:sp>
        <p:nvSpPr>
          <p:cNvPr id="28" name="Text 26"/>
          <p:cNvSpPr txBox="1"/>
          <p:nvPr/>
        </p:nvSpPr>
        <p:spPr>
          <a:xfrm>
            <a:off x="3657600" y="4709160"/>
            <a:ext cx="548640" cy="274320"/>
          </a:xfrm>
          <a:prstGeom prst="rect">
            <a:avLst/>
          </a:prstGeom>
          <a:noFill/>
          <a:ln/>
        </p:spPr>
        <p:txBody>
          <a:bodyPr wrap="square" lIns="0" tIns="0" rIns="0" bIns="0" rtlCol="0" anchor="t"/>
          <a:lstStyle/>
          <a:p>
            <a:pPr indent="0" marL="0">
              <a:buNone/>
            </a:pPr>
            <a:r>
              <a:rPr lang="en-US" sz="1200" b="1" dirty="0">
                <a:solidFill>
                  <a:srgbClr val="B5453A"/>
                </a:solidFill>
                <a:latin typeface="Calibri" pitchFamily="34" charset="0"/>
                <a:ea typeface="Calibri" pitchFamily="34" charset="-122"/>
                <a:cs typeface="Calibri" pitchFamily="34" charset="-120"/>
              </a:rPr>
              <a:t>no</a:t>
            </a:r>
            <a:endParaRPr lang="en-US" sz="1200" dirty="0"/>
          </a:p>
        </p:txBody>
      </p:sp>
      <p:sp>
        <p:nvSpPr>
          <p:cNvPr id="29" name="Shape 27"/>
          <p:cNvSpPr/>
          <p:nvPr/>
        </p:nvSpPr>
        <p:spPr>
          <a:xfrm>
            <a:off x="2331720" y="5504688"/>
            <a:ext cx="3108960" cy="731520"/>
          </a:xfrm>
          <a:prstGeom prst="roundRect">
            <a:avLst>
              <a:gd name="adj" fmla="val 6250"/>
            </a:avLst>
          </a:prstGeom>
          <a:solidFill>
            <a:srgbClr val="B5453A"/>
          </a:solidFill>
          <a:ln/>
        </p:spPr>
        <p:txBody>
          <a:bodyPr/>
          <a:p/>
        </p:txBody>
      </p:sp>
      <p:sp>
        <p:nvSpPr>
          <p:cNvPr id="30" name="Text 28"/>
          <p:cNvSpPr txBox="1"/>
          <p:nvPr/>
        </p:nvSpPr>
        <p:spPr>
          <a:xfrm>
            <a:off x="2331720" y="5504688"/>
            <a:ext cx="3108960" cy="7315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TRAP to the OS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addressing error → process killed</a:t>
            </a:r>
            <a:endParaRPr lang="en-US" sz="1300" dirty="0"/>
          </a:p>
        </p:txBody>
      </p:sp>
      <p:sp>
        <p:nvSpPr>
          <p:cNvPr id="31" name="Shape 29"/>
          <p:cNvSpPr/>
          <p:nvPr/>
        </p:nvSpPr>
        <p:spPr>
          <a:xfrm>
            <a:off x="9098280" y="2148840"/>
            <a:ext cx="2560320" cy="411480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2" name="Text 30"/>
          <p:cNvSpPr txBox="1"/>
          <p:nvPr/>
        </p:nvSpPr>
        <p:spPr>
          <a:xfrm>
            <a:off x="9326880" y="2331720"/>
            <a:ext cx="21031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Rules</a:t>
            </a:r>
            <a:endParaRPr lang="en-US" sz="1500" dirty="0"/>
          </a:p>
        </p:txBody>
      </p:sp>
      <p:sp>
        <p:nvSpPr>
          <p:cNvPr id="33" name="Text 31"/>
          <p:cNvSpPr txBox="1"/>
          <p:nvPr/>
        </p:nvSpPr>
        <p:spPr>
          <a:xfrm>
            <a:off x="9326880" y="2788920"/>
            <a:ext cx="2103120" cy="33375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Legal: 0 ≤ logical &lt; limit.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Physical = base + logical.</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Only the kernel can load these registers.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On Linux the trap appears as "Segmentation fault".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Base &amp; Limit in Decimal and in Hex</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737360"/>
                <a:gridCol w="1554480"/>
                <a:gridCol w="2103120"/>
                <a:gridCol w="2880360"/>
                <a:gridCol w="283464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Base</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Limit</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Logical address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Check: logical &lt; limit?</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Result</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14000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346</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346 &lt; 3000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physical 14346</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14000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2999</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2999 &lt; 3000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physical 16999 (last legal byte)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14000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3500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3500 &lt; 3000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TRAP: addressing error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0x4000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0x1000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0x02A4</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0x02A4 &lt; 0x1000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physical 0x42A4  (= 17060)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0x4000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0x1000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0x1200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0x1200 &lt; 0x1000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TRAP: addressing error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process owns exactly the physical range [base, base + limit): 14000 … 16999 in decimal, 0x4000 … 0x4FFF in hex (0x4000 = 16384, 0x1000 = 4096).</a:t>
            </a:r>
            <a:endParaRPr lang="en-US" sz="1400" dirty="0"/>
          </a:p>
        </p:txBody>
      </p:sp>
      <p:sp>
        <p:nvSpPr>
          <p:cNvPr id="9" name="Text 6"/>
          <p:cNvSpPr txBox="1"/>
          <p:nvPr/>
        </p:nvSpPr>
        <p:spPr>
          <a:xfrm>
            <a:off x="548640" y="3858768"/>
            <a:ext cx="8229600" cy="2743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physical memory (decimal row): the process may touch only the mint range</a:t>
            </a:r>
            <a:endParaRPr lang="en-US" sz="1200" dirty="0"/>
          </a:p>
        </p:txBody>
      </p:sp>
      <p:sp>
        <p:nvSpPr>
          <p:cNvPr id="10" name="Shape 7"/>
          <p:cNvSpPr/>
          <p:nvPr/>
        </p:nvSpPr>
        <p:spPr>
          <a:xfrm>
            <a:off x="548640" y="4206240"/>
            <a:ext cx="7776972" cy="640080"/>
          </a:xfrm>
          <a:prstGeom prst="rect">
            <a:avLst/>
          </a:prstGeom>
          <a:solidFill>
            <a:srgbClr val="C9D3D6"/>
          </a:solidFill>
          <a:ln w="12700">
            <a:solidFill>
              <a:srgbClr val="FFFFFF"/>
            </a:solidFill>
            <a:prstDash val="solid"/>
          </a:ln>
        </p:spPr>
        <p:txBody>
          <a:bodyPr/>
          <a:p/>
        </p:txBody>
      </p:sp>
      <p:sp>
        <p:nvSpPr>
          <p:cNvPr id="11" name="Text 8"/>
          <p:cNvSpPr txBox="1"/>
          <p:nvPr/>
        </p:nvSpPr>
        <p:spPr>
          <a:xfrm>
            <a:off x="548640" y="4206240"/>
            <a:ext cx="7776972" cy="640080"/>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other processes / OS</a:t>
            </a:r>
            <a:endParaRPr lang="en-US" sz="1300" dirty="0"/>
          </a:p>
        </p:txBody>
      </p:sp>
      <p:sp>
        <p:nvSpPr>
          <p:cNvPr id="12" name="Shape 9"/>
          <p:cNvSpPr/>
          <p:nvPr/>
        </p:nvSpPr>
        <p:spPr>
          <a:xfrm>
            <a:off x="8325612" y="4206240"/>
            <a:ext cx="1666494" cy="640080"/>
          </a:xfrm>
          <a:prstGeom prst="rect">
            <a:avLst/>
          </a:prstGeom>
          <a:solidFill>
            <a:srgbClr val="02C39A"/>
          </a:solidFill>
          <a:ln w="12700">
            <a:solidFill>
              <a:srgbClr val="FFFFFF"/>
            </a:solidFill>
            <a:prstDash val="solid"/>
          </a:ln>
        </p:spPr>
        <p:txBody>
          <a:bodyPr/>
          <a:p/>
        </p:txBody>
      </p:sp>
      <p:sp>
        <p:nvSpPr>
          <p:cNvPr id="13" name="Text 10"/>
          <p:cNvSpPr txBox="1"/>
          <p:nvPr/>
        </p:nvSpPr>
        <p:spPr>
          <a:xfrm>
            <a:off x="8325612" y="4206240"/>
            <a:ext cx="1666494" cy="640080"/>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14000 … 16999</a:t>
            </a:r>
            <a:endParaRPr lang="en-US" sz="1300" dirty="0"/>
          </a:p>
        </p:txBody>
      </p:sp>
      <p:sp>
        <p:nvSpPr>
          <p:cNvPr id="14" name="Shape 11"/>
          <p:cNvSpPr/>
          <p:nvPr/>
        </p:nvSpPr>
        <p:spPr>
          <a:xfrm>
            <a:off x="9992106" y="4206240"/>
            <a:ext cx="1666494" cy="640080"/>
          </a:xfrm>
          <a:prstGeom prst="rect">
            <a:avLst/>
          </a:prstGeom>
          <a:solidFill>
            <a:srgbClr val="F3DAD7"/>
          </a:solidFill>
          <a:ln w="12700">
            <a:solidFill>
              <a:srgbClr val="FFFFFF"/>
            </a:solidFill>
            <a:prstDash val="solid"/>
          </a:ln>
        </p:spPr>
        <p:txBody>
          <a:bodyPr/>
          <a:p/>
        </p:txBody>
      </p:sp>
      <p:sp>
        <p:nvSpPr>
          <p:cNvPr id="15" name="Text 12"/>
          <p:cNvSpPr txBox="1"/>
          <p:nvPr/>
        </p:nvSpPr>
        <p:spPr>
          <a:xfrm>
            <a:off x="9992106" y="4206240"/>
            <a:ext cx="1666494" cy="640080"/>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TRAP</a:t>
            </a:r>
            <a:endParaRPr lang="en-US" sz="1300" dirty="0"/>
          </a:p>
        </p:txBody>
      </p:sp>
      <p:sp>
        <p:nvSpPr>
          <p:cNvPr id="16" name="Text 13"/>
          <p:cNvSpPr txBox="1"/>
          <p:nvPr/>
        </p:nvSpPr>
        <p:spPr>
          <a:xfrm>
            <a:off x="7228332" y="4882896"/>
            <a:ext cx="2194560" cy="274320"/>
          </a:xfrm>
          <a:prstGeom prst="rect">
            <a:avLst/>
          </a:prstGeom>
          <a:noFill/>
          <a:ln/>
        </p:spPr>
        <p:txBody>
          <a:bodyPr wrap="square" lIns="0" tIns="0" rIns="0" bIns="0" rtlCol="0" anchor="t"/>
          <a:lstStyle/>
          <a:p>
            <a:pPr algn="ctr" indent="0" marL="0">
              <a:buNone/>
            </a:pPr>
            <a:r>
              <a:rPr lang="en-US" sz="1100" dirty="0">
                <a:solidFill>
                  <a:srgbClr val="50808E"/>
                </a:solidFill>
                <a:latin typeface="Calibri" pitchFamily="34" charset="0"/>
                <a:ea typeface="Calibri" pitchFamily="34" charset="-122"/>
                <a:cs typeface="Calibri" pitchFamily="34" charset="-120"/>
              </a:rPr>
              <a:t>base = 14000</a:t>
            </a:r>
            <a:endParaRPr lang="en-US" sz="1100" dirty="0"/>
          </a:p>
        </p:txBody>
      </p:sp>
      <p:sp>
        <p:nvSpPr>
          <p:cNvPr id="17" name="Text 14"/>
          <p:cNvSpPr txBox="1"/>
          <p:nvPr/>
        </p:nvSpPr>
        <p:spPr>
          <a:xfrm>
            <a:off x="8894826" y="4882896"/>
            <a:ext cx="2194560" cy="274320"/>
          </a:xfrm>
          <a:prstGeom prst="rect">
            <a:avLst/>
          </a:prstGeom>
          <a:noFill/>
          <a:ln/>
        </p:spPr>
        <p:txBody>
          <a:bodyPr wrap="square" lIns="0" tIns="0" rIns="0" bIns="0" rtlCol="0" anchor="t"/>
          <a:lstStyle/>
          <a:p>
            <a:pPr algn="ctr" indent="0" marL="0">
              <a:buNone/>
            </a:pPr>
            <a:r>
              <a:rPr lang="en-US" sz="1100" dirty="0">
                <a:solidFill>
                  <a:srgbClr val="50808E"/>
                </a:solidFill>
                <a:latin typeface="Calibri" pitchFamily="34" charset="0"/>
                <a:ea typeface="Calibri" pitchFamily="34" charset="-122"/>
                <a:cs typeface="Calibri" pitchFamily="34" charset="-120"/>
              </a:rPr>
              <a:t>base + limit = 17000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SWAPPING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Swapping: Moving a Whole Process Out to Disk</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If RAM is full, the OS can copy a process to a backing store (disk) and bring it back later.</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11</a:t>
            </a:r>
            <a:endParaRPr lang="en-US" sz="900" dirty="0"/>
          </a:p>
        </p:txBody>
      </p:sp>
      <p:sp>
        <p:nvSpPr>
          <p:cNvPr id="7" name="Shape 5"/>
          <p:cNvSpPr/>
          <p:nvPr/>
        </p:nvSpPr>
        <p:spPr>
          <a:xfrm>
            <a:off x="548640" y="2240280"/>
            <a:ext cx="2377440" cy="3977640"/>
          </a:xfrm>
          <a:prstGeom prst="roundRect">
            <a:avLst>
              <a:gd name="adj" fmla="val 1923"/>
            </a:avLst>
          </a:prstGeom>
          <a:solidFill>
            <a:srgbClr val="F2F2F2"/>
          </a:solidFill>
          <a:ln/>
        </p:spPr>
        <p:txBody>
          <a:bodyPr/>
          <a:p/>
        </p:txBody>
      </p:sp>
      <p:sp>
        <p:nvSpPr>
          <p:cNvPr id="8" name="Text 6"/>
          <p:cNvSpPr txBox="1"/>
          <p:nvPr/>
        </p:nvSpPr>
        <p:spPr>
          <a:xfrm>
            <a:off x="548640" y="2313432"/>
            <a:ext cx="237744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main memory</a:t>
            </a:r>
            <a:endParaRPr lang="en-US" sz="1200" dirty="0"/>
          </a:p>
        </p:txBody>
      </p:sp>
      <p:sp>
        <p:nvSpPr>
          <p:cNvPr id="9" name="Shape 7"/>
          <p:cNvSpPr/>
          <p:nvPr/>
        </p:nvSpPr>
        <p:spPr>
          <a:xfrm>
            <a:off x="731520" y="2651760"/>
            <a:ext cx="2011680" cy="731520"/>
          </a:xfrm>
          <a:prstGeom prst="roundRect">
            <a:avLst>
              <a:gd name="adj" fmla="val 6250"/>
            </a:avLst>
          </a:prstGeom>
          <a:solidFill>
            <a:srgbClr val="36454F"/>
          </a:solidFill>
          <a:ln/>
        </p:spPr>
        <p:txBody>
          <a:bodyPr/>
          <a:p/>
        </p:txBody>
      </p:sp>
      <p:sp>
        <p:nvSpPr>
          <p:cNvPr id="10" name="Text 8"/>
          <p:cNvSpPr txBox="1"/>
          <p:nvPr/>
        </p:nvSpPr>
        <p:spPr>
          <a:xfrm>
            <a:off x="731520" y="2651760"/>
            <a:ext cx="2011680" cy="73152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OS</a:t>
            </a:r>
            <a:endParaRPr lang="en-US" sz="1400" dirty="0"/>
          </a:p>
        </p:txBody>
      </p:sp>
      <p:sp>
        <p:nvSpPr>
          <p:cNvPr id="11" name="Shape 9"/>
          <p:cNvSpPr/>
          <p:nvPr/>
        </p:nvSpPr>
        <p:spPr>
          <a:xfrm>
            <a:off x="731520" y="3566160"/>
            <a:ext cx="2011680" cy="914400"/>
          </a:xfrm>
          <a:prstGeom prst="roundRect">
            <a:avLst>
              <a:gd name="adj" fmla="val 5000"/>
            </a:avLst>
          </a:prstGeom>
          <a:solidFill>
            <a:srgbClr val="02C39A"/>
          </a:solidFill>
          <a:ln/>
        </p:spPr>
        <p:txBody>
          <a:bodyPr/>
          <a:p/>
        </p:txBody>
      </p:sp>
      <p:sp>
        <p:nvSpPr>
          <p:cNvPr id="12" name="Text 10"/>
          <p:cNvSpPr txBox="1"/>
          <p:nvPr/>
        </p:nvSpPr>
        <p:spPr>
          <a:xfrm>
            <a:off x="731520" y="3566160"/>
            <a:ext cx="2011680" cy="91440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libri" pitchFamily="34" charset="0"/>
                <a:ea typeface="Calibri" pitchFamily="34" charset="-122"/>
                <a:cs typeface="Calibri" pitchFamily="34" charset="-120"/>
              </a:rPr>
              <a:t>P1</a:t>
            </a:r>
            <a:endParaRPr lang="en-US" sz="1500" dirty="0"/>
          </a:p>
        </p:txBody>
      </p:sp>
      <p:sp>
        <p:nvSpPr>
          <p:cNvPr id="13" name="Shape 11"/>
          <p:cNvSpPr/>
          <p:nvPr/>
        </p:nvSpPr>
        <p:spPr>
          <a:xfrm>
            <a:off x="731520" y="4663440"/>
            <a:ext cx="2011680" cy="1280160"/>
          </a:xfrm>
          <a:prstGeom prst="roundRect">
            <a:avLst>
              <a:gd name="adj" fmla="val 3571"/>
            </a:avLst>
          </a:prstGeom>
          <a:solidFill>
            <a:srgbClr val="FFFFFF"/>
          </a:solidFill>
          <a:ln/>
        </p:spPr>
        <p:txBody>
          <a:bodyPr/>
          <a:p/>
        </p:txBody>
      </p:sp>
      <p:sp>
        <p:nvSpPr>
          <p:cNvPr id="14" name="Text 12"/>
          <p:cNvSpPr txBox="1"/>
          <p:nvPr/>
        </p:nvSpPr>
        <p:spPr>
          <a:xfrm>
            <a:off x="731520" y="4663440"/>
            <a:ext cx="2011680" cy="1280160"/>
          </a:xfrm>
          <a:prstGeom prst="rect">
            <a:avLst/>
          </a:prstGeom>
          <a:noFill/>
          <a:ln/>
        </p:spPr>
        <p:txBody>
          <a:bodyPr wrap="square" lIns="38100" tIns="38100" rIns="38100" bIns="38100" rtlCol="0" anchor="ctr"/>
          <a:lstStyle/>
          <a:p>
            <a:pPr algn="ctr" indent="0" marL="0">
              <a:buNone/>
            </a:pPr>
            <a:r>
              <a:rPr lang="en-US" sz="1200" dirty="0">
                <a:solidFill>
                  <a:srgbClr val="50808E"/>
                </a:solidFill>
                <a:latin typeface="Calibri" pitchFamily="34" charset="0"/>
                <a:ea typeface="Calibri" pitchFamily="34" charset="-122"/>
                <a:cs typeface="Calibri" pitchFamily="34" charset="-120"/>
              </a:rPr>
              <a:t>user space</a:t>
            </a:r>
            <a:endParaRPr lang="en-US" sz="1200" dirty="0"/>
          </a:p>
        </p:txBody>
      </p:sp>
      <p:sp>
        <p:nvSpPr>
          <p:cNvPr id="15" name="Shape 13"/>
          <p:cNvSpPr/>
          <p:nvPr/>
        </p:nvSpPr>
        <p:spPr>
          <a:xfrm>
            <a:off x="4526280" y="3017520"/>
            <a:ext cx="2011680" cy="2651760"/>
          </a:xfrm>
          <a:prstGeom prst="can">
            <a:avLst/>
          </a:prstGeom>
          <a:solidFill>
            <a:srgbClr val="36454F"/>
          </a:solidFill>
          <a:ln/>
        </p:spPr>
        <p:txBody>
          <a:bodyPr/>
          <a:p/>
        </p:txBody>
      </p:sp>
      <p:sp>
        <p:nvSpPr>
          <p:cNvPr id="16" name="Text 14"/>
          <p:cNvSpPr txBox="1"/>
          <p:nvPr/>
        </p:nvSpPr>
        <p:spPr>
          <a:xfrm>
            <a:off x="4526280" y="3154680"/>
            <a:ext cx="2011680" cy="64008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backing store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(disk)</a:t>
            </a:r>
            <a:endParaRPr lang="en-US" sz="1200" dirty="0"/>
          </a:p>
        </p:txBody>
      </p:sp>
      <p:sp>
        <p:nvSpPr>
          <p:cNvPr id="17" name="Shape 15"/>
          <p:cNvSpPr/>
          <p:nvPr/>
        </p:nvSpPr>
        <p:spPr>
          <a:xfrm>
            <a:off x="4754880" y="3931920"/>
            <a:ext cx="1554480" cy="548640"/>
          </a:xfrm>
          <a:prstGeom prst="roundRect">
            <a:avLst>
              <a:gd name="adj" fmla="val 8333"/>
            </a:avLst>
          </a:prstGeom>
          <a:solidFill>
            <a:srgbClr val="D7E9E6"/>
          </a:solidFill>
          <a:ln/>
        </p:spPr>
        <p:txBody>
          <a:bodyPr/>
          <a:p/>
        </p:txBody>
      </p:sp>
      <p:sp>
        <p:nvSpPr>
          <p:cNvPr id="18" name="Text 16"/>
          <p:cNvSpPr txBox="1"/>
          <p:nvPr/>
        </p:nvSpPr>
        <p:spPr>
          <a:xfrm>
            <a:off x="4754880" y="3931920"/>
            <a:ext cx="1554480" cy="5486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P2</a:t>
            </a:r>
            <a:endParaRPr lang="en-US" sz="1400" dirty="0"/>
          </a:p>
        </p:txBody>
      </p:sp>
      <p:sp>
        <p:nvSpPr>
          <p:cNvPr id="19" name="Shape 17"/>
          <p:cNvSpPr/>
          <p:nvPr/>
        </p:nvSpPr>
        <p:spPr>
          <a:xfrm>
            <a:off x="2971800" y="3794760"/>
            <a:ext cx="1737360" cy="182880"/>
          </a:xfrm>
          <a:prstGeom prst="line">
            <a:avLst/>
          </a:prstGeom>
          <a:noFill/>
          <a:ln w="25400">
            <a:solidFill>
              <a:srgbClr val="028090"/>
            </a:solidFill>
            <a:prstDash val="solid"/>
            <a:tailEnd type="triangle"/>
          </a:ln>
        </p:spPr>
        <p:txBody>
          <a:bodyPr/>
          <a:p/>
        </p:txBody>
      </p:sp>
      <p:sp>
        <p:nvSpPr>
          <p:cNvPr id="20" name="Text 18"/>
          <p:cNvSpPr txBox="1"/>
          <p:nvPr/>
        </p:nvSpPr>
        <p:spPr>
          <a:xfrm>
            <a:off x="3063240" y="3337560"/>
            <a:ext cx="155448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① swap out P1</a:t>
            </a:r>
            <a:endParaRPr lang="en-US" sz="1200" dirty="0"/>
          </a:p>
        </p:txBody>
      </p:sp>
      <p:sp>
        <p:nvSpPr>
          <p:cNvPr id="21" name="Shape 19"/>
          <p:cNvSpPr/>
          <p:nvPr/>
        </p:nvSpPr>
        <p:spPr>
          <a:xfrm flipH="1">
            <a:off x="2971800" y="4389120"/>
            <a:ext cx="1737360" cy="777240"/>
          </a:xfrm>
          <a:prstGeom prst="line">
            <a:avLst/>
          </a:prstGeom>
          <a:noFill/>
          <a:ln w="25400">
            <a:solidFill>
              <a:srgbClr val="028090"/>
            </a:solidFill>
            <a:prstDash val="solid"/>
            <a:tailEnd type="triangle"/>
          </a:ln>
        </p:spPr>
        <p:txBody>
          <a:bodyPr/>
          <a:p/>
        </p:txBody>
      </p:sp>
      <p:sp>
        <p:nvSpPr>
          <p:cNvPr id="22" name="Text 20"/>
          <p:cNvSpPr txBox="1"/>
          <p:nvPr/>
        </p:nvSpPr>
        <p:spPr>
          <a:xfrm>
            <a:off x="3063240" y="5120640"/>
            <a:ext cx="155448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② swap in P2</a:t>
            </a:r>
            <a:endParaRPr lang="en-US" sz="1200" dirty="0"/>
          </a:p>
        </p:txBody>
      </p:sp>
      <p:sp>
        <p:nvSpPr>
          <p:cNvPr id="23" name="Shape 21"/>
          <p:cNvSpPr/>
          <p:nvPr/>
        </p:nvSpPr>
        <p:spPr>
          <a:xfrm>
            <a:off x="6812280" y="2240280"/>
            <a:ext cx="4846320" cy="2011680"/>
          </a:xfrm>
          <a:prstGeom prst="roundRect">
            <a:avLst>
              <a:gd name="adj" fmla="val 2273"/>
            </a:avLst>
          </a:prstGeom>
          <a:solidFill>
            <a:srgbClr val="212121"/>
          </a:solidFill>
          <a:ln/>
        </p:spPr>
        <p:txBody>
          <a:bodyPr/>
          <a:p/>
        </p:txBody>
      </p:sp>
      <p:sp>
        <p:nvSpPr>
          <p:cNvPr id="24" name="Text 22"/>
          <p:cNvSpPr txBox="1"/>
          <p:nvPr/>
        </p:nvSpPr>
        <p:spPr>
          <a:xfrm>
            <a:off x="6995160" y="2350008"/>
            <a:ext cx="4480560" cy="179222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Process size     100 MB</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Disk transfer     50 MB/s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swap out: 100 / 50 = 2 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swap in : 100 / 50 = 2 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total   ≈ 4 s   (plus disk latency)</a:t>
            </a:r>
            <a:endParaRPr lang="en-US" sz="1350" dirty="0"/>
          </a:p>
        </p:txBody>
      </p:sp>
      <p:sp>
        <p:nvSpPr>
          <p:cNvPr id="25" name="Shape 23"/>
          <p:cNvSpPr/>
          <p:nvPr/>
        </p:nvSpPr>
        <p:spPr>
          <a:xfrm>
            <a:off x="6812280" y="4434840"/>
            <a:ext cx="4846320" cy="1783080"/>
          </a:xfrm>
          <a:prstGeom prst="roundRect">
            <a:avLst>
              <a:gd name="adj" fmla="val 307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7040880" y="4434840"/>
            <a:ext cx="4389120" cy="178308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4 s is 400 Round-Robin quanta of 10 ms! So modern systems do not swap whole processes. They swap single pages (4 KB ≈ 80 µs at 50 MB/s) — Week 7.</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CONTIGUOUS ALLOCATION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Variable Partitions and the Hole List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Each process gets one contiguous block of exactly the size it needs. Free blocks between processes are called holes.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12</a:t>
            </a:r>
            <a:endParaRPr lang="en-US" sz="900" dirty="0"/>
          </a:p>
        </p:txBody>
      </p:sp>
      <p:sp>
        <p:nvSpPr>
          <p:cNvPr id="7" name="Shape 5"/>
          <p:cNvSpPr/>
          <p:nvPr/>
        </p:nvSpPr>
        <p:spPr>
          <a:xfrm>
            <a:off x="548640" y="2331720"/>
            <a:ext cx="1190353" cy="868680"/>
          </a:xfrm>
          <a:prstGeom prst="rect">
            <a:avLst/>
          </a:prstGeom>
          <a:solidFill>
            <a:srgbClr val="36454F"/>
          </a:solidFill>
          <a:ln w="9525">
            <a:solidFill>
              <a:srgbClr val="FFFFFF"/>
            </a:solidFill>
            <a:prstDash val="solid"/>
          </a:ln>
        </p:spPr>
        <p:txBody>
          <a:bodyPr/>
          <a:p/>
        </p:txBody>
      </p:sp>
      <p:sp>
        <p:nvSpPr>
          <p:cNvPr id="8" name="Text 6"/>
          <p:cNvSpPr txBox="1"/>
          <p:nvPr/>
        </p:nvSpPr>
        <p:spPr>
          <a:xfrm>
            <a:off x="548640" y="2331720"/>
            <a:ext cx="1190353"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OS</a:t>
            </a:r>
            <a:endParaRPr lang="en-US" sz="1200" dirty="0"/>
          </a:p>
        </p:txBody>
      </p:sp>
      <p:sp>
        <p:nvSpPr>
          <p:cNvPr id="9" name="Shape 7"/>
          <p:cNvSpPr/>
          <p:nvPr/>
        </p:nvSpPr>
        <p:spPr>
          <a:xfrm>
            <a:off x="2334169" y="2331720"/>
            <a:ext cx="595176" cy="868680"/>
          </a:xfrm>
          <a:prstGeom prst="rect">
            <a:avLst/>
          </a:prstGeom>
          <a:solidFill>
            <a:srgbClr val="C9D3D6"/>
          </a:solidFill>
          <a:ln w="9525">
            <a:solidFill>
              <a:srgbClr val="FFFFFF"/>
            </a:solidFill>
            <a:prstDash val="solid"/>
          </a:ln>
        </p:spPr>
        <p:txBody>
          <a:bodyPr/>
          <a:p/>
        </p:txBody>
      </p:sp>
      <p:sp>
        <p:nvSpPr>
          <p:cNvPr id="10" name="Text 8"/>
          <p:cNvSpPr txBox="1"/>
          <p:nvPr/>
        </p:nvSpPr>
        <p:spPr>
          <a:xfrm>
            <a:off x="2334169" y="2331720"/>
            <a:ext cx="595176" cy="868680"/>
          </a:xfrm>
          <a:prstGeom prst="rect">
            <a:avLst/>
          </a:prstGeom>
          <a:noFill/>
          <a:ln/>
        </p:spPr>
        <p:txBody>
          <a:bodyPr wrap="square" lIns="0" tIns="0" rIns="0" bIns="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11" name="Shape 9"/>
          <p:cNvSpPr/>
          <p:nvPr/>
        </p:nvSpPr>
        <p:spPr>
          <a:xfrm>
            <a:off x="4714875" y="2331720"/>
            <a:ext cx="595176" cy="868680"/>
          </a:xfrm>
          <a:prstGeom prst="rect">
            <a:avLst/>
          </a:prstGeom>
          <a:solidFill>
            <a:srgbClr val="C9D3D6"/>
          </a:solidFill>
          <a:ln w="9525">
            <a:solidFill>
              <a:srgbClr val="FFFFFF"/>
            </a:solidFill>
            <a:prstDash val="solid"/>
          </a:ln>
        </p:spPr>
        <p:txBody>
          <a:bodyPr/>
          <a:p/>
        </p:txBody>
      </p:sp>
      <p:sp>
        <p:nvSpPr>
          <p:cNvPr id="12" name="Text 10"/>
          <p:cNvSpPr txBox="1"/>
          <p:nvPr/>
        </p:nvSpPr>
        <p:spPr>
          <a:xfrm>
            <a:off x="4714875" y="2331720"/>
            <a:ext cx="595176" cy="868680"/>
          </a:xfrm>
          <a:prstGeom prst="rect">
            <a:avLst/>
          </a:prstGeom>
          <a:noFill/>
          <a:ln/>
        </p:spPr>
        <p:txBody>
          <a:bodyPr wrap="square" lIns="0" tIns="0" rIns="0" bIns="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P2</a:t>
            </a:r>
            <a:endParaRPr lang="en-US" sz="1200" dirty="0"/>
          </a:p>
        </p:txBody>
      </p:sp>
      <p:sp>
        <p:nvSpPr>
          <p:cNvPr id="13" name="Shape 11"/>
          <p:cNvSpPr/>
          <p:nvPr/>
        </p:nvSpPr>
        <p:spPr>
          <a:xfrm>
            <a:off x="6103620" y="2331720"/>
            <a:ext cx="793569" cy="868680"/>
          </a:xfrm>
          <a:prstGeom prst="rect">
            <a:avLst/>
          </a:prstGeom>
          <a:solidFill>
            <a:srgbClr val="C9D3D6"/>
          </a:solidFill>
          <a:ln w="9525">
            <a:solidFill>
              <a:srgbClr val="FFFFFF"/>
            </a:solidFill>
            <a:prstDash val="solid"/>
          </a:ln>
        </p:spPr>
        <p:txBody>
          <a:bodyPr/>
          <a:p/>
        </p:txBody>
      </p:sp>
      <p:sp>
        <p:nvSpPr>
          <p:cNvPr id="14" name="Text 12"/>
          <p:cNvSpPr txBox="1"/>
          <p:nvPr/>
        </p:nvSpPr>
        <p:spPr>
          <a:xfrm>
            <a:off x="6103620" y="2331720"/>
            <a:ext cx="793569" cy="868680"/>
          </a:xfrm>
          <a:prstGeom prst="rect">
            <a:avLst/>
          </a:prstGeom>
          <a:noFill/>
          <a:ln/>
        </p:spPr>
        <p:txBody>
          <a:bodyPr wrap="square" lIns="0" tIns="0" rIns="0" bIns="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P3</a:t>
            </a:r>
            <a:endParaRPr lang="en-US" sz="1200" dirty="0"/>
          </a:p>
        </p:txBody>
      </p:sp>
      <p:sp>
        <p:nvSpPr>
          <p:cNvPr id="15" name="Shape 13"/>
          <p:cNvSpPr/>
          <p:nvPr/>
        </p:nvSpPr>
        <p:spPr>
          <a:xfrm>
            <a:off x="8285934" y="2331720"/>
            <a:ext cx="595176" cy="868680"/>
          </a:xfrm>
          <a:prstGeom prst="rect">
            <a:avLst/>
          </a:prstGeom>
          <a:solidFill>
            <a:srgbClr val="C9D3D6"/>
          </a:solidFill>
          <a:ln w="9525">
            <a:solidFill>
              <a:srgbClr val="FFFFFF"/>
            </a:solidFill>
            <a:prstDash val="solid"/>
          </a:ln>
        </p:spPr>
        <p:txBody>
          <a:bodyPr/>
          <a:p/>
        </p:txBody>
      </p:sp>
      <p:sp>
        <p:nvSpPr>
          <p:cNvPr id="16" name="Text 14"/>
          <p:cNvSpPr txBox="1"/>
          <p:nvPr/>
        </p:nvSpPr>
        <p:spPr>
          <a:xfrm>
            <a:off x="8285934" y="2331720"/>
            <a:ext cx="595176" cy="868680"/>
          </a:xfrm>
          <a:prstGeom prst="rect">
            <a:avLst/>
          </a:prstGeom>
          <a:noFill/>
          <a:ln/>
        </p:spPr>
        <p:txBody>
          <a:bodyPr wrap="square" lIns="0" tIns="0" rIns="0" bIns="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P4</a:t>
            </a:r>
            <a:endParaRPr lang="en-US" sz="1200" dirty="0"/>
          </a:p>
        </p:txBody>
      </p:sp>
      <p:sp>
        <p:nvSpPr>
          <p:cNvPr id="17" name="Shape 15"/>
          <p:cNvSpPr/>
          <p:nvPr/>
        </p:nvSpPr>
        <p:spPr>
          <a:xfrm>
            <a:off x="11063424" y="2331720"/>
            <a:ext cx="595176" cy="868680"/>
          </a:xfrm>
          <a:prstGeom prst="rect">
            <a:avLst/>
          </a:prstGeom>
          <a:solidFill>
            <a:srgbClr val="C9D3D6"/>
          </a:solidFill>
          <a:ln w="9525">
            <a:solidFill>
              <a:srgbClr val="FFFFFF"/>
            </a:solidFill>
            <a:prstDash val="solid"/>
          </a:ln>
        </p:spPr>
        <p:txBody>
          <a:bodyPr/>
          <a:p/>
        </p:txBody>
      </p:sp>
      <p:sp>
        <p:nvSpPr>
          <p:cNvPr id="18" name="Text 16"/>
          <p:cNvSpPr txBox="1"/>
          <p:nvPr/>
        </p:nvSpPr>
        <p:spPr>
          <a:xfrm>
            <a:off x="11063424" y="2331720"/>
            <a:ext cx="595176" cy="868680"/>
          </a:xfrm>
          <a:prstGeom prst="rect">
            <a:avLst/>
          </a:prstGeom>
          <a:noFill/>
          <a:ln/>
        </p:spPr>
        <p:txBody>
          <a:bodyPr wrap="square" lIns="0" tIns="0" rIns="0" bIns="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P5</a:t>
            </a:r>
            <a:endParaRPr lang="en-US" sz="1200" dirty="0"/>
          </a:p>
        </p:txBody>
      </p:sp>
      <p:sp>
        <p:nvSpPr>
          <p:cNvPr id="19" name="Shape 17"/>
          <p:cNvSpPr/>
          <p:nvPr/>
        </p:nvSpPr>
        <p:spPr>
          <a:xfrm>
            <a:off x="1738993" y="2331720"/>
            <a:ext cx="595176" cy="868680"/>
          </a:xfrm>
          <a:prstGeom prst="rect">
            <a:avLst/>
          </a:prstGeom>
          <a:solidFill>
            <a:srgbClr val="FFFFFF"/>
          </a:solidFill>
          <a:ln w="12700">
            <a:solidFill>
              <a:srgbClr val="50808E"/>
            </a:solidFill>
            <a:prstDash val="dash"/>
          </a:ln>
        </p:spPr>
        <p:txBody>
          <a:bodyPr/>
          <a:p/>
        </p:txBody>
      </p:sp>
      <p:sp>
        <p:nvSpPr>
          <p:cNvPr id="20" name="Text 18"/>
          <p:cNvSpPr txBox="1"/>
          <p:nvPr/>
        </p:nvSpPr>
        <p:spPr>
          <a:xfrm>
            <a:off x="1738993" y="2331720"/>
            <a:ext cx="595176" cy="868680"/>
          </a:xfrm>
          <a:prstGeom prst="rect">
            <a:avLst/>
          </a:prstGeom>
          <a:noFill/>
          <a:ln/>
        </p:spPr>
        <p:txBody>
          <a:bodyPr wrap="square" lIns="0" tIns="0" rIns="0" bIns="0" rtlCol="0" anchor="ctr"/>
          <a:lstStyle/>
          <a:p>
            <a:pPr algn="ctr" indent="0" marL="0">
              <a:buNone/>
            </a:pPr>
            <a:r>
              <a:rPr lang="en-US" sz="1200" dirty="0">
                <a:solidFill>
                  <a:srgbClr val="50808E"/>
                </a:solidFill>
                <a:latin typeface="Calibri" pitchFamily="34" charset="0"/>
                <a:ea typeface="Calibri" pitchFamily="34" charset="-122"/>
                <a:cs typeface="Calibri" pitchFamily="34" charset="-120"/>
              </a:rPr>
              <a:t>150 KB</a:t>
            </a:r>
            <a:endParaRPr lang="en-US" sz="1200" dirty="0"/>
          </a:p>
        </p:txBody>
      </p:sp>
      <p:sp>
        <p:nvSpPr>
          <p:cNvPr id="21" name="Shape 19"/>
          <p:cNvSpPr/>
          <p:nvPr/>
        </p:nvSpPr>
        <p:spPr>
          <a:xfrm>
            <a:off x="2929346" y="2331720"/>
            <a:ext cx="1785529" cy="868680"/>
          </a:xfrm>
          <a:prstGeom prst="rect">
            <a:avLst/>
          </a:prstGeom>
          <a:solidFill>
            <a:srgbClr val="FFFFFF"/>
          </a:solidFill>
          <a:ln w="12700">
            <a:solidFill>
              <a:srgbClr val="50808E"/>
            </a:solidFill>
            <a:prstDash val="dash"/>
          </a:ln>
        </p:spPr>
        <p:txBody>
          <a:bodyPr/>
          <a:p/>
        </p:txBody>
      </p:sp>
      <p:sp>
        <p:nvSpPr>
          <p:cNvPr id="22" name="Text 20"/>
          <p:cNvSpPr txBox="1"/>
          <p:nvPr/>
        </p:nvSpPr>
        <p:spPr>
          <a:xfrm>
            <a:off x="2929346" y="2331720"/>
            <a:ext cx="1785529" cy="868680"/>
          </a:xfrm>
          <a:prstGeom prst="rect">
            <a:avLst/>
          </a:prstGeom>
          <a:noFill/>
          <a:ln/>
        </p:spPr>
        <p:txBody>
          <a:bodyPr wrap="square" lIns="0" tIns="0" rIns="0" bIns="0" rtlCol="0" anchor="ctr"/>
          <a:lstStyle/>
          <a:p>
            <a:pPr algn="ctr" indent="0" marL="0">
              <a:buNone/>
            </a:pPr>
            <a:r>
              <a:rPr lang="en-US" sz="1200" dirty="0">
                <a:solidFill>
                  <a:srgbClr val="50808E"/>
                </a:solidFill>
                <a:latin typeface="Calibri" pitchFamily="34" charset="0"/>
                <a:ea typeface="Calibri" pitchFamily="34" charset="-122"/>
                <a:cs typeface="Calibri" pitchFamily="34" charset="-120"/>
              </a:rPr>
              <a:t>450 KB</a:t>
            </a:r>
            <a:endParaRPr lang="en-US" sz="1200" dirty="0"/>
          </a:p>
        </p:txBody>
      </p:sp>
      <p:sp>
        <p:nvSpPr>
          <p:cNvPr id="23" name="Shape 21"/>
          <p:cNvSpPr/>
          <p:nvPr/>
        </p:nvSpPr>
        <p:spPr>
          <a:xfrm>
            <a:off x="5310051" y="2331720"/>
            <a:ext cx="793569" cy="868680"/>
          </a:xfrm>
          <a:prstGeom prst="rect">
            <a:avLst/>
          </a:prstGeom>
          <a:solidFill>
            <a:srgbClr val="FFFFFF"/>
          </a:solidFill>
          <a:ln w="12700">
            <a:solidFill>
              <a:srgbClr val="50808E"/>
            </a:solidFill>
            <a:prstDash val="dash"/>
          </a:ln>
        </p:spPr>
        <p:txBody>
          <a:bodyPr/>
          <a:p/>
        </p:txBody>
      </p:sp>
      <p:sp>
        <p:nvSpPr>
          <p:cNvPr id="24" name="Text 22"/>
          <p:cNvSpPr txBox="1"/>
          <p:nvPr/>
        </p:nvSpPr>
        <p:spPr>
          <a:xfrm>
            <a:off x="5310051" y="2331720"/>
            <a:ext cx="793569" cy="868680"/>
          </a:xfrm>
          <a:prstGeom prst="rect">
            <a:avLst/>
          </a:prstGeom>
          <a:noFill/>
          <a:ln/>
        </p:spPr>
        <p:txBody>
          <a:bodyPr wrap="square" lIns="0" tIns="0" rIns="0" bIns="0" rtlCol="0" anchor="ctr"/>
          <a:lstStyle/>
          <a:p>
            <a:pPr algn="ctr" indent="0" marL="0">
              <a:buNone/>
            </a:pPr>
            <a:r>
              <a:rPr lang="en-US" sz="1200" dirty="0">
                <a:solidFill>
                  <a:srgbClr val="50808E"/>
                </a:solidFill>
                <a:latin typeface="Calibri" pitchFamily="34" charset="0"/>
                <a:ea typeface="Calibri" pitchFamily="34" charset="-122"/>
                <a:cs typeface="Calibri" pitchFamily="34" charset="-120"/>
              </a:rPr>
              <a:t>200 KB</a:t>
            </a:r>
            <a:endParaRPr lang="en-US" sz="1200" dirty="0"/>
          </a:p>
        </p:txBody>
      </p:sp>
      <p:sp>
        <p:nvSpPr>
          <p:cNvPr id="25" name="Shape 23"/>
          <p:cNvSpPr/>
          <p:nvPr/>
        </p:nvSpPr>
        <p:spPr>
          <a:xfrm>
            <a:off x="6897189" y="2331720"/>
            <a:ext cx="1388745" cy="868680"/>
          </a:xfrm>
          <a:prstGeom prst="rect">
            <a:avLst/>
          </a:prstGeom>
          <a:solidFill>
            <a:srgbClr val="FFFFFF"/>
          </a:solidFill>
          <a:ln w="12700">
            <a:solidFill>
              <a:srgbClr val="50808E"/>
            </a:solidFill>
            <a:prstDash val="dash"/>
          </a:ln>
        </p:spPr>
        <p:txBody>
          <a:bodyPr/>
          <a:p/>
        </p:txBody>
      </p:sp>
      <p:sp>
        <p:nvSpPr>
          <p:cNvPr id="26" name="Text 24"/>
          <p:cNvSpPr txBox="1"/>
          <p:nvPr/>
        </p:nvSpPr>
        <p:spPr>
          <a:xfrm>
            <a:off x="6897189" y="2331720"/>
            <a:ext cx="1388745" cy="868680"/>
          </a:xfrm>
          <a:prstGeom prst="rect">
            <a:avLst/>
          </a:prstGeom>
          <a:noFill/>
          <a:ln/>
        </p:spPr>
        <p:txBody>
          <a:bodyPr wrap="square" lIns="0" tIns="0" rIns="0" bIns="0" rtlCol="0" anchor="ctr"/>
          <a:lstStyle/>
          <a:p>
            <a:pPr algn="ctr" indent="0" marL="0">
              <a:buNone/>
            </a:pPr>
            <a:r>
              <a:rPr lang="en-US" sz="1200" dirty="0">
                <a:solidFill>
                  <a:srgbClr val="50808E"/>
                </a:solidFill>
                <a:latin typeface="Calibri" pitchFamily="34" charset="0"/>
                <a:ea typeface="Calibri" pitchFamily="34" charset="-122"/>
                <a:cs typeface="Calibri" pitchFamily="34" charset="-120"/>
              </a:rPr>
              <a:t>350 KB</a:t>
            </a:r>
            <a:endParaRPr lang="en-US" sz="1200" dirty="0"/>
          </a:p>
        </p:txBody>
      </p:sp>
      <p:sp>
        <p:nvSpPr>
          <p:cNvPr id="27" name="Shape 25"/>
          <p:cNvSpPr/>
          <p:nvPr/>
        </p:nvSpPr>
        <p:spPr>
          <a:xfrm>
            <a:off x="8881110" y="2331720"/>
            <a:ext cx="2182314" cy="868680"/>
          </a:xfrm>
          <a:prstGeom prst="rect">
            <a:avLst/>
          </a:prstGeom>
          <a:solidFill>
            <a:srgbClr val="FFFFFF"/>
          </a:solidFill>
          <a:ln w="12700">
            <a:solidFill>
              <a:srgbClr val="50808E"/>
            </a:solidFill>
            <a:prstDash val="dash"/>
          </a:ln>
        </p:spPr>
        <p:txBody>
          <a:bodyPr/>
          <a:p/>
        </p:txBody>
      </p:sp>
      <p:sp>
        <p:nvSpPr>
          <p:cNvPr id="28" name="Text 26"/>
          <p:cNvSpPr txBox="1"/>
          <p:nvPr/>
        </p:nvSpPr>
        <p:spPr>
          <a:xfrm>
            <a:off x="8881110" y="2331720"/>
            <a:ext cx="2182314" cy="868680"/>
          </a:xfrm>
          <a:prstGeom prst="rect">
            <a:avLst/>
          </a:prstGeom>
          <a:noFill/>
          <a:ln/>
        </p:spPr>
        <p:txBody>
          <a:bodyPr wrap="square" lIns="0" tIns="0" rIns="0" bIns="0" rtlCol="0" anchor="ctr"/>
          <a:lstStyle/>
          <a:p>
            <a:pPr algn="ctr" indent="0" marL="0">
              <a:buNone/>
            </a:pPr>
            <a:r>
              <a:rPr lang="en-US" sz="1200" dirty="0">
                <a:solidFill>
                  <a:srgbClr val="50808E"/>
                </a:solidFill>
                <a:latin typeface="Calibri" pitchFamily="34" charset="0"/>
                <a:ea typeface="Calibri" pitchFamily="34" charset="-122"/>
                <a:cs typeface="Calibri" pitchFamily="34" charset="-120"/>
              </a:rPr>
              <a:t>550 KB</a:t>
            </a:r>
            <a:endParaRPr lang="en-US" sz="1200" dirty="0"/>
          </a:p>
        </p:txBody>
      </p:sp>
      <p:sp>
        <p:nvSpPr>
          <p:cNvPr id="29" name="Text 27"/>
          <p:cNvSpPr txBox="1"/>
          <p:nvPr/>
        </p:nvSpPr>
        <p:spPr>
          <a:xfrm>
            <a:off x="182880"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0</a:t>
            </a:r>
            <a:endParaRPr lang="en-US" sz="1000" dirty="0"/>
          </a:p>
        </p:txBody>
      </p:sp>
      <p:sp>
        <p:nvSpPr>
          <p:cNvPr id="30" name="Text 28"/>
          <p:cNvSpPr txBox="1"/>
          <p:nvPr/>
        </p:nvSpPr>
        <p:spPr>
          <a:xfrm>
            <a:off x="1373233"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300</a:t>
            </a:r>
            <a:endParaRPr lang="en-US" sz="1000" dirty="0"/>
          </a:p>
        </p:txBody>
      </p:sp>
      <p:sp>
        <p:nvSpPr>
          <p:cNvPr id="31" name="Text 29"/>
          <p:cNvSpPr txBox="1"/>
          <p:nvPr/>
        </p:nvSpPr>
        <p:spPr>
          <a:xfrm>
            <a:off x="2563586"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600</a:t>
            </a:r>
            <a:endParaRPr lang="en-US" sz="1000" dirty="0"/>
          </a:p>
        </p:txBody>
      </p:sp>
      <p:sp>
        <p:nvSpPr>
          <p:cNvPr id="32" name="Text 30"/>
          <p:cNvSpPr txBox="1"/>
          <p:nvPr/>
        </p:nvSpPr>
        <p:spPr>
          <a:xfrm>
            <a:off x="4349115"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1050</a:t>
            </a:r>
            <a:endParaRPr lang="en-US" sz="1000" dirty="0"/>
          </a:p>
        </p:txBody>
      </p:sp>
      <p:sp>
        <p:nvSpPr>
          <p:cNvPr id="33" name="Text 31"/>
          <p:cNvSpPr txBox="1"/>
          <p:nvPr/>
        </p:nvSpPr>
        <p:spPr>
          <a:xfrm>
            <a:off x="4944291"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1200</a:t>
            </a:r>
            <a:endParaRPr lang="en-US" sz="1000" dirty="0"/>
          </a:p>
        </p:txBody>
      </p:sp>
      <p:sp>
        <p:nvSpPr>
          <p:cNvPr id="34" name="Text 32"/>
          <p:cNvSpPr txBox="1"/>
          <p:nvPr/>
        </p:nvSpPr>
        <p:spPr>
          <a:xfrm>
            <a:off x="6531429"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1600</a:t>
            </a:r>
            <a:endParaRPr lang="en-US" sz="1000" dirty="0"/>
          </a:p>
        </p:txBody>
      </p:sp>
      <p:sp>
        <p:nvSpPr>
          <p:cNvPr id="35" name="Text 33"/>
          <p:cNvSpPr txBox="1"/>
          <p:nvPr/>
        </p:nvSpPr>
        <p:spPr>
          <a:xfrm>
            <a:off x="8515350"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2100</a:t>
            </a:r>
            <a:endParaRPr lang="en-US" sz="1000" dirty="0"/>
          </a:p>
        </p:txBody>
      </p:sp>
      <p:sp>
        <p:nvSpPr>
          <p:cNvPr id="36" name="Text 34"/>
          <p:cNvSpPr txBox="1"/>
          <p:nvPr/>
        </p:nvSpPr>
        <p:spPr>
          <a:xfrm>
            <a:off x="11292840" y="3227832"/>
            <a:ext cx="73152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2800</a:t>
            </a:r>
            <a:endParaRPr lang="en-US" sz="1000" dirty="0"/>
          </a:p>
        </p:txBody>
      </p:sp>
      <p:sp>
        <p:nvSpPr>
          <p:cNvPr id="37" name="Text 35"/>
          <p:cNvSpPr txBox="1"/>
          <p:nvPr/>
        </p:nvSpPr>
        <p:spPr>
          <a:xfrm>
            <a:off x="10287000" y="2011680"/>
            <a:ext cx="1371600" cy="274320"/>
          </a:xfrm>
          <a:prstGeom prst="rect">
            <a:avLst/>
          </a:prstGeom>
          <a:noFill/>
          <a:ln/>
        </p:spPr>
        <p:txBody>
          <a:bodyPr wrap="square" lIns="0" tIns="0" rIns="0" bIns="0" rtlCol="0" anchor="t"/>
          <a:lstStyle/>
          <a:p>
            <a:pPr algn="r" indent="0" marL="0">
              <a:buNone/>
            </a:pPr>
            <a:r>
              <a:rPr lang="en-US" sz="1000" i="1" dirty="0">
                <a:solidFill>
                  <a:srgbClr val="6B7679"/>
                </a:solidFill>
                <a:latin typeface="Calibri" pitchFamily="34" charset="0"/>
                <a:ea typeface="Calibri" pitchFamily="34" charset="-122"/>
                <a:cs typeface="Calibri" pitchFamily="34" charset="-120"/>
              </a:rPr>
              <a:t>address (KB)</a:t>
            </a:r>
            <a:endParaRPr lang="en-US" sz="1000" dirty="0"/>
          </a:p>
        </p:txBody>
      </p:sp>
      <p:sp>
        <p:nvSpPr>
          <p:cNvPr id="38" name="Shape 36"/>
          <p:cNvSpPr/>
          <p:nvPr/>
        </p:nvSpPr>
        <p:spPr>
          <a:xfrm>
            <a:off x="548640" y="3703320"/>
            <a:ext cx="544068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9" name="Text 37"/>
          <p:cNvSpPr txBox="1"/>
          <p:nvPr/>
        </p:nvSpPr>
        <p:spPr>
          <a:xfrm>
            <a:off x="777240" y="38862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Hole list kept by the OS</a:t>
            </a:r>
            <a:endParaRPr lang="en-US" sz="1500" dirty="0"/>
          </a:p>
        </p:txBody>
      </p:sp>
      <p:sp>
        <p:nvSpPr>
          <p:cNvPr id="40" name="Text 38"/>
          <p:cNvSpPr txBox="1"/>
          <p:nvPr/>
        </p:nvSpPr>
        <p:spPr>
          <a:xfrm>
            <a:off x="777240" y="4343400"/>
            <a:ext cx="4983480" cy="17830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(start, size) of every hole, here in address order:</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(300, 150) · (600, 450) · (1200, 200) · (1600, 350) · (2100, 550)</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Total free: 1700 KB, in 5 pieces.</a:t>
            </a:r>
            <a:endParaRPr lang="en-US" sz="1400" dirty="0"/>
          </a:p>
        </p:txBody>
      </p:sp>
      <p:sp>
        <p:nvSpPr>
          <p:cNvPr id="41" name="Shape 39"/>
          <p:cNvSpPr/>
          <p:nvPr/>
        </p:nvSpPr>
        <p:spPr>
          <a:xfrm>
            <a:off x="6217920" y="3703320"/>
            <a:ext cx="544068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2" name="Text 40"/>
          <p:cNvSpPr txBox="1"/>
          <p:nvPr/>
        </p:nvSpPr>
        <p:spPr>
          <a:xfrm>
            <a:off x="6446520" y="38862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the OS does</a:t>
            </a:r>
            <a:endParaRPr lang="en-US" sz="1500" dirty="0"/>
          </a:p>
        </p:txBody>
      </p:sp>
      <p:sp>
        <p:nvSpPr>
          <p:cNvPr id="43" name="Text 41"/>
          <p:cNvSpPr txBox="1"/>
          <p:nvPr/>
        </p:nvSpPr>
        <p:spPr>
          <a:xfrm>
            <a:off x="6446520" y="4343400"/>
            <a:ext cx="4983480" cy="178308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Process arrives:</a:t>
            </a:r>
            <a:r>
              <a:rPr lang="en-US" sz="1400" dirty="0">
                <a:solidFill>
                  <a:srgbClr val="3A464C"/>
                </a:solidFill>
                <a:latin typeface="Calibri" pitchFamily="34" charset="0"/>
                <a:ea typeface="Calibri" pitchFamily="34" charset="-122"/>
                <a:cs typeface="Calibri" pitchFamily="34" charset="-120"/>
              </a:rPr>
              <a:t> find a hole that is large enough, take what is needed, leave the rest as a smaller hole.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Process exits:</a:t>
            </a:r>
            <a:r>
              <a:rPr lang="en-US" sz="1400" dirty="0">
                <a:solidFill>
                  <a:srgbClr val="3A464C"/>
                </a:solidFill>
                <a:latin typeface="Calibri" pitchFamily="34" charset="0"/>
                <a:ea typeface="Calibri" pitchFamily="34" charset="-122"/>
                <a:cs typeface="Calibri" pitchFamily="34" charset="-120"/>
              </a:rPr>
              <a:t> its block becomes a hole; merge it with neighbouring holes.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PLACEMENT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First-Fit, Best-Fit, Worst-Fit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Four processes arrive in this order: A = 220 KB, B = 400 KB, C = 130 KB, D = 430 KB. Which hole does each get?</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13</a:t>
            </a:r>
            <a:endParaRPr lang="en-US" sz="900" dirty="0"/>
          </a:p>
        </p:txBody>
      </p:sp>
      <p:sp>
        <p:nvSpPr>
          <p:cNvPr id="7" name="Shape 5"/>
          <p:cNvSpPr/>
          <p:nvPr/>
        </p:nvSpPr>
        <p:spPr>
          <a:xfrm>
            <a:off x="548640" y="21945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37744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First-fit</a:t>
            </a:r>
            <a:endParaRPr lang="en-US" sz="1500" dirty="0"/>
          </a:p>
        </p:txBody>
      </p:sp>
      <p:sp>
        <p:nvSpPr>
          <p:cNvPr id="9" name="Text 7"/>
          <p:cNvSpPr txBox="1"/>
          <p:nvPr/>
        </p:nvSpPr>
        <p:spPr>
          <a:xfrm>
            <a:off x="777240" y="2834640"/>
            <a:ext cx="3108960" cy="15544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Take the first hole (lowest address) that is big enough.</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Fast: the search can stop early.</a:t>
            </a:r>
            <a:endParaRPr lang="en-US" sz="1400" dirty="0"/>
          </a:p>
        </p:txBody>
      </p:sp>
      <p:sp>
        <p:nvSpPr>
          <p:cNvPr id="10" name="Shape 8"/>
          <p:cNvSpPr/>
          <p:nvPr/>
        </p:nvSpPr>
        <p:spPr>
          <a:xfrm>
            <a:off x="4315968" y="21945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44568" y="237744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Best-fit</a:t>
            </a:r>
            <a:endParaRPr lang="en-US" sz="1500" dirty="0"/>
          </a:p>
        </p:txBody>
      </p:sp>
      <p:sp>
        <p:nvSpPr>
          <p:cNvPr id="12" name="Text 10"/>
          <p:cNvSpPr txBox="1"/>
          <p:nvPr/>
        </p:nvSpPr>
        <p:spPr>
          <a:xfrm>
            <a:off x="4544568" y="2834640"/>
            <a:ext cx="3108960" cy="15544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Take the smallest hole that is big enough.</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Leaves the smallest leftover; must search the whole list (or keep it sorted by size).</a:t>
            </a:r>
            <a:endParaRPr lang="en-US" sz="1400" dirty="0"/>
          </a:p>
        </p:txBody>
      </p:sp>
      <p:sp>
        <p:nvSpPr>
          <p:cNvPr id="13" name="Shape 11"/>
          <p:cNvSpPr/>
          <p:nvPr/>
        </p:nvSpPr>
        <p:spPr>
          <a:xfrm>
            <a:off x="8083296" y="21945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11896" y="237744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Worst-fit</a:t>
            </a:r>
            <a:endParaRPr lang="en-US" sz="1500" dirty="0"/>
          </a:p>
        </p:txBody>
      </p:sp>
      <p:sp>
        <p:nvSpPr>
          <p:cNvPr id="15" name="Text 13"/>
          <p:cNvSpPr txBox="1"/>
          <p:nvPr/>
        </p:nvSpPr>
        <p:spPr>
          <a:xfrm>
            <a:off x="8311896" y="2834640"/>
            <a:ext cx="3108960" cy="15544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Take the largest hole.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Idea: the leftover stays large enough to be useful. Must also search everything.</a:t>
            </a:r>
            <a:endParaRPr lang="en-US" sz="1400" dirty="0"/>
          </a:p>
        </p:txBody>
      </p:sp>
      <p:sp>
        <p:nvSpPr>
          <p:cNvPr id="16" name="Shape 14"/>
          <p:cNvSpPr/>
          <p:nvPr/>
        </p:nvSpPr>
        <p:spPr>
          <a:xfrm>
            <a:off x="548640" y="4754880"/>
            <a:ext cx="5852160" cy="1508760"/>
          </a:xfrm>
          <a:prstGeom prst="roundRect">
            <a:avLst>
              <a:gd name="adj" fmla="val 3030"/>
            </a:avLst>
          </a:prstGeom>
          <a:solidFill>
            <a:srgbClr val="212121"/>
          </a:solidFill>
          <a:ln/>
        </p:spPr>
        <p:txBody>
          <a:bodyPr/>
          <a:p/>
        </p:txBody>
      </p:sp>
      <p:sp>
        <p:nvSpPr>
          <p:cNvPr id="17" name="Text 15"/>
          <p:cNvSpPr txBox="1"/>
          <p:nvPr/>
        </p:nvSpPr>
        <p:spPr>
          <a:xfrm>
            <a:off x="731520" y="4864608"/>
            <a:ext cx="5486400" cy="1289304"/>
          </a:xfrm>
          <a:prstGeom prst="rect">
            <a:avLst/>
          </a:prstGeom>
          <a:noFill/>
          <a:ln/>
        </p:spPr>
        <p:txBody>
          <a:bodyPr wrap="square" lIns="0" tIns="0" rIns="0" bIns="0" rtlCol="0" anchor="t"/>
          <a:lstStyle/>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holes (size@start, KB):</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150@300  450@600  200@1200  350@1600  550@2100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 = 220:  first → 450@600   best → 350@1600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worst → 550@2100</a:t>
            </a:r>
            <a:endParaRPr lang="en-US" sz="1250" dirty="0"/>
          </a:p>
        </p:txBody>
      </p:sp>
      <p:sp>
        <p:nvSpPr>
          <p:cNvPr id="18" name="Shape 16"/>
          <p:cNvSpPr/>
          <p:nvPr/>
        </p:nvSpPr>
        <p:spPr>
          <a:xfrm>
            <a:off x="6629400" y="4754880"/>
            <a:ext cx="502920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6858000" y="4754880"/>
            <a:ext cx="4572000" cy="15087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Simulations (Silberschatz): first-fit and best-fit beat worst-fit in both time and storage use; first-fit is usually faster.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PLACEMENT — RESULT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Same Requests, Three Different Outcomes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14</a:t>
            </a:r>
            <a:endParaRPr lang="en-US" sz="900" dirty="0"/>
          </a:p>
        </p:txBody>
      </p:sp>
      <p:sp>
        <p:nvSpPr>
          <p:cNvPr id="6" name="Text 4"/>
          <p:cNvSpPr txBox="1"/>
          <p:nvPr/>
        </p:nvSpPr>
        <p:spPr>
          <a:xfrm>
            <a:off x="548640" y="1600200"/>
            <a:ext cx="1463040" cy="731520"/>
          </a:xfrm>
          <a:prstGeom prst="rect">
            <a:avLst/>
          </a:prstGeom>
          <a:noFill/>
          <a:ln/>
        </p:spPr>
        <p:txBody>
          <a:bodyPr wrap="square" lIns="0" tIns="0" rIns="0" bIns="0" rtlCol="0" anchor="ctr"/>
          <a:lstStyle/>
          <a:p>
            <a:pPr indent="0" marL="0">
              <a:buNone/>
            </a:pPr>
            <a:r>
              <a:rPr lang="en-US" sz="1500" b="1" dirty="0">
                <a:solidFill>
                  <a:srgbClr val="36454F"/>
                </a:solidFill>
                <a:latin typeface="Cambria" pitchFamily="34" charset="0"/>
                <a:ea typeface="Cambria" pitchFamily="34" charset="-122"/>
                <a:cs typeface="Cambria" pitchFamily="34" charset="-120"/>
              </a:rPr>
              <a:t>First-fit</a:t>
            </a:r>
            <a:endParaRPr lang="en-US" sz="1500" dirty="0"/>
          </a:p>
        </p:txBody>
      </p:sp>
      <p:sp>
        <p:nvSpPr>
          <p:cNvPr id="7" name="Shape 5"/>
          <p:cNvSpPr/>
          <p:nvPr/>
        </p:nvSpPr>
        <p:spPr>
          <a:xfrm>
            <a:off x="2103120" y="1600200"/>
            <a:ext cx="685800" cy="731520"/>
          </a:xfrm>
          <a:prstGeom prst="rect">
            <a:avLst/>
          </a:prstGeom>
          <a:solidFill>
            <a:srgbClr val="36454F"/>
          </a:solidFill>
          <a:ln w="9525">
            <a:solidFill>
              <a:srgbClr val="FFFFFF"/>
            </a:solidFill>
            <a:prstDash val="solid"/>
          </a:ln>
        </p:spPr>
        <p:txBody>
          <a:bodyPr/>
          <a:p/>
        </p:txBody>
      </p:sp>
      <p:sp>
        <p:nvSpPr>
          <p:cNvPr id="8" name="Text 6"/>
          <p:cNvSpPr txBox="1"/>
          <p:nvPr/>
        </p:nvSpPr>
        <p:spPr>
          <a:xfrm>
            <a:off x="2103120" y="1600200"/>
            <a:ext cx="68580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OS</a:t>
            </a:r>
            <a:endParaRPr lang="en-US" sz="1050" dirty="0"/>
          </a:p>
        </p:txBody>
      </p:sp>
      <p:sp>
        <p:nvSpPr>
          <p:cNvPr id="9" name="Shape 7"/>
          <p:cNvSpPr/>
          <p:nvPr/>
        </p:nvSpPr>
        <p:spPr>
          <a:xfrm>
            <a:off x="3131820" y="1600200"/>
            <a:ext cx="342900" cy="731520"/>
          </a:xfrm>
          <a:prstGeom prst="rect">
            <a:avLst/>
          </a:prstGeom>
          <a:solidFill>
            <a:srgbClr val="C9D3D6"/>
          </a:solidFill>
          <a:ln w="9525">
            <a:solidFill>
              <a:srgbClr val="FFFFFF"/>
            </a:solidFill>
            <a:prstDash val="solid"/>
          </a:ln>
        </p:spPr>
        <p:txBody>
          <a:bodyPr/>
          <a:p/>
        </p:txBody>
      </p:sp>
      <p:sp>
        <p:nvSpPr>
          <p:cNvPr id="10" name="Text 8"/>
          <p:cNvSpPr txBox="1"/>
          <p:nvPr/>
        </p:nvSpPr>
        <p:spPr>
          <a:xfrm>
            <a:off x="3131820" y="16002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P1</a:t>
            </a:r>
            <a:endParaRPr lang="en-US" sz="1050" dirty="0"/>
          </a:p>
        </p:txBody>
      </p:sp>
      <p:sp>
        <p:nvSpPr>
          <p:cNvPr id="11" name="Shape 9"/>
          <p:cNvSpPr/>
          <p:nvPr/>
        </p:nvSpPr>
        <p:spPr>
          <a:xfrm>
            <a:off x="4503420" y="1600200"/>
            <a:ext cx="342900" cy="731520"/>
          </a:xfrm>
          <a:prstGeom prst="rect">
            <a:avLst/>
          </a:prstGeom>
          <a:solidFill>
            <a:srgbClr val="C9D3D6"/>
          </a:solidFill>
          <a:ln w="9525">
            <a:solidFill>
              <a:srgbClr val="FFFFFF"/>
            </a:solidFill>
            <a:prstDash val="solid"/>
          </a:ln>
        </p:spPr>
        <p:txBody>
          <a:bodyPr/>
          <a:p/>
        </p:txBody>
      </p:sp>
      <p:sp>
        <p:nvSpPr>
          <p:cNvPr id="12" name="Text 10"/>
          <p:cNvSpPr txBox="1"/>
          <p:nvPr/>
        </p:nvSpPr>
        <p:spPr>
          <a:xfrm>
            <a:off x="4503420" y="16002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P2</a:t>
            </a:r>
            <a:endParaRPr lang="en-US" sz="1050" dirty="0"/>
          </a:p>
        </p:txBody>
      </p:sp>
      <p:sp>
        <p:nvSpPr>
          <p:cNvPr id="13" name="Shape 11"/>
          <p:cNvSpPr/>
          <p:nvPr/>
        </p:nvSpPr>
        <p:spPr>
          <a:xfrm>
            <a:off x="5303520" y="1600200"/>
            <a:ext cx="457200" cy="731520"/>
          </a:xfrm>
          <a:prstGeom prst="rect">
            <a:avLst/>
          </a:prstGeom>
          <a:solidFill>
            <a:srgbClr val="C9D3D6"/>
          </a:solidFill>
          <a:ln w="9525">
            <a:solidFill>
              <a:srgbClr val="FFFFFF"/>
            </a:solidFill>
            <a:prstDash val="solid"/>
          </a:ln>
        </p:spPr>
        <p:txBody>
          <a:bodyPr/>
          <a:p/>
        </p:txBody>
      </p:sp>
      <p:sp>
        <p:nvSpPr>
          <p:cNvPr id="14" name="Text 12"/>
          <p:cNvSpPr txBox="1"/>
          <p:nvPr/>
        </p:nvSpPr>
        <p:spPr>
          <a:xfrm>
            <a:off x="5303520" y="1600200"/>
            <a:ext cx="4572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P3</a:t>
            </a:r>
            <a:endParaRPr lang="en-US" sz="1050" dirty="0"/>
          </a:p>
        </p:txBody>
      </p:sp>
      <p:sp>
        <p:nvSpPr>
          <p:cNvPr id="15" name="Shape 13"/>
          <p:cNvSpPr/>
          <p:nvPr/>
        </p:nvSpPr>
        <p:spPr>
          <a:xfrm>
            <a:off x="6560820" y="1600200"/>
            <a:ext cx="342900" cy="731520"/>
          </a:xfrm>
          <a:prstGeom prst="rect">
            <a:avLst/>
          </a:prstGeom>
          <a:solidFill>
            <a:srgbClr val="C9D3D6"/>
          </a:solidFill>
          <a:ln w="9525">
            <a:solidFill>
              <a:srgbClr val="FFFFFF"/>
            </a:solidFill>
            <a:prstDash val="solid"/>
          </a:ln>
        </p:spPr>
        <p:txBody>
          <a:bodyPr/>
          <a:p/>
        </p:txBody>
      </p:sp>
      <p:sp>
        <p:nvSpPr>
          <p:cNvPr id="16" name="Text 14"/>
          <p:cNvSpPr txBox="1"/>
          <p:nvPr/>
        </p:nvSpPr>
        <p:spPr>
          <a:xfrm>
            <a:off x="6560820" y="16002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P4</a:t>
            </a:r>
            <a:endParaRPr lang="en-US" sz="1050" dirty="0"/>
          </a:p>
        </p:txBody>
      </p:sp>
      <p:sp>
        <p:nvSpPr>
          <p:cNvPr id="17" name="Shape 15"/>
          <p:cNvSpPr/>
          <p:nvPr/>
        </p:nvSpPr>
        <p:spPr>
          <a:xfrm>
            <a:off x="8161020" y="1600200"/>
            <a:ext cx="342900" cy="731520"/>
          </a:xfrm>
          <a:prstGeom prst="rect">
            <a:avLst/>
          </a:prstGeom>
          <a:solidFill>
            <a:srgbClr val="C9D3D6"/>
          </a:solidFill>
          <a:ln w="9525">
            <a:solidFill>
              <a:srgbClr val="FFFFFF"/>
            </a:solidFill>
            <a:prstDash val="solid"/>
          </a:ln>
        </p:spPr>
        <p:txBody>
          <a:bodyPr/>
          <a:p/>
        </p:txBody>
      </p:sp>
      <p:sp>
        <p:nvSpPr>
          <p:cNvPr id="18" name="Text 16"/>
          <p:cNvSpPr txBox="1"/>
          <p:nvPr/>
        </p:nvSpPr>
        <p:spPr>
          <a:xfrm>
            <a:off x="8161020" y="16002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P5</a:t>
            </a:r>
            <a:endParaRPr lang="en-US" sz="1050" dirty="0"/>
          </a:p>
        </p:txBody>
      </p:sp>
      <p:sp>
        <p:nvSpPr>
          <p:cNvPr id="19" name="Shape 17"/>
          <p:cNvSpPr/>
          <p:nvPr/>
        </p:nvSpPr>
        <p:spPr>
          <a:xfrm>
            <a:off x="3474720" y="1600200"/>
            <a:ext cx="502920" cy="731520"/>
          </a:xfrm>
          <a:prstGeom prst="rect">
            <a:avLst/>
          </a:prstGeom>
          <a:solidFill>
            <a:srgbClr val="02C39A"/>
          </a:solidFill>
          <a:ln w="9525">
            <a:solidFill>
              <a:srgbClr val="FFFFFF"/>
            </a:solidFill>
            <a:prstDash val="solid"/>
          </a:ln>
        </p:spPr>
        <p:txBody>
          <a:bodyPr/>
          <a:p/>
        </p:txBody>
      </p:sp>
      <p:sp>
        <p:nvSpPr>
          <p:cNvPr id="20" name="Text 18"/>
          <p:cNvSpPr txBox="1"/>
          <p:nvPr/>
        </p:nvSpPr>
        <p:spPr>
          <a:xfrm>
            <a:off x="3474720" y="1600200"/>
            <a:ext cx="50292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A</a:t>
            </a:r>
            <a:endParaRPr lang="en-US" sz="1050" dirty="0"/>
          </a:p>
        </p:txBody>
      </p:sp>
      <p:sp>
        <p:nvSpPr>
          <p:cNvPr id="21" name="Shape 19"/>
          <p:cNvSpPr/>
          <p:nvPr/>
        </p:nvSpPr>
        <p:spPr>
          <a:xfrm>
            <a:off x="6903720" y="1600200"/>
            <a:ext cx="914400" cy="731520"/>
          </a:xfrm>
          <a:prstGeom prst="rect">
            <a:avLst/>
          </a:prstGeom>
          <a:solidFill>
            <a:srgbClr val="02C39A"/>
          </a:solidFill>
          <a:ln w="9525">
            <a:solidFill>
              <a:srgbClr val="FFFFFF"/>
            </a:solidFill>
            <a:prstDash val="solid"/>
          </a:ln>
        </p:spPr>
        <p:txBody>
          <a:bodyPr/>
          <a:p/>
        </p:txBody>
      </p:sp>
      <p:sp>
        <p:nvSpPr>
          <p:cNvPr id="22" name="Text 20"/>
          <p:cNvSpPr txBox="1"/>
          <p:nvPr/>
        </p:nvSpPr>
        <p:spPr>
          <a:xfrm>
            <a:off x="6903720" y="1600200"/>
            <a:ext cx="9144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B</a:t>
            </a:r>
            <a:endParaRPr lang="en-US" sz="1050" dirty="0"/>
          </a:p>
        </p:txBody>
      </p:sp>
      <p:sp>
        <p:nvSpPr>
          <p:cNvPr id="23" name="Shape 21"/>
          <p:cNvSpPr/>
          <p:nvPr/>
        </p:nvSpPr>
        <p:spPr>
          <a:xfrm>
            <a:off x="2788920" y="1600200"/>
            <a:ext cx="297180" cy="731520"/>
          </a:xfrm>
          <a:prstGeom prst="rect">
            <a:avLst/>
          </a:prstGeom>
          <a:solidFill>
            <a:srgbClr val="02C39A"/>
          </a:solidFill>
          <a:ln w="9525">
            <a:solidFill>
              <a:srgbClr val="FFFFFF"/>
            </a:solidFill>
            <a:prstDash val="solid"/>
          </a:ln>
        </p:spPr>
        <p:txBody>
          <a:bodyPr/>
          <a:p/>
        </p:txBody>
      </p:sp>
      <p:sp>
        <p:nvSpPr>
          <p:cNvPr id="24" name="Text 22"/>
          <p:cNvSpPr txBox="1"/>
          <p:nvPr/>
        </p:nvSpPr>
        <p:spPr>
          <a:xfrm>
            <a:off x="2788920" y="1600200"/>
            <a:ext cx="29718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C</a:t>
            </a:r>
            <a:endParaRPr lang="en-US" sz="1050" dirty="0"/>
          </a:p>
        </p:txBody>
      </p:sp>
      <p:sp>
        <p:nvSpPr>
          <p:cNvPr id="25" name="Shape 23"/>
          <p:cNvSpPr/>
          <p:nvPr/>
        </p:nvSpPr>
        <p:spPr>
          <a:xfrm>
            <a:off x="3086100" y="1600200"/>
            <a:ext cx="45720" cy="731520"/>
          </a:xfrm>
          <a:prstGeom prst="rect">
            <a:avLst/>
          </a:prstGeom>
          <a:solidFill>
            <a:srgbClr val="FFFFFF"/>
          </a:solidFill>
          <a:ln w="12700">
            <a:solidFill>
              <a:srgbClr val="50808E"/>
            </a:solidFill>
            <a:prstDash val="dash"/>
          </a:ln>
        </p:spPr>
        <p:txBody>
          <a:bodyPr/>
          <a:p/>
        </p:txBody>
      </p:sp>
      <p:sp>
        <p:nvSpPr>
          <p:cNvPr id="26" name="Text 24"/>
          <p:cNvSpPr txBox="1"/>
          <p:nvPr/>
        </p:nvSpPr>
        <p:spPr>
          <a:xfrm>
            <a:off x="2811780" y="2350008"/>
            <a:ext cx="594360"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20</a:t>
            </a:r>
            <a:endParaRPr lang="en-US" sz="1000" dirty="0"/>
          </a:p>
        </p:txBody>
      </p:sp>
      <p:sp>
        <p:nvSpPr>
          <p:cNvPr id="27" name="Shape 25"/>
          <p:cNvSpPr/>
          <p:nvPr/>
        </p:nvSpPr>
        <p:spPr>
          <a:xfrm>
            <a:off x="3977640" y="1600200"/>
            <a:ext cx="525780" cy="731520"/>
          </a:xfrm>
          <a:prstGeom prst="rect">
            <a:avLst/>
          </a:prstGeom>
          <a:solidFill>
            <a:srgbClr val="FFFFFF"/>
          </a:solidFill>
          <a:ln w="12700">
            <a:solidFill>
              <a:srgbClr val="50808E"/>
            </a:solidFill>
            <a:prstDash val="dash"/>
          </a:ln>
        </p:spPr>
        <p:txBody>
          <a:bodyPr/>
          <a:p/>
        </p:txBody>
      </p:sp>
      <p:sp>
        <p:nvSpPr>
          <p:cNvPr id="28" name="Text 26"/>
          <p:cNvSpPr txBox="1"/>
          <p:nvPr/>
        </p:nvSpPr>
        <p:spPr>
          <a:xfrm>
            <a:off x="3977640" y="1600200"/>
            <a:ext cx="525780" cy="731520"/>
          </a:xfrm>
          <a:prstGeom prst="rect">
            <a:avLst/>
          </a:prstGeom>
          <a:noFill/>
          <a:ln/>
        </p:spPr>
        <p:txBody>
          <a:bodyPr wrap="square" lIns="0" tIns="0" rIns="0" bIns="0" rtlCol="0" anchor="ctr"/>
          <a:lstStyle/>
          <a:p>
            <a:pPr algn="ctr" indent="0" marL="0">
              <a:buNone/>
            </a:pPr>
            <a:r>
              <a:rPr lang="en-US" sz="1050" dirty="0">
                <a:solidFill>
                  <a:srgbClr val="50808E"/>
                </a:solidFill>
                <a:latin typeface="Calibri" pitchFamily="34" charset="0"/>
                <a:ea typeface="Calibri" pitchFamily="34" charset="-122"/>
                <a:cs typeface="Calibri" pitchFamily="34" charset="-120"/>
              </a:rPr>
              <a:t>230</a:t>
            </a:r>
            <a:endParaRPr lang="en-US" sz="1050" dirty="0"/>
          </a:p>
        </p:txBody>
      </p:sp>
      <p:sp>
        <p:nvSpPr>
          <p:cNvPr id="29" name="Shape 27"/>
          <p:cNvSpPr/>
          <p:nvPr/>
        </p:nvSpPr>
        <p:spPr>
          <a:xfrm>
            <a:off x="4846320" y="1600200"/>
            <a:ext cx="457200" cy="731520"/>
          </a:xfrm>
          <a:prstGeom prst="rect">
            <a:avLst/>
          </a:prstGeom>
          <a:solidFill>
            <a:srgbClr val="FFFFFF"/>
          </a:solidFill>
          <a:ln w="12700">
            <a:solidFill>
              <a:srgbClr val="50808E"/>
            </a:solidFill>
            <a:prstDash val="dash"/>
          </a:ln>
        </p:spPr>
        <p:txBody>
          <a:bodyPr/>
          <a:p/>
        </p:txBody>
      </p:sp>
      <p:sp>
        <p:nvSpPr>
          <p:cNvPr id="30" name="Text 28"/>
          <p:cNvSpPr txBox="1"/>
          <p:nvPr/>
        </p:nvSpPr>
        <p:spPr>
          <a:xfrm>
            <a:off x="4846320" y="1600200"/>
            <a:ext cx="457200" cy="731520"/>
          </a:xfrm>
          <a:prstGeom prst="rect">
            <a:avLst/>
          </a:prstGeom>
          <a:noFill/>
          <a:ln/>
        </p:spPr>
        <p:txBody>
          <a:bodyPr wrap="square" lIns="0" tIns="0" rIns="0" bIns="0" rtlCol="0" anchor="ctr"/>
          <a:lstStyle/>
          <a:p>
            <a:pPr algn="ctr" indent="0" marL="0">
              <a:buNone/>
            </a:pPr>
            <a:r>
              <a:rPr lang="en-US" sz="1050" dirty="0">
                <a:solidFill>
                  <a:srgbClr val="50808E"/>
                </a:solidFill>
                <a:latin typeface="Calibri" pitchFamily="34" charset="0"/>
                <a:ea typeface="Calibri" pitchFamily="34" charset="-122"/>
                <a:cs typeface="Calibri" pitchFamily="34" charset="-120"/>
              </a:rPr>
              <a:t>200</a:t>
            </a:r>
            <a:endParaRPr lang="en-US" sz="1050" dirty="0"/>
          </a:p>
        </p:txBody>
      </p:sp>
      <p:sp>
        <p:nvSpPr>
          <p:cNvPr id="31" name="Shape 29"/>
          <p:cNvSpPr/>
          <p:nvPr/>
        </p:nvSpPr>
        <p:spPr>
          <a:xfrm>
            <a:off x="5760720" y="1600200"/>
            <a:ext cx="800100" cy="731520"/>
          </a:xfrm>
          <a:prstGeom prst="rect">
            <a:avLst/>
          </a:prstGeom>
          <a:solidFill>
            <a:srgbClr val="FFFFFF"/>
          </a:solidFill>
          <a:ln w="12700">
            <a:solidFill>
              <a:srgbClr val="50808E"/>
            </a:solidFill>
            <a:prstDash val="dash"/>
          </a:ln>
        </p:spPr>
        <p:txBody>
          <a:bodyPr/>
          <a:p/>
        </p:txBody>
      </p:sp>
      <p:sp>
        <p:nvSpPr>
          <p:cNvPr id="32" name="Text 30"/>
          <p:cNvSpPr txBox="1"/>
          <p:nvPr/>
        </p:nvSpPr>
        <p:spPr>
          <a:xfrm>
            <a:off x="5760720" y="1600200"/>
            <a:ext cx="800100" cy="731520"/>
          </a:xfrm>
          <a:prstGeom prst="rect">
            <a:avLst/>
          </a:prstGeom>
          <a:noFill/>
          <a:ln/>
        </p:spPr>
        <p:txBody>
          <a:bodyPr wrap="square" lIns="0" tIns="0" rIns="0" bIns="0" rtlCol="0" anchor="ctr"/>
          <a:lstStyle/>
          <a:p>
            <a:pPr algn="ctr" indent="0" marL="0">
              <a:buNone/>
            </a:pPr>
            <a:r>
              <a:rPr lang="en-US" sz="1050" dirty="0">
                <a:solidFill>
                  <a:srgbClr val="50808E"/>
                </a:solidFill>
                <a:latin typeface="Calibri" pitchFamily="34" charset="0"/>
                <a:ea typeface="Calibri" pitchFamily="34" charset="-122"/>
                <a:cs typeface="Calibri" pitchFamily="34" charset="-120"/>
              </a:rPr>
              <a:t>350</a:t>
            </a:r>
            <a:endParaRPr lang="en-US" sz="1050" dirty="0"/>
          </a:p>
        </p:txBody>
      </p:sp>
      <p:sp>
        <p:nvSpPr>
          <p:cNvPr id="33" name="Shape 31"/>
          <p:cNvSpPr/>
          <p:nvPr/>
        </p:nvSpPr>
        <p:spPr>
          <a:xfrm>
            <a:off x="7818120" y="1600200"/>
            <a:ext cx="342900" cy="731520"/>
          </a:xfrm>
          <a:prstGeom prst="rect">
            <a:avLst/>
          </a:prstGeom>
          <a:solidFill>
            <a:srgbClr val="FFFFFF"/>
          </a:solidFill>
          <a:ln w="12700">
            <a:solidFill>
              <a:srgbClr val="50808E"/>
            </a:solidFill>
            <a:prstDash val="dash"/>
          </a:ln>
        </p:spPr>
        <p:txBody>
          <a:bodyPr/>
          <a:p/>
        </p:txBody>
      </p:sp>
      <p:sp>
        <p:nvSpPr>
          <p:cNvPr id="34" name="Text 32"/>
          <p:cNvSpPr txBox="1"/>
          <p:nvPr/>
        </p:nvSpPr>
        <p:spPr>
          <a:xfrm>
            <a:off x="7543800" y="2350008"/>
            <a:ext cx="891540"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150</a:t>
            </a:r>
            <a:endParaRPr lang="en-US" sz="1000" dirty="0"/>
          </a:p>
        </p:txBody>
      </p:sp>
      <p:sp>
        <p:nvSpPr>
          <p:cNvPr id="35" name="Text 33"/>
          <p:cNvSpPr txBox="1"/>
          <p:nvPr/>
        </p:nvSpPr>
        <p:spPr>
          <a:xfrm>
            <a:off x="8732520" y="1600200"/>
            <a:ext cx="2926080" cy="731520"/>
          </a:xfrm>
          <a:prstGeom prst="rect">
            <a:avLst/>
          </a:prstGeom>
          <a:noFill/>
          <a:ln/>
        </p:spPr>
        <p:txBody>
          <a:bodyPr wrap="square" lIns="0" tIns="0" rIns="0" bIns="0" rtlCol="0" anchor="ctr"/>
          <a:lstStyle/>
          <a:p>
            <a:pPr indent="0" marL="0">
              <a:buNone/>
            </a:pPr>
            <a:r>
              <a:rPr lang="en-US" sz="1350" b="1" dirty="0">
                <a:solidFill>
                  <a:srgbClr val="B5453A"/>
                </a:solidFill>
                <a:latin typeface="Calibri" pitchFamily="34" charset="0"/>
                <a:ea typeface="Calibri" pitchFamily="34" charset="-122"/>
                <a:cs typeface="Calibri" pitchFamily="34" charset="-120"/>
              </a:rPr>
              <a:t>D must wait: 950 KB free, but no hole ≥ 430 KB.</a:t>
            </a:r>
            <a:endParaRPr lang="en-US" sz="1350" dirty="0"/>
          </a:p>
        </p:txBody>
      </p:sp>
      <p:sp>
        <p:nvSpPr>
          <p:cNvPr id="36" name="Text 34"/>
          <p:cNvSpPr txBox="1"/>
          <p:nvPr/>
        </p:nvSpPr>
        <p:spPr>
          <a:xfrm>
            <a:off x="548640" y="2971800"/>
            <a:ext cx="1463040" cy="731520"/>
          </a:xfrm>
          <a:prstGeom prst="rect">
            <a:avLst/>
          </a:prstGeom>
          <a:noFill/>
          <a:ln/>
        </p:spPr>
        <p:txBody>
          <a:bodyPr wrap="square" lIns="0" tIns="0" rIns="0" bIns="0" rtlCol="0" anchor="ctr"/>
          <a:lstStyle/>
          <a:p>
            <a:pPr indent="0" marL="0">
              <a:buNone/>
            </a:pPr>
            <a:r>
              <a:rPr lang="en-US" sz="1500" b="1" dirty="0">
                <a:solidFill>
                  <a:srgbClr val="36454F"/>
                </a:solidFill>
                <a:latin typeface="Cambria" pitchFamily="34" charset="0"/>
                <a:ea typeface="Cambria" pitchFamily="34" charset="-122"/>
                <a:cs typeface="Cambria" pitchFamily="34" charset="-120"/>
              </a:rPr>
              <a:t>Best-fit</a:t>
            </a:r>
            <a:endParaRPr lang="en-US" sz="1500" dirty="0"/>
          </a:p>
        </p:txBody>
      </p:sp>
      <p:sp>
        <p:nvSpPr>
          <p:cNvPr id="37" name="Shape 35"/>
          <p:cNvSpPr/>
          <p:nvPr/>
        </p:nvSpPr>
        <p:spPr>
          <a:xfrm>
            <a:off x="2103120" y="2971800"/>
            <a:ext cx="685800" cy="731520"/>
          </a:xfrm>
          <a:prstGeom prst="rect">
            <a:avLst/>
          </a:prstGeom>
          <a:solidFill>
            <a:srgbClr val="36454F"/>
          </a:solidFill>
          <a:ln w="9525">
            <a:solidFill>
              <a:srgbClr val="FFFFFF"/>
            </a:solidFill>
            <a:prstDash val="solid"/>
          </a:ln>
        </p:spPr>
        <p:txBody>
          <a:bodyPr/>
          <a:p/>
        </p:txBody>
      </p:sp>
      <p:sp>
        <p:nvSpPr>
          <p:cNvPr id="38" name="Text 36"/>
          <p:cNvSpPr txBox="1"/>
          <p:nvPr/>
        </p:nvSpPr>
        <p:spPr>
          <a:xfrm>
            <a:off x="2103120" y="2971800"/>
            <a:ext cx="68580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OS</a:t>
            </a:r>
            <a:endParaRPr lang="en-US" sz="1050" dirty="0"/>
          </a:p>
        </p:txBody>
      </p:sp>
      <p:sp>
        <p:nvSpPr>
          <p:cNvPr id="39" name="Shape 37"/>
          <p:cNvSpPr/>
          <p:nvPr/>
        </p:nvSpPr>
        <p:spPr>
          <a:xfrm>
            <a:off x="3131820" y="2971800"/>
            <a:ext cx="342900" cy="731520"/>
          </a:xfrm>
          <a:prstGeom prst="rect">
            <a:avLst/>
          </a:prstGeom>
          <a:solidFill>
            <a:srgbClr val="C9D3D6"/>
          </a:solidFill>
          <a:ln w="9525">
            <a:solidFill>
              <a:srgbClr val="FFFFFF"/>
            </a:solidFill>
            <a:prstDash val="solid"/>
          </a:ln>
        </p:spPr>
        <p:txBody>
          <a:bodyPr/>
          <a:p/>
        </p:txBody>
      </p:sp>
      <p:sp>
        <p:nvSpPr>
          <p:cNvPr id="40" name="Text 38"/>
          <p:cNvSpPr txBox="1"/>
          <p:nvPr/>
        </p:nvSpPr>
        <p:spPr>
          <a:xfrm>
            <a:off x="3131820" y="29718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P1</a:t>
            </a:r>
            <a:endParaRPr lang="en-US" sz="1050" dirty="0"/>
          </a:p>
        </p:txBody>
      </p:sp>
      <p:sp>
        <p:nvSpPr>
          <p:cNvPr id="41" name="Shape 39"/>
          <p:cNvSpPr/>
          <p:nvPr/>
        </p:nvSpPr>
        <p:spPr>
          <a:xfrm>
            <a:off x="4503420" y="2971800"/>
            <a:ext cx="342900" cy="731520"/>
          </a:xfrm>
          <a:prstGeom prst="rect">
            <a:avLst/>
          </a:prstGeom>
          <a:solidFill>
            <a:srgbClr val="C9D3D6"/>
          </a:solidFill>
          <a:ln w="9525">
            <a:solidFill>
              <a:srgbClr val="FFFFFF"/>
            </a:solidFill>
            <a:prstDash val="solid"/>
          </a:ln>
        </p:spPr>
        <p:txBody>
          <a:bodyPr/>
          <a:p/>
        </p:txBody>
      </p:sp>
      <p:sp>
        <p:nvSpPr>
          <p:cNvPr id="42" name="Text 40"/>
          <p:cNvSpPr txBox="1"/>
          <p:nvPr/>
        </p:nvSpPr>
        <p:spPr>
          <a:xfrm>
            <a:off x="4503420" y="29718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P2</a:t>
            </a:r>
            <a:endParaRPr lang="en-US" sz="1050" dirty="0"/>
          </a:p>
        </p:txBody>
      </p:sp>
      <p:sp>
        <p:nvSpPr>
          <p:cNvPr id="43" name="Shape 41"/>
          <p:cNvSpPr/>
          <p:nvPr/>
        </p:nvSpPr>
        <p:spPr>
          <a:xfrm>
            <a:off x="5303520" y="2971800"/>
            <a:ext cx="457200" cy="731520"/>
          </a:xfrm>
          <a:prstGeom prst="rect">
            <a:avLst/>
          </a:prstGeom>
          <a:solidFill>
            <a:srgbClr val="C9D3D6"/>
          </a:solidFill>
          <a:ln w="9525">
            <a:solidFill>
              <a:srgbClr val="FFFFFF"/>
            </a:solidFill>
            <a:prstDash val="solid"/>
          </a:ln>
        </p:spPr>
        <p:txBody>
          <a:bodyPr/>
          <a:p/>
        </p:txBody>
      </p:sp>
      <p:sp>
        <p:nvSpPr>
          <p:cNvPr id="44" name="Text 42"/>
          <p:cNvSpPr txBox="1"/>
          <p:nvPr/>
        </p:nvSpPr>
        <p:spPr>
          <a:xfrm>
            <a:off x="5303520" y="2971800"/>
            <a:ext cx="4572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P3</a:t>
            </a:r>
            <a:endParaRPr lang="en-US" sz="1050" dirty="0"/>
          </a:p>
        </p:txBody>
      </p:sp>
      <p:sp>
        <p:nvSpPr>
          <p:cNvPr id="45" name="Shape 43"/>
          <p:cNvSpPr/>
          <p:nvPr/>
        </p:nvSpPr>
        <p:spPr>
          <a:xfrm>
            <a:off x="6560820" y="2971800"/>
            <a:ext cx="342900" cy="731520"/>
          </a:xfrm>
          <a:prstGeom prst="rect">
            <a:avLst/>
          </a:prstGeom>
          <a:solidFill>
            <a:srgbClr val="C9D3D6"/>
          </a:solidFill>
          <a:ln w="9525">
            <a:solidFill>
              <a:srgbClr val="FFFFFF"/>
            </a:solidFill>
            <a:prstDash val="solid"/>
          </a:ln>
        </p:spPr>
        <p:txBody>
          <a:bodyPr/>
          <a:p/>
        </p:txBody>
      </p:sp>
      <p:sp>
        <p:nvSpPr>
          <p:cNvPr id="46" name="Text 44"/>
          <p:cNvSpPr txBox="1"/>
          <p:nvPr/>
        </p:nvSpPr>
        <p:spPr>
          <a:xfrm>
            <a:off x="6560820" y="29718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P4</a:t>
            </a:r>
            <a:endParaRPr lang="en-US" sz="1050" dirty="0"/>
          </a:p>
        </p:txBody>
      </p:sp>
      <p:sp>
        <p:nvSpPr>
          <p:cNvPr id="47" name="Shape 45"/>
          <p:cNvSpPr/>
          <p:nvPr/>
        </p:nvSpPr>
        <p:spPr>
          <a:xfrm>
            <a:off x="8161020" y="2971800"/>
            <a:ext cx="342900" cy="731520"/>
          </a:xfrm>
          <a:prstGeom prst="rect">
            <a:avLst/>
          </a:prstGeom>
          <a:solidFill>
            <a:srgbClr val="C9D3D6"/>
          </a:solidFill>
          <a:ln w="9525">
            <a:solidFill>
              <a:srgbClr val="FFFFFF"/>
            </a:solidFill>
            <a:prstDash val="solid"/>
          </a:ln>
        </p:spPr>
        <p:txBody>
          <a:bodyPr/>
          <a:p/>
        </p:txBody>
      </p:sp>
      <p:sp>
        <p:nvSpPr>
          <p:cNvPr id="48" name="Text 46"/>
          <p:cNvSpPr txBox="1"/>
          <p:nvPr/>
        </p:nvSpPr>
        <p:spPr>
          <a:xfrm>
            <a:off x="8161020" y="29718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P5</a:t>
            </a:r>
            <a:endParaRPr lang="en-US" sz="1050" dirty="0"/>
          </a:p>
        </p:txBody>
      </p:sp>
      <p:sp>
        <p:nvSpPr>
          <p:cNvPr id="49" name="Shape 47"/>
          <p:cNvSpPr/>
          <p:nvPr/>
        </p:nvSpPr>
        <p:spPr>
          <a:xfrm>
            <a:off x="5760720" y="2971800"/>
            <a:ext cx="502920" cy="731520"/>
          </a:xfrm>
          <a:prstGeom prst="rect">
            <a:avLst/>
          </a:prstGeom>
          <a:solidFill>
            <a:srgbClr val="02C39A"/>
          </a:solidFill>
          <a:ln w="9525">
            <a:solidFill>
              <a:srgbClr val="FFFFFF"/>
            </a:solidFill>
            <a:prstDash val="solid"/>
          </a:ln>
        </p:spPr>
        <p:txBody>
          <a:bodyPr/>
          <a:p/>
        </p:txBody>
      </p:sp>
      <p:sp>
        <p:nvSpPr>
          <p:cNvPr id="50" name="Text 48"/>
          <p:cNvSpPr txBox="1"/>
          <p:nvPr/>
        </p:nvSpPr>
        <p:spPr>
          <a:xfrm>
            <a:off x="5760720" y="2971800"/>
            <a:ext cx="50292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A</a:t>
            </a:r>
            <a:endParaRPr lang="en-US" sz="1050" dirty="0"/>
          </a:p>
        </p:txBody>
      </p:sp>
      <p:sp>
        <p:nvSpPr>
          <p:cNvPr id="51" name="Shape 49"/>
          <p:cNvSpPr/>
          <p:nvPr/>
        </p:nvSpPr>
        <p:spPr>
          <a:xfrm>
            <a:off x="3474720" y="2971800"/>
            <a:ext cx="914400" cy="731520"/>
          </a:xfrm>
          <a:prstGeom prst="rect">
            <a:avLst/>
          </a:prstGeom>
          <a:solidFill>
            <a:srgbClr val="02C39A"/>
          </a:solidFill>
          <a:ln w="9525">
            <a:solidFill>
              <a:srgbClr val="FFFFFF"/>
            </a:solidFill>
            <a:prstDash val="solid"/>
          </a:ln>
        </p:spPr>
        <p:txBody>
          <a:bodyPr/>
          <a:p/>
        </p:txBody>
      </p:sp>
      <p:sp>
        <p:nvSpPr>
          <p:cNvPr id="52" name="Text 50"/>
          <p:cNvSpPr txBox="1"/>
          <p:nvPr/>
        </p:nvSpPr>
        <p:spPr>
          <a:xfrm>
            <a:off x="3474720" y="2971800"/>
            <a:ext cx="9144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B</a:t>
            </a:r>
            <a:endParaRPr lang="en-US" sz="1050" dirty="0"/>
          </a:p>
        </p:txBody>
      </p:sp>
      <p:sp>
        <p:nvSpPr>
          <p:cNvPr id="53" name="Shape 51"/>
          <p:cNvSpPr/>
          <p:nvPr/>
        </p:nvSpPr>
        <p:spPr>
          <a:xfrm>
            <a:off x="6263640" y="2971800"/>
            <a:ext cx="297180" cy="731520"/>
          </a:xfrm>
          <a:prstGeom prst="rect">
            <a:avLst/>
          </a:prstGeom>
          <a:solidFill>
            <a:srgbClr val="02C39A"/>
          </a:solidFill>
          <a:ln w="9525">
            <a:solidFill>
              <a:srgbClr val="FFFFFF"/>
            </a:solidFill>
            <a:prstDash val="solid"/>
          </a:ln>
        </p:spPr>
        <p:txBody>
          <a:bodyPr/>
          <a:p/>
        </p:txBody>
      </p:sp>
      <p:sp>
        <p:nvSpPr>
          <p:cNvPr id="54" name="Text 52"/>
          <p:cNvSpPr txBox="1"/>
          <p:nvPr/>
        </p:nvSpPr>
        <p:spPr>
          <a:xfrm>
            <a:off x="6263640" y="2971800"/>
            <a:ext cx="29718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C</a:t>
            </a:r>
            <a:endParaRPr lang="en-US" sz="1050" dirty="0"/>
          </a:p>
        </p:txBody>
      </p:sp>
      <p:sp>
        <p:nvSpPr>
          <p:cNvPr id="55" name="Shape 53"/>
          <p:cNvSpPr/>
          <p:nvPr/>
        </p:nvSpPr>
        <p:spPr>
          <a:xfrm>
            <a:off x="6903720" y="2971800"/>
            <a:ext cx="982980" cy="731520"/>
          </a:xfrm>
          <a:prstGeom prst="rect">
            <a:avLst/>
          </a:prstGeom>
          <a:solidFill>
            <a:srgbClr val="02C39A"/>
          </a:solidFill>
          <a:ln w="9525">
            <a:solidFill>
              <a:srgbClr val="FFFFFF"/>
            </a:solidFill>
            <a:prstDash val="solid"/>
          </a:ln>
        </p:spPr>
        <p:txBody>
          <a:bodyPr/>
          <a:p/>
        </p:txBody>
      </p:sp>
      <p:sp>
        <p:nvSpPr>
          <p:cNvPr id="56" name="Text 54"/>
          <p:cNvSpPr txBox="1"/>
          <p:nvPr/>
        </p:nvSpPr>
        <p:spPr>
          <a:xfrm>
            <a:off x="6903720" y="2971800"/>
            <a:ext cx="98298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D</a:t>
            </a:r>
            <a:endParaRPr lang="en-US" sz="1050" dirty="0"/>
          </a:p>
        </p:txBody>
      </p:sp>
      <p:sp>
        <p:nvSpPr>
          <p:cNvPr id="57" name="Shape 55"/>
          <p:cNvSpPr/>
          <p:nvPr/>
        </p:nvSpPr>
        <p:spPr>
          <a:xfrm>
            <a:off x="2788920" y="2971800"/>
            <a:ext cx="342900" cy="731520"/>
          </a:xfrm>
          <a:prstGeom prst="rect">
            <a:avLst/>
          </a:prstGeom>
          <a:solidFill>
            <a:srgbClr val="FFFFFF"/>
          </a:solidFill>
          <a:ln w="12700">
            <a:solidFill>
              <a:srgbClr val="50808E"/>
            </a:solidFill>
            <a:prstDash val="dash"/>
          </a:ln>
        </p:spPr>
        <p:txBody>
          <a:bodyPr/>
          <a:p/>
        </p:txBody>
      </p:sp>
      <p:sp>
        <p:nvSpPr>
          <p:cNvPr id="58" name="Text 56"/>
          <p:cNvSpPr txBox="1"/>
          <p:nvPr/>
        </p:nvSpPr>
        <p:spPr>
          <a:xfrm>
            <a:off x="2514600" y="3721608"/>
            <a:ext cx="891540"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150</a:t>
            </a:r>
            <a:endParaRPr lang="en-US" sz="1000" dirty="0"/>
          </a:p>
        </p:txBody>
      </p:sp>
      <p:sp>
        <p:nvSpPr>
          <p:cNvPr id="59" name="Shape 57"/>
          <p:cNvSpPr/>
          <p:nvPr/>
        </p:nvSpPr>
        <p:spPr>
          <a:xfrm>
            <a:off x="4389120" y="2971800"/>
            <a:ext cx="114300" cy="731520"/>
          </a:xfrm>
          <a:prstGeom prst="rect">
            <a:avLst/>
          </a:prstGeom>
          <a:solidFill>
            <a:srgbClr val="FFFFFF"/>
          </a:solidFill>
          <a:ln w="12700">
            <a:solidFill>
              <a:srgbClr val="50808E"/>
            </a:solidFill>
            <a:prstDash val="dash"/>
          </a:ln>
        </p:spPr>
        <p:txBody>
          <a:bodyPr/>
          <a:p/>
        </p:txBody>
      </p:sp>
      <p:sp>
        <p:nvSpPr>
          <p:cNvPr id="60" name="Text 58"/>
          <p:cNvSpPr txBox="1"/>
          <p:nvPr/>
        </p:nvSpPr>
        <p:spPr>
          <a:xfrm>
            <a:off x="4114800" y="3721608"/>
            <a:ext cx="662940"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50</a:t>
            </a:r>
            <a:endParaRPr lang="en-US" sz="1000" dirty="0"/>
          </a:p>
        </p:txBody>
      </p:sp>
      <p:sp>
        <p:nvSpPr>
          <p:cNvPr id="61" name="Shape 59"/>
          <p:cNvSpPr/>
          <p:nvPr/>
        </p:nvSpPr>
        <p:spPr>
          <a:xfrm>
            <a:off x="4846320" y="2971800"/>
            <a:ext cx="457200" cy="731520"/>
          </a:xfrm>
          <a:prstGeom prst="rect">
            <a:avLst/>
          </a:prstGeom>
          <a:solidFill>
            <a:srgbClr val="FFFFFF"/>
          </a:solidFill>
          <a:ln w="12700">
            <a:solidFill>
              <a:srgbClr val="50808E"/>
            </a:solidFill>
            <a:prstDash val="dash"/>
          </a:ln>
        </p:spPr>
        <p:txBody>
          <a:bodyPr/>
          <a:p/>
        </p:txBody>
      </p:sp>
      <p:sp>
        <p:nvSpPr>
          <p:cNvPr id="62" name="Text 60"/>
          <p:cNvSpPr txBox="1"/>
          <p:nvPr/>
        </p:nvSpPr>
        <p:spPr>
          <a:xfrm>
            <a:off x="4846320" y="2971800"/>
            <a:ext cx="457200" cy="731520"/>
          </a:xfrm>
          <a:prstGeom prst="rect">
            <a:avLst/>
          </a:prstGeom>
          <a:noFill/>
          <a:ln/>
        </p:spPr>
        <p:txBody>
          <a:bodyPr wrap="square" lIns="0" tIns="0" rIns="0" bIns="0" rtlCol="0" anchor="ctr"/>
          <a:lstStyle/>
          <a:p>
            <a:pPr algn="ctr" indent="0" marL="0">
              <a:buNone/>
            </a:pPr>
            <a:r>
              <a:rPr lang="en-US" sz="1050" dirty="0">
                <a:solidFill>
                  <a:srgbClr val="50808E"/>
                </a:solidFill>
                <a:latin typeface="Calibri" pitchFamily="34" charset="0"/>
                <a:ea typeface="Calibri" pitchFamily="34" charset="-122"/>
                <a:cs typeface="Calibri" pitchFamily="34" charset="-120"/>
              </a:rPr>
              <a:t>200</a:t>
            </a:r>
            <a:endParaRPr lang="en-US" sz="1050" dirty="0"/>
          </a:p>
        </p:txBody>
      </p:sp>
      <p:sp>
        <p:nvSpPr>
          <p:cNvPr id="63" name="Shape 61"/>
          <p:cNvSpPr/>
          <p:nvPr/>
        </p:nvSpPr>
        <p:spPr>
          <a:xfrm>
            <a:off x="7886700" y="2971800"/>
            <a:ext cx="274320" cy="731520"/>
          </a:xfrm>
          <a:prstGeom prst="rect">
            <a:avLst/>
          </a:prstGeom>
          <a:solidFill>
            <a:srgbClr val="FFFFFF"/>
          </a:solidFill>
          <a:ln w="12700">
            <a:solidFill>
              <a:srgbClr val="50808E"/>
            </a:solidFill>
            <a:prstDash val="dash"/>
          </a:ln>
        </p:spPr>
        <p:txBody>
          <a:bodyPr/>
          <a:p/>
        </p:txBody>
      </p:sp>
      <p:sp>
        <p:nvSpPr>
          <p:cNvPr id="64" name="Text 62"/>
          <p:cNvSpPr txBox="1"/>
          <p:nvPr/>
        </p:nvSpPr>
        <p:spPr>
          <a:xfrm>
            <a:off x="7612380" y="3721608"/>
            <a:ext cx="822960"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120</a:t>
            </a:r>
            <a:endParaRPr lang="en-US" sz="1000" dirty="0"/>
          </a:p>
        </p:txBody>
      </p:sp>
      <p:sp>
        <p:nvSpPr>
          <p:cNvPr id="65" name="Text 63"/>
          <p:cNvSpPr txBox="1"/>
          <p:nvPr/>
        </p:nvSpPr>
        <p:spPr>
          <a:xfrm>
            <a:off x="8732520" y="2971800"/>
            <a:ext cx="2926080" cy="7315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All four fit.</a:t>
            </a:r>
            <a:endParaRPr lang="en-US" sz="1350" dirty="0"/>
          </a:p>
        </p:txBody>
      </p:sp>
      <p:sp>
        <p:nvSpPr>
          <p:cNvPr id="66" name="Text 64"/>
          <p:cNvSpPr txBox="1"/>
          <p:nvPr/>
        </p:nvSpPr>
        <p:spPr>
          <a:xfrm>
            <a:off x="548640" y="4343400"/>
            <a:ext cx="1463040" cy="731520"/>
          </a:xfrm>
          <a:prstGeom prst="rect">
            <a:avLst/>
          </a:prstGeom>
          <a:noFill/>
          <a:ln/>
        </p:spPr>
        <p:txBody>
          <a:bodyPr wrap="square" lIns="0" tIns="0" rIns="0" bIns="0" rtlCol="0" anchor="ctr"/>
          <a:lstStyle/>
          <a:p>
            <a:pPr indent="0" marL="0">
              <a:buNone/>
            </a:pPr>
            <a:r>
              <a:rPr lang="en-US" sz="1500" b="1" dirty="0">
                <a:solidFill>
                  <a:srgbClr val="36454F"/>
                </a:solidFill>
                <a:latin typeface="Cambria" pitchFamily="34" charset="0"/>
                <a:ea typeface="Cambria" pitchFamily="34" charset="-122"/>
                <a:cs typeface="Cambria" pitchFamily="34" charset="-120"/>
              </a:rPr>
              <a:t>Worst-fit</a:t>
            </a:r>
            <a:endParaRPr lang="en-US" sz="1500" dirty="0"/>
          </a:p>
        </p:txBody>
      </p:sp>
      <p:sp>
        <p:nvSpPr>
          <p:cNvPr id="67" name="Shape 65"/>
          <p:cNvSpPr/>
          <p:nvPr/>
        </p:nvSpPr>
        <p:spPr>
          <a:xfrm>
            <a:off x="2103120" y="4343400"/>
            <a:ext cx="685800" cy="731520"/>
          </a:xfrm>
          <a:prstGeom prst="rect">
            <a:avLst/>
          </a:prstGeom>
          <a:solidFill>
            <a:srgbClr val="36454F"/>
          </a:solidFill>
          <a:ln w="9525">
            <a:solidFill>
              <a:srgbClr val="FFFFFF"/>
            </a:solidFill>
            <a:prstDash val="solid"/>
          </a:ln>
        </p:spPr>
        <p:txBody>
          <a:bodyPr/>
          <a:p/>
        </p:txBody>
      </p:sp>
      <p:sp>
        <p:nvSpPr>
          <p:cNvPr id="68" name="Text 66"/>
          <p:cNvSpPr txBox="1"/>
          <p:nvPr/>
        </p:nvSpPr>
        <p:spPr>
          <a:xfrm>
            <a:off x="2103120" y="4343400"/>
            <a:ext cx="68580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OS</a:t>
            </a:r>
            <a:endParaRPr lang="en-US" sz="1050" dirty="0"/>
          </a:p>
        </p:txBody>
      </p:sp>
      <p:sp>
        <p:nvSpPr>
          <p:cNvPr id="69" name="Shape 67"/>
          <p:cNvSpPr/>
          <p:nvPr/>
        </p:nvSpPr>
        <p:spPr>
          <a:xfrm>
            <a:off x="3131820" y="4343400"/>
            <a:ext cx="342900" cy="731520"/>
          </a:xfrm>
          <a:prstGeom prst="rect">
            <a:avLst/>
          </a:prstGeom>
          <a:solidFill>
            <a:srgbClr val="C9D3D6"/>
          </a:solidFill>
          <a:ln w="9525">
            <a:solidFill>
              <a:srgbClr val="FFFFFF"/>
            </a:solidFill>
            <a:prstDash val="solid"/>
          </a:ln>
        </p:spPr>
        <p:txBody>
          <a:bodyPr/>
          <a:p/>
        </p:txBody>
      </p:sp>
      <p:sp>
        <p:nvSpPr>
          <p:cNvPr id="70" name="Text 68"/>
          <p:cNvSpPr txBox="1"/>
          <p:nvPr/>
        </p:nvSpPr>
        <p:spPr>
          <a:xfrm>
            <a:off x="3131820" y="43434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P1</a:t>
            </a:r>
            <a:endParaRPr lang="en-US" sz="1050" dirty="0"/>
          </a:p>
        </p:txBody>
      </p:sp>
      <p:sp>
        <p:nvSpPr>
          <p:cNvPr id="71" name="Shape 69"/>
          <p:cNvSpPr/>
          <p:nvPr/>
        </p:nvSpPr>
        <p:spPr>
          <a:xfrm>
            <a:off x="4503420" y="4343400"/>
            <a:ext cx="342900" cy="731520"/>
          </a:xfrm>
          <a:prstGeom prst="rect">
            <a:avLst/>
          </a:prstGeom>
          <a:solidFill>
            <a:srgbClr val="C9D3D6"/>
          </a:solidFill>
          <a:ln w="9525">
            <a:solidFill>
              <a:srgbClr val="FFFFFF"/>
            </a:solidFill>
            <a:prstDash val="solid"/>
          </a:ln>
        </p:spPr>
        <p:txBody>
          <a:bodyPr/>
          <a:p/>
        </p:txBody>
      </p:sp>
      <p:sp>
        <p:nvSpPr>
          <p:cNvPr id="72" name="Text 70"/>
          <p:cNvSpPr txBox="1"/>
          <p:nvPr/>
        </p:nvSpPr>
        <p:spPr>
          <a:xfrm>
            <a:off x="4503420" y="43434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P2</a:t>
            </a:r>
            <a:endParaRPr lang="en-US" sz="1050" dirty="0"/>
          </a:p>
        </p:txBody>
      </p:sp>
      <p:sp>
        <p:nvSpPr>
          <p:cNvPr id="73" name="Shape 71"/>
          <p:cNvSpPr/>
          <p:nvPr/>
        </p:nvSpPr>
        <p:spPr>
          <a:xfrm>
            <a:off x="5303520" y="4343400"/>
            <a:ext cx="457200" cy="731520"/>
          </a:xfrm>
          <a:prstGeom prst="rect">
            <a:avLst/>
          </a:prstGeom>
          <a:solidFill>
            <a:srgbClr val="C9D3D6"/>
          </a:solidFill>
          <a:ln w="9525">
            <a:solidFill>
              <a:srgbClr val="FFFFFF"/>
            </a:solidFill>
            <a:prstDash val="solid"/>
          </a:ln>
        </p:spPr>
        <p:txBody>
          <a:bodyPr/>
          <a:p/>
        </p:txBody>
      </p:sp>
      <p:sp>
        <p:nvSpPr>
          <p:cNvPr id="74" name="Text 72"/>
          <p:cNvSpPr txBox="1"/>
          <p:nvPr/>
        </p:nvSpPr>
        <p:spPr>
          <a:xfrm>
            <a:off x="5303520" y="4343400"/>
            <a:ext cx="4572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P3</a:t>
            </a:r>
            <a:endParaRPr lang="en-US" sz="1050" dirty="0"/>
          </a:p>
        </p:txBody>
      </p:sp>
      <p:sp>
        <p:nvSpPr>
          <p:cNvPr id="75" name="Shape 73"/>
          <p:cNvSpPr/>
          <p:nvPr/>
        </p:nvSpPr>
        <p:spPr>
          <a:xfrm>
            <a:off x="6560820" y="4343400"/>
            <a:ext cx="342900" cy="731520"/>
          </a:xfrm>
          <a:prstGeom prst="rect">
            <a:avLst/>
          </a:prstGeom>
          <a:solidFill>
            <a:srgbClr val="C9D3D6"/>
          </a:solidFill>
          <a:ln w="9525">
            <a:solidFill>
              <a:srgbClr val="FFFFFF"/>
            </a:solidFill>
            <a:prstDash val="solid"/>
          </a:ln>
        </p:spPr>
        <p:txBody>
          <a:bodyPr/>
          <a:p/>
        </p:txBody>
      </p:sp>
      <p:sp>
        <p:nvSpPr>
          <p:cNvPr id="76" name="Text 74"/>
          <p:cNvSpPr txBox="1"/>
          <p:nvPr/>
        </p:nvSpPr>
        <p:spPr>
          <a:xfrm>
            <a:off x="6560820" y="43434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P4</a:t>
            </a:r>
            <a:endParaRPr lang="en-US" sz="1050" dirty="0"/>
          </a:p>
        </p:txBody>
      </p:sp>
      <p:sp>
        <p:nvSpPr>
          <p:cNvPr id="77" name="Shape 75"/>
          <p:cNvSpPr/>
          <p:nvPr/>
        </p:nvSpPr>
        <p:spPr>
          <a:xfrm>
            <a:off x="8161020" y="4343400"/>
            <a:ext cx="342900" cy="731520"/>
          </a:xfrm>
          <a:prstGeom prst="rect">
            <a:avLst/>
          </a:prstGeom>
          <a:solidFill>
            <a:srgbClr val="C9D3D6"/>
          </a:solidFill>
          <a:ln w="9525">
            <a:solidFill>
              <a:srgbClr val="FFFFFF"/>
            </a:solidFill>
            <a:prstDash val="solid"/>
          </a:ln>
        </p:spPr>
        <p:txBody>
          <a:bodyPr/>
          <a:p/>
        </p:txBody>
      </p:sp>
      <p:sp>
        <p:nvSpPr>
          <p:cNvPr id="78" name="Text 76"/>
          <p:cNvSpPr txBox="1"/>
          <p:nvPr/>
        </p:nvSpPr>
        <p:spPr>
          <a:xfrm>
            <a:off x="8161020" y="4343400"/>
            <a:ext cx="3429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P5</a:t>
            </a:r>
            <a:endParaRPr lang="en-US" sz="1050" dirty="0"/>
          </a:p>
        </p:txBody>
      </p:sp>
      <p:sp>
        <p:nvSpPr>
          <p:cNvPr id="79" name="Shape 77"/>
          <p:cNvSpPr/>
          <p:nvPr/>
        </p:nvSpPr>
        <p:spPr>
          <a:xfrm>
            <a:off x="6903720" y="4343400"/>
            <a:ext cx="502920" cy="731520"/>
          </a:xfrm>
          <a:prstGeom prst="rect">
            <a:avLst/>
          </a:prstGeom>
          <a:solidFill>
            <a:srgbClr val="02C39A"/>
          </a:solidFill>
          <a:ln w="9525">
            <a:solidFill>
              <a:srgbClr val="FFFFFF"/>
            </a:solidFill>
            <a:prstDash val="solid"/>
          </a:ln>
        </p:spPr>
        <p:txBody>
          <a:bodyPr/>
          <a:p/>
        </p:txBody>
      </p:sp>
      <p:sp>
        <p:nvSpPr>
          <p:cNvPr id="80" name="Text 78"/>
          <p:cNvSpPr txBox="1"/>
          <p:nvPr/>
        </p:nvSpPr>
        <p:spPr>
          <a:xfrm>
            <a:off x="6903720" y="4343400"/>
            <a:ext cx="50292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A</a:t>
            </a:r>
            <a:endParaRPr lang="en-US" sz="1050" dirty="0"/>
          </a:p>
        </p:txBody>
      </p:sp>
      <p:sp>
        <p:nvSpPr>
          <p:cNvPr id="81" name="Shape 79"/>
          <p:cNvSpPr/>
          <p:nvPr/>
        </p:nvSpPr>
        <p:spPr>
          <a:xfrm>
            <a:off x="3474720" y="4343400"/>
            <a:ext cx="914400" cy="731520"/>
          </a:xfrm>
          <a:prstGeom prst="rect">
            <a:avLst/>
          </a:prstGeom>
          <a:solidFill>
            <a:srgbClr val="02C39A"/>
          </a:solidFill>
          <a:ln w="9525">
            <a:solidFill>
              <a:srgbClr val="FFFFFF"/>
            </a:solidFill>
            <a:prstDash val="solid"/>
          </a:ln>
        </p:spPr>
        <p:txBody>
          <a:bodyPr/>
          <a:p/>
        </p:txBody>
      </p:sp>
      <p:sp>
        <p:nvSpPr>
          <p:cNvPr id="82" name="Text 80"/>
          <p:cNvSpPr txBox="1"/>
          <p:nvPr/>
        </p:nvSpPr>
        <p:spPr>
          <a:xfrm>
            <a:off x="3474720" y="4343400"/>
            <a:ext cx="91440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B</a:t>
            </a:r>
            <a:endParaRPr lang="en-US" sz="1050" dirty="0"/>
          </a:p>
        </p:txBody>
      </p:sp>
      <p:sp>
        <p:nvSpPr>
          <p:cNvPr id="83" name="Shape 81"/>
          <p:cNvSpPr/>
          <p:nvPr/>
        </p:nvSpPr>
        <p:spPr>
          <a:xfrm>
            <a:off x="5760720" y="4343400"/>
            <a:ext cx="297180" cy="731520"/>
          </a:xfrm>
          <a:prstGeom prst="rect">
            <a:avLst/>
          </a:prstGeom>
          <a:solidFill>
            <a:srgbClr val="02C39A"/>
          </a:solidFill>
          <a:ln w="9525">
            <a:solidFill>
              <a:srgbClr val="FFFFFF"/>
            </a:solidFill>
            <a:prstDash val="solid"/>
          </a:ln>
        </p:spPr>
        <p:txBody>
          <a:bodyPr/>
          <a:p/>
        </p:txBody>
      </p:sp>
      <p:sp>
        <p:nvSpPr>
          <p:cNvPr id="84" name="Text 82"/>
          <p:cNvSpPr txBox="1"/>
          <p:nvPr/>
        </p:nvSpPr>
        <p:spPr>
          <a:xfrm>
            <a:off x="5760720" y="4343400"/>
            <a:ext cx="297180" cy="731520"/>
          </a:xfrm>
          <a:prstGeom prst="rect">
            <a:avLst/>
          </a:prstGeom>
          <a:noFill/>
          <a:ln/>
        </p:spPr>
        <p:txBody>
          <a:bodyPr wrap="square" lIns="0" tIns="0" rIns="0" bIns="0"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C</a:t>
            </a:r>
            <a:endParaRPr lang="en-US" sz="1050" dirty="0"/>
          </a:p>
        </p:txBody>
      </p:sp>
      <p:sp>
        <p:nvSpPr>
          <p:cNvPr id="85" name="Shape 83"/>
          <p:cNvSpPr/>
          <p:nvPr/>
        </p:nvSpPr>
        <p:spPr>
          <a:xfrm>
            <a:off x="2788920" y="4343400"/>
            <a:ext cx="342900" cy="731520"/>
          </a:xfrm>
          <a:prstGeom prst="rect">
            <a:avLst/>
          </a:prstGeom>
          <a:solidFill>
            <a:srgbClr val="FFFFFF"/>
          </a:solidFill>
          <a:ln w="12700">
            <a:solidFill>
              <a:srgbClr val="50808E"/>
            </a:solidFill>
            <a:prstDash val="dash"/>
          </a:ln>
        </p:spPr>
        <p:txBody>
          <a:bodyPr/>
          <a:p/>
        </p:txBody>
      </p:sp>
      <p:sp>
        <p:nvSpPr>
          <p:cNvPr id="86" name="Text 84"/>
          <p:cNvSpPr txBox="1"/>
          <p:nvPr/>
        </p:nvSpPr>
        <p:spPr>
          <a:xfrm>
            <a:off x="2514600" y="5093208"/>
            <a:ext cx="891540"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150</a:t>
            </a:r>
            <a:endParaRPr lang="en-US" sz="1000" dirty="0"/>
          </a:p>
        </p:txBody>
      </p:sp>
      <p:sp>
        <p:nvSpPr>
          <p:cNvPr id="87" name="Shape 85"/>
          <p:cNvSpPr/>
          <p:nvPr/>
        </p:nvSpPr>
        <p:spPr>
          <a:xfrm>
            <a:off x="4389120" y="4343400"/>
            <a:ext cx="114300" cy="731520"/>
          </a:xfrm>
          <a:prstGeom prst="rect">
            <a:avLst/>
          </a:prstGeom>
          <a:solidFill>
            <a:srgbClr val="FFFFFF"/>
          </a:solidFill>
          <a:ln w="12700">
            <a:solidFill>
              <a:srgbClr val="50808E"/>
            </a:solidFill>
            <a:prstDash val="dash"/>
          </a:ln>
        </p:spPr>
        <p:txBody>
          <a:bodyPr/>
          <a:p/>
        </p:txBody>
      </p:sp>
      <p:sp>
        <p:nvSpPr>
          <p:cNvPr id="88" name="Text 86"/>
          <p:cNvSpPr txBox="1"/>
          <p:nvPr/>
        </p:nvSpPr>
        <p:spPr>
          <a:xfrm>
            <a:off x="4114800" y="5093208"/>
            <a:ext cx="662940"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50</a:t>
            </a:r>
            <a:endParaRPr lang="en-US" sz="1000" dirty="0"/>
          </a:p>
        </p:txBody>
      </p:sp>
      <p:sp>
        <p:nvSpPr>
          <p:cNvPr id="89" name="Shape 87"/>
          <p:cNvSpPr/>
          <p:nvPr/>
        </p:nvSpPr>
        <p:spPr>
          <a:xfrm>
            <a:off x="4846320" y="4343400"/>
            <a:ext cx="457200" cy="731520"/>
          </a:xfrm>
          <a:prstGeom prst="rect">
            <a:avLst/>
          </a:prstGeom>
          <a:solidFill>
            <a:srgbClr val="FFFFFF"/>
          </a:solidFill>
          <a:ln w="12700">
            <a:solidFill>
              <a:srgbClr val="50808E"/>
            </a:solidFill>
            <a:prstDash val="dash"/>
          </a:ln>
        </p:spPr>
        <p:txBody>
          <a:bodyPr/>
          <a:p/>
        </p:txBody>
      </p:sp>
      <p:sp>
        <p:nvSpPr>
          <p:cNvPr id="90" name="Text 88"/>
          <p:cNvSpPr txBox="1"/>
          <p:nvPr/>
        </p:nvSpPr>
        <p:spPr>
          <a:xfrm>
            <a:off x="4846320" y="4343400"/>
            <a:ext cx="457200" cy="731520"/>
          </a:xfrm>
          <a:prstGeom prst="rect">
            <a:avLst/>
          </a:prstGeom>
          <a:noFill/>
          <a:ln/>
        </p:spPr>
        <p:txBody>
          <a:bodyPr wrap="square" lIns="0" tIns="0" rIns="0" bIns="0" rtlCol="0" anchor="ctr"/>
          <a:lstStyle/>
          <a:p>
            <a:pPr algn="ctr" indent="0" marL="0">
              <a:buNone/>
            </a:pPr>
            <a:r>
              <a:rPr lang="en-US" sz="1050" dirty="0">
                <a:solidFill>
                  <a:srgbClr val="50808E"/>
                </a:solidFill>
                <a:latin typeface="Calibri" pitchFamily="34" charset="0"/>
                <a:ea typeface="Calibri" pitchFamily="34" charset="-122"/>
                <a:cs typeface="Calibri" pitchFamily="34" charset="-120"/>
              </a:rPr>
              <a:t>200</a:t>
            </a:r>
            <a:endParaRPr lang="en-US" sz="1050" dirty="0"/>
          </a:p>
        </p:txBody>
      </p:sp>
      <p:sp>
        <p:nvSpPr>
          <p:cNvPr id="91" name="Shape 89"/>
          <p:cNvSpPr/>
          <p:nvPr/>
        </p:nvSpPr>
        <p:spPr>
          <a:xfrm>
            <a:off x="6057900" y="4343400"/>
            <a:ext cx="502920" cy="731520"/>
          </a:xfrm>
          <a:prstGeom prst="rect">
            <a:avLst/>
          </a:prstGeom>
          <a:solidFill>
            <a:srgbClr val="FFFFFF"/>
          </a:solidFill>
          <a:ln w="12700">
            <a:solidFill>
              <a:srgbClr val="50808E"/>
            </a:solidFill>
            <a:prstDash val="dash"/>
          </a:ln>
        </p:spPr>
        <p:txBody>
          <a:bodyPr/>
          <a:p/>
        </p:txBody>
      </p:sp>
      <p:sp>
        <p:nvSpPr>
          <p:cNvPr id="92" name="Text 90"/>
          <p:cNvSpPr txBox="1"/>
          <p:nvPr/>
        </p:nvSpPr>
        <p:spPr>
          <a:xfrm>
            <a:off x="6057900" y="4343400"/>
            <a:ext cx="502920" cy="731520"/>
          </a:xfrm>
          <a:prstGeom prst="rect">
            <a:avLst/>
          </a:prstGeom>
          <a:noFill/>
          <a:ln/>
        </p:spPr>
        <p:txBody>
          <a:bodyPr wrap="square" lIns="0" tIns="0" rIns="0" bIns="0" rtlCol="0" anchor="ctr"/>
          <a:lstStyle/>
          <a:p>
            <a:pPr algn="ctr" indent="0" marL="0">
              <a:buNone/>
            </a:pPr>
            <a:r>
              <a:rPr lang="en-US" sz="1050" dirty="0">
                <a:solidFill>
                  <a:srgbClr val="50808E"/>
                </a:solidFill>
                <a:latin typeface="Calibri" pitchFamily="34" charset="0"/>
                <a:ea typeface="Calibri" pitchFamily="34" charset="-122"/>
                <a:cs typeface="Calibri" pitchFamily="34" charset="-120"/>
              </a:rPr>
              <a:t>220</a:t>
            </a:r>
            <a:endParaRPr lang="en-US" sz="1050" dirty="0"/>
          </a:p>
        </p:txBody>
      </p:sp>
      <p:sp>
        <p:nvSpPr>
          <p:cNvPr id="93" name="Shape 91"/>
          <p:cNvSpPr/>
          <p:nvPr/>
        </p:nvSpPr>
        <p:spPr>
          <a:xfrm>
            <a:off x="7406640" y="4343400"/>
            <a:ext cx="754380" cy="731520"/>
          </a:xfrm>
          <a:prstGeom prst="rect">
            <a:avLst/>
          </a:prstGeom>
          <a:solidFill>
            <a:srgbClr val="FFFFFF"/>
          </a:solidFill>
          <a:ln w="12700">
            <a:solidFill>
              <a:srgbClr val="50808E"/>
            </a:solidFill>
            <a:prstDash val="dash"/>
          </a:ln>
        </p:spPr>
        <p:txBody>
          <a:bodyPr/>
          <a:p/>
        </p:txBody>
      </p:sp>
      <p:sp>
        <p:nvSpPr>
          <p:cNvPr id="94" name="Text 92"/>
          <p:cNvSpPr txBox="1"/>
          <p:nvPr/>
        </p:nvSpPr>
        <p:spPr>
          <a:xfrm>
            <a:off x="7406640" y="4343400"/>
            <a:ext cx="754380" cy="731520"/>
          </a:xfrm>
          <a:prstGeom prst="rect">
            <a:avLst/>
          </a:prstGeom>
          <a:noFill/>
          <a:ln/>
        </p:spPr>
        <p:txBody>
          <a:bodyPr wrap="square" lIns="0" tIns="0" rIns="0" bIns="0" rtlCol="0" anchor="ctr"/>
          <a:lstStyle/>
          <a:p>
            <a:pPr algn="ctr" indent="0" marL="0">
              <a:buNone/>
            </a:pPr>
            <a:r>
              <a:rPr lang="en-US" sz="1050" dirty="0">
                <a:solidFill>
                  <a:srgbClr val="50808E"/>
                </a:solidFill>
                <a:latin typeface="Calibri" pitchFamily="34" charset="0"/>
                <a:ea typeface="Calibri" pitchFamily="34" charset="-122"/>
                <a:cs typeface="Calibri" pitchFamily="34" charset="-120"/>
              </a:rPr>
              <a:t>330</a:t>
            </a:r>
            <a:endParaRPr lang="en-US" sz="1050" dirty="0"/>
          </a:p>
        </p:txBody>
      </p:sp>
      <p:sp>
        <p:nvSpPr>
          <p:cNvPr id="95" name="Text 93"/>
          <p:cNvSpPr txBox="1"/>
          <p:nvPr/>
        </p:nvSpPr>
        <p:spPr>
          <a:xfrm>
            <a:off x="8732520" y="4343400"/>
            <a:ext cx="2926080" cy="731520"/>
          </a:xfrm>
          <a:prstGeom prst="rect">
            <a:avLst/>
          </a:prstGeom>
          <a:noFill/>
          <a:ln/>
        </p:spPr>
        <p:txBody>
          <a:bodyPr wrap="square" lIns="0" tIns="0" rIns="0" bIns="0" rtlCol="0" anchor="ctr"/>
          <a:lstStyle/>
          <a:p>
            <a:pPr indent="0" marL="0">
              <a:buNone/>
            </a:pPr>
            <a:r>
              <a:rPr lang="en-US" sz="1350" b="1" dirty="0">
                <a:solidFill>
                  <a:srgbClr val="B5453A"/>
                </a:solidFill>
                <a:latin typeface="Calibri" pitchFamily="34" charset="0"/>
                <a:ea typeface="Calibri" pitchFamily="34" charset="-122"/>
                <a:cs typeface="Calibri" pitchFamily="34" charset="-120"/>
              </a:rPr>
              <a:t>D must wait: 950 KB free, but no hole ≥ 430 KB.</a:t>
            </a:r>
            <a:endParaRPr lang="en-US" sz="1350" dirty="0"/>
          </a:p>
        </p:txBody>
      </p:sp>
      <p:sp>
        <p:nvSpPr>
          <p:cNvPr id="96" name="Text 94"/>
          <p:cNvSpPr txBox="1"/>
          <p:nvPr/>
        </p:nvSpPr>
        <p:spPr>
          <a:xfrm>
            <a:off x="2103120" y="5623560"/>
            <a:ext cx="6949440" cy="320040"/>
          </a:xfrm>
          <a:prstGeom prst="rect">
            <a:avLst/>
          </a:prstGeom>
          <a:noFill/>
          <a:ln/>
        </p:spPr>
        <p:txBody>
          <a:bodyPr wrap="square" lIns="0" tIns="0" rIns="0" bIns="0" rtlCol="0" anchor="t"/>
          <a:lstStyle/>
          <a:p>
            <a:pPr indent="0" marL="0">
              <a:buNone/>
            </a:pPr>
            <a:r>
              <a:rPr lang="en-US" sz="1200" dirty="0">
                <a:solidFill>
                  <a:srgbClr val="02C39A"/>
                </a:solidFill>
                <a:latin typeface="Calibri" pitchFamily="34" charset="0"/>
                <a:ea typeface="Calibri" pitchFamily="34" charset="-122"/>
                <a:cs typeface="Calibri" pitchFamily="34" charset="-120"/>
              </a:rPr>
              <a:t>■ </a:t>
            </a:r>
            <a:r>
              <a:rPr lang="en-US" sz="1200" dirty="0">
                <a:solidFill>
                  <a:srgbClr val="6B7679"/>
                </a:solidFill>
                <a:latin typeface="Calibri" pitchFamily="34" charset="0"/>
                <a:ea typeface="Calibri" pitchFamily="34" charset="-122"/>
                <a:cs typeface="Calibri" pitchFamily="34" charset="-120"/>
              </a:rPr>
              <a:t>new process   </a:t>
            </a:r>
            <a:r>
              <a:rPr lang="en-US" sz="1200" dirty="0">
                <a:solidFill>
                  <a:srgbClr val="C9D3D6"/>
                </a:solidFill>
                <a:latin typeface="Calibri" pitchFamily="34" charset="0"/>
                <a:ea typeface="Calibri" pitchFamily="34" charset="-122"/>
                <a:cs typeface="Calibri" pitchFamily="34" charset="-120"/>
              </a:rPr>
              <a:t>■ </a:t>
            </a:r>
            <a:r>
              <a:rPr lang="en-US" sz="1200" dirty="0">
                <a:solidFill>
                  <a:srgbClr val="6B7679"/>
                </a:solidFill>
                <a:latin typeface="Calibri" pitchFamily="34" charset="0"/>
                <a:ea typeface="Calibri" pitchFamily="34" charset="-122"/>
                <a:cs typeface="Calibri" pitchFamily="34" charset="-120"/>
              </a:rPr>
              <a:t>existing process   </a:t>
            </a:r>
            <a:r>
              <a:rPr lang="en-US" sz="1200" dirty="0">
                <a:solidFill>
                  <a:srgbClr val="50808E"/>
                </a:solidFill>
                <a:latin typeface="Calibri" pitchFamily="34" charset="0"/>
                <a:ea typeface="Calibri" pitchFamily="34" charset="-122"/>
                <a:cs typeface="Calibri" pitchFamily="34" charset="-120"/>
              </a:rPr>
              <a:t>□ </a:t>
            </a:r>
            <a:r>
              <a:rPr lang="en-US" sz="1200" dirty="0">
                <a:solidFill>
                  <a:srgbClr val="6B7679"/>
                </a:solidFill>
                <a:latin typeface="Calibri" pitchFamily="34" charset="0"/>
                <a:ea typeface="Calibri" pitchFamily="34" charset="-122"/>
                <a:cs typeface="Calibri" pitchFamily="34" charset="-120"/>
              </a:rPr>
              <a:t>hole (size in KB)</a:t>
            </a:r>
            <a:endParaRPr lang="en-US" sz="1200" dirty="0"/>
          </a:p>
        </p:txBody>
      </p:sp>
      <p:sp>
        <p:nvSpPr>
          <p:cNvPr id="97" name="Text 95"/>
          <p:cNvSpPr txBox="1"/>
          <p:nvPr/>
        </p:nvSpPr>
        <p:spPr>
          <a:xfrm>
            <a:off x="2103120" y="5943600"/>
            <a:ext cx="694944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Small holes (e.g. 20 KB) are labelled below the bar.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FRAGMENTATION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External vs. Internal Fragmentation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15</a:t>
            </a:r>
            <a:endParaRPr lang="en-US"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External fragmentation</a:t>
            </a:r>
            <a:endParaRPr lang="en-US" sz="17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Enough free memory in total, but split into holes that are each too small.</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First-fit above: 950 KB free, D needs 430 KB, largest hole 350 KB.</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Typical of variable partitions and segmentation.</a:t>
            </a:r>
            <a:endParaRPr lang="en-US" sz="1650" dirty="0"/>
          </a:p>
          <a:p>
            <a:pPr marL="228600" indent="-228600">
              <a:spcAft>
                <a:spcPts val="400"/>
              </a:spcAft>
              <a:buSzPct val="100000"/>
              <a:buChar char="•"/>
            </a:pPr>
            <a:r>
              <a:rPr lang="en-US" sz="1650" b="1" dirty="0">
                <a:solidFill>
                  <a:srgbClr val="3A464C"/>
                </a:solidFill>
                <a:latin typeface="Calibri" pitchFamily="34" charset="0"/>
                <a:ea typeface="Calibri" pitchFamily="34" charset="-122"/>
                <a:cs typeface="Calibri" pitchFamily="34" charset="-120"/>
              </a:rPr>
              <a:t>Cures:</a:t>
            </a:r>
            <a:r>
              <a:rPr lang="en-US" sz="1650" dirty="0">
                <a:solidFill>
                  <a:srgbClr val="3A464C"/>
                </a:solidFill>
                <a:latin typeface="Calibri" pitchFamily="34" charset="0"/>
                <a:ea typeface="Calibri" pitchFamily="34" charset="-122"/>
                <a:cs typeface="Calibri" pitchFamily="34" charset="-120"/>
              </a:rPr>
              <a:t> compaction (next slide), or let a process be non-contiguous (paging, Part 2).</a:t>
            </a:r>
            <a:endParaRPr lang="en-US" sz="165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700" b="1" dirty="0">
                <a:solidFill>
                  <a:srgbClr val="50808E"/>
                </a:solidFill>
                <a:latin typeface="Cambria" pitchFamily="34" charset="0"/>
                <a:ea typeface="Cambria" pitchFamily="34" charset="-122"/>
                <a:cs typeface="Cambria" pitchFamily="34" charset="-120"/>
              </a:rPr>
              <a:t>Internal fragmentation</a:t>
            </a:r>
            <a:endParaRPr lang="en-US" sz="17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Memory given to a process but not used by it — waste inside the block.</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Happens when memory is handed out in fixed-size units: ask for 18,462 bytes, get 18,464.</a:t>
            </a:r>
            <a:endParaRPr lang="en-US" sz="1650" dirty="0"/>
          </a:p>
          <a:p>
            <a:pPr marL="228600" indent="-228600">
              <a:spcAft>
                <a:spcPts val="400"/>
              </a:spcAft>
              <a:buSzPct val="100000"/>
              <a:buChar char="•"/>
            </a:pPr>
            <a:r>
              <a:rPr lang="en-US" sz="1650" dirty="0">
                <a:solidFill>
                  <a:srgbClr val="3A464C"/>
                </a:solidFill>
                <a:latin typeface="Calibri" pitchFamily="34" charset="0"/>
                <a:ea typeface="Calibri" pitchFamily="34" charset="-122"/>
                <a:cs typeface="Calibri" pitchFamily="34" charset="-120"/>
              </a:rPr>
              <a:t>Typical of fixed partitions and paging.</a:t>
            </a:r>
            <a:endParaRPr lang="en-US" sz="1650" dirty="0"/>
          </a:p>
          <a:p>
            <a:pPr marL="228600" indent="-228600">
              <a:spcAft>
                <a:spcPts val="400"/>
              </a:spcAft>
              <a:buSzPct val="100000"/>
              <a:buChar char="•"/>
            </a:pPr>
            <a:r>
              <a:rPr lang="en-US" sz="1650" b="1" dirty="0">
                <a:solidFill>
                  <a:srgbClr val="3A464C"/>
                </a:solidFill>
                <a:latin typeface="Calibri" pitchFamily="34" charset="0"/>
                <a:ea typeface="Calibri" pitchFamily="34" charset="-122"/>
                <a:cs typeface="Calibri" pitchFamily="34" charset="-120"/>
              </a:rPr>
              <a:t>Cure:</a:t>
            </a:r>
            <a:r>
              <a:rPr lang="en-US" sz="1650" dirty="0">
                <a:solidFill>
                  <a:srgbClr val="3A464C"/>
                </a:solidFill>
                <a:latin typeface="Calibri" pitchFamily="34" charset="0"/>
                <a:ea typeface="Calibri" pitchFamily="34" charset="-122"/>
                <a:cs typeface="Calibri" pitchFamily="34" charset="-120"/>
              </a:rPr>
              <a:t> smaller allocation units — at the price of more bookkeeping (bigger tables).</a:t>
            </a:r>
            <a:endParaRPr lang="en-US" sz="165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50-percent rule (Silberschatz): with first-fit, for N allocated blocks about 0.5 N more are lost to fragmentation — up to one third of memory may be unusable.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FRAGMENTATION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Compaction: Shuffle Memory Together</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Move all processes to one end so that all holes merge into one large hole.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16</a:t>
            </a:r>
            <a:endParaRPr lang="en-US" sz="900" dirty="0"/>
          </a:p>
        </p:txBody>
      </p:sp>
      <p:sp>
        <p:nvSpPr>
          <p:cNvPr id="7" name="Text 5"/>
          <p:cNvSpPr txBox="1"/>
          <p:nvPr/>
        </p:nvSpPr>
        <p:spPr>
          <a:xfrm>
            <a:off x="548640" y="2148840"/>
            <a:ext cx="3657600" cy="274320"/>
          </a:xfrm>
          <a:prstGeom prst="rect">
            <a:avLst/>
          </a:prstGeom>
          <a:noFill/>
          <a:ln/>
        </p:spPr>
        <p:txBody>
          <a:bodyPr wrap="square" lIns="0" tIns="0" rIns="0" bIns="0" rtlCol="0" anchor="t"/>
          <a:lstStyle/>
          <a:p>
            <a:pPr indent="0" marL="0">
              <a:buNone/>
            </a:pPr>
            <a:r>
              <a:rPr lang="en-US" sz="1300" b="1" dirty="0">
                <a:solidFill>
                  <a:srgbClr val="36454F"/>
                </a:solidFill>
                <a:latin typeface="Calibri" pitchFamily="34" charset="0"/>
                <a:ea typeface="Calibri" pitchFamily="34" charset="-122"/>
                <a:cs typeface="Calibri" pitchFamily="34" charset="-120"/>
              </a:rPr>
              <a:t>Before (first-fit result)</a:t>
            </a:r>
            <a:endParaRPr lang="en-US" sz="1300" dirty="0"/>
          </a:p>
        </p:txBody>
      </p:sp>
      <p:sp>
        <p:nvSpPr>
          <p:cNvPr id="8" name="Shape 6"/>
          <p:cNvSpPr/>
          <p:nvPr/>
        </p:nvSpPr>
        <p:spPr>
          <a:xfrm>
            <a:off x="548640" y="2468880"/>
            <a:ext cx="1190353" cy="731520"/>
          </a:xfrm>
          <a:prstGeom prst="rect">
            <a:avLst/>
          </a:prstGeom>
          <a:solidFill>
            <a:srgbClr val="36454F"/>
          </a:solidFill>
          <a:ln w="9525">
            <a:solidFill>
              <a:srgbClr val="FFFFFF"/>
            </a:solidFill>
            <a:prstDash val="solid"/>
          </a:ln>
        </p:spPr>
        <p:txBody>
          <a:bodyPr/>
          <a:p/>
        </p:txBody>
      </p:sp>
      <p:sp>
        <p:nvSpPr>
          <p:cNvPr id="9" name="Text 7"/>
          <p:cNvSpPr txBox="1"/>
          <p:nvPr/>
        </p:nvSpPr>
        <p:spPr>
          <a:xfrm>
            <a:off x="548640" y="2468880"/>
            <a:ext cx="1190353"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OS</a:t>
            </a:r>
            <a:endParaRPr lang="en-US" sz="1100" dirty="0"/>
          </a:p>
        </p:txBody>
      </p:sp>
      <p:sp>
        <p:nvSpPr>
          <p:cNvPr id="10" name="Shape 8"/>
          <p:cNvSpPr/>
          <p:nvPr/>
        </p:nvSpPr>
        <p:spPr>
          <a:xfrm>
            <a:off x="2334169" y="2468880"/>
            <a:ext cx="595176" cy="731520"/>
          </a:xfrm>
          <a:prstGeom prst="rect">
            <a:avLst/>
          </a:prstGeom>
          <a:solidFill>
            <a:srgbClr val="C9D3D6"/>
          </a:solidFill>
          <a:ln w="9525">
            <a:solidFill>
              <a:srgbClr val="FFFFFF"/>
            </a:solidFill>
            <a:prstDash val="solid"/>
          </a:ln>
        </p:spPr>
        <p:txBody>
          <a:bodyPr/>
          <a:p/>
        </p:txBody>
      </p:sp>
      <p:sp>
        <p:nvSpPr>
          <p:cNvPr id="11" name="Text 9"/>
          <p:cNvSpPr txBox="1"/>
          <p:nvPr/>
        </p:nvSpPr>
        <p:spPr>
          <a:xfrm>
            <a:off x="2334169" y="24688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P1</a:t>
            </a:r>
            <a:endParaRPr lang="en-US" sz="1100" dirty="0"/>
          </a:p>
        </p:txBody>
      </p:sp>
      <p:sp>
        <p:nvSpPr>
          <p:cNvPr id="12" name="Shape 10"/>
          <p:cNvSpPr/>
          <p:nvPr/>
        </p:nvSpPr>
        <p:spPr>
          <a:xfrm>
            <a:off x="4714875" y="2468880"/>
            <a:ext cx="595176" cy="731520"/>
          </a:xfrm>
          <a:prstGeom prst="rect">
            <a:avLst/>
          </a:prstGeom>
          <a:solidFill>
            <a:srgbClr val="C9D3D6"/>
          </a:solidFill>
          <a:ln w="9525">
            <a:solidFill>
              <a:srgbClr val="FFFFFF"/>
            </a:solidFill>
            <a:prstDash val="solid"/>
          </a:ln>
        </p:spPr>
        <p:txBody>
          <a:bodyPr/>
          <a:p/>
        </p:txBody>
      </p:sp>
      <p:sp>
        <p:nvSpPr>
          <p:cNvPr id="13" name="Text 11"/>
          <p:cNvSpPr txBox="1"/>
          <p:nvPr/>
        </p:nvSpPr>
        <p:spPr>
          <a:xfrm>
            <a:off x="4714875" y="24688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P2</a:t>
            </a:r>
            <a:endParaRPr lang="en-US" sz="1100" dirty="0"/>
          </a:p>
        </p:txBody>
      </p:sp>
      <p:sp>
        <p:nvSpPr>
          <p:cNvPr id="14" name="Shape 12"/>
          <p:cNvSpPr/>
          <p:nvPr/>
        </p:nvSpPr>
        <p:spPr>
          <a:xfrm>
            <a:off x="6103620" y="2468880"/>
            <a:ext cx="793569" cy="731520"/>
          </a:xfrm>
          <a:prstGeom prst="rect">
            <a:avLst/>
          </a:prstGeom>
          <a:solidFill>
            <a:srgbClr val="C9D3D6"/>
          </a:solidFill>
          <a:ln w="9525">
            <a:solidFill>
              <a:srgbClr val="FFFFFF"/>
            </a:solidFill>
            <a:prstDash val="solid"/>
          </a:ln>
        </p:spPr>
        <p:txBody>
          <a:bodyPr/>
          <a:p/>
        </p:txBody>
      </p:sp>
      <p:sp>
        <p:nvSpPr>
          <p:cNvPr id="15" name="Text 13"/>
          <p:cNvSpPr txBox="1"/>
          <p:nvPr/>
        </p:nvSpPr>
        <p:spPr>
          <a:xfrm>
            <a:off x="6103620" y="2468880"/>
            <a:ext cx="793569"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P3</a:t>
            </a:r>
            <a:endParaRPr lang="en-US" sz="1100" dirty="0"/>
          </a:p>
        </p:txBody>
      </p:sp>
      <p:sp>
        <p:nvSpPr>
          <p:cNvPr id="16" name="Shape 14"/>
          <p:cNvSpPr/>
          <p:nvPr/>
        </p:nvSpPr>
        <p:spPr>
          <a:xfrm>
            <a:off x="8285934" y="2468880"/>
            <a:ext cx="595176" cy="731520"/>
          </a:xfrm>
          <a:prstGeom prst="rect">
            <a:avLst/>
          </a:prstGeom>
          <a:solidFill>
            <a:srgbClr val="C9D3D6"/>
          </a:solidFill>
          <a:ln w="9525">
            <a:solidFill>
              <a:srgbClr val="FFFFFF"/>
            </a:solidFill>
            <a:prstDash val="solid"/>
          </a:ln>
        </p:spPr>
        <p:txBody>
          <a:bodyPr/>
          <a:p/>
        </p:txBody>
      </p:sp>
      <p:sp>
        <p:nvSpPr>
          <p:cNvPr id="17" name="Text 15"/>
          <p:cNvSpPr txBox="1"/>
          <p:nvPr/>
        </p:nvSpPr>
        <p:spPr>
          <a:xfrm>
            <a:off x="8285934" y="24688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P4</a:t>
            </a:r>
            <a:endParaRPr lang="en-US" sz="1100" dirty="0"/>
          </a:p>
        </p:txBody>
      </p:sp>
      <p:sp>
        <p:nvSpPr>
          <p:cNvPr id="18" name="Shape 16"/>
          <p:cNvSpPr/>
          <p:nvPr/>
        </p:nvSpPr>
        <p:spPr>
          <a:xfrm>
            <a:off x="11063424" y="2468880"/>
            <a:ext cx="595176" cy="731520"/>
          </a:xfrm>
          <a:prstGeom prst="rect">
            <a:avLst/>
          </a:prstGeom>
          <a:solidFill>
            <a:srgbClr val="C9D3D6"/>
          </a:solidFill>
          <a:ln w="9525">
            <a:solidFill>
              <a:srgbClr val="FFFFFF"/>
            </a:solidFill>
            <a:prstDash val="solid"/>
          </a:ln>
        </p:spPr>
        <p:txBody>
          <a:bodyPr/>
          <a:p/>
        </p:txBody>
      </p:sp>
      <p:sp>
        <p:nvSpPr>
          <p:cNvPr id="19" name="Text 17"/>
          <p:cNvSpPr txBox="1"/>
          <p:nvPr/>
        </p:nvSpPr>
        <p:spPr>
          <a:xfrm>
            <a:off x="11063424" y="24688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P5</a:t>
            </a:r>
            <a:endParaRPr lang="en-US" sz="1100" dirty="0"/>
          </a:p>
        </p:txBody>
      </p:sp>
      <p:sp>
        <p:nvSpPr>
          <p:cNvPr id="20" name="Shape 18"/>
          <p:cNvSpPr/>
          <p:nvPr/>
        </p:nvSpPr>
        <p:spPr>
          <a:xfrm>
            <a:off x="2929346" y="2468880"/>
            <a:ext cx="872925" cy="731520"/>
          </a:xfrm>
          <a:prstGeom prst="rect">
            <a:avLst/>
          </a:prstGeom>
          <a:solidFill>
            <a:srgbClr val="02C39A"/>
          </a:solidFill>
          <a:ln w="9525">
            <a:solidFill>
              <a:srgbClr val="FFFFFF"/>
            </a:solidFill>
            <a:prstDash val="solid"/>
          </a:ln>
        </p:spPr>
        <p:txBody>
          <a:bodyPr/>
          <a:p/>
        </p:txBody>
      </p:sp>
      <p:sp>
        <p:nvSpPr>
          <p:cNvPr id="21" name="Text 19"/>
          <p:cNvSpPr txBox="1"/>
          <p:nvPr/>
        </p:nvSpPr>
        <p:spPr>
          <a:xfrm>
            <a:off x="2929346" y="2468880"/>
            <a:ext cx="872925"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A</a:t>
            </a:r>
            <a:endParaRPr lang="en-US" sz="1100" dirty="0"/>
          </a:p>
        </p:txBody>
      </p:sp>
      <p:sp>
        <p:nvSpPr>
          <p:cNvPr id="22" name="Shape 20"/>
          <p:cNvSpPr/>
          <p:nvPr/>
        </p:nvSpPr>
        <p:spPr>
          <a:xfrm>
            <a:off x="8881110" y="2468880"/>
            <a:ext cx="1587137" cy="731520"/>
          </a:xfrm>
          <a:prstGeom prst="rect">
            <a:avLst/>
          </a:prstGeom>
          <a:solidFill>
            <a:srgbClr val="02C39A"/>
          </a:solidFill>
          <a:ln w="9525">
            <a:solidFill>
              <a:srgbClr val="FFFFFF"/>
            </a:solidFill>
            <a:prstDash val="solid"/>
          </a:ln>
        </p:spPr>
        <p:txBody>
          <a:bodyPr/>
          <a:p/>
        </p:txBody>
      </p:sp>
      <p:sp>
        <p:nvSpPr>
          <p:cNvPr id="23" name="Text 21"/>
          <p:cNvSpPr txBox="1"/>
          <p:nvPr/>
        </p:nvSpPr>
        <p:spPr>
          <a:xfrm>
            <a:off x="8881110" y="2468880"/>
            <a:ext cx="1587137"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B</a:t>
            </a:r>
            <a:endParaRPr lang="en-US" sz="1100" dirty="0"/>
          </a:p>
        </p:txBody>
      </p:sp>
      <p:sp>
        <p:nvSpPr>
          <p:cNvPr id="24" name="Shape 22"/>
          <p:cNvSpPr/>
          <p:nvPr/>
        </p:nvSpPr>
        <p:spPr>
          <a:xfrm>
            <a:off x="1738993" y="2468880"/>
            <a:ext cx="515820" cy="731520"/>
          </a:xfrm>
          <a:prstGeom prst="rect">
            <a:avLst/>
          </a:prstGeom>
          <a:solidFill>
            <a:srgbClr val="02C39A"/>
          </a:solidFill>
          <a:ln w="9525">
            <a:solidFill>
              <a:srgbClr val="FFFFFF"/>
            </a:solidFill>
            <a:prstDash val="solid"/>
          </a:ln>
        </p:spPr>
        <p:txBody>
          <a:bodyPr/>
          <a:p/>
        </p:txBody>
      </p:sp>
      <p:sp>
        <p:nvSpPr>
          <p:cNvPr id="25" name="Text 23"/>
          <p:cNvSpPr txBox="1"/>
          <p:nvPr/>
        </p:nvSpPr>
        <p:spPr>
          <a:xfrm>
            <a:off x="1738993" y="2468880"/>
            <a:ext cx="515820"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C</a:t>
            </a:r>
            <a:endParaRPr lang="en-US" sz="1100" dirty="0"/>
          </a:p>
        </p:txBody>
      </p:sp>
      <p:sp>
        <p:nvSpPr>
          <p:cNvPr id="26" name="Shape 24"/>
          <p:cNvSpPr/>
          <p:nvPr/>
        </p:nvSpPr>
        <p:spPr>
          <a:xfrm>
            <a:off x="2254812" y="2468880"/>
            <a:ext cx="79357" cy="731520"/>
          </a:xfrm>
          <a:prstGeom prst="rect">
            <a:avLst/>
          </a:prstGeom>
          <a:solidFill>
            <a:srgbClr val="FFFFFF"/>
          </a:solidFill>
          <a:ln w="12700">
            <a:solidFill>
              <a:srgbClr val="50808E"/>
            </a:solidFill>
            <a:prstDash val="dash"/>
          </a:ln>
        </p:spPr>
        <p:txBody>
          <a:bodyPr/>
          <a:p/>
        </p:txBody>
      </p:sp>
      <p:sp>
        <p:nvSpPr>
          <p:cNvPr id="27" name="Text 25"/>
          <p:cNvSpPr txBox="1"/>
          <p:nvPr/>
        </p:nvSpPr>
        <p:spPr>
          <a:xfrm>
            <a:off x="1980492" y="3218688"/>
            <a:ext cx="627997" cy="228600"/>
          </a:xfrm>
          <a:prstGeom prst="rect">
            <a:avLst/>
          </a:prstGeom>
          <a:noFill/>
          <a:ln/>
        </p:spPr>
        <p:txBody>
          <a:bodyPr wrap="square" lIns="0" tIns="0" rIns="0" bIns="0" rtlCol="0" anchor="t"/>
          <a:lstStyle/>
          <a:p>
            <a:pPr algn="ctr" indent="0" marL="0">
              <a:buNone/>
            </a:pPr>
            <a:r>
              <a:rPr lang="en-US" sz="1000" dirty="0">
                <a:solidFill>
                  <a:srgbClr val="50808E"/>
                </a:solidFill>
                <a:latin typeface="Calibri" pitchFamily="34" charset="0"/>
                <a:ea typeface="Calibri" pitchFamily="34" charset="-122"/>
                <a:cs typeface="Calibri" pitchFamily="34" charset="-120"/>
              </a:rPr>
              <a:t>20</a:t>
            </a:r>
            <a:endParaRPr lang="en-US" sz="1000" dirty="0"/>
          </a:p>
        </p:txBody>
      </p:sp>
      <p:sp>
        <p:nvSpPr>
          <p:cNvPr id="28" name="Shape 26"/>
          <p:cNvSpPr/>
          <p:nvPr/>
        </p:nvSpPr>
        <p:spPr>
          <a:xfrm>
            <a:off x="3802271" y="2468880"/>
            <a:ext cx="912604" cy="731520"/>
          </a:xfrm>
          <a:prstGeom prst="rect">
            <a:avLst/>
          </a:prstGeom>
          <a:solidFill>
            <a:srgbClr val="FFFFFF"/>
          </a:solidFill>
          <a:ln w="12700">
            <a:solidFill>
              <a:srgbClr val="50808E"/>
            </a:solidFill>
            <a:prstDash val="dash"/>
          </a:ln>
        </p:spPr>
        <p:txBody>
          <a:bodyPr/>
          <a:p/>
        </p:txBody>
      </p:sp>
      <p:sp>
        <p:nvSpPr>
          <p:cNvPr id="29" name="Text 27"/>
          <p:cNvSpPr txBox="1"/>
          <p:nvPr/>
        </p:nvSpPr>
        <p:spPr>
          <a:xfrm>
            <a:off x="3802271" y="2468880"/>
            <a:ext cx="912604" cy="731520"/>
          </a:xfrm>
          <a:prstGeom prst="rect">
            <a:avLst/>
          </a:prstGeom>
          <a:noFill/>
          <a:ln/>
        </p:spPr>
        <p:txBody>
          <a:bodyPr wrap="square" lIns="0" tIns="0" rIns="0" bIns="0" rtlCol="0" anchor="ctr"/>
          <a:lstStyle/>
          <a:p>
            <a:pPr algn="ctr" indent="0" marL="0">
              <a:buNone/>
            </a:pPr>
            <a:r>
              <a:rPr lang="en-US" sz="1100" dirty="0">
                <a:solidFill>
                  <a:srgbClr val="50808E"/>
                </a:solidFill>
                <a:latin typeface="Calibri" pitchFamily="34" charset="0"/>
                <a:ea typeface="Calibri" pitchFamily="34" charset="-122"/>
                <a:cs typeface="Calibri" pitchFamily="34" charset="-120"/>
              </a:rPr>
              <a:t>230</a:t>
            </a:r>
            <a:endParaRPr lang="en-US" sz="1100" dirty="0"/>
          </a:p>
        </p:txBody>
      </p:sp>
      <p:sp>
        <p:nvSpPr>
          <p:cNvPr id="30" name="Shape 28"/>
          <p:cNvSpPr/>
          <p:nvPr/>
        </p:nvSpPr>
        <p:spPr>
          <a:xfrm>
            <a:off x="5310051" y="2468880"/>
            <a:ext cx="793569" cy="731520"/>
          </a:xfrm>
          <a:prstGeom prst="rect">
            <a:avLst/>
          </a:prstGeom>
          <a:solidFill>
            <a:srgbClr val="FFFFFF"/>
          </a:solidFill>
          <a:ln w="12700">
            <a:solidFill>
              <a:srgbClr val="50808E"/>
            </a:solidFill>
            <a:prstDash val="dash"/>
          </a:ln>
        </p:spPr>
        <p:txBody>
          <a:bodyPr/>
          <a:p/>
        </p:txBody>
      </p:sp>
      <p:sp>
        <p:nvSpPr>
          <p:cNvPr id="31" name="Text 29"/>
          <p:cNvSpPr txBox="1"/>
          <p:nvPr/>
        </p:nvSpPr>
        <p:spPr>
          <a:xfrm>
            <a:off x="5310051" y="2468880"/>
            <a:ext cx="793569" cy="731520"/>
          </a:xfrm>
          <a:prstGeom prst="rect">
            <a:avLst/>
          </a:prstGeom>
          <a:noFill/>
          <a:ln/>
        </p:spPr>
        <p:txBody>
          <a:bodyPr wrap="square" lIns="0" tIns="0" rIns="0" bIns="0" rtlCol="0" anchor="ctr"/>
          <a:lstStyle/>
          <a:p>
            <a:pPr algn="ctr" indent="0" marL="0">
              <a:buNone/>
            </a:pPr>
            <a:r>
              <a:rPr lang="en-US" sz="1100" dirty="0">
                <a:solidFill>
                  <a:srgbClr val="50808E"/>
                </a:solidFill>
                <a:latin typeface="Calibri" pitchFamily="34" charset="0"/>
                <a:ea typeface="Calibri" pitchFamily="34" charset="-122"/>
                <a:cs typeface="Calibri" pitchFamily="34" charset="-120"/>
              </a:rPr>
              <a:t>200</a:t>
            </a:r>
            <a:endParaRPr lang="en-US" sz="1100" dirty="0"/>
          </a:p>
        </p:txBody>
      </p:sp>
      <p:sp>
        <p:nvSpPr>
          <p:cNvPr id="32" name="Shape 30"/>
          <p:cNvSpPr/>
          <p:nvPr/>
        </p:nvSpPr>
        <p:spPr>
          <a:xfrm>
            <a:off x="6897189" y="2468880"/>
            <a:ext cx="1388745" cy="731520"/>
          </a:xfrm>
          <a:prstGeom prst="rect">
            <a:avLst/>
          </a:prstGeom>
          <a:solidFill>
            <a:srgbClr val="FFFFFF"/>
          </a:solidFill>
          <a:ln w="12700">
            <a:solidFill>
              <a:srgbClr val="50808E"/>
            </a:solidFill>
            <a:prstDash val="dash"/>
          </a:ln>
        </p:spPr>
        <p:txBody>
          <a:bodyPr/>
          <a:p/>
        </p:txBody>
      </p:sp>
      <p:sp>
        <p:nvSpPr>
          <p:cNvPr id="33" name="Text 31"/>
          <p:cNvSpPr txBox="1"/>
          <p:nvPr/>
        </p:nvSpPr>
        <p:spPr>
          <a:xfrm>
            <a:off x="6897189" y="2468880"/>
            <a:ext cx="1388745" cy="731520"/>
          </a:xfrm>
          <a:prstGeom prst="rect">
            <a:avLst/>
          </a:prstGeom>
          <a:noFill/>
          <a:ln/>
        </p:spPr>
        <p:txBody>
          <a:bodyPr wrap="square" lIns="0" tIns="0" rIns="0" bIns="0" rtlCol="0" anchor="ctr"/>
          <a:lstStyle/>
          <a:p>
            <a:pPr algn="ctr" indent="0" marL="0">
              <a:buNone/>
            </a:pPr>
            <a:r>
              <a:rPr lang="en-US" sz="1100" dirty="0">
                <a:solidFill>
                  <a:srgbClr val="50808E"/>
                </a:solidFill>
                <a:latin typeface="Calibri" pitchFamily="34" charset="0"/>
                <a:ea typeface="Calibri" pitchFamily="34" charset="-122"/>
                <a:cs typeface="Calibri" pitchFamily="34" charset="-120"/>
              </a:rPr>
              <a:t>350</a:t>
            </a:r>
            <a:endParaRPr lang="en-US" sz="1100" dirty="0"/>
          </a:p>
        </p:txBody>
      </p:sp>
      <p:sp>
        <p:nvSpPr>
          <p:cNvPr id="34" name="Shape 32"/>
          <p:cNvSpPr/>
          <p:nvPr/>
        </p:nvSpPr>
        <p:spPr>
          <a:xfrm>
            <a:off x="10468247" y="2468880"/>
            <a:ext cx="595176" cy="731520"/>
          </a:xfrm>
          <a:prstGeom prst="rect">
            <a:avLst/>
          </a:prstGeom>
          <a:solidFill>
            <a:srgbClr val="FFFFFF"/>
          </a:solidFill>
          <a:ln w="12700">
            <a:solidFill>
              <a:srgbClr val="50808E"/>
            </a:solidFill>
            <a:prstDash val="dash"/>
          </a:ln>
        </p:spPr>
        <p:txBody>
          <a:bodyPr/>
          <a:p/>
        </p:txBody>
      </p:sp>
      <p:sp>
        <p:nvSpPr>
          <p:cNvPr id="35" name="Text 33"/>
          <p:cNvSpPr txBox="1"/>
          <p:nvPr/>
        </p:nvSpPr>
        <p:spPr>
          <a:xfrm>
            <a:off x="10468247" y="2468880"/>
            <a:ext cx="595176" cy="731520"/>
          </a:xfrm>
          <a:prstGeom prst="rect">
            <a:avLst/>
          </a:prstGeom>
          <a:noFill/>
          <a:ln/>
        </p:spPr>
        <p:txBody>
          <a:bodyPr wrap="square" lIns="0" tIns="0" rIns="0" bIns="0" rtlCol="0" anchor="ctr"/>
          <a:lstStyle/>
          <a:p>
            <a:pPr algn="ctr" indent="0" marL="0">
              <a:buNone/>
            </a:pPr>
            <a:r>
              <a:rPr lang="en-US" sz="1100" dirty="0">
                <a:solidFill>
                  <a:srgbClr val="50808E"/>
                </a:solidFill>
                <a:latin typeface="Calibri" pitchFamily="34" charset="0"/>
                <a:ea typeface="Calibri" pitchFamily="34" charset="-122"/>
                <a:cs typeface="Calibri" pitchFamily="34" charset="-120"/>
              </a:rPr>
              <a:t>150</a:t>
            </a:r>
            <a:endParaRPr lang="en-US" sz="1100" dirty="0"/>
          </a:p>
        </p:txBody>
      </p:sp>
      <p:sp>
        <p:nvSpPr>
          <p:cNvPr id="36" name="Text 34"/>
          <p:cNvSpPr txBox="1"/>
          <p:nvPr/>
        </p:nvSpPr>
        <p:spPr>
          <a:xfrm>
            <a:off x="548640" y="3520440"/>
            <a:ext cx="7315200" cy="274320"/>
          </a:xfrm>
          <a:prstGeom prst="rect">
            <a:avLst/>
          </a:prstGeom>
          <a:noFill/>
          <a:ln/>
        </p:spPr>
        <p:txBody>
          <a:bodyPr wrap="square" lIns="0" tIns="0" rIns="0" bIns="0" rtlCol="0" anchor="t"/>
          <a:lstStyle/>
          <a:p>
            <a:pPr indent="0" marL="0">
              <a:buNone/>
            </a:pPr>
            <a:r>
              <a:rPr lang="en-US" sz="1300" b="1" dirty="0">
                <a:solidFill>
                  <a:srgbClr val="36454F"/>
                </a:solidFill>
                <a:latin typeface="Calibri" pitchFamily="34" charset="0"/>
                <a:ea typeface="Calibri" pitchFamily="34" charset="-122"/>
                <a:cs typeface="Calibri" pitchFamily="34" charset="-120"/>
              </a:rPr>
              <a:t>After compaction: one hole of 950 KB → D (430 KB) fits</a:t>
            </a:r>
            <a:endParaRPr lang="en-US" sz="1300" dirty="0"/>
          </a:p>
        </p:txBody>
      </p:sp>
      <p:sp>
        <p:nvSpPr>
          <p:cNvPr id="37" name="Shape 35"/>
          <p:cNvSpPr/>
          <p:nvPr/>
        </p:nvSpPr>
        <p:spPr>
          <a:xfrm>
            <a:off x="548640" y="3840480"/>
            <a:ext cx="1190353" cy="731520"/>
          </a:xfrm>
          <a:prstGeom prst="rect">
            <a:avLst/>
          </a:prstGeom>
          <a:solidFill>
            <a:srgbClr val="36454F"/>
          </a:solidFill>
          <a:ln w="9525">
            <a:solidFill>
              <a:srgbClr val="FFFFFF"/>
            </a:solidFill>
            <a:prstDash val="solid"/>
          </a:ln>
        </p:spPr>
        <p:txBody>
          <a:bodyPr/>
          <a:p/>
        </p:txBody>
      </p:sp>
      <p:sp>
        <p:nvSpPr>
          <p:cNvPr id="38" name="Text 36"/>
          <p:cNvSpPr txBox="1"/>
          <p:nvPr/>
        </p:nvSpPr>
        <p:spPr>
          <a:xfrm>
            <a:off x="548640" y="3840480"/>
            <a:ext cx="1190353"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OS</a:t>
            </a:r>
            <a:endParaRPr lang="en-US" sz="1100" dirty="0"/>
          </a:p>
        </p:txBody>
      </p:sp>
      <p:sp>
        <p:nvSpPr>
          <p:cNvPr id="39" name="Shape 37"/>
          <p:cNvSpPr/>
          <p:nvPr/>
        </p:nvSpPr>
        <p:spPr>
          <a:xfrm>
            <a:off x="1738993" y="3840480"/>
            <a:ext cx="515820" cy="731520"/>
          </a:xfrm>
          <a:prstGeom prst="rect">
            <a:avLst/>
          </a:prstGeom>
          <a:solidFill>
            <a:srgbClr val="02C39A"/>
          </a:solidFill>
          <a:ln w="9525">
            <a:solidFill>
              <a:srgbClr val="FFFFFF"/>
            </a:solidFill>
            <a:prstDash val="solid"/>
          </a:ln>
        </p:spPr>
        <p:txBody>
          <a:bodyPr/>
          <a:p/>
        </p:txBody>
      </p:sp>
      <p:sp>
        <p:nvSpPr>
          <p:cNvPr id="40" name="Text 38"/>
          <p:cNvSpPr txBox="1"/>
          <p:nvPr/>
        </p:nvSpPr>
        <p:spPr>
          <a:xfrm>
            <a:off x="1738993" y="3840480"/>
            <a:ext cx="515820"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C</a:t>
            </a:r>
            <a:endParaRPr lang="en-US" sz="1100" dirty="0"/>
          </a:p>
        </p:txBody>
      </p:sp>
      <p:sp>
        <p:nvSpPr>
          <p:cNvPr id="41" name="Shape 39"/>
          <p:cNvSpPr/>
          <p:nvPr/>
        </p:nvSpPr>
        <p:spPr>
          <a:xfrm>
            <a:off x="2254812" y="3840480"/>
            <a:ext cx="595176" cy="731520"/>
          </a:xfrm>
          <a:prstGeom prst="rect">
            <a:avLst/>
          </a:prstGeom>
          <a:solidFill>
            <a:srgbClr val="C9D3D6"/>
          </a:solidFill>
          <a:ln w="9525">
            <a:solidFill>
              <a:srgbClr val="FFFFFF"/>
            </a:solidFill>
            <a:prstDash val="solid"/>
          </a:ln>
        </p:spPr>
        <p:txBody>
          <a:bodyPr/>
          <a:p/>
        </p:txBody>
      </p:sp>
      <p:sp>
        <p:nvSpPr>
          <p:cNvPr id="42" name="Text 40"/>
          <p:cNvSpPr txBox="1"/>
          <p:nvPr/>
        </p:nvSpPr>
        <p:spPr>
          <a:xfrm>
            <a:off x="2254812" y="38404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P1</a:t>
            </a:r>
            <a:endParaRPr lang="en-US" sz="1100" dirty="0"/>
          </a:p>
        </p:txBody>
      </p:sp>
      <p:sp>
        <p:nvSpPr>
          <p:cNvPr id="43" name="Shape 41"/>
          <p:cNvSpPr/>
          <p:nvPr/>
        </p:nvSpPr>
        <p:spPr>
          <a:xfrm>
            <a:off x="2849989" y="3840480"/>
            <a:ext cx="872925" cy="731520"/>
          </a:xfrm>
          <a:prstGeom prst="rect">
            <a:avLst/>
          </a:prstGeom>
          <a:solidFill>
            <a:srgbClr val="02C39A"/>
          </a:solidFill>
          <a:ln w="9525">
            <a:solidFill>
              <a:srgbClr val="FFFFFF"/>
            </a:solidFill>
            <a:prstDash val="solid"/>
          </a:ln>
        </p:spPr>
        <p:txBody>
          <a:bodyPr/>
          <a:p/>
        </p:txBody>
      </p:sp>
      <p:sp>
        <p:nvSpPr>
          <p:cNvPr id="44" name="Text 42"/>
          <p:cNvSpPr txBox="1"/>
          <p:nvPr/>
        </p:nvSpPr>
        <p:spPr>
          <a:xfrm>
            <a:off x="2849989" y="3840480"/>
            <a:ext cx="872925"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A</a:t>
            </a:r>
            <a:endParaRPr lang="en-US" sz="1100" dirty="0"/>
          </a:p>
        </p:txBody>
      </p:sp>
      <p:sp>
        <p:nvSpPr>
          <p:cNvPr id="45" name="Shape 43"/>
          <p:cNvSpPr/>
          <p:nvPr/>
        </p:nvSpPr>
        <p:spPr>
          <a:xfrm>
            <a:off x="3722914" y="3840480"/>
            <a:ext cx="595176" cy="731520"/>
          </a:xfrm>
          <a:prstGeom prst="rect">
            <a:avLst/>
          </a:prstGeom>
          <a:solidFill>
            <a:srgbClr val="C9D3D6"/>
          </a:solidFill>
          <a:ln w="9525">
            <a:solidFill>
              <a:srgbClr val="FFFFFF"/>
            </a:solidFill>
            <a:prstDash val="solid"/>
          </a:ln>
        </p:spPr>
        <p:txBody>
          <a:bodyPr/>
          <a:p/>
        </p:txBody>
      </p:sp>
      <p:sp>
        <p:nvSpPr>
          <p:cNvPr id="46" name="Text 44"/>
          <p:cNvSpPr txBox="1"/>
          <p:nvPr/>
        </p:nvSpPr>
        <p:spPr>
          <a:xfrm>
            <a:off x="3722914" y="38404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P2</a:t>
            </a:r>
            <a:endParaRPr lang="en-US" sz="1100" dirty="0"/>
          </a:p>
        </p:txBody>
      </p:sp>
      <p:sp>
        <p:nvSpPr>
          <p:cNvPr id="47" name="Shape 45"/>
          <p:cNvSpPr/>
          <p:nvPr/>
        </p:nvSpPr>
        <p:spPr>
          <a:xfrm>
            <a:off x="4318091" y="3840480"/>
            <a:ext cx="793569" cy="731520"/>
          </a:xfrm>
          <a:prstGeom prst="rect">
            <a:avLst/>
          </a:prstGeom>
          <a:solidFill>
            <a:srgbClr val="C9D3D6"/>
          </a:solidFill>
          <a:ln w="9525">
            <a:solidFill>
              <a:srgbClr val="FFFFFF"/>
            </a:solidFill>
            <a:prstDash val="solid"/>
          </a:ln>
        </p:spPr>
        <p:txBody>
          <a:bodyPr/>
          <a:p/>
        </p:txBody>
      </p:sp>
      <p:sp>
        <p:nvSpPr>
          <p:cNvPr id="48" name="Text 46"/>
          <p:cNvSpPr txBox="1"/>
          <p:nvPr/>
        </p:nvSpPr>
        <p:spPr>
          <a:xfrm>
            <a:off x="4318091" y="3840480"/>
            <a:ext cx="793569"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P3</a:t>
            </a:r>
            <a:endParaRPr lang="en-US" sz="1100" dirty="0"/>
          </a:p>
        </p:txBody>
      </p:sp>
      <p:sp>
        <p:nvSpPr>
          <p:cNvPr id="49" name="Shape 47"/>
          <p:cNvSpPr/>
          <p:nvPr/>
        </p:nvSpPr>
        <p:spPr>
          <a:xfrm>
            <a:off x="5111659" y="3840480"/>
            <a:ext cx="595176" cy="731520"/>
          </a:xfrm>
          <a:prstGeom prst="rect">
            <a:avLst/>
          </a:prstGeom>
          <a:solidFill>
            <a:srgbClr val="C9D3D6"/>
          </a:solidFill>
          <a:ln w="9525">
            <a:solidFill>
              <a:srgbClr val="FFFFFF"/>
            </a:solidFill>
            <a:prstDash val="solid"/>
          </a:ln>
        </p:spPr>
        <p:txBody>
          <a:bodyPr/>
          <a:p/>
        </p:txBody>
      </p:sp>
      <p:sp>
        <p:nvSpPr>
          <p:cNvPr id="50" name="Text 48"/>
          <p:cNvSpPr txBox="1"/>
          <p:nvPr/>
        </p:nvSpPr>
        <p:spPr>
          <a:xfrm>
            <a:off x="5111659" y="38404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P4</a:t>
            </a:r>
            <a:endParaRPr lang="en-US" sz="1100" dirty="0"/>
          </a:p>
        </p:txBody>
      </p:sp>
      <p:sp>
        <p:nvSpPr>
          <p:cNvPr id="51" name="Shape 49"/>
          <p:cNvSpPr/>
          <p:nvPr/>
        </p:nvSpPr>
        <p:spPr>
          <a:xfrm>
            <a:off x="5706836" y="3840480"/>
            <a:ext cx="1587137" cy="731520"/>
          </a:xfrm>
          <a:prstGeom prst="rect">
            <a:avLst/>
          </a:prstGeom>
          <a:solidFill>
            <a:srgbClr val="02C39A"/>
          </a:solidFill>
          <a:ln w="9525">
            <a:solidFill>
              <a:srgbClr val="FFFFFF"/>
            </a:solidFill>
            <a:prstDash val="solid"/>
          </a:ln>
        </p:spPr>
        <p:txBody>
          <a:bodyPr/>
          <a:p/>
        </p:txBody>
      </p:sp>
      <p:sp>
        <p:nvSpPr>
          <p:cNvPr id="52" name="Text 50"/>
          <p:cNvSpPr txBox="1"/>
          <p:nvPr/>
        </p:nvSpPr>
        <p:spPr>
          <a:xfrm>
            <a:off x="5706836" y="3840480"/>
            <a:ext cx="1587137"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B</a:t>
            </a:r>
            <a:endParaRPr lang="en-US" sz="1100" dirty="0"/>
          </a:p>
        </p:txBody>
      </p:sp>
      <p:sp>
        <p:nvSpPr>
          <p:cNvPr id="53" name="Shape 51"/>
          <p:cNvSpPr/>
          <p:nvPr/>
        </p:nvSpPr>
        <p:spPr>
          <a:xfrm>
            <a:off x="7293973" y="3840480"/>
            <a:ext cx="595176" cy="731520"/>
          </a:xfrm>
          <a:prstGeom prst="rect">
            <a:avLst/>
          </a:prstGeom>
          <a:solidFill>
            <a:srgbClr val="C9D3D6"/>
          </a:solidFill>
          <a:ln w="9525">
            <a:solidFill>
              <a:srgbClr val="FFFFFF"/>
            </a:solidFill>
            <a:prstDash val="solid"/>
          </a:ln>
        </p:spPr>
        <p:txBody>
          <a:bodyPr/>
          <a:p/>
        </p:txBody>
      </p:sp>
      <p:sp>
        <p:nvSpPr>
          <p:cNvPr id="54" name="Text 52"/>
          <p:cNvSpPr txBox="1"/>
          <p:nvPr/>
        </p:nvSpPr>
        <p:spPr>
          <a:xfrm>
            <a:off x="7293973" y="3840480"/>
            <a:ext cx="595176"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P5</a:t>
            </a:r>
            <a:endParaRPr lang="en-US" sz="1100" dirty="0"/>
          </a:p>
        </p:txBody>
      </p:sp>
      <p:sp>
        <p:nvSpPr>
          <p:cNvPr id="55" name="Shape 53"/>
          <p:cNvSpPr/>
          <p:nvPr/>
        </p:nvSpPr>
        <p:spPr>
          <a:xfrm>
            <a:off x="7889149" y="3840480"/>
            <a:ext cx="1706172" cy="731520"/>
          </a:xfrm>
          <a:prstGeom prst="rect">
            <a:avLst/>
          </a:prstGeom>
          <a:solidFill>
            <a:srgbClr val="02C39A"/>
          </a:solidFill>
          <a:ln w="9525">
            <a:solidFill>
              <a:srgbClr val="FFFFFF"/>
            </a:solidFill>
            <a:prstDash val="solid"/>
          </a:ln>
        </p:spPr>
        <p:txBody>
          <a:bodyPr/>
          <a:p/>
        </p:txBody>
      </p:sp>
      <p:sp>
        <p:nvSpPr>
          <p:cNvPr id="56" name="Text 54"/>
          <p:cNvSpPr txBox="1"/>
          <p:nvPr/>
        </p:nvSpPr>
        <p:spPr>
          <a:xfrm>
            <a:off x="7889149" y="3840480"/>
            <a:ext cx="1706172" cy="73152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D</a:t>
            </a:r>
            <a:endParaRPr lang="en-US" sz="1100" dirty="0"/>
          </a:p>
        </p:txBody>
      </p:sp>
      <p:sp>
        <p:nvSpPr>
          <p:cNvPr id="57" name="Shape 55"/>
          <p:cNvSpPr/>
          <p:nvPr/>
        </p:nvSpPr>
        <p:spPr>
          <a:xfrm>
            <a:off x="9595322" y="3840480"/>
            <a:ext cx="2063278" cy="731520"/>
          </a:xfrm>
          <a:prstGeom prst="rect">
            <a:avLst/>
          </a:prstGeom>
          <a:solidFill>
            <a:srgbClr val="FFFFFF"/>
          </a:solidFill>
          <a:ln w="12700">
            <a:solidFill>
              <a:srgbClr val="50808E"/>
            </a:solidFill>
            <a:prstDash val="dash"/>
          </a:ln>
        </p:spPr>
        <p:txBody>
          <a:bodyPr/>
          <a:p/>
        </p:txBody>
      </p:sp>
      <p:sp>
        <p:nvSpPr>
          <p:cNvPr id="58" name="Text 56"/>
          <p:cNvSpPr txBox="1"/>
          <p:nvPr/>
        </p:nvSpPr>
        <p:spPr>
          <a:xfrm>
            <a:off x="9595322" y="3840480"/>
            <a:ext cx="2063278" cy="731520"/>
          </a:xfrm>
          <a:prstGeom prst="rect">
            <a:avLst/>
          </a:prstGeom>
          <a:noFill/>
          <a:ln/>
        </p:spPr>
        <p:txBody>
          <a:bodyPr wrap="square" lIns="0" tIns="0" rIns="0" bIns="0" rtlCol="0" anchor="ctr"/>
          <a:lstStyle/>
          <a:p>
            <a:pPr algn="ctr" indent="0" marL="0">
              <a:buNone/>
            </a:pPr>
            <a:r>
              <a:rPr lang="en-US" sz="1100" dirty="0">
                <a:solidFill>
                  <a:srgbClr val="50808E"/>
                </a:solidFill>
                <a:latin typeface="Calibri" pitchFamily="34" charset="0"/>
                <a:ea typeface="Calibri" pitchFamily="34" charset="-122"/>
                <a:cs typeface="Calibri" pitchFamily="34" charset="-120"/>
              </a:rPr>
              <a:t>520</a:t>
            </a:r>
            <a:endParaRPr lang="en-US" sz="1100" dirty="0"/>
          </a:p>
        </p:txBody>
      </p:sp>
      <p:sp>
        <p:nvSpPr>
          <p:cNvPr id="59" name="Shape 57"/>
          <p:cNvSpPr/>
          <p:nvPr/>
        </p:nvSpPr>
        <p:spPr>
          <a:xfrm>
            <a:off x="548640" y="4892040"/>
            <a:ext cx="5440680" cy="1371600"/>
          </a:xfrm>
          <a:prstGeom prst="roundRect">
            <a:avLst>
              <a:gd name="adj" fmla="val 4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60" name="Text 58"/>
          <p:cNvSpPr txBox="1"/>
          <p:nvPr/>
        </p:nvSpPr>
        <p:spPr>
          <a:xfrm>
            <a:off x="77724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Possible only</a:t>
            </a:r>
            <a:r>
              <a:rPr lang="en-US" sz="1400" dirty="0">
                <a:solidFill>
                  <a:srgbClr val="3A464C"/>
                </a:solidFill>
                <a:latin typeface="Calibri" pitchFamily="34" charset="0"/>
                <a:ea typeface="Calibri" pitchFamily="34" charset="-122"/>
                <a:cs typeface="Calibri" pitchFamily="34" charset="-120"/>
              </a:rPr>
              <a:t> with execution-time binding: change the relocation register after moving.</a:t>
            </a:r>
            <a:endParaRPr lang="en-US" sz="1400" dirty="0"/>
          </a:p>
        </p:txBody>
      </p:sp>
      <p:sp>
        <p:nvSpPr>
          <p:cNvPr id="61" name="Shape 59"/>
          <p:cNvSpPr/>
          <p:nvPr/>
        </p:nvSpPr>
        <p:spPr>
          <a:xfrm>
            <a:off x="6217920" y="4892040"/>
            <a:ext cx="5440680" cy="1371600"/>
          </a:xfrm>
          <a:prstGeom prst="roundRect">
            <a:avLst>
              <a:gd name="adj" fmla="val 4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62" name="Text 60"/>
          <p:cNvSpPr txBox="1"/>
          <p:nvPr/>
        </p:nvSpPr>
        <p:spPr>
          <a:xfrm>
            <a:off x="644652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Expensive:</a:t>
            </a:r>
            <a:r>
              <a:rPr lang="en-US" sz="1400" dirty="0">
                <a:solidFill>
                  <a:srgbClr val="3A464C"/>
                </a:solidFill>
                <a:latin typeface="Calibri" pitchFamily="34" charset="0"/>
                <a:ea typeface="Calibri" pitchFamily="34" charset="-122"/>
                <a:cs typeface="Calibri" pitchFamily="34" charset="-120"/>
              </a:rPr>
              <a:t> copies up to all of RAM; processes must pause, and I/O into a moving buffer is a problem.</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paging — the idea that removes external fragmentation.</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6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Paging</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Cut memory into equal pieces, and let a process live in pieces all over RAM.</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6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Pages, Frames and the Page Table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Logical memory is cut into pages, physical memory into frames of the same size (here 4 KB). Any page can go into any free frame.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19</a:t>
            </a:r>
            <a:endParaRPr lang="en-US" sz="900" dirty="0"/>
          </a:p>
        </p:txBody>
      </p:sp>
      <p:sp>
        <p:nvSpPr>
          <p:cNvPr id="7" name="Text 5"/>
          <p:cNvSpPr txBox="1"/>
          <p:nvPr/>
        </p:nvSpPr>
        <p:spPr>
          <a:xfrm>
            <a:off x="548640" y="2148840"/>
            <a:ext cx="2011680" cy="5029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logical memory</a:t>
            </a:r>
            <a:endParaRPr lang="en-US" sz="1200" dirty="0"/>
          </a:p>
          <a:p>
            <a:pPr algn="ctr" indent="0" marL="0">
              <a:buNone/>
            </a:pPr>
            <a:r>
              <a:rPr lang="en-US" sz="1200" b="1" dirty="0">
                <a:solidFill>
                  <a:srgbClr val="36454F"/>
                </a:solidFill>
                <a:latin typeface="Calibri" pitchFamily="34" charset="0"/>
                <a:ea typeface="Calibri" pitchFamily="34" charset="-122"/>
                <a:cs typeface="Calibri" pitchFamily="34" charset="-120"/>
              </a:rPr>
              <a:t>(process, 5 pages)</a:t>
            </a:r>
            <a:endParaRPr lang="en-US" sz="1200" dirty="0"/>
          </a:p>
        </p:txBody>
      </p:sp>
      <p:sp>
        <p:nvSpPr>
          <p:cNvPr id="8" name="Shape 6"/>
          <p:cNvSpPr/>
          <p:nvPr/>
        </p:nvSpPr>
        <p:spPr>
          <a:xfrm>
            <a:off x="731520" y="2788920"/>
            <a:ext cx="1645920" cy="512064"/>
          </a:xfrm>
          <a:prstGeom prst="roundRect">
            <a:avLst>
              <a:gd name="adj" fmla="val 8929"/>
            </a:avLst>
          </a:prstGeom>
          <a:solidFill>
            <a:srgbClr val="02C39A"/>
          </a:solidFill>
          <a:ln/>
        </p:spPr>
        <p:txBody>
          <a:bodyPr/>
          <a:p/>
        </p:txBody>
      </p:sp>
      <p:sp>
        <p:nvSpPr>
          <p:cNvPr id="9" name="Text 7"/>
          <p:cNvSpPr txBox="1"/>
          <p:nvPr/>
        </p:nvSpPr>
        <p:spPr>
          <a:xfrm>
            <a:off x="731520" y="2788920"/>
            <a:ext cx="1645920" cy="512064"/>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0</a:t>
            </a:r>
            <a:endParaRPr lang="en-US" sz="1300" dirty="0"/>
          </a:p>
        </p:txBody>
      </p:sp>
      <p:sp>
        <p:nvSpPr>
          <p:cNvPr id="10" name="Shape 8"/>
          <p:cNvSpPr/>
          <p:nvPr/>
        </p:nvSpPr>
        <p:spPr>
          <a:xfrm>
            <a:off x="731520" y="3355848"/>
            <a:ext cx="1645920" cy="512064"/>
          </a:xfrm>
          <a:prstGeom prst="roundRect">
            <a:avLst>
              <a:gd name="adj" fmla="val 8929"/>
            </a:avLst>
          </a:prstGeom>
          <a:solidFill>
            <a:srgbClr val="02C39A"/>
          </a:solidFill>
          <a:ln/>
        </p:spPr>
        <p:txBody>
          <a:bodyPr/>
          <a:p/>
        </p:txBody>
      </p:sp>
      <p:sp>
        <p:nvSpPr>
          <p:cNvPr id="11" name="Text 9"/>
          <p:cNvSpPr txBox="1"/>
          <p:nvPr/>
        </p:nvSpPr>
        <p:spPr>
          <a:xfrm>
            <a:off x="731520" y="3355848"/>
            <a:ext cx="1645920" cy="512064"/>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1</a:t>
            </a:r>
            <a:endParaRPr lang="en-US" sz="1300" dirty="0"/>
          </a:p>
        </p:txBody>
      </p:sp>
      <p:sp>
        <p:nvSpPr>
          <p:cNvPr id="12" name="Shape 10"/>
          <p:cNvSpPr/>
          <p:nvPr/>
        </p:nvSpPr>
        <p:spPr>
          <a:xfrm>
            <a:off x="731520" y="3922776"/>
            <a:ext cx="1645920" cy="512064"/>
          </a:xfrm>
          <a:prstGeom prst="roundRect">
            <a:avLst>
              <a:gd name="adj" fmla="val 8929"/>
            </a:avLst>
          </a:prstGeom>
          <a:solidFill>
            <a:srgbClr val="02C39A"/>
          </a:solidFill>
          <a:ln/>
        </p:spPr>
        <p:txBody>
          <a:bodyPr/>
          <a:p/>
        </p:txBody>
      </p:sp>
      <p:sp>
        <p:nvSpPr>
          <p:cNvPr id="13" name="Text 11"/>
          <p:cNvSpPr txBox="1"/>
          <p:nvPr/>
        </p:nvSpPr>
        <p:spPr>
          <a:xfrm>
            <a:off x="731520" y="3922776"/>
            <a:ext cx="1645920" cy="512064"/>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2</a:t>
            </a:r>
            <a:endParaRPr lang="en-US" sz="1300" dirty="0"/>
          </a:p>
        </p:txBody>
      </p:sp>
      <p:sp>
        <p:nvSpPr>
          <p:cNvPr id="14" name="Shape 12"/>
          <p:cNvSpPr/>
          <p:nvPr/>
        </p:nvSpPr>
        <p:spPr>
          <a:xfrm>
            <a:off x="731520" y="4489704"/>
            <a:ext cx="1645920" cy="512064"/>
          </a:xfrm>
          <a:prstGeom prst="roundRect">
            <a:avLst>
              <a:gd name="adj" fmla="val 8929"/>
            </a:avLst>
          </a:prstGeom>
          <a:solidFill>
            <a:srgbClr val="02C39A"/>
          </a:solidFill>
          <a:ln/>
        </p:spPr>
        <p:txBody>
          <a:bodyPr/>
          <a:p/>
        </p:txBody>
      </p:sp>
      <p:sp>
        <p:nvSpPr>
          <p:cNvPr id="15" name="Text 13"/>
          <p:cNvSpPr txBox="1"/>
          <p:nvPr/>
        </p:nvSpPr>
        <p:spPr>
          <a:xfrm>
            <a:off x="731520" y="4489704"/>
            <a:ext cx="1645920" cy="512064"/>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3</a:t>
            </a:r>
            <a:endParaRPr lang="en-US" sz="1300" dirty="0"/>
          </a:p>
        </p:txBody>
      </p:sp>
      <p:sp>
        <p:nvSpPr>
          <p:cNvPr id="16" name="Shape 14"/>
          <p:cNvSpPr/>
          <p:nvPr/>
        </p:nvSpPr>
        <p:spPr>
          <a:xfrm>
            <a:off x="731520" y="5056632"/>
            <a:ext cx="1645920" cy="512064"/>
          </a:xfrm>
          <a:prstGeom prst="roundRect">
            <a:avLst>
              <a:gd name="adj" fmla="val 8929"/>
            </a:avLst>
          </a:prstGeom>
          <a:solidFill>
            <a:srgbClr val="02C39A"/>
          </a:solidFill>
          <a:ln/>
        </p:spPr>
        <p:txBody>
          <a:bodyPr/>
          <a:p/>
        </p:txBody>
      </p:sp>
      <p:sp>
        <p:nvSpPr>
          <p:cNvPr id="17" name="Text 15"/>
          <p:cNvSpPr txBox="1"/>
          <p:nvPr/>
        </p:nvSpPr>
        <p:spPr>
          <a:xfrm>
            <a:off x="731520" y="5056632"/>
            <a:ext cx="1645920" cy="512064"/>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4</a:t>
            </a:r>
            <a:endParaRPr lang="en-US" sz="1300" dirty="0"/>
          </a:p>
        </p:txBody>
      </p:sp>
      <p:sp>
        <p:nvSpPr>
          <p:cNvPr id="18" name="Text 16"/>
          <p:cNvSpPr txBox="1"/>
          <p:nvPr/>
        </p:nvSpPr>
        <p:spPr>
          <a:xfrm>
            <a:off x="3063240" y="2148840"/>
            <a:ext cx="1828800" cy="502920"/>
          </a:xfrm>
          <a:prstGeom prst="rect">
            <a:avLst/>
          </a:prstGeom>
          <a:noFill/>
          <a:ln/>
        </p:spPr>
        <p:txBody>
          <a:bodyPr wrap="square" lIns="0" tIns="0" rIns="0" bIns="0" rtlCol="0" anchor="b"/>
          <a:lstStyle/>
          <a:p>
            <a:pPr algn="ctr" indent="0" marL="0">
              <a:buNone/>
            </a:pPr>
            <a:r>
              <a:rPr lang="en-US" sz="1200" b="1" dirty="0">
                <a:solidFill>
                  <a:srgbClr val="36454F"/>
                </a:solidFill>
                <a:latin typeface="Calibri" pitchFamily="34" charset="0"/>
                <a:ea typeface="Calibri" pitchFamily="34" charset="-122"/>
                <a:cs typeface="Calibri" pitchFamily="34" charset="-120"/>
              </a:rPr>
              <a:t>page table</a:t>
            </a:r>
            <a:endParaRPr lang="en-US" sz="1200" dirty="0"/>
          </a:p>
        </p:txBody>
      </p:sp>
      <p:sp>
        <p:nvSpPr>
          <p:cNvPr id="19" name="Shape 17"/>
          <p:cNvSpPr/>
          <p:nvPr/>
        </p:nvSpPr>
        <p:spPr>
          <a:xfrm>
            <a:off x="3154680" y="2788920"/>
            <a:ext cx="548640" cy="512064"/>
          </a:xfrm>
          <a:prstGeom prst="roundRect">
            <a:avLst>
              <a:gd name="adj" fmla="val 8929"/>
            </a:avLst>
          </a:prstGeom>
          <a:solidFill>
            <a:srgbClr val="F2F2F2"/>
          </a:solidFill>
          <a:ln/>
        </p:spPr>
        <p:txBody>
          <a:bodyPr/>
          <a:p/>
        </p:txBody>
      </p:sp>
      <p:sp>
        <p:nvSpPr>
          <p:cNvPr id="20" name="Text 18"/>
          <p:cNvSpPr txBox="1"/>
          <p:nvPr/>
        </p:nvSpPr>
        <p:spPr>
          <a:xfrm>
            <a:off x="3154680" y="2788920"/>
            <a:ext cx="548640" cy="51206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21" name="Shape 19"/>
          <p:cNvSpPr/>
          <p:nvPr/>
        </p:nvSpPr>
        <p:spPr>
          <a:xfrm>
            <a:off x="3749040" y="2788920"/>
            <a:ext cx="1005840" cy="512064"/>
          </a:xfrm>
          <a:prstGeom prst="roundRect">
            <a:avLst>
              <a:gd name="adj" fmla="val 8929"/>
            </a:avLst>
          </a:prstGeom>
          <a:solidFill>
            <a:srgbClr val="D7E9E6"/>
          </a:solidFill>
          <a:ln/>
        </p:spPr>
        <p:txBody>
          <a:bodyPr/>
          <a:p/>
        </p:txBody>
      </p:sp>
      <p:sp>
        <p:nvSpPr>
          <p:cNvPr id="22" name="Text 20"/>
          <p:cNvSpPr txBox="1"/>
          <p:nvPr/>
        </p:nvSpPr>
        <p:spPr>
          <a:xfrm>
            <a:off x="3749040" y="2788920"/>
            <a:ext cx="1005840" cy="51206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5</a:t>
            </a:r>
            <a:endParaRPr lang="en-US" sz="1400" dirty="0"/>
          </a:p>
        </p:txBody>
      </p:sp>
      <p:sp>
        <p:nvSpPr>
          <p:cNvPr id="23" name="Shape 21"/>
          <p:cNvSpPr/>
          <p:nvPr/>
        </p:nvSpPr>
        <p:spPr>
          <a:xfrm>
            <a:off x="2212848" y="3044952"/>
            <a:ext cx="923544" cy="91"/>
          </a:xfrm>
          <a:prstGeom prst="line">
            <a:avLst/>
          </a:prstGeom>
          <a:noFill/>
          <a:ln w="15875">
            <a:solidFill>
              <a:srgbClr val="50808E"/>
            </a:solidFill>
            <a:prstDash val="solid"/>
            <a:tailEnd type="triangle"/>
          </a:ln>
        </p:spPr>
        <p:txBody>
          <a:bodyPr/>
          <a:p/>
        </p:txBody>
      </p:sp>
      <p:sp>
        <p:nvSpPr>
          <p:cNvPr id="24" name="Shape 22"/>
          <p:cNvSpPr/>
          <p:nvPr/>
        </p:nvSpPr>
        <p:spPr>
          <a:xfrm>
            <a:off x="3154680" y="3355848"/>
            <a:ext cx="548640" cy="512064"/>
          </a:xfrm>
          <a:prstGeom prst="roundRect">
            <a:avLst>
              <a:gd name="adj" fmla="val 8929"/>
            </a:avLst>
          </a:prstGeom>
          <a:solidFill>
            <a:srgbClr val="F2F2F2"/>
          </a:solidFill>
          <a:ln/>
        </p:spPr>
        <p:txBody>
          <a:bodyPr/>
          <a:p/>
        </p:txBody>
      </p:sp>
      <p:sp>
        <p:nvSpPr>
          <p:cNvPr id="25" name="Text 23"/>
          <p:cNvSpPr txBox="1"/>
          <p:nvPr/>
        </p:nvSpPr>
        <p:spPr>
          <a:xfrm>
            <a:off x="3154680" y="3355848"/>
            <a:ext cx="548640" cy="51206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1</a:t>
            </a:r>
            <a:endParaRPr lang="en-US" sz="1200" dirty="0"/>
          </a:p>
        </p:txBody>
      </p:sp>
      <p:sp>
        <p:nvSpPr>
          <p:cNvPr id="26" name="Shape 24"/>
          <p:cNvSpPr/>
          <p:nvPr/>
        </p:nvSpPr>
        <p:spPr>
          <a:xfrm>
            <a:off x="3749040" y="3355848"/>
            <a:ext cx="1005840" cy="512064"/>
          </a:xfrm>
          <a:prstGeom prst="roundRect">
            <a:avLst>
              <a:gd name="adj" fmla="val 8929"/>
            </a:avLst>
          </a:prstGeom>
          <a:solidFill>
            <a:srgbClr val="D7E9E6"/>
          </a:solidFill>
          <a:ln/>
        </p:spPr>
        <p:txBody>
          <a:bodyPr/>
          <a:p/>
        </p:txBody>
      </p:sp>
      <p:sp>
        <p:nvSpPr>
          <p:cNvPr id="27" name="Text 25"/>
          <p:cNvSpPr txBox="1"/>
          <p:nvPr/>
        </p:nvSpPr>
        <p:spPr>
          <a:xfrm>
            <a:off x="3749040" y="3355848"/>
            <a:ext cx="1005840" cy="51206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9</a:t>
            </a:r>
            <a:endParaRPr lang="en-US" sz="1400" dirty="0"/>
          </a:p>
        </p:txBody>
      </p:sp>
      <p:sp>
        <p:nvSpPr>
          <p:cNvPr id="28" name="Shape 26"/>
          <p:cNvSpPr/>
          <p:nvPr/>
        </p:nvSpPr>
        <p:spPr>
          <a:xfrm>
            <a:off x="2212848" y="3611880"/>
            <a:ext cx="923544" cy="91"/>
          </a:xfrm>
          <a:prstGeom prst="line">
            <a:avLst/>
          </a:prstGeom>
          <a:noFill/>
          <a:ln w="15875">
            <a:solidFill>
              <a:srgbClr val="50808E"/>
            </a:solidFill>
            <a:prstDash val="solid"/>
            <a:tailEnd type="triangle"/>
          </a:ln>
        </p:spPr>
        <p:txBody>
          <a:bodyPr/>
          <a:p/>
        </p:txBody>
      </p:sp>
      <p:sp>
        <p:nvSpPr>
          <p:cNvPr id="29" name="Shape 27"/>
          <p:cNvSpPr/>
          <p:nvPr/>
        </p:nvSpPr>
        <p:spPr>
          <a:xfrm>
            <a:off x="3154680" y="3922776"/>
            <a:ext cx="548640" cy="512064"/>
          </a:xfrm>
          <a:prstGeom prst="roundRect">
            <a:avLst>
              <a:gd name="adj" fmla="val 8929"/>
            </a:avLst>
          </a:prstGeom>
          <a:solidFill>
            <a:srgbClr val="F2F2F2"/>
          </a:solidFill>
          <a:ln/>
        </p:spPr>
        <p:txBody>
          <a:bodyPr/>
          <a:p/>
        </p:txBody>
      </p:sp>
      <p:sp>
        <p:nvSpPr>
          <p:cNvPr id="30" name="Text 28"/>
          <p:cNvSpPr txBox="1"/>
          <p:nvPr/>
        </p:nvSpPr>
        <p:spPr>
          <a:xfrm>
            <a:off x="3154680" y="3922776"/>
            <a:ext cx="548640" cy="51206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2</a:t>
            </a:r>
            <a:endParaRPr lang="en-US" sz="1200" dirty="0"/>
          </a:p>
        </p:txBody>
      </p:sp>
      <p:sp>
        <p:nvSpPr>
          <p:cNvPr id="31" name="Shape 29"/>
          <p:cNvSpPr/>
          <p:nvPr/>
        </p:nvSpPr>
        <p:spPr>
          <a:xfrm>
            <a:off x="3749040" y="3922776"/>
            <a:ext cx="1005840" cy="512064"/>
          </a:xfrm>
          <a:prstGeom prst="roundRect">
            <a:avLst>
              <a:gd name="adj" fmla="val 8929"/>
            </a:avLst>
          </a:prstGeom>
          <a:solidFill>
            <a:srgbClr val="D7E9E6"/>
          </a:solidFill>
          <a:ln/>
        </p:spPr>
        <p:txBody>
          <a:bodyPr/>
          <a:p/>
        </p:txBody>
      </p:sp>
      <p:sp>
        <p:nvSpPr>
          <p:cNvPr id="32" name="Text 30"/>
          <p:cNvSpPr txBox="1"/>
          <p:nvPr/>
        </p:nvSpPr>
        <p:spPr>
          <a:xfrm>
            <a:off x="3749040" y="3922776"/>
            <a:ext cx="1005840" cy="51206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33" name="Shape 31"/>
          <p:cNvSpPr/>
          <p:nvPr/>
        </p:nvSpPr>
        <p:spPr>
          <a:xfrm>
            <a:off x="2212848" y="4178808"/>
            <a:ext cx="923544" cy="91"/>
          </a:xfrm>
          <a:prstGeom prst="line">
            <a:avLst/>
          </a:prstGeom>
          <a:noFill/>
          <a:ln w="15875">
            <a:solidFill>
              <a:srgbClr val="50808E"/>
            </a:solidFill>
            <a:prstDash val="solid"/>
            <a:tailEnd type="triangle"/>
          </a:ln>
        </p:spPr>
        <p:txBody>
          <a:bodyPr/>
          <a:p/>
        </p:txBody>
      </p:sp>
      <p:sp>
        <p:nvSpPr>
          <p:cNvPr id="34" name="Shape 32"/>
          <p:cNvSpPr/>
          <p:nvPr/>
        </p:nvSpPr>
        <p:spPr>
          <a:xfrm>
            <a:off x="3154680" y="4489704"/>
            <a:ext cx="548640" cy="512064"/>
          </a:xfrm>
          <a:prstGeom prst="roundRect">
            <a:avLst>
              <a:gd name="adj" fmla="val 8929"/>
            </a:avLst>
          </a:prstGeom>
          <a:solidFill>
            <a:srgbClr val="F2F2F2"/>
          </a:solidFill>
          <a:ln/>
        </p:spPr>
        <p:txBody>
          <a:bodyPr/>
          <a:p/>
        </p:txBody>
      </p:sp>
      <p:sp>
        <p:nvSpPr>
          <p:cNvPr id="35" name="Text 33"/>
          <p:cNvSpPr txBox="1"/>
          <p:nvPr/>
        </p:nvSpPr>
        <p:spPr>
          <a:xfrm>
            <a:off x="3154680" y="4489704"/>
            <a:ext cx="548640" cy="51206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3</a:t>
            </a:r>
            <a:endParaRPr lang="en-US" sz="1200" dirty="0"/>
          </a:p>
        </p:txBody>
      </p:sp>
      <p:sp>
        <p:nvSpPr>
          <p:cNvPr id="36" name="Shape 34"/>
          <p:cNvSpPr/>
          <p:nvPr/>
        </p:nvSpPr>
        <p:spPr>
          <a:xfrm>
            <a:off x="3749040" y="4489704"/>
            <a:ext cx="1005840" cy="512064"/>
          </a:xfrm>
          <a:prstGeom prst="roundRect">
            <a:avLst>
              <a:gd name="adj" fmla="val 8929"/>
            </a:avLst>
          </a:prstGeom>
          <a:solidFill>
            <a:srgbClr val="D7E9E6"/>
          </a:solidFill>
          <a:ln/>
        </p:spPr>
        <p:txBody>
          <a:bodyPr/>
          <a:p/>
        </p:txBody>
      </p:sp>
      <p:sp>
        <p:nvSpPr>
          <p:cNvPr id="37" name="Text 35"/>
          <p:cNvSpPr txBox="1"/>
          <p:nvPr/>
        </p:nvSpPr>
        <p:spPr>
          <a:xfrm>
            <a:off x="3749040" y="4489704"/>
            <a:ext cx="1005840" cy="51206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38" name="Shape 36"/>
          <p:cNvSpPr/>
          <p:nvPr/>
        </p:nvSpPr>
        <p:spPr>
          <a:xfrm>
            <a:off x="2212848" y="4745736"/>
            <a:ext cx="923544" cy="91"/>
          </a:xfrm>
          <a:prstGeom prst="line">
            <a:avLst/>
          </a:prstGeom>
          <a:noFill/>
          <a:ln w="15875">
            <a:solidFill>
              <a:srgbClr val="50808E"/>
            </a:solidFill>
            <a:prstDash val="solid"/>
            <a:tailEnd type="triangle"/>
          </a:ln>
        </p:spPr>
        <p:txBody>
          <a:bodyPr/>
          <a:p/>
        </p:txBody>
      </p:sp>
      <p:sp>
        <p:nvSpPr>
          <p:cNvPr id="39" name="Shape 37"/>
          <p:cNvSpPr/>
          <p:nvPr/>
        </p:nvSpPr>
        <p:spPr>
          <a:xfrm>
            <a:off x="3154680" y="5056632"/>
            <a:ext cx="548640" cy="512064"/>
          </a:xfrm>
          <a:prstGeom prst="roundRect">
            <a:avLst>
              <a:gd name="adj" fmla="val 8929"/>
            </a:avLst>
          </a:prstGeom>
          <a:solidFill>
            <a:srgbClr val="F2F2F2"/>
          </a:solidFill>
          <a:ln/>
        </p:spPr>
        <p:txBody>
          <a:bodyPr/>
          <a:p/>
        </p:txBody>
      </p:sp>
      <p:sp>
        <p:nvSpPr>
          <p:cNvPr id="40" name="Text 38"/>
          <p:cNvSpPr txBox="1"/>
          <p:nvPr/>
        </p:nvSpPr>
        <p:spPr>
          <a:xfrm>
            <a:off x="3154680" y="5056632"/>
            <a:ext cx="548640" cy="51206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4</a:t>
            </a:r>
            <a:endParaRPr lang="en-US" sz="1200" dirty="0"/>
          </a:p>
        </p:txBody>
      </p:sp>
      <p:sp>
        <p:nvSpPr>
          <p:cNvPr id="41" name="Shape 39"/>
          <p:cNvSpPr/>
          <p:nvPr/>
        </p:nvSpPr>
        <p:spPr>
          <a:xfrm>
            <a:off x="3749040" y="5056632"/>
            <a:ext cx="1005840" cy="512064"/>
          </a:xfrm>
          <a:prstGeom prst="roundRect">
            <a:avLst>
              <a:gd name="adj" fmla="val 8929"/>
            </a:avLst>
          </a:prstGeom>
          <a:solidFill>
            <a:srgbClr val="D7E9E6"/>
          </a:solidFill>
          <a:ln/>
        </p:spPr>
        <p:txBody>
          <a:bodyPr/>
          <a:p/>
        </p:txBody>
      </p:sp>
      <p:sp>
        <p:nvSpPr>
          <p:cNvPr id="42" name="Text 40"/>
          <p:cNvSpPr txBox="1"/>
          <p:nvPr/>
        </p:nvSpPr>
        <p:spPr>
          <a:xfrm>
            <a:off x="3749040" y="5056632"/>
            <a:ext cx="1005840" cy="51206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12</a:t>
            </a:r>
            <a:endParaRPr lang="en-US" sz="1400" dirty="0"/>
          </a:p>
        </p:txBody>
      </p:sp>
      <p:sp>
        <p:nvSpPr>
          <p:cNvPr id="43" name="Shape 41"/>
          <p:cNvSpPr/>
          <p:nvPr/>
        </p:nvSpPr>
        <p:spPr>
          <a:xfrm>
            <a:off x="2212848" y="5312664"/>
            <a:ext cx="923544" cy="91"/>
          </a:xfrm>
          <a:prstGeom prst="line">
            <a:avLst/>
          </a:prstGeom>
          <a:noFill/>
          <a:ln w="15875">
            <a:solidFill>
              <a:srgbClr val="50808E"/>
            </a:solidFill>
            <a:prstDash val="solid"/>
            <a:tailEnd type="triangle"/>
          </a:ln>
        </p:spPr>
        <p:txBody>
          <a:bodyPr/>
          <a:p/>
        </p:txBody>
      </p:sp>
      <p:sp>
        <p:nvSpPr>
          <p:cNvPr id="44" name="Text 42"/>
          <p:cNvSpPr txBox="1"/>
          <p:nvPr/>
        </p:nvSpPr>
        <p:spPr>
          <a:xfrm>
            <a:off x="3154680" y="5669280"/>
            <a:ext cx="1737360" cy="274320"/>
          </a:xfrm>
          <a:prstGeom prst="rect">
            <a:avLst/>
          </a:prstGeom>
          <a:noFill/>
          <a:ln/>
        </p:spPr>
        <p:txBody>
          <a:bodyPr wrap="square" lIns="0" tIns="0" rIns="0" bIns="0" rtlCol="0" anchor="t"/>
          <a:lstStyle/>
          <a:p>
            <a:pPr indent="0" marL="0">
              <a:buNone/>
            </a:pPr>
            <a:r>
              <a:rPr lang="en-US" sz="1050" i="1" dirty="0">
                <a:solidFill>
                  <a:srgbClr val="6B7679"/>
                </a:solidFill>
                <a:latin typeface="Calibri" pitchFamily="34" charset="0"/>
                <a:ea typeface="Calibri" pitchFamily="34" charset="-122"/>
                <a:cs typeface="Calibri" pitchFamily="34" charset="-120"/>
              </a:rPr>
              <a:t>page   frame</a:t>
            </a:r>
            <a:endParaRPr lang="en-US" sz="1050" dirty="0"/>
          </a:p>
        </p:txBody>
      </p:sp>
      <p:sp>
        <p:nvSpPr>
          <p:cNvPr id="45" name="Text 43"/>
          <p:cNvSpPr txBox="1"/>
          <p:nvPr/>
        </p:nvSpPr>
        <p:spPr>
          <a:xfrm>
            <a:off x="5394960" y="2011680"/>
            <a:ext cx="237744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physical memory (16 frames)</a:t>
            </a:r>
            <a:endParaRPr lang="en-US" sz="1200" dirty="0"/>
          </a:p>
        </p:txBody>
      </p:sp>
      <p:sp>
        <p:nvSpPr>
          <p:cNvPr id="46" name="Shape 44"/>
          <p:cNvSpPr/>
          <p:nvPr/>
        </p:nvSpPr>
        <p:spPr>
          <a:xfrm>
            <a:off x="5897880" y="2331720"/>
            <a:ext cx="1828800" cy="245059"/>
          </a:xfrm>
          <a:prstGeom prst="rect">
            <a:avLst/>
          </a:prstGeom>
          <a:solidFill>
            <a:srgbClr val="C9D3D6"/>
          </a:solidFill>
          <a:ln w="6350">
            <a:solidFill>
              <a:srgbClr val="AAB4B8"/>
            </a:solidFill>
            <a:prstDash val="solid"/>
          </a:ln>
        </p:spPr>
        <p:txBody>
          <a:bodyPr/>
          <a:p/>
        </p:txBody>
      </p:sp>
      <p:sp>
        <p:nvSpPr>
          <p:cNvPr id="47" name="Text 45"/>
          <p:cNvSpPr txBox="1"/>
          <p:nvPr/>
        </p:nvSpPr>
        <p:spPr>
          <a:xfrm>
            <a:off x="5897880" y="2331720"/>
            <a:ext cx="1828800" cy="245059"/>
          </a:xfrm>
          <a:prstGeom prst="rect">
            <a:avLst/>
          </a:prstGeom>
          <a:noFill/>
          <a:ln/>
        </p:spPr>
        <p:txBody>
          <a:bodyPr wrap="square" lIns="0" tIns="0" rIns="0" bIns="0" rtlCol="0" anchor="ctr"/>
          <a:lstStyle/>
          <a:p>
            <a:pPr algn="ctr" indent="0" marL="0">
              <a:buNone/>
            </a:pPr>
            <a:r>
              <a:rPr lang="en-US" sz="1000" dirty="0">
                <a:solidFill>
                  <a:srgbClr val="212121"/>
                </a:solidFill>
                <a:latin typeface="Calibri" pitchFamily="34" charset="0"/>
                <a:ea typeface="Calibri" pitchFamily="34" charset="-122"/>
                <a:cs typeface="Calibri" pitchFamily="34" charset="-120"/>
              </a:rPr>
              <a:t>other</a:t>
            </a:r>
            <a:endParaRPr lang="en-US" sz="1000" dirty="0"/>
          </a:p>
        </p:txBody>
      </p:sp>
      <p:sp>
        <p:nvSpPr>
          <p:cNvPr id="48" name="Text 46"/>
          <p:cNvSpPr txBox="1"/>
          <p:nvPr/>
        </p:nvSpPr>
        <p:spPr>
          <a:xfrm>
            <a:off x="5440680" y="2331720"/>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5897880" y="2576779"/>
            <a:ext cx="1828800" cy="245059"/>
          </a:xfrm>
          <a:prstGeom prst="rect">
            <a:avLst/>
          </a:prstGeom>
          <a:solidFill>
            <a:srgbClr val="02C39A"/>
          </a:solidFill>
          <a:ln w="6350">
            <a:solidFill>
              <a:srgbClr val="AAB4B8"/>
            </a:solidFill>
            <a:prstDash val="solid"/>
          </a:ln>
        </p:spPr>
        <p:txBody>
          <a:bodyPr/>
          <a:p/>
        </p:txBody>
      </p:sp>
      <p:sp>
        <p:nvSpPr>
          <p:cNvPr id="50" name="Text 48"/>
          <p:cNvSpPr txBox="1"/>
          <p:nvPr/>
        </p:nvSpPr>
        <p:spPr>
          <a:xfrm>
            <a:off x="5897880" y="2576779"/>
            <a:ext cx="1828800" cy="245059"/>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page 2</a:t>
            </a:r>
            <a:endParaRPr lang="en-US" sz="1000" dirty="0"/>
          </a:p>
        </p:txBody>
      </p:sp>
      <p:sp>
        <p:nvSpPr>
          <p:cNvPr id="51" name="Text 49"/>
          <p:cNvSpPr txBox="1"/>
          <p:nvPr/>
        </p:nvSpPr>
        <p:spPr>
          <a:xfrm>
            <a:off x="5440680" y="2576779"/>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a:t>
            </a:r>
            <a:endParaRPr lang="en-US" sz="1000" dirty="0"/>
          </a:p>
        </p:txBody>
      </p:sp>
      <p:sp>
        <p:nvSpPr>
          <p:cNvPr id="52" name="Shape 50"/>
          <p:cNvSpPr/>
          <p:nvPr/>
        </p:nvSpPr>
        <p:spPr>
          <a:xfrm>
            <a:off x="5897880" y="2821838"/>
            <a:ext cx="1828800" cy="245059"/>
          </a:xfrm>
          <a:prstGeom prst="rect">
            <a:avLst/>
          </a:prstGeom>
          <a:solidFill>
            <a:srgbClr val="FFFFFF"/>
          </a:solidFill>
          <a:ln w="6350">
            <a:solidFill>
              <a:srgbClr val="AAB4B8"/>
            </a:solidFill>
            <a:prstDash val="solid"/>
          </a:ln>
        </p:spPr>
        <p:txBody>
          <a:bodyPr/>
          <a:p/>
        </p:txBody>
      </p:sp>
      <p:sp>
        <p:nvSpPr>
          <p:cNvPr id="53" name="Text 51"/>
          <p:cNvSpPr txBox="1"/>
          <p:nvPr/>
        </p:nvSpPr>
        <p:spPr>
          <a:xfrm>
            <a:off x="5897880" y="2821838"/>
            <a:ext cx="1828800" cy="245059"/>
          </a:xfrm>
          <a:prstGeom prst="rect">
            <a:avLst/>
          </a:prstGeom>
          <a:noFill/>
          <a:ln/>
        </p:spPr>
        <p:txBody>
          <a:bodyPr wrap="square" lIns="0" tIns="0" rIns="0" bIns="0" rtlCol="0" anchor="ctr"/>
          <a:lstStyle/>
          <a:p>
            <a:pPr algn="ctr" indent="0" marL="0">
              <a:buNone/>
            </a:pPr>
            <a:endParaRPr lang="en-US" sz="1000" dirty="0"/>
          </a:p>
        </p:txBody>
      </p:sp>
      <p:sp>
        <p:nvSpPr>
          <p:cNvPr id="54" name="Text 52"/>
          <p:cNvSpPr txBox="1"/>
          <p:nvPr/>
        </p:nvSpPr>
        <p:spPr>
          <a:xfrm>
            <a:off x="5440680" y="2821838"/>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2</a:t>
            </a:r>
            <a:endParaRPr lang="en-US" sz="1000" dirty="0"/>
          </a:p>
        </p:txBody>
      </p:sp>
      <p:sp>
        <p:nvSpPr>
          <p:cNvPr id="55" name="Shape 53"/>
          <p:cNvSpPr/>
          <p:nvPr/>
        </p:nvSpPr>
        <p:spPr>
          <a:xfrm>
            <a:off x="5897880" y="3066898"/>
            <a:ext cx="1828800" cy="245059"/>
          </a:xfrm>
          <a:prstGeom prst="rect">
            <a:avLst/>
          </a:prstGeom>
          <a:solidFill>
            <a:srgbClr val="C9D3D6"/>
          </a:solidFill>
          <a:ln w="6350">
            <a:solidFill>
              <a:srgbClr val="AAB4B8"/>
            </a:solidFill>
            <a:prstDash val="solid"/>
          </a:ln>
        </p:spPr>
        <p:txBody>
          <a:bodyPr/>
          <a:p/>
        </p:txBody>
      </p:sp>
      <p:sp>
        <p:nvSpPr>
          <p:cNvPr id="56" name="Text 54"/>
          <p:cNvSpPr txBox="1"/>
          <p:nvPr/>
        </p:nvSpPr>
        <p:spPr>
          <a:xfrm>
            <a:off x="5897880" y="3066898"/>
            <a:ext cx="1828800" cy="245059"/>
          </a:xfrm>
          <a:prstGeom prst="rect">
            <a:avLst/>
          </a:prstGeom>
          <a:noFill/>
          <a:ln/>
        </p:spPr>
        <p:txBody>
          <a:bodyPr wrap="square" lIns="0" tIns="0" rIns="0" bIns="0" rtlCol="0" anchor="ctr"/>
          <a:lstStyle/>
          <a:p>
            <a:pPr algn="ctr" indent="0" marL="0">
              <a:buNone/>
            </a:pPr>
            <a:r>
              <a:rPr lang="en-US" sz="1000" dirty="0">
                <a:solidFill>
                  <a:srgbClr val="212121"/>
                </a:solidFill>
                <a:latin typeface="Calibri" pitchFamily="34" charset="0"/>
                <a:ea typeface="Calibri" pitchFamily="34" charset="-122"/>
                <a:cs typeface="Calibri" pitchFamily="34" charset="-120"/>
              </a:rPr>
              <a:t>other</a:t>
            </a:r>
            <a:endParaRPr lang="en-US" sz="1000" dirty="0"/>
          </a:p>
        </p:txBody>
      </p:sp>
      <p:sp>
        <p:nvSpPr>
          <p:cNvPr id="57" name="Text 55"/>
          <p:cNvSpPr txBox="1"/>
          <p:nvPr/>
        </p:nvSpPr>
        <p:spPr>
          <a:xfrm>
            <a:off x="5440680" y="3066898"/>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3</a:t>
            </a:r>
            <a:endParaRPr lang="en-US" sz="1000" dirty="0"/>
          </a:p>
        </p:txBody>
      </p:sp>
      <p:sp>
        <p:nvSpPr>
          <p:cNvPr id="58" name="Shape 56"/>
          <p:cNvSpPr/>
          <p:nvPr/>
        </p:nvSpPr>
        <p:spPr>
          <a:xfrm>
            <a:off x="5897880" y="3311957"/>
            <a:ext cx="1828800" cy="245059"/>
          </a:xfrm>
          <a:prstGeom prst="rect">
            <a:avLst/>
          </a:prstGeom>
          <a:solidFill>
            <a:srgbClr val="FFFFFF"/>
          </a:solidFill>
          <a:ln w="6350">
            <a:solidFill>
              <a:srgbClr val="AAB4B8"/>
            </a:solidFill>
            <a:prstDash val="solid"/>
          </a:ln>
        </p:spPr>
        <p:txBody>
          <a:bodyPr/>
          <a:p/>
        </p:txBody>
      </p:sp>
      <p:sp>
        <p:nvSpPr>
          <p:cNvPr id="59" name="Text 57"/>
          <p:cNvSpPr txBox="1"/>
          <p:nvPr/>
        </p:nvSpPr>
        <p:spPr>
          <a:xfrm>
            <a:off x="5897880" y="3311957"/>
            <a:ext cx="1828800" cy="245059"/>
          </a:xfrm>
          <a:prstGeom prst="rect">
            <a:avLst/>
          </a:prstGeom>
          <a:noFill/>
          <a:ln/>
        </p:spPr>
        <p:txBody>
          <a:bodyPr wrap="square" lIns="0" tIns="0" rIns="0" bIns="0" rtlCol="0" anchor="ctr"/>
          <a:lstStyle/>
          <a:p>
            <a:pPr algn="ctr" indent="0" marL="0">
              <a:buNone/>
            </a:pPr>
            <a:endParaRPr lang="en-US" sz="1000" dirty="0"/>
          </a:p>
        </p:txBody>
      </p:sp>
      <p:sp>
        <p:nvSpPr>
          <p:cNvPr id="60" name="Text 58"/>
          <p:cNvSpPr txBox="1"/>
          <p:nvPr/>
        </p:nvSpPr>
        <p:spPr>
          <a:xfrm>
            <a:off x="5440680" y="3311957"/>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4</a:t>
            </a:r>
            <a:endParaRPr lang="en-US" sz="1000" dirty="0"/>
          </a:p>
        </p:txBody>
      </p:sp>
      <p:sp>
        <p:nvSpPr>
          <p:cNvPr id="61" name="Shape 59"/>
          <p:cNvSpPr/>
          <p:nvPr/>
        </p:nvSpPr>
        <p:spPr>
          <a:xfrm>
            <a:off x="5897880" y="3557016"/>
            <a:ext cx="1828800" cy="245059"/>
          </a:xfrm>
          <a:prstGeom prst="rect">
            <a:avLst/>
          </a:prstGeom>
          <a:solidFill>
            <a:srgbClr val="02C39A"/>
          </a:solidFill>
          <a:ln w="6350">
            <a:solidFill>
              <a:srgbClr val="AAB4B8"/>
            </a:solidFill>
            <a:prstDash val="solid"/>
          </a:ln>
        </p:spPr>
        <p:txBody>
          <a:bodyPr/>
          <a:p/>
        </p:txBody>
      </p:sp>
      <p:sp>
        <p:nvSpPr>
          <p:cNvPr id="62" name="Text 60"/>
          <p:cNvSpPr txBox="1"/>
          <p:nvPr/>
        </p:nvSpPr>
        <p:spPr>
          <a:xfrm>
            <a:off x="5897880" y="3557016"/>
            <a:ext cx="1828800" cy="245059"/>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page 0</a:t>
            </a:r>
            <a:endParaRPr lang="en-US" sz="1000" dirty="0"/>
          </a:p>
        </p:txBody>
      </p:sp>
      <p:sp>
        <p:nvSpPr>
          <p:cNvPr id="63" name="Text 61"/>
          <p:cNvSpPr txBox="1"/>
          <p:nvPr/>
        </p:nvSpPr>
        <p:spPr>
          <a:xfrm>
            <a:off x="5440680" y="3557016"/>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5</a:t>
            </a:r>
            <a:endParaRPr lang="en-US" sz="1000" dirty="0"/>
          </a:p>
        </p:txBody>
      </p:sp>
      <p:sp>
        <p:nvSpPr>
          <p:cNvPr id="64" name="Shape 62"/>
          <p:cNvSpPr/>
          <p:nvPr/>
        </p:nvSpPr>
        <p:spPr>
          <a:xfrm>
            <a:off x="5897880" y="3802075"/>
            <a:ext cx="1828800" cy="245059"/>
          </a:xfrm>
          <a:prstGeom prst="rect">
            <a:avLst/>
          </a:prstGeom>
          <a:solidFill>
            <a:srgbClr val="C9D3D6"/>
          </a:solidFill>
          <a:ln w="6350">
            <a:solidFill>
              <a:srgbClr val="AAB4B8"/>
            </a:solidFill>
            <a:prstDash val="solid"/>
          </a:ln>
        </p:spPr>
        <p:txBody>
          <a:bodyPr/>
          <a:p/>
        </p:txBody>
      </p:sp>
      <p:sp>
        <p:nvSpPr>
          <p:cNvPr id="65" name="Text 63"/>
          <p:cNvSpPr txBox="1"/>
          <p:nvPr/>
        </p:nvSpPr>
        <p:spPr>
          <a:xfrm>
            <a:off x="5897880" y="3802075"/>
            <a:ext cx="1828800" cy="245059"/>
          </a:xfrm>
          <a:prstGeom prst="rect">
            <a:avLst/>
          </a:prstGeom>
          <a:noFill/>
          <a:ln/>
        </p:spPr>
        <p:txBody>
          <a:bodyPr wrap="square" lIns="0" tIns="0" rIns="0" bIns="0" rtlCol="0" anchor="ctr"/>
          <a:lstStyle/>
          <a:p>
            <a:pPr algn="ctr" indent="0" marL="0">
              <a:buNone/>
            </a:pPr>
            <a:r>
              <a:rPr lang="en-US" sz="1000" dirty="0">
                <a:solidFill>
                  <a:srgbClr val="212121"/>
                </a:solidFill>
                <a:latin typeface="Calibri" pitchFamily="34" charset="0"/>
                <a:ea typeface="Calibri" pitchFamily="34" charset="-122"/>
                <a:cs typeface="Calibri" pitchFamily="34" charset="-120"/>
              </a:rPr>
              <a:t>other</a:t>
            </a:r>
            <a:endParaRPr lang="en-US" sz="1000" dirty="0"/>
          </a:p>
        </p:txBody>
      </p:sp>
      <p:sp>
        <p:nvSpPr>
          <p:cNvPr id="66" name="Text 64"/>
          <p:cNvSpPr txBox="1"/>
          <p:nvPr/>
        </p:nvSpPr>
        <p:spPr>
          <a:xfrm>
            <a:off x="5440680" y="3802075"/>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6</a:t>
            </a:r>
            <a:endParaRPr lang="en-US" sz="1000" dirty="0"/>
          </a:p>
        </p:txBody>
      </p:sp>
      <p:sp>
        <p:nvSpPr>
          <p:cNvPr id="67" name="Shape 65"/>
          <p:cNvSpPr/>
          <p:nvPr/>
        </p:nvSpPr>
        <p:spPr>
          <a:xfrm>
            <a:off x="5897880" y="4047134"/>
            <a:ext cx="1828800" cy="245059"/>
          </a:xfrm>
          <a:prstGeom prst="rect">
            <a:avLst/>
          </a:prstGeom>
          <a:solidFill>
            <a:srgbClr val="02C39A"/>
          </a:solidFill>
          <a:ln w="6350">
            <a:solidFill>
              <a:srgbClr val="AAB4B8"/>
            </a:solidFill>
            <a:prstDash val="solid"/>
          </a:ln>
        </p:spPr>
        <p:txBody>
          <a:bodyPr/>
          <a:p/>
        </p:txBody>
      </p:sp>
      <p:sp>
        <p:nvSpPr>
          <p:cNvPr id="68" name="Text 66"/>
          <p:cNvSpPr txBox="1"/>
          <p:nvPr/>
        </p:nvSpPr>
        <p:spPr>
          <a:xfrm>
            <a:off x="5897880" y="4047134"/>
            <a:ext cx="1828800" cy="245059"/>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page 3</a:t>
            </a:r>
            <a:endParaRPr lang="en-US" sz="1000" dirty="0"/>
          </a:p>
        </p:txBody>
      </p:sp>
      <p:sp>
        <p:nvSpPr>
          <p:cNvPr id="69" name="Text 67"/>
          <p:cNvSpPr txBox="1"/>
          <p:nvPr/>
        </p:nvSpPr>
        <p:spPr>
          <a:xfrm>
            <a:off x="5440680" y="4047134"/>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7</a:t>
            </a:r>
            <a:endParaRPr lang="en-US" sz="1000" dirty="0"/>
          </a:p>
        </p:txBody>
      </p:sp>
      <p:sp>
        <p:nvSpPr>
          <p:cNvPr id="70" name="Shape 68"/>
          <p:cNvSpPr/>
          <p:nvPr/>
        </p:nvSpPr>
        <p:spPr>
          <a:xfrm>
            <a:off x="5897880" y="4292194"/>
            <a:ext cx="1828800" cy="245059"/>
          </a:xfrm>
          <a:prstGeom prst="rect">
            <a:avLst/>
          </a:prstGeom>
          <a:solidFill>
            <a:srgbClr val="FFFFFF"/>
          </a:solidFill>
          <a:ln w="6350">
            <a:solidFill>
              <a:srgbClr val="AAB4B8"/>
            </a:solidFill>
            <a:prstDash val="solid"/>
          </a:ln>
        </p:spPr>
        <p:txBody>
          <a:bodyPr/>
          <a:p/>
        </p:txBody>
      </p:sp>
      <p:sp>
        <p:nvSpPr>
          <p:cNvPr id="71" name="Text 69"/>
          <p:cNvSpPr txBox="1"/>
          <p:nvPr/>
        </p:nvSpPr>
        <p:spPr>
          <a:xfrm>
            <a:off x="5897880" y="4292194"/>
            <a:ext cx="1828800" cy="245059"/>
          </a:xfrm>
          <a:prstGeom prst="rect">
            <a:avLst/>
          </a:prstGeom>
          <a:noFill/>
          <a:ln/>
        </p:spPr>
        <p:txBody>
          <a:bodyPr wrap="square" lIns="0" tIns="0" rIns="0" bIns="0" rtlCol="0" anchor="ctr"/>
          <a:lstStyle/>
          <a:p>
            <a:pPr algn="ctr" indent="0" marL="0">
              <a:buNone/>
            </a:pPr>
            <a:endParaRPr lang="en-US" sz="1000" dirty="0"/>
          </a:p>
        </p:txBody>
      </p:sp>
      <p:sp>
        <p:nvSpPr>
          <p:cNvPr id="72" name="Text 70"/>
          <p:cNvSpPr txBox="1"/>
          <p:nvPr/>
        </p:nvSpPr>
        <p:spPr>
          <a:xfrm>
            <a:off x="5440680" y="4292194"/>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8</a:t>
            </a:r>
            <a:endParaRPr lang="en-US" sz="1000" dirty="0"/>
          </a:p>
        </p:txBody>
      </p:sp>
      <p:sp>
        <p:nvSpPr>
          <p:cNvPr id="73" name="Shape 71"/>
          <p:cNvSpPr/>
          <p:nvPr/>
        </p:nvSpPr>
        <p:spPr>
          <a:xfrm>
            <a:off x="5897880" y="4537253"/>
            <a:ext cx="1828800" cy="245059"/>
          </a:xfrm>
          <a:prstGeom prst="rect">
            <a:avLst/>
          </a:prstGeom>
          <a:solidFill>
            <a:srgbClr val="02C39A"/>
          </a:solidFill>
          <a:ln w="6350">
            <a:solidFill>
              <a:srgbClr val="AAB4B8"/>
            </a:solidFill>
            <a:prstDash val="solid"/>
          </a:ln>
        </p:spPr>
        <p:txBody>
          <a:bodyPr/>
          <a:p/>
        </p:txBody>
      </p:sp>
      <p:sp>
        <p:nvSpPr>
          <p:cNvPr id="74" name="Text 72"/>
          <p:cNvSpPr txBox="1"/>
          <p:nvPr/>
        </p:nvSpPr>
        <p:spPr>
          <a:xfrm>
            <a:off x="5897880" y="4537253"/>
            <a:ext cx="1828800" cy="245059"/>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page 1</a:t>
            </a:r>
            <a:endParaRPr lang="en-US" sz="1000" dirty="0"/>
          </a:p>
        </p:txBody>
      </p:sp>
      <p:sp>
        <p:nvSpPr>
          <p:cNvPr id="75" name="Text 73"/>
          <p:cNvSpPr txBox="1"/>
          <p:nvPr/>
        </p:nvSpPr>
        <p:spPr>
          <a:xfrm>
            <a:off x="5440680" y="4537253"/>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9</a:t>
            </a:r>
            <a:endParaRPr lang="en-US" sz="1000" dirty="0"/>
          </a:p>
        </p:txBody>
      </p:sp>
      <p:sp>
        <p:nvSpPr>
          <p:cNvPr id="76" name="Shape 74"/>
          <p:cNvSpPr/>
          <p:nvPr/>
        </p:nvSpPr>
        <p:spPr>
          <a:xfrm>
            <a:off x="5897880" y="4782312"/>
            <a:ext cx="1828800" cy="245059"/>
          </a:xfrm>
          <a:prstGeom prst="rect">
            <a:avLst/>
          </a:prstGeom>
          <a:solidFill>
            <a:srgbClr val="FFFFFF"/>
          </a:solidFill>
          <a:ln w="6350">
            <a:solidFill>
              <a:srgbClr val="AAB4B8"/>
            </a:solidFill>
            <a:prstDash val="solid"/>
          </a:ln>
        </p:spPr>
        <p:txBody>
          <a:bodyPr/>
          <a:p/>
        </p:txBody>
      </p:sp>
      <p:sp>
        <p:nvSpPr>
          <p:cNvPr id="77" name="Text 75"/>
          <p:cNvSpPr txBox="1"/>
          <p:nvPr/>
        </p:nvSpPr>
        <p:spPr>
          <a:xfrm>
            <a:off x="5897880" y="4782312"/>
            <a:ext cx="1828800" cy="245059"/>
          </a:xfrm>
          <a:prstGeom prst="rect">
            <a:avLst/>
          </a:prstGeom>
          <a:noFill/>
          <a:ln/>
        </p:spPr>
        <p:txBody>
          <a:bodyPr wrap="square" lIns="0" tIns="0" rIns="0" bIns="0" rtlCol="0" anchor="ctr"/>
          <a:lstStyle/>
          <a:p>
            <a:pPr algn="ctr" indent="0" marL="0">
              <a:buNone/>
            </a:pPr>
            <a:endParaRPr lang="en-US" sz="1000" dirty="0"/>
          </a:p>
        </p:txBody>
      </p:sp>
      <p:sp>
        <p:nvSpPr>
          <p:cNvPr id="78" name="Text 76"/>
          <p:cNvSpPr txBox="1"/>
          <p:nvPr/>
        </p:nvSpPr>
        <p:spPr>
          <a:xfrm>
            <a:off x="5440680" y="4782312"/>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10</a:t>
            </a:r>
            <a:endParaRPr lang="en-US" sz="1000" dirty="0"/>
          </a:p>
        </p:txBody>
      </p:sp>
      <p:sp>
        <p:nvSpPr>
          <p:cNvPr id="79" name="Shape 77"/>
          <p:cNvSpPr/>
          <p:nvPr/>
        </p:nvSpPr>
        <p:spPr>
          <a:xfrm>
            <a:off x="5897880" y="5027371"/>
            <a:ext cx="1828800" cy="245059"/>
          </a:xfrm>
          <a:prstGeom prst="rect">
            <a:avLst/>
          </a:prstGeom>
          <a:solidFill>
            <a:srgbClr val="FFFFFF"/>
          </a:solidFill>
          <a:ln w="6350">
            <a:solidFill>
              <a:srgbClr val="AAB4B8"/>
            </a:solidFill>
            <a:prstDash val="solid"/>
          </a:ln>
        </p:spPr>
        <p:txBody>
          <a:bodyPr/>
          <a:p/>
        </p:txBody>
      </p:sp>
      <p:sp>
        <p:nvSpPr>
          <p:cNvPr id="80" name="Text 78"/>
          <p:cNvSpPr txBox="1"/>
          <p:nvPr/>
        </p:nvSpPr>
        <p:spPr>
          <a:xfrm>
            <a:off x="5897880" y="5027371"/>
            <a:ext cx="1828800" cy="245059"/>
          </a:xfrm>
          <a:prstGeom prst="rect">
            <a:avLst/>
          </a:prstGeom>
          <a:noFill/>
          <a:ln/>
        </p:spPr>
        <p:txBody>
          <a:bodyPr wrap="square" lIns="0" tIns="0" rIns="0" bIns="0" rtlCol="0" anchor="ctr"/>
          <a:lstStyle/>
          <a:p>
            <a:pPr algn="ctr" indent="0" marL="0">
              <a:buNone/>
            </a:pPr>
            <a:endParaRPr lang="en-US" sz="1000" dirty="0"/>
          </a:p>
        </p:txBody>
      </p:sp>
      <p:sp>
        <p:nvSpPr>
          <p:cNvPr id="81" name="Text 79"/>
          <p:cNvSpPr txBox="1"/>
          <p:nvPr/>
        </p:nvSpPr>
        <p:spPr>
          <a:xfrm>
            <a:off x="5440680" y="5027371"/>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11</a:t>
            </a:r>
            <a:endParaRPr lang="en-US" sz="1000" dirty="0"/>
          </a:p>
        </p:txBody>
      </p:sp>
      <p:sp>
        <p:nvSpPr>
          <p:cNvPr id="82" name="Shape 80"/>
          <p:cNvSpPr/>
          <p:nvPr/>
        </p:nvSpPr>
        <p:spPr>
          <a:xfrm>
            <a:off x="5897880" y="5272430"/>
            <a:ext cx="1828800" cy="245059"/>
          </a:xfrm>
          <a:prstGeom prst="rect">
            <a:avLst/>
          </a:prstGeom>
          <a:solidFill>
            <a:srgbClr val="02C39A"/>
          </a:solidFill>
          <a:ln w="6350">
            <a:solidFill>
              <a:srgbClr val="AAB4B8"/>
            </a:solidFill>
            <a:prstDash val="solid"/>
          </a:ln>
        </p:spPr>
        <p:txBody>
          <a:bodyPr/>
          <a:p/>
        </p:txBody>
      </p:sp>
      <p:sp>
        <p:nvSpPr>
          <p:cNvPr id="83" name="Text 81"/>
          <p:cNvSpPr txBox="1"/>
          <p:nvPr/>
        </p:nvSpPr>
        <p:spPr>
          <a:xfrm>
            <a:off x="5897880" y="5272430"/>
            <a:ext cx="1828800" cy="245059"/>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page 4</a:t>
            </a:r>
            <a:endParaRPr lang="en-US" sz="1000" dirty="0"/>
          </a:p>
        </p:txBody>
      </p:sp>
      <p:sp>
        <p:nvSpPr>
          <p:cNvPr id="84" name="Text 82"/>
          <p:cNvSpPr txBox="1"/>
          <p:nvPr/>
        </p:nvSpPr>
        <p:spPr>
          <a:xfrm>
            <a:off x="5440680" y="5272430"/>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12</a:t>
            </a:r>
            <a:endParaRPr lang="en-US" sz="1000" dirty="0"/>
          </a:p>
        </p:txBody>
      </p:sp>
      <p:sp>
        <p:nvSpPr>
          <p:cNvPr id="85" name="Shape 83"/>
          <p:cNvSpPr/>
          <p:nvPr/>
        </p:nvSpPr>
        <p:spPr>
          <a:xfrm>
            <a:off x="5897880" y="5517490"/>
            <a:ext cx="1828800" cy="245059"/>
          </a:xfrm>
          <a:prstGeom prst="rect">
            <a:avLst/>
          </a:prstGeom>
          <a:solidFill>
            <a:srgbClr val="FFFFFF"/>
          </a:solidFill>
          <a:ln w="6350">
            <a:solidFill>
              <a:srgbClr val="AAB4B8"/>
            </a:solidFill>
            <a:prstDash val="solid"/>
          </a:ln>
        </p:spPr>
        <p:txBody>
          <a:bodyPr/>
          <a:p/>
        </p:txBody>
      </p:sp>
      <p:sp>
        <p:nvSpPr>
          <p:cNvPr id="86" name="Text 84"/>
          <p:cNvSpPr txBox="1"/>
          <p:nvPr/>
        </p:nvSpPr>
        <p:spPr>
          <a:xfrm>
            <a:off x="5897880" y="5517490"/>
            <a:ext cx="1828800" cy="245059"/>
          </a:xfrm>
          <a:prstGeom prst="rect">
            <a:avLst/>
          </a:prstGeom>
          <a:noFill/>
          <a:ln/>
        </p:spPr>
        <p:txBody>
          <a:bodyPr wrap="square" lIns="0" tIns="0" rIns="0" bIns="0" rtlCol="0" anchor="ctr"/>
          <a:lstStyle/>
          <a:p>
            <a:pPr algn="ctr" indent="0" marL="0">
              <a:buNone/>
            </a:pPr>
            <a:endParaRPr lang="en-US" sz="1000" dirty="0"/>
          </a:p>
        </p:txBody>
      </p:sp>
      <p:sp>
        <p:nvSpPr>
          <p:cNvPr id="87" name="Text 85"/>
          <p:cNvSpPr txBox="1"/>
          <p:nvPr/>
        </p:nvSpPr>
        <p:spPr>
          <a:xfrm>
            <a:off x="5440680" y="5517490"/>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13</a:t>
            </a:r>
            <a:endParaRPr lang="en-US" sz="1000" dirty="0"/>
          </a:p>
        </p:txBody>
      </p:sp>
      <p:sp>
        <p:nvSpPr>
          <p:cNvPr id="88" name="Shape 86"/>
          <p:cNvSpPr/>
          <p:nvPr/>
        </p:nvSpPr>
        <p:spPr>
          <a:xfrm>
            <a:off x="5897880" y="5762549"/>
            <a:ext cx="1828800" cy="245059"/>
          </a:xfrm>
          <a:prstGeom prst="rect">
            <a:avLst/>
          </a:prstGeom>
          <a:solidFill>
            <a:srgbClr val="FFFFFF"/>
          </a:solidFill>
          <a:ln w="6350">
            <a:solidFill>
              <a:srgbClr val="AAB4B8"/>
            </a:solidFill>
            <a:prstDash val="solid"/>
          </a:ln>
        </p:spPr>
        <p:txBody>
          <a:bodyPr/>
          <a:p/>
        </p:txBody>
      </p:sp>
      <p:sp>
        <p:nvSpPr>
          <p:cNvPr id="89" name="Text 87"/>
          <p:cNvSpPr txBox="1"/>
          <p:nvPr/>
        </p:nvSpPr>
        <p:spPr>
          <a:xfrm>
            <a:off x="5897880" y="5762549"/>
            <a:ext cx="1828800" cy="245059"/>
          </a:xfrm>
          <a:prstGeom prst="rect">
            <a:avLst/>
          </a:prstGeom>
          <a:noFill/>
          <a:ln/>
        </p:spPr>
        <p:txBody>
          <a:bodyPr wrap="square" lIns="0" tIns="0" rIns="0" bIns="0" rtlCol="0" anchor="ctr"/>
          <a:lstStyle/>
          <a:p>
            <a:pPr algn="ctr" indent="0" marL="0">
              <a:buNone/>
            </a:pPr>
            <a:endParaRPr lang="en-US" sz="1000" dirty="0"/>
          </a:p>
        </p:txBody>
      </p:sp>
      <p:sp>
        <p:nvSpPr>
          <p:cNvPr id="90" name="Text 88"/>
          <p:cNvSpPr txBox="1"/>
          <p:nvPr/>
        </p:nvSpPr>
        <p:spPr>
          <a:xfrm>
            <a:off x="5440680" y="5762549"/>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14</a:t>
            </a:r>
            <a:endParaRPr lang="en-US" sz="1000" dirty="0"/>
          </a:p>
        </p:txBody>
      </p:sp>
      <p:sp>
        <p:nvSpPr>
          <p:cNvPr id="91" name="Shape 89"/>
          <p:cNvSpPr/>
          <p:nvPr/>
        </p:nvSpPr>
        <p:spPr>
          <a:xfrm>
            <a:off x="5897880" y="6007608"/>
            <a:ext cx="1828800" cy="245059"/>
          </a:xfrm>
          <a:prstGeom prst="rect">
            <a:avLst/>
          </a:prstGeom>
          <a:solidFill>
            <a:srgbClr val="C9D3D6"/>
          </a:solidFill>
          <a:ln w="6350">
            <a:solidFill>
              <a:srgbClr val="AAB4B8"/>
            </a:solidFill>
            <a:prstDash val="solid"/>
          </a:ln>
        </p:spPr>
        <p:txBody>
          <a:bodyPr/>
          <a:p/>
        </p:txBody>
      </p:sp>
      <p:sp>
        <p:nvSpPr>
          <p:cNvPr id="92" name="Text 90"/>
          <p:cNvSpPr txBox="1"/>
          <p:nvPr/>
        </p:nvSpPr>
        <p:spPr>
          <a:xfrm>
            <a:off x="5897880" y="6007608"/>
            <a:ext cx="1828800" cy="245059"/>
          </a:xfrm>
          <a:prstGeom prst="rect">
            <a:avLst/>
          </a:prstGeom>
          <a:noFill/>
          <a:ln/>
        </p:spPr>
        <p:txBody>
          <a:bodyPr wrap="square" lIns="0" tIns="0" rIns="0" bIns="0" rtlCol="0" anchor="ctr"/>
          <a:lstStyle/>
          <a:p>
            <a:pPr algn="ctr" indent="0" marL="0">
              <a:buNone/>
            </a:pPr>
            <a:r>
              <a:rPr lang="en-US" sz="1000" dirty="0">
                <a:solidFill>
                  <a:srgbClr val="212121"/>
                </a:solidFill>
                <a:latin typeface="Calibri" pitchFamily="34" charset="0"/>
                <a:ea typeface="Calibri" pitchFamily="34" charset="-122"/>
                <a:cs typeface="Calibri" pitchFamily="34" charset="-120"/>
              </a:rPr>
              <a:t>other</a:t>
            </a:r>
            <a:endParaRPr lang="en-US" sz="1000" dirty="0"/>
          </a:p>
        </p:txBody>
      </p:sp>
      <p:sp>
        <p:nvSpPr>
          <p:cNvPr id="93" name="Text 91"/>
          <p:cNvSpPr txBox="1"/>
          <p:nvPr/>
        </p:nvSpPr>
        <p:spPr>
          <a:xfrm>
            <a:off x="5440680" y="6007608"/>
            <a:ext cx="384048" cy="245059"/>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15</a:t>
            </a:r>
            <a:endParaRPr lang="en-US" sz="1000" dirty="0"/>
          </a:p>
        </p:txBody>
      </p:sp>
      <p:sp>
        <p:nvSpPr>
          <p:cNvPr id="94" name="Shape 92"/>
          <p:cNvSpPr/>
          <p:nvPr/>
        </p:nvSpPr>
        <p:spPr>
          <a:xfrm>
            <a:off x="8138160" y="2148840"/>
            <a:ext cx="3520440" cy="411480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5" name="Text 93"/>
          <p:cNvSpPr txBox="1"/>
          <p:nvPr/>
        </p:nvSpPr>
        <p:spPr>
          <a:xfrm>
            <a:off x="8366760" y="233172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Key points</a:t>
            </a:r>
            <a:endParaRPr lang="en-US" sz="1500" dirty="0"/>
          </a:p>
        </p:txBody>
      </p:sp>
      <p:sp>
        <p:nvSpPr>
          <p:cNvPr id="96" name="Text 94"/>
          <p:cNvSpPr txBox="1"/>
          <p:nvPr/>
        </p:nvSpPr>
        <p:spPr>
          <a:xfrm>
            <a:off x="8366760" y="2788920"/>
            <a:ext cx="3063240" cy="33375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Page size = frame size, a power of 2 (Linux/x86: 4 KB).</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process's frames need not be contiguous or in order.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Any free frame can be used → no external fragmentation.</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One page table per process; the OS keeps a free-frame list.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ADDRESS TRANSLATION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Splitting an Address into Page Number and Offset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With an m-bit logical address and page size 2^n bytes, the high m − n bits are the page number p and the low n bits the offset d.</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20</a:t>
            </a:r>
            <a:endParaRPr lang="en-US" sz="900" dirty="0"/>
          </a:p>
        </p:txBody>
      </p:sp>
      <p:sp>
        <p:nvSpPr>
          <p:cNvPr id="7" name="Shape 5"/>
          <p:cNvSpPr/>
          <p:nvPr/>
        </p:nvSpPr>
        <p:spPr>
          <a:xfrm>
            <a:off x="548640" y="2286000"/>
            <a:ext cx="4206240" cy="822960"/>
          </a:xfrm>
          <a:prstGeom prst="roundRect">
            <a:avLst>
              <a:gd name="adj" fmla="val 5556"/>
            </a:avLst>
          </a:prstGeom>
          <a:solidFill>
            <a:srgbClr val="02C39A"/>
          </a:solidFill>
          <a:ln/>
        </p:spPr>
        <p:txBody>
          <a:bodyPr/>
          <a:p/>
        </p:txBody>
      </p:sp>
      <p:sp>
        <p:nvSpPr>
          <p:cNvPr id="8" name="Text 6"/>
          <p:cNvSpPr txBox="1"/>
          <p:nvPr/>
        </p:nvSpPr>
        <p:spPr>
          <a:xfrm>
            <a:off x="548640" y="2286000"/>
            <a:ext cx="4206240" cy="82296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page number  p</a:t>
            </a:r>
            <a:endParaRPr lang="en-US" sz="1600" dirty="0"/>
          </a:p>
          <a:p>
            <a:pPr algn="ctr" indent="0" marL="0">
              <a:buNone/>
            </a:pPr>
            <a:r>
              <a:rPr lang="en-US" sz="1100" dirty="0">
                <a:solidFill>
                  <a:srgbClr val="212121"/>
                </a:solidFill>
                <a:latin typeface="Calibri" pitchFamily="34" charset="0"/>
                <a:ea typeface="Calibri" pitchFamily="34" charset="-122"/>
                <a:cs typeface="Calibri" pitchFamily="34" charset="-120"/>
              </a:rPr>
              <a:t>high  m − n  bits</a:t>
            </a:r>
            <a:endParaRPr lang="en-US" sz="1600" dirty="0"/>
          </a:p>
        </p:txBody>
      </p:sp>
      <p:sp>
        <p:nvSpPr>
          <p:cNvPr id="9" name="Shape 7"/>
          <p:cNvSpPr/>
          <p:nvPr/>
        </p:nvSpPr>
        <p:spPr>
          <a:xfrm>
            <a:off x="4846320" y="2286000"/>
            <a:ext cx="3108960" cy="822960"/>
          </a:xfrm>
          <a:prstGeom prst="roundRect">
            <a:avLst>
              <a:gd name="adj" fmla="val 5556"/>
            </a:avLst>
          </a:prstGeom>
          <a:solidFill>
            <a:srgbClr val="36454F"/>
          </a:solidFill>
          <a:ln/>
        </p:spPr>
        <p:txBody>
          <a:bodyPr/>
          <a:p/>
        </p:txBody>
      </p:sp>
      <p:sp>
        <p:nvSpPr>
          <p:cNvPr id="10" name="Text 8"/>
          <p:cNvSpPr txBox="1"/>
          <p:nvPr/>
        </p:nvSpPr>
        <p:spPr>
          <a:xfrm>
            <a:off x="4846320" y="2286000"/>
            <a:ext cx="3108960" cy="8229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offset  d</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low  n  bits</a:t>
            </a:r>
            <a:endParaRPr lang="en-US" sz="1600" dirty="0"/>
          </a:p>
        </p:txBody>
      </p:sp>
      <p:sp>
        <p:nvSpPr>
          <p:cNvPr id="11" name="Shape 9"/>
          <p:cNvSpPr/>
          <p:nvPr/>
        </p:nvSpPr>
        <p:spPr>
          <a:xfrm>
            <a:off x="548640" y="3383280"/>
            <a:ext cx="7406640" cy="2880360"/>
          </a:xfrm>
          <a:prstGeom prst="roundRect">
            <a:avLst>
              <a:gd name="adj" fmla="val 1587"/>
            </a:avLst>
          </a:prstGeom>
          <a:solidFill>
            <a:srgbClr val="212121"/>
          </a:solidFill>
          <a:ln/>
        </p:spPr>
        <p:txBody>
          <a:bodyPr/>
          <a:p/>
        </p:txBody>
      </p:sp>
      <p:sp>
        <p:nvSpPr>
          <p:cNvPr id="12" name="Text 10"/>
          <p:cNvSpPr txBox="1"/>
          <p:nvPr/>
        </p:nvSpPr>
        <p:spPr>
          <a:xfrm>
            <a:off x="731520" y="3493008"/>
            <a:ext cx="7040880" cy="2660904"/>
          </a:xfrm>
          <a:prstGeom prst="rect">
            <a:avLst/>
          </a:prstGeom>
          <a:noFill/>
          <a:ln/>
        </p:spPr>
        <p:txBody>
          <a:bodyPr wrap="square" lIns="0" tIns="0" rIns="0" bIns="0" rtlCol="0" anchor="t"/>
          <a:lstStyle/>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p = address div 2^n   =  address &gt;&gt; n</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d = address mod 2^n   =  address &amp; (2^n - 1)</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physical = frame(p) × 2^n + d</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16-bit address, 4 KB pages (n = 12):  p = 4 bits, d = 12 bits</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32-bit address, 4 KB pages (n = 12):  p = 20 bits, d = 12 bits</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0x3A7F = 0011 | 1010 0111 1111</a:t>
            </a:r>
            <a:endParaRPr lang="en-US" sz="1450" dirty="0"/>
          </a:p>
          <a:p>
            <a:pPr indent="0" marL="0">
              <a:lnSpc>
                <a:spcPct val="105000"/>
              </a:lnSpc>
              <a:buNone/>
            </a:pPr>
            <a:r>
              <a:rPr lang="en-US" sz="1450" dirty="0">
                <a:solidFill>
                  <a:srgbClr val="F2F2F2"/>
                </a:solidFill>
                <a:latin typeface="Consolas" pitchFamily="34" charset="0"/>
                <a:ea typeface="Consolas" pitchFamily="34" charset="-122"/>
                <a:cs typeface="Consolas" pitchFamily="34" charset="-120"/>
              </a:rPr>
              <a:t>         p = 3   d = 0xA7F</a:t>
            </a:r>
            <a:endParaRPr lang="en-US" sz="1450" dirty="0"/>
          </a:p>
        </p:txBody>
      </p:sp>
      <p:sp>
        <p:nvSpPr>
          <p:cNvPr id="13" name="Shape 11"/>
          <p:cNvSpPr/>
          <p:nvPr/>
        </p:nvSpPr>
        <p:spPr>
          <a:xfrm>
            <a:off x="8229600" y="2286000"/>
            <a:ext cx="3429000" cy="3977640"/>
          </a:xfrm>
          <a:prstGeom prst="roundRect">
            <a:avLst>
              <a:gd name="adj" fmla="val 16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458200" y="2468880"/>
            <a:ext cx="29718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Hex shortcut</a:t>
            </a:r>
            <a:endParaRPr lang="en-US" sz="1500" dirty="0"/>
          </a:p>
        </p:txBody>
      </p:sp>
      <p:sp>
        <p:nvSpPr>
          <p:cNvPr id="15" name="Text 13"/>
          <p:cNvSpPr txBox="1"/>
          <p:nvPr/>
        </p:nvSpPr>
        <p:spPr>
          <a:xfrm>
            <a:off x="8458200" y="2926080"/>
            <a:ext cx="2971800" cy="3200400"/>
          </a:xfrm>
          <a:prstGeom prst="rect">
            <a:avLst/>
          </a:prstGeom>
          <a:noFill/>
          <a:ln/>
        </p:spPr>
        <p:txBody>
          <a:bodyPr wrap="square" lIns="0" tIns="0" rIns="0" bIns="0" rtlCol="0" anchor="t"/>
          <a:lstStyle/>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One hex digit = 4 bits, so with 4 KB pages (12 bits) the offset is the last 3 hex digits.</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0x3A7F → p = 0x3, d = 0xA7F.</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The offset is copied unchanged: only the page number is translated.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Translating Logical Address 0x3A7F</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16-bit addresses, 4 KB pages (n = 12), page table from the previous slides.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21</a:t>
            </a:r>
            <a:endParaRPr lang="en-US" sz="900" dirty="0"/>
          </a:p>
        </p:txBody>
      </p:sp>
      <p:sp>
        <p:nvSpPr>
          <p:cNvPr id="7" name="Shape 5"/>
          <p:cNvSpPr/>
          <p:nvPr/>
        </p:nvSpPr>
        <p:spPr>
          <a:xfrm>
            <a:off x="548640" y="2240280"/>
            <a:ext cx="1188720" cy="914400"/>
          </a:xfrm>
          <a:prstGeom prst="roundRect">
            <a:avLst>
              <a:gd name="adj" fmla="val 5000"/>
            </a:avLst>
          </a:prstGeom>
          <a:solidFill>
            <a:srgbClr val="36454F"/>
          </a:solidFill>
          <a:ln/>
        </p:spPr>
        <p:txBody>
          <a:bodyPr/>
          <a:p/>
        </p:txBody>
      </p:sp>
      <p:sp>
        <p:nvSpPr>
          <p:cNvPr id="8" name="Text 6"/>
          <p:cNvSpPr txBox="1"/>
          <p:nvPr/>
        </p:nvSpPr>
        <p:spPr>
          <a:xfrm>
            <a:off x="548640" y="2240280"/>
            <a:ext cx="1188720" cy="91440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CPU</a:t>
            </a:r>
            <a:endParaRPr lang="en-US" sz="1600" dirty="0"/>
          </a:p>
        </p:txBody>
      </p:sp>
      <p:sp>
        <p:nvSpPr>
          <p:cNvPr id="9" name="Shape 7"/>
          <p:cNvSpPr/>
          <p:nvPr/>
        </p:nvSpPr>
        <p:spPr>
          <a:xfrm>
            <a:off x="2103120" y="2377440"/>
            <a:ext cx="685800" cy="640080"/>
          </a:xfrm>
          <a:prstGeom prst="roundRect">
            <a:avLst>
              <a:gd name="adj" fmla="val 7143"/>
            </a:avLst>
          </a:prstGeom>
          <a:solidFill>
            <a:srgbClr val="02C39A"/>
          </a:solidFill>
          <a:ln/>
        </p:spPr>
        <p:txBody>
          <a:bodyPr/>
          <a:p/>
        </p:txBody>
      </p:sp>
      <p:sp>
        <p:nvSpPr>
          <p:cNvPr id="10" name="Text 8"/>
          <p:cNvSpPr txBox="1"/>
          <p:nvPr/>
        </p:nvSpPr>
        <p:spPr>
          <a:xfrm>
            <a:off x="2103120" y="2377440"/>
            <a:ext cx="685800" cy="640080"/>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3</a:t>
            </a:r>
            <a:endParaRPr lang="en-US" sz="1800" dirty="0"/>
          </a:p>
        </p:txBody>
      </p:sp>
      <p:sp>
        <p:nvSpPr>
          <p:cNvPr id="11" name="Shape 9"/>
          <p:cNvSpPr/>
          <p:nvPr/>
        </p:nvSpPr>
        <p:spPr>
          <a:xfrm>
            <a:off x="2788920" y="2377440"/>
            <a:ext cx="1005840" cy="640080"/>
          </a:xfrm>
          <a:prstGeom prst="roundRect">
            <a:avLst>
              <a:gd name="adj" fmla="val 7143"/>
            </a:avLst>
          </a:prstGeom>
          <a:solidFill>
            <a:srgbClr val="F2F2F2"/>
          </a:solidFill>
          <a:ln/>
        </p:spPr>
        <p:txBody>
          <a:bodyPr/>
          <a:p/>
        </p:txBody>
      </p:sp>
      <p:sp>
        <p:nvSpPr>
          <p:cNvPr id="12" name="Text 10"/>
          <p:cNvSpPr txBox="1"/>
          <p:nvPr/>
        </p:nvSpPr>
        <p:spPr>
          <a:xfrm>
            <a:off x="2788920" y="2377440"/>
            <a:ext cx="1005840" cy="640080"/>
          </a:xfrm>
          <a:prstGeom prst="rect">
            <a:avLst/>
          </a:prstGeom>
          <a:noFill/>
          <a:ln/>
        </p:spPr>
        <p:txBody>
          <a:bodyPr wrap="square" lIns="38100" tIns="38100" rIns="38100" bIns="38100" rtlCol="0" anchor="ctr"/>
          <a:lstStyle/>
          <a:p>
            <a:pPr algn="ctr" indent="0" marL="0">
              <a:buNone/>
            </a:pPr>
            <a:r>
              <a:rPr lang="en-US" sz="1800" b="1" dirty="0">
                <a:solidFill>
                  <a:srgbClr val="36454F"/>
                </a:solidFill>
                <a:latin typeface="Consolas" pitchFamily="34" charset="0"/>
                <a:ea typeface="Consolas" pitchFamily="34" charset="-122"/>
                <a:cs typeface="Consolas" pitchFamily="34" charset="-120"/>
              </a:rPr>
              <a:t>A7F</a:t>
            </a:r>
            <a:endParaRPr lang="en-US" sz="1800" dirty="0"/>
          </a:p>
        </p:txBody>
      </p:sp>
      <p:sp>
        <p:nvSpPr>
          <p:cNvPr id="13" name="Text 11"/>
          <p:cNvSpPr txBox="1"/>
          <p:nvPr/>
        </p:nvSpPr>
        <p:spPr>
          <a:xfrm>
            <a:off x="2103120" y="3035808"/>
            <a:ext cx="685800" cy="256032"/>
          </a:xfrm>
          <a:prstGeom prst="rect">
            <a:avLst/>
          </a:prstGeom>
          <a:noFill/>
          <a:ln/>
        </p:spPr>
        <p:txBody>
          <a:bodyPr wrap="square" lIns="0" tIns="0" rIns="0" bIns="0" rtlCol="0" anchor="t"/>
          <a:lstStyle/>
          <a:p>
            <a:pPr algn="ctr" indent="0" marL="0">
              <a:buNone/>
            </a:pPr>
            <a:r>
              <a:rPr lang="en-US" sz="1200" i="1" dirty="0">
                <a:solidFill>
                  <a:srgbClr val="50808E"/>
                </a:solidFill>
                <a:latin typeface="Calibri" pitchFamily="34" charset="0"/>
                <a:ea typeface="Calibri" pitchFamily="34" charset="-122"/>
                <a:cs typeface="Calibri" pitchFamily="34" charset="-120"/>
              </a:rPr>
              <a:t>p</a:t>
            </a:r>
            <a:endParaRPr lang="en-US" sz="1200" dirty="0"/>
          </a:p>
        </p:txBody>
      </p:sp>
      <p:sp>
        <p:nvSpPr>
          <p:cNvPr id="14" name="Text 12"/>
          <p:cNvSpPr txBox="1"/>
          <p:nvPr/>
        </p:nvSpPr>
        <p:spPr>
          <a:xfrm>
            <a:off x="2788920" y="3035808"/>
            <a:ext cx="1005840" cy="256032"/>
          </a:xfrm>
          <a:prstGeom prst="rect">
            <a:avLst/>
          </a:prstGeom>
          <a:noFill/>
          <a:ln/>
        </p:spPr>
        <p:txBody>
          <a:bodyPr wrap="square" lIns="0" tIns="0" rIns="0" bIns="0" rtlCol="0" anchor="t"/>
          <a:lstStyle/>
          <a:p>
            <a:pPr algn="ctr" indent="0" marL="0">
              <a:buNone/>
            </a:pPr>
            <a:r>
              <a:rPr lang="en-US" sz="1200" i="1" dirty="0">
                <a:solidFill>
                  <a:srgbClr val="50808E"/>
                </a:solidFill>
                <a:latin typeface="Calibri" pitchFamily="34" charset="0"/>
                <a:ea typeface="Calibri" pitchFamily="34" charset="-122"/>
                <a:cs typeface="Calibri" pitchFamily="34" charset="-120"/>
              </a:rPr>
              <a:t>d</a:t>
            </a:r>
            <a:endParaRPr lang="en-US" sz="1200" dirty="0"/>
          </a:p>
        </p:txBody>
      </p:sp>
      <p:sp>
        <p:nvSpPr>
          <p:cNvPr id="15" name="Shape 13"/>
          <p:cNvSpPr/>
          <p:nvPr/>
        </p:nvSpPr>
        <p:spPr>
          <a:xfrm>
            <a:off x="1755648" y="2697480"/>
            <a:ext cx="329184" cy="91"/>
          </a:xfrm>
          <a:prstGeom prst="line">
            <a:avLst/>
          </a:prstGeom>
          <a:noFill/>
          <a:ln w="19050">
            <a:solidFill>
              <a:srgbClr val="50808E"/>
            </a:solidFill>
            <a:prstDash val="solid"/>
            <a:tailEnd type="triangle"/>
          </a:ln>
        </p:spPr>
        <p:txBody>
          <a:bodyPr/>
          <a:p/>
        </p:txBody>
      </p:sp>
      <p:sp>
        <p:nvSpPr>
          <p:cNvPr id="16" name="Shape 14"/>
          <p:cNvSpPr/>
          <p:nvPr/>
        </p:nvSpPr>
        <p:spPr>
          <a:xfrm>
            <a:off x="6949440" y="2377440"/>
            <a:ext cx="685800" cy="640080"/>
          </a:xfrm>
          <a:prstGeom prst="roundRect">
            <a:avLst>
              <a:gd name="adj" fmla="val 7143"/>
            </a:avLst>
          </a:prstGeom>
          <a:solidFill>
            <a:srgbClr val="02C39A"/>
          </a:solidFill>
          <a:ln/>
        </p:spPr>
        <p:txBody>
          <a:bodyPr/>
          <a:p/>
        </p:txBody>
      </p:sp>
      <p:sp>
        <p:nvSpPr>
          <p:cNvPr id="17" name="Text 15"/>
          <p:cNvSpPr txBox="1"/>
          <p:nvPr/>
        </p:nvSpPr>
        <p:spPr>
          <a:xfrm>
            <a:off x="6949440" y="2377440"/>
            <a:ext cx="685800" cy="640080"/>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7</a:t>
            </a:r>
            <a:endParaRPr lang="en-US" sz="1800" dirty="0"/>
          </a:p>
        </p:txBody>
      </p:sp>
      <p:sp>
        <p:nvSpPr>
          <p:cNvPr id="18" name="Shape 16"/>
          <p:cNvSpPr/>
          <p:nvPr/>
        </p:nvSpPr>
        <p:spPr>
          <a:xfrm>
            <a:off x="7635240" y="2377440"/>
            <a:ext cx="1005840" cy="640080"/>
          </a:xfrm>
          <a:prstGeom prst="roundRect">
            <a:avLst>
              <a:gd name="adj" fmla="val 7143"/>
            </a:avLst>
          </a:prstGeom>
          <a:solidFill>
            <a:srgbClr val="F2F2F2"/>
          </a:solidFill>
          <a:ln/>
        </p:spPr>
        <p:txBody>
          <a:bodyPr/>
          <a:p/>
        </p:txBody>
      </p:sp>
      <p:sp>
        <p:nvSpPr>
          <p:cNvPr id="19" name="Text 17"/>
          <p:cNvSpPr txBox="1"/>
          <p:nvPr/>
        </p:nvSpPr>
        <p:spPr>
          <a:xfrm>
            <a:off x="7635240" y="2377440"/>
            <a:ext cx="1005840" cy="640080"/>
          </a:xfrm>
          <a:prstGeom prst="rect">
            <a:avLst/>
          </a:prstGeom>
          <a:noFill/>
          <a:ln/>
        </p:spPr>
        <p:txBody>
          <a:bodyPr wrap="square" lIns="38100" tIns="38100" rIns="38100" bIns="38100" rtlCol="0" anchor="ctr"/>
          <a:lstStyle/>
          <a:p>
            <a:pPr algn="ctr" indent="0" marL="0">
              <a:buNone/>
            </a:pPr>
            <a:r>
              <a:rPr lang="en-US" sz="1800" b="1" dirty="0">
                <a:solidFill>
                  <a:srgbClr val="36454F"/>
                </a:solidFill>
                <a:latin typeface="Consolas" pitchFamily="34" charset="0"/>
                <a:ea typeface="Consolas" pitchFamily="34" charset="-122"/>
                <a:cs typeface="Consolas" pitchFamily="34" charset="-120"/>
              </a:rPr>
              <a:t>A7F</a:t>
            </a:r>
            <a:endParaRPr lang="en-US" sz="1800" dirty="0"/>
          </a:p>
        </p:txBody>
      </p:sp>
      <p:sp>
        <p:nvSpPr>
          <p:cNvPr id="20" name="Text 18"/>
          <p:cNvSpPr txBox="1"/>
          <p:nvPr/>
        </p:nvSpPr>
        <p:spPr>
          <a:xfrm>
            <a:off x="6949440" y="3035808"/>
            <a:ext cx="685800" cy="256032"/>
          </a:xfrm>
          <a:prstGeom prst="rect">
            <a:avLst/>
          </a:prstGeom>
          <a:noFill/>
          <a:ln/>
        </p:spPr>
        <p:txBody>
          <a:bodyPr wrap="square" lIns="0" tIns="0" rIns="0" bIns="0" rtlCol="0" anchor="t"/>
          <a:lstStyle/>
          <a:p>
            <a:pPr algn="ctr" indent="0" marL="0">
              <a:buNone/>
            </a:pPr>
            <a:r>
              <a:rPr lang="en-US" sz="1200" i="1" dirty="0">
                <a:solidFill>
                  <a:srgbClr val="50808E"/>
                </a:solidFill>
                <a:latin typeface="Calibri" pitchFamily="34" charset="0"/>
                <a:ea typeface="Calibri" pitchFamily="34" charset="-122"/>
                <a:cs typeface="Calibri" pitchFamily="34" charset="-120"/>
              </a:rPr>
              <a:t>f</a:t>
            </a:r>
            <a:endParaRPr lang="en-US" sz="1200" dirty="0"/>
          </a:p>
        </p:txBody>
      </p:sp>
      <p:sp>
        <p:nvSpPr>
          <p:cNvPr id="21" name="Text 19"/>
          <p:cNvSpPr txBox="1"/>
          <p:nvPr/>
        </p:nvSpPr>
        <p:spPr>
          <a:xfrm>
            <a:off x="7635240" y="3035808"/>
            <a:ext cx="1005840" cy="256032"/>
          </a:xfrm>
          <a:prstGeom prst="rect">
            <a:avLst/>
          </a:prstGeom>
          <a:noFill/>
          <a:ln/>
        </p:spPr>
        <p:txBody>
          <a:bodyPr wrap="square" lIns="0" tIns="0" rIns="0" bIns="0" rtlCol="0" anchor="t"/>
          <a:lstStyle/>
          <a:p>
            <a:pPr algn="ctr" indent="0" marL="0">
              <a:buNone/>
            </a:pPr>
            <a:r>
              <a:rPr lang="en-US" sz="1200" i="1" dirty="0">
                <a:solidFill>
                  <a:srgbClr val="50808E"/>
                </a:solidFill>
                <a:latin typeface="Calibri" pitchFamily="34" charset="0"/>
                <a:ea typeface="Calibri" pitchFamily="34" charset="-122"/>
                <a:cs typeface="Calibri" pitchFamily="34" charset="-120"/>
              </a:rPr>
              <a:t>d</a:t>
            </a:r>
            <a:endParaRPr lang="en-US" sz="1200" dirty="0"/>
          </a:p>
        </p:txBody>
      </p:sp>
      <p:sp>
        <p:nvSpPr>
          <p:cNvPr id="22" name="Shape 20"/>
          <p:cNvSpPr/>
          <p:nvPr/>
        </p:nvSpPr>
        <p:spPr>
          <a:xfrm>
            <a:off x="3291840" y="2148840"/>
            <a:ext cx="0" cy="228600"/>
          </a:xfrm>
          <a:prstGeom prst="line">
            <a:avLst/>
          </a:prstGeom>
          <a:noFill/>
          <a:ln w="15875">
            <a:solidFill>
              <a:srgbClr val="50808E"/>
            </a:solidFill>
            <a:prstDash val="solid"/>
          </a:ln>
        </p:spPr>
        <p:txBody>
          <a:bodyPr/>
          <a:p/>
        </p:txBody>
      </p:sp>
      <p:sp>
        <p:nvSpPr>
          <p:cNvPr id="23" name="Shape 21"/>
          <p:cNvSpPr/>
          <p:nvPr/>
        </p:nvSpPr>
        <p:spPr>
          <a:xfrm>
            <a:off x="3291840" y="2148840"/>
            <a:ext cx="4846320" cy="0"/>
          </a:xfrm>
          <a:prstGeom prst="line">
            <a:avLst/>
          </a:prstGeom>
          <a:noFill/>
          <a:ln w="15875">
            <a:solidFill>
              <a:srgbClr val="50808E"/>
            </a:solidFill>
            <a:prstDash val="dash"/>
          </a:ln>
        </p:spPr>
        <p:txBody>
          <a:bodyPr/>
          <a:p/>
        </p:txBody>
      </p:sp>
      <p:sp>
        <p:nvSpPr>
          <p:cNvPr id="24" name="Shape 22"/>
          <p:cNvSpPr/>
          <p:nvPr/>
        </p:nvSpPr>
        <p:spPr>
          <a:xfrm>
            <a:off x="8138160" y="2148840"/>
            <a:ext cx="91" cy="210312"/>
          </a:xfrm>
          <a:prstGeom prst="line">
            <a:avLst/>
          </a:prstGeom>
          <a:noFill/>
          <a:ln w="15875">
            <a:solidFill>
              <a:srgbClr val="50808E"/>
            </a:solidFill>
            <a:prstDash val="solid"/>
            <a:tailEnd type="triangle"/>
          </a:ln>
        </p:spPr>
        <p:txBody>
          <a:bodyPr/>
          <a:p/>
        </p:txBody>
      </p:sp>
      <p:sp>
        <p:nvSpPr>
          <p:cNvPr id="25" name="Text 23"/>
          <p:cNvSpPr txBox="1"/>
          <p:nvPr/>
        </p:nvSpPr>
        <p:spPr>
          <a:xfrm>
            <a:off x="4206240" y="2194560"/>
            <a:ext cx="2743200" cy="274320"/>
          </a:xfrm>
          <a:prstGeom prst="rect">
            <a:avLst/>
          </a:prstGeom>
          <a:noFill/>
          <a:ln/>
        </p:spPr>
        <p:txBody>
          <a:bodyPr wrap="square" lIns="0" tIns="0" rIns="0" bIns="0" rtlCol="0" anchor="t"/>
          <a:lstStyle/>
          <a:p>
            <a:pPr algn="ctr" indent="0" marL="0">
              <a:buNone/>
            </a:pPr>
            <a:r>
              <a:rPr lang="en-US" sz="1100" i="1" dirty="0">
                <a:solidFill>
                  <a:srgbClr val="50808E"/>
                </a:solidFill>
                <a:latin typeface="Calibri" pitchFamily="34" charset="0"/>
                <a:ea typeface="Calibri" pitchFamily="34" charset="-122"/>
                <a:cs typeface="Calibri" pitchFamily="34" charset="-120"/>
              </a:rPr>
              <a:t>offset d copied unchanged</a:t>
            </a:r>
            <a:endParaRPr lang="en-US" sz="1100" dirty="0"/>
          </a:p>
        </p:txBody>
      </p:sp>
      <p:sp>
        <p:nvSpPr>
          <p:cNvPr id="26" name="Shape 24"/>
          <p:cNvSpPr/>
          <p:nvPr/>
        </p:nvSpPr>
        <p:spPr>
          <a:xfrm>
            <a:off x="8659368" y="2697480"/>
            <a:ext cx="713232" cy="91"/>
          </a:xfrm>
          <a:prstGeom prst="line">
            <a:avLst/>
          </a:prstGeom>
          <a:noFill/>
          <a:ln w="19050">
            <a:solidFill>
              <a:srgbClr val="50808E"/>
            </a:solidFill>
            <a:prstDash val="solid"/>
            <a:tailEnd type="triangle"/>
          </a:ln>
        </p:spPr>
        <p:txBody>
          <a:bodyPr/>
          <a:p/>
        </p:txBody>
      </p:sp>
      <p:sp>
        <p:nvSpPr>
          <p:cNvPr id="27" name="Shape 25"/>
          <p:cNvSpPr/>
          <p:nvPr/>
        </p:nvSpPr>
        <p:spPr>
          <a:xfrm>
            <a:off x="9418320" y="2240280"/>
            <a:ext cx="2240280" cy="914400"/>
          </a:xfrm>
          <a:prstGeom prst="roundRect">
            <a:avLst>
              <a:gd name="adj" fmla="val 5000"/>
            </a:avLst>
          </a:prstGeom>
          <a:solidFill>
            <a:srgbClr val="F2F2F2"/>
          </a:solidFill>
          <a:ln/>
        </p:spPr>
        <p:txBody>
          <a:bodyPr/>
          <a:p/>
        </p:txBody>
      </p:sp>
      <p:sp>
        <p:nvSpPr>
          <p:cNvPr id="28" name="Text 26"/>
          <p:cNvSpPr txBox="1"/>
          <p:nvPr/>
        </p:nvSpPr>
        <p:spPr>
          <a:xfrm>
            <a:off x="9418320" y="2240280"/>
            <a:ext cx="2240280" cy="91440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Memory</a:t>
            </a:r>
            <a:endParaRPr lang="en-US" sz="1400" dirty="0"/>
          </a:p>
          <a:p>
            <a:pPr algn="ctr" indent="0" marL="0">
              <a:buNone/>
            </a:pPr>
            <a:r>
              <a:rPr lang="en-US" sz="1300" dirty="0">
                <a:solidFill>
                  <a:srgbClr val="36454F"/>
                </a:solidFill>
                <a:latin typeface="Calibri" pitchFamily="34" charset="0"/>
                <a:ea typeface="Calibri" pitchFamily="34" charset="-122"/>
                <a:cs typeface="Calibri" pitchFamily="34" charset="-120"/>
              </a:rPr>
              <a:t>physical 0x7A7F</a:t>
            </a:r>
            <a:endParaRPr lang="en-US" sz="1400" dirty="0"/>
          </a:p>
        </p:txBody>
      </p:sp>
      <p:sp>
        <p:nvSpPr>
          <p:cNvPr id="29" name="Text 27"/>
          <p:cNvSpPr txBox="1"/>
          <p:nvPr/>
        </p:nvSpPr>
        <p:spPr>
          <a:xfrm>
            <a:off x="4572000" y="3108960"/>
            <a:ext cx="155448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page table</a:t>
            </a:r>
            <a:endParaRPr lang="en-US" sz="1200" dirty="0"/>
          </a:p>
        </p:txBody>
      </p:sp>
      <p:sp>
        <p:nvSpPr>
          <p:cNvPr id="30" name="Shape 28"/>
          <p:cNvSpPr/>
          <p:nvPr/>
        </p:nvSpPr>
        <p:spPr>
          <a:xfrm>
            <a:off x="4572000" y="3429000"/>
            <a:ext cx="502920" cy="420624"/>
          </a:xfrm>
          <a:prstGeom prst="roundRect">
            <a:avLst>
              <a:gd name="adj" fmla="val 10870"/>
            </a:avLst>
          </a:prstGeom>
          <a:solidFill>
            <a:srgbClr val="F2F2F2"/>
          </a:solidFill>
          <a:ln/>
        </p:spPr>
        <p:txBody>
          <a:bodyPr/>
          <a:p/>
        </p:txBody>
      </p:sp>
      <p:sp>
        <p:nvSpPr>
          <p:cNvPr id="31" name="Text 29"/>
          <p:cNvSpPr txBox="1"/>
          <p:nvPr/>
        </p:nvSpPr>
        <p:spPr>
          <a:xfrm>
            <a:off x="4572000" y="3429000"/>
            <a:ext cx="502920" cy="42062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32" name="Shape 30"/>
          <p:cNvSpPr/>
          <p:nvPr/>
        </p:nvSpPr>
        <p:spPr>
          <a:xfrm>
            <a:off x="5120640" y="3429000"/>
            <a:ext cx="1005840" cy="420624"/>
          </a:xfrm>
          <a:prstGeom prst="roundRect">
            <a:avLst>
              <a:gd name="adj" fmla="val 10870"/>
            </a:avLst>
          </a:prstGeom>
          <a:solidFill>
            <a:srgbClr val="D7E9E6"/>
          </a:solidFill>
          <a:ln/>
        </p:spPr>
        <p:txBody>
          <a:bodyPr/>
          <a:p/>
        </p:txBody>
      </p:sp>
      <p:sp>
        <p:nvSpPr>
          <p:cNvPr id="33" name="Text 31"/>
          <p:cNvSpPr txBox="1"/>
          <p:nvPr/>
        </p:nvSpPr>
        <p:spPr>
          <a:xfrm>
            <a:off x="5120640" y="3429000"/>
            <a:ext cx="1005840" cy="42062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5</a:t>
            </a:r>
            <a:endParaRPr lang="en-US" sz="1400" dirty="0"/>
          </a:p>
        </p:txBody>
      </p:sp>
      <p:sp>
        <p:nvSpPr>
          <p:cNvPr id="34" name="Shape 32"/>
          <p:cNvSpPr/>
          <p:nvPr/>
        </p:nvSpPr>
        <p:spPr>
          <a:xfrm>
            <a:off x="4572000" y="3904488"/>
            <a:ext cx="502920" cy="420624"/>
          </a:xfrm>
          <a:prstGeom prst="roundRect">
            <a:avLst>
              <a:gd name="adj" fmla="val 10870"/>
            </a:avLst>
          </a:prstGeom>
          <a:solidFill>
            <a:srgbClr val="F2F2F2"/>
          </a:solidFill>
          <a:ln/>
        </p:spPr>
        <p:txBody>
          <a:bodyPr/>
          <a:p/>
        </p:txBody>
      </p:sp>
      <p:sp>
        <p:nvSpPr>
          <p:cNvPr id="35" name="Text 33"/>
          <p:cNvSpPr txBox="1"/>
          <p:nvPr/>
        </p:nvSpPr>
        <p:spPr>
          <a:xfrm>
            <a:off x="4572000" y="3904488"/>
            <a:ext cx="502920" cy="42062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1</a:t>
            </a:r>
            <a:endParaRPr lang="en-US" sz="1200" dirty="0"/>
          </a:p>
        </p:txBody>
      </p:sp>
      <p:sp>
        <p:nvSpPr>
          <p:cNvPr id="36" name="Shape 34"/>
          <p:cNvSpPr/>
          <p:nvPr/>
        </p:nvSpPr>
        <p:spPr>
          <a:xfrm>
            <a:off x="5120640" y="3904488"/>
            <a:ext cx="1005840" cy="420624"/>
          </a:xfrm>
          <a:prstGeom prst="roundRect">
            <a:avLst>
              <a:gd name="adj" fmla="val 10870"/>
            </a:avLst>
          </a:prstGeom>
          <a:solidFill>
            <a:srgbClr val="D7E9E6"/>
          </a:solidFill>
          <a:ln/>
        </p:spPr>
        <p:txBody>
          <a:bodyPr/>
          <a:p/>
        </p:txBody>
      </p:sp>
      <p:sp>
        <p:nvSpPr>
          <p:cNvPr id="37" name="Text 35"/>
          <p:cNvSpPr txBox="1"/>
          <p:nvPr/>
        </p:nvSpPr>
        <p:spPr>
          <a:xfrm>
            <a:off x="5120640" y="3904488"/>
            <a:ext cx="1005840" cy="42062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9</a:t>
            </a:r>
            <a:endParaRPr lang="en-US" sz="1400" dirty="0"/>
          </a:p>
        </p:txBody>
      </p:sp>
      <p:sp>
        <p:nvSpPr>
          <p:cNvPr id="38" name="Shape 36"/>
          <p:cNvSpPr/>
          <p:nvPr/>
        </p:nvSpPr>
        <p:spPr>
          <a:xfrm>
            <a:off x="4572000" y="4379976"/>
            <a:ext cx="502920" cy="420624"/>
          </a:xfrm>
          <a:prstGeom prst="roundRect">
            <a:avLst>
              <a:gd name="adj" fmla="val 10870"/>
            </a:avLst>
          </a:prstGeom>
          <a:solidFill>
            <a:srgbClr val="F2F2F2"/>
          </a:solidFill>
          <a:ln/>
        </p:spPr>
        <p:txBody>
          <a:bodyPr/>
          <a:p/>
        </p:txBody>
      </p:sp>
      <p:sp>
        <p:nvSpPr>
          <p:cNvPr id="39" name="Text 37"/>
          <p:cNvSpPr txBox="1"/>
          <p:nvPr/>
        </p:nvSpPr>
        <p:spPr>
          <a:xfrm>
            <a:off x="4572000" y="4379976"/>
            <a:ext cx="502920" cy="42062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2</a:t>
            </a:r>
            <a:endParaRPr lang="en-US" sz="1200" dirty="0"/>
          </a:p>
        </p:txBody>
      </p:sp>
      <p:sp>
        <p:nvSpPr>
          <p:cNvPr id="40" name="Shape 38"/>
          <p:cNvSpPr/>
          <p:nvPr/>
        </p:nvSpPr>
        <p:spPr>
          <a:xfrm>
            <a:off x="5120640" y="4379976"/>
            <a:ext cx="1005840" cy="420624"/>
          </a:xfrm>
          <a:prstGeom prst="roundRect">
            <a:avLst>
              <a:gd name="adj" fmla="val 10870"/>
            </a:avLst>
          </a:prstGeom>
          <a:solidFill>
            <a:srgbClr val="D7E9E6"/>
          </a:solidFill>
          <a:ln/>
        </p:spPr>
        <p:txBody>
          <a:bodyPr/>
          <a:p/>
        </p:txBody>
      </p:sp>
      <p:sp>
        <p:nvSpPr>
          <p:cNvPr id="41" name="Text 39"/>
          <p:cNvSpPr txBox="1"/>
          <p:nvPr/>
        </p:nvSpPr>
        <p:spPr>
          <a:xfrm>
            <a:off x="5120640" y="4379976"/>
            <a:ext cx="1005840" cy="42062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42" name="Shape 40"/>
          <p:cNvSpPr/>
          <p:nvPr/>
        </p:nvSpPr>
        <p:spPr>
          <a:xfrm>
            <a:off x="4572000" y="4855464"/>
            <a:ext cx="502920" cy="420624"/>
          </a:xfrm>
          <a:prstGeom prst="roundRect">
            <a:avLst>
              <a:gd name="adj" fmla="val 10870"/>
            </a:avLst>
          </a:prstGeom>
          <a:solidFill>
            <a:srgbClr val="F2F2F2"/>
          </a:solidFill>
          <a:ln/>
        </p:spPr>
        <p:txBody>
          <a:bodyPr/>
          <a:p/>
        </p:txBody>
      </p:sp>
      <p:sp>
        <p:nvSpPr>
          <p:cNvPr id="43" name="Text 41"/>
          <p:cNvSpPr txBox="1"/>
          <p:nvPr/>
        </p:nvSpPr>
        <p:spPr>
          <a:xfrm>
            <a:off x="4572000" y="4855464"/>
            <a:ext cx="502920" cy="42062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3</a:t>
            </a:r>
            <a:endParaRPr lang="en-US" sz="1200" dirty="0"/>
          </a:p>
        </p:txBody>
      </p:sp>
      <p:sp>
        <p:nvSpPr>
          <p:cNvPr id="44" name="Shape 42"/>
          <p:cNvSpPr/>
          <p:nvPr/>
        </p:nvSpPr>
        <p:spPr>
          <a:xfrm>
            <a:off x="5120640" y="4855464"/>
            <a:ext cx="1005840" cy="420624"/>
          </a:xfrm>
          <a:prstGeom prst="roundRect">
            <a:avLst>
              <a:gd name="adj" fmla="val 10870"/>
            </a:avLst>
          </a:prstGeom>
          <a:solidFill>
            <a:srgbClr val="02C39A"/>
          </a:solidFill>
          <a:ln/>
        </p:spPr>
        <p:txBody>
          <a:bodyPr/>
          <a:p/>
        </p:txBody>
      </p:sp>
      <p:sp>
        <p:nvSpPr>
          <p:cNvPr id="45" name="Text 43"/>
          <p:cNvSpPr txBox="1"/>
          <p:nvPr/>
        </p:nvSpPr>
        <p:spPr>
          <a:xfrm>
            <a:off x="5120640" y="4855464"/>
            <a:ext cx="1005840" cy="42062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46" name="Shape 44"/>
          <p:cNvSpPr/>
          <p:nvPr/>
        </p:nvSpPr>
        <p:spPr>
          <a:xfrm>
            <a:off x="4572000" y="5330952"/>
            <a:ext cx="502920" cy="420624"/>
          </a:xfrm>
          <a:prstGeom prst="roundRect">
            <a:avLst>
              <a:gd name="adj" fmla="val 10870"/>
            </a:avLst>
          </a:prstGeom>
          <a:solidFill>
            <a:srgbClr val="F2F2F2"/>
          </a:solidFill>
          <a:ln/>
        </p:spPr>
        <p:txBody>
          <a:bodyPr/>
          <a:p/>
        </p:txBody>
      </p:sp>
      <p:sp>
        <p:nvSpPr>
          <p:cNvPr id="47" name="Text 45"/>
          <p:cNvSpPr txBox="1"/>
          <p:nvPr/>
        </p:nvSpPr>
        <p:spPr>
          <a:xfrm>
            <a:off x="4572000" y="5330952"/>
            <a:ext cx="502920" cy="420624"/>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4</a:t>
            </a:r>
            <a:endParaRPr lang="en-US" sz="1200" dirty="0"/>
          </a:p>
        </p:txBody>
      </p:sp>
      <p:sp>
        <p:nvSpPr>
          <p:cNvPr id="48" name="Shape 46"/>
          <p:cNvSpPr/>
          <p:nvPr/>
        </p:nvSpPr>
        <p:spPr>
          <a:xfrm>
            <a:off x="5120640" y="5330952"/>
            <a:ext cx="1005840" cy="420624"/>
          </a:xfrm>
          <a:prstGeom prst="roundRect">
            <a:avLst>
              <a:gd name="adj" fmla="val 10870"/>
            </a:avLst>
          </a:prstGeom>
          <a:solidFill>
            <a:srgbClr val="D7E9E6"/>
          </a:solidFill>
          <a:ln/>
        </p:spPr>
        <p:txBody>
          <a:bodyPr/>
          <a:p/>
        </p:txBody>
      </p:sp>
      <p:sp>
        <p:nvSpPr>
          <p:cNvPr id="49" name="Text 47"/>
          <p:cNvSpPr txBox="1"/>
          <p:nvPr/>
        </p:nvSpPr>
        <p:spPr>
          <a:xfrm>
            <a:off x="5120640" y="5330952"/>
            <a:ext cx="1005840" cy="420624"/>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12</a:t>
            </a:r>
            <a:endParaRPr lang="en-US" sz="1400" dirty="0"/>
          </a:p>
        </p:txBody>
      </p:sp>
      <p:sp>
        <p:nvSpPr>
          <p:cNvPr id="50" name="Shape 48"/>
          <p:cNvSpPr/>
          <p:nvPr/>
        </p:nvSpPr>
        <p:spPr>
          <a:xfrm>
            <a:off x="2441448" y="3310128"/>
            <a:ext cx="2084832" cy="1755648"/>
          </a:xfrm>
          <a:prstGeom prst="line">
            <a:avLst/>
          </a:prstGeom>
          <a:noFill/>
          <a:ln w="22225">
            <a:solidFill>
              <a:srgbClr val="028090"/>
            </a:solidFill>
            <a:prstDash val="solid"/>
            <a:tailEnd type="triangle"/>
          </a:ln>
        </p:spPr>
        <p:txBody>
          <a:bodyPr/>
          <a:p/>
        </p:txBody>
      </p:sp>
      <p:sp>
        <p:nvSpPr>
          <p:cNvPr id="51" name="Text 49"/>
          <p:cNvSpPr txBox="1"/>
          <p:nvPr/>
        </p:nvSpPr>
        <p:spPr>
          <a:xfrm>
            <a:off x="1188720" y="4343400"/>
            <a:ext cx="182880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① look up p = 3</a:t>
            </a:r>
            <a:endParaRPr lang="en-US" sz="1200" dirty="0"/>
          </a:p>
        </p:txBody>
      </p:sp>
      <p:sp>
        <p:nvSpPr>
          <p:cNvPr id="52" name="Shape 50"/>
          <p:cNvSpPr/>
          <p:nvPr/>
        </p:nvSpPr>
        <p:spPr>
          <a:xfrm flipV="1">
            <a:off x="6144768" y="3035808"/>
            <a:ext cx="914400" cy="2029968"/>
          </a:xfrm>
          <a:prstGeom prst="line">
            <a:avLst/>
          </a:prstGeom>
          <a:noFill/>
          <a:ln w="22225">
            <a:solidFill>
              <a:srgbClr val="028090"/>
            </a:solidFill>
            <a:prstDash val="solid"/>
            <a:tailEnd type="triangle"/>
          </a:ln>
        </p:spPr>
        <p:txBody>
          <a:bodyPr/>
          <a:p/>
        </p:txBody>
      </p:sp>
      <p:sp>
        <p:nvSpPr>
          <p:cNvPr id="53" name="Text 51"/>
          <p:cNvSpPr txBox="1"/>
          <p:nvPr/>
        </p:nvSpPr>
        <p:spPr>
          <a:xfrm>
            <a:off x="7360920" y="3200400"/>
            <a:ext cx="137160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② frame 7</a:t>
            </a:r>
            <a:endParaRPr lang="en-US" sz="1200" dirty="0"/>
          </a:p>
        </p:txBody>
      </p:sp>
      <p:sp>
        <p:nvSpPr>
          <p:cNvPr id="54" name="Shape 52"/>
          <p:cNvSpPr/>
          <p:nvPr/>
        </p:nvSpPr>
        <p:spPr>
          <a:xfrm>
            <a:off x="7086600" y="3657600"/>
            <a:ext cx="4572000" cy="2606040"/>
          </a:xfrm>
          <a:prstGeom prst="roundRect">
            <a:avLst>
              <a:gd name="adj" fmla="val 1754"/>
            </a:avLst>
          </a:prstGeom>
          <a:solidFill>
            <a:srgbClr val="212121"/>
          </a:solidFill>
          <a:ln/>
        </p:spPr>
        <p:txBody>
          <a:bodyPr/>
          <a:p/>
        </p:txBody>
      </p:sp>
      <p:sp>
        <p:nvSpPr>
          <p:cNvPr id="55" name="Text 53"/>
          <p:cNvSpPr txBox="1"/>
          <p:nvPr/>
        </p:nvSpPr>
        <p:spPr>
          <a:xfrm>
            <a:off x="7269480" y="3767328"/>
            <a:ext cx="4206240" cy="238658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0x3A7F   = 14975</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p = 14975 div 4096 = 3</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d = 14975 mod 4096 = 2687 = 0xA7F</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page table[3] = 7</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physical = 7 × 4096 + 2687</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 31359 = 0x7A7F   ✓</a:t>
            </a:r>
            <a:endParaRPr lang="en-US" sz="1300" dirty="0"/>
          </a:p>
        </p:txBody>
      </p:sp>
      <p:sp>
        <p:nvSpPr>
          <p:cNvPr id="56" name="Shape 54"/>
          <p:cNvSpPr/>
          <p:nvPr/>
        </p:nvSpPr>
        <p:spPr>
          <a:xfrm>
            <a:off x="548640" y="5074920"/>
            <a:ext cx="352044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57" name="Text 55"/>
          <p:cNvSpPr txBox="1"/>
          <p:nvPr/>
        </p:nvSpPr>
        <p:spPr>
          <a:xfrm>
            <a:off x="777240" y="5074920"/>
            <a:ext cx="3063240" cy="118872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Hex shortcut: replace the first digit (page) by the frame — 0x3A7F → 0x7A7F.</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Internal Fragmentation and the Choice of Page Size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Paging has no external fragmentation — but the last page of a process is usually not full.</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22</a:t>
            </a:r>
            <a:endParaRPr lang="en-US" sz="900" dirty="0"/>
          </a:p>
        </p:txBody>
      </p:sp>
      <p:sp>
        <p:nvSpPr>
          <p:cNvPr id="7" name="Shape 5"/>
          <p:cNvSpPr/>
          <p:nvPr/>
        </p:nvSpPr>
        <p:spPr>
          <a:xfrm>
            <a:off x="548640" y="2103120"/>
            <a:ext cx="5486400" cy="2148840"/>
          </a:xfrm>
          <a:prstGeom prst="roundRect">
            <a:avLst>
              <a:gd name="adj" fmla="val 2128"/>
            </a:avLst>
          </a:prstGeom>
          <a:solidFill>
            <a:srgbClr val="212121"/>
          </a:solidFill>
          <a:ln/>
        </p:spPr>
        <p:txBody>
          <a:bodyPr/>
          <a:p/>
        </p:txBody>
      </p:sp>
      <p:sp>
        <p:nvSpPr>
          <p:cNvPr id="8" name="Text 6"/>
          <p:cNvSpPr txBox="1"/>
          <p:nvPr/>
        </p:nvSpPr>
        <p:spPr>
          <a:xfrm>
            <a:off x="731520" y="2212848"/>
            <a:ext cx="5120640" cy="192938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Process size   10,000 bytes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Page size       4,096 bytes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10,000 = 2 × 4,096 + 1,808</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3 frames, last frame holds 1,808 bytes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internal fragmentation = 2,288 bytes</a:t>
            </a:r>
            <a:endParaRPr lang="en-US" sz="1350" dirty="0"/>
          </a:p>
        </p:txBody>
      </p:sp>
      <p:sp>
        <p:nvSpPr>
          <p:cNvPr id="9" name="Shape 7"/>
          <p:cNvSpPr/>
          <p:nvPr/>
        </p:nvSpPr>
        <p:spPr>
          <a:xfrm>
            <a:off x="548640" y="4526280"/>
            <a:ext cx="1828800" cy="640080"/>
          </a:xfrm>
          <a:prstGeom prst="rect">
            <a:avLst/>
          </a:prstGeom>
          <a:solidFill>
            <a:srgbClr val="02C39A"/>
          </a:solidFill>
          <a:ln w="12700">
            <a:solidFill>
              <a:srgbClr val="FFFFFF"/>
            </a:solidFill>
            <a:prstDash val="solid"/>
          </a:ln>
        </p:spPr>
        <p:txBody>
          <a:bodyPr/>
          <a:p/>
        </p:txBody>
      </p:sp>
      <p:sp>
        <p:nvSpPr>
          <p:cNvPr id="10" name="Text 8"/>
          <p:cNvSpPr txBox="1"/>
          <p:nvPr/>
        </p:nvSpPr>
        <p:spPr>
          <a:xfrm>
            <a:off x="548640" y="4526280"/>
            <a:ext cx="1828800" cy="640080"/>
          </a:xfrm>
          <a:prstGeom prst="rect">
            <a:avLst/>
          </a:prstGeom>
          <a:noFill/>
          <a:ln/>
        </p:spPr>
        <p:txBody>
          <a:bodyPr wrap="square" lIns="0" tIns="0" rIns="0" bIns="0" rtlCol="0" anchor="ctr"/>
          <a:lstStyle/>
          <a:p>
            <a:pPr algn="ctr" indent="0" marL="0">
              <a:buNone/>
            </a:pPr>
            <a:r>
              <a:rPr lang="en-US" sz="1150" b="1" dirty="0">
                <a:solidFill>
                  <a:srgbClr val="212121"/>
                </a:solidFill>
                <a:latin typeface="Calibri" pitchFamily="34" charset="0"/>
                <a:ea typeface="Calibri" pitchFamily="34" charset="-122"/>
                <a:cs typeface="Calibri" pitchFamily="34" charset="-120"/>
              </a:rPr>
              <a:t>page 0: full</a:t>
            </a:r>
            <a:endParaRPr lang="en-US" sz="1150" dirty="0"/>
          </a:p>
        </p:txBody>
      </p:sp>
      <p:sp>
        <p:nvSpPr>
          <p:cNvPr id="11" name="Shape 9"/>
          <p:cNvSpPr/>
          <p:nvPr/>
        </p:nvSpPr>
        <p:spPr>
          <a:xfrm>
            <a:off x="2377440" y="4526280"/>
            <a:ext cx="1828800" cy="640080"/>
          </a:xfrm>
          <a:prstGeom prst="rect">
            <a:avLst/>
          </a:prstGeom>
          <a:solidFill>
            <a:srgbClr val="02C39A"/>
          </a:solidFill>
          <a:ln w="12700">
            <a:solidFill>
              <a:srgbClr val="FFFFFF"/>
            </a:solidFill>
            <a:prstDash val="solid"/>
          </a:ln>
        </p:spPr>
        <p:txBody>
          <a:bodyPr/>
          <a:p/>
        </p:txBody>
      </p:sp>
      <p:sp>
        <p:nvSpPr>
          <p:cNvPr id="12" name="Text 10"/>
          <p:cNvSpPr txBox="1"/>
          <p:nvPr/>
        </p:nvSpPr>
        <p:spPr>
          <a:xfrm>
            <a:off x="2377440" y="4526280"/>
            <a:ext cx="1828800" cy="640080"/>
          </a:xfrm>
          <a:prstGeom prst="rect">
            <a:avLst/>
          </a:prstGeom>
          <a:noFill/>
          <a:ln/>
        </p:spPr>
        <p:txBody>
          <a:bodyPr wrap="square" lIns="0" tIns="0" rIns="0" bIns="0" rtlCol="0" anchor="ctr"/>
          <a:lstStyle/>
          <a:p>
            <a:pPr algn="ctr" indent="0" marL="0">
              <a:buNone/>
            </a:pPr>
            <a:r>
              <a:rPr lang="en-US" sz="1150" b="1" dirty="0">
                <a:solidFill>
                  <a:srgbClr val="212121"/>
                </a:solidFill>
                <a:latin typeface="Calibri" pitchFamily="34" charset="0"/>
                <a:ea typeface="Calibri" pitchFamily="34" charset="-122"/>
                <a:cs typeface="Calibri" pitchFamily="34" charset="-120"/>
              </a:rPr>
              <a:t>page 1: full</a:t>
            </a:r>
            <a:endParaRPr lang="en-US" sz="1150" dirty="0"/>
          </a:p>
        </p:txBody>
      </p:sp>
      <p:sp>
        <p:nvSpPr>
          <p:cNvPr id="13" name="Shape 11"/>
          <p:cNvSpPr/>
          <p:nvPr/>
        </p:nvSpPr>
        <p:spPr>
          <a:xfrm>
            <a:off x="4206240" y="4526280"/>
            <a:ext cx="807244" cy="640080"/>
          </a:xfrm>
          <a:prstGeom prst="rect">
            <a:avLst/>
          </a:prstGeom>
          <a:solidFill>
            <a:srgbClr val="02C39A"/>
          </a:solidFill>
          <a:ln w="12700">
            <a:solidFill>
              <a:srgbClr val="FFFFFF"/>
            </a:solidFill>
            <a:prstDash val="solid"/>
          </a:ln>
        </p:spPr>
        <p:txBody>
          <a:bodyPr/>
          <a:p/>
        </p:txBody>
      </p:sp>
      <p:sp>
        <p:nvSpPr>
          <p:cNvPr id="14" name="Text 12"/>
          <p:cNvSpPr txBox="1"/>
          <p:nvPr/>
        </p:nvSpPr>
        <p:spPr>
          <a:xfrm>
            <a:off x="4206240" y="4526280"/>
            <a:ext cx="807244" cy="640080"/>
          </a:xfrm>
          <a:prstGeom prst="rect">
            <a:avLst/>
          </a:prstGeom>
          <a:noFill/>
          <a:ln/>
        </p:spPr>
        <p:txBody>
          <a:bodyPr wrap="square" lIns="0" tIns="0" rIns="0" bIns="0" rtlCol="0" anchor="ctr"/>
          <a:lstStyle/>
          <a:p>
            <a:pPr algn="ctr" indent="0" marL="0">
              <a:buNone/>
            </a:pPr>
            <a:r>
              <a:rPr lang="en-US" sz="1150" b="1" dirty="0">
                <a:solidFill>
                  <a:srgbClr val="212121"/>
                </a:solidFill>
                <a:latin typeface="Calibri" pitchFamily="34" charset="0"/>
                <a:ea typeface="Calibri" pitchFamily="34" charset="-122"/>
                <a:cs typeface="Calibri" pitchFamily="34" charset="-120"/>
              </a:rPr>
              <a:t>1,808 used</a:t>
            </a:r>
            <a:endParaRPr lang="en-US" sz="1150" dirty="0"/>
          </a:p>
        </p:txBody>
      </p:sp>
      <p:sp>
        <p:nvSpPr>
          <p:cNvPr id="15" name="Shape 13"/>
          <p:cNvSpPr/>
          <p:nvPr/>
        </p:nvSpPr>
        <p:spPr>
          <a:xfrm>
            <a:off x="5013484" y="4526280"/>
            <a:ext cx="1021556" cy="640080"/>
          </a:xfrm>
          <a:prstGeom prst="rect">
            <a:avLst/>
          </a:prstGeom>
          <a:solidFill>
            <a:srgbClr val="FFFFFF"/>
          </a:solidFill>
          <a:ln w="15875">
            <a:solidFill>
              <a:srgbClr val="B5453A"/>
            </a:solidFill>
            <a:prstDash val="dash"/>
          </a:ln>
        </p:spPr>
        <p:txBody>
          <a:bodyPr/>
          <a:p/>
        </p:txBody>
      </p:sp>
      <p:sp>
        <p:nvSpPr>
          <p:cNvPr id="16" name="Text 14"/>
          <p:cNvSpPr txBox="1"/>
          <p:nvPr/>
        </p:nvSpPr>
        <p:spPr>
          <a:xfrm>
            <a:off x="5013484" y="4526280"/>
            <a:ext cx="1021556" cy="640080"/>
          </a:xfrm>
          <a:prstGeom prst="rect">
            <a:avLst/>
          </a:prstGeom>
          <a:noFill/>
          <a:ln/>
        </p:spPr>
        <p:txBody>
          <a:bodyPr wrap="square" lIns="0" tIns="0" rIns="0" bIns="0" rtlCol="0" anchor="ctr"/>
          <a:lstStyle/>
          <a:p>
            <a:pPr algn="ctr" indent="0" marL="0">
              <a:buNone/>
            </a:pPr>
            <a:r>
              <a:rPr lang="en-US" sz="1150" b="1" dirty="0">
                <a:solidFill>
                  <a:srgbClr val="B5453A"/>
                </a:solidFill>
                <a:latin typeface="Calibri" pitchFamily="34" charset="0"/>
                <a:ea typeface="Calibri" pitchFamily="34" charset="-122"/>
                <a:cs typeface="Calibri" pitchFamily="34" charset="-120"/>
              </a:rPr>
              <a:t>2,288 wasted</a:t>
            </a:r>
            <a:endParaRPr lang="en-US" sz="1150" dirty="0"/>
          </a:p>
        </p:txBody>
      </p:sp>
      <p:sp>
        <p:nvSpPr>
          <p:cNvPr id="17" name="Text 15"/>
          <p:cNvSpPr txBox="1"/>
          <p:nvPr/>
        </p:nvSpPr>
        <p:spPr>
          <a:xfrm>
            <a:off x="548640" y="5212080"/>
            <a:ext cx="548640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frame boundaries every 4,096 bytes</a:t>
            </a:r>
            <a:endParaRPr lang="en-US" sz="1100" dirty="0"/>
          </a:p>
        </p:txBody>
      </p:sp>
      <p:sp>
        <p:nvSpPr>
          <p:cNvPr id="18" name="Shape 16"/>
          <p:cNvSpPr/>
          <p:nvPr/>
        </p:nvSpPr>
        <p:spPr>
          <a:xfrm>
            <a:off x="6309360" y="2103120"/>
            <a:ext cx="534924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6537960" y="2286000"/>
            <a:ext cx="4892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Page size is a trade-off</a:t>
            </a:r>
            <a:endParaRPr lang="en-US" sz="1500" dirty="0"/>
          </a:p>
        </p:txBody>
      </p:sp>
      <p:sp>
        <p:nvSpPr>
          <p:cNvPr id="20" name="Text 18"/>
          <p:cNvSpPr txBox="1"/>
          <p:nvPr/>
        </p:nvSpPr>
        <p:spPr>
          <a:xfrm>
            <a:off x="6537960" y="2743200"/>
            <a:ext cx="4892040" cy="338328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Average waste:</a:t>
            </a:r>
            <a:r>
              <a:rPr lang="en-US" sz="1400" dirty="0">
                <a:solidFill>
                  <a:srgbClr val="3A464C"/>
                </a:solidFill>
                <a:latin typeface="Calibri" pitchFamily="34" charset="0"/>
                <a:ea typeface="Calibri" pitchFamily="34" charset="-122"/>
                <a:cs typeface="Calibri" pitchFamily="34" charset="-120"/>
              </a:rPr>
              <a:t> half a page per process (2 KB for 4 KB pages); worst case one page minus one byte.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Small pages:</a:t>
            </a:r>
            <a:r>
              <a:rPr lang="en-US" sz="1400" dirty="0">
                <a:solidFill>
                  <a:srgbClr val="3A464C"/>
                </a:solidFill>
                <a:latin typeface="Calibri" pitchFamily="34" charset="0"/>
                <a:ea typeface="Calibri" pitchFamily="34" charset="-122"/>
                <a:cs typeface="Calibri" pitchFamily="34" charset="-120"/>
              </a:rPr>
              <a:t> less waste, but more pages → bigger page tables.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Large pages:</a:t>
            </a:r>
            <a:r>
              <a:rPr lang="en-US" sz="1400" dirty="0">
                <a:solidFill>
                  <a:srgbClr val="3A464C"/>
                </a:solidFill>
                <a:latin typeface="Calibri" pitchFamily="34" charset="0"/>
                <a:ea typeface="Calibri" pitchFamily="34" charset="-122"/>
                <a:cs typeface="Calibri" pitchFamily="34" charset="-120"/>
              </a:rPr>
              <a:t> smaller tables and more efficient disk I/O, but more waste.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Linux on x86-64:</a:t>
            </a:r>
            <a:r>
              <a:rPr lang="en-US" sz="1400" dirty="0">
                <a:solidFill>
                  <a:srgbClr val="3A464C"/>
                </a:solidFill>
                <a:latin typeface="Calibri" pitchFamily="34" charset="0"/>
                <a:ea typeface="Calibri" pitchFamily="34" charset="-122"/>
                <a:cs typeface="Calibri" pitchFamily="34" charset="-120"/>
              </a:rPr>
              <a:t> 4 KB normally, plus "huge pages" of 2 MB or 1 GB for big programs such as databases.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How Big Is a Page Table?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One entry per page. With large address spaces the tables become very large.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23</a:t>
            </a:r>
            <a:endParaRPr lang="en-US" sz="900" dirty="0"/>
          </a:p>
        </p:txBody>
      </p:sp>
      <p:sp>
        <p:nvSpPr>
          <p:cNvPr id="7" name="Shape 5"/>
          <p:cNvSpPr/>
          <p:nvPr/>
        </p:nvSpPr>
        <p:spPr>
          <a:xfrm>
            <a:off x="548640" y="2103120"/>
            <a:ext cx="5852160" cy="2743200"/>
          </a:xfrm>
          <a:prstGeom prst="roundRect">
            <a:avLst>
              <a:gd name="adj" fmla="val 1667"/>
            </a:avLst>
          </a:prstGeom>
          <a:solidFill>
            <a:srgbClr val="212121"/>
          </a:solidFill>
          <a:ln/>
        </p:spPr>
        <p:txBody>
          <a:bodyPr/>
          <a:p/>
        </p:txBody>
      </p:sp>
      <p:sp>
        <p:nvSpPr>
          <p:cNvPr id="8" name="Text 6"/>
          <p:cNvSpPr txBox="1"/>
          <p:nvPr/>
        </p:nvSpPr>
        <p:spPr>
          <a:xfrm>
            <a:off x="731520" y="2212848"/>
            <a:ext cx="5486400" cy="252374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32-bit logical address, 4 KB pages, 4-byte entries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pages   = 2^32 / 2^12 = 2^20 = 1,048,576</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size    = 2^20 × 4 B  = 4 MB   per process!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100 processes → 400 MB of page tables</a:t>
            </a:r>
            <a:endParaRPr lang="en-US" sz="1350" dirty="0"/>
          </a:p>
        </p:txBody>
      </p:sp>
      <p:sp>
        <p:nvSpPr>
          <p:cNvPr id="9" name="Shape 7"/>
          <p:cNvSpPr/>
          <p:nvPr/>
        </p:nvSpPr>
        <p:spPr>
          <a:xfrm>
            <a:off x="548640" y="5074920"/>
            <a:ext cx="58521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77240" y="5074920"/>
            <a:ext cx="53949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Most of a process's address space is never used — so most of that table would be empty entries.</a:t>
            </a:r>
            <a:endParaRPr lang="en-US" sz="1400" dirty="0"/>
          </a:p>
        </p:txBody>
      </p:sp>
      <p:sp>
        <p:nvSpPr>
          <p:cNvPr id="11" name="Text 9"/>
          <p:cNvSpPr txBox="1"/>
          <p:nvPr/>
        </p:nvSpPr>
        <p:spPr>
          <a:xfrm>
            <a:off x="6675120" y="2103120"/>
            <a:ext cx="4937760" cy="320040"/>
          </a:xfrm>
          <a:prstGeom prst="rect">
            <a:avLst/>
          </a:prstGeom>
          <a:noFill/>
          <a:ln/>
        </p:spPr>
        <p:txBody>
          <a:bodyPr wrap="square" lIns="0" tIns="0" rIns="0" bIns="0" rtlCol="0" anchor="t"/>
          <a:lstStyle/>
          <a:p>
            <a:pPr indent="0" marL="0">
              <a:buNone/>
            </a:pPr>
            <a:r>
              <a:rPr lang="en-US" sz="1400" b="1" dirty="0">
                <a:solidFill>
                  <a:srgbClr val="028090"/>
                </a:solidFill>
                <a:latin typeface="Cambria" pitchFamily="34" charset="0"/>
                <a:ea typeface="Cambria" pitchFamily="34" charset="-122"/>
                <a:cs typeface="Cambria" pitchFamily="34" charset="-120"/>
              </a:rPr>
              <a:t>Two-level page table (32-bit)</a:t>
            </a:r>
            <a:endParaRPr lang="en-US" sz="1400" dirty="0"/>
          </a:p>
        </p:txBody>
      </p:sp>
      <p:sp>
        <p:nvSpPr>
          <p:cNvPr id="12" name="Shape 10"/>
          <p:cNvSpPr/>
          <p:nvPr/>
        </p:nvSpPr>
        <p:spPr>
          <a:xfrm>
            <a:off x="6675120" y="2560320"/>
            <a:ext cx="1463040" cy="640080"/>
          </a:xfrm>
          <a:prstGeom prst="roundRect">
            <a:avLst>
              <a:gd name="adj" fmla="val 7143"/>
            </a:avLst>
          </a:prstGeom>
          <a:solidFill>
            <a:srgbClr val="02C39A"/>
          </a:solidFill>
          <a:ln/>
        </p:spPr>
        <p:txBody>
          <a:bodyPr/>
          <a:p/>
        </p:txBody>
      </p:sp>
      <p:sp>
        <p:nvSpPr>
          <p:cNvPr id="13" name="Text 11"/>
          <p:cNvSpPr txBox="1"/>
          <p:nvPr/>
        </p:nvSpPr>
        <p:spPr>
          <a:xfrm>
            <a:off x="6675120" y="2560320"/>
            <a:ext cx="1463040" cy="64008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p1: 10</a:t>
            </a:r>
            <a:endParaRPr lang="en-US" sz="1300" dirty="0"/>
          </a:p>
        </p:txBody>
      </p:sp>
      <p:sp>
        <p:nvSpPr>
          <p:cNvPr id="14" name="Shape 12"/>
          <p:cNvSpPr/>
          <p:nvPr/>
        </p:nvSpPr>
        <p:spPr>
          <a:xfrm>
            <a:off x="8183880" y="2560320"/>
            <a:ext cx="1463040" cy="640080"/>
          </a:xfrm>
          <a:prstGeom prst="roundRect">
            <a:avLst>
              <a:gd name="adj" fmla="val 7143"/>
            </a:avLst>
          </a:prstGeom>
          <a:solidFill>
            <a:srgbClr val="D7E9E6"/>
          </a:solidFill>
          <a:ln/>
        </p:spPr>
        <p:txBody>
          <a:bodyPr/>
          <a:p/>
        </p:txBody>
      </p:sp>
      <p:sp>
        <p:nvSpPr>
          <p:cNvPr id="15" name="Text 13"/>
          <p:cNvSpPr txBox="1"/>
          <p:nvPr/>
        </p:nvSpPr>
        <p:spPr>
          <a:xfrm>
            <a:off x="8183880" y="2560320"/>
            <a:ext cx="1463040" cy="64008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p2: 10</a:t>
            </a:r>
            <a:endParaRPr lang="en-US" sz="1300" dirty="0"/>
          </a:p>
        </p:txBody>
      </p:sp>
      <p:sp>
        <p:nvSpPr>
          <p:cNvPr id="16" name="Shape 14"/>
          <p:cNvSpPr/>
          <p:nvPr/>
        </p:nvSpPr>
        <p:spPr>
          <a:xfrm>
            <a:off x="9692640" y="2560320"/>
            <a:ext cx="1965960" cy="640080"/>
          </a:xfrm>
          <a:prstGeom prst="roundRect">
            <a:avLst>
              <a:gd name="adj" fmla="val 7143"/>
            </a:avLst>
          </a:prstGeom>
          <a:solidFill>
            <a:srgbClr val="36454F"/>
          </a:solidFill>
          <a:ln/>
        </p:spPr>
        <p:txBody>
          <a:bodyPr/>
          <a:p/>
        </p:txBody>
      </p:sp>
      <p:sp>
        <p:nvSpPr>
          <p:cNvPr id="17" name="Text 15"/>
          <p:cNvSpPr txBox="1"/>
          <p:nvPr/>
        </p:nvSpPr>
        <p:spPr>
          <a:xfrm>
            <a:off x="9692640" y="2560320"/>
            <a:ext cx="1965960" cy="6400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 12 bits</a:t>
            </a:r>
            <a:endParaRPr lang="en-US" sz="1300" dirty="0"/>
          </a:p>
        </p:txBody>
      </p:sp>
      <p:sp>
        <p:nvSpPr>
          <p:cNvPr id="18" name="Shape 16"/>
          <p:cNvSpPr/>
          <p:nvPr/>
        </p:nvSpPr>
        <p:spPr>
          <a:xfrm>
            <a:off x="6675120" y="3566160"/>
            <a:ext cx="1463040" cy="1828800"/>
          </a:xfrm>
          <a:prstGeom prst="roundRect">
            <a:avLst>
              <a:gd name="adj" fmla="val 3125"/>
            </a:avLst>
          </a:prstGeom>
          <a:solidFill>
            <a:srgbClr val="F2F2F2"/>
          </a:solidFill>
          <a:ln/>
        </p:spPr>
        <p:txBody>
          <a:bodyPr/>
          <a:p/>
        </p:txBody>
      </p:sp>
      <p:sp>
        <p:nvSpPr>
          <p:cNvPr id="19" name="Text 17"/>
          <p:cNvSpPr txBox="1"/>
          <p:nvPr/>
        </p:nvSpPr>
        <p:spPr>
          <a:xfrm>
            <a:off x="6675120" y="3566160"/>
            <a:ext cx="1463040" cy="18288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outer table</a:t>
            </a:r>
            <a:endParaRPr lang="en-US" sz="1200" dirty="0"/>
          </a:p>
          <a:p>
            <a:pPr algn="ctr" indent="0" marL="0">
              <a:buNone/>
            </a:pPr>
            <a:r>
              <a:rPr lang="en-US" sz="1100" dirty="0">
                <a:solidFill>
                  <a:srgbClr val="36454F"/>
                </a:solidFill>
                <a:latin typeface="Calibri" pitchFamily="34" charset="0"/>
                <a:ea typeface="Calibri" pitchFamily="34" charset="-122"/>
                <a:cs typeface="Calibri" pitchFamily="34" charset="-120"/>
              </a:rPr>
              <a:t>1024 entries</a:t>
            </a:r>
            <a:endParaRPr lang="en-US" sz="1200" dirty="0"/>
          </a:p>
          <a:p>
            <a:pPr algn="ctr" indent="0" marL="0">
              <a:buNone/>
            </a:pPr>
            <a:r>
              <a:rPr lang="en-US" sz="1100" dirty="0">
                <a:solidFill>
                  <a:srgbClr val="36454F"/>
                </a:solidFill>
                <a:latin typeface="Calibri" pitchFamily="34" charset="0"/>
                <a:ea typeface="Calibri" pitchFamily="34" charset="-122"/>
                <a:cs typeface="Calibri" pitchFamily="34" charset="-120"/>
              </a:rPr>
              <a:t>= one 4 KB page</a:t>
            </a:r>
            <a:endParaRPr lang="en-US" sz="1200" dirty="0"/>
          </a:p>
        </p:txBody>
      </p:sp>
      <p:sp>
        <p:nvSpPr>
          <p:cNvPr id="20" name="Shape 18"/>
          <p:cNvSpPr/>
          <p:nvPr/>
        </p:nvSpPr>
        <p:spPr>
          <a:xfrm>
            <a:off x="8503920" y="3566160"/>
            <a:ext cx="1463040" cy="1828800"/>
          </a:xfrm>
          <a:prstGeom prst="roundRect">
            <a:avLst>
              <a:gd name="adj" fmla="val 3125"/>
            </a:avLst>
          </a:prstGeom>
          <a:solidFill>
            <a:srgbClr val="F2F2F2"/>
          </a:solidFill>
          <a:ln/>
        </p:spPr>
        <p:txBody>
          <a:bodyPr/>
          <a:p/>
        </p:txBody>
      </p:sp>
      <p:sp>
        <p:nvSpPr>
          <p:cNvPr id="21" name="Text 19"/>
          <p:cNvSpPr txBox="1"/>
          <p:nvPr/>
        </p:nvSpPr>
        <p:spPr>
          <a:xfrm>
            <a:off x="8503920" y="3566160"/>
            <a:ext cx="1463040" cy="1828800"/>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inner tables</a:t>
            </a:r>
            <a:endParaRPr lang="en-US" sz="1200" dirty="0"/>
          </a:p>
          <a:p>
            <a:pPr algn="ctr" indent="0" marL="0">
              <a:buNone/>
            </a:pPr>
            <a:r>
              <a:rPr lang="en-US" sz="1100" dirty="0">
                <a:solidFill>
                  <a:srgbClr val="36454F"/>
                </a:solidFill>
                <a:latin typeface="Calibri" pitchFamily="34" charset="0"/>
                <a:ea typeface="Calibri" pitchFamily="34" charset="-122"/>
                <a:cs typeface="Calibri" pitchFamily="34" charset="-120"/>
              </a:rPr>
              <a:t>only for the parts actually used</a:t>
            </a:r>
            <a:endParaRPr lang="en-US" sz="1200" dirty="0"/>
          </a:p>
        </p:txBody>
      </p:sp>
      <p:sp>
        <p:nvSpPr>
          <p:cNvPr id="22" name="Shape 20"/>
          <p:cNvSpPr/>
          <p:nvPr/>
        </p:nvSpPr>
        <p:spPr>
          <a:xfrm>
            <a:off x="10332720" y="3566160"/>
            <a:ext cx="1325880" cy="1828800"/>
          </a:xfrm>
          <a:prstGeom prst="roundRect">
            <a:avLst>
              <a:gd name="adj" fmla="val 3448"/>
            </a:avLst>
          </a:prstGeom>
          <a:solidFill>
            <a:srgbClr val="02C39A"/>
          </a:solidFill>
          <a:ln/>
        </p:spPr>
        <p:txBody>
          <a:bodyPr/>
          <a:p/>
        </p:txBody>
      </p:sp>
      <p:sp>
        <p:nvSpPr>
          <p:cNvPr id="23" name="Text 21"/>
          <p:cNvSpPr txBox="1"/>
          <p:nvPr/>
        </p:nvSpPr>
        <p:spPr>
          <a:xfrm>
            <a:off x="10332720" y="3566160"/>
            <a:ext cx="1325880" cy="18288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frame</a:t>
            </a:r>
            <a:endParaRPr lang="en-US" sz="1200" dirty="0"/>
          </a:p>
          <a:p>
            <a:pPr algn="ctr" indent="0" marL="0">
              <a:buNone/>
            </a:pPr>
            <a:r>
              <a:rPr lang="en-US" sz="1100" dirty="0">
                <a:solidFill>
                  <a:srgbClr val="212121"/>
                </a:solidFill>
                <a:latin typeface="Calibri" pitchFamily="34" charset="0"/>
                <a:ea typeface="Calibri" pitchFamily="34" charset="-122"/>
                <a:cs typeface="Calibri" pitchFamily="34" charset="-120"/>
              </a:rPr>
              <a:t>+ offset</a:t>
            </a:r>
            <a:endParaRPr lang="en-US" sz="1200" dirty="0"/>
          </a:p>
        </p:txBody>
      </p:sp>
      <p:sp>
        <p:nvSpPr>
          <p:cNvPr id="24" name="Shape 22"/>
          <p:cNvSpPr/>
          <p:nvPr/>
        </p:nvSpPr>
        <p:spPr>
          <a:xfrm>
            <a:off x="8156448" y="4480560"/>
            <a:ext cx="329184" cy="91"/>
          </a:xfrm>
          <a:prstGeom prst="line">
            <a:avLst/>
          </a:prstGeom>
          <a:noFill/>
          <a:ln w="19050">
            <a:solidFill>
              <a:srgbClr val="50808E"/>
            </a:solidFill>
            <a:prstDash val="solid"/>
            <a:tailEnd type="triangle"/>
          </a:ln>
        </p:spPr>
        <p:txBody>
          <a:bodyPr/>
          <a:p/>
        </p:txBody>
      </p:sp>
      <p:sp>
        <p:nvSpPr>
          <p:cNvPr id="25" name="Shape 23"/>
          <p:cNvSpPr/>
          <p:nvPr/>
        </p:nvSpPr>
        <p:spPr>
          <a:xfrm>
            <a:off x="9985248" y="4480560"/>
            <a:ext cx="329184" cy="91"/>
          </a:xfrm>
          <a:prstGeom prst="line">
            <a:avLst/>
          </a:prstGeom>
          <a:noFill/>
          <a:ln w="19050">
            <a:solidFill>
              <a:srgbClr val="50808E"/>
            </a:solidFill>
            <a:prstDash val="solid"/>
            <a:tailEnd type="triangle"/>
          </a:ln>
        </p:spPr>
        <p:txBody>
          <a:bodyPr/>
          <a:p/>
        </p:txBody>
      </p:sp>
      <p:sp>
        <p:nvSpPr>
          <p:cNvPr id="26" name="Text 24"/>
          <p:cNvSpPr txBox="1"/>
          <p:nvPr/>
        </p:nvSpPr>
        <p:spPr>
          <a:xfrm>
            <a:off x="6675120" y="5577840"/>
            <a:ext cx="4983480" cy="685800"/>
          </a:xfrm>
          <a:prstGeom prst="rect">
            <a:avLst/>
          </a:prstGeom>
          <a:noFill/>
          <a:ln/>
        </p:spPr>
        <p:txBody>
          <a:bodyPr wrap="square" lIns="0" tIns="0" rIns="0" bIns="0" rtlCol="0" anchor="t"/>
          <a:lstStyle/>
          <a:p>
            <a:pPr indent="0" marL="0">
              <a:buNone/>
            </a:pPr>
            <a:r>
              <a:rPr lang="en-US" sz="1300" dirty="0">
                <a:solidFill>
                  <a:srgbClr val="3A464C"/>
                </a:solidFill>
                <a:latin typeface="Calibri" pitchFamily="34" charset="0"/>
                <a:ea typeface="Calibri" pitchFamily="34" charset="-122"/>
                <a:cs typeface="Calibri" pitchFamily="34" charset="-120"/>
              </a:rPr>
              <a:t>The page table is itself paged. x86-64 uses 4 levels (9 + 9 + 9 + 9 + 12 = 48 bits); recent CPUs offer 5.</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SPEED</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TLB: A Cache for Page-Table Entries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page table lives in RAM, so every access would need two memory accesses: one for the entry, one for the data.</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24</a:t>
            </a:r>
            <a:endParaRPr lang="en-US" sz="900" dirty="0"/>
          </a:p>
        </p:txBody>
      </p:sp>
      <p:sp>
        <p:nvSpPr>
          <p:cNvPr id="7" name="Shape 5"/>
          <p:cNvSpPr/>
          <p:nvPr/>
        </p:nvSpPr>
        <p:spPr>
          <a:xfrm>
            <a:off x="548640" y="2834640"/>
            <a:ext cx="1097280" cy="822960"/>
          </a:xfrm>
          <a:prstGeom prst="roundRect">
            <a:avLst>
              <a:gd name="adj" fmla="val 5556"/>
            </a:avLst>
          </a:prstGeom>
          <a:solidFill>
            <a:srgbClr val="36454F"/>
          </a:solidFill>
          <a:ln/>
        </p:spPr>
        <p:txBody>
          <a:bodyPr/>
          <a:p/>
        </p:txBody>
      </p:sp>
      <p:sp>
        <p:nvSpPr>
          <p:cNvPr id="8" name="Text 6"/>
          <p:cNvSpPr txBox="1"/>
          <p:nvPr/>
        </p:nvSpPr>
        <p:spPr>
          <a:xfrm>
            <a:off x="548640" y="2834640"/>
            <a:ext cx="1097280" cy="8229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CPU</a:t>
            </a:r>
            <a:endParaRPr lang="en-US" sz="1600" dirty="0"/>
          </a:p>
        </p:txBody>
      </p:sp>
      <p:sp>
        <p:nvSpPr>
          <p:cNvPr id="9" name="Shape 7"/>
          <p:cNvSpPr/>
          <p:nvPr/>
        </p:nvSpPr>
        <p:spPr>
          <a:xfrm>
            <a:off x="1965960" y="2926080"/>
            <a:ext cx="548640" cy="640080"/>
          </a:xfrm>
          <a:prstGeom prst="roundRect">
            <a:avLst>
              <a:gd name="adj" fmla="val 8333"/>
            </a:avLst>
          </a:prstGeom>
          <a:solidFill>
            <a:srgbClr val="02C39A"/>
          </a:solidFill>
          <a:ln/>
        </p:spPr>
        <p:txBody>
          <a:bodyPr/>
          <a:p/>
        </p:txBody>
      </p:sp>
      <p:sp>
        <p:nvSpPr>
          <p:cNvPr id="10" name="Text 8"/>
          <p:cNvSpPr txBox="1"/>
          <p:nvPr/>
        </p:nvSpPr>
        <p:spPr>
          <a:xfrm>
            <a:off x="1965960" y="2926080"/>
            <a:ext cx="548640" cy="64008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p</a:t>
            </a:r>
            <a:endParaRPr lang="en-US" sz="1600" dirty="0"/>
          </a:p>
        </p:txBody>
      </p:sp>
      <p:sp>
        <p:nvSpPr>
          <p:cNvPr id="11" name="Shape 9"/>
          <p:cNvSpPr/>
          <p:nvPr/>
        </p:nvSpPr>
        <p:spPr>
          <a:xfrm>
            <a:off x="2514600" y="2926080"/>
            <a:ext cx="548640" cy="640080"/>
          </a:xfrm>
          <a:prstGeom prst="roundRect">
            <a:avLst>
              <a:gd name="adj" fmla="val 8333"/>
            </a:avLst>
          </a:prstGeom>
          <a:solidFill>
            <a:srgbClr val="F2F2F2"/>
          </a:solidFill>
          <a:ln/>
        </p:spPr>
        <p:txBody>
          <a:bodyPr/>
          <a:p/>
        </p:txBody>
      </p:sp>
      <p:sp>
        <p:nvSpPr>
          <p:cNvPr id="12" name="Text 10"/>
          <p:cNvSpPr txBox="1"/>
          <p:nvPr/>
        </p:nvSpPr>
        <p:spPr>
          <a:xfrm>
            <a:off x="2514600" y="2926080"/>
            <a:ext cx="548640" cy="640080"/>
          </a:xfrm>
          <a:prstGeom prst="rect">
            <a:avLst/>
          </a:prstGeom>
          <a:noFill/>
          <a:ln/>
        </p:spPr>
        <p:txBody>
          <a:bodyPr wrap="square" lIns="38100" tIns="38100" rIns="38100" bIns="38100" rtlCol="0" anchor="ctr"/>
          <a:lstStyle/>
          <a:p>
            <a:pPr algn="ctr" indent="0" marL="0">
              <a:buNone/>
            </a:pPr>
            <a:r>
              <a:rPr lang="en-US" sz="1600" b="1" dirty="0">
                <a:solidFill>
                  <a:srgbClr val="36454F"/>
                </a:solidFill>
                <a:latin typeface="Calibri" pitchFamily="34" charset="0"/>
                <a:ea typeface="Calibri" pitchFamily="34" charset="-122"/>
                <a:cs typeface="Calibri" pitchFamily="34" charset="-120"/>
              </a:rPr>
              <a:t>d</a:t>
            </a:r>
            <a:endParaRPr lang="en-US" sz="1600" dirty="0"/>
          </a:p>
        </p:txBody>
      </p:sp>
      <p:sp>
        <p:nvSpPr>
          <p:cNvPr id="13" name="Shape 11"/>
          <p:cNvSpPr/>
          <p:nvPr/>
        </p:nvSpPr>
        <p:spPr>
          <a:xfrm>
            <a:off x="1664208" y="3246120"/>
            <a:ext cx="283464" cy="91"/>
          </a:xfrm>
          <a:prstGeom prst="line">
            <a:avLst/>
          </a:prstGeom>
          <a:noFill/>
          <a:ln w="19050">
            <a:solidFill>
              <a:srgbClr val="50808E"/>
            </a:solidFill>
            <a:prstDash val="solid"/>
            <a:tailEnd type="triangle"/>
          </a:ln>
        </p:spPr>
        <p:txBody>
          <a:bodyPr/>
          <a:p/>
        </p:txBody>
      </p:sp>
      <p:sp>
        <p:nvSpPr>
          <p:cNvPr id="14" name="Shape 12"/>
          <p:cNvSpPr/>
          <p:nvPr/>
        </p:nvSpPr>
        <p:spPr>
          <a:xfrm>
            <a:off x="3657600" y="2331720"/>
            <a:ext cx="2103120" cy="1828800"/>
          </a:xfrm>
          <a:prstGeom prst="roundRect">
            <a:avLst>
              <a:gd name="adj" fmla="val 2500"/>
            </a:avLst>
          </a:prstGeom>
          <a:solidFill>
            <a:srgbClr val="D7E9E6"/>
          </a:solidFill>
          <a:ln/>
        </p:spPr>
        <p:txBody>
          <a:bodyPr/>
          <a:p/>
        </p:txBody>
      </p:sp>
      <p:sp>
        <p:nvSpPr>
          <p:cNvPr id="15" name="Text 13"/>
          <p:cNvSpPr txBox="1"/>
          <p:nvPr/>
        </p:nvSpPr>
        <p:spPr>
          <a:xfrm>
            <a:off x="3657600" y="2377440"/>
            <a:ext cx="2103120" cy="320040"/>
          </a:xfrm>
          <a:prstGeom prst="rect">
            <a:avLst/>
          </a:prstGeom>
          <a:noFill/>
          <a:ln/>
        </p:spPr>
        <p:txBody>
          <a:bodyPr wrap="square" lIns="0" tIns="0" rIns="0" bIns="0" rtlCol="0" anchor="t"/>
          <a:lstStyle/>
          <a:p>
            <a:pPr algn="ctr" indent="0" marL="0">
              <a:buNone/>
            </a:pPr>
            <a:r>
              <a:rPr lang="en-US" sz="1400" b="1" dirty="0">
                <a:solidFill>
                  <a:srgbClr val="36454F"/>
                </a:solidFill>
                <a:latin typeface="Calibri" pitchFamily="34" charset="0"/>
                <a:ea typeface="Calibri" pitchFamily="34" charset="-122"/>
                <a:cs typeface="Calibri" pitchFamily="34" charset="-120"/>
              </a:rPr>
              <a:t>TLB</a:t>
            </a:r>
            <a:endParaRPr lang="en-US" sz="1400" dirty="0"/>
          </a:p>
        </p:txBody>
      </p:sp>
      <p:sp>
        <p:nvSpPr>
          <p:cNvPr id="16" name="Shape 14"/>
          <p:cNvSpPr/>
          <p:nvPr/>
        </p:nvSpPr>
        <p:spPr>
          <a:xfrm>
            <a:off x="3840480" y="2743200"/>
            <a:ext cx="1737360" cy="384048"/>
          </a:xfrm>
          <a:prstGeom prst="roundRect">
            <a:avLst>
              <a:gd name="adj" fmla="val 11905"/>
            </a:avLst>
          </a:prstGeom>
          <a:solidFill>
            <a:srgbClr val="FFFFFF"/>
          </a:solidFill>
          <a:ln/>
        </p:spPr>
        <p:txBody>
          <a:bodyPr/>
          <a:p/>
        </p:txBody>
      </p:sp>
      <p:sp>
        <p:nvSpPr>
          <p:cNvPr id="17" name="Text 15"/>
          <p:cNvSpPr txBox="1"/>
          <p:nvPr/>
        </p:nvSpPr>
        <p:spPr>
          <a:xfrm>
            <a:off x="3840480" y="2743200"/>
            <a:ext cx="1737360" cy="384048"/>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p  →  f</a:t>
            </a:r>
            <a:endParaRPr lang="en-US" sz="1200" dirty="0"/>
          </a:p>
        </p:txBody>
      </p:sp>
      <p:sp>
        <p:nvSpPr>
          <p:cNvPr id="18" name="Shape 16"/>
          <p:cNvSpPr/>
          <p:nvPr/>
        </p:nvSpPr>
        <p:spPr>
          <a:xfrm>
            <a:off x="3840480" y="3200400"/>
            <a:ext cx="1737360" cy="384048"/>
          </a:xfrm>
          <a:prstGeom prst="roundRect">
            <a:avLst>
              <a:gd name="adj" fmla="val 11905"/>
            </a:avLst>
          </a:prstGeom>
          <a:solidFill>
            <a:srgbClr val="FFFFFF"/>
          </a:solidFill>
          <a:ln/>
        </p:spPr>
        <p:txBody>
          <a:bodyPr/>
          <a:p/>
        </p:txBody>
      </p:sp>
      <p:sp>
        <p:nvSpPr>
          <p:cNvPr id="19" name="Text 17"/>
          <p:cNvSpPr txBox="1"/>
          <p:nvPr/>
        </p:nvSpPr>
        <p:spPr>
          <a:xfrm>
            <a:off x="3840480" y="3200400"/>
            <a:ext cx="1737360" cy="384048"/>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p  →  f</a:t>
            </a:r>
            <a:endParaRPr lang="en-US" sz="1200" dirty="0"/>
          </a:p>
        </p:txBody>
      </p:sp>
      <p:sp>
        <p:nvSpPr>
          <p:cNvPr id="20" name="Shape 18"/>
          <p:cNvSpPr/>
          <p:nvPr/>
        </p:nvSpPr>
        <p:spPr>
          <a:xfrm>
            <a:off x="3840480" y="3657600"/>
            <a:ext cx="1737360" cy="384048"/>
          </a:xfrm>
          <a:prstGeom prst="roundRect">
            <a:avLst>
              <a:gd name="adj" fmla="val 11905"/>
            </a:avLst>
          </a:prstGeom>
          <a:solidFill>
            <a:srgbClr val="FFFFFF"/>
          </a:solidFill>
          <a:ln/>
        </p:spPr>
        <p:txBody>
          <a:bodyPr/>
          <a:p/>
        </p:txBody>
      </p:sp>
      <p:sp>
        <p:nvSpPr>
          <p:cNvPr id="21" name="Text 19"/>
          <p:cNvSpPr txBox="1"/>
          <p:nvPr/>
        </p:nvSpPr>
        <p:spPr>
          <a:xfrm>
            <a:off x="3840480" y="3657600"/>
            <a:ext cx="1737360" cy="384048"/>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p  →  f</a:t>
            </a:r>
            <a:endParaRPr lang="en-US" sz="1200" dirty="0"/>
          </a:p>
        </p:txBody>
      </p:sp>
      <p:sp>
        <p:nvSpPr>
          <p:cNvPr id="22" name="Shape 20"/>
          <p:cNvSpPr/>
          <p:nvPr/>
        </p:nvSpPr>
        <p:spPr>
          <a:xfrm flipV="1">
            <a:off x="2240280" y="2697480"/>
            <a:ext cx="1399032" cy="210312"/>
          </a:xfrm>
          <a:prstGeom prst="line">
            <a:avLst/>
          </a:prstGeom>
          <a:noFill/>
          <a:ln w="19050">
            <a:solidFill>
              <a:srgbClr val="50808E"/>
            </a:solidFill>
            <a:prstDash val="solid"/>
            <a:tailEnd type="triangle"/>
          </a:ln>
        </p:spPr>
        <p:txBody>
          <a:bodyPr/>
          <a:p/>
        </p:txBody>
      </p:sp>
      <p:sp>
        <p:nvSpPr>
          <p:cNvPr id="23" name="Shape 21"/>
          <p:cNvSpPr/>
          <p:nvPr/>
        </p:nvSpPr>
        <p:spPr>
          <a:xfrm>
            <a:off x="5779008" y="3246120"/>
            <a:ext cx="1170432" cy="91"/>
          </a:xfrm>
          <a:prstGeom prst="line">
            <a:avLst/>
          </a:prstGeom>
          <a:noFill/>
          <a:ln w="22225">
            <a:solidFill>
              <a:srgbClr val="028090"/>
            </a:solidFill>
            <a:prstDash val="solid"/>
            <a:tailEnd type="triangle"/>
          </a:ln>
        </p:spPr>
        <p:txBody>
          <a:bodyPr/>
          <a:p/>
        </p:txBody>
      </p:sp>
      <p:sp>
        <p:nvSpPr>
          <p:cNvPr id="24" name="Text 22"/>
          <p:cNvSpPr txBox="1"/>
          <p:nvPr/>
        </p:nvSpPr>
        <p:spPr>
          <a:xfrm>
            <a:off x="6035040" y="2880360"/>
            <a:ext cx="73152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hit</a:t>
            </a:r>
            <a:endParaRPr lang="en-US" sz="1200" dirty="0"/>
          </a:p>
        </p:txBody>
      </p:sp>
      <p:sp>
        <p:nvSpPr>
          <p:cNvPr id="25" name="Shape 23"/>
          <p:cNvSpPr/>
          <p:nvPr/>
        </p:nvSpPr>
        <p:spPr>
          <a:xfrm>
            <a:off x="6995160" y="2926080"/>
            <a:ext cx="548640" cy="640080"/>
          </a:xfrm>
          <a:prstGeom prst="roundRect">
            <a:avLst>
              <a:gd name="adj" fmla="val 8333"/>
            </a:avLst>
          </a:prstGeom>
          <a:solidFill>
            <a:srgbClr val="02C39A"/>
          </a:solidFill>
          <a:ln/>
        </p:spPr>
        <p:txBody>
          <a:bodyPr/>
          <a:p/>
        </p:txBody>
      </p:sp>
      <p:sp>
        <p:nvSpPr>
          <p:cNvPr id="26" name="Text 24"/>
          <p:cNvSpPr txBox="1"/>
          <p:nvPr/>
        </p:nvSpPr>
        <p:spPr>
          <a:xfrm>
            <a:off x="6995160" y="2926080"/>
            <a:ext cx="548640" cy="64008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f</a:t>
            </a:r>
            <a:endParaRPr lang="en-US" sz="1600" dirty="0"/>
          </a:p>
        </p:txBody>
      </p:sp>
      <p:sp>
        <p:nvSpPr>
          <p:cNvPr id="27" name="Shape 25"/>
          <p:cNvSpPr/>
          <p:nvPr/>
        </p:nvSpPr>
        <p:spPr>
          <a:xfrm>
            <a:off x="7543800" y="2926080"/>
            <a:ext cx="548640" cy="640080"/>
          </a:xfrm>
          <a:prstGeom prst="roundRect">
            <a:avLst>
              <a:gd name="adj" fmla="val 8333"/>
            </a:avLst>
          </a:prstGeom>
          <a:solidFill>
            <a:srgbClr val="F2F2F2"/>
          </a:solidFill>
          <a:ln/>
        </p:spPr>
        <p:txBody>
          <a:bodyPr/>
          <a:p/>
        </p:txBody>
      </p:sp>
      <p:sp>
        <p:nvSpPr>
          <p:cNvPr id="28" name="Text 26"/>
          <p:cNvSpPr txBox="1"/>
          <p:nvPr/>
        </p:nvSpPr>
        <p:spPr>
          <a:xfrm>
            <a:off x="7543800" y="2926080"/>
            <a:ext cx="548640" cy="640080"/>
          </a:xfrm>
          <a:prstGeom prst="rect">
            <a:avLst/>
          </a:prstGeom>
          <a:noFill/>
          <a:ln/>
        </p:spPr>
        <p:txBody>
          <a:bodyPr wrap="square" lIns="38100" tIns="38100" rIns="38100" bIns="38100" rtlCol="0" anchor="ctr"/>
          <a:lstStyle/>
          <a:p>
            <a:pPr algn="ctr" indent="0" marL="0">
              <a:buNone/>
            </a:pPr>
            <a:r>
              <a:rPr lang="en-US" sz="1600" b="1" dirty="0">
                <a:solidFill>
                  <a:srgbClr val="36454F"/>
                </a:solidFill>
                <a:latin typeface="Calibri" pitchFamily="34" charset="0"/>
                <a:ea typeface="Calibri" pitchFamily="34" charset="-122"/>
                <a:cs typeface="Calibri" pitchFamily="34" charset="-120"/>
              </a:rPr>
              <a:t>d</a:t>
            </a:r>
            <a:endParaRPr lang="en-US" sz="1600" dirty="0"/>
          </a:p>
        </p:txBody>
      </p:sp>
      <p:sp>
        <p:nvSpPr>
          <p:cNvPr id="29" name="Shape 27"/>
          <p:cNvSpPr/>
          <p:nvPr/>
        </p:nvSpPr>
        <p:spPr>
          <a:xfrm>
            <a:off x="8110728" y="3246120"/>
            <a:ext cx="667512" cy="91"/>
          </a:xfrm>
          <a:prstGeom prst="line">
            <a:avLst/>
          </a:prstGeom>
          <a:noFill/>
          <a:ln w="19050">
            <a:solidFill>
              <a:srgbClr val="50808E"/>
            </a:solidFill>
            <a:prstDash val="solid"/>
            <a:tailEnd type="triangle"/>
          </a:ln>
        </p:spPr>
        <p:txBody>
          <a:bodyPr/>
          <a:p/>
        </p:txBody>
      </p:sp>
      <p:sp>
        <p:nvSpPr>
          <p:cNvPr id="30" name="Shape 28"/>
          <p:cNvSpPr/>
          <p:nvPr/>
        </p:nvSpPr>
        <p:spPr>
          <a:xfrm>
            <a:off x="8823960" y="2240280"/>
            <a:ext cx="1097280" cy="3200400"/>
          </a:xfrm>
          <a:prstGeom prst="roundRect">
            <a:avLst>
              <a:gd name="adj" fmla="val 4167"/>
            </a:avLst>
          </a:prstGeom>
          <a:solidFill>
            <a:srgbClr val="F2F2F2"/>
          </a:solidFill>
          <a:ln/>
        </p:spPr>
        <p:txBody>
          <a:bodyPr/>
          <a:p/>
        </p:txBody>
      </p:sp>
      <p:sp>
        <p:nvSpPr>
          <p:cNvPr id="31" name="Text 29"/>
          <p:cNvSpPr txBox="1"/>
          <p:nvPr/>
        </p:nvSpPr>
        <p:spPr>
          <a:xfrm>
            <a:off x="8823960" y="2240280"/>
            <a:ext cx="1097280" cy="3200400"/>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Memory</a:t>
            </a:r>
            <a:endParaRPr lang="en-US" sz="1300" dirty="0"/>
          </a:p>
        </p:txBody>
      </p:sp>
      <p:sp>
        <p:nvSpPr>
          <p:cNvPr id="32" name="Shape 30"/>
          <p:cNvSpPr/>
          <p:nvPr/>
        </p:nvSpPr>
        <p:spPr>
          <a:xfrm>
            <a:off x="4709160" y="4178808"/>
            <a:ext cx="91" cy="530352"/>
          </a:xfrm>
          <a:prstGeom prst="line">
            <a:avLst/>
          </a:prstGeom>
          <a:noFill/>
          <a:ln w="22225">
            <a:solidFill>
              <a:srgbClr val="B5453A"/>
            </a:solidFill>
            <a:prstDash val="solid"/>
            <a:tailEnd type="triangle"/>
          </a:ln>
        </p:spPr>
        <p:txBody>
          <a:bodyPr/>
          <a:p/>
        </p:txBody>
      </p:sp>
      <p:sp>
        <p:nvSpPr>
          <p:cNvPr id="33" name="Text 31"/>
          <p:cNvSpPr txBox="1"/>
          <p:nvPr/>
        </p:nvSpPr>
        <p:spPr>
          <a:xfrm>
            <a:off x="4800600" y="4251960"/>
            <a:ext cx="731520" cy="274320"/>
          </a:xfrm>
          <a:prstGeom prst="rect">
            <a:avLst/>
          </a:prstGeom>
          <a:noFill/>
          <a:ln/>
        </p:spPr>
        <p:txBody>
          <a:bodyPr wrap="square" lIns="0" tIns="0" rIns="0" bIns="0" rtlCol="0" anchor="t"/>
          <a:lstStyle/>
          <a:p>
            <a:pPr indent="0" marL="0">
              <a:buNone/>
            </a:pPr>
            <a:r>
              <a:rPr lang="en-US" sz="1200" b="1" dirty="0">
                <a:solidFill>
                  <a:srgbClr val="B5453A"/>
                </a:solidFill>
                <a:latin typeface="Calibri" pitchFamily="34" charset="0"/>
                <a:ea typeface="Calibri" pitchFamily="34" charset="-122"/>
                <a:cs typeface="Calibri" pitchFamily="34" charset="-120"/>
              </a:rPr>
              <a:t>miss</a:t>
            </a:r>
            <a:endParaRPr lang="en-US" sz="1200" dirty="0"/>
          </a:p>
        </p:txBody>
      </p:sp>
      <p:sp>
        <p:nvSpPr>
          <p:cNvPr id="34" name="Shape 32"/>
          <p:cNvSpPr/>
          <p:nvPr/>
        </p:nvSpPr>
        <p:spPr>
          <a:xfrm>
            <a:off x="3657600" y="4754880"/>
            <a:ext cx="2103120" cy="777240"/>
          </a:xfrm>
          <a:prstGeom prst="roundRect">
            <a:avLst>
              <a:gd name="adj" fmla="val 5882"/>
            </a:avLst>
          </a:prstGeom>
          <a:solidFill>
            <a:srgbClr val="F2F2F2"/>
          </a:solidFill>
          <a:ln/>
        </p:spPr>
        <p:txBody>
          <a:bodyPr/>
          <a:p/>
        </p:txBody>
      </p:sp>
      <p:sp>
        <p:nvSpPr>
          <p:cNvPr id="35" name="Text 33"/>
          <p:cNvSpPr txBox="1"/>
          <p:nvPr/>
        </p:nvSpPr>
        <p:spPr>
          <a:xfrm>
            <a:off x="3657600" y="4754880"/>
            <a:ext cx="2103120" cy="777240"/>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page table</a:t>
            </a:r>
            <a:endParaRPr lang="en-US" sz="1300" dirty="0"/>
          </a:p>
          <a:p>
            <a:pPr algn="ctr" indent="0" marL="0">
              <a:buNone/>
            </a:pPr>
            <a:r>
              <a:rPr lang="en-US" sz="1100" dirty="0">
                <a:solidFill>
                  <a:srgbClr val="36454F"/>
                </a:solidFill>
                <a:latin typeface="Calibri" pitchFamily="34" charset="0"/>
                <a:ea typeface="Calibri" pitchFamily="34" charset="-122"/>
                <a:cs typeface="Calibri" pitchFamily="34" charset="-120"/>
              </a:rPr>
              <a:t>in RAM: +1 access</a:t>
            </a:r>
            <a:endParaRPr lang="en-US" sz="1300" dirty="0"/>
          </a:p>
        </p:txBody>
      </p:sp>
      <p:sp>
        <p:nvSpPr>
          <p:cNvPr id="36" name="Shape 34"/>
          <p:cNvSpPr/>
          <p:nvPr/>
        </p:nvSpPr>
        <p:spPr>
          <a:xfrm flipV="1">
            <a:off x="5779008" y="3593592"/>
            <a:ext cx="1490472" cy="1527048"/>
          </a:xfrm>
          <a:prstGeom prst="line">
            <a:avLst/>
          </a:prstGeom>
          <a:noFill/>
          <a:ln w="19050">
            <a:solidFill>
              <a:srgbClr val="B5453A"/>
            </a:solidFill>
            <a:prstDash val="solid"/>
            <a:tailEnd type="triangle"/>
          </a:ln>
        </p:spPr>
        <p:txBody>
          <a:bodyPr/>
          <a:p/>
        </p:txBody>
      </p:sp>
      <p:sp>
        <p:nvSpPr>
          <p:cNvPr id="37" name="Text 35"/>
          <p:cNvSpPr txBox="1"/>
          <p:nvPr/>
        </p:nvSpPr>
        <p:spPr>
          <a:xfrm>
            <a:off x="5989320" y="4846320"/>
            <a:ext cx="2194560" cy="274320"/>
          </a:xfrm>
          <a:prstGeom prst="rect">
            <a:avLst/>
          </a:prstGeom>
          <a:noFill/>
          <a:ln/>
        </p:spPr>
        <p:txBody>
          <a:bodyPr wrap="square" lIns="0" tIns="0" rIns="0" bIns="0" rtlCol="0" anchor="t"/>
          <a:lstStyle/>
          <a:p>
            <a:pPr indent="0" marL="0">
              <a:buNone/>
            </a:pPr>
            <a:r>
              <a:rPr lang="en-US" sz="1100" i="1" dirty="0">
                <a:solidFill>
                  <a:srgbClr val="B5453A"/>
                </a:solidFill>
                <a:latin typeface="Calibri" pitchFamily="34" charset="0"/>
                <a:ea typeface="Calibri" pitchFamily="34" charset="-122"/>
                <a:cs typeface="Calibri" pitchFamily="34" charset="-120"/>
              </a:rPr>
              <a:t>copy entry into TLB</a:t>
            </a:r>
            <a:endParaRPr lang="en-US" sz="1100" dirty="0"/>
          </a:p>
        </p:txBody>
      </p:sp>
      <p:sp>
        <p:nvSpPr>
          <p:cNvPr id="38" name="Shape 36"/>
          <p:cNvSpPr/>
          <p:nvPr/>
        </p:nvSpPr>
        <p:spPr>
          <a:xfrm>
            <a:off x="10104120" y="2240280"/>
            <a:ext cx="1554480" cy="320040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9" name="Text 37"/>
          <p:cNvSpPr txBox="1"/>
          <p:nvPr/>
        </p:nvSpPr>
        <p:spPr>
          <a:xfrm>
            <a:off x="10332720" y="2423160"/>
            <a:ext cx="1097280" cy="28803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Hit: 1 memory access.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Miss: 2 memory accesses.</a:t>
            </a:r>
            <a:endParaRPr lang="en-US" sz="1350" dirty="0"/>
          </a:p>
        </p:txBody>
      </p:sp>
      <p:sp>
        <p:nvSpPr>
          <p:cNvPr id="40" name="Shape 38"/>
          <p:cNvSpPr/>
          <p:nvPr/>
        </p:nvSpPr>
        <p:spPr>
          <a:xfrm>
            <a:off x="548640" y="5623560"/>
            <a:ext cx="11109960" cy="640080"/>
          </a:xfrm>
          <a:prstGeom prst="roundRect">
            <a:avLst>
              <a:gd name="adj" fmla="val 8571"/>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1" name="Text 39"/>
          <p:cNvSpPr txBox="1"/>
          <p:nvPr/>
        </p:nvSpPr>
        <p:spPr>
          <a:xfrm>
            <a:off x="777240" y="5623560"/>
            <a:ext cx="10652760" cy="64008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TLB (translation look-aside buffer): small (≈ 64 – 1536 entries), very fast associative memory inside the MMU.</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Effective Access Time (EAT)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Our convention: the TLB lookup time t_TLB is counted on every access; a miss costs one extra memory access.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25</a:t>
            </a:r>
            <a:endParaRPr lang="en-US" sz="900" dirty="0"/>
          </a:p>
        </p:txBody>
      </p:sp>
      <p:sp>
        <p:nvSpPr>
          <p:cNvPr id="7" name="Shape 5"/>
          <p:cNvSpPr/>
          <p:nvPr/>
        </p:nvSpPr>
        <p:spPr>
          <a:xfrm>
            <a:off x="548640" y="2103120"/>
            <a:ext cx="6035040" cy="1143000"/>
          </a:xfrm>
          <a:prstGeom prst="roundRect">
            <a:avLst>
              <a:gd name="adj" fmla="val 4000"/>
            </a:avLst>
          </a:prstGeom>
          <a:solidFill>
            <a:srgbClr val="212121"/>
          </a:solidFill>
          <a:ln/>
        </p:spPr>
        <p:txBody>
          <a:bodyPr/>
          <a:p/>
        </p:txBody>
      </p:sp>
      <p:sp>
        <p:nvSpPr>
          <p:cNvPr id="8" name="Text 6"/>
          <p:cNvSpPr txBox="1"/>
          <p:nvPr/>
        </p:nvSpPr>
        <p:spPr>
          <a:xfrm>
            <a:off x="731520" y="2212848"/>
            <a:ext cx="5669280" cy="923544"/>
          </a:xfrm>
          <a:prstGeom prst="rect">
            <a:avLst/>
          </a:prstGeom>
          <a:noFill/>
          <a:ln/>
        </p:spPr>
        <p:txBody>
          <a:bodyPr wrap="square" lIns="0" tIns="0" rIns="0" bIns="0" rtlCol="0" anchor="t"/>
          <a:lstStyle/>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EAT = α (t_TLB + t_m) + (1 − α)(t_TLB + 2 t_m)</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 t_TLB + (2 − α) t_m          α = TLB hit ratio</a:t>
            </a:r>
            <a:endParaRPr lang="en-US" sz="1400" dirty="0"/>
          </a:p>
        </p:txBody>
      </p:sp>
      <p:sp>
        <p:nvSpPr>
          <p:cNvPr id="9" name="Shape 7"/>
          <p:cNvSpPr/>
          <p:nvPr/>
        </p:nvSpPr>
        <p:spPr>
          <a:xfrm>
            <a:off x="548640" y="3429000"/>
            <a:ext cx="6035040" cy="2834640"/>
          </a:xfrm>
          <a:prstGeom prst="roundRect">
            <a:avLst>
              <a:gd name="adj" fmla="val 1613"/>
            </a:avLst>
          </a:prstGeom>
          <a:solidFill>
            <a:srgbClr val="212121"/>
          </a:solidFill>
          <a:ln/>
        </p:spPr>
        <p:txBody>
          <a:bodyPr/>
          <a:p/>
        </p:txBody>
      </p:sp>
      <p:sp>
        <p:nvSpPr>
          <p:cNvPr id="10" name="Text 8"/>
          <p:cNvSpPr txBox="1"/>
          <p:nvPr/>
        </p:nvSpPr>
        <p:spPr>
          <a:xfrm>
            <a:off x="731520" y="3538728"/>
            <a:ext cx="5669280" cy="261518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t_TLB = 20 ns,  t_m = 100 ns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α = 0.80:  0.80 × 120 + 0.20 × 220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 96 + 44    = 140 ns   (40 % slower)</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α = 0.98:  0.98 × 120 + 0.02 × 220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 117.6 + 4.4 = 122 ns  (22 % slower)</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no TLB  :  2 × 100    = 200 ns   (2× slower)</a:t>
            </a:r>
            <a:endParaRPr lang="en-US" sz="1350" dirty="0"/>
          </a:p>
        </p:txBody>
      </p:sp>
      <p:sp>
        <p:nvSpPr>
          <p:cNvPr id="11" name="Shape 9"/>
          <p:cNvSpPr/>
          <p:nvPr/>
        </p:nvSpPr>
        <p:spPr>
          <a:xfrm>
            <a:off x="6812280" y="2103120"/>
            <a:ext cx="484632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040880" y="2286000"/>
            <a:ext cx="43891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result</a:t>
            </a:r>
            <a:endParaRPr lang="en-US" sz="1500" dirty="0"/>
          </a:p>
        </p:txBody>
      </p:sp>
      <p:sp>
        <p:nvSpPr>
          <p:cNvPr id="13" name="Text 11"/>
          <p:cNvSpPr txBox="1"/>
          <p:nvPr/>
        </p:nvSpPr>
        <p:spPr>
          <a:xfrm>
            <a:off x="7040880" y="2743200"/>
            <a:ext cx="4389120" cy="33832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Without a TLB, paging would double every memory access.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hit ratio matters most: 80 % → 98 % saves 18 ns per access.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Modern simplification</a:t>
            </a:r>
            <a:r>
              <a:rPr lang="en-US" sz="1400" dirty="0">
                <a:solidFill>
                  <a:srgbClr val="3A464C"/>
                </a:solidFill>
                <a:latin typeface="Calibri" pitchFamily="34" charset="0"/>
                <a:ea typeface="Calibri" pitchFamily="34" charset="-122"/>
                <a:cs typeface="Calibri" pitchFamily="34" charset="-120"/>
              </a:rPr>
              <a:t> (Silberschatz 10e): the TLB lookup is overlapped with other work, so t_TLB ≈ 0: EAT = α t_m + (1 − α) 2 t_m → 120 ns for α = 0.80, 101 ns for α = 0.99.</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PROTECTION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Protection Bits and the Valid–Invalid Bit</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Each page-table entry carries more than a frame number. The MMU checks the bits on every access.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035040" cy="914400"/>
        </p:xfrm>
        <a:graphic>
          <a:graphicData uri="http://schemas.openxmlformats.org/drawingml/2006/table">
            <a:tbl>
              <a:tblPr/>
              <a:tblGrid>
                <a:gridCol w="1005840"/>
                <a:gridCol w="914400"/>
                <a:gridCol w="822960"/>
                <a:gridCol w="1371600"/>
                <a:gridCol w="192024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Page</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Frame</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Valid</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Permissions</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Contents</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v</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r-x</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v</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r-x</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v</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rw-</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v</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rw-</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heap</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v</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rw-</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stack</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B5453A"/>
                          </a:solidFill>
                          <a:latin typeface="Calibri" pitchFamily="34" charset="0"/>
                          <a:ea typeface="Calibri" pitchFamily="34" charset="-122"/>
                          <a:cs typeface="Calibri" pitchFamily="34" charset="-120"/>
                        </a:rPr>
                        <a:t>5 … 15</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B5453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B5453A"/>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B5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B5453A"/>
                          </a:solidFill>
                          <a:latin typeface="Calibri" pitchFamily="34" charset="0"/>
                          <a:ea typeface="Calibri" pitchFamily="34" charset="-122"/>
                          <a:cs typeface="Calibri" pitchFamily="34" charset="-120"/>
                        </a:rPr>
                        <a:t>not part of the process</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Shape 5"/>
          <p:cNvSpPr/>
          <p:nvPr/>
        </p:nvSpPr>
        <p:spPr>
          <a:xfrm>
            <a:off x="6812280" y="2103120"/>
            <a:ext cx="484632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6"/>
          <p:cNvSpPr txBox="1"/>
          <p:nvPr/>
        </p:nvSpPr>
        <p:spPr>
          <a:xfrm>
            <a:off x="7040880" y="2286000"/>
            <a:ext cx="43891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the hardware checks</a:t>
            </a:r>
            <a:endParaRPr lang="en-US" sz="1500" dirty="0"/>
          </a:p>
        </p:txBody>
      </p:sp>
      <p:sp>
        <p:nvSpPr>
          <p:cNvPr id="10" name="Text 7"/>
          <p:cNvSpPr txBox="1"/>
          <p:nvPr/>
        </p:nvSpPr>
        <p:spPr>
          <a:xfrm>
            <a:off x="7040880" y="2743200"/>
            <a:ext cx="4389120" cy="338328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Valid bit = i:</a:t>
            </a:r>
            <a:r>
              <a:rPr lang="en-US" sz="1400" dirty="0">
                <a:solidFill>
                  <a:srgbClr val="3A464C"/>
                </a:solidFill>
                <a:latin typeface="Calibri" pitchFamily="34" charset="0"/>
                <a:ea typeface="Calibri" pitchFamily="34" charset="-122"/>
                <a:cs typeface="Calibri" pitchFamily="34" charset="-120"/>
              </a:rPr>
              <a:t> the page is not in the process's address space → trap. Logical 0x5000 (page 5) traps.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Write to an r-x page:</a:t>
            </a:r>
            <a:r>
              <a:rPr lang="en-US" sz="1400" dirty="0">
                <a:solidFill>
                  <a:srgbClr val="3A464C"/>
                </a:solidFill>
                <a:latin typeface="Calibri" pitchFamily="34" charset="0"/>
                <a:ea typeface="Calibri" pitchFamily="34" charset="-122"/>
                <a:cs typeface="Calibri" pitchFamily="34" charset="-120"/>
              </a:rPr>
              <a:t> trap. Code cannot be overwritten by accident.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Execute an rw- page:</a:t>
            </a:r>
            <a:r>
              <a:rPr lang="en-US" sz="1400" dirty="0">
                <a:solidFill>
                  <a:srgbClr val="3A464C"/>
                </a:solidFill>
                <a:latin typeface="Calibri" pitchFamily="34" charset="0"/>
                <a:ea typeface="Calibri" pitchFamily="34" charset="-122"/>
                <a:cs typeface="Calibri" pitchFamily="34" charset="-120"/>
              </a:rPr>
              <a:t> trap (NX bit). Stops many attacks that inject code into data.</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You will see exactly these r, w, x letters in /proc/self/maps.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SHARING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Shared Pages: One Copy of the C Library for Everyone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Read-only (reentrant) code can be mapped into many processes at once. Only the data pages are private.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27</a:t>
            </a:r>
            <a:endParaRPr lang="en-US" sz="900" dirty="0"/>
          </a:p>
        </p:txBody>
      </p:sp>
      <p:sp>
        <p:nvSpPr>
          <p:cNvPr id="7" name="Text 5"/>
          <p:cNvSpPr txBox="1"/>
          <p:nvPr/>
        </p:nvSpPr>
        <p:spPr>
          <a:xfrm>
            <a:off x="548640" y="2194560"/>
            <a:ext cx="1965960" cy="274320"/>
          </a:xfrm>
          <a:prstGeom prst="rect">
            <a:avLst/>
          </a:prstGeom>
          <a:noFill/>
          <a:ln/>
        </p:spPr>
        <p:txBody>
          <a:bodyPr wrap="square" lIns="0" tIns="0" rIns="0" bIns="0" rtlCol="0" anchor="t"/>
          <a:lstStyle/>
          <a:p>
            <a:pPr algn="ctr" indent="0" marL="0">
              <a:buNone/>
            </a:pPr>
            <a:r>
              <a:rPr lang="en-US" sz="1300" b="1" dirty="0">
                <a:solidFill>
                  <a:srgbClr val="36454F"/>
                </a:solidFill>
                <a:latin typeface="Calibri" pitchFamily="34" charset="0"/>
                <a:ea typeface="Calibri" pitchFamily="34" charset="-122"/>
                <a:cs typeface="Calibri" pitchFamily="34" charset="-120"/>
              </a:rPr>
              <a:t>Process 1</a:t>
            </a:r>
            <a:endParaRPr lang="en-US" sz="1300" dirty="0"/>
          </a:p>
        </p:txBody>
      </p:sp>
      <p:sp>
        <p:nvSpPr>
          <p:cNvPr id="8" name="Shape 6"/>
          <p:cNvSpPr/>
          <p:nvPr/>
        </p:nvSpPr>
        <p:spPr>
          <a:xfrm>
            <a:off x="548640" y="2560320"/>
            <a:ext cx="1965960" cy="502920"/>
          </a:xfrm>
          <a:prstGeom prst="roundRect">
            <a:avLst>
              <a:gd name="adj" fmla="val 9091"/>
            </a:avLst>
          </a:prstGeom>
          <a:solidFill>
            <a:srgbClr val="02C39A"/>
          </a:solidFill>
          <a:ln/>
        </p:spPr>
        <p:txBody>
          <a:bodyPr/>
          <a:p/>
        </p:txBody>
      </p:sp>
      <p:sp>
        <p:nvSpPr>
          <p:cNvPr id="9" name="Text 7"/>
          <p:cNvSpPr txBox="1"/>
          <p:nvPr/>
        </p:nvSpPr>
        <p:spPr>
          <a:xfrm>
            <a:off x="548640" y="2560320"/>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0  → 3</a:t>
            </a:r>
            <a:endParaRPr lang="en-US" sz="1250" dirty="0"/>
          </a:p>
        </p:txBody>
      </p:sp>
      <p:sp>
        <p:nvSpPr>
          <p:cNvPr id="10" name="Shape 8"/>
          <p:cNvSpPr/>
          <p:nvPr/>
        </p:nvSpPr>
        <p:spPr>
          <a:xfrm>
            <a:off x="548640" y="3127248"/>
            <a:ext cx="1965960" cy="502920"/>
          </a:xfrm>
          <a:prstGeom prst="roundRect">
            <a:avLst>
              <a:gd name="adj" fmla="val 9091"/>
            </a:avLst>
          </a:prstGeom>
          <a:solidFill>
            <a:srgbClr val="02C39A"/>
          </a:solidFill>
          <a:ln/>
        </p:spPr>
        <p:txBody>
          <a:bodyPr/>
          <a:p/>
        </p:txBody>
      </p:sp>
      <p:sp>
        <p:nvSpPr>
          <p:cNvPr id="11" name="Text 9"/>
          <p:cNvSpPr txBox="1"/>
          <p:nvPr/>
        </p:nvSpPr>
        <p:spPr>
          <a:xfrm>
            <a:off x="548640" y="3127248"/>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1  → 4</a:t>
            </a:r>
            <a:endParaRPr lang="en-US" sz="1250" dirty="0"/>
          </a:p>
        </p:txBody>
      </p:sp>
      <p:sp>
        <p:nvSpPr>
          <p:cNvPr id="12" name="Shape 10"/>
          <p:cNvSpPr/>
          <p:nvPr/>
        </p:nvSpPr>
        <p:spPr>
          <a:xfrm>
            <a:off x="548640" y="3694176"/>
            <a:ext cx="1965960" cy="502920"/>
          </a:xfrm>
          <a:prstGeom prst="roundRect">
            <a:avLst>
              <a:gd name="adj" fmla="val 9091"/>
            </a:avLst>
          </a:prstGeom>
          <a:solidFill>
            <a:srgbClr val="02C39A"/>
          </a:solidFill>
          <a:ln/>
        </p:spPr>
        <p:txBody>
          <a:bodyPr/>
          <a:p/>
        </p:txBody>
      </p:sp>
      <p:sp>
        <p:nvSpPr>
          <p:cNvPr id="13" name="Text 11"/>
          <p:cNvSpPr txBox="1"/>
          <p:nvPr/>
        </p:nvSpPr>
        <p:spPr>
          <a:xfrm>
            <a:off x="548640" y="3694176"/>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2  → 6</a:t>
            </a:r>
            <a:endParaRPr lang="en-US" sz="1250" dirty="0"/>
          </a:p>
        </p:txBody>
      </p:sp>
      <p:sp>
        <p:nvSpPr>
          <p:cNvPr id="14" name="Shape 12"/>
          <p:cNvSpPr/>
          <p:nvPr/>
        </p:nvSpPr>
        <p:spPr>
          <a:xfrm>
            <a:off x="548640" y="4261104"/>
            <a:ext cx="1965960" cy="502920"/>
          </a:xfrm>
          <a:prstGeom prst="roundRect">
            <a:avLst>
              <a:gd name="adj" fmla="val 9091"/>
            </a:avLst>
          </a:prstGeom>
          <a:solidFill>
            <a:srgbClr val="C9D3D6"/>
          </a:solidFill>
          <a:ln/>
        </p:spPr>
        <p:txBody>
          <a:bodyPr/>
          <a:p/>
        </p:txBody>
      </p:sp>
      <p:sp>
        <p:nvSpPr>
          <p:cNvPr id="15" name="Text 13"/>
          <p:cNvSpPr txBox="1"/>
          <p:nvPr/>
        </p:nvSpPr>
        <p:spPr>
          <a:xfrm>
            <a:off x="548640" y="4261104"/>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data  → 8</a:t>
            </a:r>
            <a:endParaRPr lang="en-US" sz="1250" dirty="0"/>
          </a:p>
        </p:txBody>
      </p:sp>
      <p:sp>
        <p:nvSpPr>
          <p:cNvPr id="16" name="Text 14"/>
          <p:cNvSpPr txBox="1"/>
          <p:nvPr/>
        </p:nvSpPr>
        <p:spPr>
          <a:xfrm>
            <a:off x="2697480" y="2194560"/>
            <a:ext cx="1965960" cy="274320"/>
          </a:xfrm>
          <a:prstGeom prst="rect">
            <a:avLst/>
          </a:prstGeom>
          <a:noFill/>
          <a:ln/>
        </p:spPr>
        <p:txBody>
          <a:bodyPr wrap="square" lIns="0" tIns="0" rIns="0" bIns="0" rtlCol="0" anchor="t"/>
          <a:lstStyle/>
          <a:p>
            <a:pPr algn="ctr" indent="0" marL="0">
              <a:buNone/>
            </a:pPr>
            <a:r>
              <a:rPr lang="en-US" sz="1300" b="1" dirty="0">
                <a:solidFill>
                  <a:srgbClr val="36454F"/>
                </a:solidFill>
                <a:latin typeface="Calibri" pitchFamily="34" charset="0"/>
                <a:ea typeface="Calibri" pitchFamily="34" charset="-122"/>
                <a:cs typeface="Calibri" pitchFamily="34" charset="-120"/>
              </a:rPr>
              <a:t>Process 2</a:t>
            </a:r>
            <a:endParaRPr lang="en-US" sz="1300" dirty="0"/>
          </a:p>
        </p:txBody>
      </p:sp>
      <p:sp>
        <p:nvSpPr>
          <p:cNvPr id="17" name="Shape 15"/>
          <p:cNvSpPr/>
          <p:nvPr/>
        </p:nvSpPr>
        <p:spPr>
          <a:xfrm>
            <a:off x="2697480" y="2560320"/>
            <a:ext cx="1965960" cy="502920"/>
          </a:xfrm>
          <a:prstGeom prst="roundRect">
            <a:avLst>
              <a:gd name="adj" fmla="val 9091"/>
            </a:avLst>
          </a:prstGeom>
          <a:solidFill>
            <a:srgbClr val="02C39A"/>
          </a:solidFill>
          <a:ln/>
        </p:spPr>
        <p:txBody>
          <a:bodyPr/>
          <a:p/>
        </p:txBody>
      </p:sp>
      <p:sp>
        <p:nvSpPr>
          <p:cNvPr id="18" name="Text 16"/>
          <p:cNvSpPr txBox="1"/>
          <p:nvPr/>
        </p:nvSpPr>
        <p:spPr>
          <a:xfrm>
            <a:off x="2697480" y="2560320"/>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0  → 3</a:t>
            </a:r>
            <a:endParaRPr lang="en-US" sz="1250" dirty="0"/>
          </a:p>
        </p:txBody>
      </p:sp>
      <p:sp>
        <p:nvSpPr>
          <p:cNvPr id="19" name="Shape 17"/>
          <p:cNvSpPr/>
          <p:nvPr/>
        </p:nvSpPr>
        <p:spPr>
          <a:xfrm>
            <a:off x="2697480" y="3127248"/>
            <a:ext cx="1965960" cy="502920"/>
          </a:xfrm>
          <a:prstGeom prst="roundRect">
            <a:avLst>
              <a:gd name="adj" fmla="val 9091"/>
            </a:avLst>
          </a:prstGeom>
          <a:solidFill>
            <a:srgbClr val="02C39A"/>
          </a:solidFill>
          <a:ln/>
        </p:spPr>
        <p:txBody>
          <a:bodyPr/>
          <a:p/>
        </p:txBody>
      </p:sp>
      <p:sp>
        <p:nvSpPr>
          <p:cNvPr id="20" name="Text 18"/>
          <p:cNvSpPr txBox="1"/>
          <p:nvPr/>
        </p:nvSpPr>
        <p:spPr>
          <a:xfrm>
            <a:off x="2697480" y="3127248"/>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1  → 4</a:t>
            </a:r>
            <a:endParaRPr lang="en-US" sz="1250" dirty="0"/>
          </a:p>
        </p:txBody>
      </p:sp>
      <p:sp>
        <p:nvSpPr>
          <p:cNvPr id="21" name="Shape 19"/>
          <p:cNvSpPr/>
          <p:nvPr/>
        </p:nvSpPr>
        <p:spPr>
          <a:xfrm>
            <a:off x="2697480" y="3694176"/>
            <a:ext cx="1965960" cy="502920"/>
          </a:xfrm>
          <a:prstGeom prst="roundRect">
            <a:avLst>
              <a:gd name="adj" fmla="val 9091"/>
            </a:avLst>
          </a:prstGeom>
          <a:solidFill>
            <a:srgbClr val="02C39A"/>
          </a:solidFill>
          <a:ln/>
        </p:spPr>
        <p:txBody>
          <a:bodyPr/>
          <a:p/>
        </p:txBody>
      </p:sp>
      <p:sp>
        <p:nvSpPr>
          <p:cNvPr id="22" name="Text 20"/>
          <p:cNvSpPr txBox="1"/>
          <p:nvPr/>
        </p:nvSpPr>
        <p:spPr>
          <a:xfrm>
            <a:off x="2697480" y="3694176"/>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2  → 6</a:t>
            </a:r>
            <a:endParaRPr lang="en-US" sz="1250" dirty="0"/>
          </a:p>
        </p:txBody>
      </p:sp>
      <p:sp>
        <p:nvSpPr>
          <p:cNvPr id="23" name="Shape 21"/>
          <p:cNvSpPr/>
          <p:nvPr/>
        </p:nvSpPr>
        <p:spPr>
          <a:xfrm>
            <a:off x="2697480" y="4261104"/>
            <a:ext cx="1965960" cy="502920"/>
          </a:xfrm>
          <a:prstGeom prst="roundRect">
            <a:avLst>
              <a:gd name="adj" fmla="val 9091"/>
            </a:avLst>
          </a:prstGeom>
          <a:solidFill>
            <a:srgbClr val="C9D3D6"/>
          </a:solidFill>
          <a:ln/>
        </p:spPr>
        <p:txBody>
          <a:bodyPr/>
          <a:p/>
        </p:txBody>
      </p:sp>
      <p:sp>
        <p:nvSpPr>
          <p:cNvPr id="24" name="Text 22"/>
          <p:cNvSpPr txBox="1"/>
          <p:nvPr/>
        </p:nvSpPr>
        <p:spPr>
          <a:xfrm>
            <a:off x="2697480" y="4261104"/>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data  → 11</a:t>
            </a:r>
            <a:endParaRPr lang="en-US" sz="1250" dirty="0"/>
          </a:p>
        </p:txBody>
      </p:sp>
      <p:sp>
        <p:nvSpPr>
          <p:cNvPr id="25" name="Text 23"/>
          <p:cNvSpPr txBox="1"/>
          <p:nvPr/>
        </p:nvSpPr>
        <p:spPr>
          <a:xfrm>
            <a:off x="4846320" y="2194560"/>
            <a:ext cx="1965960" cy="274320"/>
          </a:xfrm>
          <a:prstGeom prst="rect">
            <a:avLst/>
          </a:prstGeom>
          <a:noFill/>
          <a:ln/>
        </p:spPr>
        <p:txBody>
          <a:bodyPr wrap="square" lIns="0" tIns="0" rIns="0" bIns="0" rtlCol="0" anchor="t"/>
          <a:lstStyle/>
          <a:p>
            <a:pPr algn="ctr" indent="0" marL="0">
              <a:buNone/>
            </a:pPr>
            <a:r>
              <a:rPr lang="en-US" sz="1300" b="1" dirty="0">
                <a:solidFill>
                  <a:srgbClr val="36454F"/>
                </a:solidFill>
                <a:latin typeface="Calibri" pitchFamily="34" charset="0"/>
                <a:ea typeface="Calibri" pitchFamily="34" charset="-122"/>
                <a:cs typeface="Calibri" pitchFamily="34" charset="-120"/>
              </a:rPr>
              <a:t>Process 3</a:t>
            </a:r>
            <a:endParaRPr lang="en-US" sz="1300" dirty="0"/>
          </a:p>
        </p:txBody>
      </p:sp>
      <p:sp>
        <p:nvSpPr>
          <p:cNvPr id="26" name="Shape 24"/>
          <p:cNvSpPr/>
          <p:nvPr/>
        </p:nvSpPr>
        <p:spPr>
          <a:xfrm>
            <a:off x="4846320" y="2560320"/>
            <a:ext cx="1965960" cy="502920"/>
          </a:xfrm>
          <a:prstGeom prst="roundRect">
            <a:avLst>
              <a:gd name="adj" fmla="val 9091"/>
            </a:avLst>
          </a:prstGeom>
          <a:solidFill>
            <a:srgbClr val="02C39A"/>
          </a:solidFill>
          <a:ln/>
        </p:spPr>
        <p:txBody>
          <a:bodyPr/>
          <a:p/>
        </p:txBody>
      </p:sp>
      <p:sp>
        <p:nvSpPr>
          <p:cNvPr id="27" name="Text 25"/>
          <p:cNvSpPr txBox="1"/>
          <p:nvPr/>
        </p:nvSpPr>
        <p:spPr>
          <a:xfrm>
            <a:off x="4846320" y="2560320"/>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0  → 3</a:t>
            </a:r>
            <a:endParaRPr lang="en-US" sz="1250" dirty="0"/>
          </a:p>
        </p:txBody>
      </p:sp>
      <p:sp>
        <p:nvSpPr>
          <p:cNvPr id="28" name="Shape 26"/>
          <p:cNvSpPr/>
          <p:nvPr/>
        </p:nvSpPr>
        <p:spPr>
          <a:xfrm>
            <a:off x="4846320" y="3127248"/>
            <a:ext cx="1965960" cy="502920"/>
          </a:xfrm>
          <a:prstGeom prst="roundRect">
            <a:avLst>
              <a:gd name="adj" fmla="val 9091"/>
            </a:avLst>
          </a:prstGeom>
          <a:solidFill>
            <a:srgbClr val="02C39A"/>
          </a:solidFill>
          <a:ln/>
        </p:spPr>
        <p:txBody>
          <a:bodyPr/>
          <a:p/>
        </p:txBody>
      </p:sp>
      <p:sp>
        <p:nvSpPr>
          <p:cNvPr id="29" name="Text 27"/>
          <p:cNvSpPr txBox="1"/>
          <p:nvPr/>
        </p:nvSpPr>
        <p:spPr>
          <a:xfrm>
            <a:off x="4846320" y="3127248"/>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1  → 4</a:t>
            </a:r>
            <a:endParaRPr lang="en-US" sz="1250" dirty="0"/>
          </a:p>
        </p:txBody>
      </p:sp>
      <p:sp>
        <p:nvSpPr>
          <p:cNvPr id="30" name="Shape 28"/>
          <p:cNvSpPr/>
          <p:nvPr/>
        </p:nvSpPr>
        <p:spPr>
          <a:xfrm>
            <a:off x="4846320" y="3694176"/>
            <a:ext cx="1965960" cy="502920"/>
          </a:xfrm>
          <a:prstGeom prst="roundRect">
            <a:avLst>
              <a:gd name="adj" fmla="val 9091"/>
            </a:avLst>
          </a:prstGeom>
          <a:solidFill>
            <a:srgbClr val="02C39A"/>
          </a:solidFill>
          <a:ln/>
        </p:spPr>
        <p:txBody>
          <a:bodyPr/>
          <a:p/>
        </p:txBody>
      </p:sp>
      <p:sp>
        <p:nvSpPr>
          <p:cNvPr id="31" name="Text 29"/>
          <p:cNvSpPr txBox="1"/>
          <p:nvPr/>
        </p:nvSpPr>
        <p:spPr>
          <a:xfrm>
            <a:off x="4846320" y="3694176"/>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libc 2  → 6</a:t>
            </a:r>
            <a:endParaRPr lang="en-US" sz="1250" dirty="0"/>
          </a:p>
        </p:txBody>
      </p:sp>
      <p:sp>
        <p:nvSpPr>
          <p:cNvPr id="32" name="Shape 30"/>
          <p:cNvSpPr/>
          <p:nvPr/>
        </p:nvSpPr>
        <p:spPr>
          <a:xfrm>
            <a:off x="4846320" y="4261104"/>
            <a:ext cx="1965960" cy="502920"/>
          </a:xfrm>
          <a:prstGeom prst="roundRect">
            <a:avLst>
              <a:gd name="adj" fmla="val 9091"/>
            </a:avLst>
          </a:prstGeom>
          <a:solidFill>
            <a:srgbClr val="C9D3D6"/>
          </a:solidFill>
          <a:ln/>
        </p:spPr>
        <p:txBody>
          <a:bodyPr/>
          <a:p/>
        </p:txBody>
      </p:sp>
      <p:sp>
        <p:nvSpPr>
          <p:cNvPr id="33" name="Text 31"/>
          <p:cNvSpPr txBox="1"/>
          <p:nvPr/>
        </p:nvSpPr>
        <p:spPr>
          <a:xfrm>
            <a:off x="4846320" y="4261104"/>
            <a:ext cx="1965960" cy="50292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data  → 14</a:t>
            </a:r>
            <a:endParaRPr lang="en-US" sz="1250" dirty="0"/>
          </a:p>
        </p:txBody>
      </p:sp>
      <p:sp>
        <p:nvSpPr>
          <p:cNvPr id="34" name="Text 32"/>
          <p:cNvSpPr txBox="1"/>
          <p:nvPr/>
        </p:nvSpPr>
        <p:spPr>
          <a:xfrm>
            <a:off x="548640" y="4754880"/>
            <a:ext cx="6309360" cy="22860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entries read: page → frame</a:t>
            </a:r>
            <a:endParaRPr lang="en-US" sz="1100" dirty="0"/>
          </a:p>
        </p:txBody>
      </p:sp>
      <p:sp>
        <p:nvSpPr>
          <p:cNvPr id="35" name="Text 33"/>
          <p:cNvSpPr txBox="1"/>
          <p:nvPr/>
        </p:nvSpPr>
        <p:spPr>
          <a:xfrm>
            <a:off x="6949440" y="1828800"/>
            <a:ext cx="237744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physical frames</a:t>
            </a:r>
            <a:endParaRPr lang="en-US" sz="1200" dirty="0"/>
          </a:p>
        </p:txBody>
      </p:sp>
      <p:sp>
        <p:nvSpPr>
          <p:cNvPr id="36" name="Shape 34"/>
          <p:cNvSpPr/>
          <p:nvPr/>
        </p:nvSpPr>
        <p:spPr>
          <a:xfrm>
            <a:off x="7315200" y="2148840"/>
            <a:ext cx="1645920" cy="256032"/>
          </a:xfrm>
          <a:prstGeom prst="rect">
            <a:avLst/>
          </a:prstGeom>
          <a:solidFill>
            <a:srgbClr val="FFFFFF"/>
          </a:solidFill>
          <a:ln w="6350">
            <a:solidFill>
              <a:srgbClr val="AAB4B8"/>
            </a:solidFill>
            <a:prstDash val="solid"/>
          </a:ln>
        </p:spPr>
        <p:txBody>
          <a:bodyPr/>
          <a:p/>
        </p:txBody>
      </p:sp>
      <p:sp>
        <p:nvSpPr>
          <p:cNvPr id="37" name="Text 35"/>
          <p:cNvSpPr txBox="1"/>
          <p:nvPr/>
        </p:nvSpPr>
        <p:spPr>
          <a:xfrm>
            <a:off x="7315200" y="2148840"/>
            <a:ext cx="1645920" cy="256032"/>
          </a:xfrm>
          <a:prstGeom prst="rect">
            <a:avLst/>
          </a:prstGeom>
          <a:noFill/>
          <a:ln/>
        </p:spPr>
        <p:txBody>
          <a:bodyPr wrap="square" lIns="0" tIns="0" rIns="0" bIns="0" rtlCol="0" anchor="ctr"/>
          <a:lstStyle/>
          <a:p>
            <a:pPr algn="ctr" indent="0" marL="0">
              <a:buNone/>
            </a:pPr>
            <a:endParaRPr lang="en-US" sz="1000" dirty="0"/>
          </a:p>
        </p:txBody>
      </p:sp>
      <p:sp>
        <p:nvSpPr>
          <p:cNvPr id="38" name="Text 36"/>
          <p:cNvSpPr txBox="1"/>
          <p:nvPr/>
        </p:nvSpPr>
        <p:spPr>
          <a:xfrm>
            <a:off x="6858000" y="2148840"/>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0</a:t>
            </a:r>
            <a:endParaRPr lang="en-US" sz="1000" dirty="0"/>
          </a:p>
        </p:txBody>
      </p:sp>
      <p:sp>
        <p:nvSpPr>
          <p:cNvPr id="39" name="Shape 37"/>
          <p:cNvSpPr/>
          <p:nvPr/>
        </p:nvSpPr>
        <p:spPr>
          <a:xfrm>
            <a:off x="7315200" y="2404872"/>
            <a:ext cx="1645920" cy="256032"/>
          </a:xfrm>
          <a:prstGeom prst="rect">
            <a:avLst/>
          </a:prstGeom>
          <a:solidFill>
            <a:srgbClr val="FFFFFF"/>
          </a:solidFill>
          <a:ln w="6350">
            <a:solidFill>
              <a:srgbClr val="AAB4B8"/>
            </a:solidFill>
            <a:prstDash val="solid"/>
          </a:ln>
        </p:spPr>
        <p:txBody>
          <a:bodyPr/>
          <a:p/>
        </p:txBody>
      </p:sp>
      <p:sp>
        <p:nvSpPr>
          <p:cNvPr id="40" name="Text 38"/>
          <p:cNvSpPr txBox="1"/>
          <p:nvPr/>
        </p:nvSpPr>
        <p:spPr>
          <a:xfrm>
            <a:off x="7315200" y="2404872"/>
            <a:ext cx="1645920" cy="256032"/>
          </a:xfrm>
          <a:prstGeom prst="rect">
            <a:avLst/>
          </a:prstGeom>
          <a:noFill/>
          <a:ln/>
        </p:spPr>
        <p:txBody>
          <a:bodyPr wrap="square" lIns="0" tIns="0" rIns="0" bIns="0" rtlCol="0" anchor="ctr"/>
          <a:lstStyle/>
          <a:p>
            <a:pPr algn="ctr" indent="0" marL="0">
              <a:buNone/>
            </a:pPr>
            <a:endParaRPr lang="en-US" sz="1000" dirty="0"/>
          </a:p>
        </p:txBody>
      </p:sp>
      <p:sp>
        <p:nvSpPr>
          <p:cNvPr id="41" name="Text 39"/>
          <p:cNvSpPr txBox="1"/>
          <p:nvPr/>
        </p:nvSpPr>
        <p:spPr>
          <a:xfrm>
            <a:off x="6858000" y="2404872"/>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a:t>
            </a:r>
            <a:endParaRPr lang="en-US" sz="1000" dirty="0"/>
          </a:p>
        </p:txBody>
      </p:sp>
      <p:sp>
        <p:nvSpPr>
          <p:cNvPr id="42" name="Shape 40"/>
          <p:cNvSpPr/>
          <p:nvPr/>
        </p:nvSpPr>
        <p:spPr>
          <a:xfrm>
            <a:off x="7315200" y="2660904"/>
            <a:ext cx="1645920" cy="256032"/>
          </a:xfrm>
          <a:prstGeom prst="rect">
            <a:avLst/>
          </a:prstGeom>
          <a:solidFill>
            <a:srgbClr val="FFFFFF"/>
          </a:solidFill>
          <a:ln w="6350">
            <a:solidFill>
              <a:srgbClr val="AAB4B8"/>
            </a:solidFill>
            <a:prstDash val="solid"/>
          </a:ln>
        </p:spPr>
        <p:txBody>
          <a:bodyPr/>
          <a:p/>
        </p:txBody>
      </p:sp>
      <p:sp>
        <p:nvSpPr>
          <p:cNvPr id="43" name="Text 41"/>
          <p:cNvSpPr txBox="1"/>
          <p:nvPr/>
        </p:nvSpPr>
        <p:spPr>
          <a:xfrm>
            <a:off x="7315200" y="2660904"/>
            <a:ext cx="1645920" cy="256032"/>
          </a:xfrm>
          <a:prstGeom prst="rect">
            <a:avLst/>
          </a:prstGeom>
          <a:noFill/>
          <a:ln/>
        </p:spPr>
        <p:txBody>
          <a:bodyPr wrap="square" lIns="0" tIns="0" rIns="0" bIns="0" rtlCol="0" anchor="ctr"/>
          <a:lstStyle/>
          <a:p>
            <a:pPr algn="ctr" indent="0" marL="0">
              <a:buNone/>
            </a:pPr>
            <a:endParaRPr lang="en-US" sz="1000" dirty="0"/>
          </a:p>
        </p:txBody>
      </p:sp>
      <p:sp>
        <p:nvSpPr>
          <p:cNvPr id="44" name="Text 42"/>
          <p:cNvSpPr txBox="1"/>
          <p:nvPr/>
        </p:nvSpPr>
        <p:spPr>
          <a:xfrm>
            <a:off x="6858000" y="2660904"/>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2</a:t>
            </a:r>
            <a:endParaRPr lang="en-US" sz="1000" dirty="0"/>
          </a:p>
        </p:txBody>
      </p:sp>
      <p:sp>
        <p:nvSpPr>
          <p:cNvPr id="45" name="Shape 43"/>
          <p:cNvSpPr/>
          <p:nvPr/>
        </p:nvSpPr>
        <p:spPr>
          <a:xfrm>
            <a:off x="7315200" y="2916936"/>
            <a:ext cx="1645920" cy="256032"/>
          </a:xfrm>
          <a:prstGeom prst="rect">
            <a:avLst/>
          </a:prstGeom>
          <a:solidFill>
            <a:srgbClr val="02C39A"/>
          </a:solidFill>
          <a:ln w="6350">
            <a:solidFill>
              <a:srgbClr val="AAB4B8"/>
            </a:solidFill>
            <a:prstDash val="solid"/>
          </a:ln>
        </p:spPr>
        <p:txBody>
          <a:bodyPr/>
          <a:p/>
        </p:txBody>
      </p:sp>
      <p:sp>
        <p:nvSpPr>
          <p:cNvPr id="46" name="Text 44"/>
          <p:cNvSpPr txBox="1"/>
          <p:nvPr/>
        </p:nvSpPr>
        <p:spPr>
          <a:xfrm>
            <a:off x="7315200" y="2916936"/>
            <a:ext cx="1645920" cy="256032"/>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libc 0</a:t>
            </a:r>
            <a:endParaRPr lang="en-US" sz="1000" dirty="0"/>
          </a:p>
        </p:txBody>
      </p:sp>
      <p:sp>
        <p:nvSpPr>
          <p:cNvPr id="47" name="Text 45"/>
          <p:cNvSpPr txBox="1"/>
          <p:nvPr/>
        </p:nvSpPr>
        <p:spPr>
          <a:xfrm>
            <a:off x="6858000" y="2916936"/>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3</a:t>
            </a:r>
            <a:endParaRPr lang="en-US" sz="1000" dirty="0"/>
          </a:p>
        </p:txBody>
      </p:sp>
      <p:sp>
        <p:nvSpPr>
          <p:cNvPr id="48" name="Shape 46"/>
          <p:cNvSpPr/>
          <p:nvPr/>
        </p:nvSpPr>
        <p:spPr>
          <a:xfrm>
            <a:off x="7315200" y="3172968"/>
            <a:ext cx="1645920" cy="256032"/>
          </a:xfrm>
          <a:prstGeom prst="rect">
            <a:avLst/>
          </a:prstGeom>
          <a:solidFill>
            <a:srgbClr val="02C39A"/>
          </a:solidFill>
          <a:ln w="6350">
            <a:solidFill>
              <a:srgbClr val="AAB4B8"/>
            </a:solidFill>
            <a:prstDash val="solid"/>
          </a:ln>
        </p:spPr>
        <p:txBody>
          <a:bodyPr/>
          <a:p/>
        </p:txBody>
      </p:sp>
      <p:sp>
        <p:nvSpPr>
          <p:cNvPr id="49" name="Text 47"/>
          <p:cNvSpPr txBox="1"/>
          <p:nvPr/>
        </p:nvSpPr>
        <p:spPr>
          <a:xfrm>
            <a:off x="7315200" y="3172968"/>
            <a:ext cx="1645920" cy="256032"/>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libc 1</a:t>
            </a:r>
            <a:endParaRPr lang="en-US" sz="1000" dirty="0"/>
          </a:p>
        </p:txBody>
      </p:sp>
      <p:sp>
        <p:nvSpPr>
          <p:cNvPr id="50" name="Text 48"/>
          <p:cNvSpPr txBox="1"/>
          <p:nvPr/>
        </p:nvSpPr>
        <p:spPr>
          <a:xfrm>
            <a:off x="6858000" y="3172968"/>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4</a:t>
            </a:r>
            <a:endParaRPr lang="en-US" sz="1000" dirty="0"/>
          </a:p>
        </p:txBody>
      </p:sp>
      <p:sp>
        <p:nvSpPr>
          <p:cNvPr id="51" name="Shape 49"/>
          <p:cNvSpPr/>
          <p:nvPr/>
        </p:nvSpPr>
        <p:spPr>
          <a:xfrm>
            <a:off x="7315200" y="3429000"/>
            <a:ext cx="1645920" cy="256032"/>
          </a:xfrm>
          <a:prstGeom prst="rect">
            <a:avLst/>
          </a:prstGeom>
          <a:solidFill>
            <a:srgbClr val="FFFFFF"/>
          </a:solidFill>
          <a:ln w="6350">
            <a:solidFill>
              <a:srgbClr val="AAB4B8"/>
            </a:solidFill>
            <a:prstDash val="solid"/>
          </a:ln>
        </p:spPr>
        <p:txBody>
          <a:bodyPr/>
          <a:p/>
        </p:txBody>
      </p:sp>
      <p:sp>
        <p:nvSpPr>
          <p:cNvPr id="52" name="Text 50"/>
          <p:cNvSpPr txBox="1"/>
          <p:nvPr/>
        </p:nvSpPr>
        <p:spPr>
          <a:xfrm>
            <a:off x="7315200" y="3429000"/>
            <a:ext cx="1645920" cy="256032"/>
          </a:xfrm>
          <a:prstGeom prst="rect">
            <a:avLst/>
          </a:prstGeom>
          <a:noFill/>
          <a:ln/>
        </p:spPr>
        <p:txBody>
          <a:bodyPr wrap="square" lIns="0" tIns="0" rIns="0" bIns="0" rtlCol="0" anchor="ctr"/>
          <a:lstStyle/>
          <a:p>
            <a:pPr algn="ctr" indent="0" marL="0">
              <a:buNone/>
            </a:pPr>
            <a:endParaRPr lang="en-US" sz="1000" dirty="0"/>
          </a:p>
        </p:txBody>
      </p:sp>
      <p:sp>
        <p:nvSpPr>
          <p:cNvPr id="53" name="Text 51"/>
          <p:cNvSpPr txBox="1"/>
          <p:nvPr/>
        </p:nvSpPr>
        <p:spPr>
          <a:xfrm>
            <a:off x="6858000" y="3429000"/>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5</a:t>
            </a:r>
            <a:endParaRPr lang="en-US" sz="1000" dirty="0"/>
          </a:p>
        </p:txBody>
      </p:sp>
      <p:sp>
        <p:nvSpPr>
          <p:cNvPr id="54" name="Shape 52"/>
          <p:cNvSpPr/>
          <p:nvPr/>
        </p:nvSpPr>
        <p:spPr>
          <a:xfrm>
            <a:off x="7315200" y="3685032"/>
            <a:ext cx="1645920" cy="256032"/>
          </a:xfrm>
          <a:prstGeom prst="rect">
            <a:avLst/>
          </a:prstGeom>
          <a:solidFill>
            <a:srgbClr val="02C39A"/>
          </a:solidFill>
          <a:ln w="6350">
            <a:solidFill>
              <a:srgbClr val="AAB4B8"/>
            </a:solidFill>
            <a:prstDash val="solid"/>
          </a:ln>
        </p:spPr>
        <p:txBody>
          <a:bodyPr/>
          <a:p/>
        </p:txBody>
      </p:sp>
      <p:sp>
        <p:nvSpPr>
          <p:cNvPr id="55" name="Text 53"/>
          <p:cNvSpPr txBox="1"/>
          <p:nvPr/>
        </p:nvSpPr>
        <p:spPr>
          <a:xfrm>
            <a:off x="7315200" y="3685032"/>
            <a:ext cx="1645920" cy="256032"/>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libc 2</a:t>
            </a:r>
            <a:endParaRPr lang="en-US" sz="1000" dirty="0"/>
          </a:p>
        </p:txBody>
      </p:sp>
      <p:sp>
        <p:nvSpPr>
          <p:cNvPr id="56" name="Text 54"/>
          <p:cNvSpPr txBox="1"/>
          <p:nvPr/>
        </p:nvSpPr>
        <p:spPr>
          <a:xfrm>
            <a:off x="6858000" y="3685032"/>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6</a:t>
            </a:r>
            <a:endParaRPr lang="en-US" sz="1000" dirty="0"/>
          </a:p>
        </p:txBody>
      </p:sp>
      <p:sp>
        <p:nvSpPr>
          <p:cNvPr id="57" name="Shape 55"/>
          <p:cNvSpPr/>
          <p:nvPr/>
        </p:nvSpPr>
        <p:spPr>
          <a:xfrm>
            <a:off x="7315200" y="3941064"/>
            <a:ext cx="1645920" cy="256032"/>
          </a:xfrm>
          <a:prstGeom prst="rect">
            <a:avLst/>
          </a:prstGeom>
          <a:solidFill>
            <a:srgbClr val="FFFFFF"/>
          </a:solidFill>
          <a:ln w="6350">
            <a:solidFill>
              <a:srgbClr val="AAB4B8"/>
            </a:solidFill>
            <a:prstDash val="solid"/>
          </a:ln>
        </p:spPr>
        <p:txBody>
          <a:bodyPr/>
          <a:p/>
        </p:txBody>
      </p:sp>
      <p:sp>
        <p:nvSpPr>
          <p:cNvPr id="58" name="Text 56"/>
          <p:cNvSpPr txBox="1"/>
          <p:nvPr/>
        </p:nvSpPr>
        <p:spPr>
          <a:xfrm>
            <a:off x="7315200" y="3941064"/>
            <a:ext cx="1645920" cy="256032"/>
          </a:xfrm>
          <a:prstGeom prst="rect">
            <a:avLst/>
          </a:prstGeom>
          <a:noFill/>
          <a:ln/>
        </p:spPr>
        <p:txBody>
          <a:bodyPr wrap="square" lIns="0" tIns="0" rIns="0" bIns="0" rtlCol="0" anchor="ctr"/>
          <a:lstStyle/>
          <a:p>
            <a:pPr algn="ctr" indent="0" marL="0">
              <a:buNone/>
            </a:pPr>
            <a:endParaRPr lang="en-US" sz="1000" dirty="0"/>
          </a:p>
        </p:txBody>
      </p:sp>
      <p:sp>
        <p:nvSpPr>
          <p:cNvPr id="59" name="Text 57"/>
          <p:cNvSpPr txBox="1"/>
          <p:nvPr/>
        </p:nvSpPr>
        <p:spPr>
          <a:xfrm>
            <a:off x="6858000" y="3941064"/>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7</a:t>
            </a:r>
            <a:endParaRPr lang="en-US" sz="1000" dirty="0"/>
          </a:p>
        </p:txBody>
      </p:sp>
      <p:sp>
        <p:nvSpPr>
          <p:cNvPr id="60" name="Shape 58"/>
          <p:cNvSpPr/>
          <p:nvPr/>
        </p:nvSpPr>
        <p:spPr>
          <a:xfrm>
            <a:off x="7315200" y="4197096"/>
            <a:ext cx="1645920" cy="256032"/>
          </a:xfrm>
          <a:prstGeom prst="rect">
            <a:avLst/>
          </a:prstGeom>
          <a:solidFill>
            <a:srgbClr val="C9D3D6"/>
          </a:solidFill>
          <a:ln w="6350">
            <a:solidFill>
              <a:srgbClr val="AAB4B8"/>
            </a:solidFill>
            <a:prstDash val="solid"/>
          </a:ln>
        </p:spPr>
        <p:txBody>
          <a:bodyPr/>
          <a:p/>
        </p:txBody>
      </p:sp>
      <p:sp>
        <p:nvSpPr>
          <p:cNvPr id="61" name="Text 59"/>
          <p:cNvSpPr txBox="1"/>
          <p:nvPr/>
        </p:nvSpPr>
        <p:spPr>
          <a:xfrm>
            <a:off x="7315200" y="4197096"/>
            <a:ext cx="1645920" cy="256032"/>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data P1</a:t>
            </a:r>
            <a:endParaRPr lang="en-US" sz="1000" dirty="0"/>
          </a:p>
        </p:txBody>
      </p:sp>
      <p:sp>
        <p:nvSpPr>
          <p:cNvPr id="62" name="Text 60"/>
          <p:cNvSpPr txBox="1"/>
          <p:nvPr/>
        </p:nvSpPr>
        <p:spPr>
          <a:xfrm>
            <a:off x="6858000" y="4197096"/>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8</a:t>
            </a:r>
            <a:endParaRPr lang="en-US" sz="1000" dirty="0"/>
          </a:p>
        </p:txBody>
      </p:sp>
      <p:sp>
        <p:nvSpPr>
          <p:cNvPr id="63" name="Shape 61"/>
          <p:cNvSpPr/>
          <p:nvPr/>
        </p:nvSpPr>
        <p:spPr>
          <a:xfrm>
            <a:off x="7315200" y="4453128"/>
            <a:ext cx="1645920" cy="256032"/>
          </a:xfrm>
          <a:prstGeom prst="rect">
            <a:avLst/>
          </a:prstGeom>
          <a:solidFill>
            <a:srgbClr val="FFFFFF"/>
          </a:solidFill>
          <a:ln w="6350">
            <a:solidFill>
              <a:srgbClr val="AAB4B8"/>
            </a:solidFill>
            <a:prstDash val="solid"/>
          </a:ln>
        </p:spPr>
        <p:txBody>
          <a:bodyPr/>
          <a:p/>
        </p:txBody>
      </p:sp>
      <p:sp>
        <p:nvSpPr>
          <p:cNvPr id="64" name="Text 62"/>
          <p:cNvSpPr txBox="1"/>
          <p:nvPr/>
        </p:nvSpPr>
        <p:spPr>
          <a:xfrm>
            <a:off x="7315200" y="4453128"/>
            <a:ext cx="1645920" cy="256032"/>
          </a:xfrm>
          <a:prstGeom prst="rect">
            <a:avLst/>
          </a:prstGeom>
          <a:noFill/>
          <a:ln/>
        </p:spPr>
        <p:txBody>
          <a:bodyPr wrap="square" lIns="0" tIns="0" rIns="0" bIns="0" rtlCol="0" anchor="ctr"/>
          <a:lstStyle/>
          <a:p>
            <a:pPr algn="ctr" indent="0" marL="0">
              <a:buNone/>
            </a:pPr>
            <a:endParaRPr lang="en-US" sz="1000" dirty="0"/>
          </a:p>
        </p:txBody>
      </p:sp>
      <p:sp>
        <p:nvSpPr>
          <p:cNvPr id="65" name="Text 63"/>
          <p:cNvSpPr txBox="1"/>
          <p:nvPr/>
        </p:nvSpPr>
        <p:spPr>
          <a:xfrm>
            <a:off x="6858000" y="4453128"/>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9</a:t>
            </a:r>
            <a:endParaRPr lang="en-US" sz="1000" dirty="0"/>
          </a:p>
        </p:txBody>
      </p:sp>
      <p:sp>
        <p:nvSpPr>
          <p:cNvPr id="66" name="Shape 64"/>
          <p:cNvSpPr/>
          <p:nvPr/>
        </p:nvSpPr>
        <p:spPr>
          <a:xfrm>
            <a:off x="7315200" y="4709160"/>
            <a:ext cx="1645920" cy="256032"/>
          </a:xfrm>
          <a:prstGeom prst="rect">
            <a:avLst/>
          </a:prstGeom>
          <a:solidFill>
            <a:srgbClr val="FFFFFF"/>
          </a:solidFill>
          <a:ln w="6350">
            <a:solidFill>
              <a:srgbClr val="AAB4B8"/>
            </a:solidFill>
            <a:prstDash val="solid"/>
          </a:ln>
        </p:spPr>
        <p:txBody>
          <a:bodyPr/>
          <a:p/>
        </p:txBody>
      </p:sp>
      <p:sp>
        <p:nvSpPr>
          <p:cNvPr id="67" name="Text 65"/>
          <p:cNvSpPr txBox="1"/>
          <p:nvPr/>
        </p:nvSpPr>
        <p:spPr>
          <a:xfrm>
            <a:off x="7315200" y="4709160"/>
            <a:ext cx="1645920" cy="256032"/>
          </a:xfrm>
          <a:prstGeom prst="rect">
            <a:avLst/>
          </a:prstGeom>
          <a:noFill/>
          <a:ln/>
        </p:spPr>
        <p:txBody>
          <a:bodyPr wrap="square" lIns="0" tIns="0" rIns="0" bIns="0" rtlCol="0" anchor="ctr"/>
          <a:lstStyle/>
          <a:p>
            <a:pPr algn="ctr" indent="0" marL="0">
              <a:buNone/>
            </a:pPr>
            <a:endParaRPr lang="en-US" sz="1000" dirty="0"/>
          </a:p>
        </p:txBody>
      </p:sp>
      <p:sp>
        <p:nvSpPr>
          <p:cNvPr id="68" name="Text 66"/>
          <p:cNvSpPr txBox="1"/>
          <p:nvPr/>
        </p:nvSpPr>
        <p:spPr>
          <a:xfrm>
            <a:off x="6858000" y="4709160"/>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10</a:t>
            </a:r>
            <a:endParaRPr lang="en-US" sz="1000" dirty="0"/>
          </a:p>
        </p:txBody>
      </p:sp>
      <p:sp>
        <p:nvSpPr>
          <p:cNvPr id="69" name="Shape 67"/>
          <p:cNvSpPr/>
          <p:nvPr/>
        </p:nvSpPr>
        <p:spPr>
          <a:xfrm>
            <a:off x="7315200" y="4965192"/>
            <a:ext cx="1645920" cy="256032"/>
          </a:xfrm>
          <a:prstGeom prst="rect">
            <a:avLst/>
          </a:prstGeom>
          <a:solidFill>
            <a:srgbClr val="C9D3D6"/>
          </a:solidFill>
          <a:ln w="6350">
            <a:solidFill>
              <a:srgbClr val="AAB4B8"/>
            </a:solidFill>
            <a:prstDash val="solid"/>
          </a:ln>
        </p:spPr>
        <p:txBody>
          <a:bodyPr/>
          <a:p/>
        </p:txBody>
      </p:sp>
      <p:sp>
        <p:nvSpPr>
          <p:cNvPr id="70" name="Text 68"/>
          <p:cNvSpPr txBox="1"/>
          <p:nvPr/>
        </p:nvSpPr>
        <p:spPr>
          <a:xfrm>
            <a:off x="7315200" y="4965192"/>
            <a:ext cx="1645920" cy="256032"/>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data P2</a:t>
            </a:r>
            <a:endParaRPr lang="en-US" sz="1000" dirty="0"/>
          </a:p>
        </p:txBody>
      </p:sp>
      <p:sp>
        <p:nvSpPr>
          <p:cNvPr id="71" name="Text 69"/>
          <p:cNvSpPr txBox="1"/>
          <p:nvPr/>
        </p:nvSpPr>
        <p:spPr>
          <a:xfrm>
            <a:off x="6858000" y="4965192"/>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11</a:t>
            </a:r>
            <a:endParaRPr lang="en-US" sz="1000" dirty="0"/>
          </a:p>
        </p:txBody>
      </p:sp>
      <p:sp>
        <p:nvSpPr>
          <p:cNvPr id="72" name="Shape 70"/>
          <p:cNvSpPr/>
          <p:nvPr/>
        </p:nvSpPr>
        <p:spPr>
          <a:xfrm>
            <a:off x="7315200" y="5221224"/>
            <a:ext cx="1645920" cy="256032"/>
          </a:xfrm>
          <a:prstGeom prst="rect">
            <a:avLst/>
          </a:prstGeom>
          <a:solidFill>
            <a:srgbClr val="FFFFFF"/>
          </a:solidFill>
          <a:ln w="6350">
            <a:solidFill>
              <a:srgbClr val="AAB4B8"/>
            </a:solidFill>
            <a:prstDash val="solid"/>
          </a:ln>
        </p:spPr>
        <p:txBody>
          <a:bodyPr/>
          <a:p/>
        </p:txBody>
      </p:sp>
      <p:sp>
        <p:nvSpPr>
          <p:cNvPr id="73" name="Text 71"/>
          <p:cNvSpPr txBox="1"/>
          <p:nvPr/>
        </p:nvSpPr>
        <p:spPr>
          <a:xfrm>
            <a:off x="7315200" y="5221224"/>
            <a:ext cx="1645920" cy="256032"/>
          </a:xfrm>
          <a:prstGeom prst="rect">
            <a:avLst/>
          </a:prstGeom>
          <a:noFill/>
          <a:ln/>
        </p:spPr>
        <p:txBody>
          <a:bodyPr wrap="square" lIns="0" tIns="0" rIns="0" bIns="0" rtlCol="0" anchor="ctr"/>
          <a:lstStyle/>
          <a:p>
            <a:pPr algn="ctr" indent="0" marL="0">
              <a:buNone/>
            </a:pPr>
            <a:endParaRPr lang="en-US" sz="1000" dirty="0"/>
          </a:p>
        </p:txBody>
      </p:sp>
      <p:sp>
        <p:nvSpPr>
          <p:cNvPr id="74" name="Text 72"/>
          <p:cNvSpPr txBox="1"/>
          <p:nvPr/>
        </p:nvSpPr>
        <p:spPr>
          <a:xfrm>
            <a:off x="6858000" y="5221224"/>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12</a:t>
            </a:r>
            <a:endParaRPr lang="en-US" sz="1000" dirty="0"/>
          </a:p>
        </p:txBody>
      </p:sp>
      <p:sp>
        <p:nvSpPr>
          <p:cNvPr id="75" name="Shape 73"/>
          <p:cNvSpPr/>
          <p:nvPr/>
        </p:nvSpPr>
        <p:spPr>
          <a:xfrm>
            <a:off x="7315200" y="5477256"/>
            <a:ext cx="1645920" cy="256032"/>
          </a:xfrm>
          <a:prstGeom prst="rect">
            <a:avLst/>
          </a:prstGeom>
          <a:solidFill>
            <a:srgbClr val="FFFFFF"/>
          </a:solidFill>
          <a:ln w="6350">
            <a:solidFill>
              <a:srgbClr val="AAB4B8"/>
            </a:solidFill>
            <a:prstDash val="solid"/>
          </a:ln>
        </p:spPr>
        <p:txBody>
          <a:bodyPr/>
          <a:p/>
        </p:txBody>
      </p:sp>
      <p:sp>
        <p:nvSpPr>
          <p:cNvPr id="76" name="Text 74"/>
          <p:cNvSpPr txBox="1"/>
          <p:nvPr/>
        </p:nvSpPr>
        <p:spPr>
          <a:xfrm>
            <a:off x="7315200" y="5477256"/>
            <a:ext cx="1645920" cy="256032"/>
          </a:xfrm>
          <a:prstGeom prst="rect">
            <a:avLst/>
          </a:prstGeom>
          <a:noFill/>
          <a:ln/>
        </p:spPr>
        <p:txBody>
          <a:bodyPr wrap="square" lIns="0" tIns="0" rIns="0" bIns="0" rtlCol="0" anchor="ctr"/>
          <a:lstStyle/>
          <a:p>
            <a:pPr algn="ctr" indent="0" marL="0">
              <a:buNone/>
            </a:pPr>
            <a:endParaRPr lang="en-US" sz="1000" dirty="0"/>
          </a:p>
        </p:txBody>
      </p:sp>
      <p:sp>
        <p:nvSpPr>
          <p:cNvPr id="77" name="Text 75"/>
          <p:cNvSpPr txBox="1"/>
          <p:nvPr/>
        </p:nvSpPr>
        <p:spPr>
          <a:xfrm>
            <a:off x="6858000" y="5477256"/>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13</a:t>
            </a:r>
            <a:endParaRPr lang="en-US" sz="1000" dirty="0"/>
          </a:p>
        </p:txBody>
      </p:sp>
      <p:sp>
        <p:nvSpPr>
          <p:cNvPr id="78" name="Shape 76"/>
          <p:cNvSpPr/>
          <p:nvPr/>
        </p:nvSpPr>
        <p:spPr>
          <a:xfrm>
            <a:off x="7315200" y="5733288"/>
            <a:ext cx="1645920" cy="256032"/>
          </a:xfrm>
          <a:prstGeom prst="rect">
            <a:avLst/>
          </a:prstGeom>
          <a:solidFill>
            <a:srgbClr val="C9D3D6"/>
          </a:solidFill>
          <a:ln w="6350">
            <a:solidFill>
              <a:srgbClr val="AAB4B8"/>
            </a:solidFill>
            <a:prstDash val="solid"/>
          </a:ln>
        </p:spPr>
        <p:txBody>
          <a:bodyPr/>
          <a:p/>
        </p:txBody>
      </p:sp>
      <p:sp>
        <p:nvSpPr>
          <p:cNvPr id="79" name="Text 77"/>
          <p:cNvSpPr txBox="1"/>
          <p:nvPr/>
        </p:nvSpPr>
        <p:spPr>
          <a:xfrm>
            <a:off x="7315200" y="5733288"/>
            <a:ext cx="1645920" cy="256032"/>
          </a:xfrm>
          <a:prstGeom prst="rect">
            <a:avLst/>
          </a:prstGeom>
          <a:noFill/>
          <a:ln/>
        </p:spPr>
        <p:txBody>
          <a:bodyPr wrap="square" lIns="0" tIns="0" rIns="0" bIns="0" rtlCol="0" anchor="ctr"/>
          <a:lstStyle/>
          <a:p>
            <a:pPr algn="ctr" indent="0" marL="0">
              <a:buNone/>
            </a:pPr>
            <a:r>
              <a:rPr lang="en-US" sz="1000" b="1" dirty="0">
                <a:solidFill>
                  <a:srgbClr val="212121"/>
                </a:solidFill>
                <a:latin typeface="Calibri" pitchFamily="34" charset="0"/>
                <a:ea typeface="Calibri" pitchFamily="34" charset="-122"/>
                <a:cs typeface="Calibri" pitchFamily="34" charset="-120"/>
              </a:rPr>
              <a:t>data P3</a:t>
            </a:r>
            <a:endParaRPr lang="en-US" sz="1000" dirty="0"/>
          </a:p>
        </p:txBody>
      </p:sp>
      <p:sp>
        <p:nvSpPr>
          <p:cNvPr id="80" name="Text 78"/>
          <p:cNvSpPr txBox="1"/>
          <p:nvPr/>
        </p:nvSpPr>
        <p:spPr>
          <a:xfrm>
            <a:off x="6858000" y="5733288"/>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14</a:t>
            </a:r>
            <a:endParaRPr lang="en-US" sz="1000" dirty="0"/>
          </a:p>
        </p:txBody>
      </p:sp>
      <p:sp>
        <p:nvSpPr>
          <p:cNvPr id="81" name="Shape 79"/>
          <p:cNvSpPr/>
          <p:nvPr/>
        </p:nvSpPr>
        <p:spPr>
          <a:xfrm>
            <a:off x="7315200" y="5989320"/>
            <a:ext cx="1645920" cy="256032"/>
          </a:xfrm>
          <a:prstGeom prst="rect">
            <a:avLst/>
          </a:prstGeom>
          <a:solidFill>
            <a:srgbClr val="FFFFFF"/>
          </a:solidFill>
          <a:ln w="6350">
            <a:solidFill>
              <a:srgbClr val="AAB4B8"/>
            </a:solidFill>
            <a:prstDash val="solid"/>
          </a:ln>
        </p:spPr>
        <p:txBody>
          <a:bodyPr/>
          <a:p/>
        </p:txBody>
      </p:sp>
      <p:sp>
        <p:nvSpPr>
          <p:cNvPr id="82" name="Text 80"/>
          <p:cNvSpPr txBox="1"/>
          <p:nvPr/>
        </p:nvSpPr>
        <p:spPr>
          <a:xfrm>
            <a:off x="7315200" y="5989320"/>
            <a:ext cx="1645920" cy="256032"/>
          </a:xfrm>
          <a:prstGeom prst="rect">
            <a:avLst/>
          </a:prstGeom>
          <a:noFill/>
          <a:ln/>
        </p:spPr>
        <p:txBody>
          <a:bodyPr wrap="square" lIns="0" tIns="0" rIns="0" bIns="0" rtlCol="0" anchor="ctr"/>
          <a:lstStyle/>
          <a:p>
            <a:pPr algn="ctr" indent="0" marL="0">
              <a:buNone/>
            </a:pPr>
            <a:endParaRPr lang="en-US" sz="1000" dirty="0"/>
          </a:p>
        </p:txBody>
      </p:sp>
      <p:sp>
        <p:nvSpPr>
          <p:cNvPr id="83" name="Text 81"/>
          <p:cNvSpPr txBox="1"/>
          <p:nvPr/>
        </p:nvSpPr>
        <p:spPr>
          <a:xfrm>
            <a:off x="6858000" y="5989320"/>
            <a:ext cx="384048" cy="256032"/>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15</a:t>
            </a:r>
            <a:endParaRPr lang="en-US" sz="1000" dirty="0"/>
          </a:p>
        </p:txBody>
      </p:sp>
      <p:sp>
        <p:nvSpPr>
          <p:cNvPr id="84" name="Shape 82"/>
          <p:cNvSpPr/>
          <p:nvPr/>
        </p:nvSpPr>
        <p:spPr>
          <a:xfrm>
            <a:off x="9281160" y="2148840"/>
            <a:ext cx="2377440" cy="411480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5" name="Text 83"/>
          <p:cNvSpPr txBox="1"/>
          <p:nvPr/>
        </p:nvSpPr>
        <p:spPr>
          <a:xfrm>
            <a:off x="9509760" y="2331720"/>
            <a:ext cx="1920240" cy="37947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Three processes, but libc is in RAM only once.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The shared pages are marked read-only.</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Same idea: fork() initially shares all pages (copy-on-write, Week 7).</a:t>
            </a:r>
            <a:endParaRPr lang="en-US" sz="1300" dirty="0"/>
          </a:p>
        </p:txBody>
      </p:sp>
      <p:sp>
        <p:nvSpPr>
          <p:cNvPr id="86" name="Shape 84"/>
          <p:cNvSpPr/>
          <p:nvPr/>
        </p:nvSpPr>
        <p:spPr>
          <a:xfrm>
            <a:off x="548640" y="5074920"/>
            <a:ext cx="63093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7" name="Text 85"/>
          <p:cNvSpPr txBox="1"/>
          <p:nvPr/>
        </p:nvSpPr>
        <p:spPr>
          <a:xfrm>
            <a:off x="777240" y="5074920"/>
            <a:ext cx="58521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With 40 processes and a 2 MB library, sharing saves 39 × 2 MB = 78 MB of RAM.</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3</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Segmentation</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Memory as the programmer sees it: a collection of named parts of different sizes.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6  ·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SEGMENTATION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User's View of a Program</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programmer does not think of 4 KB pages, but of a main program, functions, a stack, a symbol table, data …</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29</a:t>
            </a:r>
            <a:endParaRPr lang="en-US" sz="900" dirty="0"/>
          </a:p>
        </p:txBody>
      </p:sp>
      <p:sp>
        <p:nvSpPr>
          <p:cNvPr id="7" name="Shape 5"/>
          <p:cNvSpPr/>
          <p:nvPr/>
        </p:nvSpPr>
        <p:spPr>
          <a:xfrm>
            <a:off x="548640" y="2331720"/>
            <a:ext cx="1417320" cy="2286000"/>
          </a:xfrm>
          <a:prstGeom prst="roundRect">
            <a:avLst>
              <a:gd name="adj" fmla="val 3226"/>
            </a:avLst>
          </a:prstGeom>
          <a:solidFill>
            <a:srgbClr val="02C39A"/>
          </a:solidFill>
          <a:ln/>
        </p:spPr>
        <p:txBody>
          <a:bodyPr/>
          <a:p/>
        </p:txBody>
      </p:sp>
      <p:sp>
        <p:nvSpPr>
          <p:cNvPr id="8" name="Text 6"/>
          <p:cNvSpPr txBox="1"/>
          <p:nvPr/>
        </p:nvSpPr>
        <p:spPr>
          <a:xfrm>
            <a:off x="548640" y="2331720"/>
            <a:ext cx="1417320" cy="22860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main program</a:t>
            </a:r>
            <a:endParaRPr lang="en-US" sz="1200" dirty="0"/>
          </a:p>
          <a:p>
            <a:pPr algn="ctr" indent="0" marL="0">
              <a:buNone/>
            </a:pPr>
            <a:r>
              <a:rPr lang="en-US" sz="1050" dirty="0">
                <a:solidFill>
                  <a:srgbClr val="212121"/>
                </a:solidFill>
                <a:latin typeface="Calibri" pitchFamily="34" charset="0"/>
                <a:ea typeface="Calibri" pitchFamily="34" charset="-122"/>
                <a:cs typeface="Calibri" pitchFamily="34" charset="-120"/>
              </a:rPr>
              <a:t>segment 0</a:t>
            </a:r>
            <a:endParaRPr lang="en-US" sz="1200" dirty="0"/>
          </a:p>
        </p:txBody>
      </p:sp>
      <p:sp>
        <p:nvSpPr>
          <p:cNvPr id="9" name="Shape 7"/>
          <p:cNvSpPr/>
          <p:nvPr/>
        </p:nvSpPr>
        <p:spPr>
          <a:xfrm>
            <a:off x="2130552" y="4046220"/>
            <a:ext cx="1417320" cy="571500"/>
          </a:xfrm>
          <a:prstGeom prst="roundRect">
            <a:avLst>
              <a:gd name="adj" fmla="val 8000"/>
            </a:avLst>
          </a:prstGeom>
          <a:solidFill>
            <a:srgbClr val="02C39A"/>
          </a:solidFill>
          <a:ln/>
        </p:spPr>
        <p:txBody>
          <a:bodyPr/>
          <a:p/>
        </p:txBody>
      </p:sp>
      <p:sp>
        <p:nvSpPr>
          <p:cNvPr id="10" name="Text 8"/>
          <p:cNvSpPr txBox="1"/>
          <p:nvPr/>
        </p:nvSpPr>
        <p:spPr>
          <a:xfrm>
            <a:off x="2130552" y="4046220"/>
            <a:ext cx="1417320" cy="5715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sqrt()  library</a:t>
            </a:r>
            <a:endParaRPr lang="en-US" sz="1200" dirty="0"/>
          </a:p>
          <a:p>
            <a:pPr algn="ctr" indent="0" marL="0">
              <a:buNone/>
            </a:pPr>
            <a:r>
              <a:rPr lang="en-US" sz="1050" dirty="0">
                <a:solidFill>
                  <a:srgbClr val="212121"/>
                </a:solidFill>
                <a:latin typeface="Calibri" pitchFamily="34" charset="0"/>
                <a:ea typeface="Calibri" pitchFamily="34" charset="-122"/>
                <a:cs typeface="Calibri" pitchFamily="34" charset="-120"/>
              </a:rPr>
              <a:t>segment 1</a:t>
            </a:r>
            <a:endParaRPr lang="en-US" sz="1200" dirty="0"/>
          </a:p>
        </p:txBody>
      </p:sp>
      <p:sp>
        <p:nvSpPr>
          <p:cNvPr id="11" name="Shape 9"/>
          <p:cNvSpPr/>
          <p:nvPr/>
        </p:nvSpPr>
        <p:spPr>
          <a:xfrm>
            <a:off x="3712464" y="3474720"/>
            <a:ext cx="1417320" cy="1143000"/>
          </a:xfrm>
          <a:prstGeom prst="roundRect">
            <a:avLst>
              <a:gd name="adj" fmla="val 4000"/>
            </a:avLst>
          </a:prstGeom>
          <a:solidFill>
            <a:srgbClr val="02C39A"/>
          </a:solidFill>
          <a:ln/>
        </p:spPr>
        <p:txBody>
          <a:bodyPr/>
          <a:p/>
        </p:txBody>
      </p:sp>
      <p:sp>
        <p:nvSpPr>
          <p:cNvPr id="12" name="Text 10"/>
          <p:cNvSpPr txBox="1"/>
          <p:nvPr/>
        </p:nvSpPr>
        <p:spPr>
          <a:xfrm>
            <a:off x="3712464" y="3474720"/>
            <a:ext cx="1417320" cy="11430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stack</a:t>
            </a:r>
            <a:endParaRPr lang="en-US" sz="1200" dirty="0"/>
          </a:p>
          <a:p>
            <a:pPr algn="ctr" indent="0" marL="0">
              <a:buNone/>
            </a:pPr>
            <a:r>
              <a:rPr lang="en-US" sz="1050" dirty="0">
                <a:solidFill>
                  <a:srgbClr val="212121"/>
                </a:solidFill>
                <a:latin typeface="Calibri" pitchFamily="34" charset="0"/>
                <a:ea typeface="Calibri" pitchFamily="34" charset="-122"/>
                <a:cs typeface="Calibri" pitchFamily="34" charset="-120"/>
              </a:rPr>
              <a:t>segment 2</a:t>
            </a:r>
            <a:endParaRPr lang="en-US" sz="1200" dirty="0"/>
          </a:p>
        </p:txBody>
      </p:sp>
      <p:sp>
        <p:nvSpPr>
          <p:cNvPr id="13" name="Shape 11"/>
          <p:cNvSpPr/>
          <p:nvPr/>
        </p:nvSpPr>
        <p:spPr>
          <a:xfrm>
            <a:off x="5294376" y="2903220"/>
            <a:ext cx="1417320" cy="1714500"/>
          </a:xfrm>
          <a:prstGeom prst="roundRect">
            <a:avLst>
              <a:gd name="adj" fmla="val 3226"/>
            </a:avLst>
          </a:prstGeom>
          <a:solidFill>
            <a:srgbClr val="02C39A"/>
          </a:solidFill>
          <a:ln/>
        </p:spPr>
        <p:txBody>
          <a:bodyPr/>
          <a:p/>
        </p:txBody>
      </p:sp>
      <p:sp>
        <p:nvSpPr>
          <p:cNvPr id="14" name="Text 12"/>
          <p:cNvSpPr txBox="1"/>
          <p:nvPr/>
        </p:nvSpPr>
        <p:spPr>
          <a:xfrm>
            <a:off x="5294376" y="2903220"/>
            <a:ext cx="1417320" cy="17145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symbol table</a:t>
            </a:r>
            <a:endParaRPr lang="en-US" sz="1200" dirty="0"/>
          </a:p>
          <a:p>
            <a:pPr algn="ctr" indent="0" marL="0">
              <a:buNone/>
            </a:pPr>
            <a:r>
              <a:rPr lang="en-US" sz="1050" dirty="0">
                <a:solidFill>
                  <a:srgbClr val="212121"/>
                </a:solidFill>
                <a:latin typeface="Calibri" pitchFamily="34" charset="0"/>
                <a:ea typeface="Calibri" pitchFamily="34" charset="-122"/>
                <a:cs typeface="Calibri" pitchFamily="34" charset="-120"/>
              </a:rPr>
              <a:t>segment 3</a:t>
            </a:r>
            <a:endParaRPr lang="en-US" sz="1200" dirty="0"/>
          </a:p>
        </p:txBody>
      </p:sp>
      <p:sp>
        <p:nvSpPr>
          <p:cNvPr id="15" name="Shape 13"/>
          <p:cNvSpPr/>
          <p:nvPr/>
        </p:nvSpPr>
        <p:spPr>
          <a:xfrm>
            <a:off x="6876288" y="3284220"/>
            <a:ext cx="1417320" cy="1333500"/>
          </a:xfrm>
          <a:prstGeom prst="roundRect">
            <a:avLst>
              <a:gd name="adj" fmla="val 3429"/>
            </a:avLst>
          </a:prstGeom>
          <a:solidFill>
            <a:srgbClr val="02C39A"/>
          </a:solidFill>
          <a:ln/>
        </p:spPr>
        <p:txBody>
          <a:bodyPr/>
          <a:p/>
        </p:txBody>
      </p:sp>
      <p:sp>
        <p:nvSpPr>
          <p:cNvPr id="16" name="Text 14"/>
          <p:cNvSpPr txBox="1"/>
          <p:nvPr/>
        </p:nvSpPr>
        <p:spPr>
          <a:xfrm>
            <a:off x="6876288" y="3284220"/>
            <a:ext cx="1417320" cy="13335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heap / data</a:t>
            </a:r>
            <a:endParaRPr lang="en-US" sz="1200" dirty="0"/>
          </a:p>
          <a:p>
            <a:pPr algn="ctr" indent="0" marL="0">
              <a:buNone/>
            </a:pPr>
            <a:r>
              <a:rPr lang="en-US" sz="1050" dirty="0">
                <a:solidFill>
                  <a:srgbClr val="212121"/>
                </a:solidFill>
                <a:latin typeface="Calibri" pitchFamily="34" charset="0"/>
                <a:ea typeface="Calibri" pitchFamily="34" charset="-122"/>
                <a:cs typeface="Calibri" pitchFamily="34" charset="-120"/>
              </a:rPr>
              <a:t>segment 4</a:t>
            </a:r>
            <a:endParaRPr lang="en-US" sz="1200" dirty="0"/>
          </a:p>
        </p:txBody>
      </p:sp>
      <p:sp>
        <p:nvSpPr>
          <p:cNvPr id="17" name="Text 15"/>
          <p:cNvSpPr txBox="1"/>
          <p:nvPr/>
        </p:nvSpPr>
        <p:spPr>
          <a:xfrm>
            <a:off x="548640" y="4709160"/>
            <a:ext cx="7772400" cy="2743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logical view: separate pieces, each starting at offset 0, of different sizes</a:t>
            </a:r>
            <a:endParaRPr lang="en-US" sz="1200" dirty="0"/>
          </a:p>
        </p:txBody>
      </p:sp>
      <p:sp>
        <p:nvSpPr>
          <p:cNvPr id="18" name="Text 16"/>
          <p:cNvSpPr txBox="1"/>
          <p:nvPr/>
        </p:nvSpPr>
        <p:spPr>
          <a:xfrm>
            <a:off x="8732520" y="2011680"/>
            <a:ext cx="219456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physical memory</a:t>
            </a:r>
            <a:endParaRPr lang="en-US" sz="1200" dirty="0"/>
          </a:p>
        </p:txBody>
      </p:sp>
      <p:sp>
        <p:nvSpPr>
          <p:cNvPr id="19" name="Shape 17"/>
          <p:cNvSpPr/>
          <p:nvPr/>
        </p:nvSpPr>
        <p:spPr>
          <a:xfrm>
            <a:off x="8915400" y="2331720"/>
            <a:ext cx="1828800" cy="3931920"/>
          </a:xfrm>
          <a:prstGeom prst="rect">
            <a:avLst/>
          </a:prstGeom>
          <a:solidFill>
            <a:srgbClr val="FFFFFF"/>
          </a:solidFill>
          <a:ln w="12700">
            <a:solidFill>
              <a:srgbClr val="50808E"/>
            </a:solidFill>
            <a:prstDash val="solid"/>
          </a:ln>
        </p:spPr>
        <p:txBody>
          <a:bodyPr/>
          <a:p/>
        </p:txBody>
      </p:sp>
      <p:sp>
        <p:nvSpPr>
          <p:cNvPr id="20" name="Shape 18"/>
          <p:cNvSpPr/>
          <p:nvPr/>
        </p:nvSpPr>
        <p:spPr>
          <a:xfrm>
            <a:off x="8915400" y="2752997"/>
            <a:ext cx="1828800" cy="842554"/>
          </a:xfrm>
          <a:prstGeom prst="rect">
            <a:avLst/>
          </a:prstGeom>
          <a:solidFill>
            <a:srgbClr val="02C39A"/>
          </a:solidFill>
          <a:ln w="12700">
            <a:solidFill>
              <a:srgbClr val="FFFFFF"/>
            </a:solidFill>
            <a:prstDash val="solid"/>
          </a:ln>
        </p:spPr>
        <p:txBody>
          <a:bodyPr/>
          <a:p/>
        </p:txBody>
      </p:sp>
      <p:sp>
        <p:nvSpPr>
          <p:cNvPr id="21" name="Text 19"/>
          <p:cNvSpPr txBox="1"/>
          <p:nvPr/>
        </p:nvSpPr>
        <p:spPr>
          <a:xfrm>
            <a:off x="8915400" y="2752997"/>
            <a:ext cx="1828800" cy="842554"/>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seg 0</a:t>
            </a:r>
            <a:endParaRPr lang="en-US" sz="1100" dirty="0"/>
          </a:p>
        </p:txBody>
      </p:sp>
      <p:sp>
        <p:nvSpPr>
          <p:cNvPr id="22" name="Text 20"/>
          <p:cNvSpPr txBox="1"/>
          <p:nvPr/>
        </p:nvSpPr>
        <p:spPr>
          <a:xfrm>
            <a:off x="8229600" y="2643269"/>
            <a:ext cx="621792" cy="228600"/>
          </a:xfrm>
          <a:prstGeom prst="rect">
            <a:avLst/>
          </a:prstGeom>
          <a:noFill/>
          <a:ln/>
        </p:spPr>
        <p:txBody>
          <a:bodyPr wrap="square" lIns="0" tIns="0" rIns="0" bIns="0" rtlCol="0" anchor="t"/>
          <a:lstStyle/>
          <a:p>
            <a:pPr algn="r" indent="0" marL="0">
              <a:buNone/>
            </a:pPr>
            <a:r>
              <a:rPr lang="en-US" sz="1000" dirty="0">
                <a:solidFill>
                  <a:srgbClr val="6B7679"/>
                </a:solidFill>
                <a:latin typeface="Calibri" pitchFamily="34" charset="0"/>
                <a:ea typeface="Calibri" pitchFamily="34" charset="-122"/>
                <a:cs typeface="Calibri" pitchFamily="34" charset="-120"/>
              </a:rPr>
              <a:t>2000</a:t>
            </a:r>
            <a:endParaRPr lang="en-US" sz="1000" dirty="0"/>
          </a:p>
        </p:txBody>
      </p:sp>
      <p:sp>
        <p:nvSpPr>
          <p:cNvPr id="23" name="Shape 21"/>
          <p:cNvSpPr/>
          <p:nvPr/>
        </p:nvSpPr>
        <p:spPr>
          <a:xfrm>
            <a:off x="8915400" y="5912576"/>
            <a:ext cx="1828800" cy="210639"/>
          </a:xfrm>
          <a:prstGeom prst="rect">
            <a:avLst/>
          </a:prstGeom>
          <a:solidFill>
            <a:srgbClr val="02C39A"/>
          </a:solidFill>
          <a:ln w="12700">
            <a:solidFill>
              <a:srgbClr val="FFFFFF"/>
            </a:solidFill>
            <a:prstDash val="solid"/>
          </a:ln>
        </p:spPr>
        <p:txBody>
          <a:bodyPr/>
          <a:p/>
        </p:txBody>
      </p:sp>
      <p:sp>
        <p:nvSpPr>
          <p:cNvPr id="24" name="Text 22"/>
          <p:cNvSpPr txBox="1"/>
          <p:nvPr/>
        </p:nvSpPr>
        <p:spPr>
          <a:xfrm>
            <a:off x="8915400" y="5912576"/>
            <a:ext cx="1828800" cy="210639"/>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seg 1</a:t>
            </a:r>
            <a:endParaRPr lang="en-US" sz="1100" dirty="0"/>
          </a:p>
        </p:txBody>
      </p:sp>
      <p:sp>
        <p:nvSpPr>
          <p:cNvPr id="25" name="Text 23"/>
          <p:cNvSpPr txBox="1"/>
          <p:nvPr/>
        </p:nvSpPr>
        <p:spPr>
          <a:xfrm>
            <a:off x="8229600" y="5802848"/>
            <a:ext cx="621792" cy="228600"/>
          </a:xfrm>
          <a:prstGeom prst="rect">
            <a:avLst/>
          </a:prstGeom>
          <a:noFill/>
          <a:ln/>
        </p:spPr>
        <p:txBody>
          <a:bodyPr wrap="square" lIns="0" tIns="0" rIns="0" bIns="0" rtlCol="0" anchor="t"/>
          <a:lstStyle/>
          <a:p>
            <a:pPr algn="r" indent="0" marL="0">
              <a:buNone/>
            </a:pPr>
            <a:r>
              <a:rPr lang="en-US" sz="1000" dirty="0">
                <a:solidFill>
                  <a:srgbClr val="6B7679"/>
                </a:solidFill>
                <a:latin typeface="Calibri" pitchFamily="34" charset="0"/>
                <a:ea typeface="Calibri" pitchFamily="34" charset="-122"/>
                <a:cs typeface="Calibri" pitchFamily="34" charset="-120"/>
              </a:rPr>
              <a:t>6500</a:t>
            </a:r>
            <a:endParaRPr lang="en-US" sz="1000" dirty="0"/>
          </a:p>
        </p:txBody>
      </p:sp>
      <p:sp>
        <p:nvSpPr>
          <p:cNvPr id="26" name="Shape 24"/>
          <p:cNvSpPr/>
          <p:nvPr/>
        </p:nvSpPr>
        <p:spPr>
          <a:xfrm>
            <a:off x="8915400" y="4718957"/>
            <a:ext cx="1828800" cy="421277"/>
          </a:xfrm>
          <a:prstGeom prst="rect">
            <a:avLst/>
          </a:prstGeom>
          <a:solidFill>
            <a:srgbClr val="02C39A"/>
          </a:solidFill>
          <a:ln w="12700">
            <a:solidFill>
              <a:srgbClr val="FFFFFF"/>
            </a:solidFill>
            <a:prstDash val="solid"/>
          </a:ln>
        </p:spPr>
        <p:txBody>
          <a:bodyPr/>
          <a:p/>
        </p:txBody>
      </p:sp>
      <p:sp>
        <p:nvSpPr>
          <p:cNvPr id="27" name="Text 25"/>
          <p:cNvSpPr txBox="1"/>
          <p:nvPr/>
        </p:nvSpPr>
        <p:spPr>
          <a:xfrm>
            <a:off x="8915400" y="4718957"/>
            <a:ext cx="1828800" cy="421277"/>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seg 2</a:t>
            </a:r>
            <a:endParaRPr lang="en-US" sz="1100" dirty="0"/>
          </a:p>
        </p:txBody>
      </p:sp>
      <p:sp>
        <p:nvSpPr>
          <p:cNvPr id="28" name="Text 26"/>
          <p:cNvSpPr txBox="1"/>
          <p:nvPr/>
        </p:nvSpPr>
        <p:spPr>
          <a:xfrm>
            <a:off x="8229600" y="4609229"/>
            <a:ext cx="621792" cy="228600"/>
          </a:xfrm>
          <a:prstGeom prst="rect">
            <a:avLst/>
          </a:prstGeom>
          <a:noFill/>
          <a:ln/>
        </p:spPr>
        <p:txBody>
          <a:bodyPr wrap="square" lIns="0" tIns="0" rIns="0" bIns="0" rtlCol="0" anchor="t"/>
          <a:lstStyle/>
          <a:p>
            <a:pPr algn="r" indent="0" marL="0">
              <a:buNone/>
            </a:pPr>
            <a:r>
              <a:rPr lang="en-US" sz="1000" dirty="0">
                <a:solidFill>
                  <a:srgbClr val="6B7679"/>
                </a:solidFill>
                <a:latin typeface="Calibri" pitchFamily="34" charset="0"/>
                <a:ea typeface="Calibri" pitchFamily="34" charset="-122"/>
                <a:cs typeface="Calibri" pitchFamily="34" charset="-120"/>
              </a:rPr>
              <a:t>4800</a:t>
            </a:r>
            <a:endParaRPr lang="en-US" sz="1000" dirty="0"/>
          </a:p>
        </p:txBody>
      </p:sp>
      <p:sp>
        <p:nvSpPr>
          <p:cNvPr id="29" name="Shape 27"/>
          <p:cNvSpPr/>
          <p:nvPr/>
        </p:nvSpPr>
        <p:spPr>
          <a:xfrm>
            <a:off x="8915400" y="3735977"/>
            <a:ext cx="1828800" cy="631916"/>
          </a:xfrm>
          <a:prstGeom prst="rect">
            <a:avLst/>
          </a:prstGeom>
          <a:solidFill>
            <a:srgbClr val="02C39A"/>
          </a:solidFill>
          <a:ln w="12700">
            <a:solidFill>
              <a:srgbClr val="FFFFFF"/>
            </a:solidFill>
            <a:prstDash val="solid"/>
          </a:ln>
        </p:spPr>
        <p:txBody>
          <a:bodyPr/>
          <a:p/>
        </p:txBody>
      </p:sp>
      <p:sp>
        <p:nvSpPr>
          <p:cNvPr id="30" name="Text 28"/>
          <p:cNvSpPr txBox="1"/>
          <p:nvPr/>
        </p:nvSpPr>
        <p:spPr>
          <a:xfrm>
            <a:off x="8915400" y="3735977"/>
            <a:ext cx="1828800" cy="631916"/>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seg 3</a:t>
            </a:r>
            <a:endParaRPr lang="en-US" sz="1100" dirty="0"/>
          </a:p>
        </p:txBody>
      </p:sp>
      <p:sp>
        <p:nvSpPr>
          <p:cNvPr id="31" name="Text 29"/>
          <p:cNvSpPr txBox="1"/>
          <p:nvPr/>
        </p:nvSpPr>
        <p:spPr>
          <a:xfrm>
            <a:off x="8229600" y="3626249"/>
            <a:ext cx="621792" cy="228600"/>
          </a:xfrm>
          <a:prstGeom prst="rect">
            <a:avLst/>
          </a:prstGeom>
          <a:noFill/>
          <a:ln/>
        </p:spPr>
        <p:txBody>
          <a:bodyPr wrap="square" lIns="0" tIns="0" rIns="0" bIns="0" rtlCol="0" anchor="t"/>
          <a:lstStyle/>
          <a:p>
            <a:pPr algn="r" indent="0" marL="0">
              <a:buNone/>
            </a:pPr>
            <a:r>
              <a:rPr lang="en-US" sz="1000" dirty="0">
                <a:solidFill>
                  <a:srgbClr val="6B7679"/>
                </a:solidFill>
                <a:latin typeface="Calibri" pitchFamily="34" charset="0"/>
                <a:ea typeface="Calibri" pitchFamily="34" charset="-122"/>
                <a:cs typeface="Calibri" pitchFamily="34" charset="-120"/>
              </a:rPr>
              <a:t>3400</a:t>
            </a:r>
            <a:endParaRPr lang="en-US" sz="1000" dirty="0"/>
          </a:p>
        </p:txBody>
      </p:sp>
      <p:sp>
        <p:nvSpPr>
          <p:cNvPr id="32" name="Shape 30"/>
          <p:cNvSpPr/>
          <p:nvPr/>
        </p:nvSpPr>
        <p:spPr>
          <a:xfrm>
            <a:off x="8915400" y="5280660"/>
            <a:ext cx="1828800" cy="491490"/>
          </a:xfrm>
          <a:prstGeom prst="rect">
            <a:avLst/>
          </a:prstGeom>
          <a:solidFill>
            <a:srgbClr val="02C39A"/>
          </a:solidFill>
          <a:ln w="12700">
            <a:solidFill>
              <a:srgbClr val="FFFFFF"/>
            </a:solidFill>
            <a:prstDash val="solid"/>
          </a:ln>
        </p:spPr>
        <p:txBody>
          <a:bodyPr/>
          <a:p/>
        </p:txBody>
      </p:sp>
      <p:sp>
        <p:nvSpPr>
          <p:cNvPr id="33" name="Text 31"/>
          <p:cNvSpPr txBox="1"/>
          <p:nvPr/>
        </p:nvSpPr>
        <p:spPr>
          <a:xfrm>
            <a:off x="8915400" y="5280660"/>
            <a:ext cx="1828800" cy="491490"/>
          </a:xfrm>
          <a:prstGeom prst="rect">
            <a:avLst/>
          </a:prstGeom>
          <a:noFill/>
          <a:ln/>
        </p:spPr>
        <p:txBody>
          <a:bodyPr wrap="square" lIns="0" tIns="0" rIns="0" bIns="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seg 4</a:t>
            </a:r>
            <a:endParaRPr lang="en-US" sz="1100" dirty="0"/>
          </a:p>
        </p:txBody>
      </p:sp>
      <p:sp>
        <p:nvSpPr>
          <p:cNvPr id="34" name="Text 32"/>
          <p:cNvSpPr txBox="1"/>
          <p:nvPr/>
        </p:nvSpPr>
        <p:spPr>
          <a:xfrm>
            <a:off x="8229600" y="5170932"/>
            <a:ext cx="621792" cy="228600"/>
          </a:xfrm>
          <a:prstGeom prst="rect">
            <a:avLst/>
          </a:prstGeom>
          <a:noFill/>
          <a:ln/>
        </p:spPr>
        <p:txBody>
          <a:bodyPr wrap="square" lIns="0" tIns="0" rIns="0" bIns="0" rtlCol="0" anchor="t"/>
          <a:lstStyle/>
          <a:p>
            <a:pPr algn="r" indent="0" marL="0">
              <a:buNone/>
            </a:pPr>
            <a:r>
              <a:rPr lang="en-US" sz="1000" dirty="0">
                <a:solidFill>
                  <a:srgbClr val="6B7679"/>
                </a:solidFill>
                <a:latin typeface="Calibri" pitchFamily="34" charset="0"/>
                <a:ea typeface="Calibri" pitchFamily="34" charset="-122"/>
                <a:cs typeface="Calibri" pitchFamily="34" charset="-120"/>
              </a:rPr>
              <a:t>5600</a:t>
            </a:r>
            <a:endParaRPr lang="en-US" sz="1000" dirty="0"/>
          </a:p>
        </p:txBody>
      </p:sp>
      <p:sp>
        <p:nvSpPr>
          <p:cNvPr id="35" name="Shape 33"/>
          <p:cNvSpPr/>
          <p:nvPr/>
        </p:nvSpPr>
        <p:spPr>
          <a:xfrm>
            <a:off x="548640" y="5120640"/>
            <a:ext cx="7772400" cy="1143000"/>
          </a:xfrm>
          <a:prstGeom prst="roundRect">
            <a:avLst>
              <a:gd name="adj" fmla="val 48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6" name="Text 34"/>
          <p:cNvSpPr txBox="1"/>
          <p:nvPr/>
        </p:nvSpPr>
        <p:spPr>
          <a:xfrm>
            <a:off x="777240" y="5120640"/>
            <a:ext cx="7315200" cy="11430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Logical address = ⟨segment number s, offset d⟩. The compiler creates the segments; the loader gives each one a base in physical memory.</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SEGMENTATION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Segment Table and Address Translation</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Each segment has a base (where it starts in RAM) and a limit (its length). The offset is checked against the limit.</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4937760" cy="914400"/>
        </p:xfrm>
        <a:graphic>
          <a:graphicData uri="http://schemas.openxmlformats.org/drawingml/2006/table">
            <a:tbl>
              <a:tblPr/>
              <a:tblGrid>
                <a:gridCol w="548640"/>
                <a:gridCol w="2011680"/>
                <a:gridCol w="1188720"/>
                <a:gridCol w="118872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s</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Segment</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Base</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Limit</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main program</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1200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sqrt() library</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6500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300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stack</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4800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symbol table</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3400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900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heap / data</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5600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700</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Shape 5"/>
          <p:cNvSpPr/>
          <p:nvPr/>
        </p:nvSpPr>
        <p:spPr>
          <a:xfrm>
            <a:off x="5806440" y="2103120"/>
            <a:ext cx="914400" cy="594360"/>
          </a:xfrm>
          <a:prstGeom prst="roundRect">
            <a:avLst>
              <a:gd name="adj" fmla="val 7692"/>
            </a:avLst>
          </a:prstGeom>
          <a:solidFill>
            <a:srgbClr val="02C39A"/>
          </a:solidFill>
          <a:ln/>
        </p:spPr>
        <p:txBody>
          <a:bodyPr/>
          <a:p/>
        </p:txBody>
      </p:sp>
      <p:sp>
        <p:nvSpPr>
          <p:cNvPr id="9" name="Text 6"/>
          <p:cNvSpPr txBox="1"/>
          <p:nvPr/>
        </p:nvSpPr>
        <p:spPr>
          <a:xfrm>
            <a:off x="5806440" y="2103120"/>
            <a:ext cx="914400" cy="59436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libri" pitchFamily="34" charset="0"/>
                <a:ea typeface="Calibri" pitchFamily="34" charset="-122"/>
                <a:cs typeface="Calibri" pitchFamily="34" charset="-120"/>
              </a:rPr>
              <a:t>s</a:t>
            </a:r>
            <a:endParaRPr lang="en-US" sz="1500" dirty="0"/>
          </a:p>
        </p:txBody>
      </p:sp>
      <p:sp>
        <p:nvSpPr>
          <p:cNvPr id="10" name="Shape 7"/>
          <p:cNvSpPr/>
          <p:nvPr/>
        </p:nvSpPr>
        <p:spPr>
          <a:xfrm>
            <a:off x="6766560" y="2103120"/>
            <a:ext cx="914400" cy="594360"/>
          </a:xfrm>
          <a:prstGeom prst="roundRect">
            <a:avLst>
              <a:gd name="adj" fmla="val 7692"/>
            </a:avLst>
          </a:prstGeom>
          <a:solidFill>
            <a:srgbClr val="F2F2F2"/>
          </a:solidFill>
          <a:ln/>
        </p:spPr>
        <p:txBody>
          <a:bodyPr/>
          <a:p/>
        </p:txBody>
      </p:sp>
      <p:sp>
        <p:nvSpPr>
          <p:cNvPr id="11" name="Text 8"/>
          <p:cNvSpPr txBox="1"/>
          <p:nvPr/>
        </p:nvSpPr>
        <p:spPr>
          <a:xfrm>
            <a:off x="6766560" y="2103120"/>
            <a:ext cx="914400" cy="594360"/>
          </a:xfrm>
          <a:prstGeom prst="rect">
            <a:avLst/>
          </a:prstGeom>
          <a:noFill/>
          <a:ln/>
        </p:spPr>
        <p:txBody>
          <a:bodyPr wrap="square" lIns="38100" tIns="38100" rIns="38100" bIns="3810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d</a:t>
            </a:r>
            <a:endParaRPr lang="en-US" sz="1500" dirty="0"/>
          </a:p>
        </p:txBody>
      </p:sp>
      <p:sp>
        <p:nvSpPr>
          <p:cNvPr id="12" name="Shape 9"/>
          <p:cNvSpPr/>
          <p:nvPr/>
        </p:nvSpPr>
        <p:spPr>
          <a:xfrm>
            <a:off x="8138160" y="1920240"/>
            <a:ext cx="1554480" cy="960120"/>
          </a:xfrm>
          <a:prstGeom prst="diamond">
            <a:avLst/>
          </a:prstGeom>
          <a:solidFill>
            <a:srgbClr val="02C39A"/>
          </a:solidFill>
          <a:ln/>
        </p:spPr>
        <p:txBody>
          <a:bodyPr/>
          <a:p/>
        </p:txBody>
      </p:sp>
      <p:sp>
        <p:nvSpPr>
          <p:cNvPr id="13" name="Text 10"/>
          <p:cNvSpPr txBox="1"/>
          <p:nvPr/>
        </p:nvSpPr>
        <p:spPr>
          <a:xfrm>
            <a:off x="8138160" y="1920240"/>
            <a:ext cx="1554480" cy="960120"/>
          </a:xfrm>
          <a:prstGeom prst="rect">
            <a:avLst/>
          </a:prstGeom>
          <a:noFill/>
          <a:ln/>
        </p:spPr>
        <p:txBody>
          <a:bodyPr wrap="square" lIns="0" tIns="0" rIns="0" bIns="0" rtlCol="0" anchor="ctr"/>
          <a:lstStyle/>
          <a:p>
            <a:pPr algn="ctr" indent="0" marL="0">
              <a:buNone/>
            </a:pPr>
            <a:r>
              <a:rPr lang="en-US" sz="1150" b="1" dirty="0">
                <a:solidFill>
                  <a:srgbClr val="212121"/>
                </a:solidFill>
                <a:latin typeface="Calibri" pitchFamily="34" charset="0"/>
                <a:ea typeface="Calibri" pitchFamily="34" charset="-122"/>
                <a:cs typeface="Calibri" pitchFamily="34" charset="-120"/>
              </a:rPr>
              <a:t>d &lt; limit[s] ?</a:t>
            </a:r>
            <a:endParaRPr lang="en-US" sz="1150" dirty="0"/>
          </a:p>
        </p:txBody>
      </p:sp>
      <p:sp>
        <p:nvSpPr>
          <p:cNvPr id="14" name="Shape 11"/>
          <p:cNvSpPr/>
          <p:nvPr/>
        </p:nvSpPr>
        <p:spPr>
          <a:xfrm>
            <a:off x="7699248" y="2404872"/>
            <a:ext cx="420624" cy="91"/>
          </a:xfrm>
          <a:prstGeom prst="line">
            <a:avLst/>
          </a:prstGeom>
          <a:noFill/>
          <a:ln w="19050">
            <a:solidFill>
              <a:srgbClr val="50808E"/>
            </a:solidFill>
            <a:prstDash val="solid"/>
            <a:tailEnd type="triangle"/>
          </a:ln>
        </p:spPr>
        <p:txBody>
          <a:bodyPr/>
          <a:p/>
        </p:txBody>
      </p:sp>
      <p:sp>
        <p:nvSpPr>
          <p:cNvPr id="15" name="Shape 12"/>
          <p:cNvSpPr/>
          <p:nvPr/>
        </p:nvSpPr>
        <p:spPr>
          <a:xfrm>
            <a:off x="9710928" y="2404872"/>
            <a:ext cx="438912" cy="91"/>
          </a:xfrm>
          <a:prstGeom prst="line">
            <a:avLst/>
          </a:prstGeom>
          <a:noFill/>
          <a:ln w="19050">
            <a:solidFill>
              <a:srgbClr val="50808E"/>
            </a:solidFill>
            <a:prstDash val="solid"/>
            <a:tailEnd type="triangle"/>
          </a:ln>
        </p:spPr>
        <p:txBody>
          <a:bodyPr/>
          <a:p/>
        </p:txBody>
      </p:sp>
      <p:sp>
        <p:nvSpPr>
          <p:cNvPr id="16" name="Text 13"/>
          <p:cNvSpPr txBox="1"/>
          <p:nvPr/>
        </p:nvSpPr>
        <p:spPr>
          <a:xfrm>
            <a:off x="9692640" y="2057400"/>
            <a:ext cx="45720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yes</a:t>
            </a:r>
            <a:endParaRPr lang="en-US" sz="1200" dirty="0"/>
          </a:p>
        </p:txBody>
      </p:sp>
      <p:sp>
        <p:nvSpPr>
          <p:cNvPr id="17" name="Shape 14"/>
          <p:cNvSpPr/>
          <p:nvPr/>
        </p:nvSpPr>
        <p:spPr>
          <a:xfrm>
            <a:off x="10195560" y="2103120"/>
            <a:ext cx="1463040" cy="594360"/>
          </a:xfrm>
          <a:prstGeom prst="roundRect">
            <a:avLst>
              <a:gd name="adj" fmla="val 7692"/>
            </a:avLst>
          </a:prstGeom>
          <a:solidFill>
            <a:srgbClr val="D7E9E6"/>
          </a:solidFill>
          <a:ln/>
        </p:spPr>
        <p:txBody>
          <a:bodyPr/>
          <a:p/>
        </p:txBody>
      </p:sp>
      <p:sp>
        <p:nvSpPr>
          <p:cNvPr id="18" name="Text 15"/>
          <p:cNvSpPr txBox="1"/>
          <p:nvPr/>
        </p:nvSpPr>
        <p:spPr>
          <a:xfrm>
            <a:off x="10195560" y="2103120"/>
            <a:ext cx="1463040" cy="59436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base[s] + d</a:t>
            </a:r>
            <a:endParaRPr lang="en-US" sz="1300" dirty="0"/>
          </a:p>
        </p:txBody>
      </p:sp>
      <p:sp>
        <p:nvSpPr>
          <p:cNvPr id="19" name="Shape 16"/>
          <p:cNvSpPr/>
          <p:nvPr/>
        </p:nvSpPr>
        <p:spPr>
          <a:xfrm>
            <a:off x="8915400" y="2898648"/>
            <a:ext cx="91" cy="393192"/>
          </a:xfrm>
          <a:prstGeom prst="line">
            <a:avLst/>
          </a:prstGeom>
          <a:noFill/>
          <a:ln w="19050">
            <a:solidFill>
              <a:srgbClr val="B5453A"/>
            </a:solidFill>
            <a:prstDash val="solid"/>
            <a:tailEnd type="triangle"/>
          </a:ln>
        </p:spPr>
        <p:txBody>
          <a:bodyPr/>
          <a:p/>
        </p:txBody>
      </p:sp>
      <p:sp>
        <p:nvSpPr>
          <p:cNvPr id="20" name="Text 17"/>
          <p:cNvSpPr txBox="1"/>
          <p:nvPr/>
        </p:nvSpPr>
        <p:spPr>
          <a:xfrm>
            <a:off x="9052560" y="2926080"/>
            <a:ext cx="1280160" cy="320040"/>
          </a:xfrm>
          <a:prstGeom prst="rect">
            <a:avLst/>
          </a:prstGeom>
          <a:noFill/>
          <a:ln/>
        </p:spPr>
        <p:txBody>
          <a:bodyPr wrap="square" lIns="0" tIns="0" rIns="0" bIns="0" rtlCol="0" anchor="t"/>
          <a:lstStyle/>
          <a:p>
            <a:pPr indent="0" marL="0">
              <a:buNone/>
            </a:pPr>
            <a:r>
              <a:rPr lang="en-US" sz="1200" b="1" dirty="0">
                <a:solidFill>
                  <a:srgbClr val="B5453A"/>
                </a:solidFill>
                <a:latin typeface="Calibri" pitchFamily="34" charset="0"/>
                <a:ea typeface="Calibri" pitchFamily="34" charset="-122"/>
                <a:cs typeface="Calibri" pitchFamily="34" charset="-120"/>
              </a:rPr>
              <a:t>no → TRAP</a:t>
            </a:r>
            <a:endParaRPr lang="en-US" sz="1200" dirty="0"/>
          </a:p>
        </p:txBody>
      </p:sp>
      <p:sp>
        <p:nvSpPr>
          <p:cNvPr id="21" name="Shape 18"/>
          <p:cNvSpPr/>
          <p:nvPr/>
        </p:nvSpPr>
        <p:spPr>
          <a:xfrm>
            <a:off x="5806440" y="3520440"/>
            <a:ext cx="5852160" cy="2743200"/>
          </a:xfrm>
          <a:prstGeom prst="roundRect">
            <a:avLst>
              <a:gd name="adj" fmla="val 1667"/>
            </a:avLst>
          </a:prstGeom>
          <a:solidFill>
            <a:srgbClr val="212121"/>
          </a:solidFill>
          <a:ln/>
        </p:spPr>
        <p:txBody>
          <a:bodyPr/>
          <a:p/>
        </p:txBody>
      </p:sp>
      <p:sp>
        <p:nvSpPr>
          <p:cNvPr id="22" name="Text 19"/>
          <p:cNvSpPr txBox="1"/>
          <p:nvPr/>
        </p:nvSpPr>
        <p:spPr>
          <a:xfrm>
            <a:off x="5989320" y="3630168"/>
            <a:ext cx="5486400" cy="252374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(s=2, d=53)  : 53 &lt; 600    → 4800 + 53  = 4853</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(s=3, d=852) : 852 &lt; 900   → 3400 + 852 = 4252</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(s=1, d=299) : 299 &lt; 300   → 6500 + 299 = 6799</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(s=0, d=1222): 1222 ≥ 1200 → TRAP</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(addressing error)</a:t>
            </a:r>
            <a:endParaRPr lang="en-US" sz="1350" dirty="0"/>
          </a:p>
        </p:txBody>
      </p:sp>
      <p:sp>
        <p:nvSpPr>
          <p:cNvPr id="23" name="Shape 20"/>
          <p:cNvSpPr/>
          <p:nvPr/>
        </p:nvSpPr>
        <p:spPr>
          <a:xfrm>
            <a:off x="548640" y="5257800"/>
            <a:ext cx="49377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4" name="Text 21"/>
          <p:cNvSpPr txBox="1"/>
          <p:nvPr/>
        </p:nvSpPr>
        <p:spPr>
          <a:xfrm>
            <a:off x="777240" y="5257800"/>
            <a:ext cx="4480560" cy="10058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Same idea as base + limit — but with one pair per segment.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COMPARISON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Paging vs. Segmentation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743200"/>
                <a:gridCol w="4206240"/>
                <a:gridCol w="4160520"/>
              </a:tblGrid>
              <a:tr h="0">
                <a:tc>
                  <a:txBody>
                    <a:bodyPr/>
                    <a:lstStyle/>
                    <a:p>
                      <a:pPr indent="0" marL="0">
                        <a:buNone/>
                      </a:pP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Paging</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Segmentation</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Unit size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fixed (e.g. 4 KB), chosen by hardware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variable, follows the program's structure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Visible to the programmer?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no — invisible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yes — main, stack, data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Logical address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one number, split into p | 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a pair ⟨s, 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External fragmentation</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yes (variable-size blocks)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Internal fragmentation</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yes, ½ page per process on average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Protection &amp; sharing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per page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per meaningful unit (segment)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Table entry</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frame number + bits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base + limit + bits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Combination: Multics and the Intel 80386 used segments made of pages. Modern 64-bit systems keep only paging.</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REAL SYSTEMS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x86-64 Linux Actually Does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Intel CPUs still contain segmentation hardware — but 64-bit operating systems essentially switch it off.</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32</a:t>
            </a:r>
            <a:endParaRPr lang="en-US"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Segmentation: flat</a:t>
            </a:r>
            <a:endParaRPr lang="en-US"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Code, data and stack segments have base 0 and cover the whole address space.</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Only FS/GS remain in use (for thread-local data).</a:t>
            </a:r>
            <a:endParaRPr lang="en-US" sz="150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Paging: everything</a:t>
            </a:r>
            <a:endParaRPr lang="en-US"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4-level page tables, 48-bit addresses (9+9+9+9+12); 5 levels / 57 bits on new CPUs.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Pages of 4 KB, 2 MB, 1 GB.</a:t>
            </a:r>
            <a:endParaRPr lang="en-US" sz="150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Per-process tables</a:t>
            </a:r>
            <a:endParaRPr lang="en-US"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Each process has its own page tables; register CR3 points to them.</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A context switch reloads CR3 (Week 3).</a:t>
            </a:r>
            <a:endParaRPr lang="en-US" sz="150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segment idea lives on in software: Linux keeps a list of regions (text, heap, stack, libraries) per process — /proc/self/maps shows it.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1: Where Do My Variables Live?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33</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int initialised_global = 42;   /* data segment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int uninitialised_global;      /* bss segment (zero-filled)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int main(void)</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int local = 7;                        /* stack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int *dynamic = malloc(sizeof(int));   /* heap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printf("text  (code)   main()      : %p\n", (void *)main);</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printf("data  (global) initialised : %p\n",</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(void *)&amp;initialised_global);</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printf("bss   (global) zero-filled : %p\n",</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(void *)&amp;uninitialised_global);</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printf("heap  (malloc)             : %p\n", (void *)dynamic);</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printf("stack (local variable)     : %p\n", (void *)&amp;local);</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printf("page size                  : %ld bytes\n",</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sysconf(_SC_PAGESIZE));</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show_maps();   /* print our lines of /proc/self/maps */</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free(dynamic);</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8A9AA0"/>
                </a:solidFill>
                <a:latin typeface="Consolas" pitchFamily="34" charset="0"/>
                <a:ea typeface="Consolas" pitchFamily="34" charset="-122"/>
                <a:cs typeface="Consolas" pitchFamily="34" charset="-120"/>
              </a:rPr>
              <a:t>/* full program: code/mem_layout.c */</a:t>
            </a:r>
            <a:endParaRPr lang="en-US" sz="1050" dirty="0"/>
          </a:p>
        </p:txBody>
      </p:sp>
      <p:sp>
        <p:nvSpPr>
          <p:cNvPr id="8" name="Shape 6"/>
          <p:cNvSpPr/>
          <p:nvPr/>
        </p:nvSpPr>
        <p:spPr>
          <a:xfrm>
            <a:off x="7223760" y="1508760"/>
            <a:ext cx="4434840" cy="1737360"/>
          </a:xfrm>
          <a:prstGeom prst="roundRect">
            <a:avLst>
              <a:gd name="adj" fmla="val 315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Observe</a:t>
            </a:r>
            <a:endParaRPr lang="en-US" sz="1500" dirty="0"/>
          </a:p>
        </p:txBody>
      </p:sp>
      <p:sp>
        <p:nvSpPr>
          <p:cNvPr id="10" name="Text 8"/>
          <p:cNvSpPr txBox="1"/>
          <p:nvPr/>
        </p:nvSpPr>
        <p:spPr>
          <a:xfrm>
            <a:off x="7452360" y="2148840"/>
            <a:ext cx="3977640" cy="96012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Code and globals: low addresses (0x55…).</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Heap: a bit higher; stack: near the top (0x7ff…).</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Each address lies in a region of /proc/self/maps with matching permissions.</a:t>
            </a:r>
            <a:endParaRPr lang="en-US" sz="1300" dirty="0"/>
          </a:p>
        </p:txBody>
      </p:sp>
      <p:sp>
        <p:nvSpPr>
          <p:cNvPr id="11" name="Shape 9"/>
          <p:cNvSpPr/>
          <p:nvPr/>
        </p:nvSpPr>
        <p:spPr>
          <a:xfrm>
            <a:off x="7223760" y="3474720"/>
            <a:ext cx="4434840" cy="2788920"/>
          </a:xfrm>
          <a:prstGeom prst="roundRect">
            <a:avLst>
              <a:gd name="adj" fmla="val 1639"/>
            </a:avLst>
          </a:prstGeom>
          <a:solidFill>
            <a:srgbClr val="212121"/>
          </a:solidFill>
          <a:ln/>
        </p:spPr>
        <p:txBody>
          <a:bodyPr/>
          <a:p/>
        </p:txBody>
      </p:sp>
      <p:sp>
        <p:nvSpPr>
          <p:cNvPr id="12" name="Text 10"/>
          <p:cNvSpPr txBox="1"/>
          <p:nvPr/>
        </p:nvSpPr>
        <p:spPr>
          <a:xfrm>
            <a:off x="7406640" y="3584448"/>
            <a:ext cx="4069080" cy="2569464"/>
          </a:xfrm>
          <a:prstGeom prst="rect">
            <a:avLst/>
          </a:prstGeom>
          <a:noFill/>
          <a:ln/>
        </p:spPr>
        <p:txBody>
          <a:bodyPr wrap="square" lIns="0" tIns="0" rIns="0" bIns="0" rtlCol="0" anchor="t"/>
          <a:lstStyle/>
          <a:p>
            <a:pPr indent="0" marL="0">
              <a:lnSpc>
                <a:spcPct val="105000"/>
              </a:lnSpc>
              <a:buNone/>
            </a:pPr>
            <a:r>
              <a:rPr lang="en-US" sz="950" dirty="0">
                <a:solidFill>
                  <a:srgbClr val="02C39A"/>
                </a:solidFill>
                <a:latin typeface="Consolas" pitchFamily="34" charset="0"/>
                <a:ea typeface="Consolas" pitchFamily="34" charset="-122"/>
                <a:cs typeface="Consolas" pitchFamily="34" charset="-120"/>
              </a:rPr>
              <a:t>$ ./mem_layout</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text (code) main() : 0x56412f3601e0</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data (global) initialised : 0x56412f363010</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bss (global) zero-filled : 0x56412f363018</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heap (malloc) : 0x564160c6c2a0</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stack (local variable) : 0x7ffe905b48c4</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page size                  : 4096 bytes</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56412f35f000-56412f360000 r--p mem_layout</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56412f360000-56412f361000 r-xp mem_layout</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56412f361000-56412f362000 r--p mem_layout</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56412f362000-56412f363000 r--p mem_layout</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56412f363000-56412f364000 rw-p mem_layout</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564160c6c000-564160c8d000 rw-p [heap]</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7ffe90595000-7ffe905bb000 rw-p [stack]</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Page Size and the Memory Map from the Shell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34</a:t>
            </a:r>
            <a:endParaRPr lang="en-US" sz="900" dirty="0"/>
          </a:p>
        </p:txBody>
      </p:sp>
      <p:sp>
        <p:nvSpPr>
          <p:cNvPr id="6" name="Shape 4"/>
          <p:cNvSpPr/>
          <p:nvPr/>
        </p:nvSpPr>
        <p:spPr>
          <a:xfrm>
            <a:off x="548640" y="1508760"/>
            <a:ext cx="11109960" cy="3246120"/>
          </a:xfrm>
          <a:prstGeom prst="roundRect">
            <a:avLst>
              <a:gd name="adj" fmla="val 1408"/>
            </a:avLst>
          </a:prstGeom>
          <a:solidFill>
            <a:srgbClr val="212121"/>
          </a:solidFill>
          <a:ln/>
        </p:spPr>
        <p:txBody>
          <a:bodyPr/>
          <a:p/>
        </p:txBody>
      </p:sp>
      <p:sp>
        <p:nvSpPr>
          <p:cNvPr id="7" name="Text 5"/>
          <p:cNvSpPr txBox="1"/>
          <p:nvPr/>
        </p:nvSpPr>
        <p:spPr>
          <a:xfrm>
            <a:off x="731520" y="1618488"/>
            <a:ext cx="10744200" cy="302666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getconf PAGESIZE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4096</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grep Hugepagesize /proc/meminfo</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Hugepagesize:       2048 kB</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head -n 6 /proc/self/maps        # the memory map of the head process itself</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559948881000-559948883000 r--p 00000000 fe:00 270606         /usr/bin/head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559948883000-559948889000 r-xp 00002000 fe:00 270606         /usr/bin/head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559948889000-55994888b000 r--p 00008000 fe:00 270606         /usr/bin/head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55994888b000-55994888c000 r--p 00009000 fe:00 270606         /usr/bin/head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55994888c000-55994888d000 rw-p 0000a000 fe:00 270606         /usr/bin/head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559970df7000-559970e18000 rw-p 00000000 00:00 0              [heap]</a:t>
            </a:r>
            <a:endParaRPr lang="en-US" sz="1150" dirty="0"/>
          </a:p>
        </p:txBody>
      </p:sp>
      <p:sp>
        <p:nvSpPr>
          <p:cNvPr id="8" name="Shape 6"/>
          <p:cNvSpPr/>
          <p:nvPr/>
        </p:nvSpPr>
        <p:spPr>
          <a:xfrm>
            <a:off x="548640" y="4937760"/>
            <a:ext cx="3566160" cy="1325880"/>
          </a:xfrm>
          <a:prstGeom prst="roundRect">
            <a:avLst>
              <a:gd name="adj" fmla="val 413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5120640"/>
            <a:ext cx="310896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Columns</a:t>
            </a:r>
            <a:endParaRPr lang="en-US" sz="1400" dirty="0"/>
          </a:p>
        </p:txBody>
      </p:sp>
      <p:sp>
        <p:nvSpPr>
          <p:cNvPr id="10" name="Text 8"/>
          <p:cNvSpPr txBox="1"/>
          <p:nvPr/>
        </p:nvSpPr>
        <p:spPr>
          <a:xfrm>
            <a:off x="777240" y="5577840"/>
            <a:ext cx="3108960" cy="548640"/>
          </a:xfrm>
          <a:prstGeom prst="rect">
            <a:avLst/>
          </a:prstGeom>
          <a:noFill/>
          <a:ln/>
        </p:spPr>
        <p:txBody>
          <a:bodyPr wrap="square" lIns="0" tIns="0" rIns="0" bIns="0" rtlCol="0" anchor="t"/>
          <a:lstStyle/>
          <a:p>
            <a:pPr indent="0" marL="0">
              <a:spcAft>
                <a:spcPts val="400"/>
              </a:spcAft>
              <a:buNone/>
            </a:pPr>
            <a:r>
              <a:rPr lang="en-US" sz="1250" dirty="0">
                <a:solidFill>
                  <a:srgbClr val="3A464C"/>
                </a:solidFill>
                <a:latin typeface="Calibri" pitchFamily="34" charset="0"/>
                <a:ea typeface="Calibri" pitchFamily="34" charset="-122"/>
                <a:cs typeface="Calibri" pitchFamily="34" charset="-120"/>
              </a:rPr>
              <a:t>start–end (virtual), permissions r/w/x + p(rivate) or s(hared), file offset, device, inode, file.</a:t>
            </a:r>
            <a:endParaRPr lang="en-US" sz="1250" dirty="0"/>
          </a:p>
        </p:txBody>
      </p:sp>
      <p:sp>
        <p:nvSpPr>
          <p:cNvPr id="11" name="Shape 9"/>
          <p:cNvSpPr/>
          <p:nvPr/>
        </p:nvSpPr>
        <p:spPr>
          <a:xfrm>
            <a:off x="4315968" y="4937760"/>
            <a:ext cx="3566160" cy="1325880"/>
          </a:xfrm>
          <a:prstGeom prst="roundRect">
            <a:avLst>
              <a:gd name="adj" fmla="val 413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4544568" y="5120640"/>
            <a:ext cx="310896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Page arithmetic</a:t>
            </a:r>
            <a:endParaRPr lang="en-US" sz="1400" dirty="0"/>
          </a:p>
        </p:txBody>
      </p:sp>
      <p:sp>
        <p:nvSpPr>
          <p:cNvPr id="13" name="Text 11"/>
          <p:cNvSpPr txBox="1"/>
          <p:nvPr/>
        </p:nvSpPr>
        <p:spPr>
          <a:xfrm>
            <a:off x="4544568" y="5577840"/>
            <a:ext cx="3108960" cy="548640"/>
          </a:xfrm>
          <a:prstGeom prst="rect">
            <a:avLst/>
          </a:prstGeom>
          <a:noFill/>
          <a:ln/>
        </p:spPr>
        <p:txBody>
          <a:bodyPr wrap="square" lIns="0" tIns="0" rIns="0" bIns="0" rtlCol="0" anchor="t"/>
          <a:lstStyle/>
          <a:p>
            <a:pPr indent="0" marL="0">
              <a:spcAft>
                <a:spcPts val="400"/>
              </a:spcAft>
              <a:buNone/>
            </a:pPr>
            <a:r>
              <a:rPr lang="en-US" sz="1250" dirty="0">
                <a:solidFill>
                  <a:srgbClr val="3A464C"/>
                </a:solidFill>
                <a:latin typeface="Calibri" pitchFamily="34" charset="0"/>
                <a:ea typeface="Calibri" pitchFamily="34" charset="-122"/>
                <a:cs typeface="Calibri" pitchFamily="34" charset="-120"/>
              </a:rPr>
              <a:t>0x559948883000 − 0x559948881000 = 0x2000 = 8192 bytes = 2 pages. Every boundary ends in 000: regions are page-aligned.</a:t>
            </a:r>
            <a:endParaRPr lang="en-US" sz="1250" dirty="0"/>
          </a:p>
        </p:txBody>
      </p:sp>
      <p:sp>
        <p:nvSpPr>
          <p:cNvPr id="14" name="Shape 12"/>
          <p:cNvSpPr/>
          <p:nvPr/>
        </p:nvSpPr>
        <p:spPr>
          <a:xfrm>
            <a:off x="8083296" y="4937760"/>
            <a:ext cx="3566160" cy="1325880"/>
          </a:xfrm>
          <a:prstGeom prst="roundRect">
            <a:avLst>
              <a:gd name="adj" fmla="val 413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Text 13"/>
          <p:cNvSpPr txBox="1"/>
          <p:nvPr/>
        </p:nvSpPr>
        <p:spPr>
          <a:xfrm>
            <a:off x="8311896" y="5120640"/>
            <a:ext cx="310896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Same file, 5 regions</a:t>
            </a:r>
            <a:endParaRPr lang="en-US" sz="1400" dirty="0"/>
          </a:p>
        </p:txBody>
      </p:sp>
      <p:sp>
        <p:nvSpPr>
          <p:cNvPr id="16" name="Text 14"/>
          <p:cNvSpPr txBox="1"/>
          <p:nvPr/>
        </p:nvSpPr>
        <p:spPr>
          <a:xfrm>
            <a:off x="8311896" y="5577840"/>
            <a:ext cx="3108960" cy="548640"/>
          </a:xfrm>
          <a:prstGeom prst="rect">
            <a:avLst/>
          </a:prstGeom>
          <a:noFill/>
          <a:ln/>
        </p:spPr>
        <p:txBody>
          <a:bodyPr wrap="square" lIns="0" tIns="0" rIns="0" bIns="0" rtlCol="0" anchor="t"/>
          <a:lstStyle/>
          <a:p>
            <a:pPr indent="0" marL="0">
              <a:spcAft>
                <a:spcPts val="400"/>
              </a:spcAft>
              <a:buNone/>
            </a:pPr>
            <a:r>
              <a:rPr lang="en-US" sz="1250" dirty="0">
                <a:solidFill>
                  <a:srgbClr val="3A464C"/>
                </a:solidFill>
                <a:latin typeface="Calibri" pitchFamily="34" charset="0"/>
                <a:ea typeface="Calibri" pitchFamily="34" charset="-122"/>
                <a:cs typeface="Calibri" pitchFamily="34" charset="-120"/>
              </a:rPr>
              <a:t>One program file, mapped with different permissions: headers, code (r-x), constants, data (rw-).</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2: Same Address, Different Values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35</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#include &lt;stdio.h&gt;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#include &lt;unistd.h&gt;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#include &lt;sys/wait.h&gt;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int x = 100;                     /* one global variable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int main(void)</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pid_t pid = fork();          /* now there are two processes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if (pid == 0) {              /* ---- child ----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x = 200;                 /* change OUR copy only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printf("child  (PID %d): &amp;x = %p   x = %d\n",</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getpid(), (void *)&amp;x, x);</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return 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wait(NULL);                  /* ---- parent: wait for the child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printf("parent (PID %d): &amp;x = %p   x = %d\n",</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getpid(), (void *)&amp;x, x);</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return 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p:txBody>
      </p:sp>
      <p:sp>
        <p:nvSpPr>
          <p:cNvPr id="8" name="Shape 6"/>
          <p:cNvSpPr/>
          <p:nvPr/>
        </p:nvSpPr>
        <p:spPr>
          <a:xfrm>
            <a:off x="7223760" y="1508760"/>
            <a:ext cx="4434840" cy="3200400"/>
          </a:xfrm>
          <a:prstGeom prst="roundRect">
            <a:avLst>
              <a:gd name="adj" fmla="val 171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is this possible?</a:t>
            </a:r>
            <a:endParaRPr lang="en-US" sz="1500" dirty="0"/>
          </a:p>
        </p:txBody>
      </p:sp>
      <p:sp>
        <p:nvSpPr>
          <p:cNvPr id="10" name="Text 8"/>
          <p:cNvSpPr txBox="1"/>
          <p:nvPr/>
        </p:nvSpPr>
        <p:spPr>
          <a:xfrm>
            <a:off x="7452360" y="2148840"/>
            <a:ext cx="3977640" cy="24231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fork() copies the parent: same layout, same addresses.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The child sets x = 200; the parent still sees 100.</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&amp;x is a logical address. Each process has its own page table, mapping it to a different frame.</a:t>
            </a:r>
            <a:endParaRPr lang="en-US" sz="1300" dirty="0"/>
          </a:p>
        </p:txBody>
      </p:sp>
      <p:sp>
        <p:nvSpPr>
          <p:cNvPr id="11" name="Shape 9"/>
          <p:cNvSpPr/>
          <p:nvPr/>
        </p:nvSpPr>
        <p:spPr>
          <a:xfrm>
            <a:off x="7223760" y="4937760"/>
            <a:ext cx="4434840" cy="1325880"/>
          </a:xfrm>
          <a:prstGeom prst="roundRect">
            <a:avLst>
              <a:gd name="adj" fmla="val 3448"/>
            </a:avLst>
          </a:prstGeom>
          <a:solidFill>
            <a:srgbClr val="212121"/>
          </a:solidFill>
          <a:ln/>
        </p:spPr>
        <p:txBody>
          <a:bodyPr/>
          <a:p/>
        </p:txBody>
      </p:sp>
      <p:sp>
        <p:nvSpPr>
          <p:cNvPr id="12" name="Text 10"/>
          <p:cNvSpPr txBox="1"/>
          <p:nvPr/>
        </p:nvSpPr>
        <p:spPr>
          <a:xfrm>
            <a:off x="7406640" y="5047488"/>
            <a:ext cx="4069080" cy="1106424"/>
          </a:xfrm>
          <a:prstGeom prst="rect">
            <a:avLst/>
          </a:prstGeom>
          <a:noFill/>
          <a:ln/>
        </p:spPr>
        <p:txBody>
          <a:bodyPr wrap="square" lIns="0" tIns="0" rIns="0" bIns="0" rtlCol="0" anchor="t"/>
          <a:lstStyle/>
          <a:p>
            <a:pPr indent="0" marL="0">
              <a:lnSpc>
                <a:spcPct val="105000"/>
              </a:lnSpc>
              <a:buNone/>
            </a:pPr>
            <a:r>
              <a:rPr lang="en-US" sz="1000" dirty="0">
                <a:solidFill>
                  <a:srgbClr val="02C39A"/>
                </a:solidFill>
                <a:latin typeface="Consolas" pitchFamily="34" charset="0"/>
                <a:ea typeface="Consolas" pitchFamily="34" charset="-122"/>
                <a:cs typeface="Consolas" pitchFamily="34" charset="-120"/>
              </a:rPr>
              <a:t>$ ./fork_vaddr</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child  (PID 1760): &amp;x = 0x55bc4a29c010  x = 200</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parent (PID 1759): &amp;x = 0x55bc4a29c010  x = 100</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3: Page Number and Offset with Bit Operations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36</a:t>
            </a:r>
            <a:endParaRPr lang="en-US" sz="900" dirty="0"/>
          </a:p>
        </p:txBody>
      </p:sp>
      <p:sp>
        <p:nvSpPr>
          <p:cNvPr id="6" name="Shape 4"/>
          <p:cNvSpPr/>
          <p:nvPr/>
        </p:nvSpPr>
        <p:spPr>
          <a:xfrm>
            <a:off x="548640" y="1508760"/>
            <a:ext cx="6675120" cy="4754880"/>
          </a:xfrm>
          <a:prstGeom prst="roundRect">
            <a:avLst>
              <a:gd name="adj" fmla="val 962"/>
            </a:avLst>
          </a:prstGeom>
          <a:solidFill>
            <a:srgbClr val="212121"/>
          </a:solidFill>
          <a:ln/>
        </p:spPr>
        <p:txBody>
          <a:bodyPr/>
          <a:p/>
        </p:txBody>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#define N_BITS    12                  /* page size 2^12 = 4096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#define PAGE_SIZE (1UL &lt;&lt; N_BITS)</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#define OFF_MASK  (PAGE_SIZE - 1)     /* 0xFFF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8A9AA0"/>
                </a:solidFill>
                <a:latin typeface="Consolas" pitchFamily="34" charset="0"/>
                <a:ea typeface="Consolas" pitchFamily="34" charset="-122"/>
                <a:cs typeface="Consolas" pitchFamily="34" charset="-120"/>
              </a:rPr>
              <a:t>/* page -&gt; frame; -1 = invalid page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int page_table[16] = { 5, 9, 1, 7, 12, -1, /* ... */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for (int i = 1; i &lt; argc; i++)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unsigned long a = strtoul(argv[i], NULL, 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unsigned long p = a &gt;&gt; N_BITS;      /* high bits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unsigned long d = a &amp; OFF_MASK;     /* low 12 bits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if (p &gt;= 16 || page_table[p] &lt; 0) continue;  /* trap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unsigned long f = page_table[p];</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unsigned long phys = (f &lt;&lt; N_BITS) | d;   /* f*4096 + d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printf(... a, p, d, f, phys);</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8A9AA0"/>
                </a:solidFill>
                <a:latin typeface="Consolas" pitchFamily="34" charset="0"/>
                <a:ea typeface="Consolas" pitchFamily="34" charset="-122"/>
                <a:cs typeface="Consolas" pitchFamily="34" charset="-120"/>
              </a:rPr>
              <a:t>/* full program: code/page_split.c */</a:t>
            </a:r>
            <a:endParaRPr lang="en-US" sz="1100" dirty="0"/>
          </a:p>
        </p:txBody>
      </p:sp>
      <p:sp>
        <p:nvSpPr>
          <p:cNvPr id="8" name="Shape 6"/>
          <p:cNvSpPr/>
          <p:nvPr/>
        </p:nvSpPr>
        <p:spPr>
          <a:xfrm>
            <a:off x="7498080" y="1508760"/>
            <a:ext cx="416052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26680" y="1691640"/>
            <a:ext cx="37033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it does</a:t>
            </a:r>
            <a:endParaRPr lang="en-US" sz="1500" dirty="0"/>
          </a:p>
        </p:txBody>
      </p:sp>
      <p:sp>
        <p:nvSpPr>
          <p:cNvPr id="10" name="Text 8"/>
          <p:cNvSpPr txBox="1"/>
          <p:nvPr/>
        </p:nvSpPr>
        <p:spPr>
          <a:xfrm>
            <a:off x="7726680" y="2148840"/>
            <a:ext cx="3703320" cy="160020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p = a &gt;&gt; 12 and d = a &amp; 0xFFF.</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Translation: (frame &lt;&lt; 12) | d.</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Same page table as on the slides.</a:t>
            </a:r>
            <a:endParaRPr lang="en-US" sz="1300" dirty="0"/>
          </a:p>
        </p:txBody>
      </p:sp>
      <p:sp>
        <p:nvSpPr>
          <p:cNvPr id="11" name="Shape 9"/>
          <p:cNvSpPr/>
          <p:nvPr/>
        </p:nvSpPr>
        <p:spPr>
          <a:xfrm>
            <a:off x="7498080" y="4114800"/>
            <a:ext cx="4160520" cy="2148840"/>
          </a:xfrm>
          <a:prstGeom prst="roundRect">
            <a:avLst>
              <a:gd name="adj" fmla="val 2128"/>
            </a:avLst>
          </a:prstGeom>
          <a:solidFill>
            <a:srgbClr val="212121"/>
          </a:solidFill>
          <a:ln/>
        </p:spPr>
        <p:txBody>
          <a:bodyPr/>
          <a:p/>
        </p:txBody>
      </p:sp>
      <p:sp>
        <p:nvSpPr>
          <p:cNvPr id="12" name="Text 10"/>
          <p:cNvSpPr txBox="1"/>
          <p:nvPr/>
        </p:nvSpPr>
        <p:spPr>
          <a:xfrm>
            <a:off x="7680960" y="4224528"/>
            <a:ext cx="3794760" cy="1929384"/>
          </a:xfrm>
          <a:prstGeom prst="rect">
            <a:avLst/>
          </a:prstGeom>
          <a:noFill/>
          <a:ln/>
        </p:spPr>
        <p:txBody>
          <a:bodyPr wrap="square" lIns="0" tIns="0" rIns="0" bIns="0" rtlCol="0" anchor="t"/>
          <a:lstStyle/>
          <a:p>
            <a:pPr indent="0" marL="0">
              <a:lnSpc>
                <a:spcPct val="105000"/>
              </a:lnSpc>
              <a:buNone/>
            </a:pPr>
            <a:r>
              <a:rPr lang="en-US" sz="950" dirty="0">
                <a:solidFill>
                  <a:srgbClr val="02C39A"/>
                </a:solidFill>
                <a:latin typeface="Consolas" pitchFamily="34" charset="0"/>
                <a:ea typeface="Consolas" pitchFamily="34" charset="-122"/>
                <a:cs typeface="Consolas" pitchFamily="34" charset="-120"/>
              </a:rPr>
              <a:t>$ ./page_split 0x3A7F 0x1234 0x5000</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0x3A7F(14975):</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  p= 3 d=0xA7F(2687)→frame  7→0x7A7F(31359)</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0x1234( 4660):</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  p= 1 d=0x234( 564)→frame  9→0x9234(37428)</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0x5000(20480):</a:t>
            </a:r>
            <a:endParaRPr lang="en-US" sz="950" dirty="0"/>
          </a:p>
          <a:p>
            <a:pPr indent="0" marL="0">
              <a:lnSpc>
                <a:spcPct val="105000"/>
              </a:lnSpc>
              <a:buNone/>
            </a:pPr>
            <a:r>
              <a:rPr lang="en-US" sz="950" dirty="0">
                <a:solidFill>
                  <a:srgbClr val="F2F2F2"/>
                </a:solidFill>
                <a:latin typeface="Consolas" pitchFamily="34" charset="0"/>
                <a:ea typeface="Consolas" pitchFamily="34" charset="-122"/>
                <a:cs typeface="Consolas" pitchFamily="34" charset="-120"/>
              </a:rPr>
              <a:t>  p= 5 d=0x000(   0)→invalid: trap to OS</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TRY IT YOURSELF</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Explore Memory on Your Own Machine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37</a:t>
            </a:r>
            <a:endParaRPr lang="en-US" sz="900" dirty="0"/>
          </a:p>
        </p:txBody>
      </p:sp>
      <p:sp>
        <p:nvSpPr>
          <p:cNvPr id="6" name="Shape 4"/>
          <p:cNvSpPr/>
          <p:nvPr/>
        </p:nvSpPr>
        <p:spPr>
          <a:xfrm>
            <a:off x="548640" y="1508760"/>
            <a:ext cx="6035040" cy="4754880"/>
          </a:xfrm>
          <a:prstGeom prst="roundRect">
            <a:avLst>
              <a:gd name="adj" fmla="val 962"/>
            </a:avLst>
          </a:prstGeom>
          <a:solidFill>
            <a:srgbClr val="212121"/>
          </a:solidFill>
          <a:ln/>
        </p:spPr>
        <p:txBody>
          <a:bodyPr/>
          <a:p/>
        </p:txBody>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Linux (lab PCs, WSL, or a virtual machine)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getconf PAGESIZE          # page size in bytes</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cat /proc/self/maps       # memory map of cat</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./mem_layout; ./mem_layout   # run twice: ASLR</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free -h                   # RAM and swap in use</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cat /proc/swaps           # swap areas</a:t>
            </a:r>
            <a:endParaRPr lang="en-US" sz="1300" dirty="0"/>
          </a:p>
          <a:p>
            <a:pPr indent="0" marL="0">
              <a:lnSpc>
                <a:spcPct val="105000"/>
              </a:lnSpc>
              <a:buNone/>
            </a:pPr>
            <a:r>
              <a:rPr lang="en-US" sz="1300" dirty="0">
                <a:solidFill>
                  <a:srgbClr val="02C39A"/>
                </a:solidFill>
                <a:latin typeface="Consolas" pitchFamily="34" charset="0"/>
                <a:ea typeface="Consolas" pitchFamily="34" charset="-122"/>
                <a:cs typeface="Consolas" pitchFamily="34" charset="-120"/>
              </a:rPr>
              <a:t>$ vmstat 1 5                # si/so = swap in/out</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Windows</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Task Manager &gt; Performance &gt; Memory:</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"In use", "Committed", "Paged pool"</a:t>
            </a:r>
            <a:endParaRPr lang="en-US" sz="1300" dirty="0"/>
          </a:p>
        </p:txBody>
      </p:sp>
      <p:sp>
        <p:nvSpPr>
          <p:cNvPr id="8" name="Shape 6"/>
          <p:cNvSpPr/>
          <p:nvPr/>
        </p:nvSpPr>
        <p:spPr>
          <a:xfrm>
            <a:off x="6858000" y="1508760"/>
            <a:ext cx="48006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086600" y="169164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Questions to answer</a:t>
            </a:r>
            <a:endParaRPr lang="en-US" sz="1500" dirty="0"/>
          </a:p>
        </p:txBody>
      </p:sp>
      <p:sp>
        <p:nvSpPr>
          <p:cNvPr id="10" name="Text 8"/>
          <p:cNvSpPr txBox="1"/>
          <p:nvPr/>
        </p:nvSpPr>
        <p:spPr>
          <a:xfrm>
            <a:off x="7086600" y="2148840"/>
            <a:ext cx="4343400" cy="3977640"/>
          </a:xfrm>
          <a:prstGeom prst="rect">
            <a:avLst/>
          </a:prstGeom>
          <a:noFill/>
          <a:ln/>
        </p:spPr>
        <p:txBody>
          <a:bodyPr wrap="square" lIns="0" tIns="0" rIns="0" bIns="0" rtlCol="0" anchor="t"/>
          <a:lstStyle/>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What is the page size on your machine? On a Mac with Apple silicon, try it: 16 KB.</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How many pages large is the [stack] region of cat?</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Do the addresses printed by mem_layout change between runs? Why might that be good for security?</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Is your machine using swap right now? How much?</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38</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Base = 0x2000, limit = 0x0800. Where does logical 0x07FF go? And logical 0x0800?</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Pages are 4 KB. Split logical address 0x5C21 into page number p and offset d.</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t_TLB = 20 ns, t_m = 100 ns, hit ratio 90 %. Compute the effective access time.</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Why does paging have no external fragmentation — but still internal fragmentation?</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6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6  ·  39</a:t>
            </a:r>
            <a:endParaRPr lang="en-US"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Logical vs. physical:</a:t>
            </a:r>
            <a:r>
              <a:rPr lang="en-US" sz="1900" dirty="0">
                <a:solidFill>
                  <a:srgbClr val="3A464C"/>
                </a:solidFill>
                <a:latin typeface="Calibri" pitchFamily="34" charset="0"/>
                <a:ea typeface="Calibri" pitchFamily="34" charset="-122"/>
                <a:cs typeface="Calibri" pitchFamily="34" charset="-120"/>
              </a:rPr>
              <a:t> programs use logical addresses; the MMU translates them on every access (execution-time binding).</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Base + limit:</a:t>
            </a:r>
            <a:r>
              <a:rPr lang="en-US" sz="1900" dirty="0">
                <a:solidFill>
                  <a:srgbClr val="3A464C"/>
                </a:solidFill>
                <a:latin typeface="Calibri" pitchFamily="34" charset="0"/>
                <a:ea typeface="Calibri" pitchFamily="34" charset="-122"/>
                <a:cs typeface="Calibri" pitchFamily="34" charset="-120"/>
              </a:rPr>
              <a:t> the simplest MMU — check logical &lt; limit, then add base; otherwise trap.</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Contiguous allocation:</a:t>
            </a:r>
            <a:r>
              <a:rPr lang="en-US" sz="1900" dirty="0">
                <a:solidFill>
                  <a:srgbClr val="3A464C"/>
                </a:solidFill>
                <a:latin typeface="Calibri" pitchFamily="34" charset="0"/>
                <a:ea typeface="Calibri" pitchFamily="34" charset="-122"/>
                <a:cs typeface="Calibri" pitchFamily="34" charset="-120"/>
              </a:rPr>
              <a:t> first-, best-, worst-fit; external fragmentation (50-% rule), compaction is costly.</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Paging:</a:t>
            </a:r>
            <a:r>
              <a:rPr lang="en-US" sz="1900" dirty="0">
                <a:solidFill>
                  <a:srgbClr val="3A464C"/>
                </a:solidFill>
                <a:latin typeface="Calibri" pitchFamily="34" charset="0"/>
                <a:ea typeface="Calibri" pitchFamily="34" charset="-122"/>
                <a:cs typeface="Calibri" pitchFamily="34" charset="-120"/>
              </a:rPr>
              <a:t> pages ↔ frames, address = p | d, page table per process; no external, only internal fragmentation.</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TLB:</a:t>
            </a:r>
            <a:r>
              <a:rPr lang="en-US" sz="1900" dirty="0">
                <a:solidFill>
                  <a:srgbClr val="3A464C"/>
                </a:solidFill>
                <a:latin typeface="Calibri" pitchFamily="34" charset="0"/>
                <a:ea typeface="Calibri" pitchFamily="34" charset="-122"/>
                <a:cs typeface="Calibri" pitchFamily="34" charset="-120"/>
              </a:rPr>
              <a:t> caches page-table entries; EAT = t_TLB + (2 − α) t_m with our convention.</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Segmentation:</a:t>
            </a:r>
            <a:r>
              <a:rPr lang="en-US" sz="1900" dirty="0">
                <a:solidFill>
                  <a:srgbClr val="3A464C"/>
                </a:solidFill>
                <a:latin typeface="Calibri" pitchFamily="34" charset="0"/>
                <a:ea typeface="Calibri" pitchFamily="34" charset="-122"/>
                <a:cs typeface="Calibri" pitchFamily="34" charset="-120"/>
              </a:rPr>
              <a:t> ⟨segment, offset⟩ with base/limit per segment; x86-64 Linux uses paging with flat segments.</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Virtual Memory &amp; File Systems</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7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Demand paging and page faults</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Page replacement: FIFO, OPT, LRU — and thrashing</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File systems: the file concept, access methods, directory structures</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Last lecture before the midterm (Week 8 covers Weeks 1–7)</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6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6  ·  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6</dc:title>
  <dc:subject>PptxGenJS Presentation</dc:subject>
  <dc:creator>PptxGenJS</dc:creator>
  <cp:lastModifiedBy>PptxGenJS</cp:lastModifiedBy>
  <cp:revision>1</cp:revision>
  <dcterms:created xsi:type="dcterms:W3CDTF">2026-10-08T13:03:52Z</dcterms:created>
  <dcterms:modified xsi:type="dcterms:W3CDTF">2026-10-08T13:03:52Z</dcterms:modified>
</cp:coreProperties>
</file>