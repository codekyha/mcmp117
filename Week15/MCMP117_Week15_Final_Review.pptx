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last week of the course. Today is pure exam preparation: the exam format, a compact recap of the theory weeks (1-7) and of the Linux weeks (9-14), worked practice problems of exactly the kinds that appear on the final, common mistakes and exam strategy. We finish with a short look back at the whole course and where students can go next. Everything in square brackets on the next slides is a placeholder I still have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bracketed items before class (date, room, duration, calculator rule, formula sheet, weight). Tell students that the sample paper handed out today has the same structure and point distribution as the real exam [confirm], but different questions. Remind them to check Telegram for the official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covers the whole semester: the theory weeks 1 to 7 (also covered by the midterm) and the hands-on Linux weeks 9 to 14. Roughly two thirds of the points are theory, one third practical. The Week 8 study guide is still the best compact summary of Weeks 1 to 7; today's notes contain a shorter recap plus the practical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 and 2 before the break, Parts 3 to 6 after it. Students should have paper and a calculator ready for the worked problems: try each one yourself before I reveal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compressed version of the Week 8 study guide. If anything here feels unfamiliar, go back to that week's notes and redo its review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questions: name the generations in order; compute the utilisation of a batch system (U = t_run/(t_run+t_setup)) or of a multiprogrammed system (U(n) = 1 - p^n); explain the two views of an OS; why dual mode needs hardware support; compare monolithic and microkernel structures (speed versus reliability). Mode bit: 0 = kernel, 1 = user, as in the Week 2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five-state diagram from memory; it is a classic exam question, including the labels. Remind them of the six categories of system calls and of the process memory layout (text, data, bss, heap, stack). Context-switch overhead: with s = 0.1 ms and q = 4 ms, 0.1/4.1 = 2.44 percent of the CPU is spent switching (checked in theory_check.py).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time formulas are needed in every scheduling question. Waiting time = time in the ready queue only. Under non-preemptive scheduling the response time equals the waiting time. Amdahl example checked: 1/(0.2+0.8/4)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conventions (state them in the exam): context-switch time 0; ties by arrival time then name; smaller priority number = higher priority; in RR a newly arriving process enters the queue before the preempted one. Semaphores: wait(S) blocks while S &lt;= 0 then decrements, signal(S) increments; POSIX names sem_wait and sem_post. Deadlock appeared as a warning at the end of Week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number p is the high part of the address and the offset d the low part; with 2^n-byte pages, p = floor(a / 2^n) and d = a mod 2^n; in hexadecimal with 4 KB pages the last three hex digits are d. Our EAT convention counts the TLB lookup on both hit and miss; if a question gives no t_TLB, use the simplified version and say so. 50-percent rule: N allocated blocks leave 0.5 N blocks lost to fragmentation, 0.5N/1.5N =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is the bridge to the Linux half: paths (W9), cp/mv/rm/ln (W10), the inode's mode field (W11). Numerical question types: frame tables for FIFO/OPT/LRU, page-fault EAT and the maximal p for a given slowdown, direct-access block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list as the formula sheet in the study guide (section 'Formula and command sheet'). Whether a sheet is provided in the exam is still to be confirmed; prepare as if it is not. Every symbol here is used exactly as in the weekly notes: t_m memory access time, alpha TLB hit ratio, p page-fault rate (and also the I/O-wait fraction in U(n) - context tells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try first (5 minutes). SRTF: at t=1 P2 (3) preempts P1 (4 left); at t=2 P3 (1) preempts P2; at t=3 P2 resumes (2 left) - P4 (4) and P1 (4) wait; at t=5 P1 and P4 both have 4 left, tie broken by arrival: P1 runs 5-9, then P4 9-13. RR q=2: queue at t=2 is P2, P3, P1 (P3 arrived exactly at 2 and enters before the preempted P1); at t=4 P4 (arrived at 3) is already queued before P2 returns. All numbers from code/theory_check.py.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Hex view for the curious: 2500 = 0x9C4, offset 0x1C4 = 452, physical 0x1DC4 = 7620. If a question gives the page number beyond the page table (e.g. page 4 with four entries), the answer is: invalid, the MMU traps. All values checked in theory_check.py.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FIFO on the board, then LRU with the table, then OPT. FIFO: 3,5,1 load; 0 replaces 3 (oldest); 3 replaces 5; 1, 0, 3, 1 hits; 4 replaces 1; 1 replaces 0; 0 replaces 3: 8 faults. LRU: 7 faults (table). OPT: at the 4th reference evict 5 (never used again), at reference 4 evict 3: 5 faults; 3 of them are compulsory. Counts from theory_check.py.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Units! Convert 10 ms to 10,000,000 ns before you substitute. The EAT is 21 times the memory access time. For the block question always check the last byte too: if it falls in the next block, the record needs two block reads. All numbers checked in theory_check.py.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Students who want to can log in to the lab PCs and run bash mcmp117_lab_setup.sh so that ~/lab is fresh for the second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terminal box from here on is real output from our Linux machine, user renamed to student. Dates, PIDs and sizes will differ on your machine. We use LC_ALL=C.UTF-8, which affects the order of ls and 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(out_w09.txt, out_w10.txt). Point out ls printing in columns, the relative cd ../../beta/docs, and that ? matches exactly one character (img00?.jpg gives 9 files, not img010). The echo line shows that brace expansion and wildcards are done by the shell. rm -r deletes for good: always check the path first, use rm -ri if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(out_w11.txt). The student's own group is called student here (user private group). umask 0002 is the Ubuntu default for normal users: new files 664 (rw-rw-r--). Never use chmod 777 to 'fix' a permission problem: it gives everybody write access. setuid (/usr/bin/passwd) and the sticky bit (/tmp) were only mentioned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(out_w12.txt). Read the pipeline aloud: cut the 9th space-separated field (the HTTP status code), sort so equal codes are adjacent, count them, sort by the count, largest first. The error message went into errors.txt, not to the screen: that is 2&gt;. grep options to know: -i -n -v -c -r -w; regex ^ $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(out_w13.txt); PIDs will differ. The first ps line is the shell running our commands (here a script, in your terminal: bash). kill without a number sends SIGTERM (15) - give the program a chance to clean up; use kill -9 only if SIGTERM does not work. In an interactive terminal, the shell reports '[1]+ Terminated sleep 600' at the next prompt. kill -l translates names to numbers (15 9 2 19 18 on x86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box is the pattern behind almost every exam script: shebang, argument check with $#, usage message to stderr and exit 1, a loop, a test, arithmetic, final echo. The right box is real output (out_w14.txt): double quotes expand variables, single quotes do not; $(( )) for arithmetic; $( ) for command substitution. Two complete scripts from Week 14 (backup.sh, report.sh) are good revision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and the next one are also in the study guide as a one-page command sheet. Tell students to be able to WRITE each command, not just recognise it. Options appear in exam questions: -p for mkdir, -r for cp and rm, -i for interactive, -s for symbolic links, -h human-readable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patterns worth memorising: 'cut | sort | uniq -c | sort -rn | head' (top-N), 'grep -c' (count matching lines), 'tail -n +2' (skip a CSV header), 'sort -t, -k5 -rn' (sort CSV by column 5 numerically, descending).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(out_wp_perm.txt). As in Week 11: the umask REMOVES bits (new mode = requested mode AND NOT umask); it is not an arithmetic subtraction. Counter-example for subtraction: umask 027 with a file request of 666 - digit by digit 6-7 would be negative, while 6 AND NOT 7 = 0. Symbolic alternative for (a): chmod u=rwx,g=rx,o= report.sh.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(out_wp_pipe.txt); long commands are wrapped on the slide, students type each on one line. (a) is the top-N pattern. (b) Using grep -c 404 on the whole line would be wrong: 404 can also appear in a byte count or a time, so cut the status field first and match the whole field with ^404$. (c) ' 404 ' with spaces matches only the status field, because the byte count is the last field (no space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(out_wp_script_src.txt, out_wp_script_run.txt). Grading in the exam: argument check and exit status, correct extraction of the field (grep + cut), loop with arithmetic, correct output; small syntax slips cost little if the logic is clear. Typical errors: spaces around = (count = 0), missing $ inside $(( )) is actually allowed, but missing spaces inside [ ] is not: [$# -ne 1]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errors I saw most often in the midterm [adapt to the actual midterm results]. Each costs points even when the method is right. In scheduling questions, always write the convention you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corresponds to a real error message students have seen in the lab: 'command not found' for x = 5, '[: missing ]' or '[$a: command not found' for missing spaces in tests, wrong counts from uniq without 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exam is 90 minutes and 100 points, one point per minute is slightly too slow, so students must not get stuck. Advise: do the multiple-choice and command parts quickly, spend the saved time on the numerical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SRTF: P1 0-1, P2 1-3, P3 3-4, P1 4-7. Waiting: P1 = 7-0-4 = 3, P2 = 3-1-2 = 0, P3 = 4-2-1 = 1; average 4/3 = 1.33 ms. (2) 4 KB = 2^12: the last three hex digits are the offset: p = 0x3, d = 0xA7F (Week 6 example). (3) umask 027. (4) grep -v INFO logs/system.log | wc -l, or grep -vc INFO logs/system.log (gives 41 in our lab: 120 lines, 79 of them INFO).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big idea of the course. If students can explain each line with an example, they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moment to look back: in Week 1 we started with ENIAC and punch cards; today students can analyse a web-server log with one line and automate it in a script. The theory explains WHY the commands behave as they do: ps shows the process states of Week 3, ls -i the inodes of Week 7, chmod the protection bits of Week 2's dual-mode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are in the study guide (Further reading). Certifications are optional and cost money; Linux Essentials is a good first goal for vocational students who want to work with servers or networking equipment, which is relevant for an Electronical Communication Technology career. Exam objectives and prices change, so students should check the official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slide. Thank the students, open the floor for questions about the exam, remind them about the Telegram channel and any office hours before the exam (to be announced). There is no next week: the final exam is the last event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15</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15  ·  Final Exam Review &amp; Practice</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Fifteen weeks, one exam: from the first batch systems to your own shell scripts.</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FINAL EXAM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 Logistics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a:t>
            </a:r>
            <a:endParaRPr lang="en-US" sz="900" dirty="0"/>
          </a:p>
        </p:txBody>
      </p:sp>
      <p:sp>
        <p:nvSpPr>
          <p:cNvPr id="6" name="Shape 4"/>
          <p:cNvSpPr/>
          <p:nvPr/>
        </p:nvSpPr>
        <p:spPr>
          <a:xfrm>
            <a:off x="54864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When and where</a:t>
            </a:r>
            <a:endParaRPr lang="en-US" sz="1600" dirty="0"/>
          </a:p>
        </p:txBody>
      </p:sp>
      <p:sp>
        <p:nvSpPr>
          <p:cNvPr id="8" name="Text 6"/>
          <p:cNvSpPr txBox="1"/>
          <p:nvPr/>
        </p:nvSpPr>
        <p:spPr>
          <a:xfrm>
            <a:off x="777240" y="2148840"/>
            <a:ext cx="309372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[Date, time and room: to be announced on the course Telegram channel]</a:t>
            </a:r>
            <a:endParaRPr lang="en-US" sz="1500" dirty="0"/>
          </a:p>
        </p:txBody>
      </p:sp>
      <p:sp>
        <p:nvSpPr>
          <p:cNvPr id="9" name="Shape 7"/>
          <p:cNvSpPr/>
          <p:nvPr/>
        </p:nvSpPr>
        <p:spPr>
          <a:xfrm>
            <a:off x="432816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Duration</a:t>
            </a:r>
            <a:endParaRPr lang="en-US" sz="1600" dirty="0"/>
          </a:p>
        </p:txBody>
      </p:sp>
      <p:sp>
        <p:nvSpPr>
          <p:cNvPr id="11" name="Text 9"/>
          <p:cNvSpPr txBox="1"/>
          <p:nvPr/>
        </p:nvSpPr>
        <p:spPr>
          <a:xfrm>
            <a:off x="4556760" y="2148840"/>
            <a:ext cx="309372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[90] minutes. Arrive [15] minutes early; seating as announced.</a:t>
            </a:r>
            <a:endParaRPr lang="en-US" sz="1500" dirty="0"/>
          </a:p>
        </p:txBody>
      </p:sp>
      <p:sp>
        <p:nvSpPr>
          <p:cNvPr id="12" name="Shape 10"/>
          <p:cNvSpPr/>
          <p:nvPr/>
        </p:nvSpPr>
        <p:spPr>
          <a:xfrm>
            <a:off x="810768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Paper</a:t>
            </a:r>
            <a:endParaRPr lang="en-US" sz="1600" dirty="0"/>
          </a:p>
        </p:txBody>
      </p:sp>
      <p:sp>
        <p:nvSpPr>
          <p:cNvPr id="14" name="Text 12"/>
          <p:cNvSpPr txBox="1"/>
          <p:nvPr/>
        </p:nvSpPr>
        <p:spPr>
          <a:xfrm>
            <a:off x="8336280" y="2148840"/>
            <a:ext cx="309372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100 points in six parts (A–F), exactly like the sample paper you receive today.</a:t>
            </a:r>
            <a:endParaRPr lang="en-US" sz="1500" dirty="0"/>
          </a:p>
        </p:txBody>
      </p:sp>
      <p:sp>
        <p:nvSpPr>
          <p:cNvPr id="15" name="Shape 13"/>
          <p:cNvSpPr/>
          <p:nvPr/>
        </p:nvSpPr>
        <p:spPr>
          <a:xfrm>
            <a:off x="54864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368046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Bring</a:t>
            </a:r>
            <a:endParaRPr lang="en-US" sz="1600" dirty="0"/>
          </a:p>
        </p:txBody>
      </p:sp>
      <p:sp>
        <p:nvSpPr>
          <p:cNvPr id="17" name="Text 15"/>
          <p:cNvSpPr txBox="1"/>
          <p:nvPr/>
        </p:nvSpPr>
        <p:spPr>
          <a:xfrm>
            <a:off x="777240" y="4137660"/>
            <a:ext cx="309372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Student ID, pens. [Basic, non-programmable calculator: allowed — to be confirmed]</a:t>
            </a:r>
            <a:endParaRPr lang="en-US" sz="1500" dirty="0"/>
          </a:p>
        </p:txBody>
      </p:sp>
      <p:sp>
        <p:nvSpPr>
          <p:cNvPr id="18" name="Shape 16"/>
          <p:cNvSpPr/>
          <p:nvPr/>
        </p:nvSpPr>
        <p:spPr>
          <a:xfrm>
            <a:off x="432816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56760" y="368046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Rules</a:t>
            </a:r>
            <a:endParaRPr lang="en-US" sz="1600" dirty="0"/>
          </a:p>
        </p:txBody>
      </p:sp>
      <p:sp>
        <p:nvSpPr>
          <p:cNvPr id="20" name="Text 18"/>
          <p:cNvSpPr txBox="1"/>
          <p:nvPr/>
        </p:nvSpPr>
        <p:spPr>
          <a:xfrm>
            <a:off x="4556760" y="4137660"/>
            <a:ext cx="309372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Closed book [confirm]. [A formula sheet is / is not provided — to be confirmed]. Phones off, in your bag.</a:t>
            </a:r>
            <a:endParaRPr lang="en-US" sz="1500" dirty="0"/>
          </a:p>
        </p:txBody>
      </p:sp>
      <p:sp>
        <p:nvSpPr>
          <p:cNvPr id="21" name="Shape 19"/>
          <p:cNvSpPr/>
          <p:nvPr/>
        </p:nvSpPr>
        <p:spPr>
          <a:xfrm>
            <a:off x="810768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36280" y="368046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Weight</a:t>
            </a:r>
            <a:endParaRPr lang="en-US" sz="1600" dirty="0"/>
          </a:p>
        </p:txBody>
      </p:sp>
      <p:sp>
        <p:nvSpPr>
          <p:cNvPr id="23" name="Text 21"/>
          <p:cNvSpPr txBox="1"/>
          <p:nvPr/>
        </p:nvSpPr>
        <p:spPr>
          <a:xfrm>
            <a:off x="8336280" y="4137660"/>
            <a:ext cx="309372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[The final counts __ % of the course grade — see the syllabus / to be confirmed]</a:t>
            </a:r>
            <a:endParaRPr lang="en-US" sz="1500" dirty="0"/>
          </a:p>
        </p:txBody>
      </p:sp>
      <p:sp>
        <p:nvSpPr>
          <p:cNvPr id="24" name="Shape 22"/>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Anything in [square brackets] is not yet official. The final announcement on Telegram is what counts.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FINAL EXAM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the Final Covers: the Whole Course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914400"/>
                <a:gridCol w="6080760"/>
                <a:gridCol w="2377440"/>
                <a:gridCol w="1737360"/>
              </a:tblGrid>
              <a:tr h="0">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Part</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Question type</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Weeks</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Points*</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Multiple choice: concepts and commands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W1–W7, W9–W14</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Short answers: explain, compare, list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W1–W7</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Numerical problems: Gantt chart, paging/TLB, page replacement, EAT, block arithmetic</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W4–W7 (+ W1, W3)</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36</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Write the command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W9–W13</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Write the pipeline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W12</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Write a short Bash script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W14</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*Point split of the sample paper [the real paper may differ slightly — confirm]. Week 8 (midterm) adds no new material; its study guide is still valid for Weeks 1–7.</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15</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4</a:t>
            </a:r>
            <a:endParaRPr lang="en-US" sz="900" dirty="0"/>
          </a:p>
        </p:txBody>
      </p:sp>
      <p:sp>
        <p:nvSpPr>
          <p:cNvPr id="6" name="Shape 4"/>
          <p:cNvSpPr/>
          <p:nvPr/>
        </p:nvSpPr>
        <p:spPr>
          <a:xfrm>
            <a:off x="548640" y="1508760"/>
            <a:ext cx="658368" cy="658368"/>
          </a:xfrm>
          <a:prstGeom prst="roundRect">
            <a:avLst>
              <a:gd name="adj" fmla="val 6944"/>
            </a:avLst>
          </a:prstGeom>
          <a:solidFill>
            <a:srgbClr val="02C39A"/>
          </a:solidFill>
          <a:ln/>
        </p:spPr>
        <p:txBody>
          <a:bodyPr/>
          <a:p/>
        </p:txBody>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371600" y="1508760"/>
            <a:ext cx="10287000" cy="658368"/>
          </a:xfrm>
          <a:prstGeom prst="roundRect">
            <a:avLst>
              <a:gd name="adj" fmla="val 6944"/>
            </a:avLst>
          </a:prstGeom>
          <a:solidFill>
            <a:srgbClr val="F2F2F2"/>
          </a:solidFill>
          <a:ln/>
        </p:spPr>
        <p:txBody>
          <a:bodyPr/>
          <a:p/>
        </p:txBody>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Theory recap   </a:t>
            </a:r>
            <a:r>
              <a:rPr lang="en-US" sz="1500" dirty="0">
                <a:solidFill>
                  <a:srgbClr val="3A464C"/>
                </a:solidFill>
                <a:latin typeface="Calibri" pitchFamily="34" charset="0"/>
                <a:ea typeface="Calibri" pitchFamily="34" charset="-122"/>
                <a:cs typeface="Calibri" pitchFamily="34" charset="-120"/>
              </a:rPr>
              <a:t>Weeks 1–7 in seven slides, plus a one-page formula sheet.</a:t>
            </a:r>
            <a:endParaRPr lang="en-US" sz="1400" dirty="0"/>
          </a:p>
        </p:txBody>
      </p:sp>
      <p:sp>
        <p:nvSpPr>
          <p:cNvPr id="10" name="Shape 8"/>
          <p:cNvSpPr/>
          <p:nvPr/>
        </p:nvSpPr>
        <p:spPr>
          <a:xfrm>
            <a:off x="548640" y="2295144"/>
            <a:ext cx="658368" cy="658368"/>
          </a:xfrm>
          <a:prstGeom prst="roundRect">
            <a:avLst>
              <a:gd name="adj" fmla="val 6944"/>
            </a:avLst>
          </a:prstGeom>
          <a:solidFill>
            <a:srgbClr val="02C39A"/>
          </a:solidFill>
          <a:ln/>
        </p:spPr>
        <p:txBody>
          <a:bodyPr/>
          <a:p/>
        </p:txBody>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txBody>
          <a:bodyPr/>
          <a:p/>
        </p:txBody>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Theory practice   </a:t>
            </a:r>
            <a:r>
              <a:rPr lang="en-US" sz="1500" dirty="0">
                <a:solidFill>
                  <a:srgbClr val="3A464C"/>
                </a:solidFill>
                <a:latin typeface="Calibri" pitchFamily="34" charset="0"/>
                <a:ea typeface="Calibri" pitchFamily="34" charset="-122"/>
                <a:cs typeface="Calibri" pitchFamily="34" charset="-120"/>
              </a:rPr>
              <a:t>Four worked problems: scheduling, paging + TLB, page replacement, EAT and blocks.</a:t>
            </a:r>
            <a:endParaRPr lang="en-US" sz="1400" dirty="0"/>
          </a:p>
        </p:txBody>
      </p:sp>
      <p:sp>
        <p:nvSpPr>
          <p:cNvPr id="14" name="Shape 12"/>
          <p:cNvSpPr/>
          <p:nvPr/>
        </p:nvSpPr>
        <p:spPr>
          <a:xfrm>
            <a:off x="548640" y="3081528"/>
            <a:ext cx="658368" cy="658368"/>
          </a:xfrm>
          <a:prstGeom prst="roundRect">
            <a:avLst>
              <a:gd name="adj" fmla="val 6944"/>
            </a:avLst>
          </a:prstGeom>
          <a:solidFill>
            <a:srgbClr val="02C39A"/>
          </a:solidFill>
          <a:ln/>
        </p:spPr>
        <p:txBody>
          <a:bodyPr/>
          <a:p/>
        </p:txBody>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txBody>
          <a:bodyPr/>
          <a:p/>
        </p:txBody>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Practical recap   </a:t>
            </a:r>
            <a:r>
              <a:rPr lang="en-US" sz="1500" dirty="0">
                <a:solidFill>
                  <a:srgbClr val="3A464C"/>
                </a:solidFill>
                <a:latin typeface="Calibri" pitchFamily="34" charset="0"/>
                <a:ea typeface="Calibri" pitchFamily="34" charset="-122"/>
                <a:cs typeface="Calibri" pitchFamily="34" charset="-120"/>
              </a:rPr>
              <a:t>Weeks 9–14: shell, files, permissions, pipes, processes, scripts — real output.</a:t>
            </a:r>
            <a:endParaRPr lang="en-US" sz="1400" dirty="0"/>
          </a:p>
        </p:txBody>
      </p:sp>
      <p:sp>
        <p:nvSpPr>
          <p:cNvPr id="18" name="Shape 16"/>
          <p:cNvSpPr/>
          <p:nvPr/>
        </p:nvSpPr>
        <p:spPr>
          <a:xfrm>
            <a:off x="548640" y="3867912"/>
            <a:ext cx="658368" cy="658368"/>
          </a:xfrm>
          <a:prstGeom prst="roundRect">
            <a:avLst>
              <a:gd name="adj" fmla="val 6944"/>
            </a:avLst>
          </a:prstGeom>
          <a:solidFill>
            <a:srgbClr val="02C39A"/>
          </a:solidFill>
          <a:ln/>
        </p:spPr>
        <p:txBody>
          <a:bodyPr/>
          <a:p/>
        </p:txBody>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txBody>
          <a:bodyPr/>
          <a:p/>
        </p:txBody>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Practical practice   </a:t>
            </a:r>
            <a:r>
              <a:rPr lang="en-US" sz="1500" dirty="0">
                <a:solidFill>
                  <a:srgbClr val="3A464C"/>
                </a:solidFill>
                <a:latin typeface="Calibri" pitchFamily="34" charset="0"/>
                <a:ea typeface="Calibri" pitchFamily="34" charset="-122"/>
                <a:cs typeface="Calibri" pitchFamily="34" charset="-120"/>
              </a:rPr>
              <a:t>Write the command, the pipeline, the script: three worked problems.</a:t>
            </a:r>
            <a:endParaRPr lang="en-US" sz="1400" dirty="0"/>
          </a:p>
        </p:txBody>
      </p:sp>
      <p:sp>
        <p:nvSpPr>
          <p:cNvPr id="22" name="Shape 20"/>
          <p:cNvSpPr/>
          <p:nvPr/>
        </p:nvSpPr>
        <p:spPr>
          <a:xfrm>
            <a:off x="548640" y="4654296"/>
            <a:ext cx="658368" cy="658368"/>
          </a:xfrm>
          <a:prstGeom prst="roundRect">
            <a:avLst>
              <a:gd name="adj" fmla="val 6944"/>
            </a:avLst>
          </a:prstGeom>
          <a:solidFill>
            <a:srgbClr val="02C39A"/>
          </a:solidFill>
          <a:ln/>
        </p:spPr>
        <p:txBody>
          <a:bodyPr/>
          <a:p/>
        </p:txBody>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txBody>
          <a:bodyPr/>
          <a:p/>
        </p:txBody>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Exam strategy   </a:t>
            </a:r>
            <a:r>
              <a:rPr lang="en-US" sz="1500" dirty="0">
                <a:solidFill>
                  <a:srgbClr val="3A464C"/>
                </a:solidFill>
                <a:latin typeface="Calibri" pitchFamily="34" charset="0"/>
                <a:ea typeface="Calibri" pitchFamily="34" charset="-122"/>
                <a:cs typeface="Calibri" pitchFamily="34" charset="-120"/>
              </a:rPr>
              <a:t>Common mistakes, how to use the 90 minutes, a quick quiz.</a:t>
            </a:r>
            <a:endParaRPr lang="en-US" sz="1400" dirty="0"/>
          </a:p>
        </p:txBody>
      </p:sp>
      <p:sp>
        <p:nvSpPr>
          <p:cNvPr id="26" name="Shape 24"/>
          <p:cNvSpPr/>
          <p:nvPr/>
        </p:nvSpPr>
        <p:spPr>
          <a:xfrm>
            <a:off x="548640" y="5440680"/>
            <a:ext cx="658368" cy="658368"/>
          </a:xfrm>
          <a:prstGeom prst="roundRect">
            <a:avLst>
              <a:gd name="adj" fmla="val 6944"/>
            </a:avLst>
          </a:prstGeom>
          <a:solidFill>
            <a:srgbClr val="02C39A"/>
          </a:solidFill>
          <a:ln/>
        </p:spPr>
        <p:txBody>
          <a:bodyPr/>
          <a:p/>
        </p:txBody>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6</a:t>
            </a:r>
            <a:endParaRPr lang="en-US"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txBody>
          <a:bodyPr/>
          <a:p/>
        </p:txBody>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Course wrap-up   </a:t>
            </a:r>
            <a:r>
              <a:rPr lang="en-US" sz="1500" dirty="0">
                <a:solidFill>
                  <a:srgbClr val="3A464C"/>
                </a:solidFill>
                <a:latin typeface="Calibri" pitchFamily="34" charset="0"/>
                <a:ea typeface="Calibri" pitchFamily="34" charset="-122"/>
                <a:cs typeface="Calibri" pitchFamily="34" charset="-120"/>
              </a:rPr>
              <a:t>What you have learned, and where to go next.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Theory Recap: Weeks 1–7</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Same terms, same formulas, same conventions as in the weekly notes.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15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WEEKS 1–2</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History, Definitions, Goals and Structures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6</a:t>
            </a:r>
            <a:endParaRPr lang="en-US"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Week 1 — Why operating systems exist</a:t>
            </a:r>
            <a:endParaRPr lang="en-US"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No OS (ENIAC, 1945) → batch + resident monitor (GM-NAA I/O, 1956) → multiprogramming and time-sharing (1960s) → PCs → phones and cloud.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Idle CPU drove everything:</a:t>
            </a:r>
            <a:r>
              <a:rPr lang="en-US" sz="1400" dirty="0">
                <a:solidFill>
                  <a:srgbClr val="3A464C"/>
                </a:solidFill>
                <a:latin typeface="Calibri" pitchFamily="34" charset="0"/>
                <a:ea typeface="Calibri" pitchFamily="34" charset="-122"/>
                <a:cs typeface="Calibri" pitchFamily="34" charset="-120"/>
              </a:rPr>
              <a:t> U = t_run / (t_run + t_setup);  with n jobs waiting for I/O a fraction p of the time: U(n) = 1 − pⁿ.</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Dates:</a:t>
            </a:r>
            <a:r>
              <a:rPr lang="en-US" sz="1400" dirty="0">
                <a:solidFill>
                  <a:srgbClr val="3A464C"/>
                </a:solidFill>
                <a:latin typeface="Calibri" pitchFamily="34" charset="0"/>
                <a:ea typeface="Calibri" pitchFamily="34" charset="-122"/>
                <a:cs typeface="Calibri" pitchFamily="34" charset="-120"/>
              </a:rPr>
              <a:t> UNIX 1969 (Bell Labs), Linux 1991 (Torvalds).</a:t>
            </a:r>
            <a:endParaRPr lang="en-US"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Week 2 — What an OS is</a:t>
            </a:r>
            <a:endParaRPr lang="en-US"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Two views:</a:t>
            </a:r>
            <a:r>
              <a:rPr lang="en-US" sz="1400" dirty="0">
                <a:solidFill>
                  <a:srgbClr val="3A464C"/>
                </a:solidFill>
                <a:latin typeface="Calibri" pitchFamily="34" charset="0"/>
                <a:ea typeface="Calibri" pitchFamily="34" charset="-122"/>
                <a:cs typeface="Calibri" pitchFamily="34" charset="-120"/>
              </a:rPr>
              <a:t> extended machine (abstraction) and resource manager (time and space multiplexing). Kernel = always-resident core.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Goals:</a:t>
            </a:r>
            <a:r>
              <a:rPr lang="en-US" sz="1400" dirty="0">
                <a:solidFill>
                  <a:srgbClr val="3A464C"/>
                </a:solidFill>
                <a:latin typeface="Calibri" pitchFamily="34" charset="0"/>
                <a:ea typeface="Calibri" pitchFamily="34" charset="-122"/>
                <a:cs typeface="Calibri" pitchFamily="34" charset="-120"/>
              </a:rPr>
              <a:t> convenience, efficiency, ability to evolve.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Hardware:</a:t>
            </a:r>
            <a:r>
              <a:rPr lang="en-US" sz="1400" dirty="0">
                <a:solidFill>
                  <a:srgbClr val="3A464C"/>
                </a:solidFill>
                <a:latin typeface="Calibri" pitchFamily="34" charset="0"/>
                <a:ea typeface="Calibri" pitchFamily="34" charset="-122"/>
                <a:cs typeface="Calibri" pitchFamily="34" charset="-120"/>
              </a:rPr>
              <a:t> interrupts; storage hierarchy registers → cache → RAM → SSD → HDD.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Dual mode:</a:t>
            </a:r>
            <a:r>
              <a:rPr lang="en-US" sz="1400" dirty="0">
                <a:solidFill>
                  <a:srgbClr val="3A464C"/>
                </a:solidFill>
                <a:latin typeface="Calibri" pitchFamily="34" charset="0"/>
                <a:ea typeface="Calibri" pitchFamily="34" charset="-122"/>
                <a:cs typeface="Calibri" pitchFamily="34" charset="-120"/>
              </a:rPr>
              <a:t> mode bit 0 = kernel, 1 = user; a system call traps into kernel mode.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Structures:</a:t>
            </a:r>
            <a:r>
              <a:rPr lang="en-US" sz="1400" dirty="0">
                <a:solidFill>
                  <a:srgbClr val="3A464C"/>
                </a:solidFill>
                <a:latin typeface="Calibri" pitchFamily="34" charset="0"/>
                <a:ea typeface="Calibri" pitchFamily="34" charset="-122"/>
                <a:cs typeface="Calibri" pitchFamily="34" charset="-120"/>
              </a:rPr>
              <a:t> simple, monolithic, layered, microkernel, modular, hybrid.</a:t>
            </a:r>
            <a:endParaRPr lang="en-US"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Typical questions: compute U for a batch or multiprogrammed system; explain the two views; why dual mode needs hardware; monolithic vs. microkernel (speed vs. reliability).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3</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Services, System Calls and the Process Life Cycle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7</a:t>
            </a:r>
            <a:endParaRPr lang="en-US" sz="900" dirty="0"/>
          </a:p>
        </p:txBody>
      </p:sp>
      <p:sp>
        <p:nvSpPr>
          <p:cNvPr id="6" name="Shape 4"/>
          <p:cNvSpPr/>
          <p:nvPr/>
        </p:nvSpPr>
        <p:spPr>
          <a:xfrm>
            <a:off x="548640" y="1600200"/>
            <a:ext cx="1554480" cy="566928"/>
          </a:xfrm>
          <a:prstGeom prst="roundRect">
            <a:avLst>
              <a:gd name="adj" fmla="val 8065"/>
            </a:avLst>
          </a:prstGeom>
          <a:solidFill>
            <a:srgbClr val="F2F2F2"/>
          </a:solidFill>
          <a:ln/>
        </p:spPr>
        <p:txBody>
          <a:bodyPr/>
          <a:p/>
        </p:txBody>
      </p:sp>
      <p:sp>
        <p:nvSpPr>
          <p:cNvPr id="7" name="Text 5"/>
          <p:cNvSpPr txBox="1"/>
          <p:nvPr/>
        </p:nvSpPr>
        <p:spPr>
          <a:xfrm>
            <a:off x="548640" y="1600200"/>
            <a:ext cx="1554480" cy="566928"/>
          </a:xfrm>
          <a:prstGeom prst="rect">
            <a:avLst/>
          </a:prstGeom>
          <a:noFill/>
          <a:ln/>
        </p:spPr>
        <p:txBody>
          <a:bodyPr wrap="square" lIns="38100" tIns="38100" rIns="38100" bIns="38100" rtlCol="0" anchor="ctr"/>
          <a:lstStyle/>
          <a:p>
            <a:pPr algn="ctr" indent="0" marL="0">
              <a:buNone/>
            </a:pPr>
            <a:r>
              <a:rPr lang="en-US" sz="1500" b="1" dirty="0">
                <a:solidFill>
                  <a:srgbClr val="36454F"/>
                </a:solidFill>
                <a:latin typeface="Cambria" pitchFamily="34" charset="0"/>
                <a:ea typeface="Cambria" pitchFamily="34" charset="-122"/>
                <a:cs typeface="Cambria" pitchFamily="34" charset="-120"/>
              </a:rPr>
              <a:t>new</a:t>
            </a:r>
            <a:endParaRPr lang="en-US" sz="1500" dirty="0"/>
          </a:p>
        </p:txBody>
      </p:sp>
      <p:sp>
        <p:nvSpPr>
          <p:cNvPr id="8" name="Shape 6"/>
          <p:cNvSpPr/>
          <p:nvPr/>
        </p:nvSpPr>
        <p:spPr>
          <a:xfrm>
            <a:off x="1737360" y="3017520"/>
            <a:ext cx="1554480" cy="566928"/>
          </a:xfrm>
          <a:prstGeom prst="roundRect">
            <a:avLst>
              <a:gd name="adj" fmla="val 8065"/>
            </a:avLst>
          </a:prstGeom>
          <a:solidFill>
            <a:srgbClr val="D7E9E6"/>
          </a:solidFill>
          <a:ln/>
        </p:spPr>
        <p:txBody>
          <a:bodyPr/>
          <a:p/>
        </p:txBody>
      </p:sp>
      <p:sp>
        <p:nvSpPr>
          <p:cNvPr id="9" name="Text 7"/>
          <p:cNvSpPr txBox="1"/>
          <p:nvPr/>
        </p:nvSpPr>
        <p:spPr>
          <a:xfrm>
            <a:off x="1737360" y="3017520"/>
            <a:ext cx="1554480" cy="566928"/>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ambria" pitchFamily="34" charset="0"/>
                <a:ea typeface="Cambria" pitchFamily="34" charset="-122"/>
                <a:cs typeface="Cambria" pitchFamily="34" charset="-120"/>
              </a:rPr>
              <a:t>ready</a:t>
            </a:r>
            <a:endParaRPr lang="en-US" sz="1500" dirty="0"/>
          </a:p>
        </p:txBody>
      </p:sp>
      <p:sp>
        <p:nvSpPr>
          <p:cNvPr id="10" name="Shape 8"/>
          <p:cNvSpPr/>
          <p:nvPr/>
        </p:nvSpPr>
        <p:spPr>
          <a:xfrm>
            <a:off x="5120640" y="3017520"/>
            <a:ext cx="1554480" cy="566928"/>
          </a:xfrm>
          <a:prstGeom prst="roundRect">
            <a:avLst>
              <a:gd name="adj" fmla="val 8065"/>
            </a:avLst>
          </a:prstGeom>
          <a:solidFill>
            <a:srgbClr val="02C39A"/>
          </a:solidFill>
          <a:ln/>
        </p:spPr>
        <p:txBody>
          <a:bodyPr/>
          <a:p/>
        </p:txBody>
      </p:sp>
      <p:sp>
        <p:nvSpPr>
          <p:cNvPr id="11" name="Text 9"/>
          <p:cNvSpPr txBox="1"/>
          <p:nvPr/>
        </p:nvSpPr>
        <p:spPr>
          <a:xfrm>
            <a:off x="5120640" y="3017520"/>
            <a:ext cx="1554480" cy="566928"/>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ambria" pitchFamily="34" charset="0"/>
                <a:ea typeface="Cambria" pitchFamily="34" charset="-122"/>
                <a:cs typeface="Cambria" pitchFamily="34" charset="-120"/>
              </a:rPr>
              <a:t>running</a:t>
            </a:r>
            <a:endParaRPr lang="en-US" sz="1500" dirty="0"/>
          </a:p>
        </p:txBody>
      </p:sp>
      <p:sp>
        <p:nvSpPr>
          <p:cNvPr id="12" name="Shape 10"/>
          <p:cNvSpPr/>
          <p:nvPr/>
        </p:nvSpPr>
        <p:spPr>
          <a:xfrm>
            <a:off x="6400800" y="1600200"/>
            <a:ext cx="1554480" cy="566928"/>
          </a:xfrm>
          <a:prstGeom prst="roundRect">
            <a:avLst>
              <a:gd name="adj" fmla="val 8065"/>
            </a:avLst>
          </a:prstGeom>
          <a:solidFill>
            <a:srgbClr val="F2F2F2"/>
          </a:solidFill>
          <a:ln/>
        </p:spPr>
        <p:txBody>
          <a:bodyPr/>
          <a:p/>
        </p:txBody>
      </p:sp>
      <p:sp>
        <p:nvSpPr>
          <p:cNvPr id="13" name="Text 11"/>
          <p:cNvSpPr txBox="1"/>
          <p:nvPr/>
        </p:nvSpPr>
        <p:spPr>
          <a:xfrm>
            <a:off x="6400800" y="1600200"/>
            <a:ext cx="1554480" cy="566928"/>
          </a:xfrm>
          <a:prstGeom prst="rect">
            <a:avLst/>
          </a:prstGeom>
          <a:noFill/>
          <a:ln/>
        </p:spPr>
        <p:txBody>
          <a:bodyPr wrap="square" lIns="38100" tIns="38100" rIns="38100" bIns="38100" rtlCol="0" anchor="ctr"/>
          <a:lstStyle/>
          <a:p>
            <a:pPr algn="ctr" indent="0" marL="0">
              <a:buNone/>
            </a:pPr>
            <a:r>
              <a:rPr lang="en-US" sz="1500" b="1" dirty="0">
                <a:solidFill>
                  <a:srgbClr val="36454F"/>
                </a:solidFill>
                <a:latin typeface="Cambria" pitchFamily="34" charset="0"/>
                <a:ea typeface="Cambria" pitchFamily="34" charset="-122"/>
                <a:cs typeface="Cambria" pitchFamily="34" charset="-120"/>
              </a:rPr>
              <a:t>terminated</a:t>
            </a:r>
            <a:endParaRPr lang="en-US" sz="1500" dirty="0"/>
          </a:p>
        </p:txBody>
      </p:sp>
      <p:sp>
        <p:nvSpPr>
          <p:cNvPr id="14" name="Shape 12"/>
          <p:cNvSpPr/>
          <p:nvPr/>
        </p:nvSpPr>
        <p:spPr>
          <a:xfrm>
            <a:off x="3429000" y="4572000"/>
            <a:ext cx="1554480" cy="566928"/>
          </a:xfrm>
          <a:prstGeom prst="roundRect">
            <a:avLst>
              <a:gd name="adj" fmla="val 8065"/>
            </a:avLst>
          </a:prstGeom>
          <a:solidFill>
            <a:srgbClr val="50808E"/>
          </a:solidFill>
          <a:ln/>
        </p:spPr>
        <p:txBody>
          <a:bodyPr/>
          <a:p/>
        </p:txBody>
      </p:sp>
      <p:sp>
        <p:nvSpPr>
          <p:cNvPr id="15" name="Text 13"/>
          <p:cNvSpPr txBox="1"/>
          <p:nvPr/>
        </p:nvSpPr>
        <p:spPr>
          <a:xfrm>
            <a:off x="3429000" y="4572000"/>
            <a:ext cx="1554480" cy="566928"/>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waiting</a:t>
            </a:r>
            <a:endParaRPr lang="en-US" sz="1500" dirty="0"/>
          </a:p>
        </p:txBody>
      </p:sp>
      <p:sp>
        <p:nvSpPr>
          <p:cNvPr id="16" name="Shape 14"/>
          <p:cNvSpPr/>
          <p:nvPr/>
        </p:nvSpPr>
        <p:spPr>
          <a:xfrm>
            <a:off x="1325880" y="2185416"/>
            <a:ext cx="960120" cy="813816"/>
          </a:xfrm>
          <a:prstGeom prst="line">
            <a:avLst/>
          </a:prstGeom>
          <a:noFill/>
          <a:ln w="22225">
            <a:solidFill>
              <a:srgbClr val="50808E"/>
            </a:solidFill>
            <a:prstDash val="solid"/>
            <a:tailEnd type="triangle"/>
          </a:ln>
        </p:spPr>
        <p:txBody>
          <a:bodyPr/>
          <a:p/>
        </p:txBody>
      </p:sp>
      <p:sp>
        <p:nvSpPr>
          <p:cNvPr id="17" name="Text 15"/>
          <p:cNvSpPr txBox="1"/>
          <p:nvPr/>
        </p:nvSpPr>
        <p:spPr>
          <a:xfrm>
            <a:off x="457200" y="2468880"/>
            <a:ext cx="1188720" cy="274320"/>
          </a:xfrm>
          <a:prstGeom prst="rect">
            <a:avLst/>
          </a:prstGeom>
          <a:noFill/>
          <a:ln/>
        </p:spPr>
        <p:txBody>
          <a:bodyPr wrap="square" lIns="0" tIns="0" rIns="0" bIns="0" rtlCol="0" anchor="t"/>
          <a:lstStyle/>
          <a:p>
            <a:pPr algn="l" indent="0" marL="0">
              <a:buNone/>
            </a:pPr>
            <a:r>
              <a:rPr lang="en-US" sz="1150" b="1" dirty="0">
                <a:solidFill>
                  <a:srgbClr val="028090"/>
                </a:solidFill>
                <a:latin typeface="Calibri" pitchFamily="34" charset="0"/>
                <a:ea typeface="Calibri" pitchFamily="34" charset="-122"/>
                <a:cs typeface="Calibri" pitchFamily="34" charset="-120"/>
              </a:rPr>
              <a:t>admitted</a:t>
            </a:r>
            <a:endParaRPr lang="en-US" sz="1150" dirty="0"/>
          </a:p>
        </p:txBody>
      </p:sp>
      <p:sp>
        <p:nvSpPr>
          <p:cNvPr id="18" name="Shape 16"/>
          <p:cNvSpPr/>
          <p:nvPr/>
        </p:nvSpPr>
        <p:spPr>
          <a:xfrm>
            <a:off x="3310128" y="3172968"/>
            <a:ext cx="1792224" cy="91"/>
          </a:xfrm>
          <a:prstGeom prst="line">
            <a:avLst/>
          </a:prstGeom>
          <a:noFill/>
          <a:ln w="22225">
            <a:solidFill>
              <a:srgbClr val="50808E"/>
            </a:solidFill>
            <a:prstDash val="solid"/>
            <a:tailEnd type="triangle"/>
          </a:ln>
        </p:spPr>
        <p:txBody>
          <a:bodyPr/>
          <a:p/>
        </p:txBody>
      </p:sp>
      <p:sp>
        <p:nvSpPr>
          <p:cNvPr id="19" name="Text 17"/>
          <p:cNvSpPr txBox="1"/>
          <p:nvPr/>
        </p:nvSpPr>
        <p:spPr>
          <a:xfrm>
            <a:off x="3200400" y="2862072"/>
            <a:ext cx="2011680" cy="274320"/>
          </a:xfrm>
          <a:prstGeom prst="rect">
            <a:avLst/>
          </a:prstGeom>
          <a:noFill/>
          <a:ln/>
        </p:spPr>
        <p:txBody>
          <a:bodyPr wrap="square" lIns="0" tIns="0" rIns="0" bIns="0" rtlCol="0" anchor="t"/>
          <a:lstStyle/>
          <a:p>
            <a:pPr algn="ctr" indent="0" marL="0">
              <a:buNone/>
            </a:pPr>
            <a:r>
              <a:rPr lang="en-US" sz="1150" b="1" dirty="0">
                <a:solidFill>
                  <a:srgbClr val="028090"/>
                </a:solidFill>
                <a:latin typeface="Calibri" pitchFamily="34" charset="0"/>
                <a:ea typeface="Calibri" pitchFamily="34" charset="-122"/>
                <a:cs typeface="Calibri" pitchFamily="34" charset="-120"/>
              </a:rPr>
              <a:t>scheduler dispatch</a:t>
            </a:r>
            <a:endParaRPr lang="en-US" sz="1150" dirty="0"/>
          </a:p>
        </p:txBody>
      </p:sp>
      <p:sp>
        <p:nvSpPr>
          <p:cNvPr id="20" name="Shape 18"/>
          <p:cNvSpPr/>
          <p:nvPr/>
        </p:nvSpPr>
        <p:spPr>
          <a:xfrm flipH="1">
            <a:off x="3310128" y="3447288"/>
            <a:ext cx="1792224" cy="91"/>
          </a:xfrm>
          <a:prstGeom prst="line">
            <a:avLst/>
          </a:prstGeom>
          <a:noFill/>
          <a:ln w="22225">
            <a:solidFill>
              <a:srgbClr val="50808E"/>
            </a:solidFill>
            <a:prstDash val="solid"/>
            <a:tailEnd type="triangle"/>
          </a:ln>
        </p:spPr>
        <p:txBody>
          <a:bodyPr/>
          <a:p/>
        </p:txBody>
      </p:sp>
      <p:sp>
        <p:nvSpPr>
          <p:cNvPr id="21" name="Text 19"/>
          <p:cNvSpPr txBox="1"/>
          <p:nvPr/>
        </p:nvSpPr>
        <p:spPr>
          <a:xfrm>
            <a:off x="3200400" y="3593592"/>
            <a:ext cx="2011680" cy="274320"/>
          </a:xfrm>
          <a:prstGeom prst="rect">
            <a:avLst/>
          </a:prstGeom>
          <a:noFill/>
          <a:ln/>
        </p:spPr>
        <p:txBody>
          <a:bodyPr wrap="square" lIns="0" tIns="0" rIns="0" bIns="0" rtlCol="0" anchor="t"/>
          <a:lstStyle/>
          <a:p>
            <a:pPr algn="ctr" indent="0" marL="0">
              <a:buNone/>
            </a:pPr>
            <a:r>
              <a:rPr lang="en-US" sz="1150" b="1" dirty="0">
                <a:solidFill>
                  <a:srgbClr val="028090"/>
                </a:solidFill>
                <a:latin typeface="Calibri" pitchFamily="34" charset="0"/>
                <a:ea typeface="Calibri" pitchFamily="34" charset="-122"/>
                <a:cs typeface="Calibri" pitchFamily="34" charset="-120"/>
              </a:rPr>
              <a:t>interrupt</a:t>
            </a:r>
            <a:endParaRPr lang="en-US" sz="1150" dirty="0"/>
          </a:p>
        </p:txBody>
      </p:sp>
      <p:sp>
        <p:nvSpPr>
          <p:cNvPr id="22" name="Shape 20"/>
          <p:cNvSpPr/>
          <p:nvPr/>
        </p:nvSpPr>
        <p:spPr>
          <a:xfrm flipV="1">
            <a:off x="6126480" y="2185416"/>
            <a:ext cx="822960" cy="813816"/>
          </a:xfrm>
          <a:prstGeom prst="line">
            <a:avLst/>
          </a:prstGeom>
          <a:noFill/>
          <a:ln w="22225">
            <a:solidFill>
              <a:srgbClr val="50808E"/>
            </a:solidFill>
            <a:prstDash val="solid"/>
            <a:tailEnd type="triangle"/>
          </a:ln>
        </p:spPr>
        <p:txBody>
          <a:bodyPr/>
          <a:p/>
        </p:txBody>
      </p:sp>
      <p:sp>
        <p:nvSpPr>
          <p:cNvPr id="23" name="Text 21"/>
          <p:cNvSpPr txBox="1"/>
          <p:nvPr/>
        </p:nvSpPr>
        <p:spPr>
          <a:xfrm>
            <a:off x="6766560" y="2468880"/>
            <a:ext cx="731520" cy="274320"/>
          </a:xfrm>
          <a:prstGeom prst="rect">
            <a:avLst/>
          </a:prstGeom>
          <a:noFill/>
          <a:ln/>
        </p:spPr>
        <p:txBody>
          <a:bodyPr wrap="square" lIns="0" tIns="0" rIns="0" bIns="0" rtlCol="0" anchor="t"/>
          <a:lstStyle/>
          <a:p>
            <a:pPr algn="l" indent="0" marL="0">
              <a:buNone/>
            </a:pPr>
            <a:r>
              <a:rPr lang="en-US" sz="1150" b="1" dirty="0">
                <a:solidFill>
                  <a:srgbClr val="028090"/>
                </a:solidFill>
                <a:latin typeface="Calibri" pitchFamily="34" charset="0"/>
                <a:ea typeface="Calibri" pitchFamily="34" charset="-122"/>
                <a:cs typeface="Calibri" pitchFamily="34" charset="-120"/>
              </a:rPr>
              <a:t>exit</a:t>
            </a:r>
            <a:endParaRPr lang="en-US" sz="1150" dirty="0"/>
          </a:p>
        </p:txBody>
      </p:sp>
      <p:sp>
        <p:nvSpPr>
          <p:cNvPr id="24" name="Shape 22"/>
          <p:cNvSpPr/>
          <p:nvPr/>
        </p:nvSpPr>
        <p:spPr>
          <a:xfrm flipH="1">
            <a:off x="4754880" y="3602736"/>
            <a:ext cx="914400" cy="950976"/>
          </a:xfrm>
          <a:prstGeom prst="line">
            <a:avLst/>
          </a:prstGeom>
          <a:noFill/>
          <a:ln w="22225">
            <a:solidFill>
              <a:srgbClr val="50808E"/>
            </a:solidFill>
            <a:prstDash val="solid"/>
            <a:tailEnd type="triangle"/>
          </a:ln>
        </p:spPr>
        <p:txBody>
          <a:bodyPr/>
          <a:p/>
        </p:txBody>
      </p:sp>
      <p:sp>
        <p:nvSpPr>
          <p:cNvPr id="25" name="Text 23"/>
          <p:cNvSpPr txBox="1"/>
          <p:nvPr/>
        </p:nvSpPr>
        <p:spPr>
          <a:xfrm>
            <a:off x="5303520" y="4114800"/>
            <a:ext cx="2377440" cy="274320"/>
          </a:xfrm>
          <a:prstGeom prst="rect">
            <a:avLst/>
          </a:prstGeom>
          <a:noFill/>
          <a:ln/>
        </p:spPr>
        <p:txBody>
          <a:bodyPr wrap="square" lIns="0" tIns="0" rIns="0" bIns="0" rtlCol="0" anchor="t"/>
          <a:lstStyle/>
          <a:p>
            <a:pPr algn="l" indent="0" marL="0">
              <a:buNone/>
            </a:pPr>
            <a:r>
              <a:rPr lang="en-US" sz="1150" b="1" dirty="0">
                <a:solidFill>
                  <a:srgbClr val="028090"/>
                </a:solidFill>
                <a:latin typeface="Calibri" pitchFamily="34" charset="0"/>
                <a:ea typeface="Calibri" pitchFamily="34" charset="-122"/>
                <a:cs typeface="Calibri" pitchFamily="34" charset="-120"/>
              </a:rPr>
              <a:t>I/O or event wait</a:t>
            </a:r>
            <a:endParaRPr lang="en-US" sz="1150" dirty="0"/>
          </a:p>
        </p:txBody>
      </p:sp>
      <p:sp>
        <p:nvSpPr>
          <p:cNvPr id="26" name="Shape 24"/>
          <p:cNvSpPr/>
          <p:nvPr/>
        </p:nvSpPr>
        <p:spPr>
          <a:xfrm flipH="1" flipV="1">
            <a:off x="2743200" y="3602736"/>
            <a:ext cx="914400" cy="950976"/>
          </a:xfrm>
          <a:prstGeom prst="line">
            <a:avLst/>
          </a:prstGeom>
          <a:noFill/>
          <a:ln w="22225">
            <a:solidFill>
              <a:srgbClr val="50808E"/>
            </a:solidFill>
            <a:prstDash val="solid"/>
            <a:tailEnd type="triangle"/>
          </a:ln>
        </p:spPr>
        <p:txBody>
          <a:bodyPr/>
          <a:p/>
        </p:txBody>
      </p:sp>
      <p:sp>
        <p:nvSpPr>
          <p:cNvPr id="27" name="Text 25"/>
          <p:cNvSpPr txBox="1"/>
          <p:nvPr/>
        </p:nvSpPr>
        <p:spPr>
          <a:xfrm>
            <a:off x="365760" y="4114800"/>
            <a:ext cx="2377440" cy="274320"/>
          </a:xfrm>
          <a:prstGeom prst="rect">
            <a:avLst/>
          </a:prstGeom>
          <a:noFill/>
          <a:ln/>
        </p:spPr>
        <p:txBody>
          <a:bodyPr wrap="square" lIns="0" tIns="0" rIns="0" bIns="0" rtlCol="0" anchor="t"/>
          <a:lstStyle/>
          <a:p>
            <a:pPr algn="r" indent="0" marL="0">
              <a:buNone/>
            </a:pPr>
            <a:r>
              <a:rPr lang="en-US" sz="1150" b="1" dirty="0">
                <a:solidFill>
                  <a:srgbClr val="028090"/>
                </a:solidFill>
                <a:latin typeface="Calibri" pitchFamily="34" charset="0"/>
                <a:ea typeface="Calibri" pitchFamily="34" charset="-122"/>
                <a:cs typeface="Calibri" pitchFamily="34" charset="-120"/>
              </a:rPr>
              <a:t>I/O or event completion</a:t>
            </a:r>
            <a:endParaRPr lang="en-US" sz="1150" dirty="0"/>
          </a:p>
        </p:txBody>
      </p:sp>
      <p:sp>
        <p:nvSpPr>
          <p:cNvPr id="28" name="Shape 26"/>
          <p:cNvSpPr/>
          <p:nvPr/>
        </p:nvSpPr>
        <p:spPr>
          <a:xfrm>
            <a:off x="8229600" y="1508760"/>
            <a:ext cx="3429000" cy="4754880"/>
          </a:xfrm>
          <a:prstGeom prst="roundRect">
            <a:avLst>
              <a:gd name="adj" fmla="val 16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9" name="Text 27"/>
          <p:cNvSpPr txBox="1"/>
          <p:nvPr/>
        </p:nvSpPr>
        <p:spPr>
          <a:xfrm>
            <a:off x="8458200" y="1691640"/>
            <a:ext cx="29718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Also from Week 3</a:t>
            </a:r>
            <a:endParaRPr lang="en-US" sz="1500" dirty="0"/>
          </a:p>
        </p:txBody>
      </p:sp>
      <p:sp>
        <p:nvSpPr>
          <p:cNvPr id="30" name="Text 28"/>
          <p:cNvSpPr txBox="1"/>
          <p:nvPr/>
        </p:nvSpPr>
        <p:spPr>
          <a:xfrm>
            <a:off x="8458200" y="2148840"/>
            <a:ext cx="297180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System call:</a:t>
            </a:r>
            <a:r>
              <a:rPr lang="en-US" sz="1350" dirty="0">
                <a:solidFill>
                  <a:srgbClr val="3A464C"/>
                </a:solidFill>
                <a:latin typeface="Calibri" pitchFamily="34" charset="0"/>
                <a:ea typeface="Calibri" pitchFamily="34" charset="-122"/>
                <a:cs typeface="Calibri" pitchFamily="34" charset="-120"/>
              </a:rPr>
              <a:t> API → wrapper → trap; number indexes the system-call table.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PCB:</a:t>
            </a:r>
            <a:r>
              <a:rPr lang="en-US" sz="1350" dirty="0">
                <a:solidFill>
                  <a:srgbClr val="3A464C"/>
                </a:solidFill>
                <a:latin typeface="Calibri" pitchFamily="34" charset="0"/>
                <a:ea typeface="Calibri" pitchFamily="34" charset="-122"/>
                <a:cs typeface="Calibri" pitchFamily="34" charset="-120"/>
              </a:rPr>
              <a:t> state, PC, registers, scheduling, memory, files.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Context switch:</a:t>
            </a:r>
            <a:r>
              <a:rPr lang="en-US" sz="1350" dirty="0">
                <a:solidFill>
                  <a:srgbClr val="3A464C"/>
                </a:solidFill>
                <a:latin typeface="Calibri" pitchFamily="34" charset="0"/>
                <a:ea typeface="Calibri" pitchFamily="34" charset="-122"/>
                <a:cs typeface="Calibri" pitchFamily="34" charset="-120"/>
              </a:rPr>
              <a:t> save one PCB, load another; overhead s/(q + 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fork():</a:t>
            </a:r>
            <a:r>
              <a:rPr lang="en-US" sz="1350" dirty="0">
                <a:solidFill>
                  <a:srgbClr val="3A464C"/>
                </a:solidFill>
                <a:latin typeface="Calibri" pitchFamily="34" charset="0"/>
                <a:ea typeface="Calibri" pitchFamily="34" charset="-122"/>
                <a:cs typeface="Calibri" pitchFamily="34" charset="-120"/>
              </a:rPr>
              <a:t> n forks in a loop → 2ⁿ processes (2ⁿ − 1 created).</a:t>
            </a:r>
            <a:endParaRPr lang="en-US" sz="1350" dirty="0"/>
          </a:p>
        </p:txBody>
      </p:sp>
      <p:sp>
        <p:nvSpPr>
          <p:cNvPr id="31" name="Shape 29"/>
          <p:cNvSpPr/>
          <p:nvPr/>
        </p:nvSpPr>
        <p:spPr>
          <a:xfrm>
            <a:off x="548640" y="5440680"/>
            <a:ext cx="7452360" cy="822960"/>
          </a:xfrm>
          <a:prstGeom prst="roundRect">
            <a:avLst>
              <a:gd name="adj" fmla="val 666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2" name="Text 30"/>
          <p:cNvSpPr txBox="1"/>
          <p:nvPr/>
        </p:nvSpPr>
        <p:spPr>
          <a:xfrm>
            <a:off x="777240" y="5440680"/>
            <a:ext cx="6995160" cy="82296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Never waiting → running directly: a woken process joins the ready queue first. ps STAT: R, S, D, T, Z (Week 13).</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4</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Threads and Scheduling Criteria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8</a:t>
            </a:r>
            <a:endParaRPr lang="en-US" sz="900" dirty="0"/>
          </a:p>
        </p:txBody>
      </p:sp>
      <p:sp>
        <p:nvSpPr>
          <p:cNvPr id="6" name="Shape 4"/>
          <p:cNvSpPr/>
          <p:nvPr/>
        </p:nvSpPr>
        <p:spPr>
          <a:xfrm>
            <a:off x="548640" y="150876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Threads</a:t>
            </a:r>
            <a:endParaRPr lang="en-US" sz="1500" dirty="0"/>
          </a:p>
        </p:txBody>
      </p:sp>
      <p:sp>
        <p:nvSpPr>
          <p:cNvPr id="8" name="Text 6"/>
          <p:cNvSpPr txBox="1"/>
          <p:nvPr/>
        </p:nvSpPr>
        <p:spPr>
          <a:xfrm>
            <a:off x="777240" y="2148840"/>
            <a:ext cx="4983480" cy="160020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Own:</a:t>
            </a:r>
            <a:r>
              <a:rPr lang="en-US" sz="1400" dirty="0">
                <a:solidFill>
                  <a:srgbClr val="3A464C"/>
                </a:solidFill>
                <a:latin typeface="Calibri" pitchFamily="34" charset="0"/>
                <a:ea typeface="Calibri" pitchFamily="34" charset="-122"/>
                <a:cs typeface="Calibri" pitchFamily="34" charset="-120"/>
              </a:rPr>
              <a:t> thread ID, program counter, registers, stack.</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Shared:</a:t>
            </a:r>
            <a:r>
              <a:rPr lang="en-US" sz="1400" dirty="0">
                <a:solidFill>
                  <a:srgbClr val="3A464C"/>
                </a:solidFill>
                <a:latin typeface="Calibri" pitchFamily="34" charset="0"/>
                <a:ea typeface="Calibri" pitchFamily="34" charset="-122"/>
                <a:cs typeface="Calibri" pitchFamily="34" charset="-120"/>
              </a:rPr>
              <a:t> code, data, heap, open files of the process.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Models:</a:t>
            </a:r>
            <a:r>
              <a:rPr lang="en-US" sz="1400" dirty="0">
                <a:solidFill>
                  <a:srgbClr val="3A464C"/>
                </a:solidFill>
                <a:latin typeface="Calibri" pitchFamily="34" charset="0"/>
                <a:ea typeface="Calibri" pitchFamily="34" charset="-122"/>
                <a:cs typeface="Calibri" pitchFamily="34" charset="-120"/>
              </a:rPr>
              <a:t> many-to-one, one-to-one (Linux, Windows), many-to-many.</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Concurrency ≠ parallelism (parallelism needs several cores).</a:t>
            </a:r>
            <a:endParaRPr lang="en-US" sz="1400" dirty="0"/>
          </a:p>
        </p:txBody>
      </p:sp>
      <p:sp>
        <p:nvSpPr>
          <p:cNvPr id="9" name="Shape 7"/>
          <p:cNvSpPr/>
          <p:nvPr/>
        </p:nvSpPr>
        <p:spPr>
          <a:xfrm>
            <a:off x="548640" y="4069080"/>
            <a:ext cx="5440680" cy="219456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777240" y="425196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Amdahl's law</a:t>
            </a:r>
            <a:endParaRPr lang="en-US" sz="1500" dirty="0"/>
          </a:p>
        </p:txBody>
      </p:sp>
      <p:sp>
        <p:nvSpPr>
          <p:cNvPr id="11" name="Text 9"/>
          <p:cNvSpPr txBox="1"/>
          <p:nvPr/>
        </p:nvSpPr>
        <p:spPr>
          <a:xfrm>
            <a:off x="777240" y="4709160"/>
            <a:ext cx="4983480" cy="141732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speedup ≤ 1 / (S + (1 − S)/N)</a:t>
            </a:r>
            <a:r>
              <a:rPr lang="en-US" sz="1400" dirty="0">
                <a:solidFill>
                  <a:srgbClr val="3A464C"/>
                </a:solidFill>
                <a:latin typeface="Calibri" pitchFamily="34" charset="0"/>
                <a:ea typeface="Calibri" pitchFamily="34" charset="-122"/>
                <a:cs typeface="Calibri" pitchFamily="34" charset="-120"/>
              </a:rPr>
              <a:t>,  limit 1/S.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Example S = 0.2, N = 4: 1/(0.2 + 0.2) = 2.5; never more than 5.</a:t>
            </a:r>
            <a:endParaRPr lang="en-US" sz="1400" dirty="0"/>
          </a:p>
        </p:txBody>
      </p:sp>
      <p:sp>
        <p:nvSpPr>
          <p:cNvPr id="12" name="Shape 10"/>
          <p:cNvSpPr/>
          <p:nvPr/>
        </p:nvSpPr>
        <p:spPr>
          <a:xfrm>
            <a:off x="6217920" y="1508760"/>
            <a:ext cx="5440680" cy="2926080"/>
          </a:xfrm>
          <a:prstGeom prst="roundRect">
            <a:avLst>
              <a:gd name="adj" fmla="val 1563"/>
            </a:avLst>
          </a:prstGeom>
          <a:solidFill>
            <a:srgbClr val="212121"/>
          </a:solidFill>
          <a:ln/>
        </p:spPr>
        <p:txBody>
          <a:bodyPr/>
          <a:p/>
        </p:txBody>
      </p:sp>
      <p:sp>
        <p:nvSpPr>
          <p:cNvPr id="13" name="Text 11"/>
          <p:cNvSpPr txBox="1"/>
          <p:nvPr/>
        </p:nvSpPr>
        <p:spPr>
          <a:xfrm>
            <a:off x="6400800" y="1618488"/>
            <a:ext cx="5074920" cy="270662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Scheduling criteria (Week 4)</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T_turnaround = T_completion − T_arrival</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T_waiting    = T_turnaround − T_burst</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T_response   = T_first run  − T_arrival</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CPU utilisation = B / T     (busy / total)</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throughput      = n / T     (jobs per time)</a:t>
            </a:r>
            <a:endParaRPr lang="en-US" sz="1300" dirty="0"/>
          </a:p>
        </p:txBody>
      </p:sp>
      <p:sp>
        <p:nvSpPr>
          <p:cNvPr id="14" name="Shape 12"/>
          <p:cNvSpPr/>
          <p:nvPr/>
        </p:nvSpPr>
        <p:spPr>
          <a:xfrm>
            <a:off x="6217920" y="4617720"/>
            <a:ext cx="5440680" cy="1645920"/>
          </a:xfrm>
          <a:prstGeom prst="roundRect">
            <a:avLst>
              <a:gd name="adj" fmla="val 333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Text 13"/>
          <p:cNvSpPr txBox="1"/>
          <p:nvPr/>
        </p:nvSpPr>
        <p:spPr>
          <a:xfrm>
            <a:off x="6446520" y="48006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Goal</a:t>
            </a:r>
            <a:endParaRPr lang="en-US" sz="1500" dirty="0"/>
          </a:p>
        </p:txBody>
      </p:sp>
      <p:sp>
        <p:nvSpPr>
          <p:cNvPr id="16" name="Text 14"/>
          <p:cNvSpPr txBox="1"/>
          <p:nvPr/>
        </p:nvSpPr>
        <p:spPr>
          <a:xfrm>
            <a:off x="6446520" y="5257800"/>
            <a:ext cx="4983480" cy="8686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Maximise utilisation and throughput; minimise turnaround, waiting and response time. The scheduler mainly changes the waiting time.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5</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Scheduling Algorithms and Synchronisation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1691640"/>
                <a:gridCol w="3931920"/>
                <a:gridCol w="1645920"/>
                <a:gridCol w="3840480"/>
              </a:tblGrid>
              <a:tr h="0">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Algorithm</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Picks</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Preemptive?</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Watch out for</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FCFS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earliest arrival</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convoy effect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SJF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shortest next burst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needs burst prediction τₙ₊₁ = α tₙ + (1 − α) τₙ</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SRTF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shortest remaining time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minimum average wait, but long jobs may starve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Priority</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smallest number = highest priority</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either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starvation → aging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Round Robin</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head of the queue, at most q</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wait between turns ≤ (n − 1)q</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4160520"/>
            <a:ext cx="11109960" cy="2103120"/>
          </a:xfrm>
          <a:prstGeom prst="roundRect">
            <a:avLst>
              <a:gd name="adj" fmla="val 260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4343400"/>
            <a:ext cx="10652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Synchronisation</a:t>
            </a:r>
            <a:endParaRPr lang="en-US" sz="1500" dirty="0"/>
          </a:p>
        </p:txBody>
      </p:sp>
      <p:sp>
        <p:nvSpPr>
          <p:cNvPr id="9" name="Text 6"/>
          <p:cNvSpPr txBox="1"/>
          <p:nvPr/>
        </p:nvSpPr>
        <p:spPr>
          <a:xfrm>
            <a:off x="777240" y="4800600"/>
            <a:ext cx="10652760" cy="1325880"/>
          </a:xfrm>
          <a:prstGeom prst="rect">
            <a:avLst/>
          </a:prstGeom>
          <a:noFill/>
          <a:ln/>
        </p:spPr>
        <p:txBody>
          <a:bodyPr wrap="square" lIns="0" tIns="0" rIns="0" bIns="0" rtlCol="0" anchor="t"/>
          <a:lstStyle/>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Race condition:</a:t>
            </a:r>
            <a:r>
              <a:rPr lang="en-US" sz="1550" dirty="0">
                <a:solidFill>
                  <a:srgbClr val="3A464C"/>
                </a:solidFill>
                <a:latin typeface="Calibri" pitchFamily="34" charset="0"/>
                <a:ea typeface="Calibri" pitchFamily="34" charset="-122"/>
                <a:cs typeface="Calibri" pitchFamily="34" charset="-120"/>
              </a:rPr>
              <a:t> shared data, at least one writer, result depends on timing (counter++ = load–add–store).</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Critical-section solution:</a:t>
            </a:r>
            <a:r>
              <a:rPr lang="en-US" sz="1550" dirty="0">
                <a:solidFill>
                  <a:srgbClr val="3A464C"/>
                </a:solidFill>
                <a:latin typeface="Calibri" pitchFamily="34" charset="0"/>
                <a:ea typeface="Calibri" pitchFamily="34" charset="-122"/>
                <a:cs typeface="Calibri" pitchFamily="34" charset="-120"/>
              </a:rPr>
              <a:t> mutual exclusion, progress, bounded waiting. Tools: mutex (acquire/release), semaphores wait(S) / signal(S); bounded buffer with empty, full, mutex.</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6</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Memory Management: From Base/Limit to Paging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10</a:t>
            </a:r>
            <a:endParaRPr lang="en-US" sz="900" dirty="0"/>
          </a:p>
        </p:txBody>
      </p:sp>
      <p:sp>
        <p:nvSpPr>
          <p:cNvPr id="6" name="Shape 4"/>
          <p:cNvSpPr/>
          <p:nvPr/>
        </p:nvSpPr>
        <p:spPr>
          <a:xfrm>
            <a:off x="548640" y="1600200"/>
            <a:ext cx="1737360" cy="566928"/>
          </a:xfrm>
          <a:prstGeom prst="roundRect">
            <a:avLst>
              <a:gd name="adj" fmla="val 8065"/>
            </a:avLst>
          </a:prstGeom>
          <a:solidFill>
            <a:srgbClr val="F2F2F2"/>
          </a:solidFill>
          <a:ln/>
        </p:spPr>
        <p:txBody>
          <a:bodyPr/>
          <a:p/>
        </p:txBody>
      </p:sp>
      <p:sp>
        <p:nvSpPr>
          <p:cNvPr id="7" name="Text 5"/>
          <p:cNvSpPr txBox="1"/>
          <p:nvPr/>
        </p:nvSpPr>
        <p:spPr>
          <a:xfrm>
            <a:off x="548640" y="1600200"/>
            <a:ext cx="1737360" cy="566928"/>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logical a</a:t>
            </a:r>
            <a:endParaRPr lang="en-US" sz="1400" dirty="0"/>
          </a:p>
        </p:txBody>
      </p:sp>
      <p:sp>
        <p:nvSpPr>
          <p:cNvPr id="8" name="Shape 6"/>
          <p:cNvSpPr/>
          <p:nvPr/>
        </p:nvSpPr>
        <p:spPr>
          <a:xfrm>
            <a:off x="2606040" y="1554480"/>
            <a:ext cx="960120" cy="658368"/>
          </a:xfrm>
          <a:prstGeom prst="roundRect">
            <a:avLst>
              <a:gd name="adj" fmla="val 6944"/>
            </a:avLst>
          </a:prstGeom>
          <a:solidFill>
            <a:srgbClr val="36454F"/>
          </a:solidFill>
          <a:ln/>
        </p:spPr>
        <p:txBody>
          <a:bodyPr/>
          <a:p/>
        </p:txBody>
      </p:sp>
      <p:sp>
        <p:nvSpPr>
          <p:cNvPr id="9" name="Text 7"/>
          <p:cNvSpPr txBox="1"/>
          <p:nvPr/>
        </p:nvSpPr>
        <p:spPr>
          <a:xfrm>
            <a:off x="2606040" y="1554480"/>
            <a:ext cx="960120" cy="658368"/>
          </a:xfrm>
          <a:prstGeom prst="rect">
            <a:avLst/>
          </a:prstGeom>
          <a:noFill/>
          <a:ln/>
        </p:spPr>
        <p:txBody>
          <a:bodyPr wrap="square" lIns="38100" tIns="38100" rIns="38100" bIns="381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a:t>
            </a:r>
            <a:endParaRPr lang="en-US" sz="1800" dirty="0"/>
          </a:p>
          <a:p>
            <a:pPr algn="ctr" indent="0" marL="0">
              <a:buNone/>
            </a:pPr>
            <a:r>
              <a:rPr lang="en-US" sz="1000" dirty="0">
                <a:solidFill>
                  <a:srgbClr val="FFFFFF"/>
                </a:solidFill>
                <a:latin typeface="Calibri" pitchFamily="34" charset="0"/>
                <a:ea typeface="Calibri" pitchFamily="34" charset="-122"/>
                <a:cs typeface="Calibri" pitchFamily="34" charset="-120"/>
              </a:rPr>
              <a:t>a ÷ 2ⁿ</a:t>
            </a:r>
            <a:endParaRPr lang="en-US" sz="1800" dirty="0"/>
          </a:p>
        </p:txBody>
      </p:sp>
      <p:sp>
        <p:nvSpPr>
          <p:cNvPr id="10" name="Shape 8"/>
          <p:cNvSpPr/>
          <p:nvPr/>
        </p:nvSpPr>
        <p:spPr>
          <a:xfrm>
            <a:off x="3611880" y="1554480"/>
            <a:ext cx="960120" cy="658368"/>
          </a:xfrm>
          <a:prstGeom prst="roundRect">
            <a:avLst>
              <a:gd name="adj" fmla="val 6944"/>
            </a:avLst>
          </a:prstGeom>
          <a:solidFill>
            <a:srgbClr val="50808E"/>
          </a:solidFill>
          <a:ln/>
        </p:spPr>
        <p:txBody>
          <a:bodyPr/>
          <a:p/>
        </p:txBody>
      </p:sp>
      <p:sp>
        <p:nvSpPr>
          <p:cNvPr id="11" name="Text 9"/>
          <p:cNvSpPr txBox="1"/>
          <p:nvPr/>
        </p:nvSpPr>
        <p:spPr>
          <a:xfrm>
            <a:off x="3611880" y="1554480"/>
            <a:ext cx="960120" cy="658368"/>
          </a:xfrm>
          <a:prstGeom prst="rect">
            <a:avLst/>
          </a:prstGeom>
          <a:noFill/>
          <a:ln/>
        </p:spPr>
        <p:txBody>
          <a:bodyPr wrap="square" lIns="38100" tIns="38100" rIns="38100" bIns="381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a:p>
            <a:pPr algn="ctr" indent="0" marL="0">
              <a:buNone/>
            </a:pPr>
            <a:r>
              <a:rPr lang="en-US" sz="1000" dirty="0">
                <a:solidFill>
                  <a:srgbClr val="FFFFFF"/>
                </a:solidFill>
                <a:latin typeface="Calibri" pitchFamily="34" charset="0"/>
                <a:ea typeface="Calibri" pitchFamily="34" charset="-122"/>
                <a:cs typeface="Calibri" pitchFamily="34" charset="-120"/>
              </a:rPr>
              <a:t>a mod 2ⁿ</a:t>
            </a:r>
            <a:endParaRPr lang="en-US" sz="1800" dirty="0"/>
          </a:p>
        </p:txBody>
      </p:sp>
      <p:sp>
        <p:nvSpPr>
          <p:cNvPr id="12" name="Shape 10"/>
          <p:cNvSpPr/>
          <p:nvPr/>
        </p:nvSpPr>
        <p:spPr>
          <a:xfrm>
            <a:off x="2304288" y="1883664"/>
            <a:ext cx="283464" cy="91"/>
          </a:xfrm>
          <a:prstGeom prst="line">
            <a:avLst/>
          </a:prstGeom>
          <a:noFill/>
          <a:ln w="19050">
            <a:solidFill>
              <a:srgbClr val="50808E"/>
            </a:solidFill>
            <a:prstDash val="solid"/>
            <a:tailEnd type="triangle"/>
          </a:ln>
        </p:spPr>
        <p:txBody>
          <a:bodyPr/>
          <a:p/>
        </p:txBody>
      </p:sp>
      <p:sp>
        <p:nvSpPr>
          <p:cNvPr id="13" name="Shape 11"/>
          <p:cNvSpPr/>
          <p:nvPr/>
        </p:nvSpPr>
        <p:spPr>
          <a:xfrm>
            <a:off x="2606040" y="2606040"/>
            <a:ext cx="960120" cy="502920"/>
          </a:xfrm>
          <a:prstGeom prst="roundRect">
            <a:avLst>
              <a:gd name="adj" fmla="val 9091"/>
            </a:avLst>
          </a:prstGeom>
          <a:solidFill>
            <a:srgbClr val="02C39A"/>
          </a:solidFill>
          <a:ln/>
        </p:spPr>
        <p:txBody>
          <a:bodyPr/>
          <a:p/>
        </p:txBody>
      </p:sp>
      <p:sp>
        <p:nvSpPr>
          <p:cNvPr id="14" name="Text 12"/>
          <p:cNvSpPr txBox="1"/>
          <p:nvPr/>
        </p:nvSpPr>
        <p:spPr>
          <a:xfrm>
            <a:off x="2606040" y="2606040"/>
            <a:ext cx="960120" cy="50292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f</a:t>
            </a:r>
            <a:endParaRPr lang="en-US" sz="1600" dirty="0"/>
          </a:p>
        </p:txBody>
      </p:sp>
      <p:sp>
        <p:nvSpPr>
          <p:cNvPr id="15" name="Text 13"/>
          <p:cNvSpPr txBox="1"/>
          <p:nvPr/>
        </p:nvSpPr>
        <p:spPr>
          <a:xfrm>
            <a:off x="822960" y="2624328"/>
            <a:ext cx="1737360" cy="457200"/>
          </a:xfrm>
          <a:prstGeom prst="rect">
            <a:avLst/>
          </a:prstGeom>
          <a:noFill/>
          <a:ln/>
        </p:spPr>
        <p:txBody>
          <a:bodyPr wrap="square" lIns="0" tIns="0" rIns="0" bIns="0" rtlCol="0" anchor="ctr"/>
          <a:lstStyle/>
          <a:p>
            <a:pPr algn="r" indent="0" marL="0">
              <a:buNone/>
            </a:pPr>
            <a:r>
              <a:rPr lang="en-US" sz="1200" i="1" dirty="0">
                <a:solidFill>
                  <a:srgbClr val="6B7679"/>
                </a:solidFill>
                <a:latin typeface="Calibri" pitchFamily="34" charset="0"/>
                <a:ea typeface="Calibri" pitchFamily="34" charset="-122"/>
                <a:cs typeface="Calibri" pitchFamily="34" charset="-120"/>
              </a:rPr>
              <a:t>page table[p]</a:t>
            </a:r>
            <a:endParaRPr lang="en-US" sz="1200" dirty="0"/>
          </a:p>
        </p:txBody>
      </p:sp>
      <p:sp>
        <p:nvSpPr>
          <p:cNvPr id="16" name="Shape 14"/>
          <p:cNvSpPr/>
          <p:nvPr/>
        </p:nvSpPr>
        <p:spPr>
          <a:xfrm>
            <a:off x="3081528" y="2231136"/>
            <a:ext cx="91" cy="356616"/>
          </a:xfrm>
          <a:prstGeom prst="line">
            <a:avLst/>
          </a:prstGeom>
          <a:noFill/>
          <a:ln w="19050">
            <a:solidFill>
              <a:srgbClr val="50808E"/>
            </a:solidFill>
            <a:prstDash val="solid"/>
            <a:tailEnd type="triangle"/>
          </a:ln>
        </p:spPr>
        <p:txBody>
          <a:bodyPr/>
          <a:p/>
        </p:txBody>
      </p:sp>
      <p:sp>
        <p:nvSpPr>
          <p:cNvPr id="17" name="Shape 15"/>
          <p:cNvSpPr/>
          <p:nvPr/>
        </p:nvSpPr>
        <p:spPr>
          <a:xfrm>
            <a:off x="3611880" y="2606040"/>
            <a:ext cx="960120" cy="502920"/>
          </a:xfrm>
          <a:prstGeom prst="roundRect">
            <a:avLst>
              <a:gd name="adj" fmla="val 9091"/>
            </a:avLst>
          </a:prstGeom>
          <a:solidFill>
            <a:srgbClr val="50808E"/>
          </a:solidFill>
          <a:ln/>
        </p:spPr>
        <p:txBody>
          <a:bodyPr/>
          <a:p/>
        </p:txBody>
      </p:sp>
      <p:sp>
        <p:nvSpPr>
          <p:cNvPr id="18" name="Text 16"/>
          <p:cNvSpPr txBox="1"/>
          <p:nvPr/>
        </p:nvSpPr>
        <p:spPr>
          <a:xfrm>
            <a:off x="3611880" y="2606040"/>
            <a:ext cx="960120" cy="50292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Shape 17"/>
          <p:cNvSpPr/>
          <p:nvPr/>
        </p:nvSpPr>
        <p:spPr>
          <a:xfrm>
            <a:off x="4087368" y="2231136"/>
            <a:ext cx="91" cy="356616"/>
          </a:xfrm>
          <a:prstGeom prst="line">
            <a:avLst/>
          </a:prstGeom>
          <a:noFill/>
          <a:ln w="19050">
            <a:solidFill>
              <a:srgbClr val="50808E"/>
            </a:solidFill>
            <a:prstDash val="solid"/>
            <a:tailEnd type="triangle"/>
          </a:ln>
        </p:spPr>
        <p:txBody>
          <a:bodyPr/>
          <a:p/>
        </p:txBody>
      </p:sp>
      <p:sp>
        <p:nvSpPr>
          <p:cNvPr id="20" name="Text 18"/>
          <p:cNvSpPr txBox="1"/>
          <p:nvPr/>
        </p:nvSpPr>
        <p:spPr>
          <a:xfrm>
            <a:off x="4709160" y="2606040"/>
            <a:ext cx="1737360" cy="50292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a_phys = f · 2ⁿ + d</a:t>
            </a:r>
            <a:endParaRPr lang="en-US" sz="1400" dirty="0"/>
          </a:p>
        </p:txBody>
      </p:sp>
      <p:sp>
        <p:nvSpPr>
          <p:cNvPr id="21" name="Shape 19"/>
          <p:cNvSpPr/>
          <p:nvPr/>
        </p:nvSpPr>
        <p:spPr>
          <a:xfrm>
            <a:off x="548640" y="3291840"/>
            <a:ext cx="576072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777240" y="3474720"/>
            <a:ext cx="53035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Before paging</a:t>
            </a:r>
            <a:endParaRPr lang="en-US" sz="1500" dirty="0"/>
          </a:p>
        </p:txBody>
      </p:sp>
      <p:sp>
        <p:nvSpPr>
          <p:cNvPr id="23" name="Text 21"/>
          <p:cNvSpPr txBox="1"/>
          <p:nvPr/>
        </p:nvSpPr>
        <p:spPr>
          <a:xfrm>
            <a:off x="777240" y="3931920"/>
            <a:ext cx="5303520" cy="2194560"/>
          </a:xfrm>
          <a:prstGeom prst="rect">
            <a:avLst/>
          </a:prstGeom>
          <a:noFill/>
          <a:ln/>
        </p:spPr>
        <p:txBody>
          <a:bodyPr wrap="square" lIns="0" tIns="0" rIns="0" bIns="0" rtlCol="0" anchor="t"/>
          <a:lstStyle/>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MMU:</a:t>
            </a:r>
            <a:r>
              <a:rPr lang="en-US" sz="1550" dirty="0">
                <a:solidFill>
                  <a:srgbClr val="3A464C"/>
                </a:solidFill>
                <a:latin typeface="Calibri" pitchFamily="34" charset="0"/>
                <a:ea typeface="Calibri" pitchFamily="34" charset="-122"/>
                <a:cs typeface="Calibri" pitchFamily="34" charset="-120"/>
              </a:rPr>
              <a:t> if 0 ≤ a &lt; limit then a_phys = base + a, else trap.</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Fits:</a:t>
            </a:r>
            <a:r>
              <a:rPr lang="en-US" sz="1550" dirty="0">
                <a:solidFill>
                  <a:srgbClr val="3A464C"/>
                </a:solidFill>
                <a:latin typeface="Calibri" pitchFamily="34" charset="0"/>
                <a:ea typeface="Calibri" pitchFamily="34" charset="-122"/>
                <a:cs typeface="Calibri" pitchFamily="34" charset="-120"/>
              </a:rPr>
              <a:t> first (first hole big enough), best (smallest), worst (largest).</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Fragmentation:</a:t>
            </a:r>
            <a:r>
              <a:rPr lang="en-US" sz="1550" dirty="0">
                <a:solidFill>
                  <a:srgbClr val="3A464C"/>
                </a:solidFill>
                <a:latin typeface="Calibri" pitchFamily="34" charset="0"/>
                <a:ea typeface="Calibri" pitchFamily="34" charset="-122"/>
                <a:cs typeface="Calibri" pitchFamily="34" charset="-120"/>
              </a:rPr>
              <a:t> external (holes; 50-percent rule ⇒ up to 1/3 lost), internal (inside a block; paging: ½ page per process).</a:t>
            </a:r>
            <a:endParaRPr lang="en-US" sz="1550" dirty="0"/>
          </a:p>
        </p:txBody>
      </p:sp>
      <p:sp>
        <p:nvSpPr>
          <p:cNvPr id="24" name="Shape 22"/>
          <p:cNvSpPr/>
          <p:nvPr/>
        </p:nvSpPr>
        <p:spPr>
          <a:xfrm>
            <a:off x="6537960" y="1508760"/>
            <a:ext cx="5120640" cy="2514600"/>
          </a:xfrm>
          <a:prstGeom prst="roundRect">
            <a:avLst>
              <a:gd name="adj" fmla="val 218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6766560" y="1691640"/>
            <a:ext cx="46634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TLB (our convention)</a:t>
            </a:r>
            <a:endParaRPr lang="en-US" sz="1500" dirty="0"/>
          </a:p>
        </p:txBody>
      </p:sp>
      <p:sp>
        <p:nvSpPr>
          <p:cNvPr id="26" name="Text 24"/>
          <p:cNvSpPr txBox="1"/>
          <p:nvPr/>
        </p:nvSpPr>
        <p:spPr>
          <a:xfrm>
            <a:off x="6766560" y="2148840"/>
            <a:ext cx="4663440" cy="1737360"/>
          </a:xfrm>
          <a:prstGeom prst="rect">
            <a:avLst/>
          </a:prstGeom>
          <a:noFill/>
          <a:ln/>
        </p:spPr>
        <p:txBody>
          <a:bodyPr wrap="square" lIns="0" tIns="0" rIns="0" bIns="0" rtlCol="0" anchor="t"/>
          <a:lstStyle/>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EAT = t_TLB + (2 − α) t_m</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hit: t_TLB + t_m; miss: t_TLB + 2t_m (page table + data).</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Simplified (t_TLB = 0): α t_m + (1 − α) 2t_m — say which one you use.</a:t>
            </a:r>
            <a:endParaRPr lang="en-US" sz="1550" dirty="0"/>
          </a:p>
        </p:txBody>
      </p:sp>
      <p:sp>
        <p:nvSpPr>
          <p:cNvPr id="27" name="Shape 25"/>
          <p:cNvSpPr/>
          <p:nvPr/>
        </p:nvSpPr>
        <p:spPr>
          <a:xfrm>
            <a:off x="6537960" y="4206240"/>
            <a:ext cx="512064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8" name="Text 26"/>
          <p:cNvSpPr txBox="1"/>
          <p:nvPr/>
        </p:nvSpPr>
        <p:spPr>
          <a:xfrm>
            <a:off x="6766560" y="4389120"/>
            <a:ext cx="46634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Segmentation</a:t>
            </a:r>
            <a:endParaRPr lang="en-US" sz="1500" dirty="0"/>
          </a:p>
        </p:txBody>
      </p:sp>
      <p:sp>
        <p:nvSpPr>
          <p:cNvPr id="29" name="Text 27"/>
          <p:cNvSpPr txBox="1"/>
          <p:nvPr/>
        </p:nvSpPr>
        <p:spPr>
          <a:xfrm>
            <a:off x="6766560" y="4846320"/>
            <a:ext cx="4663440" cy="128016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Address ⟨s, d⟩; if 0 ≤ d &lt; limit[s] then a_phys = base[s] + d, else trap.</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Page table size = number of pages × entry size (2²⁰ × 4 B = 4 MB).</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7</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Virtual Memory and File Systems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11</a:t>
            </a:r>
            <a:endParaRPr lang="en-US"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Virtual memory</a:t>
            </a:r>
            <a:endParaRPr lang="en-US"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Demand paging: load a page on first use; valid–invalid bit; page fault = trap, load, restart instruction.</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EAT = (1 − p) t_m + p t_fault</a:t>
            </a:r>
            <a:r>
              <a:rPr lang="en-US" sz="1400" dirty="0">
                <a:solidFill>
                  <a:srgbClr val="3A464C"/>
                </a:solidFill>
                <a:latin typeface="Calibri" pitchFamily="34" charset="0"/>
                <a:ea typeface="Calibri" pitchFamily="34" charset="-122"/>
                <a:cs typeface="Calibri" pitchFamily="34" charset="-120"/>
              </a:rPr>
              <a:t> — p must be tiny (≈ 10⁻⁶).</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Copy-on-write makes fork() cheap.</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Replacement:</a:t>
            </a:r>
            <a:r>
              <a:rPr lang="en-US" sz="1400" dirty="0">
                <a:solidFill>
                  <a:srgbClr val="3A464C"/>
                </a:solidFill>
                <a:latin typeface="Calibri" pitchFamily="34" charset="0"/>
                <a:ea typeface="Calibri" pitchFamily="34" charset="-122"/>
                <a:cs typeface="Calibri" pitchFamily="34" charset="-120"/>
              </a:rPr>
              <a:t> FIFO (Belady's anomaly possible), OPT (needs the future), LRU (clock approximates 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Thrashing: frames &lt; working set → paging instead of computing.</a:t>
            </a:r>
            <a:endParaRPr lang="en-US"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File systems</a:t>
            </a:r>
            <a:endParaRPr lang="en-US"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File = named data + attributes (Linux: inode); open() once, then use the file descriptor.</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Access:</a:t>
            </a:r>
            <a:r>
              <a:rPr lang="en-US" sz="1400" dirty="0">
                <a:solidFill>
                  <a:srgbClr val="3A464C"/>
                </a:solidFill>
                <a:latin typeface="Calibri" pitchFamily="34" charset="0"/>
                <a:ea typeface="Calibri" pitchFamily="34" charset="-122"/>
                <a:cs typeface="Calibri" pitchFamily="34" charset="-120"/>
              </a:rPr>
              <a:t> sequential, direct (block = ⌊offset / block size⌋), indexed.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Directories:</a:t>
            </a:r>
            <a:r>
              <a:rPr lang="en-US" sz="1400" dirty="0">
                <a:solidFill>
                  <a:srgbClr val="3A464C"/>
                </a:solidFill>
                <a:latin typeface="Calibri" pitchFamily="34" charset="0"/>
                <a:ea typeface="Calibri" pitchFamily="34" charset="-122"/>
                <a:cs typeface="Calibri" pitchFamily="34" charset="-120"/>
              </a:rPr>
              <a:t> single-level, two-level, tree, acyclic graph, general graph.</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Links:</a:t>
            </a:r>
            <a:r>
              <a:rPr lang="en-US" sz="1400" dirty="0">
                <a:solidFill>
                  <a:srgbClr val="3A464C"/>
                </a:solidFill>
                <a:latin typeface="Calibri" pitchFamily="34" charset="0"/>
                <a:ea typeface="Calibri" pitchFamily="34" charset="-122"/>
                <a:cs typeface="Calibri" pitchFamily="34" charset="-120"/>
              </a:rPr>
              <a:t> hard = another name for the same inode; symbolic = small file holding a path (can dangle).</a:t>
            </a:r>
            <a:endParaRPr lang="en-US"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Typical questions: frame tables for FIFO/OPT/LRU, page-fault EAT and the largest p for a given slow-down, block number and offset of a record, hard vs. symbolic link after rm.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THEORY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Formula Sheet on One Slide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822960"/>
                <a:gridCol w="2377440"/>
                <a:gridCol w="7909560"/>
              </a:tblGrid>
              <a:tr h="45720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Week</a:t>
                      </a:r>
                      <a:endParaRPr lang="en-US" sz="1400" dirty="0">
                        <a:latin typeface="Cambria" charset="0"/>
                        <a:ea typeface="Cambria" charset="0"/>
                        <a:cs typeface="Cambria"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Quantity</a:t>
                      </a:r>
                      <a:endParaRPr lang="en-US" sz="1400" dirty="0">
                        <a:latin typeface="Cambria" charset="0"/>
                        <a:ea typeface="Cambria" charset="0"/>
                        <a:cs typeface="Cambria"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Formula</a:t>
                      </a:r>
                      <a:endParaRPr lang="en-US" sz="1400" dirty="0">
                        <a:latin typeface="Cambria" charset="0"/>
                        <a:ea typeface="Cambria" charset="0"/>
                        <a:cs typeface="Cambria"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W1</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Batch utilisation</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U = t_run / (t_run + t_setup)</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W1</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Multiprogramming</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U(n) = 1 − pⁿ</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W3</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Switch overhead</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s / (q + s);   n forks → 2ⁿ processes</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W4</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Amdahl</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speedup ≤ 1 / (S + (1 − S)/N)</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W4</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Times</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TAT = done − arrival;  wait = TAT − burst;  resp = first run − arrival</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W5</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Burst prediction</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τₙ₊₁ = α tₙ + (1 − α) τₙ;   RR wait ≤ (n − 1) q</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W6</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Paging</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p = ⌊a / 2ⁿ⌋,  d = a mod 2ⁿ,  a_phys = f · 2ⁿ + d</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W6</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TLB</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EAT = t_TLB + (2 − α) t_m</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W7</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Page faults</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EAT = (1 − p) t_m + p t_fault</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W7</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Direct access</a:t>
                      </a:r>
                      <a:endParaRPr lang="en-US"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onsolas" pitchFamily="34" charset="0"/>
                          <a:ea typeface="Consolas" pitchFamily="34" charset="-122"/>
                          <a:cs typeface="Consolas" pitchFamily="34" charset="-120"/>
                        </a:rPr>
                        <a:t>byte = r × size;  block = ⌊byte / B⌋;  offset = byte mod B</a:t>
                      </a:r>
                      <a:endParaRPr lang="en-US"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PROBLEM 1 · WEEK 5</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SRTF and Round Robin (q = 2) on Four Processes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13</a:t>
            </a:r>
            <a:endParaRPr lang="en-US" sz="900" dirty="0"/>
          </a:p>
        </p:txBody>
      </p:sp>
      <p:sp>
        <p:nvSpPr>
          <p:cNvPr id="6" name="Text 4"/>
          <p:cNvSpPr txBox="1"/>
          <p:nvPr/>
        </p:nvSpPr>
        <p:spPr>
          <a:xfrm>
            <a:off x="548640" y="1417320"/>
            <a:ext cx="11109960" cy="320040"/>
          </a:xfrm>
          <a:prstGeom prst="rect">
            <a:avLst/>
          </a:prstGeom>
          <a:noFill/>
          <a:ln/>
        </p:spPr>
        <p:txBody>
          <a:bodyPr wrap="square" lIns="0" tIns="0" rIns="0" bIns="0" rtlCol="0" anchor="t"/>
          <a:lstStyle/>
          <a:p>
            <a:pPr indent="0" marL="0">
              <a:buNone/>
            </a:pPr>
            <a:r>
              <a:rPr lang="en-US" sz="1400" i="1" dirty="0">
                <a:solidFill>
                  <a:srgbClr val="6B7679"/>
                </a:solidFill>
                <a:latin typeface="Calibri" pitchFamily="34" charset="0"/>
                <a:ea typeface="Calibri" pitchFamily="34" charset="-122"/>
                <a:cs typeface="Calibri" pitchFamily="34" charset="-120"/>
              </a:rPr>
              <a:t>P1: arrives 0, burst 5     P2: arrives 1, burst 3     P3: arrives 2, burst 1     P4: arrives 3, burst 4   (ms)</a:t>
            </a:r>
            <a:endParaRPr lang="en-US" sz="1400" dirty="0"/>
          </a:p>
        </p:txBody>
      </p:sp>
      <p:sp>
        <p:nvSpPr>
          <p:cNvPr id="7" name="Text 5"/>
          <p:cNvSpPr txBox="1"/>
          <p:nvPr/>
        </p:nvSpPr>
        <p:spPr>
          <a:xfrm>
            <a:off x="548640" y="1874520"/>
            <a:ext cx="1143000" cy="50292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SRTF</a:t>
            </a:r>
            <a:endParaRPr lang="en-US" sz="1300" dirty="0"/>
          </a:p>
        </p:txBody>
      </p:sp>
      <p:sp>
        <p:nvSpPr>
          <p:cNvPr id="8" name="Shape 6"/>
          <p:cNvSpPr/>
          <p:nvPr/>
        </p:nvSpPr>
        <p:spPr>
          <a:xfrm>
            <a:off x="1792224" y="1874520"/>
            <a:ext cx="350989" cy="502920"/>
          </a:xfrm>
          <a:prstGeom prst="roundRect">
            <a:avLst>
              <a:gd name="adj" fmla="val 13026"/>
            </a:avLst>
          </a:prstGeom>
          <a:solidFill>
            <a:srgbClr val="02C39A"/>
          </a:solidFill>
          <a:ln/>
        </p:spPr>
        <p:txBody>
          <a:bodyPr/>
          <a:p/>
        </p:txBody>
      </p:sp>
      <p:sp>
        <p:nvSpPr>
          <p:cNvPr id="9" name="Text 7"/>
          <p:cNvSpPr txBox="1"/>
          <p:nvPr/>
        </p:nvSpPr>
        <p:spPr>
          <a:xfrm>
            <a:off x="1792224" y="1874520"/>
            <a:ext cx="350989"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10" name="Shape 8"/>
          <p:cNvSpPr/>
          <p:nvPr/>
        </p:nvSpPr>
        <p:spPr>
          <a:xfrm>
            <a:off x="2161501" y="1874520"/>
            <a:ext cx="350989" cy="502920"/>
          </a:xfrm>
          <a:prstGeom prst="roundRect">
            <a:avLst>
              <a:gd name="adj" fmla="val 13026"/>
            </a:avLst>
          </a:prstGeom>
          <a:solidFill>
            <a:srgbClr val="50808E"/>
          </a:solidFill>
          <a:ln/>
        </p:spPr>
        <p:txBody>
          <a:bodyPr/>
          <a:p/>
        </p:txBody>
      </p:sp>
      <p:sp>
        <p:nvSpPr>
          <p:cNvPr id="11" name="Text 9"/>
          <p:cNvSpPr txBox="1"/>
          <p:nvPr/>
        </p:nvSpPr>
        <p:spPr>
          <a:xfrm>
            <a:off x="2161501" y="1874520"/>
            <a:ext cx="350989" cy="502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2" name="Shape 10"/>
          <p:cNvSpPr/>
          <p:nvPr/>
        </p:nvSpPr>
        <p:spPr>
          <a:xfrm>
            <a:off x="2530778" y="1874520"/>
            <a:ext cx="350989" cy="502920"/>
          </a:xfrm>
          <a:prstGeom prst="roundRect">
            <a:avLst>
              <a:gd name="adj" fmla="val 13026"/>
            </a:avLst>
          </a:prstGeom>
          <a:solidFill>
            <a:srgbClr val="C98A1B"/>
          </a:solidFill>
          <a:ln/>
        </p:spPr>
        <p:txBody>
          <a:bodyPr/>
          <a:p/>
        </p:txBody>
      </p:sp>
      <p:sp>
        <p:nvSpPr>
          <p:cNvPr id="13" name="Text 11"/>
          <p:cNvSpPr txBox="1"/>
          <p:nvPr/>
        </p:nvSpPr>
        <p:spPr>
          <a:xfrm>
            <a:off x="2530778" y="1874520"/>
            <a:ext cx="350989" cy="502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14" name="Shape 12"/>
          <p:cNvSpPr/>
          <p:nvPr/>
        </p:nvSpPr>
        <p:spPr>
          <a:xfrm>
            <a:off x="2900055" y="1874520"/>
            <a:ext cx="720266" cy="502920"/>
          </a:xfrm>
          <a:prstGeom prst="roundRect">
            <a:avLst>
              <a:gd name="adj" fmla="val 9091"/>
            </a:avLst>
          </a:prstGeom>
          <a:solidFill>
            <a:srgbClr val="50808E"/>
          </a:solidFill>
          <a:ln/>
        </p:spPr>
        <p:txBody>
          <a:bodyPr/>
          <a:p/>
        </p:txBody>
      </p:sp>
      <p:sp>
        <p:nvSpPr>
          <p:cNvPr id="15" name="Text 13"/>
          <p:cNvSpPr txBox="1"/>
          <p:nvPr/>
        </p:nvSpPr>
        <p:spPr>
          <a:xfrm>
            <a:off x="2900055" y="1874520"/>
            <a:ext cx="720266" cy="502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6" name="Shape 14"/>
          <p:cNvSpPr/>
          <p:nvPr/>
        </p:nvSpPr>
        <p:spPr>
          <a:xfrm>
            <a:off x="3638609" y="1874520"/>
            <a:ext cx="1458820" cy="502920"/>
          </a:xfrm>
          <a:prstGeom prst="roundRect">
            <a:avLst>
              <a:gd name="adj" fmla="val 9091"/>
            </a:avLst>
          </a:prstGeom>
          <a:solidFill>
            <a:srgbClr val="02C39A"/>
          </a:solidFill>
          <a:ln/>
        </p:spPr>
        <p:txBody>
          <a:bodyPr/>
          <a:p/>
        </p:txBody>
      </p:sp>
      <p:sp>
        <p:nvSpPr>
          <p:cNvPr id="17" name="Text 15"/>
          <p:cNvSpPr txBox="1"/>
          <p:nvPr/>
        </p:nvSpPr>
        <p:spPr>
          <a:xfrm>
            <a:off x="3638609" y="1874520"/>
            <a:ext cx="1458820"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18" name="Shape 16"/>
          <p:cNvSpPr/>
          <p:nvPr/>
        </p:nvSpPr>
        <p:spPr>
          <a:xfrm>
            <a:off x="5115716" y="1874520"/>
            <a:ext cx="1458820" cy="502920"/>
          </a:xfrm>
          <a:prstGeom prst="roundRect">
            <a:avLst>
              <a:gd name="adj" fmla="val 9091"/>
            </a:avLst>
          </a:prstGeom>
          <a:solidFill>
            <a:srgbClr val="36454F"/>
          </a:solidFill>
          <a:ln/>
        </p:spPr>
        <p:txBody>
          <a:bodyPr/>
          <a:p/>
        </p:txBody>
      </p:sp>
      <p:sp>
        <p:nvSpPr>
          <p:cNvPr id="19" name="Text 17"/>
          <p:cNvSpPr txBox="1"/>
          <p:nvPr/>
        </p:nvSpPr>
        <p:spPr>
          <a:xfrm>
            <a:off x="5115716" y="1874520"/>
            <a:ext cx="1458820" cy="502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20" name="Shape 18"/>
          <p:cNvSpPr/>
          <p:nvPr/>
        </p:nvSpPr>
        <p:spPr>
          <a:xfrm>
            <a:off x="1783080" y="2377440"/>
            <a:ext cx="91" cy="73152"/>
          </a:xfrm>
          <a:prstGeom prst="line">
            <a:avLst/>
          </a:prstGeom>
          <a:noFill/>
          <a:ln w="12700">
            <a:solidFill>
              <a:srgbClr val="6B7679"/>
            </a:solidFill>
            <a:prstDash val="solid"/>
          </a:ln>
        </p:spPr>
        <p:txBody>
          <a:bodyPr/>
          <a:p/>
        </p:txBody>
      </p:sp>
      <p:sp>
        <p:nvSpPr>
          <p:cNvPr id="21" name="Text 19"/>
          <p:cNvSpPr txBox="1"/>
          <p:nvPr/>
        </p:nvSpPr>
        <p:spPr>
          <a:xfrm>
            <a:off x="1508760" y="243230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0</a:t>
            </a:r>
            <a:endParaRPr lang="en-US" sz="1150" dirty="0"/>
          </a:p>
        </p:txBody>
      </p:sp>
      <p:sp>
        <p:nvSpPr>
          <p:cNvPr id="22" name="Shape 20"/>
          <p:cNvSpPr/>
          <p:nvPr/>
        </p:nvSpPr>
        <p:spPr>
          <a:xfrm>
            <a:off x="2152357" y="2377440"/>
            <a:ext cx="91" cy="73152"/>
          </a:xfrm>
          <a:prstGeom prst="line">
            <a:avLst/>
          </a:prstGeom>
          <a:noFill/>
          <a:ln w="12700">
            <a:solidFill>
              <a:srgbClr val="6B7679"/>
            </a:solidFill>
            <a:prstDash val="solid"/>
          </a:ln>
        </p:spPr>
        <p:txBody>
          <a:bodyPr/>
          <a:p/>
        </p:txBody>
      </p:sp>
      <p:sp>
        <p:nvSpPr>
          <p:cNvPr id="23" name="Text 21"/>
          <p:cNvSpPr txBox="1"/>
          <p:nvPr/>
        </p:nvSpPr>
        <p:spPr>
          <a:xfrm>
            <a:off x="1878037" y="243230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1</a:t>
            </a:r>
            <a:endParaRPr lang="en-US" sz="1150" dirty="0"/>
          </a:p>
        </p:txBody>
      </p:sp>
      <p:sp>
        <p:nvSpPr>
          <p:cNvPr id="24" name="Shape 22"/>
          <p:cNvSpPr/>
          <p:nvPr/>
        </p:nvSpPr>
        <p:spPr>
          <a:xfrm>
            <a:off x="2521634" y="2377440"/>
            <a:ext cx="91" cy="73152"/>
          </a:xfrm>
          <a:prstGeom prst="line">
            <a:avLst/>
          </a:prstGeom>
          <a:noFill/>
          <a:ln w="12700">
            <a:solidFill>
              <a:srgbClr val="6B7679"/>
            </a:solidFill>
            <a:prstDash val="solid"/>
          </a:ln>
        </p:spPr>
        <p:txBody>
          <a:bodyPr/>
          <a:p/>
        </p:txBody>
      </p:sp>
      <p:sp>
        <p:nvSpPr>
          <p:cNvPr id="25" name="Text 23"/>
          <p:cNvSpPr txBox="1"/>
          <p:nvPr/>
        </p:nvSpPr>
        <p:spPr>
          <a:xfrm>
            <a:off x="2247314" y="243230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2</a:t>
            </a:r>
            <a:endParaRPr lang="en-US" sz="1150" dirty="0"/>
          </a:p>
        </p:txBody>
      </p:sp>
      <p:sp>
        <p:nvSpPr>
          <p:cNvPr id="26" name="Shape 24"/>
          <p:cNvSpPr/>
          <p:nvPr/>
        </p:nvSpPr>
        <p:spPr>
          <a:xfrm>
            <a:off x="2890911" y="2377440"/>
            <a:ext cx="91" cy="73152"/>
          </a:xfrm>
          <a:prstGeom prst="line">
            <a:avLst/>
          </a:prstGeom>
          <a:noFill/>
          <a:ln w="12700">
            <a:solidFill>
              <a:srgbClr val="6B7679"/>
            </a:solidFill>
            <a:prstDash val="solid"/>
          </a:ln>
        </p:spPr>
        <p:txBody>
          <a:bodyPr/>
          <a:p/>
        </p:txBody>
      </p:sp>
      <p:sp>
        <p:nvSpPr>
          <p:cNvPr id="27" name="Text 25"/>
          <p:cNvSpPr txBox="1"/>
          <p:nvPr/>
        </p:nvSpPr>
        <p:spPr>
          <a:xfrm>
            <a:off x="2616591" y="243230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3</a:t>
            </a:r>
            <a:endParaRPr lang="en-US" sz="1150" dirty="0"/>
          </a:p>
        </p:txBody>
      </p:sp>
      <p:sp>
        <p:nvSpPr>
          <p:cNvPr id="28" name="Shape 26"/>
          <p:cNvSpPr/>
          <p:nvPr/>
        </p:nvSpPr>
        <p:spPr>
          <a:xfrm>
            <a:off x="3629465" y="2377440"/>
            <a:ext cx="91" cy="73152"/>
          </a:xfrm>
          <a:prstGeom prst="line">
            <a:avLst/>
          </a:prstGeom>
          <a:noFill/>
          <a:ln w="12700">
            <a:solidFill>
              <a:srgbClr val="6B7679"/>
            </a:solidFill>
            <a:prstDash val="solid"/>
          </a:ln>
        </p:spPr>
        <p:txBody>
          <a:bodyPr/>
          <a:p/>
        </p:txBody>
      </p:sp>
      <p:sp>
        <p:nvSpPr>
          <p:cNvPr id="29" name="Text 27"/>
          <p:cNvSpPr txBox="1"/>
          <p:nvPr/>
        </p:nvSpPr>
        <p:spPr>
          <a:xfrm>
            <a:off x="3355145" y="243230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5</a:t>
            </a:r>
            <a:endParaRPr lang="en-US" sz="1150" dirty="0"/>
          </a:p>
        </p:txBody>
      </p:sp>
      <p:sp>
        <p:nvSpPr>
          <p:cNvPr id="30" name="Shape 28"/>
          <p:cNvSpPr/>
          <p:nvPr/>
        </p:nvSpPr>
        <p:spPr>
          <a:xfrm>
            <a:off x="5106572" y="2377440"/>
            <a:ext cx="91" cy="73152"/>
          </a:xfrm>
          <a:prstGeom prst="line">
            <a:avLst/>
          </a:prstGeom>
          <a:noFill/>
          <a:ln w="12700">
            <a:solidFill>
              <a:srgbClr val="6B7679"/>
            </a:solidFill>
            <a:prstDash val="solid"/>
          </a:ln>
        </p:spPr>
        <p:txBody>
          <a:bodyPr/>
          <a:p/>
        </p:txBody>
      </p:sp>
      <p:sp>
        <p:nvSpPr>
          <p:cNvPr id="31" name="Text 29"/>
          <p:cNvSpPr txBox="1"/>
          <p:nvPr/>
        </p:nvSpPr>
        <p:spPr>
          <a:xfrm>
            <a:off x="4832252" y="243230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9</a:t>
            </a:r>
            <a:endParaRPr lang="en-US" sz="1150" dirty="0"/>
          </a:p>
        </p:txBody>
      </p:sp>
      <p:sp>
        <p:nvSpPr>
          <p:cNvPr id="32" name="Shape 30"/>
          <p:cNvSpPr/>
          <p:nvPr/>
        </p:nvSpPr>
        <p:spPr>
          <a:xfrm>
            <a:off x="6583680" y="2377440"/>
            <a:ext cx="91" cy="73152"/>
          </a:xfrm>
          <a:prstGeom prst="line">
            <a:avLst/>
          </a:prstGeom>
          <a:noFill/>
          <a:ln w="12700">
            <a:solidFill>
              <a:srgbClr val="6B7679"/>
            </a:solidFill>
            <a:prstDash val="solid"/>
          </a:ln>
        </p:spPr>
        <p:txBody>
          <a:bodyPr/>
          <a:p/>
        </p:txBody>
      </p:sp>
      <p:sp>
        <p:nvSpPr>
          <p:cNvPr id="33" name="Text 31"/>
          <p:cNvSpPr txBox="1"/>
          <p:nvPr/>
        </p:nvSpPr>
        <p:spPr>
          <a:xfrm>
            <a:off x="6309360" y="243230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13</a:t>
            </a:r>
            <a:endParaRPr lang="en-US" sz="1150" dirty="0"/>
          </a:p>
        </p:txBody>
      </p:sp>
      <p:sp>
        <p:nvSpPr>
          <p:cNvPr id="34" name="Text 32"/>
          <p:cNvSpPr txBox="1"/>
          <p:nvPr/>
        </p:nvSpPr>
        <p:spPr>
          <a:xfrm>
            <a:off x="548640" y="2880360"/>
            <a:ext cx="1143000" cy="50292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RR, q = 2</a:t>
            </a:r>
            <a:endParaRPr lang="en-US" sz="1300" dirty="0"/>
          </a:p>
        </p:txBody>
      </p:sp>
      <p:sp>
        <p:nvSpPr>
          <p:cNvPr id="35" name="Shape 33"/>
          <p:cNvSpPr/>
          <p:nvPr/>
        </p:nvSpPr>
        <p:spPr>
          <a:xfrm>
            <a:off x="1792224" y="2880360"/>
            <a:ext cx="720266" cy="502920"/>
          </a:xfrm>
          <a:prstGeom prst="roundRect">
            <a:avLst>
              <a:gd name="adj" fmla="val 9091"/>
            </a:avLst>
          </a:prstGeom>
          <a:solidFill>
            <a:srgbClr val="02C39A"/>
          </a:solidFill>
          <a:ln/>
        </p:spPr>
        <p:txBody>
          <a:bodyPr/>
          <a:p/>
        </p:txBody>
      </p:sp>
      <p:sp>
        <p:nvSpPr>
          <p:cNvPr id="36" name="Text 34"/>
          <p:cNvSpPr txBox="1"/>
          <p:nvPr/>
        </p:nvSpPr>
        <p:spPr>
          <a:xfrm>
            <a:off x="1792224" y="2880360"/>
            <a:ext cx="720266"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37" name="Shape 35"/>
          <p:cNvSpPr/>
          <p:nvPr/>
        </p:nvSpPr>
        <p:spPr>
          <a:xfrm>
            <a:off x="2530778" y="2880360"/>
            <a:ext cx="720266" cy="502920"/>
          </a:xfrm>
          <a:prstGeom prst="roundRect">
            <a:avLst>
              <a:gd name="adj" fmla="val 9091"/>
            </a:avLst>
          </a:prstGeom>
          <a:solidFill>
            <a:srgbClr val="50808E"/>
          </a:solidFill>
          <a:ln/>
        </p:spPr>
        <p:txBody>
          <a:bodyPr/>
          <a:p/>
        </p:txBody>
      </p:sp>
      <p:sp>
        <p:nvSpPr>
          <p:cNvPr id="38" name="Text 36"/>
          <p:cNvSpPr txBox="1"/>
          <p:nvPr/>
        </p:nvSpPr>
        <p:spPr>
          <a:xfrm>
            <a:off x="2530778" y="2880360"/>
            <a:ext cx="720266" cy="502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39" name="Shape 37"/>
          <p:cNvSpPr/>
          <p:nvPr/>
        </p:nvSpPr>
        <p:spPr>
          <a:xfrm>
            <a:off x="3269332" y="2880360"/>
            <a:ext cx="350989" cy="502920"/>
          </a:xfrm>
          <a:prstGeom prst="roundRect">
            <a:avLst>
              <a:gd name="adj" fmla="val 13026"/>
            </a:avLst>
          </a:prstGeom>
          <a:solidFill>
            <a:srgbClr val="C98A1B"/>
          </a:solidFill>
          <a:ln/>
        </p:spPr>
        <p:txBody>
          <a:bodyPr/>
          <a:p/>
        </p:txBody>
      </p:sp>
      <p:sp>
        <p:nvSpPr>
          <p:cNvPr id="40" name="Text 38"/>
          <p:cNvSpPr txBox="1"/>
          <p:nvPr/>
        </p:nvSpPr>
        <p:spPr>
          <a:xfrm>
            <a:off x="3269332" y="2880360"/>
            <a:ext cx="350989" cy="502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41" name="Shape 39"/>
          <p:cNvSpPr/>
          <p:nvPr/>
        </p:nvSpPr>
        <p:spPr>
          <a:xfrm>
            <a:off x="3638609" y="2880360"/>
            <a:ext cx="720266" cy="502920"/>
          </a:xfrm>
          <a:prstGeom prst="roundRect">
            <a:avLst>
              <a:gd name="adj" fmla="val 9091"/>
            </a:avLst>
          </a:prstGeom>
          <a:solidFill>
            <a:srgbClr val="02C39A"/>
          </a:solidFill>
          <a:ln/>
        </p:spPr>
        <p:txBody>
          <a:bodyPr/>
          <a:p/>
        </p:txBody>
      </p:sp>
      <p:sp>
        <p:nvSpPr>
          <p:cNvPr id="42" name="Text 40"/>
          <p:cNvSpPr txBox="1"/>
          <p:nvPr/>
        </p:nvSpPr>
        <p:spPr>
          <a:xfrm>
            <a:off x="3638609" y="2880360"/>
            <a:ext cx="720266"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43" name="Shape 41"/>
          <p:cNvSpPr/>
          <p:nvPr/>
        </p:nvSpPr>
        <p:spPr>
          <a:xfrm>
            <a:off x="4377162" y="2880360"/>
            <a:ext cx="720266" cy="502920"/>
          </a:xfrm>
          <a:prstGeom prst="roundRect">
            <a:avLst>
              <a:gd name="adj" fmla="val 9091"/>
            </a:avLst>
          </a:prstGeom>
          <a:solidFill>
            <a:srgbClr val="36454F"/>
          </a:solidFill>
          <a:ln/>
        </p:spPr>
        <p:txBody>
          <a:bodyPr/>
          <a:p/>
        </p:txBody>
      </p:sp>
      <p:sp>
        <p:nvSpPr>
          <p:cNvPr id="44" name="Text 42"/>
          <p:cNvSpPr txBox="1"/>
          <p:nvPr/>
        </p:nvSpPr>
        <p:spPr>
          <a:xfrm>
            <a:off x="4377162" y="2880360"/>
            <a:ext cx="720266" cy="502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45" name="Shape 43"/>
          <p:cNvSpPr/>
          <p:nvPr/>
        </p:nvSpPr>
        <p:spPr>
          <a:xfrm>
            <a:off x="5115716" y="2880360"/>
            <a:ext cx="350989" cy="502920"/>
          </a:xfrm>
          <a:prstGeom prst="roundRect">
            <a:avLst>
              <a:gd name="adj" fmla="val 13026"/>
            </a:avLst>
          </a:prstGeom>
          <a:solidFill>
            <a:srgbClr val="50808E"/>
          </a:solidFill>
          <a:ln/>
        </p:spPr>
        <p:txBody>
          <a:bodyPr/>
          <a:p/>
        </p:txBody>
      </p:sp>
      <p:sp>
        <p:nvSpPr>
          <p:cNvPr id="46" name="Text 44"/>
          <p:cNvSpPr txBox="1"/>
          <p:nvPr/>
        </p:nvSpPr>
        <p:spPr>
          <a:xfrm>
            <a:off x="5115716" y="2880360"/>
            <a:ext cx="350989" cy="502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47" name="Shape 45"/>
          <p:cNvSpPr/>
          <p:nvPr/>
        </p:nvSpPr>
        <p:spPr>
          <a:xfrm>
            <a:off x="5484993" y="2880360"/>
            <a:ext cx="350989" cy="502920"/>
          </a:xfrm>
          <a:prstGeom prst="roundRect">
            <a:avLst>
              <a:gd name="adj" fmla="val 13026"/>
            </a:avLst>
          </a:prstGeom>
          <a:solidFill>
            <a:srgbClr val="02C39A"/>
          </a:solidFill>
          <a:ln/>
        </p:spPr>
        <p:txBody>
          <a:bodyPr/>
          <a:p/>
        </p:txBody>
      </p:sp>
      <p:sp>
        <p:nvSpPr>
          <p:cNvPr id="48" name="Text 46"/>
          <p:cNvSpPr txBox="1"/>
          <p:nvPr/>
        </p:nvSpPr>
        <p:spPr>
          <a:xfrm>
            <a:off x="5484993" y="2880360"/>
            <a:ext cx="350989"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a:t>
            </a:r>
            <a:endParaRPr lang="en-US" sz="1300" dirty="0"/>
          </a:p>
        </p:txBody>
      </p:sp>
      <p:sp>
        <p:nvSpPr>
          <p:cNvPr id="49" name="Shape 47"/>
          <p:cNvSpPr/>
          <p:nvPr/>
        </p:nvSpPr>
        <p:spPr>
          <a:xfrm>
            <a:off x="5854270" y="2880360"/>
            <a:ext cx="720266" cy="502920"/>
          </a:xfrm>
          <a:prstGeom prst="roundRect">
            <a:avLst>
              <a:gd name="adj" fmla="val 9091"/>
            </a:avLst>
          </a:prstGeom>
          <a:solidFill>
            <a:srgbClr val="36454F"/>
          </a:solidFill>
          <a:ln/>
        </p:spPr>
        <p:txBody>
          <a:bodyPr/>
          <a:p/>
        </p:txBody>
      </p:sp>
      <p:sp>
        <p:nvSpPr>
          <p:cNvPr id="50" name="Text 48"/>
          <p:cNvSpPr txBox="1"/>
          <p:nvPr/>
        </p:nvSpPr>
        <p:spPr>
          <a:xfrm>
            <a:off x="5854270" y="2880360"/>
            <a:ext cx="720266" cy="502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51" name="Shape 49"/>
          <p:cNvSpPr/>
          <p:nvPr/>
        </p:nvSpPr>
        <p:spPr>
          <a:xfrm>
            <a:off x="1783080" y="3383280"/>
            <a:ext cx="91" cy="73152"/>
          </a:xfrm>
          <a:prstGeom prst="line">
            <a:avLst/>
          </a:prstGeom>
          <a:noFill/>
          <a:ln w="12700">
            <a:solidFill>
              <a:srgbClr val="6B7679"/>
            </a:solidFill>
            <a:prstDash val="solid"/>
          </a:ln>
        </p:spPr>
        <p:txBody>
          <a:bodyPr/>
          <a:p/>
        </p:txBody>
      </p:sp>
      <p:sp>
        <p:nvSpPr>
          <p:cNvPr id="52" name="Text 50"/>
          <p:cNvSpPr txBox="1"/>
          <p:nvPr/>
        </p:nvSpPr>
        <p:spPr>
          <a:xfrm>
            <a:off x="1508760" y="343814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0</a:t>
            </a:r>
            <a:endParaRPr lang="en-US" sz="1150" dirty="0"/>
          </a:p>
        </p:txBody>
      </p:sp>
      <p:sp>
        <p:nvSpPr>
          <p:cNvPr id="53" name="Shape 51"/>
          <p:cNvSpPr/>
          <p:nvPr/>
        </p:nvSpPr>
        <p:spPr>
          <a:xfrm>
            <a:off x="2521634" y="3383280"/>
            <a:ext cx="91" cy="73152"/>
          </a:xfrm>
          <a:prstGeom prst="line">
            <a:avLst/>
          </a:prstGeom>
          <a:noFill/>
          <a:ln w="12700">
            <a:solidFill>
              <a:srgbClr val="6B7679"/>
            </a:solidFill>
            <a:prstDash val="solid"/>
          </a:ln>
        </p:spPr>
        <p:txBody>
          <a:bodyPr/>
          <a:p/>
        </p:txBody>
      </p:sp>
      <p:sp>
        <p:nvSpPr>
          <p:cNvPr id="54" name="Text 52"/>
          <p:cNvSpPr txBox="1"/>
          <p:nvPr/>
        </p:nvSpPr>
        <p:spPr>
          <a:xfrm>
            <a:off x="2247314" y="343814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2</a:t>
            </a:r>
            <a:endParaRPr lang="en-US" sz="1150" dirty="0"/>
          </a:p>
        </p:txBody>
      </p:sp>
      <p:sp>
        <p:nvSpPr>
          <p:cNvPr id="55" name="Shape 53"/>
          <p:cNvSpPr/>
          <p:nvPr/>
        </p:nvSpPr>
        <p:spPr>
          <a:xfrm>
            <a:off x="3260188" y="3383280"/>
            <a:ext cx="91" cy="73152"/>
          </a:xfrm>
          <a:prstGeom prst="line">
            <a:avLst/>
          </a:prstGeom>
          <a:noFill/>
          <a:ln w="12700">
            <a:solidFill>
              <a:srgbClr val="6B7679"/>
            </a:solidFill>
            <a:prstDash val="solid"/>
          </a:ln>
        </p:spPr>
        <p:txBody>
          <a:bodyPr/>
          <a:p/>
        </p:txBody>
      </p:sp>
      <p:sp>
        <p:nvSpPr>
          <p:cNvPr id="56" name="Text 54"/>
          <p:cNvSpPr txBox="1"/>
          <p:nvPr/>
        </p:nvSpPr>
        <p:spPr>
          <a:xfrm>
            <a:off x="2985868" y="343814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4</a:t>
            </a:r>
            <a:endParaRPr lang="en-US" sz="1150" dirty="0"/>
          </a:p>
        </p:txBody>
      </p:sp>
      <p:sp>
        <p:nvSpPr>
          <p:cNvPr id="57" name="Shape 55"/>
          <p:cNvSpPr/>
          <p:nvPr/>
        </p:nvSpPr>
        <p:spPr>
          <a:xfrm>
            <a:off x="3629465" y="3383280"/>
            <a:ext cx="91" cy="73152"/>
          </a:xfrm>
          <a:prstGeom prst="line">
            <a:avLst/>
          </a:prstGeom>
          <a:noFill/>
          <a:ln w="12700">
            <a:solidFill>
              <a:srgbClr val="6B7679"/>
            </a:solidFill>
            <a:prstDash val="solid"/>
          </a:ln>
        </p:spPr>
        <p:txBody>
          <a:bodyPr/>
          <a:p/>
        </p:txBody>
      </p:sp>
      <p:sp>
        <p:nvSpPr>
          <p:cNvPr id="58" name="Text 56"/>
          <p:cNvSpPr txBox="1"/>
          <p:nvPr/>
        </p:nvSpPr>
        <p:spPr>
          <a:xfrm>
            <a:off x="3355145" y="343814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5</a:t>
            </a:r>
            <a:endParaRPr lang="en-US" sz="1150" dirty="0"/>
          </a:p>
        </p:txBody>
      </p:sp>
      <p:sp>
        <p:nvSpPr>
          <p:cNvPr id="59" name="Shape 57"/>
          <p:cNvSpPr/>
          <p:nvPr/>
        </p:nvSpPr>
        <p:spPr>
          <a:xfrm>
            <a:off x="4368018" y="3383280"/>
            <a:ext cx="91" cy="73152"/>
          </a:xfrm>
          <a:prstGeom prst="line">
            <a:avLst/>
          </a:prstGeom>
          <a:noFill/>
          <a:ln w="12700">
            <a:solidFill>
              <a:srgbClr val="6B7679"/>
            </a:solidFill>
            <a:prstDash val="solid"/>
          </a:ln>
        </p:spPr>
        <p:txBody>
          <a:bodyPr/>
          <a:p/>
        </p:txBody>
      </p:sp>
      <p:sp>
        <p:nvSpPr>
          <p:cNvPr id="60" name="Text 58"/>
          <p:cNvSpPr txBox="1"/>
          <p:nvPr/>
        </p:nvSpPr>
        <p:spPr>
          <a:xfrm>
            <a:off x="4093698" y="343814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7</a:t>
            </a:r>
            <a:endParaRPr lang="en-US" sz="1150" dirty="0"/>
          </a:p>
        </p:txBody>
      </p:sp>
      <p:sp>
        <p:nvSpPr>
          <p:cNvPr id="61" name="Shape 59"/>
          <p:cNvSpPr/>
          <p:nvPr/>
        </p:nvSpPr>
        <p:spPr>
          <a:xfrm>
            <a:off x="5106572" y="3383280"/>
            <a:ext cx="91" cy="73152"/>
          </a:xfrm>
          <a:prstGeom prst="line">
            <a:avLst/>
          </a:prstGeom>
          <a:noFill/>
          <a:ln w="12700">
            <a:solidFill>
              <a:srgbClr val="6B7679"/>
            </a:solidFill>
            <a:prstDash val="solid"/>
          </a:ln>
        </p:spPr>
        <p:txBody>
          <a:bodyPr/>
          <a:p/>
        </p:txBody>
      </p:sp>
      <p:sp>
        <p:nvSpPr>
          <p:cNvPr id="62" name="Text 60"/>
          <p:cNvSpPr txBox="1"/>
          <p:nvPr/>
        </p:nvSpPr>
        <p:spPr>
          <a:xfrm>
            <a:off x="4832252" y="343814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9</a:t>
            </a:r>
            <a:endParaRPr lang="en-US" sz="1150" dirty="0"/>
          </a:p>
        </p:txBody>
      </p:sp>
      <p:sp>
        <p:nvSpPr>
          <p:cNvPr id="63" name="Shape 61"/>
          <p:cNvSpPr/>
          <p:nvPr/>
        </p:nvSpPr>
        <p:spPr>
          <a:xfrm>
            <a:off x="5475849" y="3383280"/>
            <a:ext cx="91" cy="73152"/>
          </a:xfrm>
          <a:prstGeom prst="line">
            <a:avLst/>
          </a:prstGeom>
          <a:noFill/>
          <a:ln w="12700">
            <a:solidFill>
              <a:srgbClr val="6B7679"/>
            </a:solidFill>
            <a:prstDash val="solid"/>
          </a:ln>
        </p:spPr>
        <p:txBody>
          <a:bodyPr/>
          <a:p/>
        </p:txBody>
      </p:sp>
      <p:sp>
        <p:nvSpPr>
          <p:cNvPr id="64" name="Text 62"/>
          <p:cNvSpPr txBox="1"/>
          <p:nvPr/>
        </p:nvSpPr>
        <p:spPr>
          <a:xfrm>
            <a:off x="5201529" y="343814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10</a:t>
            </a:r>
            <a:endParaRPr lang="en-US" sz="1150" dirty="0"/>
          </a:p>
        </p:txBody>
      </p:sp>
      <p:sp>
        <p:nvSpPr>
          <p:cNvPr id="65" name="Shape 63"/>
          <p:cNvSpPr/>
          <p:nvPr/>
        </p:nvSpPr>
        <p:spPr>
          <a:xfrm>
            <a:off x="5845126" y="3383280"/>
            <a:ext cx="91" cy="73152"/>
          </a:xfrm>
          <a:prstGeom prst="line">
            <a:avLst/>
          </a:prstGeom>
          <a:noFill/>
          <a:ln w="12700">
            <a:solidFill>
              <a:srgbClr val="6B7679"/>
            </a:solidFill>
            <a:prstDash val="solid"/>
          </a:ln>
        </p:spPr>
        <p:txBody>
          <a:bodyPr/>
          <a:p/>
        </p:txBody>
      </p:sp>
      <p:sp>
        <p:nvSpPr>
          <p:cNvPr id="66" name="Text 64"/>
          <p:cNvSpPr txBox="1"/>
          <p:nvPr/>
        </p:nvSpPr>
        <p:spPr>
          <a:xfrm>
            <a:off x="5570806" y="343814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11</a:t>
            </a:r>
            <a:endParaRPr lang="en-US" sz="1150" dirty="0"/>
          </a:p>
        </p:txBody>
      </p:sp>
      <p:sp>
        <p:nvSpPr>
          <p:cNvPr id="67" name="Shape 65"/>
          <p:cNvSpPr/>
          <p:nvPr/>
        </p:nvSpPr>
        <p:spPr>
          <a:xfrm>
            <a:off x="6583680" y="3383280"/>
            <a:ext cx="91" cy="73152"/>
          </a:xfrm>
          <a:prstGeom prst="line">
            <a:avLst/>
          </a:prstGeom>
          <a:noFill/>
          <a:ln w="12700">
            <a:solidFill>
              <a:srgbClr val="6B7679"/>
            </a:solidFill>
            <a:prstDash val="solid"/>
          </a:ln>
        </p:spPr>
        <p:txBody>
          <a:bodyPr/>
          <a:p/>
        </p:txBody>
      </p:sp>
      <p:sp>
        <p:nvSpPr>
          <p:cNvPr id="68" name="Text 66"/>
          <p:cNvSpPr txBox="1"/>
          <p:nvPr/>
        </p:nvSpPr>
        <p:spPr>
          <a:xfrm>
            <a:off x="6309360" y="3438144"/>
            <a:ext cx="548640" cy="237744"/>
          </a:xfrm>
          <a:prstGeom prst="rect">
            <a:avLst/>
          </a:prstGeom>
          <a:noFill/>
          <a:ln/>
        </p:spPr>
        <p:txBody>
          <a:bodyPr wrap="square" lIns="0" tIns="0" rIns="0" bIns="0" rtlCol="0" anchor="t"/>
          <a:lstStyle/>
          <a:p>
            <a:pPr algn="ctr" indent="0" marL="0">
              <a:buNone/>
            </a:pPr>
            <a:r>
              <a:rPr lang="en-US" sz="1150" dirty="0">
                <a:solidFill>
                  <a:srgbClr val="6B7679"/>
                </a:solidFill>
                <a:latin typeface="Calibri" pitchFamily="34" charset="0"/>
                <a:ea typeface="Calibri" pitchFamily="34" charset="-122"/>
                <a:cs typeface="Calibri" pitchFamily="34" charset="-120"/>
              </a:rPr>
              <a:t>13</a:t>
            </a:r>
            <a:endParaRPr lang="en-US" sz="1150" dirty="0"/>
          </a:p>
        </p:txBody>
      </p:sp>
      <p:sp>
        <p:nvSpPr>
          <p:cNvPr id="69" name="Text 67"/>
          <p:cNvSpPr txBox="1"/>
          <p:nvPr/>
        </p:nvSpPr>
        <p:spPr>
          <a:xfrm>
            <a:off x="6858000" y="1783080"/>
            <a:ext cx="4754880" cy="274320"/>
          </a:xfrm>
          <a:prstGeom prst="rect">
            <a:avLst/>
          </a:prstGeom>
          <a:noFill/>
          <a:ln/>
        </p:spPr>
        <p:txBody>
          <a:bodyPr wrap="square" lIns="0" tIns="0" rIns="0" bIns="0" rtlCol="0" anchor="t"/>
          <a:lstStyle/>
          <a:p>
            <a:pPr indent="0" marL="0">
              <a:buNone/>
            </a:pPr>
            <a:r>
              <a:rPr lang="en-US" sz="1300" b="1" dirty="0">
                <a:solidFill>
                  <a:srgbClr val="028090"/>
                </a:solidFill>
                <a:latin typeface="Calibri" pitchFamily="34" charset="0"/>
                <a:ea typeface="Calibri" pitchFamily="34" charset="-122"/>
                <a:cs typeface="Calibri" pitchFamily="34" charset="-120"/>
              </a:rPr>
              <a:t>SRTF</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0" y="2057400"/>
          <a:ext cx="4800600" cy="914400"/>
        </p:xfrm>
        <a:graphic>
          <a:graphicData uri="http://schemas.openxmlformats.org/drawingml/2006/table">
            <a:tbl>
              <a:tblPr/>
              <a:tblGrid>
                <a:gridCol w="685800"/>
                <a:gridCol w="685800"/>
                <a:gridCol w="685800"/>
                <a:gridCol w="685800"/>
                <a:gridCol w="685800"/>
                <a:gridCol w="685800"/>
                <a:gridCol w="685800"/>
              </a:tblGrid>
              <a:tr h="274320">
                <a:tc>
                  <a:txBody>
                    <a:bodyPr/>
                    <a:lstStyle/>
                    <a:p>
                      <a:pPr algn="ctr" indent="0" marL="0">
                        <a:buNone/>
                      </a:pP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Arr.</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Burst</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Finish</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Turnar.</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Wait</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Resp.</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274320">
                <a:tc>
                  <a:txBody>
                    <a:bodyPr/>
                    <a:lstStyle/>
                    <a:p>
                      <a:pPr algn="ctr" indent="0" marL="0">
                        <a:buNone/>
                      </a:pPr>
                      <a:r>
                        <a:rPr lang="en-US" sz="1200" b="1" dirty="0">
                          <a:solidFill>
                            <a:srgbClr val="3A464C"/>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en-US" sz="1200" b="1" dirty="0">
                          <a:solidFill>
                            <a:srgbClr val="3A464C"/>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en-US" sz="1200" b="1" dirty="0">
                          <a:solidFill>
                            <a:srgbClr val="3A464C"/>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en-US" sz="1200" b="1" dirty="0">
                          <a:solidFill>
                            <a:srgbClr val="3A464C"/>
                          </a:solidFill>
                          <a:latin typeface="Calibri" pitchFamily="34" charset="0"/>
                          <a:ea typeface="Calibri" pitchFamily="34" charset="-122"/>
                          <a:cs typeface="Calibri" pitchFamily="34" charset="-120"/>
                        </a:rPr>
                        <a:t>P4</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Avg.</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2.75</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71" name="Text 68"/>
          <p:cNvSpPr txBox="1"/>
          <p:nvPr/>
        </p:nvSpPr>
        <p:spPr>
          <a:xfrm>
            <a:off x="548640" y="3886200"/>
            <a:ext cx="4754880" cy="274320"/>
          </a:xfrm>
          <a:prstGeom prst="rect">
            <a:avLst/>
          </a:prstGeom>
          <a:noFill/>
          <a:ln/>
        </p:spPr>
        <p:txBody>
          <a:bodyPr wrap="square" lIns="0" tIns="0" rIns="0" bIns="0" rtlCol="0" anchor="t"/>
          <a:lstStyle/>
          <a:p>
            <a:pPr indent="0" marL="0">
              <a:buNone/>
            </a:pPr>
            <a:r>
              <a:rPr lang="en-US" sz="1300" b="1" dirty="0">
                <a:solidFill>
                  <a:srgbClr val="028090"/>
                </a:solidFill>
                <a:latin typeface="Calibri" pitchFamily="34" charset="0"/>
                <a:ea typeface="Calibri" pitchFamily="34" charset="-122"/>
                <a:cs typeface="Calibri" pitchFamily="34" charset="-120"/>
              </a:rPr>
              <a:t>RR, q = 2</a:t>
            </a:r>
            <a:endParaRPr lang="en-US" sz="13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48640" y="4160520"/>
          <a:ext cx="6035040" cy="914400"/>
        </p:xfrm>
        <a:graphic>
          <a:graphicData uri="http://schemas.openxmlformats.org/drawingml/2006/table">
            <a:tbl>
              <a:tblPr/>
              <a:tblGrid>
                <a:gridCol w="862149"/>
                <a:gridCol w="862149"/>
                <a:gridCol w="862149"/>
                <a:gridCol w="862149"/>
                <a:gridCol w="862149"/>
                <a:gridCol w="862149"/>
                <a:gridCol w="862149"/>
              </a:tblGrid>
              <a:tr h="274320">
                <a:tc>
                  <a:txBody>
                    <a:bodyPr/>
                    <a:lstStyle/>
                    <a:p>
                      <a:pPr algn="ctr" indent="0" marL="0">
                        <a:buNone/>
                      </a:pP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Arr.</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Burst</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Finish</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Turnar.</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Wait</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Resp.</a:t>
                      </a:r>
                      <a:endParaRPr lang="en-US"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274320">
                <a:tc>
                  <a:txBody>
                    <a:bodyPr/>
                    <a:lstStyle/>
                    <a:p>
                      <a:pPr algn="ctr" indent="0" marL="0">
                        <a:buNone/>
                      </a:pPr>
                      <a:r>
                        <a:rPr lang="en-US" sz="1200" b="1" dirty="0">
                          <a:solidFill>
                            <a:srgbClr val="3A464C"/>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en-US" sz="1200" b="1" dirty="0">
                          <a:solidFill>
                            <a:srgbClr val="3A464C"/>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en-US" sz="1200" b="1" dirty="0">
                          <a:solidFill>
                            <a:srgbClr val="3A464C"/>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en-US" sz="1200" b="1" dirty="0">
                          <a:solidFill>
                            <a:srgbClr val="3A464C"/>
                          </a:solidFill>
                          <a:latin typeface="Calibri" pitchFamily="34" charset="0"/>
                          <a:ea typeface="Calibri" pitchFamily="34" charset="-122"/>
                          <a:cs typeface="Calibri" pitchFamily="34" charset="-120"/>
                        </a:rPr>
                        <a:t>P4</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A464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Avg.</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8.25</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73" name="Shape 69"/>
          <p:cNvSpPr/>
          <p:nvPr/>
        </p:nvSpPr>
        <p:spPr>
          <a:xfrm>
            <a:off x="6858000" y="4160520"/>
            <a:ext cx="4800600" cy="2103120"/>
          </a:xfrm>
          <a:prstGeom prst="roundRect">
            <a:avLst>
              <a:gd name="adj" fmla="val 260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4" name="Text 70"/>
          <p:cNvSpPr txBox="1"/>
          <p:nvPr/>
        </p:nvSpPr>
        <p:spPr>
          <a:xfrm>
            <a:off x="7086600" y="434340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 the result</a:t>
            </a:r>
            <a:endParaRPr lang="en-US" sz="1500" dirty="0"/>
          </a:p>
        </p:txBody>
      </p:sp>
      <p:sp>
        <p:nvSpPr>
          <p:cNvPr id="75" name="Text 71"/>
          <p:cNvSpPr txBox="1"/>
          <p:nvPr/>
        </p:nvSpPr>
        <p:spPr>
          <a:xfrm>
            <a:off x="7086600" y="4800600"/>
            <a:ext cx="4343400" cy="132588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Average waiting: SRTF 2.75 ms, RR 5 ms.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Average response: SRTF 1.5 ms, RR 1.75 ms.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SRTF minimises waiting; RR gives every process a turn quickly.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PROBLEM 2 · WEEK 6</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Address Translation and TLB Effective Access Time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14</a:t>
            </a:r>
            <a:endParaRPr lang="en-US" sz="900" dirty="0"/>
          </a:p>
        </p:txBody>
      </p:sp>
      <p:sp>
        <p:nvSpPr>
          <p:cNvPr id="6" name="Shape 4"/>
          <p:cNvSpPr/>
          <p:nvPr/>
        </p:nvSpPr>
        <p:spPr>
          <a:xfrm>
            <a:off x="548640" y="1508760"/>
            <a:ext cx="49377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4805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question</a:t>
            </a:r>
            <a:endParaRPr lang="en-US" sz="1500" dirty="0"/>
          </a:p>
        </p:txBody>
      </p:sp>
      <p:sp>
        <p:nvSpPr>
          <p:cNvPr id="8" name="Text 6"/>
          <p:cNvSpPr txBox="1"/>
          <p:nvPr/>
        </p:nvSpPr>
        <p:spPr>
          <a:xfrm>
            <a:off x="777240" y="2148840"/>
            <a:ext cx="4480560" cy="15544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Pages of 1 KB. Page table: page 0 → frame 5, 1 → 2, 2 → 7, 3 → 1.</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 Translate logical address 2500.</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(b) t_TLB = 10 ns, t_m = 100 ns, α = 0.9: EAT? Which α gives 115 ns?</a:t>
            </a:r>
            <a:endParaRPr lang="en-US" sz="1400" dirty="0"/>
          </a:p>
        </p:txBody>
      </p:sp>
      <p:sp>
        <p:nvSpPr>
          <p:cNvPr id="9" name="Shape 7"/>
          <p:cNvSpPr/>
          <p:nvPr/>
        </p:nvSpPr>
        <p:spPr>
          <a:xfrm>
            <a:off x="5715000" y="1508760"/>
            <a:ext cx="5943600" cy="2331720"/>
          </a:xfrm>
          <a:prstGeom prst="roundRect">
            <a:avLst>
              <a:gd name="adj" fmla="val 1961"/>
            </a:avLst>
          </a:prstGeom>
          <a:solidFill>
            <a:srgbClr val="212121"/>
          </a:solidFill>
          <a:ln/>
        </p:spPr>
        <p:txBody>
          <a:bodyPr/>
          <a:p/>
        </p:txBody>
      </p:sp>
      <p:sp>
        <p:nvSpPr>
          <p:cNvPr id="10" name="Text 8"/>
          <p:cNvSpPr txBox="1"/>
          <p:nvPr/>
        </p:nvSpPr>
        <p:spPr>
          <a:xfrm>
            <a:off x="5897880" y="1618488"/>
            <a:ext cx="5577840" cy="2112264"/>
          </a:xfrm>
          <a:prstGeom prst="rect">
            <a:avLst/>
          </a:prstGeom>
          <a:noFill/>
          <a:ln/>
        </p:spPr>
        <p:txBody>
          <a:bodyPr wrap="square" lIns="0" tIns="0" rIns="0" bIns="0" rtlCol="0" anchor="t"/>
          <a:lstStyle/>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(a) 1 KB = 2^10 = 1024 bytes</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p = ⌊2500 / 1024⌋ = 2</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d = 2500 − 2 × 1024 = 452</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page 2 → frame 7</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a_phys = 7 × 1024 + 452 = 7620</a:t>
            </a:r>
            <a:endParaRPr lang="en-US" sz="1400" dirty="0"/>
          </a:p>
        </p:txBody>
      </p:sp>
      <p:sp>
        <p:nvSpPr>
          <p:cNvPr id="11" name="Shape 9"/>
          <p:cNvSpPr/>
          <p:nvPr/>
        </p:nvSpPr>
        <p:spPr>
          <a:xfrm>
            <a:off x="548640" y="4023360"/>
            <a:ext cx="5943600" cy="2240280"/>
          </a:xfrm>
          <a:prstGeom prst="roundRect">
            <a:avLst>
              <a:gd name="adj" fmla="val 2041"/>
            </a:avLst>
          </a:prstGeom>
          <a:solidFill>
            <a:srgbClr val="212121"/>
          </a:solidFill>
          <a:ln/>
        </p:spPr>
        <p:txBody>
          <a:bodyPr/>
          <a:p/>
        </p:txBody>
      </p:sp>
      <p:sp>
        <p:nvSpPr>
          <p:cNvPr id="12" name="Text 10"/>
          <p:cNvSpPr txBox="1"/>
          <p:nvPr/>
        </p:nvSpPr>
        <p:spPr>
          <a:xfrm>
            <a:off x="731520" y="4133088"/>
            <a:ext cx="5577840" cy="2020824"/>
          </a:xfrm>
          <a:prstGeom prst="rect">
            <a:avLst/>
          </a:prstGeom>
          <a:noFill/>
          <a:ln/>
        </p:spPr>
        <p:txBody>
          <a:bodyPr wrap="square" lIns="0" tIns="0" rIns="0" bIns="0" rtlCol="0" anchor="t"/>
          <a:lstStyle/>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(b) our convention</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EAT = t_TLB + (2 − α) t_m</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 10 + (2 − 0.9) × 100 = 120.0 ns</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check: 0.9×110 + 0.1×210 = 99 + 21 = 120</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115 = 10 + (2 − α)·100  ⇒  α = 0.95</a:t>
            </a:r>
            <a:endParaRPr lang="en-US" sz="1400" dirty="0"/>
          </a:p>
        </p:txBody>
      </p:sp>
      <p:sp>
        <p:nvSpPr>
          <p:cNvPr id="13" name="Shape 11"/>
          <p:cNvSpPr/>
          <p:nvPr/>
        </p:nvSpPr>
        <p:spPr>
          <a:xfrm>
            <a:off x="6720840" y="4023360"/>
            <a:ext cx="49377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6949440" y="4206240"/>
            <a:ext cx="44805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Exam tips</a:t>
            </a:r>
            <a:endParaRPr lang="en-US" sz="1500" dirty="0"/>
          </a:p>
        </p:txBody>
      </p:sp>
      <p:sp>
        <p:nvSpPr>
          <p:cNvPr id="15" name="Text 13"/>
          <p:cNvSpPr txBox="1"/>
          <p:nvPr/>
        </p:nvSpPr>
        <p:spPr>
          <a:xfrm>
            <a:off x="6949440" y="4663440"/>
            <a:ext cx="4480560" cy="14630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Write p, d, f on separate lines: partial credit.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Sanity check: 0 ≤ d &lt; page size; a_phys in the frame's range [7168, 8192).</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State the EAT convention you use.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PROBLEM 3 · WEEK 7</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FIFO, OPT and LRU with Three Frames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15</a:t>
            </a:r>
            <a:endParaRPr lang="en-US" sz="900" dirty="0"/>
          </a:p>
        </p:txBody>
      </p:sp>
      <p:sp>
        <p:nvSpPr>
          <p:cNvPr id="6" name="Text 4"/>
          <p:cNvSpPr txBox="1"/>
          <p:nvPr/>
        </p:nvSpPr>
        <p:spPr>
          <a:xfrm>
            <a:off x="548640" y="1417320"/>
            <a:ext cx="11109960" cy="320040"/>
          </a:xfrm>
          <a:prstGeom prst="rect">
            <a:avLst/>
          </a:prstGeom>
          <a:noFill/>
          <a:ln/>
        </p:spPr>
        <p:txBody>
          <a:bodyPr wrap="square" lIns="0" tIns="0" rIns="0" bIns="0" rtlCol="0" anchor="t"/>
          <a:lstStyle/>
          <a:p>
            <a:pPr indent="0" marL="0">
              <a:buNone/>
            </a:pPr>
            <a:r>
              <a:rPr lang="en-US" sz="1350" i="1" dirty="0">
                <a:solidFill>
                  <a:srgbClr val="6B7679"/>
                </a:solidFill>
                <a:latin typeface="Calibri" pitchFamily="34" charset="0"/>
                <a:ea typeface="Calibri" pitchFamily="34" charset="-122"/>
                <a:cs typeface="Calibri" pitchFamily="34" charset="-120"/>
              </a:rPr>
              <a:t>Reference string: 3, 5, 1, 0, 3, 1, 0, 3, 1, 4, 1, 0  ·  3 frames  ·  below: LRU (mint = page just loaded)</a:t>
            </a:r>
            <a:endParaRPr lang="en-US" sz="1350" dirty="0"/>
          </a:p>
        </p:txBody>
      </p:sp>
      <p:sp>
        <p:nvSpPr>
          <p:cNvPr id="7" name="Text 5"/>
          <p:cNvSpPr txBox="1"/>
          <p:nvPr/>
        </p:nvSpPr>
        <p:spPr>
          <a:xfrm>
            <a:off x="548640" y="1783080"/>
            <a:ext cx="841248" cy="402336"/>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reference</a:t>
            </a:r>
            <a:endParaRPr lang="en-US" sz="1100" dirty="0"/>
          </a:p>
        </p:txBody>
      </p:sp>
      <p:sp>
        <p:nvSpPr>
          <p:cNvPr id="8" name="Text 6"/>
          <p:cNvSpPr txBox="1"/>
          <p:nvPr/>
        </p:nvSpPr>
        <p:spPr>
          <a:xfrm>
            <a:off x="548640" y="2185416"/>
            <a:ext cx="841248" cy="402336"/>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0</a:t>
            </a:r>
            <a:endParaRPr lang="en-US" sz="1100" dirty="0"/>
          </a:p>
        </p:txBody>
      </p:sp>
      <p:sp>
        <p:nvSpPr>
          <p:cNvPr id="9" name="Text 7"/>
          <p:cNvSpPr txBox="1"/>
          <p:nvPr/>
        </p:nvSpPr>
        <p:spPr>
          <a:xfrm>
            <a:off x="548640" y="2587752"/>
            <a:ext cx="841248" cy="402336"/>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1</a:t>
            </a:r>
            <a:endParaRPr lang="en-US" sz="1100" dirty="0"/>
          </a:p>
        </p:txBody>
      </p:sp>
      <p:sp>
        <p:nvSpPr>
          <p:cNvPr id="10" name="Text 8"/>
          <p:cNvSpPr txBox="1"/>
          <p:nvPr/>
        </p:nvSpPr>
        <p:spPr>
          <a:xfrm>
            <a:off x="548640" y="2990088"/>
            <a:ext cx="841248" cy="402336"/>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2</a:t>
            </a:r>
            <a:endParaRPr lang="en-US" sz="1100" dirty="0"/>
          </a:p>
        </p:txBody>
      </p:sp>
      <p:sp>
        <p:nvSpPr>
          <p:cNvPr id="11" name="Text 9"/>
          <p:cNvSpPr txBox="1"/>
          <p:nvPr/>
        </p:nvSpPr>
        <p:spPr>
          <a:xfrm>
            <a:off x="548640" y="3392424"/>
            <a:ext cx="841248" cy="402336"/>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fault?</a:t>
            </a:r>
            <a:endParaRPr lang="en-US" sz="1100" dirty="0"/>
          </a:p>
        </p:txBody>
      </p:sp>
      <p:sp>
        <p:nvSpPr>
          <p:cNvPr id="12" name="Shape 10"/>
          <p:cNvSpPr/>
          <p:nvPr/>
        </p:nvSpPr>
        <p:spPr>
          <a:xfrm>
            <a:off x="1481328" y="1801368"/>
            <a:ext cx="813054" cy="365760"/>
          </a:xfrm>
          <a:prstGeom prst="roundRect">
            <a:avLst>
              <a:gd name="adj" fmla="val 12500"/>
            </a:avLst>
          </a:prstGeom>
          <a:solidFill>
            <a:srgbClr val="36454F"/>
          </a:solidFill>
          <a:ln/>
        </p:spPr>
        <p:txBody>
          <a:bodyPr/>
          <a:p/>
        </p:txBody>
      </p:sp>
      <p:sp>
        <p:nvSpPr>
          <p:cNvPr id="13" name="Text 11"/>
          <p:cNvSpPr txBox="1"/>
          <p:nvPr/>
        </p:nvSpPr>
        <p:spPr>
          <a:xfrm>
            <a:off x="148132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Shape 12"/>
          <p:cNvSpPr/>
          <p:nvPr/>
        </p:nvSpPr>
        <p:spPr>
          <a:xfrm>
            <a:off x="1481328" y="2203704"/>
            <a:ext cx="813054" cy="365760"/>
          </a:xfrm>
          <a:prstGeom prst="roundRect">
            <a:avLst>
              <a:gd name="adj" fmla="val 12500"/>
            </a:avLst>
          </a:prstGeom>
          <a:solidFill>
            <a:srgbClr val="02C39A"/>
          </a:solidFill>
          <a:ln/>
        </p:spPr>
        <p:txBody>
          <a:bodyPr/>
          <a:p/>
        </p:txBody>
      </p:sp>
      <p:sp>
        <p:nvSpPr>
          <p:cNvPr id="15" name="Text 13"/>
          <p:cNvSpPr txBox="1"/>
          <p:nvPr/>
        </p:nvSpPr>
        <p:spPr>
          <a:xfrm>
            <a:off x="1481328" y="2203704"/>
            <a:ext cx="813054" cy="36576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16" name="Shape 14"/>
          <p:cNvSpPr/>
          <p:nvPr/>
        </p:nvSpPr>
        <p:spPr>
          <a:xfrm>
            <a:off x="1481328" y="2606040"/>
            <a:ext cx="813054" cy="365760"/>
          </a:xfrm>
          <a:prstGeom prst="roundRect">
            <a:avLst>
              <a:gd name="adj" fmla="val 12500"/>
            </a:avLst>
          </a:prstGeom>
          <a:solidFill>
            <a:srgbClr val="D7E9E6"/>
          </a:solidFill>
          <a:ln/>
        </p:spPr>
        <p:txBody>
          <a:bodyPr/>
          <a:p/>
        </p:txBody>
      </p:sp>
      <p:sp>
        <p:nvSpPr>
          <p:cNvPr id="17" name="Text 15"/>
          <p:cNvSpPr txBox="1"/>
          <p:nvPr/>
        </p:nvSpPr>
        <p:spPr>
          <a:xfrm>
            <a:off x="1481328" y="2606040"/>
            <a:ext cx="813054" cy="365760"/>
          </a:xfrm>
          <a:prstGeom prst="rect">
            <a:avLst/>
          </a:prstGeom>
          <a:noFill/>
          <a:ln/>
        </p:spPr>
        <p:txBody>
          <a:bodyPr wrap="square" lIns="38100" tIns="38100" rIns="38100" bIns="38100" rtlCol="0" anchor="ctr"/>
          <a:lstStyle/>
          <a:p>
            <a:pPr algn="ctr" indent="0" marL="0">
              <a:buNone/>
            </a:pPr>
            <a:endParaRPr lang="en-US" sz="1400" dirty="0"/>
          </a:p>
        </p:txBody>
      </p:sp>
      <p:sp>
        <p:nvSpPr>
          <p:cNvPr id="18" name="Shape 16"/>
          <p:cNvSpPr/>
          <p:nvPr/>
        </p:nvSpPr>
        <p:spPr>
          <a:xfrm>
            <a:off x="1481328" y="3008376"/>
            <a:ext cx="813054" cy="365760"/>
          </a:xfrm>
          <a:prstGeom prst="roundRect">
            <a:avLst>
              <a:gd name="adj" fmla="val 12500"/>
            </a:avLst>
          </a:prstGeom>
          <a:solidFill>
            <a:srgbClr val="D7E9E6"/>
          </a:solidFill>
          <a:ln/>
        </p:spPr>
        <p:txBody>
          <a:bodyPr/>
          <a:p/>
        </p:txBody>
      </p:sp>
      <p:sp>
        <p:nvSpPr>
          <p:cNvPr id="19" name="Text 17"/>
          <p:cNvSpPr txBox="1"/>
          <p:nvPr/>
        </p:nvSpPr>
        <p:spPr>
          <a:xfrm>
            <a:off x="1481328" y="3008376"/>
            <a:ext cx="813054" cy="365760"/>
          </a:xfrm>
          <a:prstGeom prst="rect">
            <a:avLst/>
          </a:prstGeom>
          <a:noFill/>
          <a:ln/>
        </p:spPr>
        <p:txBody>
          <a:bodyPr wrap="square" lIns="38100" tIns="38100" rIns="38100" bIns="38100" rtlCol="0" anchor="ctr"/>
          <a:lstStyle/>
          <a:p>
            <a:pPr algn="ctr" indent="0" marL="0">
              <a:buNone/>
            </a:pPr>
            <a:endParaRPr lang="en-US" sz="1400" dirty="0"/>
          </a:p>
        </p:txBody>
      </p:sp>
      <p:sp>
        <p:nvSpPr>
          <p:cNvPr id="20" name="Text 18"/>
          <p:cNvSpPr txBox="1"/>
          <p:nvPr/>
        </p:nvSpPr>
        <p:spPr>
          <a:xfrm>
            <a:off x="1463040" y="3392424"/>
            <a:ext cx="849630" cy="402336"/>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21" name="Shape 19"/>
          <p:cNvSpPr/>
          <p:nvPr/>
        </p:nvSpPr>
        <p:spPr>
          <a:xfrm>
            <a:off x="2330958" y="1801368"/>
            <a:ext cx="813054" cy="365760"/>
          </a:xfrm>
          <a:prstGeom prst="roundRect">
            <a:avLst>
              <a:gd name="adj" fmla="val 12500"/>
            </a:avLst>
          </a:prstGeom>
          <a:solidFill>
            <a:srgbClr val="36454F"/>
          </a:solidFill>
          <a:ln/>
        </p:spPr>
        <p:txBody>
          <a:bodyPr/>
          <a:p/>
        </p:txBody>
      </p:sp>
      <p:sp>
        <p:nvSpPr>
          <p:cNvPr id="22" name="Text 20"/>
          <p:cNvSpPr txBox="1"/>
          <p:nvPr/>
        </p:nvSpPr>
        <p:spPr>
          <a:xfrm>
            <a:off x="233095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Shape 21"/>
          <p:cNvSpPr/>
          <p:nvPr/>
        </p:nvSpPr>
        <p:spPr>
          <a:xfrm>
            <a:off x="2330958" y="2203704"/>
            <a:ext cx="813054" cy="365760"/>
          </a:xfrm>
          <a:prstGeom prst="roundRect">
            <a:avLst>
              <a:gd name="adj" fmla="val 12500"/>
            </a:avLst>
          </a:prstGeom>
          <a:solidFill>
            <a:srgbClr val="D7E9E6"/>
          </a:solidFill>
          <a:ln/>
        </p:spPr>
        <p:txBody>
          <a:bodyPr/>
          <a:p/>
        </p:txBody>
      </p:sp>
      <p:sp>
        <p:nvSpPr>
          <p:cNvPr id="24" name="Text 22"/>
          <p:cNvSpPr txBox="1"/>
          <p:nvPr/>
        </p:nvSpPr>
        <p:spPr>
          <a:xfrm>
            <a:off x="2330958" y="2203704"/>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25" name="Shape 23"/>
          <p:cNvSpPr/>
          <p:nvPr/>
        </p:nvSpPr>
        <p:spPr>
          <a:xfrm>
            <a:off x="2330958" y="2606040"/>
            <a:ext cx="813054" cy="365760"/>
          </a:xfrm>
          <a:prstGeom prst="roundRect">
            <a:avLst>
              <a:gd name="adj" fmla="val 12500"/>
            </a:avLst>
          </a:prstGeom>
          <a:solidFill>
            <a:srgbClr val="02C39A"/>
          </a:solidFill>
          <a:ln/>
        </p:spPr>
        <p:txBody>
          <a:bodyPr/>
          <a:p/>
        </p:txBody>
      </p:sp>
      <p:sp>
        <p:nvSpPr>
          <p:cNvPr id="26" name="Text 24"/>
          <p:cNvSpPr txBox="1"/>
          <p:nvPr/>
        </p:nvSpPr>
        <p:spPr>
          <a:xfrm>
            <a:off x="2330958" y="2606040"/>
            <a:ext cx="813054" cy="36576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5</a:t>
            </a:r>
            <a:endParaRPr lang="en-US" sz="1400" dirty="0"/>
          </a:p>
        </p:txBody>
      </p:sp>
      <p:sp>
        <p:nvSpPr>
          <p:cNvPr id="27" name="Shape 25"/>
          <p:cNvSpPr/>
          <p:nvPr/>
        </p:nvSpPr>
        <p:spPr>
          <a:xfrm>
            <a:off x="2330958" y="3008376"/>
            <a:ext cx="813054" cy="365760"/>
          </a:xfrm>
          <a:prstGeom prst="roundRect">
            <a:avLst>
              <a:gd name="adj" fmla="val 12500"/>
            </a:avLst>
          </a:prstGeom>
          <a:solidFill>
            <a:srgbClr val="D7E9E6"/>
          </a:solidFill>
          <a:ln/>
        </p:spPr>
        <p:txBody>
          <a:bodyPr/>
          <a:p/>
        </p:txBody>
      </p:sp>
      <p:sp>
        <p:nvSpPr>
          <p:cNvPr id="28" name="Text 26"/>
          <p:cNvSpPr txBox="1"/>
          <p:nvPr/>
        </p:nvSpPr>
        <p:spPr>
          <a:xfrm>
            <a:off x="2330958" y="3008376"/>
            <a:ext cx="813054" cy="365760"/>
          </a:xfrm>
          <a:prstGeom prst="rect">
            <a:avLst/>
          </a:prstGeom>
          <a:noFill/>
          <a:ln/>
        </p:spPr>
        <p:txBody>
          <a:bodyPr wrap="square" lIns="38100" tIns="38100" rIns="38100" bIns="38100" rtlCol="0" anchor="ctr"/>
          <a:lstStyle/>
          <a:p>
            <a:pPr algn="ctr" indent="0" marL="0">
              <a:buNone/>
            </a:pPr>
            <a:endParaRPr lang="en-US" sz="1400" dirty="0"/>
          </a:p>
        </p:txBody>
      </p:sp>
      <p:sp>
        <p:nvSpPr>
          <p:cNvPr id="29" name="Text 27"/>
          <p:cNvSpPr txBox="1"/>
          <p:nvPr/>
        </p:nvSpPr>
        <p:spPr>
          <a:xfrm>
            <a:off x="2312670" y="3392424"/>
            <a:ext cx="849630" cy="402336"/>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30" name="Shape 28"/>
          <p:cNvSpPr/>
          <p:nvPr/>
        </p:nvSpPr>
        <p:spPr>
          <a:xfrm>
            <a:off x="3180588" y="1801368"/>
            <a:ext cx="813054" cy="365760"/>
          </a:xfrm>
          <a:prstGeom prst="roundRect">
            <a:avLst>
              <a:gd name="adj" fmla="val 12500"/>
            </a:avLst>
          </a:prstGeom>
          <a:solidFill>
            <a:srgbClr val="36454F"/>
          </a:solidFill>
          <a:ln/>
        </p:spPr>
        <p:txBody>
          <a:bodyPr/>
          <a:p/>
        </p:txBody>
      </p:sp>
      <p:sp>
        <p:nvSpPr>
          <p:cNvPr id="31" name="Text 29"/>
          <p:cNvSpPr txBox="1"/>
          <p:nvPr/>
        </p:nvSpPr>
        <p:spPr>
          <a:xfrm>
            <a:off x="318058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2" name="Shape 30"/>
          <p:cNvSpPr/>
          <p:nvPr/>
        </p:nvSpPr>
        <p:spPr>
          <a:xfrm>
            <a:off x="3180588" y="2203704"/>
            <a:ext cx="813054" cy="365760"/>
          </a:xfrm>
          <a:prstGeom prst="roundRect">
            <a:avLst>
              <a:gd name="adj" fmla="val 12500"/>
            </a:avLst>
          </a:prstGeom>
          <a:solidFill>
            <a:srgbClr val="D7E9E6"/>
          </a:solidFill>
          <a:ln/>
        </p:spPr>
        <p:txBody>
          <a:bodyPr/>
          <a:p/>
        </p:txBody>
      </p:sp>
      <p:sp>
        <p:nvSpPr>
          <p:cNvPr id="33" name="Text 31"/>
          <p:cNvSpPr txBox="1"/>
          <p:nvPr/>
        </p:nvSpPr>
        <p:spPr>
          <a:xfrm>
            <a:off x="3180588" y="2203704"/>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34" name="Shape 32"/>
          <p:cNvSpPr/>
          <p:nvPr/>
        </p:nvSpPr>
        <p:spPr>
          <a:xfrm>
            <a:off x="3180588" y="2606040"/>
            <a:ext cx="813054" cy="365760"/>
          </a:xfrm>
          <a:prstGeom prst="roundRect">
            <a:avLst>
              <a:gd name="adj" fmla="val 12500"/>
            </a:avLst>
          </a:prstGeom>
          <a:solidFill>
            <a:srgbClr val="D7E9E6"/>
          </a:solidFill>
          <a:ln/>
        </p:spPr>
        <p:txBody>
          <a:bodyPr/>
          <a:p/>
        </p:txBody>
      </p:sp>
      <p:sp>
        <p:nvSpPr>
          <p:cNvPr id="35" name="Text 33"/>
          <p:cNvSpPr txBox="1"/>
          <p:nvPr/>
        </p:nvSpPr>
        <p:spPr>
          <a:xfrm>
            <a:off x="3180588" y="2606040"/>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5</a:t>
            </a:r>
            <a:endParaRPr lang="en-US" sz="1400" dirty="0"/>
          </a:p>
        </p:txBody>
      </p:sp>
      <p:sp>
        <p:nvSpPr>
          <p:cNvPr id="36" name="Shape 34"/>
          <p:cNvSpPr/>
          <p:nvPr/>
        </p:nvSpPr>
        <p:spPr>
          <a:xfrm>
            <a:off x="3180588" y="3008376"/>
            <a:ext cx="813054" cy="365760"/>
          </a:xfrm>
          <a:prstGeom prst="roundRect">
            <a:avLst>
              <a:gd name="adj" fmla="val 12500"/>
            </a:avLst>
          </a:prstGeom>
          <a:solidFill>
            <a:srgbClr val="02C39A"/>
          </a:solidFill>
          <a:ln/>
        </p:spPr>
        <p:txBody>
          <a:bodyPr/>
          <a:p/>
        </p:txBody>
      </p:sp>
      <p:sp>
        <p:nvSpPr>
          <p:cNvPr id="37" name="Text 35"/>
          <p:cNvSpPr txBox="1"/>
          <p:nvPr/>
        </p:nvSpPr>
        <p:spPr>
          <a:xfrm>
            <a:off x="3180588" y="3008376"/>
            <a:ext cx="813054" cy="36576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38" name="Text 36"/>
          <p:cNvSpPr txBox="1"/>
          <p:nvPr/>
        </p:nvSpPr>
        <p:spPr>
          <a:xfrm>
            <a:off x="3162300" y="3392424"/>
            <a:ext cx="849630" cy="402336"/>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39" name="Shape 37"/>
          <p:cNvSpPr/>
          <p:nvPr/>
        </p:nvSpPr>
        <p:spPr>
          <a:xfrm>
            <a:off x="4030218" y="1801368"/>
            <a:ext cx="813054" cy="365760"/>
          </a:xfrm>
          <a:prstGeom prst="roundRect">
            <a:avLst>
              <a:gd name="adj" fmla="val 12500"/>
            </a:avLst>
          </a:prstGeom>
          <a:solidFill>
            <a:srgbClr val="36454F"/>
          </a:solidFill>
          <a:ln/>
        </p:spPr>
        <p:txBody>
          <a:bodyPr/>
          <a:p/>
        </p:txBody>
      </p:sp>
      <p:sp>
        <p:nvSpPr>
          <p:cNvPr id="40" name="Text 38"/>
          <p:cNvSpPr txBox="1"/>
          <p:nvPr/>
        </p:nvSpPr>
        <p:spPr>
          <a:xfrm>
            <a:off x="403021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41" name="Shape 39"/>
          <p:cNvSpPr/>
          <p:nvPr/>
        </p:nvSpPr>
        <p:spPr>
          <a:xfrm>
            <a:off x="4030218" y="2203704"/>
            <a:ext cx="813054" cy="365760"/>
          </a:xfrm>
          <a:prstGeom prst="roundRect">
            <a:avLst>
              <a:gd name="adj" fmla="val 12500"/>
            </a:avLst>
          </a:prstGeom>
          <a:solidFill>
            <a:srgbClr val="02C39A"/>
          </a:solidFill>
          <a:ln/>
        </p:spPr>
        <p:txBody>
          <a:bodyPr/>
          <a:p/>
        </p:txBody>
      </p:sp>
      <p:sp>
        <p:nvSpPr>
          <p:cNvPr id="42" name="Text 40"/>
          <p:cNvSpPr txBox="1"/>
          <p:nvPr/>
        </p:nvSpPr>
        <p:spPr>
          <a:xfrm>
            <a:off x="4030218" y="2203704"/>
            <a:ext cx="813054" cy="36576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43" name="Shape 41"/>
          <p:cNvSpPr/>
          <p:nvPr/>
        </p:nvSpPr>
        <p:spPr>
          <a:xfrm>
            <a:off x="4030218" y="2606040"/>
            <a:ext cx="813054" cy="365760"/>
          </a:xfrm>
          <a:prstGeom prst="roundRect">
            <a:avLst>
              <a:gd name="adj" fmla="val 12500"/>
            </a:avLst>
          </a:prstGeom>
          <a:solidFill>
            <a:srgbClr val="D7E9E6"/>
          </a:solidFill>
          <a:ln/>
        </p:spPr>
        <p:txBody>
          <a:bodyPr/>
          <a:p/>
        </p:txBody>
      </p:sp>
      <p:sp>
        <p:nvSpPr>
          <p:cNvPr id="44" name="Text 42"/>
          <p:cNvSpPr txBox="1"/>
          <p:nvPr/>
        </p:nvSpPr>
        <p:spPr>
          <a:xfrm>
            <a:off x="4030218" y="2606040"/>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5</a:t>
            </a:r>
            <a:endParaRPr lang="en-US" sz="1400" dirty="0"/>
          </a:p>
        </p:txBody>
      </p:sp>
      <p:sp>
        <p:nvSpPr>
          <p:cNvPr id="45" name="Shape 43"/>
          <p:cNvSpPr/>
          <p:nvPr/>
        </p:nvSpPr>
        <p:spPr>
          <a:xfrm>
            <a:off x="4030218" y="3008376"/>
            <a:ext cx="813054" cy="365760"/>
          </a:xfrm>
          <a:prstGeom prst="roundRect">
            <a:avLst>
              <a:gd name="adj" fmla="val 12500"/>
            </a:avLst>
          </a:prstGeom>
          <a:solidFill>
            <a:srgbClr val="D7E9E6"/>
          </a:solidFill>
          <a:ln/>
        </p:spPr>
        <p:txBody>
          <a:bodyPr/>
          <a:p/>
        </p:txBody>
      </p:sp>
      <p:sp>
        <p:nvSpPr>
          <p:cNvPr id="46" name="Text 44"/>
          <p:cNvSpPr txBox="1"/>
          <p:nvPr/>
        </p:nvSpPr>
        <p:spPr>
          <a:xfrm>
            <a:off x="4030218" y="3008376"/>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47" name="Text 45"/>
          <p:cNvSpPr txBox="1"/>
          <p:nvPr/>
        </p:nvSpPr>
        <p:spPr>
          <a:xfrm>
            <a:off x="4011930" y="3392424"/>
            <a:ext cx="849630" cy="402336"/>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48" name="Shape 46"/>
          <p:cNvSpPr/>
          <p:nvPr/>
        </p:nvSpPr>
        <p:spPr>
          <a:xfrm>
            <a:off x="4879848" y="1801368"/>
            <a:ext cx="813054" cy="365760"/>
          </a:xfrm>
          <a:prstGeom prst="roundRect">
            <a:avLst>
              <a:gd name="adj" fmla="val 12500"/>
            </a:avLst>
          </a:prstGeom>
          <a:solidFill>
            <a:srgbClr val="36454F"/>
          </a:solidFill>
          <a:ln/>
        </p:spPr>
        <p:txBody>
          <a:bodyPr/>
          <a:p/>
        </p:txBody>
      </p:sp>
      <p:sp>
        <p:nvSpPr>
          <p:cNvPr id="49" name="Text 47"/>
          <p:cNvSpPr txBox="1"/>
          <p:nvPr/>
        </p:nvSpPr>
        <p:spPr>
          <a:xfrm>
            <a:off x="487984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50" name="Shape 48"/>
          <p:cNvSpPr/>
          <p:nvPr/>
        </p:nvSpPr>
        <p:spPr>
          <a:xfrm>
            <a:off x="4879848" y="2203704"/>
            <a:ext cx="813054" cy="365760"/>
          </a:xfrm>
          <a:prstGeom prst="roundRect">
            <a:avLst>
              <a:gd name="adj" fmla="val 12500"/>
            </a:avLst>
          </a:prstGeom>
          <a:solidFill>
            <a:srgbClr val="D7E9E6"/>
          </a:solidFill>
          <a:ln/>
        </p:spPr>
        <p:txBody>
          <a:bodyPr/>
          <a:p/>
        </p:txBody>
      </p:sp>
      <p:sp>
        <p:nvSpPr>
          <p:cNvPr id="51" name="Text 49"/>
          <p:cNvSpPr txBox="1"/>
          <p:nvPr/>
        </p:nvSpPr>
        <p:spPr>
          <a:xfrm>
            <a:off x="4879848" y="2203704"/>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52" name="Shape 50"/>
          <p:cNvSpPr/>
          <p:nvPr/>
        </p:nvSpPr>
        <p:spPr>
          <a:xfrm>
            <a:off x="4879848" y="2606040"/>
            <a:ext cx="813054" cy="365760"/>
          </a:xfrm>
          <a:prstGeom prst="roundRect">
            <a:avLst>
              <a:gd name="adj" fmla="val 12500"/>
            </a:avLst>
          </a:prstGeom>
          <a:solidFill>
            <a:srgbClr val="02C39A"/>
          </a:solidFill>
          <a:ln/>
        </p:spPr>
        <p:txBody>
          <a:bodyPr/>
          <a:p/>
        </p:txBody>
      </p:sp>
      <p:sp>
        <p:nvSpPr>
          <p:cNvPr id="53" name="Text 51"/>
          <p:cNvSpPr txBox="1"/>
          <p:nvPr/>
        </p:nvSpPr>
        <p:spPr>
          <a:xfrm>
            <a:off x="4879848" y="2606040"/>
            <a:ext cx="813054" cy="36576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54" name="Shape 52"/>
          <p:cNvSpPr/>
          <p:nvPr/>
        </p:nvSpPr>
        <p:spPr>
          <a:xfrm>
            <a:off x="4879848" y="3008376"/>
            <a:ext cx="813054" cy="365760"/>
          </a:xfrm>
          <a:prstGeom prst="roundRect">
            <a:avLst>
              <a:gd name="adj" fmla="val 12500"/>
            </a:avLst>
          </a:prstGeom>
          <a:solidFill>
            <a:srgbClr val="D7E9E6"/>
          </a:solidFill>
          <a:ln/>
        </p:spPr>
        <p:txBody>
          <a:bodyPr/>
          <a:p/>
        </p:txBody>
      </p:sp>
      <p:sp>
        <p:nvSpPr>
          <p:cNvPr id="55" name="Text 53"/>
          <p:cNvSpPr txBox="1"/>
          <p:nvPr/>
        </p:nvSpPr>
        <p:spPr>
          <a:xfrm>
            <a:off x="4879848" y="3008376"/>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56" name="Text 54"/>
          <p:cNvSpPr txBox="1"/>
          <p:nvPr/>
        </p:nvSpPr>
        <p:spPr>
          <a:xfrm>
            <a:off x="4861560" y="3392424"/>
            <a:ext cx="849630" cy="402336"/>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57" name="Shape 55"/>
          <p:cNvSpPr/>
          <p:nvPr/>
        </p:nvSpPr>
        <p:spPr>
          <a:xfrm>
            <a:off x="5729478" y="1801368"/>
            <a:ext cx="813054" cy="365760"/>
          </a:xfrm>
          <a:prstGeom prst="roundRect">
            <a:avLst>
              <a:gd name="adj" fmla="val 12500"/>
            </a:avLst>
          </a:prstGeom>
          <a:solidFill>
            <a:srgbClr val="36454F"/>
          </a:solidFill>
          <a:ln/>
        </p:spPr>
        <p:txBody>
          <a:bodyPr/>
          <a:p/>
        </p:txBody>
      </p:sp>
      <p:sp>
        <p:nvSpPr>
          <p:cNvPr id="58" name="Text 56"/>
          <p:cNvSpPr txBox="1"/>
          <p:nvPr/>
        </p:nvSpPr>
        <p:spPr>
          <a:xfrm>
            <a:off x="572947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9" name="Shape 57"/>
          <p:cNvSpPr/>
          <p:nvPr/>
        </p:nvSpPr>
        <p:spPr>
          <a:xfrm>
            <a:off x="5729478" y="2203704"/>
            <a:ext cx="813054" cy="365760"/>
          </a:xfrm>
          <a:prstGeom prst="roundRect">
            <a:avLst>
              <a:gd name="adj" fmla="val 12500"/>
            </a:avLst>
          </a:prstGeom>
          <a:solidFill>
            <a:srgbClr val="F2F2F2"/>
          </a:solidFill>
          <a:ln/>
        </p:spPr>
        <p:txBody>
          <a:bodyPr/>
          <a:p/>
        </p:txBody>
      </p:sp>
      <p:sp>
        <p:nvSpPr>
          <p:cNvPr id="60" name="Text 58"/>
          <p:cNvSpPr txBox="1"/>
          <p:nvPr/>
        </p:nvSpPr>
        <p:spPr>
          <a:xfrm>
            <a:off x="5729478" y="2203704"/>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61" name="Shape 59"/>
          <p:cNvSpPr/>
          <p:nvPr/>
        </p:nvSpPr>
        <p:spPr>
          <a:xfrm>
            <a:off x="5729478" y="2606040"/>
            <a:ext cx="813054" cy="365760"/>
          </a:xfrm>
          <a:prstGeom prst="roundRect">
            <a:avLst>
              <a:gd name="adj" fmla="val 12500"/>
            </a:avLst>
          </a:prstGeom>
          <a:solidFill>
            <a:srgbClr val="F2F2F2"/>
          </a:solidFill>
          <a:ln/>
        </p:spPr>
        <p:txBody>
          <a:bodyPr/>
          <a:p/>
        </p:txBody>
      </p:sp>
      <p:sp>
        <p:nvSpPr>
          <p:cNvPr id="62" name="Text 60"/>
          <p:cNvSpPr txBox="1"/>
          <p:nvPr/>
        </p:nvSpPr>
        <p:spPr>
          <a:xfrm>
            <a:off x="5729478" y="2606040"/>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63" name="Shape 61"/>
          <p:cNvSpPr/>
          <p:nvPr/>
        </p:nvSpPr>
        <p:spPr>
          <a:xfrm>
            <a:off x="5729478" y="3008376"/>
            <a:ext cx="813054" cy="365760"/>
          </a:xfrm>
          <a:prstGeom prst="roundRect">
            <a:avLst>
              <a:gd name="adj" fmla="val 12500"/>
            </a:avLst>
          </a:prstGeom>
          <a:solidFill>
            <a:srgbClr val="F2F2F2"/>
          </a:solidFill>
          <a:ln/>
        </p:spPr>
        <p:txBody>
          <a:bodyPr/>
          <a:p/>
        </p:txBody>
      </p:sp>
      <p:sp>
        <p:nvSpPr>
          <p:cNvPr id="64" name="Text 62"/>
          <p:cNvSpPr txBox="1"/>
          <p:nvPr/>
        </p:nvSpPr>
        <p:spPr>
          <a:xfrm>
            <a:off x="5729478" y="3008376"/>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65" name="Text 63"/>
          <p:cNvSpPr txBox="1"/>
          <p:nvPr/>
        </p:nvSpPr>
        <p:spPr>
          <a:xfrm>
            <a:off x="5711190" y="3392424"/>
            <a:ext cx="849630" cy="402336"/>
          </a:xfrm>
          <a:prstGeom prst="rect">
            <a:avLst/>
          </a:prstGeom>
          <a:noFill/>
          <a:ln/>
        </p:spPr>
        <p:txBody>
          <a:bodyPr wrap="square" lIns="0" tIns="0" rIns="0" bIns="0" rtlCol="0" anchor="ctr"/>
          <a:lstStyle/>
          <a:p>
            <a:pPr algn="ctr" indent="0" marL="0">
              <a:buNone/>
            </a:pPr>
            <a:endParaRPr lang="en-US" sz="1400" dirty="0"/>
          </a:p>
        </p:txBody>
      </p:sp>
      <p:sp>
        <p:nvSpPr>
          <p:cNvPr id="66" name="Shape 64"/>
          <p:cNvSpPr/>
          <p:nvPr/>
        </p:nvSpPr>
        <p:spPr>
          <a:xfrm>
            <a:off x="6579108" y="1801368"/>
            <a:ext cx="813054" cy="365760"/>
          </a:xfrm>
          <a:prstGeom prst="roundRect">
            <a:avLst>
              <a:gd name="adj" fmla="val 12500"/>
            </a:avLst>
          </a:prstGeom>
          <a:solidFill>
            <a:srgbClr val="36454F"/>
          </a:solidFill>
          <a:ln/>
        </p:spPr>
        <p:txBody>
          <a:bodyPr/>
          <a:p/>
        </p:txBody>
      </p:sp>
      <p:sp>
        <p:nvSpPr>
          <p:cNvPr id="67" name="Text 65"/>
          <p:cNvSpPr txBox="1"/>
          <p:nvPr/>
        </p:nvSpPr>
        <p:spPr>
          <a:xfrm>
            <a:off x="657910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68" name="Shape 66"/>
          <p:cNvSpPr/>
          <p:nvPr/>
        </p:nvSpPr>
        <p:spPr>
          <a:xfrm>
            <a:off x="6579108" y="2203704"/>
            <a:ext cx="813054" cy="365760"/>
          </a:xfrm>
          <a:prstGeom prst="roundRect">
            <a:avLst>
              <a:gd name="adj" fmla="val 12500"/>
            </a:avLst>
          </a:prstGeom>
          <a:solidFill>
            <a:srgbClr val="F2F2F2"/>
          </a:solidFill>
          <a:ln/>
        </p:spPr>
        <p:txBody>
          <a:bodyPr/>
          <a:p/>
        </p:txBody>
      </p:sp>
      <p:sp>
        <p:nvSpPr>
          <p:cNvPr id="69" name="Text 67"/>
          <p:cNvSpPr txBox="1"/>
          <p:nvPr/>
        </p:nvSpPr>
        <p:spPr>
          <a:xfrm>
            <a:off x="6579108" y="2203704"/>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70" name="Shape 68"/>
          <p:cNvSpPr/>
          <p:nvPr/>
        </p:nvSpPr>
        <p:spPr>
          <a:xfrm>
            <a:off x="6579108" y="2606040"/>
            <a:ext cx="813054" cy="365760"/>
          </a:xfrm>
          <a:prstGeom prst="roundRect">
            <a:avLst>
              <a:gd name="adj" fmla="val 12500"/>
            </a:avLst>
          </a:prstGeom>
          <a:solidFill>
            <a:srgbClr val="F2F2F2"/>
          </a:solidFill>
          <a:ln/>
        </p:spPr>
        <p:txBody>
          <a:bodyPr/>
          <a:p/>
        </p:txBody>
      </p:sp>
      <p:sp>
        <p:nvSpPr>
          <p:cNvPr id="71" name="Text 69"/>
          <p:cNvSpPr txBox="1"/>
          <p:nvPr/>
        </p:nvSpPr>
        <p:spPr>
          <a:xfrm>
            <a:off x="6579108" y="2606040"/>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72" name="Shape 70"/>
          <p:cNvSpPr/>
          <p:nvPr/>
        </p:nvSpPr>
        <p:spPr>
          <a:xfrm>
            <a:off x="6579108" y="3008376"/>
            <a:ext cx="813054" cy="365760"/>
          </a:xfrm>
          <a:prstGeom prst="roundRect">
            <a:avLst>
              <a:gd name="adj" fmla="val 12500"/>
            </a:avLst>
          </a:prstGeom>
          <a:solidFill>
            <a:srgbClr val="F2F2F2"/>
          </a:solidFill>
          <a:ln/>
        </p:spPr>
        <p:txBody>
          <a:bodyPr/>
          <a:p/>
        </p:txBody>
      </p:sp>
      <p:sp>
        <p:nvSpPr>
          <p:cNvPr id="73" name="Text 71"/>
          <p:cNvSpPr txBox="1"/>
          <p:nvPr/>
        </p:nvSpPr>
        <p:spPr>
          <a:xfrm>
            <a:off x="6579108" y="3008376"/>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74" name="Text 72"/>
          <p:cNvSpPr txBox="1"/>
          <p:nvPr/>
        </p:nvSpPr>
        <p:spPr>
          <a:xfrm>
            <a:off x="6560820" y="3392424"/>
            <a:ext cx="849630" cy="402336"/>
          </a:xfrm>
          <a:prstGeom prst="rect">
            <a:avLst/>
          </a:prstGeom>
          <a:noFill/>
          <a:ln/>
        </p:spPr>
        <p:txBody>
          <a:bodyPr wrap="square" lIns="0" tIns="0" rIns="0" bIns="0" rtlCol="0" anchor="ctr"/>
          <a:lstStyle/>
          <a:p>
            <a:pPr algn="ctr" indent="0" marL="0">
              <a:buNone/>
            </a:pPr>
            <a:endParaRPr lang="en-US" sz="1400" dirty="0"/>
          </a:p>
        </p:txBody>
      </p:sp>
      <p:sp>
        <p:nvSpPr>
          <p:cNvPr id="75" name="Shape 73"/>
          <p:cNvSpPr/>
          <p:nvPr/>
        </p:nvSpPr>
        <p:spPr>
          <a:xfrm>
            <a:off x="7428738" y="1801368"/>
            <a:ext cx="813054" cy="365760"/>
          </a:xfrm>
          <a:prstGeom prst="roundRect">
            <a:avLst>
              <a:gd name="adj" fmla="val 12500"/>
            </a:avLst>
          </a:prstGeom>
          <a:solidFill>
            <a:srgbClr val="36454F"/>
          </a:solidFill>
          <a:ln/>
        </p:spPr>
        <p:txBody>
          <a:bodyPr/>
          <a:p/>
        </p:txBody>
      </p:sp>
      <p:sp>
        <p:nvSpPr>
          <p:cNvPr id="76" name="Text 74"/>
          <p:cNvSpPr txBox="1"/>
          <p:nvPr/>
        </p:nvSpPr>
        <p:spPr>
          <a:xfrm>
            <a:off x="742873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77" name="Shape 75"/>
          <p:cNvSpPr/>
          <p:nvPr/>
        </p:nvSpPr>
        <p:spPr>
          <a:xfrm>
            <a:off x="7428738" y="2203704"/>
            <a:ext cx="813054" cy="365760"/>
          </a:xfrm>
          <a:prstGeom prst="roundRect">
            <a:avLst>
              <a:gd name="adj" fmla="val 12500"/>
            </a:avLst>
          </a:prstGeom>
          <a:solidFill>
            <a:srgbClr val="F2F2F2"/>
          </a:solidFill>
          <a:ln/>
        </p:spPr>
        <p:txBody>
          <a:bodyPr/>
          <a:p/>
        </p:txBody>
      </p:sp>
      <p:sp>
        <p:nvSpPr>
          <p:cNvPr id="78" name="Text 76"/>
          <p:cNvSpPr txBox="1"/>
          <p:nvPr/>
        </p:nvSpPr>
        <p:spPr>
          <a:xfrm>
            <a:off x="7428738" y="2203704"/>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79" name="Shape 77"/>
          <p:cNvSpPr/>
          <p:nvPr/>
        </p:nvSpPr>
        <p:spPr>
          <a:xfrm>
            <a:off x="7428738" y="2606040"/>
            <a:ext cx="813054" cy="365760"/>
          </a:xfrm>
          <a:prstGeom prst="roundRect">
            <a:avLst>
              <a:gd name="adj" fmla="val 12500"/>
            </a:avLst>
          </a:prstGeom>
          <a:solidFill>
            <a:srgbClr val="F2F2F2"/>
          </a:solidFill>
          <a:ln/>
        </p:spPr>
        <p:txBody>
          <a:bodyPr/>
          <a:p/>
        </p:txBody>
      </p:sp>
      <p:sp>
        <p:nvSpPr>
          <p:cNvPr id="80" name="Text 78"/>
          <p:cNvSpPr txBox="1"/>
          <p:nvPr/>
        </p:nvSpPr>
        <p:spPr>
          <a:xfrm>
            <a:off x="7428738" y="2606040"/>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81" name="Shape 79"/>
          <p:cNvSpPr/>
          <p:nvPr/>
        </p:nvSpPr>
        <p:spPr>
          <a:xfrm>
            <a:off x="7428738" y="3008376"/>
            <a:ext cx="813054" cy="365760"/>
          </a:xfrm>
          <a:prstGeom prst="roundRect">
            <a:avLst>
              <a:gd name="adj" fmla="val 12500"/>
            </a:avLst>
          </a:prstGeom>
          <a:solidFill>
            <a:srgbClr val="F2F2F2"/>
          </a:solidFill>
          <a:ln/>
        </p:spPr>
        <p:txBody>
          <a:bodyPr/>
          <a:p/>
        </p:txBody>
      </p:sp>
      <p:sp>
        <p:nvSpPr>
          <p:cNvPr id="82" name="Text 80"/>
          <p:cNvSpPr txBox="1"/>
          <p:nvPr/>
        </p:nvSpPr>
        <p:spPr>
          <a:xfrm>
            <a:off x="7428738" y="3008376"/>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83" name="Text 81"/>
          <p:cNvSpPr txBox="1"/>
          <p:nvPr/>
        </p:nvSpPr>
        <p:spPr>
          <a:xfrm>
            <a:off x="7410450" y="3392424"/>
            <a:ext cx="849630" cy="402336"/>
          </a:xfrm>
          <a:prstGeom prst="rect">
            <a:avLst/>
          </a:prstGeom>
          <a:noFill/>
          <a:ln/>
        </p:spPr>
        <p:txBody>
          <a:bodyPr wrap="square" lIns="0" tIns="0" rIns="0" bIns="0" rtlCol="0" anchor="ctr"/>
          <a:lstStyle/>
          <a:p>
            <a:pPr algn="ctr" indent="0" marL="0">
              <a:buNone/>
            </a:pPr>
            <a:endParaRPr lang="en-US" sz="1400" dirty="0"/>
          </a:p>
        </p:txBody>
      </p:sp>
      <p:sp>
        <p:nvSpPr>
          <p:cNvPr id="84" name="Shape 82"/>
          <p:cNvSpPr/>
          <p:nvPr/>
        </p:nvSpPr>
        <p:spPr>
          <a:xfrm>
            <a:off x="8278368" y="1801368"/>
            <a:ext cx="813054" cy="365760"/>
          </a:xfrm>
          <a:prstGeom prst="roundRect">
            <a:avLst>
              <a:gd name="adj" fmla="val 12500"/>
            </a:avLst>
          </a:prstGeom>
          <a:solidFill>
            <a:srgbClr val="36454F"/>
          </a:solidFill>
          <a:ln/>
        </p:spPr>
        <p:txBody>
          <a:bodyPr/>
          <a:p/>
        </p:txBody>
      </p:sp>
      <p:sp>
        <p:nvSpPr>
          <p:cNvPr id="85" name="Text 83"/>
          <p:cNvSpPr txBox="1"/>
          <p:nvPr/>
        </p:nvSpPr>
        <p:spPr>
          <a:xfrm>
            <a:off x="827836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6" name="Shape 84"/>
          <p:cNvSpPr/>
          <p:nvPr/>
        </p:nvSpPr>
        <p:spPr>
          <a:xfrm>
            <a:off x="8278368" y="2203704"/>
            <a:ext cx="813054" cy="365760"/>
          </a:xfrm>
          <a:prstGeom prst="roundRect">
            <a:avLst>
              <a:gd name="adj" fmla="val 12500"/>
            </a:avLst>
          </a:prstGeom>
          <a:solidFill>
            <a:srgbClr val="F2F2F2"/>
          </a:solidFill>
          <a:ln/>
        </p:spPr>
        <p:txBody>
          <a:bodyPr/>
          <a:p/>
        </p:txBody>
      </p:sp>
      <p:sp>
        <p:nvSpPr>
          <p:cNvPr id="87" name="Text 85"/>
          <p:cNvSpPr txBox="1"/>
          <p:nvPr/>
        </p:nvSpPr>
        <p:spPr>
          <a:xfrm>
            <a:off x="8278368" y="2203704"/>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88" name="Shape 86"/>
          <p:cNvSpPr/>
          <p:nvPr/>
        </p:nvSpPr>
        <p:spPr>
          <a:xfrm>
            <a:off x="8278368" y="2606040"/>
            <a:ext cx="813054" cy="365760"/>
          </a:xfrm>
          <a:prstGeom prst="roundRect">
            <a:avLst>
              <a:gd name="adj" fmla="val 12500"/>
            </a:avLst>
          </a:prstGeom>
          <a:solidFill>
            <a:srgbClr val="F2F2F2"/>
          </a:solidFill>
          <a:ln/>
        </p:spPr>
        <p:txBody>
          <a:bodyPr/>
          <a:p/>
        </p:txBody>
      </p:sp>
      <p:sp>
        <p:nvSpPr>
          <p:cNvPr id="89" name="Text 87"/>
          <p:cNvSpPr txBox="1"/>
          <p:nvPr/>
        </p:nvSpPr>
        <p:spPr>
          <a:xfrm>
            <a:off x="8278368" y="2606040"/>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90" name="Shape 88"/>
          <p:cNvSpPr/>
          <p:nvPr/>
        </p:nvSpPr>
        <p:spPr>
          <a:xfrm>
            <a:off x="8278368" y="3008376"/>
            <a:ext cx="813054" cy="365760"/>
          </a:xfrm>
          <a:prstGeom prst="roundRect">
            <a:avLst>
              <a:gd name="adj" fmla="val 12500"/>
            </a:avLst>
          </a:prstGeom>
          <a:solidFill>
            <a:srgbClr val="F2F2F2"/>
          </a:solidFill>
          <a:ln/>
        </p:spPr>
        <p:txBody>
          <a:bodyPr/>
          <a:p/>
        </p:txBody>
      </p:sp>
      <p:sp>
        <p:nvSpPr>
          <p:cNvPr id="91" name="Text 89"/>
          <p:cNvSpPr txBox="1"/>
          <p:nvPr/>
        </p:nvSpPr>
        <p:spPr>
          <a:xfrm>
            <a:off x="8278368" y="3008376"/>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92" name="Text 90"/>
          <p:cNvSpPr txBox="1"/>
          <p:nvPr/>
        </p:nvSpPr>
        <p:spPr>
          <a:xfrm>
            <a:off x="8260080" y="3392424"/>
            <a:ext cx="849630" cy="402336"/>
          </a:xfrm>
          <a:prstGeom prst="rect">
            <a:avLst/>
          </a:prstGeom>
          <a:noFill/>
          <a:ln/>
        </p:spPr>
        <p:txBody>
          <a:bodyPr wrap="square" lIns="0" tIns="0" rIns="0" bIns="0" rtlCol="0" anchor="ctr"/>
          <a:lstStyle/>
          <a:p>
            <a:pPr algn="ctr" indent="0" marL="0">
              <a:buNone/>
            </a:pPr>
            <a:endParaRPr lang="en-US" sz="1400" dirty="0"/>
          </a:p>
        </p:txBody>
      </p:sp>
      <p:sp>
        <p:nvSpPr>
          <p:cNvPr id="93" name="Shape 91"/>
          <p:cNvSpPr/>
          <p:nvPr/>
        </p:nvSpPr>
        <p:spPr>
          <a:xfrm>
            <a:off x="9127998" y="1801368"/>
            <a:ext cx="813054" cy="365760"/>
          </a:xfrm>
          <a:prstGeom prst="roundRect">
            <a:avLst>
              <a:gd name="adj" fmla="val 12500"/>
            </a:avLst>
          </a:prstGeom>
          <a:solidFill>
            <a:srgbClr val="36454F"/>
          </a:solidFill>
          <a:ln/>
        </p:spPr>
        <p:txBody>
          <a:bodyPr/>
          <a:p/>
        </p:txBody>
      </p:sp>
      <p:sp>
        <p:nvSpPr>
          <p:cNvPr id="94" name="Text 92"/>
          <p:cNvSpPr txBox="1"/>
          <p:nvPr/>
        </p:nvSpPr>
        <p:spPr>
          <a:xfrm>
            <a:off x="912799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95" name="Shape 93"/>
          <p:cNvSpPr/>
          <p:nvPr/>
        </p:nvSpPr>
        <p:spPr>
          <a:xfrm>
            <a:off x="9127998" y="2203704"/>
            <a:ext cx="813054" cy="365760"/>
          </a:xfrm>
          <a:prstGeom prst="roundRect">
            <a:avLst>
              <a:gd name="adj" fmla="val 12500"/>
            </a:avLst>
          </a:prstGeom>
          <a:solidFill>
            <a:srgbClr val="02C39A"/>
          </a:solidFill>
          <a:ln/>
        </p:spPr>
        <p:txBody>
          <a:bodyPr/>
          <a:p/>
        </p:txBody>
      </p:sp>
      <p:sp>
        <p:nvSpPr>
          <p:cNvPr id="96" name="Text 94"/>
          <p:cNvSpPr txBox="1"/>
          <p:nvPr/>
        </p:nvSpPr>
        <p:spPr>
          <a:xfrm>
            <a:off x="9127998" y="2203704"/>
            <a:ext cx="813054" cy="36576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97" name="Shape 95"/>
          <p:cNvSpPr/>
          <p:nvPr/>
        </p:nvSpPr>
        <p:spPr>
          <a:xfrm>
            <a:off x="9127998" y="2606040"/>
            <a:ext cx="813054" cy="365760"/>
          </a:xfrm>
          <a:prstGeom prst="roundRect">
            <a:avLst>
              <a:gd name="adj" fmla="val 12500"/>
            </a:avLst>
          </a:prstGeom>
          <a:solidFill>
            <a:srgbClr val="D7E9E6"/>
          </a:solidFill>
          <a:ln/>
        </p:spPr>
        <p:txBody>
          <a:bodyPr/>
          <a:p/>
        </p:txBody>
      </p:sp>
      <p:sp>
        <p:nvSpPr>
          <p:cNvPr id="98" name="Text 96"/>
          <p:cNvSpPr txBox="1"/>
          <p:nvPr/>
        </p:nvSpPr>
        <p:spPr>
          <a:xfrm>
            <a:off x="9127998" y="2606040"/>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99" name="Shape 97"/>
          <p:cNvSpPr/>
          <p:nvPr/>
        </p:nvSpPr>
        <p:spPr>
          <a:xfrm>
            <a:off x="9127998" y="3008376"/>
            <a:ext cx="813054" cy="365760"/>
          </a:xfrm>
          <a:prstGeom prst="roundRect">
            <a:avLst>
              <a:gd name="adj" fmla="val 12500"/>
            </a:avLst>
          </a:prstGeom>
          <a:solidFill>
            <a:srgbClr val="D7E9E6"/>
          </a:solidFill>
          <a:ln/>
        </p:spPr>
        <p:txBody>
          <a:bodyPr/>
          <a:p/>
        </p:txBody>
      </p:sp>
      <p:sp>
        <p:nvSpPr>
          <p:cNvPr id="100" name="Text 98"/>
          <p:cNvSpPr txBox="1"/>
          <p:nvPr/>
        </p:nvSpPr>
        <p:spPr>
          <a:xfrm>
            <a:off x="9127998" y="3008376"/>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101" name="Text 99"/>
          <p:cNvSpPr txBox="1"/>
          <p:nvPr/>
        </p:nvSpPr>
        <p:spPr>
          <a:xfrm>
            <a:off x="9109710" y="3392424"/>
            <a:ext cx="849630" cy="402336"/>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02" name="Shape 100"/>
          <p:cNvSpPr/>
          <p:nvPr/>
        </p:nvSpPr>
        <p:spPr>
          <a:xfrm>
            <a:off x="9977628" y="1801368"/>
            <a:ext cx="813054" cy="365760"/>
          </a:xfrm>
          <a:prstGeom prst="roundRect">
            <a:avLst>
              <a:gd name="adj" fmla="val 12500"/>
            </a:avLst>
          </a:prstGeom>
          <a:solidFill>
            <a:srgbClr val="36454F"/>
          </a:solidFill>
          <a:ln/>
        </p:spPr>
        <p:txBody>
          <a:bodyPr/>
          <a:p/>
        </p:txBody>
      </p:sp>
      <p:sp>
        <p:nvSpPr>
          <p:cNvPr id="103" name="Text 101"/>
          <p:cNvSpPr txBox="1"/>
          <p:nvPr/>
        </p:nvSpPr>
        <p:spPr>
          <a:xfrm>
            <a:off x="997762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4" name="Shape 102"/>
          <p:cNvSpPr/>
          <p:nvPr/>
        </p:nvSpPr>
        <p:spPr>
          <a:xfrm>
            <a:off x="9977628" y="2203704"/>
            <a:ext cx="813054" cy="365760"/>
          </a:xfrm>
          <a:prstGeom prst="roundRect">
            <a:avLst>
              <a:gd name="adj" fmla="val 12500"/>
            </a:avLst>
          </a:prstGeom>
          <a:solidFill>
            <a:srgbClr val="F2F2F2"/>
          </a:solidFill>
          <a:ln/>
        </p:spPr>
        <p:txBody>
          <a:bodyPr/>
          <a:p/>
        </p:txBody>
      </p:sp>
      <p:sp>
        <p:nvSpPr>
          <p:cNvPr id="105" name="Text 103"/>
          <p:cNvSpPr txBox="1"/>
          <p:nvPr/>
        </p:nvSpPr>
        <p:spPr>
          <a:xfrm>
            <a:off x="9977628" y="2203704"/>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4</a:t>
            </a:r>
            <a:endParaRPr lang="en-US" sz="1400" dirty="0"/>
          </a:p>
        </p:txBody>
      </p:sp>
      <p:sp>
        <p:nvSpPr>
          <p:cNvPr id="106" name="Shape 104"/>
          <p:cNvSpPr/>
          <p:nvPr/>
        </p:nvSpPr>
        <p:spPr>
          <a:xfrm>
            <a:off x="9977628" y="2606040"/>
            <a:ext cx="813054" cy="365760"/>
          </a:xfrm>
          <a:prstGeom prst="roundRect">
            <a:avLst>
              <a:gd name="adj" fmla="val 12500"/>
            </a:avLst>
          </a:prstGeom>
          <a:solidFill>
            <a:srgbClr val="F2F2F2"/>
          </a:solidFill>
          <a:ln/>
        </p:spPr>
        <p:txBody>
          <a:bodyPr/>
          <a:p/>
        </p:txBody>
      </p:sp>
      <p:sp>
        <p:nvSpPr>
          <p:cNvPr id="107" name="Text 105"/>
          <p:cNvSpPr txBox="1"/>
          <p:nvPr/>
        </p:nvSpPr>
        <p:spPr>
          <a:xfrm>
            <a:off x="9977628" y="2606040"/>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108" name="Shape 106"/>
          <p:cNvSpPr/>
          <p:nvPr/>
        </p:nvSpPr>
        <p:spPr>
          <a:xfrm>
            <a:off x="9977628" y="3008376"/>
            <a:ext cx="813054" cy="365760"/>
          </a:xfrm>
          <a:prstGeom prst="roundRect">
            <a:avLst>
              <a:gd name="adj" fmla="val 12500"/>
            </a:avLst>
          </a:prstGeom>
          <a:solidFill>
            <a:srgbClr val="F2F2F2"/>
          </a:solidFill>
          <a:ln/>
        </p:spPr>
        <p:txBody>
          <a:bodyPr/>
          <a:p/>
        </p:txBody>
      </p:sp>
      <p:sp>
        <p:nvSpPr>
          <p:cNvPr id="109" name="Text 107"/>
          <p:cNvSpPr txBox="1"/>
          <p:nvPr/>
        </p:nvSpPr>
        <p:spPr>
          <a:xfrm>
            <a:off x="9977628" y="3008376"/>
            <a:ext cx="813054" cy="365760"/>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10" name="Text 108"/>
          <p:cNvSpPr txBox="1"/>
          <p:nvPr/>
        </p:nvSpPr>
        <p:spPr>
          <a:xfrm>
            <a:off x="9959340" y="3392424"/>
            <a:ext cx="849630" cy="402336"/>
          </a:xfrm>
          <a:prstGeom prst="rect">
            <a:avLst/>
          </a:prstGeom>
          <a:noFill/>
          <a:ln/>
        </p:spPr>
        <p:txBody>
          <a:bodyPr wrap="square" lIns="0" tIns="0" rIns="0" bIns="0" rtlCol="0" anchor="ctr"/>
          <a:lstStyle/>
          <a:p>
            <a:pPr algn="ctr" indent="0" marL="0">
              <a:buNone/>
            </a:pPr>
            <a:endParaRPr lang="en-US" sz="1400" dirty="0"/>
          </a:p>
        </p:txBody>
      </p:sp>
      <p:sp>
        <p:nvSpPr>
          <p:cNvPr id="111" name="Shape 109"/>
          <p:cNvSpPr/>
          <p:nvPr/>
        </p:nvSpPr>
        <p:spPr>
          <a:xfrm>
            <a:off x="10827258" y="1801368"/>
            <a:ext cx="813054" cy="365760"/>
          </a:xfrm>
          <a:prstGeom prst="roundRect">
            <a:avLst>
              <a:gd name="adj" fmla="val 12500"/>
            </a:avLst>
          </a:prstGeom>
          <a:solidFill>
            <a:srgbClr val="36454F"/>
          </a:solidFill>
          <a:ln/>
        </p:spPr>
        <p:txBody>
          <a:bodyPr/>
          <a:p/>
        </p:txBody>
      </p:sp>
      <p:sp>
        <p:nvSpPr>
          <p:cNvPr id="112" name="Text 110"/>
          <p:cNvSpPr txBox="1"/>
          <p:nvPr/>
        </p:nvSpPr>
        <p:spPr>
          <a:xfrm>
            <a:off x="10827258" y="1801368"/>
            <a:ext cx="813054" cy="36576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13" name="Shape 111"/>
          <p:cNvSpPr/>
          <p:nvPr/>
        </p:nvSpPr>
        <p:spPr>
          <a:xfrm>
            <a:off x="10827258" y="2203704"/>
            <a:ext cx="813054" cy="365760"/>
          </a:xfrm>
          <a:prstGeom prst="roundRect">
            <a:avLst>
              <a:gd name="adj" fmla="val 12500"/>
            </a:avLst>
          </a:prstGeom>
          <a:solidFill>
            <a:srgbClr val="D7E9E6"/>
          </a:solidFill>
          <a:ln/>
        </p:spPr>
        <p:txBody>
          <a:bodyPr/>
          <a:p/>
        </p:txBody>
      </p:sp>
      <p:sp>
        <p:nvSpPr>
          <p:cNvPr id="114" name="Text 112"/>
          <p:cNvSpPr txBox="1"/>
          <p:nvPr/>
        </p:nvSpPr>
        <p:spPr>
          <a:xfrm>
            <a:off x="10827258" y="2203704"/>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4</a:t>
            </a:r>
            <a:endParaRPr lang="en-US" sz="1400" dirty="0"/>
          </a:p>
        </p:txBody>
      </p:sp>
      <p:sp>
        <p:nvSpPr>
          <p:cNvPr id="115" name="Shape 113"/>
          <p:cNvSpPr/>
          <p:nvPr/>
        </p:nvSpPr>
        <p:spPr>
          <a:xfrm>
            <a:off x="10827258" y="2606040"/>
            <a:ext cx="813054" cy="365760"/>
          </a:xfrm>
          <a:prstGeom prst="roundRect">
            <a:avLst>
              <a:gd name="adj" fmla="val 12500"/>
            </a:avLst>
          </a:prstGeom>
          <a:solidFill>
            <a:srgbClr val="02C39A"/>
          </a:solidFill>
          <a:ln/>
        </p:spPr>
        <p:txBody>
          <a:bodyPr/>
          <a:p/>
        </p:txBody>
      </p:sp>
      <p:sp>
        <p:nvSpPr>
          <p:cNvPr id="116" name="Text 114"/>
          <p:cNvSpPr txBox="1"/>
          <p:nvPr/>
        </p:nvSpPr>
        <p:spPr>
          <a:xfrm>
            <a:off x="10827258" y="2606040"/>
            <a:ext cx="813054" cy="36576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117" name="Shape 115"/>
          <p:cNvSpPr/>
          <p:nvPr/>
        </p:nvSpPr>
        <p:spPr>
          <a:xfrm>
            <a:off x="10827258" y="3008376"/>
            <a:ext cx="813054" cy="365760"/>
          </a:xfrm>
          <a:prstGeom prst="roundRect">
            <a:avLst>
              <a:gd name="adj" fmla="val 12500"/>
            </a:avLst>
          </a:prstGeom>
          <a:solidFill>
            <a:srgbClr val="D7E9E6"/>
          </a:solidFill>
          <a:ln/>
        </p:spPr>
        <p:txBody>
          <a:bodyPr/>
          <a:p/>
        </p:txBody>
      </p:sp>
      <p:sp>
        <p:nvSpPr>
          <p:cNvPr id="118" name="Text 116"/>
          <p:cNvSpPr txBox="1"/>
          <p:nvPr/>
        </p:nvSpPr>
        <p:spPr>
          <a:xfrm>
            <a:off x="10827258" y="3008376"/>
            <a:ext cx="813054" cy="365760"/>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119" name="Text 117"/>
          <p:cNvSpPr txBox="1"/>
          <p:nvPr/>
        </p:nvSpPr>
        <p:spPr>
          <a:xfrm>
            <a:off x="10808970" y="3392424"/>
            <a:ext cx="849630" cy="402336"/>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20" name="Shape 118"/>
          <p:cNvSpPr/>
          <p:nvPr/>
        </p:nvSpPr>
        <p:spPr>
          <a:xfrm>
            <a:off x="548640" y="4343400"/>
            <a:ext cx="2377440" cy="1920240"/>
          </a:xfrm>
          <a:prstGeom prst="roundRect">
            <a:avLst>
              <a:gd name="adj" fmla="val 2857"/>
            </a:avLst>
          </a:prstGeom>
          <a:solidFill>
            <a:srgbClr val="36454F"/>
          </a:solidFill>
          <a:ln/>
        </p:spPr>
        <p:txBody>
          <a:bodyPr/>
          <a:p/>
        </p:txBody>
      </p:sp>
      <p:sp>
        <p:nvSpPr>
          <p:cNvPr id="121" name="Text 119"/>
          <p:cNvSpPr txBox="1"/>
          <p:nvPr/>
        </p:nvSpPr>
        <p:spPr>
          <a:xfrm>
            <a:off x="685800" y="4343400"/>
            <a:ext cx="2103120" cy="1920240"/>
          </a:xfrm>
          <a:prstGeom prst="rect">
            <a:avLst/>
          </a:prstGeom>
          <a:noFill/>
          <a:ln/>
        </p:spPr>
        <p:txBody>
          <a:bodyPr wrap="square" lIns="0" tIns="0" rIns="0" bIns="0" rtlCol="0" anchor="ctr"/>
          <a:lstStyle/>
          <a:p>
            <a:pPr algn="ctr" indent="0" marL="0">
              <a:buNone/>
            </a:pPr>
            <a:r>
              <a:rPr lang="en-US" sz="3400" b="1" dirty="0">
                <a:solidFill>
                  <a:srgbClr val="02C39A"/>
                </a:solidFill>
                <a:latin typeface="Cambria" pitchFamily="34" charset="0"/>
                <a:ea typeface="Cambria" pitchFamily="34" charset="-122"/>
                <a:cs typeface="Cambria" pitchFamily="34" charset="-120"/>
              </a:rPr>
              <a:t>8</a:t>
            </a:r>
            <a:endParaRPr lang="en-US" sz="1400" dirty="0"/>
          </a:p>
          <a:p>
            <a:pPr algn="ctr" indent="0" marL="0">
              <a:buNone/>
            </a:pPr>
            <a:r>
              <a:rPr lang="en-US" sz="1300" dirty="0">
                <a:solidFill>
                  <a:srgbClr val="F2F2F2"/>
                </a:solidFill>
                <a:latin typeface="Calibri" pitchFamily="34" charset="0"/>
                <a:ea typeface="Calibri" pitchFamily="34" charset="-122"/>
                <a:cs typeface="Calibri" pitchFamily="34" charset="-120"/>
              </a:rPr>
              <a:t>faults with FIFO</a:t>
            </a:r>
            <a:endParaRPr lang="en-US" sz="1400" dirty="0"/>
          </a:p>
        </p:txBody>
      </p:sp>
      <p:sp>
        <p:nvSpPr>
          <p:cNvPr id="122" name="Shape 120"/>
          <p:cNvSpPr/>
          <p:nvPr/>
        </p:nvSpPr>
        <p:spPr>
          <a:xfrm>
            <a:off x="3108960" y="4343400"/>
            <a:ext cx="2377440" cy="1920240"/>
          </a:xfrm>
          <a:prstGeom prst="roundRect">
            <a:avLst>
              <a:gd name="adj" fmla="val 2857"/>
            </a:avLst>
          </a:prstGeom>
          <a:solidFill>
            <a:srgbClr val="36454F"/>
          </a:solidFill>
          <a:ln/>
        </p:spPr>
        <p:txBody>
          <a:bodyPr/>
          <a:p/>
        </p:txBody>
      </p:sp>
      <p:sp>
        <p:nvSpPr>
          <p:cNvPr id="123" name="Text 121"/>
          <p:cNvSpPr txBox="1"/>
          <p:nvPr/>
        </p:nvSpPr>
        <p:spPr>
          <a:xfrm>
            <a:off x="3246120" y="4343400"/>
            <a:ext cx="2103120" cy="1920240"/>
          </a:xfrm>
          <a:prstGeom prst="rect">
            <a:avLst/>
          </a:prstGeom>
          <a:noFill/>
          <a:ln/>
        </p:spPr>
        <p:txBody>
          <a:bodyPr wrap="square" lIns="0" tIns="0" rIns="0" bIns="0" rtlCol="0" anchor="ctr"/>
          <a:lstStyle/>
          <a:p>
            <a:pPr algn="ctr" indent="0" marL="0">
              <a:buNone/>
            </a:pPr>
            <a:r>
              <a:rPr lang="en-US" sz="3400" b="1" dirty="0">
                <a:solidFill>
                  <a:srgbClr val="02C39A"/>
                </a:solidFill>
                <a:latin typeface="Cambria" pitchFamily="34" charset="0"/>
                <a:ea typeface="Cambria" pitchFamily="34" charset="-122"/>
                <a:cs typeface="Cambria" pitchFamily="34" charset="-120"/>
              </a:rPr>
              <a:t>7</a:t>
            </a:r>
            <a:endParaRPr lang="en-US" sz="1400" dirty="0"/>
          </a:p>
          <a:p>
            <a:pPr algn="ctr" indent="0" marL="0">
              <a:buNone/>
            </a:pPr>
            <a:r>
              <a:rPr lang="en-US" sz="1300" dirty="0">
                <a:solidFill>
                  <a:srgbClr val="F2F2F2"/>
                </a:solidFill>
                <a:latin typeface="Calibri" pitchFamily="34" charset="0"/>
                <a:ea typeface="Calibri" pitchFamily="34" charset="-122"/>
                <a:cs typeface="Calibri" pitchFamily="34" charset="-120"/>
              </a:rPr>
              <a:t>faults with LRU</a:t>
            </a:r>
            <a:endParaRPr lang="en-US" sz="1400" dirty="0"/>
          </a:p>
        </p:txBody>
      </p:sp>
      <p:sp>
        <p:nvSpPr>
          <p:cNvPr id="124" name="Shape 122"/>
          <p:cNvSpPr/>
          <p:nvPr/>
        </p:nvSpPr>
        <p:spPr>
          <a:xfrm>
            <a:off x="5669280" y="4343400"/>
            <a:ext cx="2377440" cy="1920240"/>
          </a:xfrm>
          <a:prstGeom prst="roundRect">
            <a:avLst>
              <a:gd name="adj" fmla="val 2857"/>
            </a:avLst>
          </a:prstGeom>
          <a:solidFill>
            <a:srgbClr val="36454F"/>
          </a:solidFill>
          <a:ln/>
        </p:spPr>
        <p:txBody>
          <a:bodyPr/>
          <a:p/>
        </p:txBody>
      </p:sp>
      <p:sp>
        <p:nvSpPr>
          <p:cNvPr id="125" name="Text 123"/>
          <p:cNvSpPr txBox="1"/>
          <p:nvPr/>
        </p:nvSpPr>
        <p:spPr>
          <a:xfrm>
            <a:off x="5806440" y="4343400"/>
            <a:ext cx="2103120" cy="1920240"/>
          </a:xfrm>
          <a:prstGeom prst="rect">
            <a:avLst/>
          </a:prstGeom>
          <a:noFill/>
          <a:ln/>
        </p:spPr>
        <p:txBody>
          <a:bodyPr wrap="square" lIns="0" tIns="0" rIns="0" bIns="0" rtlCol="0" anchor="ctr"/>
          <a:lstStyle/>
          <a:p>
            <a:pPr algn="ctr" indent="0" marL="0">
              <a:buNone/>
            </a:pPr>
            <a:r>
              <a:rPr lang="en-US" sz="3400" b="1" dirty="0">
                <a:solidFill>
                  <a:srgbClr val="02C39A"/>
                </a:solidFill>
                <a:latin typeface="Cambria" pitchFamily="34" charset="0"/>
                <a:ea typeface="Cambria" pitchFamily="34" charset="-122"/>
                <a:cs typeface="Cambria" pitchFamily="34" charset="-120"/>
              </a:rPr>
              <a:t>5</a:t>
            </a:r>
            <a:endParaRPr lang="en-US" sz="1400" dirty="0"/>
          </a:p>
          <a:p>
            <a:pPr algn="ctr" indent="0" marL="0">
              <a:buNone/>
            </a:pPr>
            <a:r>
              <a:rPr lang="en-US" sz="1300" dirty="0">
                <a:solidFill>
                  <a:srgbClr val="F2F2F2"/>
                </a:solidFill>
                <a:latin typeface="Calibri" pitchFamily="34" charset="0"/>
                <a:ea typeface="Calibri" pitchFamily="34" charset="-122"/>
                <a:cs typeface="Calibri" pitchFamily="34" charset="-120"/>
              </a:rPr>
              <a:t>faults with OPT (minimum)</a:t>
            </a:r>
            <a:endParaRPr lang="en-US" sz="1400" dirty="0"/>
          </a:p>
        </p:txBody>
      </p:sp>
      <p:sp>
        <p:nvSpPr>
          <p:cNvPr id="126" name="Shape 124"/>
          <p:cNvSpPr/>
          <p:nvPr/>
        </p:nvSpPr>
        <p:spPr>
          <a:xfrm>
            <a:off x="8275320" y="4343400"/>
            <a:ext cx="338328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7" name="Text 125"/>
          <p:cNvSpPr txBox="1"/>
          <p:nvPr/>
        </p:nvSpPr>
        <p:spPr>
          <a:xfrm>
            <a:off x="8503920" y="4526280"/>
            <a:ext cx="2926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Key decisions</a:t>
            </a:r>
            <a:endParaRPr lang="en-US" sz="1500" dirty="0"/>
          </a:p>
        </p:txBody>
      </p:sp>
      <p:sp>
        <p:nvSpPr>
          <p:cNvPr id="128" name="Text 126"/>
          <p:cNvSpPr txBox="1"/>
          <p:nvPr/>
        </p:nvSpPr>
        <p:spPr>
          <a:xfrm>
            <a:off x="8503920" y="4983480"/>
            <a:ext cx="2926080" cy="114300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At 0 (4th ref): LRU evicts 3; OPT evicts 5 (never used again).</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At 4: OPT evicts 3 — also never needed again.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PROBLEM 4 · WEEKS 1, 3, 4, 7</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Short Calculations: EAT, Blocks and Quick Formulas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16</a:t>
            </a:r>
            <a:endParaRPr lang="en-US" sz="900" dirty="0"/>
          </a:p>
        </p:txBody>
      </p:sp>
      <p:sp>
        <p:nvSpPr>
          <p:cNvPr id="6" name="Shape 4"/>
          <p:cNvSpPr/>
          <p:nvPr/>
        </p:nvSpPr>
        <p:spPr>
          <a:xfrm>
            <a:off x="548640" y="1508760"/>
            <a:ext cx="5486400" cy="2514600"/>
          </a:xfrm>
          <a:prstGeom prst="roundRect">
            <a:avLst>
              <a:gd name="adj" fmla="val 1818"/>
            </a:avLst>
          </a:prstGeom>
          <a:solidFill>
            <a:srgbClr val="212121"/>
          </a:solidFill>
          <a:ln/>
        </p:spPr>
        <p:txBody>
          <a:bodyPr/>
          <a:p/>
        </p:txBody>
      </p:sp>
      <p:sp>
        <p:nvSpPr>
          <p:cNvPr id="7" name="Text 5"/>
          <p:cNvSpPr txBox="1"/>
          <p:nvPr/>
        </p:nvSpPr>
        <p:spPr>
          <a:xfrm>
            <a:off x="731520" y="1618488"/>
            <a:ext cx="5120640" cy="2295144"/>
          </a:xfrm>
          <a:prstGeom prst="rect">
            <a:avLst/>
          </a:prstGeom>
          <a:noFill/>
          <a:ln/>
        </p:spPr>
        <p:txBody>
          <a:bodyPr wrap="square" lIns="0" tIns="0" rIns="0" bIns="0" rtlCol="0" anchor="t"/>
          <a:lstStyle/>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t_m = 100 ns, t_fault = 10 ms, p = 0.0002</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EAT = 0.9998 × 100 + 0.0002 × 10,000,000</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 99.98 + 2,000 = 2099.98 ns   (×21)</a:t>
            </a:r>
            <a:endParaRPr lang="en-US" sz="1400" dirty="0"/>
          </a:p>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slow-down &lt; 10 %:  100 + p(10^7 − 100) &lt; 110</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p &lt; 10 / 9,999,900 ≈ 1.0 × 10⁻⁶</a:t>
            </a:r>
            <a:endParaRPr lang="en-US" sz="1400" dirty="0"/>
          </a:p>
        </p:txBody>
      </p:sp>
      <p:sp>
        <p:nvSpPr>
          <p:cNvPr id="8" name="Shape 6"/>
          <p:cNvSpPr/>
          <p:nvPr/>
        </p:nvSpPr>
        <p:spPr>
          <a:xfrm>
            <a:off x="6172200" y="1508760"/>
            <a:ext cx="5486400" cy="2514600"/>
          </a:xfrm>
          <a:prstGeom prst="roundRect">
            <a:avLst>
              <a:gd name="adj" fmla="val 1818"/>
            </a:avLst>
          </a:prstGeom>
          <a:solidFill>
            <a:srgbClr val="212121"/>
          </a:solidFill>
          <a:ln/>
        </p:spPr>
        <p:txBody>
          <a:bodyPr/>
          <a:p/>
        </p:txBody>
      </p:sp>
      <p:sp>
        <p:nvSpPr>
          <p:cNvPr id="9" name="Text 7"/>
          <p:cNvSpPr txBox="1"/>
          <p:nvPr/>
        </p:nvSpPr>
        <p:spPr>
          <a:xfrm>
            <a:off x="6355080" y="1618488"/>
            <a:ext cx="5120640" cy="2295144"/>
          </a:xfrm>
          <a:prstGeom prst="rect">
            <a:avLst/>
          </a:prstGeom>
          <a:noFill/>
          <a:ln/>
        </p:spPr>
        <p:txBody>
          <a:bodyPr wrap="square" lIns="0" tIns="0" rIns="0" bIns="0" rtlCol="0" anchor="t"/>
          <a:lstStyle/>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record 75; 128-B records; 4096-B blocks</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byte   = 75 × 128 = 9600</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block  = ⌊9600 / 4096⌋ = 2</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offset = 9600 − 2 × 4096 = 1408</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last   = 9727 → block 2: fits</a:t>
            </a:r>
            <a:endParaRPr lang="en-US" sz="1400" dirty="0"/>
          </a:p>
        </p:txBody>
      </p:sp>
      <p:sp>
        <p:nvSpPr>
          <p:cNvPr id="10" name="Shape 8"/>
          <p:cNvSpPr/>
          <p:nvPr/>
        </p:nvSpPr>
        <p:spPr>
          <a:xfrm>
            <a:off x="548640" y="4206240"/>
            <a:ext cx="11109960" cy="2057400"/>
          </a:xfrm>
          <a:prstGeom prst="roundRect">
            <a:avLst>
              <a:gd name="adj" fmla="val 2222"/>
            </a:avLst>
          </a:prstGeom>
          <a:solidFill>
            <a:srgbClr val="212121"/>
          </a:solidFill>
          <a:ln/>
        </p:spPr>
        <p:txBody>
          <a:bodyPr/>
          <a:p/>
        </p:txBody>
      </p:sp>
      <p:sp>
        <p:nvSpPr>
          <p:cNvPr id="11" name="Text 9"/>
          <p:cNvSpPr txBox="1"/>
          <p:nvPr/>
        </p:nvSpPr>
        <p:spPr>
          <a:xfrm>
            <a:off x="731520" y="4315968"/>
            <a:ext cx="10744200" cy="1837944"/>
          </a:xfrm>
          <a:prstGeom prst="rect">
            <a:avLst/>
          </a:prstGeom>
          <a:noFill/>
          <a:ln/>
        </p:spPr>
        <p:txBody>
          <a:bodyPr wrap="square" lIns="0" tIns="0" rIns="0" bIns="0" rtlCol="0" anchor="t"/>
          <a:lstStyle/>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W1  U(n), p = 0.6, n = 3:      1 − 0.6^3 = 1 − 0.216 = 0.784</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W1  batch, t_run 2, t_setup 3:  2 / (2 + 3) = 0.4</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W3  overhead s = 0.1, q = 4:    0.1 / 4.1 = 2.44 %</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W4  Amdahl S = 0.2, N = 4:      1 / (0.2 + 0.8/4) = 2.5  (limit 1/S = 5)</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the Linux half of the course — Weeks 9 to 14.</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15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Practical Recap: Weeks 9–14</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All output on these slides is real, captured in a fresh ~/lab (bash mcmp117_lab_setup.sh).</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15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WEEKS 9–10</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Navigation, Files and Wildcards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19</a:t>
            </a:r>
            <a:endParaRPr lang="en-US" sz="900" dirty="0"/>
          </a:p>
        </p:txBody>
      </p:sp>
      <p:sp>
        <p:nvSpPr>
          <p:cNvPr id="6" name="Shape 4"/>
          <p:cNvSpPr/>
          <p:nvPr/>
        </p:nvSpPr>
        <p:spPr>
          <a:xfrm>
            <a:off x="548640" y="1508760"/>
            <a:ext cx="6583680" cy="4754880"/>
          </a:xfrm>
          <a:prstGeom prst="roundRect">
            <a:avLst>
              <a:gd name="adj" fmla="val 962"/>
            </a:avLst>
          </a:prstGeom>
          <a:solidFill>
            <a:srgbClr val="212121"/>
          </a:solidFill>
          <a:ln/>
        </p:spPr>
        <p:txBody>
          <a:bodyPr/>
          <a:p/>
        </p:txBody>
      </p:sp>
      <p:sp>
        <p:nvSpPr>
          <p:cNvPr id="7" name="Text 5"/>
          <p:cNvSpPr txBox="1"/>
          <p:nvPr/>
        </p:nvSpPr>
        <p:spPr>
          <a:xfrm>
            <a:off x="731520" y="1618488"/>
            <a:ext cx="6217920" cy="4535424"/>
          </a:xfrm>
          <a:prstGeom prst="rect">
            <a:avLst/>
          </a:prstGeom>
          <a:noFill/>
          <a:ln/>
        </p:spPr>
        <p:txBody>
          <a:bodyPr wrap="square" lIns="0" tIns="0" rIns="0" bIns="0" rtlCol="0" anchor="t"/>
          <a:lstStyle/>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pwd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/home/student/lab</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ls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README.txt  backup  data  docs  logs  photos  projects  scripts  src</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cd projects/alpha/src</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student@okan-lab:~/lab/projects/alpha/src$ cd ../../beta/docs</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student@okan-lab:~/lab/projects/beta/docs$ pwd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/home/student/lab/projects/beta/docs</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student@okan-lab:~/lab/projects/beta/docs$ cd ~/lab</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ls photos/img00?.jpg</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photos/img001.jpg  photos/img004.jpg  photos/img007.jpg</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photos/img002.jpg  photos/img005.jpg  photos/img008.jpg</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photos/img003.jpg  photos/img006.jpg  photos/img009.jpg</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echo photos/*.{png,JPG}</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photos/img013.png photos/IMG_014.JPG</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mkdir -p backup/{2025,2026}</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cp docs/notes_0*.txt backup/2026/</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ls backup/2026</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notes_01.txt  notes_02.txt  notes_03.txt</a:t>
            </a:r>
            <a:endParaRPr lang="en-US" sz="1150" dirty="0"/>
          </a:p>
        </p:txBody>
      </p:sp>
      <p:sp>
        <p:nvSpPr>
          <p:cNvPr id="8" name="Shape 6"/>
          <p:cNvSpPr/>
          <p:nvPr/>
        </p:nvSpPr>
        <p:spPr>
          <a:xfrm>
            <a:off x="7360920" y="1508760"/>
            <a:ext cx="4297680" cy="4754880"/>
          </a:xfrm>
          <a:prstGeom prst="roundRect">
            <a:avLst>
              <a:gd name="adj" fmla="val 127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589520" y="1691640"/>
            <a:ext cx="3840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Remember</a:t>
            </a:r>
            <a:endParaRPr lang="en-US" sz="1500" dirty="0"/>
          </a:p>
        </p:txBody>
      </p:sp>
      <p:sp>
        <p:nvSpPr>
          <p:cNvPr id="10" name="Text 8"/>
          <p:cNvSpPr txBox="1"/>
          <p:nvPr/>
        </p:nvSpPr>
        <p:spPr>
          <a:xfrm>
            <a:off x="7589520" y="2148840"/>
            <a:ext cx="3840480" cy="3977640"/>
          </a:xfrm>
          <a:prstGeom prst="rect">
            <a:avLst/>
          </a:prstGeom>
          <a:noFill/>
          <a:ln/>
        </p:spPr>
        <p:txBody>
          <a:bodyPr wrap="square" lIns="0" tIns="0" rIns="0" bIns="0" rtlCol="0" anchor="t"/>
          <a:lstStyle/>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Paths:</a:t>
            </a:r>
            <a:r>
              <a:rPr lang="en-US" sz="1550" dirty="0">
                <a:solidFill>
                  <a:srgbClr val="3A464C"/>
                </a:solidFill>
                <a:latin typeface="Calibri" pitchFamily="34" charset="0"/>
                <a:ea typeface="Calibri" pitchFamily="34" charset="-122"/>
                <a:cs typeface="Calibri" pitchFamily="34" charset="-120"/>
              </a:rPr>
              <a:t> absolute starts with /; relative starts here; ~ home, . here, .. parent, cd - back.</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Command anatomy:</a:t>
            </a:r>
            <a:r>
              <a:rPr lang="en-US" sz="1550" dirty="0">
                <a:solidFill>
                  <a:srgbClr val="3A464C"/>
                </a:solidFill>
                <a:latin typeface="Calibri" pitchFamily="34" charset="0"/>
                <a:ea typeface="Calibri" pitchFamily="34" charset="-122"/>
                <a:cs typeface="Calibri" pitchFamily="34" charset="-120"/>
              </a:rPr>
              <a:t> command -options arguments.</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Wildcards:</a:t>
            </a:r>
            <a:r>
              <a:rPr lang="en-US" sz="1550" dirty="0">
                <a:solidFill>
                  <a:srgbClr val="3A464C"/>
                </a:solidFill>
                <a:latin typeface="Calibri" pitchFamily="34" charset="0"/>
                <a:ea typeface="Calibri" pitchFamily="34" charset="-122"/>
                <a:cs typeface="Calibri" pitchFamily="34" charset="-120"/>
              </a:rPr>
              <a:t> * any string, ? one character, [abc] one of; braces {a,b} {1..5}. The shell expands them, not the command.</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Files:</a:t>
            </a:r>
            <a:r>
              <a:rPr lang="en-US" sz="1550" dirty="0">
                <a:solidFill>
                  <a:srgbClr val="3A464C"/>
                </a:solidFill>
                <a:latin typeface="Calibri" pitchFamily="34" charset="0"/>
                <a:ea typeface="Calibri" pitchFamily="34" charset="-122"/>
                <a:cs typeface="Calibri" pitchFamily="34" charset="-120"/>
              </a:rPr>
              <a:t> mkdir -p, touch, cp -r, mv, rm -r (no recycle bin!), ln / ln -s.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11</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Permissions: Reading and Setting the Mode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20</a:t>
            </a:r>
            <a:endParaRPr lang="en-US" sz="900" dirty="0"/>
          </a:p>
        </p:txBody>
      </p:sp>
      <p:sp>
        <p:nvSpPr>
          <p:cNvPr id="6" name="Shape 4"/>
          <p:cNvSpPr/>
          <p:nvPr/>
        </p:nvSpPr>
        <p:spPr>
          <a:xfrm>
            <a:off x="548640" y="1600200"/>
            <a:ext cx="502920" cy="594360"/>
          </a:xfrm>
          <a:prstGeom prst="roundRect">
            <a:avLst>
              <a:gd name="adj" fmla="val 9091"/>
            </a:avLst>
          </a:prstGeom>
          <a:solidFill>
            <a:srgbClr val="36454F"/>
          </a:solidFill>
          <a:ln/>
        </p:spPr>
        <p:txBody>
          <a:bodyPr/>
          <a:p/>
        </p:txBody>
      </p:sp>
      <p:sp>
        <p:nvSpPr>
          <p:cNvPr id="7" name="Text 5"/>
          <p:cNvSpPr txBox="1"/>
          <p:nvPr/>
        </p:nvSpPr>
        <p:spPr>
          <a:xfrm>
            <a:off x="54864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a:t>
            </a:r>
            <a:endParaRPr lang="en-US" sz="2000" dirty="0"/>
          </a:p>
        </p:txBody>
      </p:sp>
      <p:sp>
        <p:nvSpPr>
          <p:cNvPr id="8" name="Shape 6"/>
          <p:cNvSpPr/>
          <p:nvPr/>
        </p:nvSpPr>
        <p:spPr>
          <a:xfrm>
            <a:off x="1097280" y="1600200"/>
            <a:ext cx="502920" cy="594360"/>
          </a:xfrm>
          <a:prstGeom prst="roundRect">
            <a:avLst>
              <a:gd name="adj" fmla="val 9091"/>
            </a:avLst>
          </a:prstGeom>
          <a:solidFill>
            <a:srgbClr val="02C39A"/>
          </a:solidFill>
          <a:ln/>
        </p:spPr>
        <p:txBody>
          <a:bodyPr/>
          <a:p/>
        </p:txBody>
      </p:sp>
      <p:sp>
        <p:nvSpPr>
          <p:cNvPr id="9" name="Text 7"/>
          <p:cNvSpPr txBox="1"/>
          <p:nvPr/>
        </p:nvSpPr>
        <p:spPr>
          <a:xfrm>
            <a:off x="109728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212121"/>
                </a:solidFill>
                <a:latin typeface="Consolas" pitchFamily="34" charset="0"/>
                <a:ea typeface="Consolas" pitchFamily="34" charset="-122"/>
                <a:cs typeface="Consolas" pitchFamily="34" charset="-120"/>
              </a:rPr>
              <a:t>r</a:t>
            </a:r>
            <a:endParaRPr lang="en-US" sz="2000" dirty="0"/>
          </a:p>
        </p:txBody>
      </p:sp>
      <p:sp>
        <p:nvSpPr>
          <p:cNvPr id="10" name="Shape 8"/>
          <p:cNvSpPr/>
          <p:nvPr/>
        </p:nvSpPr>
        <p:spPr>
          <a:xfrm>
            <a:off x="1645920" y="1600200"/>
            <a:ext cx="502920" cy="594360"/>
          </a:xfrm>
          <a:prstGeom prst="roundRect">
            <a:avLst>
              <a:gd name="adj" fmla="val 9091"/>
            </a:avLst>
          </a:prstGeom>
          <a:solidFill>
            <a:srgbClr val="02C39A"/>
          </a:solidFill>
          <a:ln/>
        </p:spPr>
        <p:txBody>
          <a:bodyPr/>
          <a:p/>
        </p:txBody>
      </p:sp>
      <p:sp>
        <p:nvSpPr>
          <p:cNvPr id="11" name="Text 9"/>
          <p:cNvSpPr txBox="1"/>
          <p:nvPr/>
        </p:nvSpPr>
        <p:spPr>
          <a:xfrm>
            <a:off x="164592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212121"/>
                </a:solidFill>
                <a:latin typeface="Consolas" pitchFamily="34" charset="0"/>
                <a:ea typeface="Consolas" pitchFamily="34" charset="-122"/>
                <a:cs typeface="Consolas" pitchFamily="34" charset="-120"/>
              </a:rPr>
              <a:t>w</a:t>
            </a:r>
            <a:endParaRPr lang="en-US" sz="2000" dirty="0"/>
          </a:p>
        </p:txBody>
      </p:sp>
      <p:sp>
        <p:nvSpPr>
          <p:cNvPr id="12" name="Shape 10"/>
          <p:cNvSpPr/>
          <p:nvPr/>
        </p:nvSpPr>
        <p:spPr>
          <a:xfrm>
            <a:off x="2194560" y="1600200"/>
            <a:ext cx="502920" cy="594360"/>
          </a:xfrm>
          <a:prstGeom prst="roundRect">
            <a:avLst>
              <a:gd name="adj" fmla="val 9091"/>
            </a:avLst>
          </a:prstGeom>
          <a:solidFill>
            <a:srgbClr val="02C39A"/>
          </a:solidFill>
          <a:ln/>
        </p:spPr>
        <p:txBody>
          <a:bodyPr/>
          <a:p/>
        </p:txBody>
      </p:sp>
      <p:sp>
        <p:nvSpPr>
          <p:cNvPr id="13" name="Text 11"/>
          <p:cNvSpPr txBox="1"/>
          <p:nvPr/>
        </p:nvSpPr>
        <p:spPr>
          <a:xfrm>
            <a:off x="219456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212121"/>
                </a:solidFill>
                <a:latin typeface="Consolas" pitchFamily="34" charset="0"/>
                <a:ea typeface="Consolas" pitchFamily="34" charset="-122"/>
                <a:cs typeface="Consolas" pitchFamily="34" charset="-120"/>
              </a:rPr>
              <a:t>x</a:t>
            </a:r>
            <a:endParaRPr lang="en-US" sz="2000" dirty="0"/>
          </a:p>
        </p:txBody>
      </p:sp>
      <p:sp>
        <p:nvSpPr>
          <p:cNvPr id="14" name="Shape 12"/>
          <p:cNvSpPr/>
          <p:nvPr/>
        </p:nvSpPr>
        <p:spPr>
          <a:xfrm>
            <a:off x="2743200" y="1600200"/>
            <a:ext cx="502920" cy="594360"/>
          </a:xfrm>
          <a:prstGeom prst="roundRect">
            <a:avLst>
              <a:gd name="adj" fmla="val 9091"/>
            </a:avLst>
          </a:prstGeom>
          <a:solidFill>
            <a:srgbClr val="028090"/>
          </a:solidFill>
          <a:ln/>
        </p:spPr>
        <p:txBody>
          <a:bodyPr/>
          <a:p/>
        </p:txBody>
      </p:sp>
      <p:sp>
        <p:nvSpPr>
          <p:cNvPr id="15" name="Text 13"/>
          <p:cNvSpPr txBox="1"/>
          <p:nvPr/>
        </p:nvSpPr>
        <p:spPr>
          <a:xfrm>
            <a:off x="274320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r</a:t>
            </a:r>
            <a:endParaRPr lang="en-US" sz="2000" dirty="0"/>
          </a:p>
        </p:txBody>
      </p:sp>
      <p:sp>
        <p:nvSpPr>
          <p:cNvPr id="16" name="Shape 14"/>
          <p:cNvSpPr/>
          <p:nvPr/>
        </p:nvSpPr>
        <p:spPr>
          <a:xfrm>
            <a:off x="3291840" y="1600200"/>
            <a:ext cx="502920" cy="594360"/>
          </a:xfrm>
          <a:prstGeom prst="roundRect">
            <a:avLst>
              <a:gd name="adj" fmla="val 9091"/>
            </a:avLst>
          </a:prstGeom>
          <a:solidFill>
            <a:srgbClr val="028090"/>
          </a:solidFill>
          <a:ln/>
        </p:spPr>
        <p:txBody>
          <a:bodyPr/>
          <a:p/>
        </p:txBody>
      </p:sp>
      <p:sp>
        <p:nvSpPr>
          <p:cNvPr id="17" name="Text 15"/>
          <p:cNvSpPr txBox="1"/>
          <p:nvPr/>
        </p:nvSpPr>
        <p:spPr>
          <a:xfrm>
            <a:off x="329184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a:t>
            </a:r>
            <a:endParaRPr lang="en-US" sz="2000" dirty="0"/>
          </a:p>
        </p:txBody>
      </p:sp>
      <p:sp>
        <p:nvSpPr>
          <p:cNvPr id="18" name="Shape 16"/>
          <p:cNvSpPr/>
          <p:nvPr/>
        </p:nvSpPr>
        <p:spPr>
          <a:xfrm>
            <a:off x="3840480" y="1600200"/>
            <a:ext cx="502920" cy="594360"/>
          </a:xfrm>
          <a:prstGeom prst="roundRect">
            <a:avLst>
              <a:gd name="adj" fmla="val 9091"/>
            </a:avLst>
          </a:prstGeom>
          <a:solidFill>
            <a:srgbClr val="028090"/>
          </a:solidFill>
          <a:ln/>
        </p:spPr>
        <p:txBody>
          <a:bodyPr/>
          <a:p/>
        </p:txBody>
      </p:sp>
      <p:sp>
        <p:nvSpPr>
          <p:cNvPr id="19" name="Text 17"/>
          <p:cNvSpPr txBox="1"/>
          <p:nvPr/>
        </p:nvSpPr>
        <p:spPr>
          <a:xfrm>
            <a:off x="384048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x</a:t>
            </a:r>
            <a:endParaRPr lang="en-US" sz="2000" dirty="0"/>
          </a:p>
        </p:txBody>
      </p:sp>
      <p:sp>
        <p:nvSpPr>
          <p:cNvPr id="20" name="Shape 18"/>
          <p:cNvSpPr/>
          <p:nvPr/>
        </p:nvSpPr>
        <p:spPr>
          <a:xfrm>
            <a:off x="4389120" y="1600200"/>
            <a:ext cx="502920" cy="594360"/>
          </a:xfrm>
          <a:prstGeom prst="roundRect">
            <a:avLst>
              <a:gd name="adj" fmla="val 9091"/>
            </a:avLst>
          </a:prstGeom>
          <a:solidFill>
            <a:srgbClr val="50808E"/>
          </a:solidFill>
          <a:ln/>
        </p:spPr>
        <p:txBody>
          <a:bodyPr/>
          <a:p/>
        </p:txBody>
      </p:sp>
      <p:sp>
        <p:nvSpPr>
          <p:cNvPr id="21" name="Text 19"/>
          <p:cNvSpPr txBox="1"/>
          <p:nvPr/>
        </p:nvSpPr>
        <p:spPr>
          <a:xfrm>
            <a:off x="438912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a:t>
            </a:r>
            <a:endParaRPr lang="en-US" sz="2000" dirty="0"/>
          </a:p>
        </p:txBody>
      </p:sp>
      <p:sp>
        <p:nvSpPr>
          <p:cNvPr id="22" name="Shape 20"/>
          <p:cNvSpPr/>
          <p:nvPr/>
        </p:nvSpPr>
        <p:spPr>
          <a:xfrm>
            <a:off x="4937760" y="1600200"/>
            <a:ext cx="502920" cy="594360"/>
          </a:xfrm>
          <a:prstGeom prst="roundRect">
            <a:avLst>
              <a:gd name="adj" fmla="val 9091"/>
            </a:avLst>
          </a:prstGeom>
          <a:solidFill>
            <a:srgbClr val="50808E"/>
          </a:solidFill>
          <a:ln/>
        </p:spPr>
        <p:txBody>
          <a:bodyPr/>
          <a:p/>
        </p:txBody>
      </p:sp>
      <p:sp>
        <p:nvSpPr>
          <p:cNvPr id="23" name="Text 21"/>
          <p:cNvSpPr txBox="1"/>
          <p:nvPr/>
        </p:nvSpPr>
        <p:spPr>
          <a:xfrm>
            <a:off x="493776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a:t>
            </a:r>
            <a:endParaRPr lang="en-US" sz="2000" dirty="0"/>
          </a:p>
        </p:txBody>
      </p:sp>
      <p:sp>
        <p:nvSpPr>
          <p:cNvPr id="24" name="Shape 22"/>
          <p:cNvSpPr/>
          <p:nvPr/>
        </p:nvSpPr>
        <p:spPr>
          <a:xfrm>
            <a:off x="5486400" y="1600200"/>
            <a:ext cx="502920" cy="594360"/>
          </a:xfrm>
          <a:prstGeom prst="roundRect">
            <a:avLst>
              <a:gd name="adj" fmla="val 9091"/>
            </a:avLst>
          </a:prstGeom>
          <a:solidFill>
            <a:srgbClr val="50808E"/>
          </a:solidFill>
          <a:ln/>
        </p:spPr>
        <p:txBody>
          <a:bodyPr/>
          <a:p/>
        </p:txBody>
      </p:sp>
      <p:sp>
        <p:nvSpPr>
          <p:cNvPr id="25" name="Text 23"/>
          <p:cNvSpPr txBox="1"/>
          <p:nvPr/>
        </p:nvSpPr>
        <p:spPr>
          <a:xfrm>
            <a:off x="5486400" y="1600200"/>
            <a:ext cx="502920" cy="594360"/>
          </a:xfrm>
          <a:prstGeom prst="rect">
            <a:avLst/>
          </a:prstGeom>
          <a:noFill/>
          <a:ln/>
        </p:spPr>
        <p:txBody>
          <a:bodyPr wrap="square" lIns="38100" tIns="38100" rIns="38100" bIns="3810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a:t>
            </a:r>
            <a:endParaRPr lang="en-US" sz="2000" dirty="0"/>
          </a:p>
        </p:txBody>
      </p:sp>
      <p:sp>
        <p:nvSpPr>
          <p:cNvPr id="26" name="Text 24"/>
          <p:cNvSpPr txBox="1"/>
          <p:nvPr/>
        </p:nvSpPr>
        <p:spPr>
          <a:xfrm>
            <a:off x="548640" y="2240280"/>
            <a:ext cx="502920" cy="274320"/>
          </a:xfrm>
          <a:prstGeom prst="rect">
            <a:avLst/>
          </a:prstGeom>
          <a:noFill/>
          <a:ln/>
        </p:spPr>
        <p:txBody>
          <a:bodyPr wrap="square" lIns="0" tIns="0" rIns="0" bIns="0" rtlCol="0" anchor="t"/>
          <a:lstStyle/>
          <a:p>
            <a:pPr algn="ctr" indent="0" marL="0">
              <a:buNone/>
            </a:pPr>
            <a:r>
              <a:rPr lang="en-US" sz="1150" b="1" dirty="0">
                <a:solidFill>
                  <a:srgbClr val="36454F"/>
                </a:solidFill>
                <a:latin typeface="Calibri" pitchFamily="34" charset="0"/>
                <a:ea typeface="Calibri" pitchFamily="34" charset="-122"/>
                <a:cs typeface="Calibri" pitchFamily="34" charset="-120"/>
              </a:rPr>
              <a:t>type</a:t>
            </a:r>
            <a:endParaRPr lang="en-US" sz="1150" dirty="0"/>
          </a:p>
        </p:txBody>
      </p:sp>
      <p:sp>
        <p:nvSpPr>
          <p:cNvPr id="27" name="Text 25"/>
          <p:cNvSpPr txBox="1"/>
          <p:nvPr/>
        </p:nvSpPr>
        <p:spPr>
          <a:xfrm>
            <a:off x="1097280" y="2240280"/>
            <a:ext cx="1600200" cy="274320"/>
          </a:xfrm>
          <a:prstGeom prst="rect">
            <a:avLst/>
          </a:prstGeom>
          <a:noFill/>
          <a:ln/>
        </p:spPr>
        <p:txBody>
          <a:bodyPr wrap="square" lIns="0" tIns="0" rIns="0" bIns="0" rtlCol="0" anchor="t"/>
          <a:lstStyle/>
          <a:p>
            <a:pPr algn="ctr" indent="0" marL="0">
              <a:buNone/>
            </a:pPr>
            <a:r>
              <a:rPr lang="en-US" sz="1150" b="1" dirty="0">
                <a:solidFill>
                  <a:srgbClr val="36454F"/>
                </a:solidFill>
                <a:latin typeface="Calibri" pitchFamily="34" charset="0"/>
                <a:ea typeface="Calibri" pitchFamily="34" charset="-122"/>
                <a:cs typeface="Calibri" pitchFamily="34" charset="-120"/>
              </a:rPr>
              <a:t>owner (u)</a:t>
            </a:r>
            <a:endParaRPr lang="en-US" sz="1150" dirty="0"/>
          </a:p>
        </p:txBody>
      </p:sp>
      <p:sp>
        <p:nvSpPr>
          <p:cNvPr id="28" name="Text 26"/>
          <p:cNvSpPr txBox="1"/>
          <p:nvPr/>
        </p:nvSpPr>
        <p:spPr>
          <a:xfrm>
            <a:off x="2743200" y="2240280"/>
            <a:ext cx="1600200" cy="274320"/>
          </a:xfrm>
          <a:prstGeom prst="rect">
            <a:avLst/>
          </a:prstGeom>
          <a:noFill/>
          <a:ln/>
        </p:spPr>
        <p:txBody>
          <a:bodyPr wrap="square" lIns="0" tIns="0" rIns="0" bIns="0" rtlCol="0" anchor="t"/>
          <a:lstStyle/>
          <a:p>
            <a:pPr algn="ctr" indent="0" marL="0">
              <a:buNone/>
            </a:pPr>
            <a:r>
              <a:rPr lang="en-US" sz="1150" b="1" dirty="0">
                <a:solidFill>
                  <a:srgbClr val="36454F"/>
                </a:solidFill>
                <a:latin typeface="Calibri" pitchFamily="34" charset="0"/>
                <a:ea typeface="Calibri" pitchFamily="34" charset="-122"/>
                <a:cs typeface="Calibri" pitchFamily="34" charset="-120"/>
              </a:rPr>
              <a:t>group (g)</a:t>
            </a:r>
            <a:endParaRPr lang="en-US" sz="1150" dirty="0"/>
          </a:p>
        </p:txBody>
      </p:sp>
      <p:sp>
        <p:nvSpPr>
          <p:cNvPr id="29" name="Text 27"/>
          <p:cNvSpPr txBox="1"/>
          <p:nvPr/>
        </p:nvSpPr>
        <p:spPr>
          <a:xfrm>
            <a:off x="4389120" y="2240280"/>
            <a:ext cx="1600200" cy="274320"/>
          </a:xfrm>
          <a:prstGeom prst="rect">
            <a:avLst/>
          </a:prstGeom>
          <a:noFill/>
          <a:ln/>
        </p:spPr>
        <p:txBody>
          <a:bodyPr wrap="square" lIns="0" tIns="0" rIns="0" bIns="0" rtlCol="0" anchor="t"/>
          <a:lstStyle/>
          <a:p>
            <a:pPr algn="ctr" indent="0" marL="0">
              <a:buNone/>
            </a:pPr>
            <a:r>
              <a:rPr lang="en-US" sz="1150" b="1" dirty="0">
                <a:solidFill>
                  <a:srgbClr val="36454F"/>
                </a:solidFill>
                <a:latin typeface="Calibri" pitchFamily="34" charset="0"/>
                <a:ea typeface="Calibri" pitchFamily="34" charset="-122"/>
                <a:cs typeface="Calibri" pitchFamily="34" charset="-120"/>
              </a:rPr>
              <a:t>others (o)</a:t>
            </a:r>
            <a:endParaRPr lang="en-US" sz="1150" dirty="0"/>
          </a:p>
        </p:txBody>
      </p:sp>
      <p:sp>
        <p:nvSpPr>
          <p:cNvPr id="30" name="Text 28"/>
          <p:cNvSpPr txBox="1"/>
          <p:nvPr/>
        </p:nvSpPr>
        <p:spPr>
          <a:xfrm>
            <a:off x="1097280" y="2560320"/>
            <a:ext cx="4937760" cy="292608"/>
          </a:xfrm>
          <a:prstGeom prst="rect">
            <a:avLst/>
          </a:prstGeom>
          <a:noFill/>
          <a:ln/>
        </p:spPr>
        <p:txBody>
          <a:bodyPr wrap="square" lIns="0" tIns="0" rIns="0" bIns="0" rtlCol="0" anchor="t"/>
          <a:lstStyle/>
          <a:p>
            <a:pPr algn="ctr" indent="0" marL="0">
              <a:buNone/>
            </a:pPr>
            <a:r>
              <a:rPr lang="en-US" sz="1300" b="1" dirty="0">
                <a:solidFill>
                  <a:srgbClr val="028090"/>
                </a:solidFill>
                <a:latin typeface="Calibri" pitchFamily="34" charset="0"/>
                <a:ea typeface="Calibri" pitchFamily="34" charset="-122"/>
                <a:cs typeface="Calibri" pitchFamily="34" charset="-120"/>
              </a:rPr>
              <a:t>7 = 4+2+1     5 = 4+0+1     0</a:t>
            </a:r>
            <a:endParaRPr lang="en-US" sz="1300" dirty="0"/>
          </a:p>
        </p:txBody>
      </p:sp>
      <p:sp>
        <p:nvSpPr>
          <p:cNvPr id="31" name="Shape 29"/>
          <p:cNvSpPr/>
          <p:nvPr/>
        </p:nvSpPr>
        <p:spPr>
          <a:xfrm>
            <a:off x="548640" y="3017520"/>
            <a:ext cx="5486400" cy="324612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2" name="Text 30"/>
          <p:cNvSpPr txBox="1"/>
          <p:nvPr/>
        </p:nvSpPr>
        <p:spPr>
          <a:xfrm>
            <a:off x="777240" y="3200400"/>
            <a:ext cx="5029200" cy="2926080"/>
          </a:xfrm>
          <a:prstGeom prst="rect">
            <a:avLst/>
          </a:prstGeom>
          <a:noFill/>
          <a:ln/>
        </p:spPr>
        <p:txBody>
          <a:bodyPr wrap="square" lIns="0" tIns="0" rIns="0" bIns="0" rtlCol="0" anchor="t"/>
          <a:lstStyle/>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r = 4, w = 2, x = 1:</a:t>
            </a:r>
            <a:r>
              <a:rPr lang="en-US" sz="1550" dirty="0">
                <a:solidFill>
                  <a:srgbClr val="3A464C"/>
                </a:solidFill>
                <a:latin typeface="Calibri" pitchFamily="34" charset="0"/>
                <a:ea typeface="Calibri" pitchFamily="34" charset="-122"/>
                <a:cs typeface="Calibri" pitchFamily="34" charset="-120"/>
              </a:rPr>
              <a:t> rwxr-x--- = 750.</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Directories:</a:t>
            </a:r>
            <a:r>
              <a:rPr lang="en-US" sz="1550" dirty="0">
                <a:solidFill>
                  <a:srgbClr val="3A464C"/>
                </a:solidFill>
                <a:latin typeface="Calibri" pitchFamily="34" charset="0"/>
                <a:ea typeface="Calibri" pitchFamily="34" charset="-122"/>
                <a:cs typeface="Calibri" pitchFamily="34" charset="-120"/>
              </a:rPr>
              <a:t> r list, w create/delete entries, x enter (cd).</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Symbolic:</a:t>
            </a:r>
            <a:r>
              <a:rPr lang="en-US" sz="1550" dirty="0">
                <a:solidFill>
                  <a:srgbClr val="3A464C"/>
                </a:solidFill>
                <a:latin typeface="Calibri" pitchFamily="34" charset="0"/>
                <a:ea typeface="Calibri" pitchFamily="34" charset="-122"/>
                <a:cs typeface="Calibri" pitchFamily="34" charset="-120"/>
              </a:rPr>
              <a:t> chmod u+x, go-w, a=r, g-x,o+r.</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umask:</a:t>
            </a:r>
            <a:r>
              <a:rPr lang="en-US" sz="1550" dirty="0">
                <a:solidFill>
                  <a:srgbClr val="3A464C"/>
                </a:solidFill>
                <a:latin typeface="Calibri" pitchFamily="34" charset="0"/>
                <a:ea typeface="Calibri" pitchFamily="34" charset="-122"/>
                <a:cs typeface="Calibri" pitchFamily="34" charset="-120"/>
              </a:rPr>
              <a:t> removes bits from 666 (files) / 777 (dirs): mode AND NOT umask; umask 027 → 640 / 750.</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Root only:</a:t>
            </a:r>
            <a:r>
              <a:rPr lang="en-US" sz="1550" dirty="0">
                <a:solidFill>
                  <a:srgbClr val="3A464C"/>
                </a:solidFill>
                <a:latin typeface="Calibri" pitchFamily="34" charset="0"/>
                <a:ea typeface="Calibri" pitchFamily="34" charset="-122"/>
                <a:cs typeface="Calibri" pitchFamily="34" charset="-120"/>
              </a:rPr>
              <a:t> chown, chgrp; sudo runs one command as root — think first.</a:t>
            </a:r>
            <a:endParaRPr lang="en-US" sz="1550" dirty="0"/>
          </a:p>
        </p:txBody>
      </p:sp>
      <p:sp>
        <p:nvSpPr>
          <p:cNvPr id="33" name="Shape 31"/>
          <p:cNvSpPr/>
          <p:nvPr/>
        </p:nvSpPr>
        <p:spPr>
          <a:xfrm>
            <a:off x="6263640" y="1508760"/>
            <a:ext cx="5394960" cy="4754880"/>
          </a:xfrm>
          <a:prstGeom prst="roundRect">
            <a:avLst>
              <a:gd name="adj" fmla="val 962"/>
            </a:avLst>
          </a:prstGeom>
          <a:solidFill>
            <a:srgbClr val="212121"/>
          </a:solidFill>
          <a:ln/>
        </p:spPr>
        <p:txBody>
          <a:bodyPr/>
          <a:p/>
        </p:txBody>
      </p:sp>
      <p:sp>
        <p:nvSpPr>
          <p:cNvPr id="34" name="Text 32"/>
          <p:cNvSpPr txBox="1"/>
          <p:nvPr/>
        </p:nvSpPr>
        <p:spPr>
          <a:xfrm>
            <a:off x="6446520" y="1618488"/>
            <a:ext cx="5029200" cy="4535424"/>
          </a:xfrm>
          <a:prstGeom prst="rect">
            <a:avLst/>
          </a:prstGeom>
          <a:noFill/>
          <a:ln/>
        </p:spPr>
        <p:txBody>
          <a:bodyPr wrap="square" lIns="0" tIns="0" rIns="0" bIns="0" rtlCol="0" anchor="t"/>
          <a:lstStyle/>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student@okan-lab:~/lab$ id</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uid=1015(student) gid=1017(student) groups=1017(student)</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student@okan-lab:~/lab$ touch scripts/run.sh</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student@okan-lab:~/lab$ ls -l scripts/run.sh</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-rw-rw-r-- 1 student student 0 Oct 12 08:50 scripts/run.sh</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student@okan-lab:~/lab$ chmod 750 scripts/run.sh</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student@okan-lab:~/lab$ ls -l scripts/run.sh</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-rwxr-x--- 1 student student 0 Oct 12 08:50 scripts/run.sh</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student@okan-lab:~/lab$ chmod g-x,o+r scripts/run.sh</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student@okan-lab:~/lab$ ls -l scripts/run.sh</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-rwxr--r-- 1 student student 0 Oct 12 08:50 scripts/run.sh</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student@okan-lab:~/lab$ umask</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0002</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12</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Streams, Redirection and Pipes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21</a:t>
            </a:r>
            <a:endParaRPr lang="en-US" sz="900" dirty="0"/>
          </a:p>
        </p:txBody>
      </p:sp>
      <p:sp>
        <p:nvSpPr>
          <p:cNvPr id="6" name="Shape 4"/>
          <p:cNvSpPr/>
          <p:nvPr/>
        </p:nvSpPr>
        <p:spPr>
          <a:xfrm>
            <a:off x="548640" y="1508760"/>
            <a:ext cx="475488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2976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rules</a:t>
            </a:r>
            <a:endParaRPr lang="en-US" sz="1500" dirty="0"/>
          </a:p>
        </p:txBody>
      </p:sp>
      <p:sp>
        <p:nvSpPr>
          <p:cNvPr id="8" name="Text 6"/>
          <p:cNvSpPr txBox="1"/>
          <p:nvPr/>
        </p:nvSpPr>
        <p:spPr>
          <a:xfrm>
            <a:off x="777240" y="2148840"/>
            <a:ext cx="4297680" cy="3977640"/>
          </a:xfrm>
          <a:prstGeom prst="rect">
            <a:avLst/>
          </a:prstGeom>
          <a:noFill/>
          <a:ln/>
        </p:spPr>
        <p:txBody>
          <a:bodyPr wrap="square" lIns="0" tIns="0" rIns="0" bIns="0" rtlCol="0" anchor="t"/>
          <a:lstStyle/>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fd 0 / 1 / 2:</a:t>
            </a:r>
            <a:r>
              <a:rPr lang="en-US" sz="1550" dirty="0">
                <a:solidFill>
                  <a:srgbClr val="3A464C"/>
                </a:solidFill>
                <a:latin typeface="Calibri" pitchFamily="34" charset="0"/>
                <a:ea typeface="Calibri" pitchFamily="34" charset="-122"/>
                <a:cs typeface="Calibri" pitchFamily="34" charset="-120"/>
              </a:rPr>
              <a:t> stdin, stdout, stderr (Week 2: write(1, …)).</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&gt; file</a:t>
            </a:r>
            <a:r>
              <a:rPr lang="en-US" sz="1550" dirty="0">
                <a:solidFill>
                  <a:srgbClr val="3A464C"/>
                </a:solidFill>
                <a:latin typeface="Calibri" pitchFamily="34" charset="0"/>
                <a:ea typeface="Calibri" pitchFamily="34" charset="-122"/>
                <a:cs typeface="Calibri" pitchFamily="34" charset="-120"/>
              </a:rPr>
              <a:t> overwrite,  &gt;&gt; append,  &lt; input.</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2&gt; file</a:t>
            </a:r>
            <a:r>
              <a:rPr lang="en-US" sz="1550" dirty="0">
                <a:solidFill>
                  <a:srgbClr val="3A464C"/>
                </a:solidFill>
                <a:latin typeface="Calibri" pitchFamily="34" charset="0"/>
                <a:ea typeface="Calibri" pitchFamily="34" charset="-122"/>
                <a:cs typeface="Calibri" pitchFamily="34" charset="-120"/>
              </a:rPr>
              <a:t> errors only;  2&gt;&amp;1 errors to where stdout goes;  &amp;&gt; both;  &gt; /dev/null discard.</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a | b:</a:t>
            </a:r>
            <a:r>
              <a:rPr lang="en-US" sz="1550" dirty="0">
                <a:solidFill>
                  <a:srgbClr val="3A464C"/>
                </a:solidFill>
                <a:latin typeface="Calibri" pitchFamily="34" charset="0"/>
                <a:ea typeface="Calibri" pitchFamily="34" charset="-122"/>
                <a:cs typeface="Calibri" pitchFamily="34" charset="-120"/>
              </a:rPr>
              <a:t> stdout of a becomes stdin of b; the shell creates both processes (Week 3).</a:t>
            </a:r>
            <a:endParaRPr lang="en-US" sz="1550" dirty="0"/>
          </a:p>
          <a:p>
            <a:pPr marL="228600" indent="-228600">
              <a:spcAft>
                <a:spcPts val="400"/>
              </a:spcAft>
              <a:buSzPct val="100000"/>
              <a:buChar char="•"/>
            </a:pPr>
            <a:r>
              <a:rPr lang="en-US" sz="1550" b="1" dirty="0">
                <a:solidFill>
                  <a:srgbClr val="3A464C"/>
                </a:solidFill>
                <a:latin typeface="Calibri" pitchFamily="34" charset="0"/>
                <a:ea typeface="Calibri" pitchFamily="34" charset="-122"/>
                <a:cs typeface="Calibri" pitchFamily="34" charset="-120"/>
              </a:rPr>
              <a:t>uniq -c</a:t>
            </a:r>
            <a:r>
              <a:rPr lang="en-US" sz="1550" dirty="0">
                <a:solidFill>
                  <a:srgbClr val="3A464C"/>
                </a:solidFill>
                <a:latin typeface="Calibri" pitchFamily="34" charset="0"/>
                <a:ea typeface="Calibri" pitchFamily="34" charset="-122"/>
                <a:cs typeface="Calibri" pitchFamily="34" charset="-120"/>
              </a:rPr>
              <a:t> counts ADJACENT duplicates: sort first.</a:t>
            </a:r>
            <a:endParaRPr lang="en-US" sz="1550" dirty="0"/>
          </a:p>
        </p:txBody>
      </p:sp>
      <p:sp>
        <p:nvSpPr>
          <p:cNvPr id="9" name="Shape 7"/>
          <p:cNvSpPr/>
          <p:nvPr/>
        </p:nvSpPr>
        <p:spPr>
          <a:xfrm>
            <a:off x="5532120" y="1508760"/>
            <a:ext cx="6126480" cy="4754880"/>
          </a:xfrm>
          <a:prstGeom prst="roundRect">
            <a:avLst>
              <a:gd name="adj" fmla="val 962"/>
            </a:avLst>
          </a:prstGeom>
          <a:solidFill>
            <a:srgbClr val="212121"/>
          </a:solidFill>
          <a:ln/>
        </p:spPr>
        <p:txBody>
          <a:bodyPr/>
          <a:p/>
        </p:txBody>
      </p:sp>
      <p:sp>
        <p:nvSpPr>
          <p:cNvPr id="10" name="Text 8"/>
          <p:cNvSpPr txBox="1"/>
          <p:nvPr/>
        </p:nvSpPr>
        <p:spPr>
          <a:xfrm>
            <a:off x="5715000" y="1618488"/>
            <a:ext cx="5760720" cy="4535424"/>
          </a:xfrm>
          <a:prstGeom prst="rect">
            <a:avLst/>
          </a:prstGeom>
          <a:noFill/>
          <a:ln/>
        </p:spPr>
        <p:txBody>
          <a:bodyPr wrap="square" lIns="0" tIns="0" rIns="0" bIns="0" rtlCol="0" anchor="t"/>
          <a:lstStyle/>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grep -c ERROR logs/system.log</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13</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cut -d' ' -f9 logs/access.log |</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sort | uniq -c | sort -rn</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148 200</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57 404</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34 304</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24 500</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20 301</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17 403</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ls nosuchfile 2&gt; errors.txt</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cat errors.txt</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ls: cannot access 'nosuchfile': No such file or directory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13</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Processes, Jobs and Signals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120640" cy="914400"/>
        </p:xfrm>
        <a:graphic>
          <a:graphicData uri="http://schemas.openxmlformats.org/drawingml/2006/table">
            <a:tbl>
              <a:tblPr/>
              <a:tblGrid>
                <a:gridCol w="1325880"/>
                <a:gridCol w="640080"/>
                <a:gridCol w="3154680"/>
              </a:tblGrid>
              <a:tr h="384048">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Signal</a:t>
                      </a:r>
                      <a:endParaRPr lang="en-US"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No.</a:t>
                      </a:r>
                      <a:endParaRPr lang="en-US"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Meaning</a:t>
                      </a:r>
                      <a:endParaRPr lang="en-US"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384048">
                <a:tc>
                  <a:txBody>
                    <a:bodyPr/>
                    <a:lstStyle/>
                    <a:p>
                      <a:pPr indent="0" marL="0">
                        <a:buNone/>
                      </a:pPr>
                      <a:r>
                        <a:rPr lang="en-US" sz="1450" b="1" dirty="0">
                          <a:solidFill>
                            <a:srgbClr val="3A464C"/>
                          </a:solidFill>
                          <a:latin typeface="Consolas" pitchFamily="34" charset="0"/>
                          <a:ea typeface="Consolas" pitchFamily="34" charset="-122"/>
                          <a:cs typeface="Consolas" pitchFamily="34" charset="-120"/>
                        </a:rPr>
                        <a:t>SIGINT</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onsolas" pitchFamily="34" charset="0"/>
                          <a:ea typeface="Consolas" pitchFamily="34" charset="-122"/>
                          <a:cs typeface="Consolas" pitchFamily="34" charset="-120"/>
                        </a:rPr>
                        <a:t>2</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Ctrl+C: interrupt</a:t>
                      </a:r>
                      <a:endParaRPr lang="en-US"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384048">
                <a:tc>
                  <a:txBody>
                    <a:bodyPr/>
                    <a:lstStyle/>
                    <a:p>
                      <a:pPr indent="0" marL="0">
                        <a:buNone/>
                      </a:pPr>
                      <a:r>
                        <a:rPr lang="en-US" sz="1450" b="1" dirty="0">
                          <a:solidFill>
                            <a:srgbClr val="3A464C"/>
                          </a:solidFill>
                          <a:latin typeface="Consolas" pitchFamily="34" charset="0"/>
                          <a:ea typeface="Consolas" pitchFamily="34" charset="-122"/>
                          <a:cs typeface="Consolas" pitchFamily="34" charset="-120"/>
                        </a:rPr>
                        <a:t>SIGTERM</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onsolas" pitchFamily="34" charset="0"/>
                          <a:ea typeface="Consolas" pitchFamily="34" charset="-122"/>
                          <a:cs typeface="Consolas" pitchFamily="34" charset="-120"/>
                        </a:rPr>
                        <a:t>15</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kill default: please stop</a:t>
                      </a:r>
                      <a:endParaRPr lang="en-US"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384048">
                <a:tc>
                  <a:txBody>
                    <a:bodyPr/>
                    <a:lstStyle/>
                    <a:p>
                      <a:pPr indent="0" marL="0">
                        <a:buNone/>
                      </a:pPr>
                      <a:r>
                        <a:rPr lang="en-US" sz="1450" b="1" dirty="0">
                          <a:solidFill>
                            <a:srgbClr val="3A464C"/>
                          </a:solidFill>
                          <a:latin typeface="Consolas" pitchFamily="34" charset="0"/>
                          <a:ea typeface="Consolas" pitchFamily="34" charset="-122"/>
                          <a:cs typeface="Consolas" pitchFamily="34" charset="-120"/>
                        </a:rPr>
                        <a:t>SIGKILL</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onsolas" pitchFamily="34" charset="0"/>
                          <a:ea typeface="Consolas" pitchFamily="34" charset="-122"/>
                          <a:cs typeface="Consolas" pitchFamily="34" charset="-120"/>
                        </a:rPr>
                        <a:t>9</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kill -9: cannot be caught</a:t>
                      </a:r>
                      <a:endParaRPr lang="en-US"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384048">
                <a:tc>
                  <a:txBody>
                    <a:bodyPr/>
                    <a:lstStyle/>
                    <a:p>
                      <a:pPr indent="0" marL="0">
                        <a:buNone/>
                      </a:pPr>
                      <a:r>
                        <a:rPr lang="en-US" sz="1450" b="1" dirty="0">
                          <a:solidFill>
                            <a:srgbClr val="3A464C"/>
                          </a:solidFill>
                          <a:latin typeface="Consolas" pitchFamily="34" charset="0"/>
                          <a:ea typeface="Consolas" pitchFamily="34" charset="-122"/>
                          <a:cs typeface="Consolas" pitchFamily="34" charset="-120"/>
                        </a:rPr>
                        <a:t>SIGSTOP</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onsolas" pitchFamily="34" charset="0"/>
                          <a:ea typeface="Consolas" pitchFamily="34" charset="-122"/>
                          <a:cs typeface="Consolas" pitchFamily="34" charset="-120"/>
                        </a:rPr>
                        <a:t>19</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pause; cannot be caught</a:t>
                      </a:r>
                      <a:endParaRPr lang="en-US"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384048">
                <a:tc>
                  <a:txBody>
                    <a:bodyPr/>
                    <a:lstStyle/>
                    <a:p>
                      <a:pPr indent="0" marL="0">
                        <a:buNone/>
                      </a:pPr>
                      <a:r>
                        <a:rPr lang="en-US" sz="1450" b="1" dirty="0">
                          <a:solidFill>
                            <a:srgbClr val="3A464C"/>
                          </a:solidFill>
                          <a:latin typeface="Consolas" pitchFamily="34" charset="0"/>
                          <a:ea typeface="Consolas" pitchFamily="34" charset="-122"/>
                          <a:cs typeface="Consolas" pitchFamily="34" charset="-120"/>
                        </a:rPr>
                        <a:t>SIGCONT</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onsolas" pitchFamily="34" charset="0"/>
                          <a:ea typeface="Consolas" pitchFamily="34" charset="-122"/>
                          <a:cs typeface="Consolas" pitchFamily="34" charset="-120"/>
                        </a:rPr>
                        <a:t>18</a:t>
                      </a:r>
                      <a:endParaRPr lang="en-US"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continue (fg / bg)</a:t>
                      </a:r>
                      <a:endParaRPr lang="en-US"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3886200"/>
            <a:ext cx="51206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4069080"/>
            <a:ext cx="4663440" cy="2057400"/>
          </a:xfrm>
          <a:prstGeom prst="rect">
            <a:avLst/>
          </a:prstGeom>
          <a:noFill/>
          <a:ln/>
        </p:spPr>
        <p:txBody>
          <a:bodyPr wrap="square" lIns="0" tIns="0" rIns="0" bIns="0" rtlCol="0" anchor="t"/>
          <a:lstStyle/>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Jobs:</a:t>
            </a:r>
            <a:r>
              <a:rPr lang="en-US" sz="1500" dirty="0">
                <a:solidFill>
                  <a:srgbClr val="3A464C"/>
                </a:solidFill>
                <a:latin typeface="Calibri" pitchFamily="34" charset="0"/>
                <a:ea typeface="Calibri" pitchFamily="34" charset="-122"/>
                <a:cs typeface="Calibri" pitchFamily="34" charset="-120"/>
              </a:rPr>
              <a:t> cmd &amp; (background), jobs, fg %1, bg %1, Ctrl+Z (SIGTSTP), kill %1.</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Look:</a:t>
            </a:r>
            <a:r>
              <a:rPr lang="en-US" sz="1500" dirty="0">
                <a:solidFill>
                  <a:srgbClr val="3A464C"/>
                </a:solidFill>
                <a:latin typeface="Calibri" pitchFamily="34" charset="0"/>
                <a:ea typeface="Calibri" pitchFamily="34" charset="-122"/>
                <a:cs typeface="Calibri" pitchFamily="34" charset="-120"/>
              </a:rPr>
              <a:t> ps, ps -ef, ps aux, pstree, top; STAT R S T Z (Week 3 states).</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Priority:</a:t>
            </a:r>
            <a:r>
              <a:rPr lang="en-US" sz="1500" dirty="0">
                <a:solidFill>
                  <a:srgbClr val="3A464C"/>
                </a:solidFill>
                <a:latin typeface="Calibri" pitchFamily="34" charset="0"/>
                <a:ea typeface="Calibri" pitchFamily="34" charset="-122"/>
                <a:cs typeface="Calibri" pitchFamily="34" charset="-120"/>
              </a:rPr>
              <a:t> nice −20 … 19; only root may lower it (Week 5).</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a:t>
            </a:r>
            <a:r>
              <a:rPr lang="en-US" sz="1500" dirty="0">
                <a:solidFill>
                  <a:srgbClr val="3A464C"/>
                </a:solidFill>
                <a:latin typeface="Calibri" pitchFamily="34" charset="0"/>
                <a:ea typeface="Calibri" pitchFamily="34" charset="-122"/>
                <a:cs typeface="Calibri" pitchFamily="34" charset="-120"/>
              </a:rPr>
              <a:t> PID of the shell, $! last background PID.</a:t>
            </a:r>
            <a:endParaRPr lang="en-US" sz="1500" dirty="0"/>
          </a:p>
        </p:txBody>
      </p:sp>
      <p:sp>
        <p:nvSpPr>
          <p:cNvPr id="9" name="Shape 6"/>
          <p:cNvSpPr/>
          <p:nvPr/>
        </p:nvSpPr>
        <p:spPr>
          <a:xfrm>
            <a:off x="5897880" y="1508760"/>
            <a:ext cx="5760720" cy="4754880"/>
          </a:xfrm>
          <a:prstGeom prst="roundRect">
            <a:avLst>
              <a:gd name="adj" fmla="val 962"/>
            </a:avLst>
          </a:prstGeom>
          <a:solidFill>
            <a:srgbClr val="212121"/>
          </a:solidFill>
          <a:ln/>
        </p:spPr>
        <p:txBody>
          <a:bodyPr/>
          <a:p/>
        </p:txBody>
      </p:sp>
      <p:sp>
        <p:nvSpPr>
          <p:cNvPr id="10" name="Text 7"/>
          <p:cNvSpPr txBox="1"/>
          <p:nvPr/>
        </p:nvSpPr>
        <p:spPr>
          <a:xfrm>
            <a:off x="6080760" y="1618488"/>
            <a:ext cx="5394960" cy="4535424"/>
          </a:xfrm>
          <a:prstGeom prst="rect">
            <a:avLst/>
          </a:prstGeom>
          <a:noFill/>
          <a:ln/>
        </p:spPr>
        <p:txBody>
          <a:bodyPr wrap="square" lIns="0" tIns="0" rIns="0" bIns="0" rtlCol="0" anchor="t"/>
          <a:lstStyle/>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sleep 600 &amp;</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echo $!</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23441</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jobs</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[1]+  Running                 sleep 600 &amp;</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ps -o pid,ppid,stat,cmd</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PID  PPID STAT CMD</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23361 23360 Ss+  bash /home/student/w15/demo_recap.sh</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23441 23361 S+   sleep 600</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23445 23361 R+   ps -o pid,ppid,stat,cmd</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kill %1</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student@okan-lab:~/lab$ kill -l TERM KILL INT STOP CONT</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15</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9</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2</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19</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18</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14</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Shell Scripting: the Building Blocks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23</a:t>
            </a:r>
            <a:endParaRPr lang="en-US" sz="900" dirty="0"/>
          </a:p>
        </p:txBody>
      </p:sp>
      <p:sp>
        <p:nvSpPr>
          <p:cNvPr id="6" name="Shape 4"/>
          <p:cNvSpPr/>
          <p:nvPr/>
        </p:nvSpPr>
        <p:spPr>
          <a:xfrm>
            <a:off x="548640" y="1508760"/>
            <a:ext cx="5120640" cy="4754880"/>
          </a:xfrm>
          <a:prstGeom prst="roundRect">
            <a:avLst>
              <a:gd name="adj" fmla="val 962"/>
            </a:avLst>
          </a:prstGeom>
          <a:solidFill>
            <a:srgbClr val="212121"/>
          </a:solidFill>
          <a:ln/>
        </p:spPr>
        <p:txBody>
          <a:bodyPr/>
          <a:p/>
        </p:txBody>
      </p:sp>
      <p:sp>
        <p:nvSpPr>
          <p:cNvPr id="7" name="Text 5"/>
          <p:cNvSpPr txBox="1"/>
          <p:nvPr/>
        </p:nvSpPr>
        <p:spPr>
          <a:xfrm>
            <a:off x="731520" y="1618488"/>
            <a:ext cx="4754880" cy="4535424"/>
          </a:xfrm>
          <a:prstGeom prst="rect">
            <a:avLst/>
          </a:prstGeom>
          <a:noFill/>
          <a:ln/>
        </p:spPr>
        <p:txBody>
          <a:bodyPr wrap="square" lIns="0" tIns="0" rIns="0" bIns="0" rtlCol="0" anchor="t"/>
          <a:lstStyle/>
          <a:p>
            <a:pPr indent="0" marL="0">
              <a:lnSpc>
                <a:spcPct val="105000"/>
              </a:lnSpc>
              <a:buNone/>
            </a:pPr>
            <a:r>
              <a:rPr lang="en-US" sz="1250" dirty="0">
                <a:solidFill>
                  <a:srgbClr val="8A9AA0"/>
                </a:solidFill>
                <a:latin typeface="Consolas" pitchFamily="34" charset="0"/>
                <a:ea typeface="Consolas" pitchFamily="34" charset="-122"/>
                <a:cs typeface="Consolas" pitchFamily="34" charset="-120"/>
              </a:rPr>
              <a:t>#!/bin/bash</a:t>
            </a:r>
            <a:endParaRPr lang="en-US" sz="1250" dirty="0"/>
          </a:p>
          <a:p>
            <a:pPr indent="0" marL="0">
              <a:lnSpc>
                <a:spcPct val="105000"/>
              </a:lnSpc>
              <a:buNone/>
            </a:pPr>
            <a:r>
              <a:rPr lang="en-US" sz="1250" dirty="0">
                <a:solidFill>
                  <a:srgbClr val="8A9AA0"/>
                </a:solidFill>
                <a:latin typeface="Consolas" pitchFamily="34" charset="0"/>
                <a:ea typeface="Consolas" pitchFamily="34" charset="-122"/>
                <a:cs typeface="Consolas" pitchFamily="34" charset="-120"/>
              </a:rPr>
              <a:t># skeleton of every exam script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if [ $# -ne 1 ]; then           # argument check</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echo "usage: $0 ARG" &gt;&amp;2</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exit 1</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fi</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count=0                         # no spaces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for f in "$1"/*; do             # loop over files</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if [ -f "$f" ]; then        # test: -f -d -e</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count=$((count + 1))    # arithmetic</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fi</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done</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echo "$count files in $1"</a:t>
            </a:r>
            <a:endParaRPr lang="en-US" sz="1250" dirty="0"/>
          </a:p>
        </p:txBody>
      </p:sp>
      <p:sp>
        <p:nvSpPr>
          <p:cNvPr id="8" name="Shape 6"/>
          <p:cNvSpPr/>
          <p:nvPr/>
        </p:nvSpPr>
        <p:spPr>
          <a:xfrm>
            <a:off x="5897880" y="1508760"/>
            <a:ext cx="5760720" cy="3291840"/>
          </a:xfrm>
          <a:prstGeom prst="roundRect">
            <a:avLst>
              <a:gd name="adj" fmla="val 1389"/>
            </a:avLst>
          </a:prstGeom>
          <a:solidFill>
            <a:srgbClr val="212121"/>
          </a:solidFill>
          <a:ln/>
        </p:spPr>
        <p:txBody>
          <a:bodyPr/>
          <a:p/>
        </p:txBody>
      </p:sp>
      <p:sp>
        <p:nvSpPr>
          <p:cNvPr id="9" name="Text 7"/>
          <p:cNvSpPr txBox="1"/>
          <p:nvPr/>
        </p:nvSpPr>
        <p:spPr>
          <a:xfrm>
            <a:off x="6080760" y="1618488"/>
            <a:ext cx="5394960" cy="3072384"/>
          </a:xfrm>
          <a:prstGeom prst="rect">
            <a:avLst/>
          </a:prstGeom>
          <a:noFill/>
          <a:ln/>
        </p:spPr>
        <p:txBody>
          <a:bodyPr wrap="square" lIns="0" tIns="0" rIns="0" bIns="0" rtlCol="0" anchor="t"/>
          <a:lstStyle/>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name=student; echo "Hello $name"</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Hello student</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echo 'Hello $name'</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Hello $name</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echo "2^10 = $((2 ** 10))"</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2^10 = 1024</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n=$(wc -l &lt; data/students.csv);</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echo "students.csv has $n lines"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students.csv has 41 lines</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 -d logs ] &amp;&amp; echo "logs is a</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directory"</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logs is a directory</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for c in 1 2 3; do echo "item $c";</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done</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item 1</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item 2</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item 3</a:t>
            </a:r>
            <a:endParaRPr lang="en-US" sz="1150" dirty="0"/>
          </a:p>
        </p:txBody>
      </p:sp>
      <p:sp>
        <p:nvSpPr>
          <p:cNvPr id="10" name="Shape 8"/>
          <p:cNvSpPr/>
          <p:nvPr/>
        </p:nvSpPr>
        <p:spPr>
          <a:xfrm>
            <a:off x="5897880" y="4983480"/>
            <a:ext cx="5760720" cy="1280160"/>
          </a:xfrm>
          <a:prstGeom prst="roundRect">
            <a:avLst>
              <a:gd name="adj" fmla="val 4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126480" y="5166360"/>
            <a:ext cx="5303520" cy="96012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Numbers: -eq -ne -lt -le -gt -ge.  Strings: = != -z.  Run: chmod +x s.sh; ./s.sh  or  bash s.sh.  Debug: bash -x s.sh.</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COMMAND CHEAT SHEET · 1/2</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Navigation, Files and Permissions (Weeks 9–11)</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2331720"/>
                <a:gridCol w="3200400"/>
                <a:gridCol w="2331720"/>
                <a:gridCol w="3246120"/>
              </a:tblGrid>
              <a:tr h="0">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Task</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Command</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Task</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Command</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Where am I?</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pwd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Copy a folder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cp -r src/ dst/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List, long, hidden</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ls -la   (-h sizes)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Move / rename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mv old new</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Go home / back / up</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cd ~   cd -   cd ..</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Delete (asks)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rm -i f   rm -r dir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Help</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man ls   ls --help</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Links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ln f h   ln -s f 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Make folders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mkdir -p a/b/c</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Show file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cat less head tail -n</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Empty file / time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touch 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Sizes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wc -l   du -sh   df -h</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Who am I?</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whoami   id   groups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Metadata</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stat f   file f   ls -i</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Permissions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chmod 640 f   chmod u+x 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Owner (root)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sudo chown u:g 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COMMAND CHEAT SHEET · 2/2</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Text, Pipes, Processes and Scripts (Weeks 12–14)</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2331720"/>
                <a:gridCol w="3337560"/>
                <a:gridCol w="2194560"/>
                <a:gridCol w="3246120"/>
              </a:tblGrid>
              <a:tr h="0">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Task</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Command</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Task</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Command</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Find lines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grep -n -i -v -c -w</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Processes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ps aux   ps -ef   top</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Field k, delim 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cut -d, -f3</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Background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cmd &amp;   jobs   fg %1</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Sort numerically</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sort -n -r -t, -k5</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Stop politely</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kill PID   (SIGTERM)</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Count duplicates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sort | uniq -c</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Force stop</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kill -9 PID   (SIGKILL)</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Skip header line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tail -n +2 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Lower priority</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nice -n 10 cmd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Translate chars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tr a-z A-Z</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Script start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#!/bin/bash</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Save and show</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cmd | tee out.txt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Variables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x=5; echo "$x"</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Find files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find . -name "*.c" -type 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Arithmetic</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$((x + 1))   $(cmd)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PROBLEM 5 · WEEK 11</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Write the Command: Permissions and umask</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26</a:t>
            </a:r>
            <a:endParaRPr lang="en-US" sz="900" dirty="0"/>
          </a:p>
        </p:txBody>
      </p:sp>
      <p:sp>
        <p:nvSpPr>
          <p:cNvPr id="6" name="Shape 4"/>
          <p:cNvSpPr/>
          <p:nvPr/>
        </p:nvSpPr>
        <p:spPr>
          <a:xfrm>
            <a:off x="548640" y="1508760"/>
            <a:ext cx="5120640" cy="2651760"/>
          </a:xfrm>
          <a:prstGeom prst="roundRect">
            <a:avLst>
              <a:gd name="adj" fmla="val 206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6634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question</a:t>
            </a:r>
            <a:endParaRPr lang="en-US" sz="1500" dirty="0"/>
          </a:p>
        </p:txBody>
      </p:sp>
      <p:sp>
        <p:nvSpPr>
          <p:cNvPr id="8" name="Text 6"/>
          <p:cNvSpPr txBox="1"/>
          <p:nvPr/>
        </p:nvSpPr>
        <p:spPr>
          <a:xfrm>
            <a:off x="777240" y="2148840"/>
            <a:ext cx="4663440" cy="187452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(a) report.sh: owner may read, write, run; group read and run; others nothing. Octal command?</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(b) After umask 027, which permissions get a new file and a new directory?</a:t>
            </a:r>
            <a:endParaRPr lang="en-US" sz="1600" dirty="0"/>
          </a:p>
        </p:txBody>
      </p:sp>
      <p:sp>
        <p:nvSpPr>
          <p:cNvPr id="9" name="Shape 7"/>
          <p:cNvSpPr/>
          <p:nvPr/>
        </p:nvSpPr>
        <p:spPr>
          <a:xfrm>
            <a:off x="548640" y="4343400"/>
            <a:ext cx="5120640" cy="1920240"/>
          </a:xfrm>
          <a:prstGeom prst="roundRect">
            <a:avLst>
              <a:gd name="adj" fmla="val 2381"/>
            </a:avLst>
          </a:prstGeom>
          <a:solidFill>
            <a:srgbClr val="212121"/>
          </a:solidFill>
          <a:ln/>
        </p:spPr>
        <p:txBody>
          <a:bodyPr/>
          <a:p/>
        </p:txBody>
      </p:sp>
      <p:sp>
        <p:nvSpPr>
          <p:cNvPr id="10" name="Text 8"/>
          <p:cNvSpPr txBox="1"/>
          <p:nvPr/>
        </p:nvSpPr>
        <p:spPr>
          <a:xfrm>
            <a:off x="731520" y="4453128"/>
            <a:ext cx="4754880" cy="170078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(a) rwx r-x --- = 4+2+1  4+0+1  0 = 750</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chmod 750 report.sh</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(b) remove the umask bits (AND NOT 027):</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file 666 → 640  rw-r-----</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dir  777 → 750  rwxr-x---</a:t>
            </a:r>
            <a:endParaRPr lang="en-US" sz="1350" dirty="0"/>
          </a:p>
        </p:txBody>
      </p:sp>
      <p:sp>
        <p:nvSpPr>
          <p:cNvPr id="11" name="Shape 9"/>
          <p:cNvSpPr/>
          <p:nvPr/>
        </p:nvSpPr>
        <p:spPr>
          <a:xfrm>
            <a:off x="5897880" y="1508760"/>
            <a:ext cx="5760720" cy="4754880"/>
          </a:xfrm>
          <a:prstGeom prst="roundRect">
            <a:avLst>
              <a:gd name="adj" fmla="val 962"/>
            </a:avLst>
          </a:prstGeom>
          <a:solidFill>
            <a:srgbClr val="212121"/>
          </a:solidFill>
          <a:ln/>
        </p:spPr>
        <p:txBody>
          <a:bodyPr/>
          <a:p/>
        </p:txBody>
      </p:sp>
      <p:sp>
        <p:nvSpPr>
          <p:cNvPr id="12" name="Text 10"/>
          <p:cNvSpPr txBox="1"/>
          <p:nvPr/>
        </p:nvSpPr>
        <p:spPr>
          <a:xfrm>
            <a:off x="6080760" y="1618488"/>
            <a:ext cx="5394960" cy="4535424"/>
          </a:xfrm>
          <a:prstGeom prst="rect">
            <a:avLst/>
          </a:prstGeom>
          <a:noFill/>
          <a:ln/>
        </p:spPr>
        <p:txBody>
          <a:bodyPr wrap="square" lIns="0" tIns="0" rIns="0" bIns="0" rtlCol="0" anchor="t"/>
          <a:lstStyle/>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touch report.sh</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ls -l report.sh</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-rw-rw-r-- 1 student student 0 Oct 12 08:50 report.sh</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chmod 750 report.sh</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ls -l report.sh</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-rwxr-x--- 1 student student 0 Oct 12 08:50 report.sh</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umask 027</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touch new.txt; mkdir newdir</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student@okan-lab:~/lab$ ls -ld new.txt newdir</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-rw-r----- 1 student student    0 Oct 12 08:50 new.txt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drwxr-x--- 2 student student 4096 Oct 12 08:50 newdir</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PROBLEM 6 · WEEK 12</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Write the Pipeline: Questions about access.log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27</a:t>
            </a:r>
            <a:endParaRPr lang="en-US" sz="900" dirty="0"/>
          </a:p>
        </p:txBody>
      </p:sp>
      <p:sp>
        <p:nvSpPr>
          <p:cNvPr id="6" name="Shape 4"/>
          <p:cNvSpPr/>
          <p:nvPr/>
        </p:nvSpPr>
        <p:spPr>
          <a:xfrm>
            <a:off x="548640" y="1508760"/>
            <a:ext cx="4206240" cy="4754880"/>
          </a:xfrm>
          <a:prstGeom prst="roundRect">
            <a:avLst>
              <a:gd name="adj" fmla="val 130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questions</a:t>
            </a:r>
            <a:endParaRPr lang="en-US" sz="1500" dirty="0"/>
          </a:p>
        </p:txBody>
      </p:sp>
      <p:sp>
        <p:nvSpPr>
          <p:cNvPr id="8" name="Text 6"/>
          <p:cNvSpPr txBox="1"/>
          <p:nvPr/>
        </p:nvSpPr>
        <p:spPr>
          <a:xfrm>
            <a:off x="777240" y="2148840"/>
            <a:ext cx="3749040" cy="397764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(a) Which three IP addresses sent the most requests?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(b) How many requests returned status 404?</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(c) Which page caused the most 404 errors?</a:t>
            </a:r>
            <a:endParaRPr lang="en-US" sz="1600" dirty="0"/>
          </a:p>
          <a:p>
            <a:pPr marL="228600" indent="-228600">
              <a:spcAft>
                <a:spcPts val="400"/>
              </a:spcAft>
              <a:buSzPct val="100000"/>
              <a:buChar char="•"/>
            </a:pPr>
            <a:r>
              <a:rPr lang="en-US" sz="1600" b="1" dirty="0">
                <a:solidFill>
                  <a:srgbClr val="3A464C"/>
                </a:solidFill>
                <a:latin typeface="Calibri" pitchFamily="34" charset="0"/>
                <a:ea typeface="Calibri" pitchFamily="34" charset="-122"/>
                <a:cs typeface="Calibri" pitchFamily="34" charset="-120"/>
              </a:rPr>
              <a:t>Fields</a:t>
            </a:r>
            <a:r>
              <a:rPr lang="en-US" sz="1600" dirty="0">
                <a:solidFill>
                  <a:srgbClr val="3A464C"/>
                </a:solidFill>
                <a:latin typeface="Calibri" pitchFamily="34" charset="0"/>
                <a:ea typeface="Calibri" pitchFamily="34" charset="-122"/>
                <a:cs typeface="Calibri" pitchFamily="34" charset="-120"/>
              </a:rPr>
              <a:t> (space-separated): 1 = IP, 7 = page, 9 = status code.</a:t>
            </a:r>
            <a:endParaRPr lang="en-US" sz="1600" dirty="0"/>
          </a:p>
        </p:txBody>
      </p:sp>
      <p:sp>
        <p:nvSpPr>
          <p:cNvPr id="9" name="Shape 7"/>
          <p:cNvSpPr/>
          <p:nvPr/>
        </p:nvSpPr>
        <p:spPr>
          <a:xfrm>
            <a:off x="4983480" y="1508760"/>
            <a:ext cx="6675120" cy="4754880"/>
          </a:xfrm>
          <a:prstGeom prst="roundRect">
            <a:avLst>
              <a:gd name="adj" fmla="val 962"/>
            </a:avLst>
          </a:prstGeom>
          <a:solidFill>
            <a:srgbClr val="212121"/>
          </a:solidFill>
          <a:ln/>
        </p:spPr>
        <p:txBody>
          <a:bodyPr/>
          <a:p/>
        </p:txBody>
      </p:sp>
      <p:sp>
        <p:nvSpPr>
          <p:cNvPr id="10" name="Text 8"/>
          <p:cNvSpPr txBox="1"/>
          <p:nvPr/>
        </p:nvSpPr>
        <p:spPr>
          <a:xfrm>
            <a:off x="5166360" y="1618488"/>
            <a:ext cx="6309360" cy="4535424"/>
          </a:xfrm>
          <a:prstGeom prst="rect">
            <a:avLst/>
          </a:prstGeom>
          <a:noFill/>
          <a:ln/>
        </p:spPr>
        <p:txBody>
          <a:bodyPr wrap="square" lIns="0" tIns="0" rIns="0" bIns="0" rtlCol="0" anchor="t"/>
          <a:lstStyle/>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student@okan-lab:~/lab$ cut -d' ' -f1 logs/access.log | sort |</a:t>
            </a:r>
            <a:endParaRPr lang="en-US" sz="1250" dirty="0"/>
          </a:p>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uniq -c | sort -rn | head -3</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58 10.0.2.17</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56 10.0.4.31</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52 10.0.6.45</a:t>
            </a:r>
            <a:endParaRPr lang="en-US" sz="1250" dirty="0"/>
          </a:p>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student@okan-lab:~/lab$ cut -d' ' -f9 logs/access.log |</a:t>
            </a:r>
            <a:endParaRPr lang="en-US" sz="1250" dirty="0"/>
          </a:p>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grep -c '^404$'</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57</a:t>
            </a:r>
            <a:endParaRPr lang="en-US" sz="1250" dirty="0"/>
          </a:p>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student@okan-lab:~/lab$ grep ' 404 ' logs/access.log |</a:t>
            </a:r>
            <a:endParaRPr lang="en-US" sz="1250" dirty="0"/>
          </a:p>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cut -d' ' -f7 | sort | uniq -c | sort -rn | head -1</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9 /images/logo.png</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PROBLEM 7 · WEEK 14</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Write the Script: Department Statistics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28</a:t>
            </a:r>
            <a:endParaRPr lang="en-US" sz="900" dirty="0"/>
          </a:p>
        </p:txBody>
      </p:sp>
      <p:sp>
        <p:nvSpPr>
          <p:cNvPr id="6" name="Text 4"/>
          <p:cNvSpPr txBox="1"/>
          <p:nvPr/>
        </p:nvSpPr>
        <p:spPr>
          <a:xfrm>
            <a:off x="548640" y="1417320"/>
            <a:ext cx="11109960" cy="548640"/>
          </a:xfrm>
          <a:prstGeom prst="rect">
            <a:avLst/>
          </a:prstGeom>
          <a:noFill/>
          <a:ln/>
        </p:spPr>
        <p:txBody>
          <a:bodyPr wrap="square" lIns="0" tIns="0" rIns="0" bIns="0" rtlCol="0" anchor="t"/>
          <a:lstStyle/>
          <a:p>
            <a:pPr indent="0" marL="0">
              <a:buNone/>
            </a:pPr>
            <a:r>
              <a:rPr lang="en-US" sz="1400" dirty="0">
                <a:solidFill>
                  <a:srgbClr val="3A464C"/>
                </a:solidFill>
                <a:latin typeface="Calibri" pitchFamily="34" charset="0"/>
                <a:ea typeface="Calibri" pitchFamily="34" charset="-122"/>
                <a:cs typeface="Calibri" pitchFamily="34" charset="-120"/>
              </a:rPr>
              <a:t>Write dept_stats.sh DEPT: print the number of students of DEPT in data/students.csv and their average final grade; without an argument print a usage message and exit with status 1.</a:t>
            </a:r>
            <a:endParaRPr lang="en-US" sz="1400" dirty="0"/>
          </a:p>
        </p:txBody>
      </p:sp>
      <p:sp>
        <p:nvSpPr>
          <p:cNvPr id="7" name="Shape 5"/>
          <p:cNvSpPr/>
          <p:nvPr/>
        </p:nvSpPr>
        <p:spPr>
          <a:xfrm>
            <a:off x="548640" y="2057400"/>
            <a:ext cx="5852160" cy="4206240"/>
          </a:xfrm>
          <a:prstGeom prst="roundRect">
            <a:avLst>
              <a:gd name="adj" fmla="val 1087"/>
            </a:avLst>
          </a:prstGeom>
          <a:solidFill>
            <a:srgbClr val="212121"/>
          </a:solidFill>
          <a:ln/>
        </p:spPr>
        <p:txBody>
          <a:bodyPr/>
          <a:p/>
        </p:txBody>
      </p:sp>
      <p:sp>
        <p:nvSpPr>
          <p:cNvPr id="8" name="Text 6"/>
          <p:cNvSpPr txBox="1"/>
          <p:nvPr/>
        </p:nvSpPr>
        <p:spPr>
          <a:xfrm>
            <a:off x="731520" y="2167128"/>
            <a:ext cx="5486400" cy="3986784"/>
          </a:xfrm>
          <a:prstGeom prst="rect">
            <a:avLst/>
          </a:prstGeom>
          <a:noFill/>
          <a:ln/>
        </p:spPr>
        <p:txBody>
          <a:bodyPr wrap="square" lIns="0" tIns="0" rIns="0" bIns="0" rtlCol="0" anchor="t"/>
          <a:lstStyle/>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#!/bin/bash</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if [ $# -ne 1 ]; then</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echo "usage: $0 DEPARTMENT" &gt;&amp;2</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exit 1</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fi</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dept=$1</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count=0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sum=0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for f in $(grep ",$dept," data/students.csv | cut -d, -f5); do</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count=$((count + 1))</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sum=$((sum + f))</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done</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if [ $count -eq 0 ]; then</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echo "no students in $dept"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exit 2</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fi</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echo "$dept: $count students, average final $((sum / count))"</a:t>
            </a:r>
            <a:endParaRPr lang="en-US" sz="1100" dirty="0"/>
          </a:p>
        </p:txBody>
      </p:sp>
      <p:sp>
        <p:nvSpPr>
          <p:cNvPr id="9" name="Shape 7"/>
          <p:cNvSpPr/>
          <p:nvPr/>
        </p:nvSpPr>
        <p:spPr>
          <a:xfrm>
            <a:off x="6583680" y="2057400"/>
            <a:ext cx="5074920" cy="2468880"/>
          </a:xfrm>
          <a:prstGeom prst="roundRect">
            <a:avLst>
              <a:gd name="adj" fmla="val 1852"/>
            </a:avLst>
          </a:prstGeom>
          <a:solidFill>
            <a:srgbClr val="212121"/>
          </a:solidFill>
          <a:ln/>
        </p:spPr>
        <p:txBody>
          <a:bodyPr/>
          <a:p/>
        </p:txBody>
      </p:sp>
      <p:sp>
        <p:nvSpPr>
          <p:cNvPr id="10" name="Text 8"/>
          <p:cNvSpPr txBox="1"/>
          <p:nvPr/>
        </p:nvSpPr>
        <p:spPr>
          <a:xfrm>
            <a:off x="6766560" y="2167128"/>
            <a:ext cx="4709160" cy="2249424"/>
          </a:xfrm>
          <a:prstGeom prst="rect">
            <a:avLst/>
          </a:prstGeom>
          <a:noFill/>
          <a:ln/>
        </p:spPr>
        <p:txBody>
          <a:bodyPr wrap="square" lIns="0" tIns="0" rIns="0" bIns="0" rtlCol="0" anchor="t"/>
          <a:lstStyle/>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student@okan-lab:~/lab$ ./scripts/dept_stats.sh ECT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ECT: 17 students, average final 63</a:t>
            </a:r>
            <a:endParaRPr lang="en-US" sz="1100" dirty="0"/>
          </a:p>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student@okan-lab:~/lab$ ./scripts/dept_stats.sh CS</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CS: 10 students, average final 65</a:t>
            </a:r>
            <a:endParaRPr lang="en-US" sz="1100" dirty="0"/>
          </a:p>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student@okan-lab:~/lab$ ./scripts/dept_stats.sh</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usage: ./scripts/dept_stats.sh DEPARTMENT</a:t>
            </a:r>
            <a:endParaRPr lang="en-US" sz="1100" dirty="0"/>
          </a:p>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student@okan-lab:~/lab$ echo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1</a:t>
            </a:r>
            <a:endParaRPr lang="en-US" sz="1100" dirty="0"/>
          </a:p>
        </p:txBody>
      </p:sp>
      <p:sp>
        <p:nvSpPr>
          <p:cNvPr id="11" name="Shape 9"/>
          <p:cNvSpPr/>
          <p:nvPr/>
        </p:nvSpPr>
        <p:spPr>
          <a:xfrm>
            <a:off x="6583680" y="4663440"/>
            <a:ext cx="5074920" cy="1600200"/>
          </a:xfrm>
          <a:prstGeom prst="roundRect">
            <a:avLst>
              <a:gd name="adj" fmla="val 34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6812280" y="4846320"/>
            <a:ext cx="4617720" cy="128016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$((sum / count)) is integer division: 1072 / 17 = 63.06 → 63.</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usage message goes to stderr (&gt;&amp;2).</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AVOID THESE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Common Mistakes: Theory</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29</a:t>
            </a:r>
            <a:endParaRPr lang="en-US"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Waiting vs. turnaround</a:t>
            </a:r>
            <a:endParaRPr lang="en-US"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Waiting = turnaround − burst. Do not forget the arrival time in turnaround.</a:t>
            </a:r>
            <a:endParaRPr lang="en-US" sz="170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Round Robin queue</a:t>
            </a:r>
            <a:endParaRPr lang="en-US"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A process arriving at the moment a quantum expires enters the queue BEFORE the preempted one (our convention).</a:t>
            </a:r>
            <a:endParaRPr lang="en-US" sz="170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Units</a:t>
            </a:r>
            <a:endParaRPr lang="en-US"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8 ms = 8,000,000 ns. Convert first, then substitute.</a:t>
            </a:r>
            <a:endParaRPr lang="en-US" sz="170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TLB miss</a:t>
            </a:r>
            <a:endParaRPr lang="en-US"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A miss costs two memory accesses (page table + data), plus the TLB lookup.</a:t>
            </a:r>
            <a:endParaRPr lang="en-US" sz="170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LRU vs. OPT</a:t>
            </a:r>
            <a:endParaRPr lang="en-US"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LRU looks backwards (least recently used); OPT looks forwards (used farthest in the future).</a:t>
            </a:r>
            <a:endParaRPr lang="en-US" sz="170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Block arithmetic</a:t>
            </a:r>
            <a:endParaRPr lang="en-US"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Records and blocks are numbered from 0. Check whether the last byte crosses a block boundary.</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AVOID THESE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Common Mistakes: Commands and Scripts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30</a:t>
            </a:r>
            <a:endParaRPr lang="en-US"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uniq without sort</a:t>
            </a:r>
            <a:endParaRPr lang="en-US"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uniq -c only merges ADJACENT equal lines: always sort | uniq -c.</a:t>
            </a:r>
            <a:endParaRPr lang="en-US" sz="170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Spaces</a:t>
            </a:r>
            <a:endParaRPr lang="en-US"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x=5, not x = 5.   [ $a -gt 3 ], not [$a -gt 3].</a:t>
            </a:r>
            <a:endParaRPr lang="en-US" sz="170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Quotes</a:t>
            </a:r>
            <a:endParaRPr lang="en-US"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"$name" expands, '$name' does not. Quote file names with spaces: "final report.txt".</a:t>
            </a:r>
            <a:endParaRPr lang="en-US" sz="170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&gt; vs &gt;&gt;</a:t>
            </a:r>
            <a:endParaRPr lang="en-US"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&gt; overwrites the file, &gt;&gt; appends. 2&gt; redirects only errors.</a:t>
            </a:r>
            <a:endParaRPr lang="en-US" sz="170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chmod 777, rm -r, kill -9</a:t>
            </a:r>
            <a:endParaRPr lang="en-US"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Too much permission, no undo, no clean-up. Use the gentlest tool that works.</a:t>
            </a:r>
            <a:endParaRPr lang="en-US" sz="170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Relative paths</a:t>
            </a:r>
            <a:endParaRPr lang="en-US"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A script run from another directory will not find data/…; run it from ~/lab or use absolute paths.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EXAM STRATEGY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How to Use the [90] Minutes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31</a:t>
            </a:r>
            <a:endParaRPr lang="en-US"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Before the exam</a:t>
            </a:r>
            <a:endParaRPr lang="en-US"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Redo every worked example and review question of Weeks 1–7 and the lab sheets of Weeks 9–14.</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Solve the Practice Final in the study guide, then the sample paper — on paper, timed.</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Practise on Linux: type every command of the cheat sheet in ~/lab.</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Sleep. Tired brains make arithmetic mistakes.</a:t>
            </a:r>
            <a:endParaRPr lang="en-US"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During the exam</a:t>
            </a:r>
            <a:endParaRPr lang="en-US"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Read the whole paper first (5 min); start with what you know best.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Rough plan: about 1 minute per point, leave 10 minutes to check.</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Show every step: formula → numbers → result with unit.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Commands: exact spelling and options; for scripts, logic first, details later.</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Never leave a question empty: partial credit exists.</a:t>
            </a:r>
            <a:endParaRPr lang="en-US"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One point per minute is a guide, not a rule: 100 points in [90] minutes leaves little slack — keep moving.</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32</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P1 (0, 4), P2 (1, 2), P3 (2, 1) in ms, SRTF. What is the average waiting time?</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Page size 4 KB. Logical address 0x3A7F: page number and offset? (in hex)</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Which umask makes new files rw-r----- and new directories rwxr-x---?</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Write a pipeline that prints the number of lines in logs/system.log that do NOT contain INFO.</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Course in Eight Lines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33</a:t>
            </a:r>
            <a:endParaRPr lang="en-US"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300"/>
              </a:spcAft>
              <a:buSzPct val="100000"/>
              <a:buChar char="•"/>
            </a:pPr>
            <a:r>
              <a:rPr lang="en-US" sz="2000" b="1" dirty="0">
                <a:solidFill>
                  <a:srgbClr val="3A464C"/>
                </a:solidFill>
                <a:latin typeface="Calibri" pitchFamily="34" charset="0"/>
                <a:ea typeface="Calibri" pitchFamily="34" charset="-122"/>
                <a:cs typeface="Calibri" pitchFamily="34" charset="-120"/>
              </a:rPr>
              <a:t>An OS</a:t>
            </a:r>
            <a:r>
              <a:rPr lang="en-US" sz="2000" dirty="0">
                <a:solidFill>
                  <a:srgbClr val="3A464C"/>
                </a:solidFill>
                <a:latin typeface="Calibri" pitchFamily="34" charset="0"/>
                <a:ea typeface="Calibri" pitchFamily="34" charset="-122"/>
                <a:cs typeface="Calibri" pitchFamily="34" charset="-120"/>
              </a:rPr>
              <a:t> is a resource manager and an extended machine; dual mode and system calls protect it (W1–W2).</a:t>
            </a:r>
            <a:endParaRPr lang="en-US" sz="2000" dirty="0"/>
          </a:p>
          <a:p>
            <a:pPr marL="228600" indent="-228600">
              <a:spcAft>
                <a:spcPts val="1300"/>
              </a:spcAft>
              <a:buSzPct val="100000"/>
              <a:buChar char="•"/>
            </a:pPr>
            <a:r>
              <a:rPr lang="en-US" sz="2000" b="1" dirty="0">
                <a:solidFill>
                  <a:srgbClr val="3A464C"/>
                </a:solidFill>
                <a:latin typeface="Calibri" pitchFamily="34" charset="0"/>
                <a:ea typeface="Calibri" pitchFamily="34" charset="-122"/>
                <a:cs typeface="Calibri" pitchFamily="34" charset="-120"/>
              </a:rPr>
              <a:t>Processes</a:t>
            </a:r>
            <a:r>
              <a:rPr lang="en-US" sz="2000" dirty="0">
                <a:solidFill>
                  <a:srgbClr val="3A464C"/>
                </a:solidFill>
                <a:latin typeface="Calibri" pitchFamily="34" charset="0"/>
                <a:ea typeface="Calibri" pitchFamily="34" charset="-122"/>
                <a:cs typeface="Calibri" pitchFamily="34" charset="-120"/>
              </a:rPr>
              <a:t> move between five states; the PCB and context switch make multitasking possible (W3).</a:t>
            </a:r>
            <a:endParaRPr lang="en-US" sz="2000" dirty="0"/>
          </a:p>
          <a:p>
            <a:pPr marL="228600" indent="-228600">
              <a:spcAft>
                <a:spcPts val="1300"/>
              </a:spcAft>
              <a:buSzPct val="100000"/>
              <a:buChar char="•"/>
            </a:pPr>
            <a:r>
              <a:rPr lang="en-US" sz="2000" b="1" dirty="0">
                <a:solidFill>
                  <a:srgbClr val="3A464C"/>
                </a:solidFill>
                <a:latin typeface="Calibri" pitchFamily="34" charset="0"/>
                <a:ea typeface="Calibri" pitchFamily="34" charset="-122"/>
                <a:cs typeface="Calibri" pitchFamily="34" charset="-120"/>
              </a:rPr>
              <a:t>Threads and schedulers</a:t>
            </a:r>
            <a:r>
              <a:rPr lang="en-US" sz="2000" dirty="0">
                <a:solidFill>
                  <a:srgbClr val="3A464C"/>
                </a:solidFill>
                <a:latin typeface="Calibri" pitchFamily="34" charset="0"/>
                <a:ea typeface="Calibri" pitchFamily="34" charset="-122"/>
                <a:cs typeface="Calibri" pitchFamily="34" charset="-120"/>
              </a:rPr>
              <a:t> share the CPU: FCFS, SJF/SRTF, Priority, RR, judged by waiting and response time (W4–W5).</a:t>
            </a:r>
            <a:endParaRPr lang="en-US" sz="2000" dirty="0"/>
          </a:p>
          <a:p>
            <a:pPr marL="228600" indent="-228600">
              <a:spcAft>
                <a:spcPts val="1300"/>
              </a:spcAft>
              <a:buSzPct val="100000"/>
              <a:buChar char="•"/>
            </a:pPr>
            <a:r>
              <a:rPr lang="en-US" sz="2000" b="1" dirty="0">
                <a:solidFill>
                  <a:srgbClr val="3A464C"/>
                </a:solidFill>
                <a:latin typeface="Calibri" pitchFamily="34" charset="0"/>
                <a:ea typeface="Calibri" pitchFamily="34" charset="-122"/>
                <a:cs typeface="Calibri" pitchFamily="34" charset="-120"/>
              </a:rPr>
              <a:t>Shared data</a:t>
            </a:r>
            <a:r>
              <a:rPr lang="en-US" sz="2000" dirty="0">
                <a:solidFill>
                  <a:srgbClr val="3A464C"/>
                </a:solidFill>
                <a:latin typeface="Calibri" pitchFamily="34" charset="0"/>
                <a:ea typeface="Calibri" pitchFamily="34" charset="-122"/>
                <a:cs typeface="Calibri" pitchFamily="34" charset="-120"/>
              </a:rPr>
              <a:t> needs mutual exclusion: mutex locks and semaphores (W5).</a:t>
            </a:r>
            <a:endParaRPr lang="en-US" sz="2000" dirty="0"/>
          </a:p>
          <a:p>
            <a:pPr marL="228600" indent="-228600">
              <a:spcAft>
                <a:spcPts val="1300"/>
              </a:spcAft>
              <a:buSzPct val="100000"/>
              <a:buChar char="•"/>
            </a:pPr>
            <a:r>
              <a:rPr lang="en-US" sz="2000" b="1" dirty="0">
                <a:solidFill>
                  <a:srgbClr val="3A464C"/>
                </a:solidFill>
                <a:latin typeface="Calibri" pitchFamily="34" charset="0"/>
                <a:ea typeface="Calibri" pitchFamily="34" charset="-122"/>
                <a:cs typeface="Calibri" pitchFamily="34" charset="-120"/>
              </a:rPr>
              <a:t>Memory</a:t>
            </a:r>
            <a:r>
              <a:rPr lang="en-US" sz="2000" dirty="0">
                <a:solidFill>
                  <a:srgbClr val="3A464C"/>
                </a:solidFill>
                <a:latin typeface="Calibri" pitchFamily="34" charset="0"/>
                <a:ea typeface="Calibri" pitchFamily="34" charset="-122"/>
                <a:cs typeface="Calibri" pitchFamily="34" charset="-120"/>
              </a:rPr>
              <a:t> is translated by the MMU: paging, TLB, virtual memory, page replacement (W6–W7).</a:t>
            </a:r>
            <a:endParaRPr lang="en-US" sz="2000" dirty="0"/>
          </a:p>
          <a:p>
            <a:pPr marL="228600" indent="-228600">
              <a:spcAft>
                <a:spcPts val="1300"/>
              </a:spcAft>
              <a:buSzPct val="100000"/>
              <a:buChar char="•"/>
            </a:pPr>
            <a:r>
              <a:rPr lang="en-US" sz="2000" b="1" dirty="0">
                <a:solidFill>
                  <a:srgbClr val="3A464C"/>
                </a:solidFill>
                <a:latin typeface="Calibri" pitchFamily="34" charset="0"/>
                <a:ea typeface="Calibri" pitchFamily="34" charset="-122"/>
                <a:cs typeface="Calibri" pitchFamily="34" charset="-120"/>
              </a:rPr>
              <a:t>Files</a:t>
            </a:r>
            <a:r>
              <a:rPr lang="en-US" sz="2000" dirty="0">
                <a:solidFill>
                  <a:srgbClr val="3A464C"/>
                </a:solidFill>
                <a:latin typeface="Calibri" pitchFamily="34" charset="0"/>
                <a:ea typeface="Calibri" pitchFamily="34" charset="-122"/>
                <a:cs typeface="Calibri" pitchFamily="34" charset="-120"/>
              </a:rPr>
              <a:t> are inodes with names in directories; links give a file several names (W7, W10).</a:t>
            </a:r>
            <a:endParaRPr lang="en-US" sz="2000" dirty="0"/>
          </a:p>
          <a:p>
            <a:pPr marL="228600" indent="-228600">
              <a:spcAft>
                <a:spcPts val="1300"/>
              </a:spcAft>
              <a:buSzPct val="100000"/>
              <a:buChar char="•"/>
            </a:pPr>
            <a:r>
              <a:rPr lang="en-US" sz="2000" b="1" dirty="0">
                <a:solidFill>
                  <a:srgbClr val="3A464C"/>
                </a:solidFill>
                <a:latin typeface="Calibri" pitchFamily="34" charset="0"/>
                <a:ea typeface="Calibri" pitchFamily="34" charset="-122"/>
                <a:cs typeface="Calibri" pitchFamily="34" charset="-120"/>
              </a:rPr>
              <a:t>The shell</a:t>
            </a:r>
            <a:r>
              <a:rPr lang="en-US" sz="2000" dirty="0">
                <a:solidFill>
                  <a:srgbClr val="3A464C"/>
                </a:solidFill>
                <a:latin typeface="Calibri" pitchFamily="34" charset="0"/>
                <a:ea typeface="Calibri" pitchFamily="34" charset="-122"/>
                <a:cs typeface="Calibri" pitchFamily="34" charset="-120"/>
              </a:rPr>
              <a:t> turns commands into system calls and processes: navigation, files, permissions, pipes, jobs (W9–W13).</a:t>
            </a:r>
            <a:endParaRPr lang="en-US" sz="2000" dirty="0"/>
          </a:p>
          <a:p>
            <a:pPr marL="228600" indent="-228600">
              <a:spcAft>
                <a:spcPts val="1300"/>
              </a:spcAft>
              <a:buSzPct val="100000"/>
              <a:buChar char="•"/>
            </a:pPr>
            <a:r>
              <a:rPr lang="en-US" sz="2000" b="1" dirty="0">
                <a:solidFill>
                  <a:srgbClr val="3A464C"/>
                </a:solidFill>
                <a:latin typeface="Calibri" pitchFamily="34" charset="0"/>
                <a:ea typeface="Calibri" pitchFamily="34" charset="-122"/>
                <a:cs typeface="Calibri" pitchFamily="34" charset="-120"/>
              </a:rPr>
              <a:t>Scripts</a:t>
            </a:r>
            <a:r>
              <a:rPr lang="en-US" sz="2000" dirty="0">
                <a:solidFill>
                  <a:srgbClr val="3A464C"/>
                </a:solidFill>
                <a:latin typeface="Calibri" pitchFamily="34" charset="0"/>
                <a:ea typeface="Calibri" pitchFamily="34" charset="-122"/>
                <a:cs typeface="Calibri" pitchFamily="34" charset="-120"/>
              </a:rPr>
              <a:t> automate everything you can type (W14).</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COURSE 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You Have Learned This Semester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34</a:t>
            </a:r>
            <a:endParaRPr lang="en-US" sz="900" dirty="0"/>
          </a:p>
        </p:txBody>
      </p:sp>
      <p:sp>
        <p:nvSpPr>
          <p:cNvPr id="6" name="Shape 4"/>
          <p:cNvSpPr/>
          <p:nvPr/>
        </p:nvSpPr>
        <p:spPr>
          <a:xfrm>
            <a:off x="548640" y="1645920"/>
            <a:ext cx="914400" cy="1143000"/>
          </a:xfrm>
          <a:prstGeom prst="roundRect">
            <a:avLst>
              <a:gd name="adj" fmla="val 5000"/>
            </a:avLst>
          </a:prstGeom>
          <a:solidFill>
            <a:srgbClr val="36454F"/>
          </a:solidFill>
          <a:ln/>
        </p:spPr>
        <p:txBody>
          <a:bodyPr/>
          <a:p/>
        </p:txBody>
      </p:sp>
      <p:sp>
        <p:nvSpPr>
          <p:cNvPr id="7" name="Text 5"/>
          <p:cNvSpPr txBox="1"/>
          <p:nvPr/>
        </p:nvSpPr>
        <p:spPr>
          <a:xfrm>
            <a:off x="548640"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W1–2</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What an OS is</a:t>
            </a:r>
            <a:endParaRPr lang="en-US" sz="1400" dirty="0"/>
          </a:p>
        </p:txBody>
      </p:sp>
      <p:sp>
        <p:nvSpPr>
          <p:cNvPr id="8" name="Shape 6"/>
          <p:cNvSpPr/>
          <p:nvPr/>
        </p:nvSpPr>
        <p:spPr>
          <a:xfrm>
            <a:off x="1559052" y="1645920"/>
            <a:ext cx="914400" cy="1143000"/>
          </a:xfrm>
          <a:prstGeom prst="roundRect">
            <a:avLst>
              <a:gd name="adj" fmla="val 5000"/>
            </a:avLst>
          </a:prstGeom>
          <a:solidFill>
            <a:srgbClr val="36454F"/>
          </a:solidFill>
          <a:ln/>
        </p:spPr>
        <p:txBody>
          <a:bodyPr/>
          <a:p/>
        </p:txBody>
      </p:sp>
      <p:sp>
        <p:nvSpPr>
          <p:cNvPr id="9" name="Text 7"/>
          <p:cNvSpPr txBox="1"/>
          <p:nvPr/>
        </p:nvSpPr>
        <p:spPr>
          <a:xfrm>
            <a:off x="1559052"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W3</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Processes</a:t>
            </a:r>
            <a:endParaRPr lang="en-US" sz="1400" dirty="0"/>
          </a:p>
        </p:txBody>
      </p:sp>
      <p:sp>
        <p:nvSpPr>
          <p:cNvPr id="10" name="Shape 8"/>
          <p:cNvSpPr/>
          <p:nvPr/>
        </p:nvSpPr>
        <p:spPr>
          <a:xfrm>
            <a:off x="2569464" y="1645920"/>
            <a:ext cx="914400" cy="1143000"/>
          </a:xfrm>
          <a:prstGeom prst="roundRect">
            <a:avLst>
              <a:gd name="adj" fmla="val 5000"/>
            </a:avLst>
          </a:prstGeom>
          <a:solidFill>
            <a:srgbClr val="36454F"/>
          </a:solidFill>
          <a:ln/>
        </p:spPr>
        <p:txBody>
          <a:bodyPr/>
          <a:p/>
        </p:txBody>
      </p:sp>
      <p:sp>
        <p:nvSpPr>
          <p:cNvPr id="11" name="Text 9"/>
          <p:cNvSpPr txBox="1"/>
          <p:nvPr/>
        </p:nvSpPr>
        <p:spPr>
          <a:xfrm>
            <a:off x="2569464"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W4</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Threads</a:t>
            </a:r>
            <a:endParaRPr lang="en-US" sz="1400" dirty="0"/>
          </a:p>
        </p:txBody>
      </p:sp>
      <p:sp>
        <p:nvSpPr>
          <p:cNvPr id="12" name="Shape 10"/>
          <p:cNvSpPr/>
          <p:nvPr/>
        </p:nvSpPr>
        <p:spPr>
          <a:xfrm>
            <a:off x="3579876" y="1645920"/>
            <a:ext cx="914400" cy="1143000"/>
          </a:xfrm>
          <a:prstGeom prst="roundRect">
            <a:avLst>
              <a:gd name="adj" fmla="val 5000"/>
            </a:avLst>
          </a:prstGeom>
          <a:solidFill>
            <a:srgbClr val="36454F"/>
          </a:solidFill>
          <a:ln/>
        </p:spPr>
        <p:txBody>
          <a:bodyPr/>
          <a:p/>
        </p:txBody>
      </p:sp>
      <p:sp>
        <p:nvSpPr>
          <p:cNvPr id="13" name="Text 11"/>
          <p:cNvSpPr txBox="1"/>
          <p:nvPr/>
        </p:nvSpPr>
        <p:spPr>
          <a:xfrm>
            <a:off x="3579876"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W5</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Scheduling, sync</a:t>
            </a:r>
            <a:endParaRPr lang="en-US" sz="1400" dirty="0"/>
          </a:p>
        </p:txBody>
      </p:sp>
      <p:sp>
        <p:nvSpPr>
          <p:cNvPr id="14" name="Shape 12"/>
          <p:cNvSpPr/>
          <p:nvPr/>
        </p:nvSpPr>
        <p:spPr>
          <a:xfrm>
            <a:off x="4590288" y="1645920"/>
            <a:ext cx="914400" cy="1143000"/>
          </a:xfrm>
          <a:prstGeom prst="roundRect">
            <a:avLst>
              <a:gd name="adj" fmla="val 5000"/>
            </a:avLst>
          </a:prstGeom>
          <a:solidFill>
            <a:srgbClr val="36454F"/>
          </a:solidFill>
          <a:ln/>
        </p:spPr>
        <p:txBody>
          <a:bodyPr/>
          <a:p/>
        </p:txBody>
      </p:sp>
      <p:sp>
        <p:nvSpPr>
          <p:cNvPr id="15" name="Text 13"/>
          <p:cNvSpPr txBox="1"/>
          <p:nvPr/>
        </p:nvSpPr>
        <p:spPr>
          <a:xfrm>
            <a:off x="4590288"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W6</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Memory</a:t>
            </a:r>
            <a:endParaRPr lang="en-US" sz="1400" dirty="0"/>
          </a:p>
        </p:txBody>
      </p:sp>
      <p:sp>
        <p:nvSpPr>
          <p:cNvPr id="16" name="Shape 14"/>
          <p:cNvSpPr/>
          <p:nvPr/>
        </p:nvSpPr>
        <p:spPr>
          <a:xfrm>
            <a:off x="5600700" y="1645920"/>
            <a:ext cx="914400" cy="1143000"/>
          </a:xfrm>
          <a:prstGeom prst="roundRect">
            <a:avLst>
              <a:gd name="adj" fmla="val 5000"/>
            </a:avLst>
          </a:prstGeom>
          <a:solidFill>
            <a:srgbClr val="36454F"/>
          </a:solidFill>
          <a:ln/>
        </p:spPr>
        <p:txBody>
          <a:bodyPr/>
          <a:p/>
        </p:txBody>
      </p:sp>
      <p:sp>
        <p:nvSpPr>
          <p:cNvPr id="17" name="Text 15"/>
          <p:cNvSpPr txBox="1"/>
          <p:nvPr/>
        </p:nvSpPr>
        <p:spPr>
          <a:xfrm>
            <a:off x="5600700"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W7</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VM, files</a:t>
            </a:r>
            <a:endParaRPr lang="en-US" sz="1400" dirty="0"/>
          </a:p>
        </p:txBody>
      </p:sp>
      <p:sp>
        <p:nvSpPr>
          <p:cNvPr id="18" name="Shape 16"/>
          <p:cNvSpPr/>
          <p:nvPr/>
        </p:nvSpPr>
        <p:spPr>
          <a:xfrm>
            <a:off x="6611112" y="1645920"/>
            <a:ext cx="914400" cy="1143000"/>
          </a:xfrm>
          <a:prstGeom prst="roundRect">
            <a:avLst>
              <a:gd name="adj" fmla="val 5000"/>
            </a:avLst>
          </a:prstGeom>
          <a:solidFill>
            <a:srgbClr val="02C39A"/>
          </a:solidFill>
          <a:ln/>
        </p:spPr>
        <p:txBody>
          <a:bodyPr/>
          <a:p/>
        </p:txBody>
      </p:sp>
      <p:sp>
        <p:nvSpPr>
          <p:cNvPr id="19" name="Text 17"/>
          <p:cNvSpPr txBox="1"/>
          <p:nvPr/>
        </p:nvSpPr>
        <p:spPr>
          <a:xfrm>
            <a:off x="6611112"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W9–10</a:t>
            </a:r>
            <a:endParaRPr lang="en-US" sz="1400" dirty="0"/>
          </a:p>
          <a:p>
            <a:pPr algn="ctr" indent="0" marL="0">
              <a:buNone/>
            </a:pPr>
            <a:r>
              <a:rPr lang="en-US" sz="1050" dirty="0">
                <a:solidFill>
                  <a:srgbClr val="212121"/>
                </a:solidFill>
                <a:latin typeface="Calibri" pitchFamily="34" charset="0"/>
                <a:ea typeface="Calibri" pitchFamily="34" charset="-122"/>
                <a:cs typeface="Calibri" pitchFamily="34" charset="-120"/>
              </a:rPr>
              <a:t>Shell, files</a:t>
            </a:r>
            <a:endParaRPr lang="en-US" sz="1400" dirty="0"/>
          </a:p>
        </p:txBody>
      </p:sp>
      <p:sp>
        <p:nvSpPr>
          <p:cNvPr id="20" name="Shape 18"/>
          <p:cNvSpPr/>
          <p:nvPr/>
        </p:nvSpPr>
        <p:spPr>
          <a:xfrm>
            <a:off x="7621524" y="1645920"/>
            <a:ext cx="914400" cy="1143000"/>
          </a:xfrm>
          <a:prstGeom prst="roundRect">
            <a:avLst>
              <a:gd name="adj" fmla="val 5000"/>
            </a:avLst>
          </a:prstGeom>
          <a:solidFill>
            <a:srgbClr val="02C39A"/>
          </a:solidFill>
          <a:ln/>
        </p:spPr>
        <p:txBody>
          <a:bodyPr/>
          <a:p/>
        </p:txBody>
      </p:sp>
      <p:sp>
        <p:nvSpPr>
          <p:cNvPr id="21" name="Text 19"/>
          <p:cNvSpPr txBox="1"/>
          <p:nvPr/>
        </p:nvSpPr>
        <p:spPr>
          <a:xfrm>
            <a:off x="7621524"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W11</a:t>
            </a:r>
            <a:endParaRPr lang="en-US" sz="1400" dirty="0"/>
          </a:p>
          <a:p>
            <a:pPr algn="ctr" indent="0" marL="0">
              <a:buNone/>
            </a:pPr>
            <a:r>
              <a:rPr lang="en-US" sz="1050" dirty="0">
                <a:solidFill>
                  <a:srgbClr val="212121"/>
                </a:solidFill>
                <a:latin typeface="Calibri" pitchFamily="34" charset="0"/>
                <a:ea typeface="Calibri" pitchFamily="34" charset="-122"/>
                <a:cs typeface="Calibri" pitchFamily="34" charset="-120"/>
              </a:rPr>
              <a:t>Permissions</a:t>
            </a:r>
            <a:endParaRPr lang="en-US" sz="1400" dirty="0"/>
          </a:p>
        </p:txBody>
      </p:sp>
      <p:sp>
        <p:nvSpPr>
          <p:cNvPr id="22" name="Shape 20"/>
          <p:cNvSpPr/>
          <p:nvPr/>
        </p:nvSpPr>
        <p:spPr>
          <a:xfrm>
            <a:off x="8631936" y="1645920"/>
            <a:ext cx="914400" cy="1143000"/>
          </a:xfrm>
          <a:prstGeom prst="roundRect">
            <a:avLst>
              <a:gd name="adj" fmla="val 5000"/>
            </a:avLst>
          </a:prstGeom>
          <a:solidFill>
            <a:srgbClr val="02C39A"/>
          </a:solidFill>
          <a:ln/>
        </p:spPr>
        <p:txBody>
          <a:bodyPr/>
          <a:p/>
        </p:txBody>
      </p:sp>
      <p:sp>
        <p:nvSpPr>
          <p:cNvPr id="23" name="Text 21"/>
          <p:cNvSpPr txBox="1"/>
          <p:nvPr/>
        </p:nvSpPr>
        <p:spPr>
          <a:xfrm>
            <a:off x="8631936"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W12</a:t>
            </a:r>
            <a:endParaRPr lang="en-US" sz="1400" dirty="0"/>
          </a:p>
          <a:p>
            <a:pPr algn="ctr" indent="0" marL="0">
              <a:buNone/>
            </a:pPr>
            <a:r>
              <a:rPr lang="en-US" sz="1050" dirty="0">
                <a:solidFill>
                  <a:srgbClr val="212121"/>
                </a:solidFill>
                <a:latin typeface="Calibri" pitchFamily="34" charset="0"/>
                <a:ea typeface="Calibri" pitchFamily="34" charset="-122"/>
                <a:cs typeface="Calibri" pitchFamily="34" charset="-120"/>
              </a:rPr>
              <a:t>Pipes</a:t>
            </a:r>
            <a:endParaRPr lang="en-US" sz="1400" dirty="0"/>
          </a:p>
        </p:txBody>
      </p:sp>
      <p:sp>
        <p:nvSpPr>
          <p:cNvPr id="24" name="Shape 22"/>
          <p:cNvSpPr/>
          <p:nvPr/>
        </p:nvSpPr>
        <p:spPr>
          <a:xfrm>
            <a:off x="9642348" y="1645920"/>
            <a:ext cx="914400" cy="1143000"/>
          </a:xfrm>
          <a:prstGeom prst="roundRect">
            <a:avLst>
              <a:gd name="adj" fmla="val 5000"/>
            </a:avLst>
          </a:prstGeom>
          <a:solidFill>
            <a:srgbClr val="02C39A"/>
          </a:solidFill>
          <a:ln/>
        </p:spPr>
        <p:txBody>
          <a:bodyPr/>
          <a:p/>
        </p:txBody>
      </p:sp>
      <p:sp>
        <p:nvSpPr>
          <p:cNvPr id="25" name="Text 23"/>
          <p:cNvSpPr txBox="1"/>
          <p:nvPr/>
        </p:nvSpPr>
        <p:spPr>
          <a:xfrm>
            <a:off x="9642348"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W13</a:t>
            </a:r>
            <a:endParaRPr lang="en-US" sz="1400" dirty="0"/>
          </a:p>
          <a:p>
            <a:pPr algn="ctr" indent="0" marL="0">
              <a:buNone/>
            </a:pPr>
            <a:r>
              <a:rPr lang="en-US" sz="1050" dirty="0">
                <a:solidFill>
                  <a:srgbClr val="212121"/>
                </a:solidFill>
                <a:latin typeface="Calibri" pitchFamily="34" charset="0"/>
                <a:ea typeface="Calibri" pitchFamily="34" charset="-122"/>
                <a:cs typeface="Calibri" pitchFamily="34" charset="-120"/>
              </a:rPr>
              <a:t>Processes live</a:t>
            </a:r>
            <a:endParaRPr lang="en-US" sz="1400" dirty="0"/>
          </a:p>
        </p:txBody>
      </p:sp>
      <p:sp>
        <p:nvSpPr>
          <p:cNvPr id="26" name="Shape 24"/>
          <p:cNvSpPr/>
          <p:nvPr/>
        </p:nvSpPr>
        <p:spPr>
          <a:xfrm>
            <a:off x="10652760" y="1645920"/>
            <a:ext cx="914400" cy="1143000"/>
          </a:xfrm>
          <a:prstGeom prst="roundRect">
            <a:avLst>
              <a:gd name="adj" fmla="val 5000"/>
            </a:avLst>
          </a:prstGeom>
          <a:solidFill>
            <a:srgbClr val="02C39A"/>
          </a:solidFill>
          <a:ln/>
        </p:spPr>
        <p:txBody>
          <a:bodyPr/>
          <a:p/>
        </p:txBody>
      </p:sp>
      <p:sp>
        <p:nvSpPr>
          <p:cNvPr id="27" name="Text 25"/>
          <p:cNvSpPr txBox="1"/>
          <p:nvPr/>
        </p:nvSpPr>
        <p:spPr>
          <a:xfrm>
            <a:off x="10652760" y="1645920"/>
            <a:ext cx="914400" cy="11430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W14</a:t>
            </a:r>
            <a:endParaRPr lang="en-US" sz="1400" dirty="0"/>
          </a:p>
          <a:p>
            <a:pPr algn="ctr" indent="0" marL="0">
              <a:buNone/>
            </a:pPr>
            <a:r>
              <a:rPr lang="en-US" sz="1050" dirty="0">
                <a:solidFill>
                  <a:srgbClr val="212121"/>
                </a:solidFill>
                <a:latin typeface="Calibri" pitchFamily="34" charset="0"/>
                <a:ea typeface="Calibri" pitchFamily="34" charset="-122"/>
                <a:cs typeface="Calibri" pitchFamily="34" charset="-120"/>
              </a:rPr>
              <a:t>Scripts</a:t>
            </a:r>
            <a:endParaRPr lang="en-US" sz="1400" dirty="0"/>
          </a:p>
        </p:txBody>
      </p:sp>
      <p:sp>
        <p:nvSpPr>
          <p:cNvPr id="28" name="Text 26"/>
          <p:cNvSpPr txBox="1"/>
          <p:nvPr/>
        </p:nvSpPr>
        <p:spPr>
          <a:xfrm>
            <a:off x="548640" y="2852928"/>
            <a:ext cx="6035040" cy="292608"/>
          </a:xfrm>
          <a:prstGeom prst="rect">
            <a:avLst/>
          </a:prstGeom>
          <a:noFill/>
          <a:ln/>
        </p:spPr>
        <p:txBody>
          <a:bodyPr wrap="square" lIns="0" tIns="0" rIns="0" bIns="0" rtlCol="0" anchor="t"/>
          <a:lstStyle/>
          <a:p>
            <a:pPr algn="ctr" indent="0" marL="0">
              <a:buNone/>
            </a:pPr>
            <a:r>
              <a:rPr lang="en-US" sz="1300" b="1" dirty="0">
                <a:solidFill>
                  <a:srgbClr val="36454F"/>
                </a:solidFill>
                <a:latin typeface="Calibri" pitchFamily="34" charset="0"/>
                <a:ea typeface="Calibri" pitchFamily="34" charset="-122"/>
                <a:cs typeface="Calibri" pitchFamily="34" charset="-120"/>
              </a:rPr>
              <a:t>Theory: how it works inside</a:t>
            </a:r>
            <a:endParaRPr lang="en-US" sz="1300" dirty="0"/>
          </a:p>
        </p:txBody>
      </p:sp>
      <p:sp>
        <p:nvSpPr>
          <p:cNvPr id="29" name="Text 27"/>
          <p:cNvSpPr txBox="1"/>
          <p:nvPr/>
        </p:nvSpPr>
        <p:spPr>
          <a:xfrm>
            <a:off x="6611112" y="2852928"/>
            <a:ext cx="5029200" cy="292608"/>
          </a:xfrm>
          <a:prstGeom prst="rect">
            <a:avLst/>
          </a:prstGeom>
          <a:noFill/>
          <a:ln/>
        </p:spPr>
        <p:txBody>
          <a:bodyPr wrap="square" lIns="0" tIns="0" rIns="0" bIns="0" rtlCol="0" anchor="t"/>
          <a:lstStyle/>
          <a:p>
            <a:pPr algn="ctr" indent="0" marL="0">
              <a:buNone/>
            </a:pPr>
            <a:r>
              <a:rPr lang="en-US" sz="1300" b="1" dirty="0">
                <a:solidFill>
                  <a:srgbClr val="028090"/>
                </a:solidFill>
                <a:latin typeface="Calibri" pitchFamily="34" charset="0"/>
                <a:ea typeface="Calibri" pitchFamily="34" charset="-122"/>
                <a:cs typeface="Calibri" pitchFamily="34" charset="-120"/>
              </a:rPr>
              <a:t>Practice: using it from the shell</a:t>
            </a:r>
            <a:endParaRPr lang="en-US" sz="1300" dirty="0"/>
          </a:p>
        </p:txBody>
      </p:sp>
      <p:sp>
        <p:nvSpPr>
          <p:cNvPr id="30" name="Shape 28"/>
          <p:cNvSpPr/>
          <p:nvPr/>
        </p:nvSpPr>
        <p:spPr>
          <a:xfrm>
            <a:off x="548640"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1" name="Text 29"/>
          <p:cNvSpPr txBox="1"/>
          <p:nvPr/>
        </p:nvSpPr>
        <p:spPr>
          <a:xfrm>
            <a:off x="777240" y="361188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You can explain</a:t>
            </a:r>
            <a:endParaRPr lang="en-US" sz="1500" dirty="0"/>
          </a:p>
        </p:txBody>
      </p:sp>
      <p:sp>
        <p:nvSpPr>
          <p:cNvPr id="32" name="Text 30"/>
          <p:cNvSpPr txBox="1"/>
          <p:nvPr/>
        </p:nvSpPr>
        <p:spPr>
          <a:xfrm>
            <a:off x="777240" y="4069080"/>
            <a:ext cx="3108960" cy="205740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why a computer needs an OS</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how processes share one CPU</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how memory is translated and paged</a:t>
            </a:r>
            <a:endParaRPr lang="en-US" sz="1650" dirty="0"/>
          </a:p>
        </p:txBody>
      </p:sp>
      <p:sp>
        <p:nvSpPr>
          <p:cNvPr id="33" name="Shape 31"/>
          <p:cNvSpPr/>
          <p:nvPr/>
        </p:nvSpPr>
        <p:spPr>
          <a:xfrm>
            <a:off x="4315968"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4" name="Text 32"/>
          <p:cNvSpPr txBox="1"/>
          <p:nvPr/>
        </p:nvSpPr>
        <p:spPr>
          <a:xfrm>
            <a:off x="4544568" y="361188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You can compute</a:t>
            </a:r>
            <a:endParaRPr lang="en-US" sz="1500" dirty="0"/>
          </a:p>
        </p:txBody>
      </p:sp>
      <p:sp>
        <p:nvSpPr>
          <p:cNvPr id="35" name="Text 33"/>
          <p:cNvSpPr txBox="1"/>
          <p:nvPr/>
        </p:nvSpPr>
        <p:spPr>
          <a:xfrm>
            <a:off x="4544568" y="4069080"/>
            <a:ext cx="3108960" cy="205740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Gantt charts and waiting times</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addresses, EAT with TLB and page faults</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page-fault counts, block numbers</a:t>
            </a:r>
            <a:endParaRPr lang="en-US" sz="1650" dirty="0"/>
          </a:p>
        </p:txBody>
      </p:sp>
      <p:sp>
        <p:nvSpPr>
          <p:cNvPr id="36" name="Shape 34"/>
          <p:cNvSpPr/>
          <p:nvPr/>
        </p:nvSpPr>
        <p:spPr>
          <a:xfrm>
            <a:off x="8092440"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7" name="Text 35"/>
          <p:cNvSpPr txBox="1"/>
          <p:nvPr/>
        </p:nvSpPr>
        <p:spPr>
          <a:xfrm>
            <a:off x="8321040" y="361188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You can do</a:t>
            </a:r>
            <a:endParaRPr lang="en-US" sz="1500" dirty="0"/>
          </a:p>
        </p:txBody>
      </p:sp>
      <p:sp>
        <p:nvSpPr>
          <p:cNvPr id="38" name="Text 36"/>
          <p:cNvSpPr txBox="1"/>
          <p:nvPr/>
        </p:nvSpPr>
        <p:spPr>
          <a:xfrm>
            <a:off x="8321040" y="4069080"/>
            <a:ext cx="3108960" cy="205740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work in any Linux shell</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secure files, analyse logs with pipelines</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manage processes, write scripts</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COURSE 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Where to Go Next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15  ·  35</a:t>
            </a:r>
            <a:endParaRPr lang="en-US"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Keep using Linux</a:t>
            </a:r>
            <a:endParaRPr lang="en-US"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Install Ubuntu in a VM or WSL (wsl --install) and use it daily.</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A Raspberry Pi is a cheap Linux lab.</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Free practice: OverTheWire Bandit (a shell game).</a:t>
            </a:r>
            <a:endParaRPr lang="en-US" sz="160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Books (free and classic)</a:t>
            </a:r>
            <a:endParaRPr lang="en-US"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OSTEP — Operating Systems: Three Easy Pieces (free online).</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Silberschatz et al., Operating System Concepts, 10th ed.</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W. Shotts, The Linux Command Line (free PDF).</a:t>
            </a:r>
            <a:endParaRPr lang="en-US" sz="160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Certifications</a:t>
            </a:r>
            <a:endParaRPr lang="en-US"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LPI Linux Essentials (entry level).</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CompTIA Linux+ or LPIC-1 (next step).</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Later: Red Hat RHCSA, Linux Foundation LFCS. Check current versions and fees.</a:t>
            </a:r>
            <a:endParaRPr lang="en-US" sz="160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Useful sites: missing.csail.mit.edu (shell, tools) · explainshell.com (what does this command do?) · shellcheck.net (find bugs in scripts).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1887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THANK YOU</a:t>
            </a:r>
            <a:endParaRPr lang="en-US" sz="1300" dirty="0"/>
          </a:p>
        </p:txBody>
      </p:sp>
      <p:sp>
        <p:nvSpPr>
          <p:cNvPr id="3" name="Text 1"/>
          <p:cNvSpPr txBox="1"/>
          <p:nvPr/>
        </p:nvSpPr>
        <p:spPr>
          <a:xfrm>
            <a:off x="548640" y="1554480"/>
            <a:ext cx="109728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Good Luck in the Final!</a:t>
            </a:r>
            <a:endParaRPr lang="en-US" sz="3800" dirty="0"/>
          </a:p>
        </p:txBody>
      </p:sp>
      <p:sp>
        <p:nvSpPr>
          <p:cNvPr id="4" name="Text 2"/>
          <p:cNvSpPr txBox="1"/>
          <p:nvPr/>
        </p:nvSpPr>
        <p:spPr>
          <a:xfrm>
            <a:off x="548640" y="2468880"/>
            <a:ext cx="10515600" cy="685800"/>
          </a:xfrm>
          <a:prstGeom prst="rect">
            <a:avLst/>
          </a:prstGeom>
          <a:noFill/>
          <a:ln/>
        </p:spPr>
        <p:txBody>
          <a:bodyPr wrap="square" lIns="0" tIns="0" rIns="0" bIns="0" rtlCol="0" anchor="ctr"/>
          <a:lstStyle/>
          <a:p>
            <a:pPr indent="0" marL="0">
              <a:buNone/>
            </a:pPr>
            <a:r>
              <a:rPr lang="en-US" sz="1500" i="1" dirty="0">
                <a:solidFill>
                  <a:srgbClr val="F2F2F2"/>
                </a:solidFill>
                <a:latin typeface="Calibri" pitchFamily="34" charset="0"/>
                <a:ea typeface="Calibri" pitchFamily="34" charset="-122"/>
                <a:cs typeface="Calibri" pitchFamily="34" charset="-120"/>
              </a:rPr>
              <a:t>Questions before the exam? Ask on the course Telegram channel — everyone benefits from the answer. [Office hours before the exam: to be announced.]</a:t>
            </a:r>
            <a:endParaRPr lang="en-US" sz="1500" dirty="0"/>
          </a:p>
        </p:txBody>
      </p:sp>
      <p:sp>
        <p:nvSpPr>
          <p:cNvPr id="7" name="Text 4"/>
          <p:cNvSpPr txBox="1"/>
          <p:nvPr/>
        </p:nvSpPr>
        <p:spPr>
          <a:xfrm>
            <a:off x="548640" y="352044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Shape 5"/>
          <p:cNvSpPr/>
          <p:nvPr/>
        </p:nvSpPr>
        <p:spPr>
          <a:xfrm>
            <a:off x="8229600" y="3429000"/>
            <a:ext cx="3429000" cy="2194560"/>
          </a:xfrm>
          <a:prstGeom prst="roundRect">
            <a:avLst>
              <a:gd name="adj" fmla="val 2500"/>
            </a:avLst>
          </a:prstGeom>
          <a:solidFill>
            <a:srgbClr val="36454F"/>
          </a:solidFill>
          <a:ln/>
        </p:spPr>
        <p:txBody>
          <a:bodyPr/>
          <a:p/>
        </p:txBody>
      </p:sp>
      <p:sp>
        <p:nvSpPr>
          <p:cNvPr id="9" name="Text 6"/>
          <p:cNvSpPr txBox="1"/>
          <p:nvPr/>
        </p:nvSpPr>
        <p:spPr>
          <a:xfrm>
            <a:off x="8458200" y="3520440"/>
            <a:ext cx="2971800" cy="201168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Thank you for a great semester.</a:t>
            </a:r>
            <a:endParaRPr lang="en-US" sz="1400" dirty="0"/>
          </a:p>
          <a:p>
            <a:pPr indent="0" marL="0">
              <a:buNone/>
            </a:pPr>
            <a:r>
              <a:rPr lang="en-US" sz="1400" dirty="0">
                <a:solidFill>
                  <a:srgbClr val="F2F2F2"/>
                </a:solidFill>
                <a:latin typeface="Calibri" pitchFamily="34" charset="0"/>
                <a:ea typeface="Calibri" pitchFamily="34" charset="-122"/>
                <a:cs typeface="Calibri" pitchFamily="34" charset="-120"/>
              </a:rPr>
              <a:t>Keep the ~/lab folder and the course notes: they are a reference you can use long after the exam.</a:t>
            </a:r>
            <a:endParaRPr lang="en-US" sz="1400" dirty="0"/>
          </a:p>
        </p:txBody>
      </p:sp>
      <p:sp>
        <p:nvSpPr>
          <p:cNvPr id="10" name="Text 7"/>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11" name="Text 8"/>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15  ·  36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15</dc:title>
  <dc:subject>PptxGenJS Presentation</dc:subject>
  <dc:creator>PptxGenJS</dc:creator>
  <cp:lastModifiedBy>PptxGenJS</cp:lastModifiedBy>
  <cp:revision>1</cp:revision>
  <dcterms:created xsi:type="dcterms:W3CDTF">2026-10-12T17:37:02Z</dcterms:created>
  <dcterms:modified xsi:type="dcterms:W3CDTF">2026-10-12T17:37:02Z</dcterms:modified>
</cp:coreProperties>
</file>