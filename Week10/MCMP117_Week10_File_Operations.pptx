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10, the second hands-on Linux week. Last week we learned to look around the file system; today we change it: create, copy, move, rename, delete, view and link files. Every student should have a terminal open (lab PC, WSL or a VM) and should run the lab setup script now: bash ~/mcmp117_lab_setup.sh, then cd ~/lab. Everything on the slides is real output captured in exactly that folder as the user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with questions. Ask: what is the difference between /home/student/lab/docs and docs? (absolute vs relative.) What does .. mean? Where do configuration files live? (/etc.) What does Tab do? Remind them: Tab completion will save them from most typing errors today, especially with file names containing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and 2 before the break; wildcards, quoting, viewing and links after it; then the lab sheet (in the course notes) for about 35 minutes. Students type along during every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type commands, five minutes of theory so that every command today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explains the whole week. Remember from Week 7: a directory is a table of (name, inode number) pairs; the inode holds everything else (type, size, owner, permissions, times, link count, block pointers) but not the name. Walk the table: cp creates a second, independent file; mv only edits directory entries, which is why moving a 4 GB film inside one disk is instant; ln adds a second name to the same inode; rm removes a name, and only when the link count reaches 0 (and no program has it open) are the blocks freed. The inode numbers are real: we will produce exactly this situation in the links demo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strace (Week 2) shows the system calls a program makes; -e trace=... filters the list to the interesting ones. Real output as the user student. Point out: mv did not copy anything, it made one renameat2() call (RENAME_NOREPLACE: coreutils first tries not to overwrite silently). rm of three names is three unlinkat() calls. The 'at' versions take a directory file descriptor; AT_FDCWD means 'relative to the current directory' (Week 9). Each command is a small program in /usr/bin that the shell starts with fork() and exec()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bash ~/mcmp117_lab_setup.sh and cd ~/lab. Type along with every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mkdir test, then ls -ld test (without -d, ls would list the empty contents and print nothing). Run mkdir test again to see the error. mkdir trip/day1 fails because trip does not exist; mkdir -p creates the whole path. The ‘ ’ quotes in mkdir's messages are just a different quoting style from cp and rm. tree prints the structure; it counts the starting directories too (work, 2026, october, trip, day1 = 5). Typical error: students type mkdir -p with a space inside the path and get two directories.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 was invented to update a file's modification time (for example to make 'make' rebuild something), but it is mostly used to create empty files. After touch -d, Access and Modify are 15 January while Change (ctime) is now: changing the times is itself a change of the inode. Birth is the creation time; not every file system records it. Times are shown in UTC (+0000) on our test machine; on a Turkish PC you will see +0300. Running touch todo.txt once more sets the times back to now (in the script, last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our test machine (ext4, mounted with relatime) with stat after each action. Read: modern Linux uses 'relatime', which updates atime only if it is older than mtime or more than 24 hours old, to avoid a disk write for every read. Every data write changes mtime and ctime. Rename, link and chmod change only the inode, so only ctime. Exam-style question: which time tells you when a file's content was last changed? (mtime.) Backup programs use mtime to decide what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copy syllabus.txt into backup/ twice (once keeping the name, once with a new name). Then -v with two sources. For cp -i, we answered n; in the script the answer is typed by echo n, in class just type n and Enter. The last error is the most common one of the day: 'cp: -r not specified; omitting directory'. Ask students what would have happened if backup/ had not existed in the first command (cp would have created a FILE named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shows the copied alpha project inside backup. Then ls -i: two different inode numbers, so two independent files — compare with the hard link later, which has the SAME inode number. Recursive means: copy the directory, then apply the same operation to each entry inside it, and so on. cp -a (archive) = -r plus keep times, permissions and links; it is what you want for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separate rename command for a single file: mv does both. The inode number of backup/syllabus.txt was 804330 before the rename (previous slide) and is the same after it. That is why mv inside one file system is instant whatever the file size. Between two file systems (for example to a USB stick) mv must copy the data and then delete the original. Note ls shows 'final report.txt' in quotes because the name contains a space —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created junk1-3 with touch (in the script). rm junk1.txt: silent. rm -i asks 'remove regular empty file?'; we answer y. ls junk* fails because nothing matches any more — the pattern stays as it is (Part 3). rmdir projects/beta refuses: not empty. rm without -r refuses directories. rm -rv on a copy shows the order: rm must empty each directory before it can remove it, because the kernel's rmdir() only works on empty directories. We deleted only a copy: never practise rm -r on originals.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warning, as required for rm -r. Tell a story: a student wanted rm -r ~/lab/old and typed rm -r ~/lab /old. The first argument is the whole lab folder. For students: if you delete the lab folder, just run the setup script again — that is why we have it. On a real server there is no such script. -f additionally suppresses error messages and questions; combined with -r and sudo it is the most dangerous command on a Linux system. We will meet sudo in Week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photograph this slide; the same table is in the course notes (Command reference). Ask: which command can delete a non-empty directory? (rm -r.) Which one changes only the name? (mv.)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Students who fell behind: rerun the setup script and catch up with the cp and mv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~/lab/photos. The photos folder has 15 empty files made for this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of Part 3. The pattern *.jpg never reaches ls; bash reads the directory (opendir/readdir), sorts the matching names, and passes them as separate arguments. Proof: echo *.png prints img013.png — echo knows nothing about files. If nothing matches, bash passes the pattern unchanged, and ls complains about a file literally named 'junk*'. The official name of wildcard matching is 'globbing' (from an early UNIX program called glob).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1-5 are from demo_wildcards.sh (next slide). The [!...] row: img0[!0]* means 'img0', then any character except 0, then anything: that is img010 to img013 — the four names whose fourth character is 1. (Some shells also accept [^...].) Ask students to predict before showing: how many names does img0?? match... (none, because ?? are exactly two characters and the names have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along in ~/lab/photos. Sorting depends on the locale: in a Turkish or English locale ls may sort IMG_014.JPG among the i's; we used C.UTF-8 so that everyone gets the same output as the slides. Ask: which pattern lists only the PNG files? (*.png.) Only the images 004-006? (img00[4-6].jpg.)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Brace expansion is also done by bash, before globbing. Unlike wildcards it does not look at the disk at all: it generates text, so it is perfect for creating new names (mkdir, touch). Check the count with the students: 1 (trip) + 3 (days) + 3 × 2 (photos and notes in each day) = 10 directories, exactly what tree reports. Typical error: a space after the comma, {a, b}, breaks the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difference with one sentence each: wildcards FIND names, braces MAKE names. Exam-type question: how many directories does mkdir -p site/{css,js,img}/{v1,v2} create? (1 + 3 + 3 × 2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users have many names with spaces. The shell splits the command line at spaces before cat starts, so cat receives docs/final and report.txt. Three fixes: double quotes, single quotes (difference matters in Week 14: variables expand inside double quotes only), or a backslash. ls prints such names in quotes ('final report.txt') so that you can copy them back into a command; the leading space before 'my' in the last listing is only alignment. Clean-up for students: rmdir my 'my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~/lab. These commands only read: they are safe to experiment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stands for concatenate: cat a b prints a then b; numbering with -n continues across the files. head -n 3 of a CSV is the quickest way to see its column names. tail is the natural tool for log files, whose newest lines are at the end. Ask: how would you see lines 1-5 of the syllabus? (head -n 5 docs/syllabus.txt.)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with two terminal windows: in the first run tail -n 2 -f logs/system.log, in the second the echo ... &gt;&gt; command; the new WARN line appears immediately in the first window. Press Ctrl+C to stop (^C). The captured output comes from demo_view.sh, where a background job plays the role of terminal 2. Then show less logs/access.log live: space, /404, n, q. less only reads one screen at a time, so it opens even huge files instantly. The man pages from Week 9 are displayed with less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 = word count. With several files it adds a total line. file ignores the name: the photos in our lab are empty files with a .jpg name, and file reports 'empty'; a real JPEG starts with the bytes FF D8 FF. /usr/bin/ls is an ELF executable (the long line is cut with …). Ask: how many lines does the syllabus have? (wc -l docs/syllabus.txt →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inode of Week 7, printed field by field. A 578-byte file still occupies a whole 4096-byte block: Blocks counts 512-byte units, so 8 x 512 = 4096. The permission string -rw-rw-r-- and its octal form 0664 are next week's topic. stat -c with a format string is handy in scripts (Week 14): %n name, %s size, %i inode, %h hard links. The full output of all six files is in code/out_stat_du_df.txt.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counts allocated blocks, so small files are rounded up to 4 KiB: access.log has 23,604 bytes, which needs ceil(23604/4096) = 6 blocks = 24 KiB; system.log has 5,207 bytes, 2 blocks = 8 KiB; plus 4 KiB for the directory = 36K. df reports per file system (per mounted disk). Size is not Used + Avail: some space is reserved and not available to ordinary users (on our virtual test machine a lot; on a normal ext4 disk 5% for root). Numbers on your machine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 ~/lab/docs (cd docs first). This is the situation of slide 5. After appending a line through plan.txt, tail shows it at the end of syllabus.txt — they are one file. The copy still ends with 'Week 15 Final exam'. Size 593 = 578 + 15 bytes for 'Week 16  Party' plus newline. After rm syllabus.txt the data is still reachable as plan.txt; the symbolic link stores only the path 'syllabus.txt', which no longer exists, so cat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Symbolic links are the everyday 'shortcut': alpha_docs points to a directory deep in the tree (l at the start of ls -l, and the arrow). Hard links to directories are forbidden because they could create cycles (Week 7, general-graph directories). The link count of a directory explains '.' and '..': projects has the name 'projects' in ~/lab, the entry '.' inside itself, and the '..' of alpha and beta: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fileops.c (code folder, compiled with gcc -Wall -O2) calls the system calls directly, one per shell command of today; CHECK prints the reason with perror() if a call fails, exactly like the commands' error messages. Real output: after link() both names show the same inode with 2 links; rename keeps the inode; after unlink the count is back to 1. rmdir() on the non-empty box fails with 'Directory not empty' — the same text rmdir printed in the shell, because the message comes from the kernel's error code ENOTEMPTY. Optional demo; skip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reference table. Again: the full version with more options is in the course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alone or in pairs; walk around. Exercise 9 is the main 'organise photos' task: watch for students who forget that IMG_014.JPG and holiday.jpeg are not matched by *.jpg (case-sensitivity, different extension). Before every mv or rm with a pattern, insist they run ls with the same pattern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16 answer: 1 + 14 + 14 × 2 = 43 directories (course, 14 weeks, 28 subdirectories). Exercise 17: rmdir refuses because practice is not empty; rm -r practice course removes both trees — run ls first. Students who finish early: repeat exercise 9 in ONE mkdir and three mv commands, then try exercise 15 with a relative symlink inside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messages are real outputs from today's demos (mkdir prints the name in ‘ ’ quotes). The silent mistake is worse than all of these: cp and mv overwrite an existing target without asking; use -i when unsure. Another silent one: cp file backup (without the slash) when backup does not exist creates a FILE named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(all checked in the lab folder). (1) img010.jpg img011.jpg img012.jpg img013.png — ? matches 0,1,2,3 and .* matches any extension. (2) cp creates a new inode; mv inside one file system only changes the directory entry, so it is instant. (3) 1 + 3 + 3 × 2 = 10. (4) cat b.txt prints the content (link count now 1); cat c.txt fails with 'No such file or directory' because the symbolic link dangles.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quickly. Remind them the lab sheet is graded and due according to the instructions on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explains the first column of ls -l that we ignored today, -rw-rw-r--, and the Access: (0664/...) line of stat. It is stored in the same inode we used all day. Ask students to keep their ~/lab folder; next week we run the setup script again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students that questions on the Telegram channel help everyone, and that every demo script and its real output is in the code folder of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10</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10  ·  File &amp; Directory Operations</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Create, copy, move, delete, view and link files — and know what the kernel does each time.</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9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Terminal, shell, kernel</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The shell (bash) is a program that reads your command, starts other programs, and they ask the kernel for work through system calls (Week 2).</a:t>
            </a:r>
            <a:endParaRPr lang="en-US" sz="17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Command anatomy</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command  -options  arguments</a:t>
            </a:r>
            <a:endParaRPr lang="en-US" sz="1700" dirty="0"/>
          </a:p>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ls  -l  /etc</a:t>
            </a:r>
            <a:endParaRPr lang="en-US" sz="1700" dirty="0"/>
          </a:p>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Options change how; arguments say what.</a:t>
            </a:r>
            <a:endParaRPr lang="en-US" sz="17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Paths</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Absolute: /home/student/lab</a:t>
            </a:r>
            <a:endParaRPr lang="en-US" sz="1700" dirty="0"/>
          </a:p>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Relative: docs, ../data</a:t>
            </a:r>
            <a:endParaRPr lang="en-US" sz="1700" dirty="0"/>
          </a:p>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Shortcuts: ~  .  ..  -  (cd - goes back)</a:t>
            </a:r>
            <a:endParaRPr lang="en-US" sz="17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Tree and help</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/home /etc /usr /var /tmp /dev /proc (FHS). Help: --help, man, Tab completion, history and !!.</a:t>
            </a:r>
            <a:endParaRPr lang="en-US" sz="17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Last week we walked around the tree with pwd, ls and cd. Today we change it: every command today creates, moves or removes a name, an inode or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10</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Names, inodes, system calls   </a:t>
            </a:r>
            <a:r>
              <a:rPr lang="en-US" sz="1500" dirty="0">
                <a:solidFill>
                  <a:srgbClr val="3A464C"/>
                </a:solidFill>
                <a:latin typeface="Calibri" pitchFamily="34" charset="0"/>
                <a:ea typeface="Calibri" pitchFamily="34" charset="-122"/>
                <a:cs typeface="Calibri" pitchFamily="34" charset="-120"/>
              </a:rPr>
              <a:t>What really changes on disk when you work with files (Week 7 recap).</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Create, copy, move, delete   </a:t>
            </a:r>
            <a:r>
              <a:rPr lang="en-US" sz="1500" dirty="0">
                <a:solidFill>
                  <a:srgbClr val="3A464C"/>
                </a:solidFill>
                <a:latin typeface="Calibri" pitchFamily="34" charset="0"/>
                <a:ea typeface="Calibri" pitchFamily="34" charset="-122"/>
                <a:cs typeface="Calibri" pitchFamily="34" charset="-120"/>
              </a:rPr>
              <a:t>mkdir, touch, cp, mv, rm, rmdir — and why rm has no undo.</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Wildcards and braces   </a:t>
            </a:r>
            <a:r>
              <a:rPr lang="en-US" sz="1500" dirty="0">
                <a:solidFill>
                  <a:srgbClr val="3A464C"/>
                </a:solidFill>
                <a:latin typeface="Calibri" pitchFamily="34" charset="0"/>
                <a:ea typeface="Calibri" pitchFamily="34" charset="-122"/>
                <a:cs typeface="Calibri" pitchFamily="34" charset="-120"/>
              </a:rPr>
              <a:t>*  ?  [ ]  { } — and who expands them: the shell, not the command.</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Names with spaces   </a:t>
            </a:r>
            <a:r>
              <a:rPr lang="en-US" sz="1500" dirty="0">
                <a:solidFill>
                  <a:srgbClr val="3A464C"/>
                </a:solidFill>
                <a:latin typeface="Calibri" pitchFamily="34" charset="0"/>
                <a:ea typeface="Calibri" pitchFamily="34" charset="-122"/>
                <a:cs typeface="Calibri" pitchFamily="34" charset="-120"/>
              </a:rPr>
              <a:t>Quoting with " ", ' ' and \.</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Looking inside files   </a:t>
            </a:r>
            <a:r>
              <a:rPr lang="en-US" sz="1500" dirty="0">
                <a:solidFill>
                  <a:srgbClr val="3A464C"/>
                </a:solidFill>
                <a:latin typeface="Calibri" pitchFamily="34" charset="0"/>
                <a:ea typeface="Calibri" pitchFamily="34" charset="-122"/>
                <a:cs typeface="Calibri" pitchFamily="34" charset="-120"/>
              </a:rPr>
              <a:t>cat, less, head, tail -f, wc, file, stat, du, df.</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Links and the lab   </a:t>
            </a:r>
            <a:r>
              <a:rPr lang="en-US" sz="1500" dirty="0">
                <a:solidFill>
                  <a:srgbClr val="3A464C"/>
                </a:solidFill>
                <a:latin typeface="Calibri" pitchFamily="34" charset="0"/>
                <a:ea typeface="Calibri" pitchFamily="34" charset="-122"/>
                <a:cs typeface="Calibri" pitchFamily="34" charset="-120"/>
              </a:rPr>
              <a:t>ln and ln -s again; then 35 minutes of graded hands-on exercises.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Names, Inodes and System Calls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Week 7 theory, seen from the command line.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RECAP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Really Changes: Names, Inodes, Data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5</a:t>
            </a:r>
            <a:endParaRPr lang="en-US" sz="900" dirty="0"/>
          </a:p>
        </p:txBody>
      </p:sp>
      <p:sp>
        <p:nvSpPr>
          <p:cNvPr id="6" name="Text 4"/>
          <p:cNvSpPr txBox="1"/>
          <p:nvPr/>
        </p:nvSpPr>
        <p:spPr>
          <a:xfrm>
            <a:off x="548640" y="1508760"/>
            <a:ext cx="2926080" cy="365760"/>
          </a:xfrm>
          <a:prstGeom prst="rect">
            <a:avLst/>
          </a:prstGeom>
          <a:noFill/>
          <a:ln/>
        </p:spPr>
        <p:txBody>
          <a:bodyPr wrap="square" lIns="0" tIns="0" rIns="0" bIns="0" rtlCol="0" anchor="b"/>
          <a:lstStyle/>
          <a:p>
            <a:pPr indent="0" marL="0">
              <a:buNone/>
            </a:pPr>
            <a:r>
              <a:rPr lang="en-US" sz="1250" b="1" dirty="0">
                <a:solidFill>
                  <a:srgbClr val="36454F"/>
                </a:solidFill>
                <a:latin typeface="Calibri" pitchFamily="34" charset="0"/>
                <a:ea typeface="Calibri" pitchFamily="34" charset="-122"/>
                <a:cs typeface="Calibri" pitchFamily="34" charset="-120"/>
              </a:rPr>
              <a:t>directory docs/  (name → inode)</a:t>
            </a:r>
            <a:endParaRPr lang="en-US" sz="1250" dirty="0"/>
          </a:p>
        </p:txBody>
      </p:sp>
      <p:sp>
        <p:nvSpPr>
          <p:cNvPr id="7" name="Shape 5"/>
          <p:cNvSpPr/>
          <p:nvPr/>
        </p:nvSpPr>
        <p:spPr>
          <a:xfrm>
            <a:off x="548640" y="1965960"/>
            <a:ext cx="1600200" cy="429768"/>
          </a:xfrm>
          <a:prstGeom prst="roundRect">
            <a:avLst>
              <a:gd name="adj" fmla="val 10638"/>
            </a:avLst>
          </a:prstGeom>
          <a:solidFill>
            <a:srgbClr val="F2F2F2"/>
          </a:solidFill>
          <a:ln/>
        </p:spPr>
        <p:txBody>
          <a:bodyPr/>
          <a:p/>
        </p:txBody>
      </p:sp>
      <p:sp>
        <p:nvSpPr>
          <p:cNvPr id="8" name="Text 6"/>
          <p:cNvSpPr txBox="1"/>
          <p:nvPr/>
        </p:nvSpPr>
        <p:spPr>
          <a:xfrm>
            <a:off x="548640" y="1965960"/>
            <a:ext cx="1600200" cy="42976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syllabus.txt</a:t>
            </a:r>
            <a:endParaRPr lang="en-US" sz="1200" dirty="0"/>
          </a:p>
        </p:txBody>
      </p:sp>
      <p:sp>
        <p:nvSpPr>
          <p:cNvPr id="9" name="Shape 7"/>
          <p:cNvSpPr/>
          <p:nvPr/>
        </p:nvSpPr>
        <p:spPr>
          <a:xfrm>
            <a:off x="2194560" y="1965960"/>
            <a:ext cx="914400" cy="429768"/>
          </a:xfrm>
          <a:prstGeom prst="roundRect">
            <a:avLst>
              <a:gd name="adj" fmla="val 10638"/>
            </a:avLst>
          </a:prstGeom>
          <a:solidFill>
            <a:srgbClr val="D7E9E6"/>
          </a:solidFill>
          <a:ln/>
        </p:spPr>
        <p:txBody>
          <a:bodyPr/>
          <a:p/>
        </p:txBody>
      </p:sp>
      <p:sp>
        <p:nvSpPr>
          <p:cNvPr id="10" name="Text 8"/>
          <p:cNvSpPr txBox="1"/>
          <p:nvPr/>
        </p:nvSpPr>
        <p:spPr>
          <a:xfrm>
            <a:off x="2194560" y="1965960"/>
            <a:ext cx="914400" cy="4297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804123</a:t>
            </a:r>
            <a:endParaRPr lang="en-US" sz="1200" dirty="0"/>
          </a:p>
        </p:txBody>
      </p:sp>
      <p:sp>
        <p:nvSpPr>
          <p:cNvPr id="11" name="Shape 9"/>
          <p:cNvSpPr/>
          <p:nvPr/>
        </p:nvSpPr>
        <p:spPr>
          <a:xfrm>
            <a:off x="548640" y="2468880"/>
            <a:ext cx="1600200" cy="429768"/>
          </a:xfrm>
          <a:prstGeom prst="roundRect">
            <a:avLst>
              <a:gd name="adj" fmla="val 10638"/>
            </a:avLst>
          </a:prstGeom>
          <a:solidFill>
            <a:srgbClr val="F2F2F2"/>
          </a:solidFill>
          <a:ln/>
        </p:spPr>
        <p:txBody>
          <a:bodyPr/>
          <a:p/>
        </p:txBody>
      </p:sp>
      <p:sp>
        <p:nvSpPr>
          <p:cNvPr id="12" name="Text 10"/>
          <p:cNvSpPr txBox="1"/>
          <p:nvPr/>
        </p:nvSpPr>
        <p:spPr>
          <a:xfrm>
            <a:off x="548640" y="2468880"/>
            <a:ext cx="1600200" cy="42976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plan.txt</a:t>
            </a:r>
            <a:endParaRPr lang="en-US" sz="1200" dirty="0"/>
          </a:p>
        </p:txBody>
      </p:sp>
      <p:sp>
        <p:nvSpPr>
          <p:cNvPr id="13" name="Shape 11"/>
          <p:cNvSpPr/>
          <p:nvPr/>
        </p:nvSpPr>
        <p:spPr>
          <a:xfrm>
            <a:off x="2194560" y="2468880"/>
            <a:ext cx="914400" cy="429768"/>
          </a:xfrm>
          <a:prstGeom prst="roundRect">
            <a:avLst>
              <a:gd name="adj" fmla="val 10638"/>
            </a:avLst>
          </a:prstGeom>
          <a:solidFill>
            <a:srgbClr val="D7E9E6"/>
          </a:solidFill>
          <a:ln/>
        </p:spPr>
        <p:txBody>
          <a:bodyPr/>
          <a:p/>
        </p:txBody>
      </p:sp>
      <p:sp>
        <p:nvSpPr>
          <p:cNvPr id="14" name="Text 12"/>
          <p:cNvSpPr txBox="1"/>
          <p:nvPr/>
        </p:nvSpPr>
        <p:spPr>
          <a:xfrm>
            <a:off x="2194560" y="2468880"/>
            <a:ext cx="914400" cy="4297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804123</a:t>
            </a:r>
            <a:endParaRPr lang="en-US" sz="1200" dirty="0"/>
          </a:p>
        </p:txBody>
      </p:sp>
      <p:sp>
        <p:nvSpPr>
          <p:cNvPr id="15" name="Shape 13"/>
          <p:cNvSpPr/>
          <p:nvPr/>
        </p:nvSpPr>
        <p:spPr>
          <a:xfrm>
            <a:off x="548640" y="2971800"/>
            <a:ext cx="1600200" cy="429768"/>
          </a:xfrm>
          <a:prstGeom prst="roundRect">
            <a:avLst>
              <a:gd name="adj" fmla="val 10638"/>
            </a:avLst>
          </a:prstGeom>
          <a:solidFill>
            <a:srgbClr val="F2F2F2"/>
          </a:solidFill>
          <a:ln/>
        </p:spPr>
        <p:txBody>
          <a:bodyPr/>
          <a:p/>
        </p:txBody>
      </p:sp>
      <p:sp>
        <p:nvSpPr>
          <p:cNvPr id="16" name="Text 14"/>
          <p:cNvSpPr txBox="1"/>
          <p:nvPr/>
        </p:nvSpPr>
        <p:spPr>
          <a:xfrm>
            <a:off x="548640" y="2971800"/>
            <a:ext cx="1600200" cy="42976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copy.txt</a:t>
            </a:r>
            <a:endParaRPr lang="en-US" sz="1200" dirty="0"/>
          </a:p>
        </p:txBody>
      </p:sp>
      <p:sp>
        <p:nvSpPr>
          <p:cNvPr id="17" name="Shape 15"/>
          <p:cNvSpPr/>
          <p:nvPr/>
        </p:nvSpPr>
        <p:spPr>
          <a:xfrm>
            <a:off x="2194560" y="2971800"/>
            <a:ext cx="914400" cy="429768"/>
          </a:xfrm>
          <a:prstGeom prst="roundRect">
            <a:avLst>
              <a:gd name="adj" fmla="val 10638"/>
            </a:avLst>
          </a:prstGeom>
          <a:solidFill>
            <a:srgbClr val="D7E9E6"/>
          </a:solidFill>
          <a:ln/>
        </p:spPr>
        <p:txBody>
          <a:bodyPr/>
          <a:p/>
        </p:txBody>
      </p:sp>
      <p:sp>
        <p:nvSpPr>
          <p:cNvPr id="18" name="Text 16"/>
          <p:cNvSpPr txBox="1"/>
          <p:nvPr/>
        </p:nvSpPr>
        <p:spPr>
          <a:xfrm>
            <a:off x="2194560" y="2971800"/>
            <a:ext cx="914400" cy="4297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804702</a:t>
            </a:r>
            <a:endParaRPr lang="en-US" sz="1200" dirty="0"/>
          </a:p>
        </p:txBody>
      </p:sp>
      <p:sp>
        <p:nvSpPr>
          <p:cNvPr id="19" name="Shape 17"/>
          <p:cNvSpPr/>
          <p:nvPr/>
        </p:nvSpPr>
        <p:spPr>
          <a:xfrm>
            <a:off x="548640" y="3474720"/>
            <a:ext cx="1600200" cy="429768"/>
          </a:xfrm>
          <a:prstGeom prst="roundRect">
            <a:avLst>
              <a:gd name="adj" fmla="val 10638"/>
            </a:avLst>
          </a:prstGeom>
          <a:solidFill>
            <a:srgbClr val="F2F2F2"/>
          </a:solidFill>
          <a:ln/>
        </p:spPr>
        <p:txBody>
          <a:bodyPr/>
          <a:p/>
        </p:txBody>
      </p:sp>
      <p:sp>
        <p:nvSpPr>
          <p:cNvPr id="20" name="Text 18"/>
          <p:cNvSpPr txBox="1"/>
          <p:nvPr/>
        </p:nvSpPr>
        <p:spPr>
          <a:xfrm>
            <a:off x="548640" y="3474720"/>
            <a:ext cx="1600200" cy="429768"/>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shortcut.txt</a:t>
            </a:r>
            <a:endParaRPr lang="en-US" sz="1200" dirty="0"/>
          </a:p>
        </p:txBody>
      </p:sp>
      <p:sp>
        <p:nvSpPr>
          <p:cNvPr id="21" name="Shape 19"/>
          <p:cNvSpPr/>
          <p:nvPr/>
        </p:nvSpPr>
        <p:spPr>
          <a:xfrm>
            <a:off x="2194560" y="3474720"/>
            <a:ext cx="914400" cy="429768"/>
          </a:xfrm>
          <a:prstGeom prst="roundRect">
            <a:avLst>
              <a:gd name="adj" fmla="val 10638"/>
            </a:avLst>
          </a:prstGeom>
          <a:solidFill>
            <a:srgbClr val="D7E9E6"/>
          </a:solidFill>
          <a:ln/>
        </p:spPr>
        <p:txBody>
          <a:bodyPr/>
          <a:p/>
        </p:txBody>
      </p:sp>
      <p:sp>
        <p:nvSpPr>
          <p:cNvPr id="22" name="Text 20"/>
          <p:cNvSpPr txBox="1"/>
          <p:nvPr/>
        </p:nvSpPr>
        <p:spPr>
          <a:xfrm>
            <a:off x="2194560" y="3474720"/>
            <a:ext cx="914400" cy="4297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804703</a:t>
            </a:r>
            <a:endParaRPr lang="en-US" sz="1200" dirty="0"/>
          </a:p>
        </p:txBody>
      </p:sp>
      <p:sp>
        <p:nvSpPr>
          <p:cNvPr id="23" name="Shape 21"/>
          <p:cNvSpPr/>
          <p:nvPr/>
        </p:nvSpPr>
        <p:spPr>
          <a:xfrm>
            <a:off x="3611880" y="1874520"/>
            <a:ext cx="1874520" cy="868680"/>
          </a:xfrm>
          <a:prstGeom prst="roundRect">
            <a:avLst>
              <a:gd name="adj" fmla="val 5263"/>
            </a:avLst>
          </a:prstGeom>
          <a:solidFill>
            <a:srgbClr val="36454F"/>
          </a:solidFill>
          <a:ln/>
        </p:spPr>
        <p:txBody>
          <a:bodyPr/>
          <a:p/>
        </p:txBody>
      </p:sp>
      <p:sp>
        <p:nvSpPr>
          <p:cNvPr id="24" name="Text 22"/>
          <p:cNvSpPr txBox="1"/>
          <p:nvPr/>
        </p:nvSpPr>
        <p:spPr>
          <a:xfrm>
            <a:off x="3611880" y="1874520"/>
            <a:ext cx="1874520" cy="8686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inode 804123</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regular · 2 links · 578 B</a:t>
            </a:r>
            <a:endParaRPr lang="en-US" sz="1300" dirty="0"/>
          </a:p>
        </p:txBody>
      </p:sp>
      <p:sp>
        <p:nvSpPr>
          <p:cNvPr id="25" name="Shape 23"/>
          <p:cNvSpPr/>
          <p:nvPr/>
        </p:nvSpPr>
        <p:spPr>
          <a:xfrm>
            <a:off x="3611880" y="2971800"/>
            <a:ext cx="1874520" cy="868680"/>
          </a:xfrm>
          <a:prstGeom prst="roundRect">
            <a:avLst>
              <a:gd name="adj" fmla="val 5263"/>
            </a:avLst>
          </a:prstGeom>
          <a:solidFill>
            <a:srgbClr val="36454F"/>
          </a:solidFill>
          <a:ln/>
        </p:spPr>
        <p:txBody>
          <a:bodyPr/>
          <a:p/>
        </p:txBody>
      </p:sp>
      <p:sp>
        <p:nvSpPr>
          <p:cNvPr id="26" name="Text 24"/>
          <p:cNvSpPr txBox="1"/>
          <p:nvPr/>
        </p:nvSpPr>
        <p:spPr>
          <a:xfrm>
            <a:off x="3611880" y="2971800"/>
            <a:ext cx="1874520" cy="8686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inode 804702</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regular · 1 link · 578 B</a:t>
            </a:r>
            <a:endParaRPr lang="en-US" sz="1300" dirty="0"/>
          </a:p>
        </p:txBody>
      </p:sp>
      <p:sp>
        <p:nvSpPr>
          <p:cNvPr id="27" name="Shape 25"/>
          <p:cNvSpPr/>
          <p:nvPr/>
        </p:nvSpPr>
        <p:spPr>
          <a:xfrm>
            <a:off x="3611880" y="4069080"/>
            <a:ext cx="1874520" cy="868680"/>
          </a:xfrm>
          <a:prstGeom prst="roundRect">
            <a:avLst>
              <a:gd name="adj" fmla="val 5263"/>
            </a:avLst>
          </a:prstGeom>
          <a:solidFill>
            <a:srgbClr val="36454F"/>
          </a:solidFill>
          <a:ln/>
        </p:spPr>
        <p:txBody>
          <a:bodyPr/>
          <a:p/>
        </p:txBody>
      </p:sp>
      <p:sp>
        <p:nvSpPr>
          <p:cNvPr id="28" name="Text 26"/>
          <p:cNvSpPr txBox="1"/>
          <p:nvPr/>
        </p:nvSpPr>
        <p:spPr>
          <a:xfrm>
            <a:off x="3611880" y="4069080"/>
            <a:ext cx="1874520" cy="8686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inode 804703</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symlink · 12 B</a:t>
            </a:r>
            <a:endParaRPr lang="en-US" sz="1300" dirty="0"/>
          </a:p>
        </p:txBody>
      </p:sp>
      <p:sp>
        <p:nvSpPr>
          <p:cNvPr id="29" name="Shape 27"/>
          <p:cNvSpPr/>
          <p:nvPr/>
        </p:nvSpPr>
        <p:spPr>
          <a:xfrm>
            <a:off x="5852160" y="2075688"/>
            <a:ext cx="1188720" cy="457200"/>
          </a:xfrm>
          <a:prstGeom prst="roundRect">
            <a:avLst>
              <a:gd name="adj" fmla="val 10000"/>
            </a:avLst>
          </a:prstGeom>
          <a:solidFill>
            <a:srgbClr val="02C39A"/>
          </a:solidFill>
          <a:ln/>
        </p:spPr>
        <p:txBody>
          <a:bodyPr/>
          <a:p/>
        </p:txBody>
      </p:sp>
      <p:sp>
        <p:nvSpPr>
          <p:cNvPr id="30" name="Text 28"/>
          <p:cNvSpPr txBox="1"/>
          <p:nvPr/>
        </p:nvSpPr>
        <p:spPr>
          <a:xfrm>
            <a:off x="5852160" y="2075688"/>
            <a:ext cx="1188720" cy="457200"/>
          </a:xfrm>
          <a:prstGeom prst="rect">
            <a:avLst/>
          </a:prstGeom>
          <a:noFill/>
          <a:ln/>
        </p:spPr>
        <p:txBody>
          <a:bodyPr wrap="square" lIns="38100" tIns="38100" rIns="38100" bIns="38100" rtlCol="0" anchor="ctr"/>
          <a:lstStyle/>
          <a:p>
            <a:pPr algn="ctr" indent="0" marL="0">
              <a:buNone/>
            </a:pPr>
            <a:r>
              <a:rPr lang="en-US" sz="1150" dirty="0">
                <a:solidFill>
                  <a:srgbClr val="212121"/>
                </a:solidFill>
                <a:latin typeface="Consolas" pitchFamily="34" charset="0"/>
                <a:ea typeface="Consolas" pitchFamily="34" charset="-122"/>
                <a:cs typeface="Consolas" pitchFamily="34" charset="-120"/>
              </a:rPr>
              <a:t>Week 1 …</a:t>
            </a:r>
            <a:endParaRPr lang="en-US" sz="1150" dirty="0"/>
          </a:p>
        </p:txBody>
      </p:sp>
      <p:sp>
        <p:nvSpPr>
          <p:cNvPr id="31" name="Shape 29"/>
          <p:cNvSpPr/>
          <p:nvPr/>
        </p:nvSpPr>
        <p:spPr>
          <a:xfrm>
            <a:off x="5852160" y="3172968"/>
            <a:ext cx="1188720" cy="457200"/>
          </a:xfrm>
          <a:prstGeom prst="roundRect">
            <a:avLst>
              <a:gd name="adj" fmla="val 10000"/>
            </a:avLst>
          </a:prstGeom>
          <a:solidFill>
            <a:srgbClr val="D7E9E6"/>
          </a:solidFill>
          <a:ln/>
        </p:spPr>
        <p:txBody>
          <a:bodyPr/>
          <a:p/>
        </p:txBody>
      </p:sp>
      <p:sp>
        <p:nvSpPr>
          <p:cNvPr id="32" name="Text 30"/>
          <p:cNvSpPr txBox="1"/>
          <p:nvPr/>
        </p:nvSpPr>
        <p:spPr>
          <a:xfrm>
            <a:off x="5852160" y="3172968"/>
            <a:ext cx="1188720" cy="457200"/>
          </a:xfrm>
          <a:prstGeom prst="rect">
            <a:avLst/>
          </a:prstGeom>
          <a:noFill/>
          <a:ln/>
        </p:spPr>
        <p:txBody>
          <a:bodyPr wrap="square" lIns="38100" tIns="38100" rIns="38100" bIns="38100" rtlCol="0" anchor="ctr"/>
          <a:lstStyle/>
          <a:p>
            <a:pPr algn="ctr" indent="0" marL="0">
              <a:buNone/>
            </a:pPr>
            <a:r>
              <a:rPr lang="en-US" sz="1150" dirty="0">
                <a:solidFill>
                  <a:srgbClr val="212121"/>
                </a:solidFill>
                <a:latin typeface="Consolas" pitchFamily="34" charset="0"/>
                <a:ea typeface="Consolas" pitchFamily="34" charset="-122"/>
                <a:cs typeface="Consolas" pitchFamily="34" charset="-120"/>
              </a:rPr>
              <a:t>Week 1 …</a:t>
            </a:r>
            <a:endParaRPr lang="en-US" sz="1150" dirty="0"/>
          </a:p>
        </p:txBody>
      </p:sp>
      <p:sp>
        <p:nvSpPr>
          <p:cNvPr id="33" name="Shape 31"/>
          <p:cNvSpPr/>
          <p:nvPr/>
        </p:nvSpPr>
        <p:spPr>
          <a:xfrm>
            <a:off x="5852160" y="4270248"/>
            <a:ext cx="1188720" cy="457200"/>
          </a:xfrm>
          <a:prstGeom prst="roundRect">
            <a:avLst>
              <a:gd name="adj" fmla="val 10000"/>
            </a:avLst>
          </a:prstGeom>
          <a:solidFill>
            <a:srgbClr val="F6E7CC"/>
          </a:solidFill>
          <a:ln/>
        </p:spPr>
        <p:txBody>
          <a:bodyPr/>
          <a:p/>
        </p:txBody>
      </p:sp>
      <p:sp>
        <p:nvSpPr>
          <p:cNvPr id="34" name="Text 32"/>
          <p:cNvSpPr txBox="1"/>
          <p:nvPr/>
        </p:nvSpPr>
        <p:spPr>
          <a:xfrm>
            <a:off x="5852160" y="4270248"/>
            <a:ext cx="1188720" cy="457200"/>
          </a:xfrm>
          <a:prstGeom prst="rect">
            <a:avLst/>
          </a:prstGeom>
          <a:noFill/>
          <a:ln/>
        </p:spPr>
        <p:txBody>
          <a:bodyPr wrap="square" lIns="38100" tIns="38100" rIns="38100" bIns="38100" rtlCol="0" anchor="ctr"/>
          <a:lstStyle/>
          <a:p>
            <a:pPr algn="ctr" indent="0" marL="0">
              <a:buNone/>
            </a:pPr>
            <a:r>
              <a:rPr lang="en-US" sz="1000" dirty="0">
                <a:solidFill>
                  <a:srgbClr val="212121"/>
                </a:solidFill>
                <a:latin typeface="Consolas" pitchFamily="34" charset="0"/>
                <a:ea typeface="Consolas" pitchFamily="34" charset="-122"/>
                <a:cs typeface="Consolas" pitchFamily="34" charset="-120"/>
              </a:rPr>
              <a:t>"syllabus.txt"</a:t>
            </a:r>
            <a:endParaRPr lang="en-US" sz="1000" dirty="0"/>
          </a:p>
        </p:txBody>
      </p:sp>
      <p:sp>
        <p:nvSpPr>
          <p:cNvPr id="35" name="Shape 33"/>
          <p:cNvSpPr/>
          <p:nvPr/>
        </p:nvSpPr>
        <p:spPr>
          <a:xfrm>
            <a:off x="3127248" y="2176272"/>
            <a:ext cx="466344" cy="18288"/>
          </a:xfrm>
          <a:prstGeom prst="line">
            <a:avLst/>
          </a:prstGeom>
          <a:noFill/>
          <a:ln w="22225">
            <a:solidFill>
              <a:srgbClr val="028090"/>
            </a:solidFill>
            <a:prstDash val="solid"/>
            <a:tailEnd type="triangle"/>
          </a:ln>
        </p:spPr>
        <p:txBody>
          <a:bodyPr/>
          <a:p/>
        </p:txBody>
      </p:sp>
      <p:sp>
        <p:nvSpPr>
          <p:cNvPr id="36" name="Shape 34"/>
          <p:cNvSpPr/>
          <p:nvPr/>
        </p:nvSpPr>
        <p:spPr>
          <a:xfrm flipV="1">
            <a:off x="3127248" y="2423160"/>
            <a:ext cx="466344" cy="256032"/>
          </a:xfrm>
          <a:prstGeom prst="line">
            <a:avLst/>
          </a:prstGeom>
          <a:noFill/>
          <a:ln w="22225">
            <a:solidFill>
              <a:srgbClr val="028090"/>
            </a:solidFill>
            <a:prstDash val="solid"/>
            <a:tailEnd type="triangle"/>
          </a:ln>
        </p:spPr>
        <p:txBody>
          <a:bodyPr/>
          <a:p/>
        </p:txBody>
      </p:sp>
      <p:sp>
        <p:nvSpPr>
          <p:cNvPr id="37" name="Shape 35"/>
          <p:cNvSpPr/>
          <p:nvPr/>
        </p:nvSpPr>
        <p:spPr>
          <a:xfrm>
            <a:off x="3127248" y="3182112"/>
            <a:ext cx="466344" cy="155448"/>
          </a:xfrm>
          <a:prstGeom prst="line">
            <a:avLst/>
          </a:prstGeom>
          <a:noFill/>
          <a:ln w="22225">
            <a:solidFill>
              <a:srgbClr val="028090"/>
            </a:solidFill>
            <a:prstDash val="solid"/>
            <a:tailEnd type="triangle"/>
          </a:ln>
        </p:spPr>
        <p:txBody>
          <a:bodyPr/>
          <a:p/>
        </p:txBody>
      </p:sp>
      <p:sp>
        <p:nvSpPr>
          <p:cNvPr id="38" name="Shape 36"/>
          <p:cNvSpPr/>
          <p:nvPr/>
        </p:nvSpPr>
        <p:spPr>
          <a:xfrm>
            <a:off x="3127248" y="3685032"/>
            <a:ext cx="466344" cy="749808"/>
          </a:xfrm>
          <a:prstGeom prst="line">
            <a:avLst/>
          </a:prstGeom>
          <a:noFill/>
          <a:ln w="22225">
            <a:solidFill>
              <a:srgbClr val="C98A1B"/>
            </a:solidFill>
            <a:prstDash val="solid"/>
            <a:tailEnd type="triangle"/>
          </a:ln>
        </p:spPr>
        <p:txBody>
          <a:bodyPr/>
          <a:p/>
        </p:txBody>
      </p:sp>
      <p:sp>
        <p:nvSpPr>
          <p:cNvPr id="39" name="Shape 37"/>
          <p:cNvSpPr/>
          <p:nvPr/>
        </p:nvSpPr>
        <p:spPr>
          <a:xfrm>
            <a:off x="5504688" y="2304288"/>
            <a:ext cx="329184" cy="91"/>
          </a:xfrm>
          <a:prstGeom prst="line">
            <a:avLst/>
          </a:prstGeom>
          <a:noFill/>
          <a:ln w="19050">
            <a:solidFill>
              <a:srgbClr val="50808E"/>
            </a:solidFill>
            <a:prstDash val="solid"/>
            <a:tailEnd type="triangle"/>
          </a:ln>
        </p:spPr>
        <p:txBody>
          <a:bodyPr/>
          <a:p/>
        </p:txBody>
      </p:sp>
      <p:sp>
        <p:nvSpPr>
          <p:cNvPr id="40" name="Shape 38"/>
          <p:cNvSpPr/>
          <p:nvPr/>
        </p:nvSpPr>
        <p:spPr>
          <a:xfrm>
            <a:off x="5504688" y="3401568"/>
            <a:ext cx="329184" cy="91"/>
          </a:xfrm>
          <a:prstGeom prst="line">
            <a:avLst/>
          </a:prstGeom>
          <a:noFill/>
          <a:ln w="19050">
            <a:solidFill>
              <a:srgbClr val="50808E"/>
            </a:solidFill>
            <a:prstDash val="solid"/>
            <a:tailEnd type="triangle"/>
          </a:ln>
        </p:spPr>
        <p:txBody>
          <a:bodyPr/>
          <a:p/>
        </p:txBody>
      </p:sp>
      <p:sp>
        <p:nvSpPr>
          <p:cNvPr id="41" name="Shape 39"/>
          <p:cNvSpPr/>
          <p:nvPr/>
        </p:nvSpPr>
        <p:spPr>
          <a:xfrm>
            <a:off x="5504688" y="4498848"/>
            <a:ext cx="329184" cy="91"/>
          </a:xfrm>
          <a:prstGeom prst="line">
            <a:avLst/>
          </a:prstGeom>
          <a:noFill/>
          <a:ln w="19050">
            <a:solidFill>
              <a:srgbClr val="50808E"/>
            </a:solidFill>
            <a:prstDash val="solid"/>
            <a:tailEnd type="triangle"/>
          </a:ln>
        </p:spPr>
        <p:txBody>
          <a:bodyPr/>
          <a:p/>
        </p:txBody>
      </p:sp>
      <p:sp>
        <p:nvSpPr>
          <p:cNvPr id="42" name="Text 40"/>
          <p:cNvSpPr txBox="1"/>
          <p:nvPr/>
        </p:nvSpPr>
        <p:spPr>
          <a:xfrm>
            <a:off x="5760720" y="4773168"/>
            <a:ext cx="123444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data blocks</a:t>
            </a:r>
            <a:endParaRPr lang="en-US" sz="1100" dirty="0"/>
          </a:p>
        </p:txBody>
      </p:sp>
      <p:sp>
        <p:nvSpPr>
          <p:cNvPr id="43" name="Shape 41"/>
          <p:cNvSpPr/>
          <p:nvPr/>
        </p:nvSpPr>
        <p:spPr>
          <a:xfrm>
            <a:off x="548640" y="5212080"/>
            <a:ext cx="635508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4" name="Text 42"/>
          <p:cNvSpPr txBox="1"/>
          <p:nvPr/>
        </p:nvSpPr>
        <p:spPr>
          <a:xfrm>
            <a:off x="777240" y="5212080"/>
            <a:ext cx="5897880" cy="105156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Real inode numbers from ls -li (demo_links.sh): plan.txt is a hard link, copy.txt a copy, shortcut.txt a symbolic link that stores a path.</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69480" y="1554480"/>
          <a:ext cx="4389120" cy="914400"/>
        </p:xfrm>
        <a:graphic>
          <a:graphicData uri="http://schemas.openxmlformats.org/drawingml/2006/table">
            <a:tbl>
              <a:tblPr/>
              <a:tblGrid>
                <a:gridCol w="1143000"/>
                <a:gridCol w="324612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Command</a:t>
                      </a:r>
                      <a:endParaRPr lang="en-US" sz="140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What changes</a:t>
                      </a:r>
                      <a:endParaRPr lang="en-US" sz="140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touch new</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new name + new (empty) inode</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cp a b</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new name + new inode + copy of the data</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mv a b</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only the name; same inode, data untouched</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ln a b</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new name → same inode; link count + 1</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ln -s a b</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new name + small inode storing the path a</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onsolas" pitchFamily="34" charset="0"/>
                          <a:ea typeface="Consolas" pitchFamily="34" charset="-122"/>
                          <a:cs typeface="Consolas" pitchFamily="34" charset="-120"/>
                        </a:rPr>
                        <a:t>rm a</a:t>
                      </a:r>
                      <a:endParaRPr lang="en-US" sz="130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name removed; link count − 1; data freed at 0</a:t>
                      </a:r>
                      <a:endParaRPr lang="en-US" sz="130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RECAP · WEEKS 2 AND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Each Command Is a Program That Makes a System Call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6</a:t>
            </a:r>
            <a:endParaRPr lang="en-US" sz="900" dirty="0"/>
          </a:p>
        </p:txBody>
      </p:sp>
      <p:sp>
        <p:nvSpPr>
          <p:cNvPr id="6" name="Shape 4"/>
          <p:cNvSpPr/>
          <p:nvPr/>
        </p:nvSpPr>
        <p:spPr>
          <a:xfrm>
            <a:off x="548640" y="1508760"/>
            <a:ext cx="7315200" cy="4754880"/>
          </a:xfrm>
          <a:prstGeom prst="roundRect">
            <a:avLst>
              <a:gd name="adj" fmla="val 962"/>
            </a:avLst>
          </a:prstGeom>
          <a:solidFill>
            <a:srgbClr val="212121"/>
          </a:solidFill>
          <a:ln/>
        </p:spPr>
        <p:txBody>
          <a:bodyPr/>
          <a:p/>
        </p:txBody>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trace=mkdir,mkdirat mkdir newdir</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mkdir("newdir", 0777)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trace=rename,renameat,renameat2 mv newdir olddir</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renameat2(AT_FDCWD, "newdir", AT_FDCWD, "olddir", RENAME_NOREPLACE)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touch file1</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trace=link,linkat ln file1 file2</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linkat(AT_FDCWD, "file1", AT_FDCWD, "file2", 0)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trace=symlink,symlinkat ln -s olddir sym</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symlinkat("olddir", AT_FDCWD, "sym")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trace=unlink,unlinkat rm file1 file2 sym</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unlinkat(AT_FDCWD, "file1", 0)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unlinkat(AT_FDCWD, "file2", 0)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unlinkat(AT_FDCWD, "sym", 0)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strace -e trace=rmdir,unlinkat rmdir olddir</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rmdir("olddir")                         = 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exited with 0 +++</a:t>
            </a:r>
            <a:endParaRPr lang="en-US" sz="105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One command, one call</a:t>
            </a:r>
            <a:endParaRPr lang="en-US"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mkdir</a:t>
            </a:r>
            <a:r>
              <a:rPr lang="en-US" sz="1400" dirty="0">
                <a:solidFill>
                  <a:srgbClr val="3A464C"/>
                </a:solidFill>
                <a:latin typeface="Calibri" pitchFamily="34" charset="0"/>
                <a:ea typeface="Calibri" pitchFamily="34" charset="-122"/>
                <a:cs typeface="Calibri" pitchFamily="34" charset="-120"/>
              </a:rPr>
              <a:t> → mkdir()</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mv</a:t>
            </a:r>
            <a:r>
              <a:rPr lang="en-US" sz="1400" dirty="0">
                <a:solidFill>
                  <a:srgbClr val="3A464C"/>
                </a:solidFill>
                <a:latin typeface="Calibri" pitchFamily="34" charset="0"/>
                <a:ea typeface="Calibri" pitchFamily="34" charset="-122"/>
                <a:cs typeface="Calibri" pitchFamily="34" charset="-120"/>
              </a:rPr>
              <a:t> → renameat2()</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ln</a:t>
            </a:r>
            <a:r>
              <a:rPr lang="en-US" sz="1400" dirty="0">
                <a:solidFill>
                  <a:srgbClr val="3A464C"/>
                </a:solidFill>
                <a:latin typeface="Calibri" pitchFamily="34" charset="0"/>
                <a:ea typeface="Calibri" pitchFamily="34" charset="-122"/>
                <a:cs typeface="Calibri" pitchFamily="34" charset="-120"/>
              </a:rPr>
              <a:t> → linkat()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ln -s</a:t>
            </a:r>
            <a:r>
              <a:rPr lang="en-US" sz="1400" dirty="0">
                <a:solidFill>
                  <a:srgbClr val="3A464C"/>
                </a:solidFill>
                <a:latin typeface="Calibri" pitchFamily="34" charset="0"/>
                <a:ea typeface="Calibri" pitchFamily="34" charset="-122"/>
                <a:cs typeface="Calibri" pitchFamily="34" charset="-120"/>
              </a:rPr>
              <a:t> → symlinkat()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rm</a:t>
            </a:r>
            <a:r>
              <a:rPr lang="en-US" sz="1400" dirty="0">
                <a:solidFill>
                  <a:srgbClr val="3A464C"/>
                </a:solidFill>
                <a:latin typeface="Calibri" pitchFamily="34" charset="0"/>
                <a:ea typeface="Calibri" pitchFamily="34" charset="-122"/>
                <a:cs typeface="Calibri" pitchFamily="34" charset="-120"/>
              </a:rPr>
              <a:t> → unlinkat()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rmdir</a:t>
            </a:r>
            <a:r>
              <a:rPr lang="en-US" sz="1400" dirty="0">
                <a:solidFill>
                  <a:srgbClr val="3A464C"/>
                </a:solidFill>
                <a:latin typeface="Calibri" pitchFamily="34" charset="0"/>
                <a:ea typeface="Calibri" pitchFamily="34" charset="-122"/>
                <a:cs typeface="Calibri" pitchFamily="34" charset="-120"/>
              </a:rPr>
              <a:t> → rmdir()</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kernel calls deleting "unlink": it removes one name (link) of an inode.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Create, Copy, Move, Delete</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mkdir · touch · cp · mv · rm · rmdir</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mkdir: Make Directories (-p for Whole Paths)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8</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mkdir test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-ld test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drwxrwxr-x 2 student student 4096 Oct 12 08:47 test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mkdir test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mkdir trip/day1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mkdir: cannot create directory ‘trip/day1’: No such file or directory</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mkdir -p trip/day1</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mkdir -p work/2026/october</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tree work trip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work</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2026</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october</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trip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day1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5 directories, 0 files</a:t>
            </a:r>
            <a:endParaRPr lang="en-US"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mkdir name creates one empty directory.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File exists:</a:t>
            </a:r>
            <a:r>
              <a:rPr lang="en-US" sz="1350" dirty="0">
                <a:solidFill>
                  <a:srgbClr val="3A464C"/>
                </a:solidFill>
                <a:latin typeface="Calibri" pitchFamily="34" charset="0"/>
                <a:ea typeface="Calibri" pitchFamily="34" charset="-122"/>
                <a:cs typeface="Calibri" pitchFamily="34" charset="-120"/>
              </a:rPr>
              <a:t> the name is taken.</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No such file or directory:</a:t>
            </a:r>
            <a:r>
              <a:rPr lang="en-US" sz="1350" dirty="0">
                <a:solidFill>
                  <a:srgbClr val="3A464C"/>
                </a:solidFill>
                <a:latin typeface="Calibri" pitchFamily="34" charset="0"/>
                <a:ea typeface="Calibri" pitchFamily="34" charset="-122"/>
                <a:cs typeface="Calibri" pitchFamily="34" charset="-120"/>
              </a:rPr>
              <a:t> a parent (trip) is missing.</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a:t>
            </a:r>
            <a:r>
              <a:rPr lang="en-US" sz="1350" dirty="0">
                <a:solidFill>
                  <a:srgbClr val="3A464C"/>
                </a:solidFill>
                <a:latin typeface="Calibri" pitchFamily="34" charset="0"/>
                <a:ea typeface="Calibri" pitchFamily="34" charset="-122"/>
                <a:cs typeface="Calibri" pitchFamily="34" charset="-120"/>
              </a:rPr>
              <a:t> creates every missing parent and is silent if the directory already exists.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ls -ld shows the directory itself, not its contents.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touch: Create Empty Files, Change Timestamps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9</a:t>
            </a:r>
            <a:endParaRPr lang="en-US" sz="900" dirty="0"/>
          </a:p>
        </p:txBody>
      </p:sp>
      <p:sp>
        <p:nvSpPr>
          <p:cNvPr id="6" name="Shape 4"/>
          <p:cNvSpPr/>
          <p:nvPr/>
        </p:nvSpPr>
        <p:spPr>
          <a:xfrm>
            <a:off x="548640" y="1508760"/>
            <a:ext cx="7498080" cy="4754880"/>
          </a:xfrm>
          <a:prstGeom prst="roundRect">
            <a:avLst>
              <a:gd name="adj" fmla="val 962"/>
            </a:avLst>
          </a:prstGeom>
          <a:solidFill>
            <a:srgbClr val="212121"/>
          </a:solidFill>
          <a:ln/>
        </p:spPr>
        <p:txBody>
          <a:bodyPr/>
          <a:p/>
        </p:txBody>
      </p:sp>
      <p:sp>
        <p:nvSpPr>
          <p:cNvPr id="7" name="Text 5"/>
          <p:cNvSpPr txBox="1"/>
          <p:nvPr/>
        </p:nvSpPr>
        <p:spPr>
          <a:xfrm>
            <a:off x="731520" y="1618488"/>
            <a:ext cx="713232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touch todo.txt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 -l todo.txt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-rw-rw-r-- 1 student student 0 Oct 12 08:47 todo.txt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touch -d "2026-01-15 09:30" todo.txt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 -l todo.txt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-rw-rw-r-- 1 student student 0 Jan 15  2026 todo.txt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stat todo.txt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File: todo.txt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Size: 0               Blocks: 0          IO Block: 4096   regular empty file</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Device: 254,0   Inode: 804708      Links: 1</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Access: (0664/-rw-rw-r--)  Uid: ( 1010/ student)   Gid: ( 1012/ student)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Access: 2026-01-15 09:30:00.000000000 +0000</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Modify: 2026-01-15 09:30:00.000000000 +0000</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Change: 2026-10-12 08:47:56.442757013 +0000</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Birth: 2026-10-12 08:47:56.430757013 +0000</a:t>
            </a:r>
            <a:endParaRPr lang="en-US" sz="1100" dirty="0"/>
          </a:p>
        </p:txBody>
      </p:sp>
      <p:sp>
        <p:nvSpPr>
          <p:cNvPr id="8" name="Shape 6"/>
          <p:cNvSpPr/>
          <p:nvPr/>
        </p:nvSpPr>
        <p:spPr>
          <a:xfrm>
            <a:off x="8321040" y="1508760"/>
            <a:ext cx="3337560" cy="475488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549640" y="1691640"/>
            <a:ext cx="2880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549640" y="2148840"/>
            <a:ext cx="288036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No such file:</a:t>
            </a:r>
            <a:r>
              <a:rPr lang="en-US" sz="1350" dirty="0">
                <a:solidFill>
                  <a:srgbClr val="3A464C"/>
                </a:solidFill>
                <a:latin typeface="Calibri" pitchFamily="34" charset="0"/>
                <a:ea typeface="Calibri" pitchFamily="34" charset="-122"/>
                <a:cs typeface="Calibri" pitchFamily="34" charset="-120"/>
              </a:rPr>
              <a:t> touch creates it, 0 bytes.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File exists:</a:t>
            </a:r>
            <a:r>
              <a:rPr lang="en-US" sz="1350" dirty="0">
                <a:solidFill>
                  <a:srgbClr val="3A464C"/>
                </a:solidFill>
                <a:latin typeface="Calibri" pitchFamily="34" charset="0"/>
                <a:ea typeface="Calibri" pitchFamily="34" charset="-122"/>
                <a:cs typeface="Calibri" pitchFamily="34" charset="-120"/>
              </a:rPr>
              <a:t> touch only sets its times to now; the content is not changed.</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-d "date":</a:t>
            </a:r>
            <a:r>
              <a:rPr lang="en-US" sz="1350" dirty="0">
                <a:solidFill>
                  <a:srgbClr val="3A464C"/>
                </a:solidFill>
                <a:latin typeface="Calibri" pitchFamily="34" charset="0"/>
                <a:ea typeface="Calibri" pitchFamily="34" charset="-122"/>
                <a:cs typeface="Calibri" pitchFamily="34" charset="-120"/>
              </a:rPr>
              <a:t> set a chosen time.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ls -l shows the year instead of the time for dates more than 6 months away.</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stat shows all the times kept in the inode.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INODE METADATA</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Three Timestamps: Which Action Changes Which?</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291840"/>
                <a:gridCol w="2606040"/>
                <a:gridCol w="2606040"/>
                <a:gridCol w="260604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Action (example)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atime (Access)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mtime (Modify)</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ctime (Change)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read the data:  cat f</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 (updated lazily)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write the data:  echo x &gt;&gt; f</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touch f</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rename:  mv f g</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add a name:  ln f 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change permissions:  chmod (Week 11)</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ctime is NOT the creation time: it is the last change of the inode. Creation is "Birth". ls -l shows mtime; cp -p keeps the original mtime.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cp: Copy Files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11</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docs/syllabus.txt backup/</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docs/syllabus.txt backup/syllabus_copy.txt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syllabus.txt  syllabus_copy.txt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-v docs/notes_01.txt docs/notes_02.txt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'docs/notes_01.txt' -&gt; 'backup/notes_01.txt'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'docs/notes_02.txt' -&gt; 'backup/notes_02.txt'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-i docs/syllabus.txt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cp: overwrite 'backup/syllabus.txt'? n</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projects/alpha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cp: -r not specified; omitting directory 'projects/alpha'</a:t>
            </a:r>
            <a:endParaRPr lang="en-US"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cp SOURCE TARGET:</a:t>
            </a:r>
            <a:r>
              <a:rPr lang="en-US" sz="1350" dirty="0">
                <a:solidFill>
                  <a:srgbClr val="3A464C"/>
                </a:solidFill>
                <a:latin typeface="Calibri" pitchFamily="34" charset="0"/>
                <a:ea typeface="Calibri" pitchFamily="34" charset="-122"/>
                <a:cs typeface="Calibri" pitchFamily="34" charset="-120"/>
              </a:rPr>
              <a:t> a target directory keeps the name; otherwise it is the new name.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Several sources:</a:t>
            </a:r>
            <a:r>
              <a:rPr lang="en-US" sz="1350" dirty="0">
                <a:solidFill>
                  <a:srgbClr val="3A464C"/>
                </a:solidFill>
                <a:latin typeface="Calibri" pitchFamily="34" charset="0"/>
                <a:ea typeface="Calibri" pitchFamily="34" charset="-122"/>
                <a:cs typeface="Calibri" pitchFamily="34" charset="-120"/>
              </a:rPr>
              <a:t> the last argument must be a directory.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-v:</a:t>
            </a:r>
            <a:r>
              <a:rPr lang="en-US" sz="1350" dirty="0">
                <a:solidFill>
                  <a:srgbClr val="3A464C"/>
                </a:solidFill>
                <a:latin typeface="Calibri" pitchFamily="34" charset="0"/>
                <a:ea typeface="Calibri" pitchFamily="34" charset="-122"/>
                <a:cs typeface="Calibri" pitchFamily="34" charset="-120"/>
              </a:rPr>
              <a:t> say what is done.  -i: ask before overwriting.</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Warning:</a:t>
            </a:r>
            <a:r>
              <a:rPr lang="en-US" sz="1350" dirty="0">
                <a:solidFill>
                  <a:srgbClr val="3A464C"/>
                </a:solidFill>
                <a:latin typeface="Calibri" pitchFamily="34" charset="0"/>
                <a:ea typeface="Calibri" pitchFamily="34" charset="-122"/>
                <a:cs typeface="Calibri" pitchFamily="34" charset="-120"/>
              </a:rPr>
              <a:t> without -i, cp overwrites an existing file silently.</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Directories need -r.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cp -r: Copy a Whole Directory Tree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12</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cp -r projects/alpha backup/</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tree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alpha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README.md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 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main.c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notes_01.txt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notes_02.txt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syllabus_copy.txt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4 directories, 7 files</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-i docs/syllabus.txt backup/syllabus.txt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804330 backup/syllabus.txt  804123 docs/syllabus.txt</a:t>
            </a:r>
            <a:endParaRPr lang="en-US"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 (recursive):</a:t>
            </a:r>
            <a:r>
              <a:rPr lang="en-US" sz="1350" dirty="0">
                <a:solidFill>
                  <a:srgbClr val="3A464C"/>
                </a:solidFill>
                <a:latin typeface="Calibri" pitchFamily="34" charset="0"/>
                <a:ea typeface="Calibri" pitchFamily="34" charset="-122"/>
                <a:cs typeface="Calibri" pitchFamily="34" charset="-120"/>
              </a:rPr>
              <a:t> the directory and everything below it.</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 copy is a new file:</a:t>
            </a:r>
            <a:r>
              <a:rPr lang="en-US" sz="1350" dirty="0">
                <a:solidFill>
                  <a:srgbClr val="3A464C"/>
                </a:solidFill>
                <a:latin typeface="Calibri" pitchFamily="34" charset="0"/>
                <a:ea typeface="Calibri" pitchFamily="34" charset="-122"/>
                <a:cs typeface="Calibri" pitchFamily="34" charset="-120"/>
              </a:rPr>
              <a:t> new inode number, its own data blocks.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Change the copy: the original is untouched (and the other way round).</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cp -p:</a:t>
            </a:r>
            <a:r>
              <a:rPr lang="en-US" sz="1350" dirty="0">
                <a:solidFill>
                  <a:srgbClr val="3A464C"/>
                </a:solidFill>
                <a:latin typeface="Calibri" pitchFamily="34" charset="0"/>
                <a:ea typeface="Calibri" pitchFamily="34" charset="-122"/>
                <a:cs typeface="Calibri" pitchFamily="34" charset="-120"/>
              </a:rPr>
              <a:t> also keep times and permissions; cp -a for exact backups.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mv: Rename and Move (Same Inode!)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13</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mv backup/syllabus.txt backup/syllabus_old.txt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-i backup/syllabus_old.txt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804330 backup/syllabus_old.txt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mv -v docs/notes_03.txt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renamed 'docs/notes_03.txt' -&gt; 'backup/notes_03.txt'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mv backup/alpha backup/alpha_2026</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docs 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alpha_2026    notes_02.txt  syllabus_copy.txt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notes_01.txt  notes_03.txt  syllabus_old.txt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'final report.txt'   notes_01.txt   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linux_quotes.txt    notes_02.txt</a:t>
            </a:r>
            <a:endParaRPr lang="en-US"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Rename:</a:t>
            </a:r>
            <a:r>
              <a:rPr lang="en-US" sz="1350" dirty="0">
                <a:solidFill>
                  <a:srgbClr val="3A464C"/>
                </a:solidFill>
                <a:latin typeface="Calibri" pitchFamily="34" charset="0"/>
                <a:ea typeface="Calibri" pitchFamily="34" charset="-122"/>
                <a:cs typeface="Calibri" pitchFamily="34" charset="-120"/>
              </a:rPr>
              <a:t> mv old new in the same directory.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Move:</a:t>
            </a:r>
            <a:r>
              <a:rPr lang="en-US" sz="1350" dirty="0">
                <a:solidFill>
                  <a:srgbClr val="3A464C"/>
                </a:solidFill>
                <a:latin typeface="Calibri" pitchFamily="34" charset="0"/>
                <a:ea typeface="Calibri" pitchFamily="34" charset="-122"/>
                <a:cs typeface="Calibri" pitchFamily="34" charset="-120"/>
              </a:rPr>
              <a:t> mv file dir/ — the name moves to another directory.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Same inode</a:t>
            </a:r>
            <a:r>
              <a:rPr lang="en-US" sz="1350" dirty="0">
                <a:solidFill>
                  <a:srgbClr val="3A464C"/>
                </a:solidFill>
                <a:latin typeface="Calibri" pitchFamily="34" charset="0"/>
                <a:ea typeface="Calibri" pitchFamily="34" charset="-122"/>
                <a:cs typeface="Calibri" pitchFamily="34" charset="-120"/>
              </a:rPr>
              <a:t> (804330) before and after: only the directory entry changed.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Directories need no -r. Like cp, mv overwrites silently: use -i.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rm and rmdir: Delete Files and Directories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14</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 junk1.txt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 -i junk2.txt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rm: remove regular empty file 'junk2.txt'? y</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 -v junk3.txt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'junk3.txt'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junk*</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ls: cannot access 'junk*': No such file or directory</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rmdir empty_dir</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rmdir projects/beta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rmdir: failed to remove 'projects/beta': Directory not empty</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 projects/beta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rm: cannot remove 'projects/beta': Is a directory</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rm -rv beta_copy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'beta_copy/src/main.c'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directory 'beta_copy/src'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'beta_copy/README.md'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'beta_copy/docs/design.txt'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directory 'beta_copy/docs'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removed directory 'beta_copy'</a:t>
            </a:r>
            <a:endParaRPr lang="en-US"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rm file: no question, no message, no recycle bin.</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-i:</a:t>
            </a:r>
            <a:r>
              <a:rPr lang="en-US" sz="1350" dirty="0">
                <a:solidFill>
                  <a:srgbClr val="3A464C"/>
                </a:solidFill>
                <a:latin typeface="Calibri" pitchFamily="34" charset="0"/>
                <a:ea typeface="Calibri" pitchFamily="34" charset="-122"/>
                <a:cs typeface="Calibri" pitchFamily="34" charset="-120"/>
              </a:rPr>
              <a:t> ask first.  -v: report each removal.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rmdir:</a:t>
            </a:r>
            <a:r>
              <a:rPr lang="en-US" sz="1350" dirty="0">
                <a:solidFill>
                  <a:srgbClr val="3A464C"/>
                </a:solidFill>
                <a:latin typeface="Calibri" pitchFamily="34" charset="0"/>
                <a:ea typeface="Calibri" pitchFamily="34" charset="-122"/>
                <a:cs typeface="Calibri" pitchFamily="34" charset="-120"/>
              </a:rPr>
              <a:t> only EMPTY directories — a safe tool.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rm -r dir:</a:t>
            </a:r>
            <a:r>
              <a:rPr lang="en-US" sz="1350" dirty="0">
                <a:solidFill>
                  <a:srgbClr val="3A464C"/>
                </a:solidFill>
                <a:latin typeface="Calibri" pitchFamily="34" charset="0"/>
                <a:ea typeface="Calibri" pitchFamily="34" charset="-122"/>
                <a:cs typeface="Calibri" pitchFamily="34" charset="-120"/>
              </a:rPr>
              <a:t> the directory and everything inside it, recursively.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Warning:</a:t>
            </a:r>
            <a:r>
              <a:rPr lang="en-US" sz="1350" dirty="0">
                <a:solidFill>
                  <a:srgbClr val="3A464C"/>
                </a:solidFill>
                <a:latin typeface="Calibri" pitchFamily="34" charset="0"/>
                <a:ea typeface="Calibri" pitchFamily="34" charset="-122"/>
                <a:cs typeface="Calibri" pitchFamily="34" charset="-120"/>
              </a:rPr>
              <a:t> -f (force) never asks and hides errors.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rm Is Forever: Delete Safely</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15</a:t>
            </a:r>
            <a:endParaRPr lang="en-US"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600" b="1" dirty="0">
                <a:solidFill>
                  <a:srgbClr val="B5453A"/>
                </a:solidFill>
                <a:latin typeface="Cambria" pitchFamily="34" charset="0"/>
                <a:ea typeface="Cambria" pitchFamily="34" charset="-122"/>
                <a:cs typeface="Cambria" pitchFamily="34" charset="-120"/>
              </a:rPr>
              <a:t>No recycle bin</a:t>
            </a:r>
            <a:endParaRPr lang="en-US"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rm calls unlinkat(). At link count 0 the blocks are freed and soon reused. The desktop Trash is a feature of the file manager, not of the kernel.</a:t>
            </a:r>
            <a:endParaRPr lang="en-US" sz="150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Look before you delete</a:t>
            </a:r>
            <a:endParaRPr lang="en-US"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Run the same pattern with ls (or echo) first:</a:t>
            </a:r>
            <a:endParaRPr lang="en-US" sz="1500" dirty="0"/>
          </a:p>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ls *.tmp   →   rm *.tmp</a:t>
            </a:r>
            <a:endParaRPr lang="en-US" sz="1500" dirty="0"/>
          </a:p>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Check where you are with pwd.</a:t>
            </a:r>
            <a:endParaRPr lang="en-US" sz="150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Ask when unsure</a:t>
            </a:r>
            <a:endParaRPr lang="en-US"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rm -i, rm -ri, cp -i, mv -i ask before each removal or overwrite. Answer y or n.</a:t>
            </a:r>
            <a:endParaRPr lang="en-US" sz="150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en-US" sz="1600" b="1" dirty="0">
                <a:solidFill>
                  <a:srgbClr val="B5453A"/>
                </a:solidFill>
                <a:latin typeface="Cambria" pitchFamily="34" charset="0"/>
                <a:ea typeface="Cambria" pitchFamily="34" charset="-122"/>
                <a:cs typeface="Cambria" pitchFamily="34" charset="-120"/>
              </a:rPr>
              <a:t>One space too many</a:t>
            </a:r>
            <a:endParaRPr lang="en-US"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rm -r ~/lab /old   (typo: a space)</a:t>
            </a:r>
            <a:endParaRPr lang="en-US" sz="1500" dirty="0"/>
          </a:p>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deletes ~/lab AND tries /old.</a:t>
            </a:r>
            <a:endParaRPr lang="en-US" sz="1500" dirty="0"/>
          </a:p>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rm -rf never asks — and with sudo it can destroy the system.</a:t>
            </a:r>
            <a:endParaRPr lang="en-US" sz="15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Safe habit: pwd → ls the pattern → rm. Backups are the only real undo.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 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Creating, Copying, Moving, Deleting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4572000"/>
                <a:gridCol w="379476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Command</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What it does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Useful options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mkdir dir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create a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-p  whole path, no error if it exists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touch file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create an empty file / update its times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-d "2026-01-15 09:30"  set a time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cp src dst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copy files (new inode)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  directories   -i  ask   -v  verbose   -p  keep times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mv src dst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rename or move (same inode)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-i  ask before overwriting   -v  verbose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rm file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remove names — no undo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-i  ask   -r  recursive   -v  verbose   -f  force (!)</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rmdir dir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remove an empty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-p  also empty parents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Pattern of all four: command  -options  sources…  target. With several sources, the target must be an existing directory.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wildcards and braces, names with spaces, looking inside files, links — and the lab.</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Wildcards, Braces and Quoting</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Working with many files at once — and with awkward names.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GLOBBING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Who Expands *? The Shell, Not the Command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19</a:t>
            </a:r>
            <a:endParaRPr lang="en-US" sz="900" dirty="0"/>
          </a:p>
        </p:txBody>
      </p:sp>
      <p:sp>
        <p:nvSpPr>
          <p:cNvPr id="6" name="Shape 4"/>
          <p:cNvSpPr/>
          <p:nvPr/>
        </p:nvSpPr>
        <p:spPr>
          <a:xfrm>
            <a:off x="548640" y="1600200"/>
            <a:ext cx="2514600" cy="1234440"/>
          </a:xfrm>
          <a:prstGeom prst="roundRect">
            <a:avLst>
              <a:gd name="adj" fmla="val 3704"/>
            </a:avLst>
          </a:prstGeom>
          <a:solidFill>
            <a:srgbClr val="F2F2F2"/>
          </a:solidFill>
          <a:ln/>
        </p:spPr>
        <p:txBody>
          <a:bodyPr/>
          <a:p/>
        </p:txBody>
      </p:sp>
      <p:sp>
        <p:nvSpPr>
          <p:cNvPr id="7" name="Text 5"/>
          <p:cNvSpPr txBox="1"/>
          <p:nvPr/>
        </p:nvSpPr>
        <p:spPr>
          <a:xfrm>
            <a:off x="548640" y="1600200"/>
            <a:ext cx="2514600" cy="123444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You type</a:t>
            </a:r>
            <a:endParaRPr lang="en-US" sz="1400" dirty="0"/>
          </a:p>
          <a:p>
            <a:pPr algn="ctr" indent="0" marL="0">
              <a:buNone/>
            </a:pPr>
            <a:r>
              <a:rPr lang="en-US" sz="1250" dirty="0">
                <a:solidFill>
                  <a:srgbClr val="36454F"/>
                </a:solidFill>
                <a:latin typeface="Calibri" pitchFamily="34" charset="0"/>
                <a:ea typeface="Calibri" pitchFamily="34" charset="-122"/>
                <a:cs typeface="Calibri" pitchFamily="34" charset="-120"/>
              </a:rPr>
              <a:t>ls *.jpg</a:t>
            </a:r>
            <a:endParaRPr lang="en-US" sz="1400" dirty="0"/>
          </a:p>
        </p:txBody>
      </p:sp>
      <p:sp>
        <p:nvSpPr>
          <p:cNvPr id="8" name="Shape 6"/>
          <p:cNvSpPr/>
          <p:nvPr/>
        </p:nvSpPr>
        <p:spPr>
          <a:xfrm>
            <a:off x="3081528" y="2217420"/>
            <a:ext cx="310896" cy="91"/>
          </a:xfrm>
          <a:prstGeom prst="line">
            <a:avLst/>
          </a:prstGeom>
          <a:noFill/>
          <a:ln w="25400">
            <a:solidFill>
              <a:srgbClr val="028090"/>
            </a:solidFill>
            <a:prstDash val="solid"/>
            <a:tailEnd type="triangle"/>
          </a:ln>
        </p:spPr>
        <p:txBody>
          <a:bodyPr/>
          <a:p/>
        </p:txBody>
      </p:sp>
      <p:sp>
        <p:nvSpPr>
          <p:cNvPr id="9" name="Shape 7"/>
          <p:cNvSpPr/>
          <p:nvPr/>
        </p:nvSpPr>
        <p:spPr>
          <a:xfrm>
            <a:off x="3410712" y="1600200"/>
            <a:ext cx="2514600" cy="1234440"/>
          </a:xfrm>
          <a:prstGeom prst="roundRect">
            <a:avLst>
              <a:gd name="adj" fmla="val 3704"/>
            </a:avLst>
          </a:prstGeom>
          <a:solidFill>
            <a:srgbClr val="D7E9E6"/>
          </a:solidFill>
          <a:ln/>
        </p:spPr>
        <p:txBody>
          <a:bodyPr/>
          <a:p/>
        </p:txBody>
      </p:sp>
      <p:sp>
        <p:nvSpPr>
          <p:cNvPr id="10" name="Text 8"/>
          <p:cNvSpPr txBox="1"/>
          <p:nvPr/>
        </p:nvSpPr>
        <p:spPr>
          <a:xfrm>
            <a:off x="3410712" y="1600200"/>
            <a:ext cx="2514600" cy="123444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bash expands</a:t>
            </a:r>
            <a:endParaRPr lang="en-US" sz="1400" dirty="0"/>
          </a:p>
          <a:p>
            <a:pPr algn="ctr" indent="0" marL="0">
              <a:buNone/>
            </a:pPr>
            <a:r>
              <a:rPr lang="en-US" sz="1250" dirty="0">
                <a:solidFill>
                  <a:srgbClr val="36454F"/>
                </a:solidFill>
                <a:latin typeface="Calibri" pitchFamily="34" charset="0"/>
                <a:ea typeface="Calibri" pitchFamily="34" charset="-122"/>
                <a:cs typeface="Calibri" pitchFamily="34" charset="-120"/>
              </a:rPr>
              <a:t>reads the directory, replaces *.jpg by matching names</a:t>
            </a:r>
            <a:endParaRPr lang="en-US" sz="1400" dirty="0"/>
          </a:p>
        </p:txBody>
      </p:sp>
      <p:sp>
        <p:nvSpPr>
          <p:cNvPr id="11" name="Shape 9"/>
          <p:cNvSpPr/>
          <p:nvPr/>
        </p:nvSpPr>
        <p:spPr>
          <a:xfrm>
            <a:off x="5943600" y="2217420"/>
            <a:ext cx="310896" cy="91"/>
          </a:xfrm>
          <a:prstGeom prst="line">
            <a:avLst/>
          </a:prstGeom>
          <a:noFill/>
          <a:ln w="25400">
            <a:solidFill>
              <a:srgbClr val="028090"/>
            </a:solidFill>
            <a:prstDash val="solid"/>
            <a:tailEnd type="triangle"/>
          </a:ln>
        </p:spPr>
        <p:txBody>
          <a:bodyPr/>
          <a:p/>
        </p:txBody>
      </p:sp>
      <p:sp>
        <p:nvSpPr>
          <p:cNvPr id="12" name="Shape 10"/>
          <p:cNvSpPr/>
          <p:nvPr/>
        </p:nvSpPr>
        <p:spPr>
          <a:xfrm>
            <a:off x="6272784" y="1600200"/>
            <a:ext cx="2514600" cy="1234440"/>
          </a:xfrm>
          <a:prstGeom prst="roundRect">
            <a:avLst>
              <a:gd name="adj" fmla="val 3704"/>
            </a:avLst>
          </a:prstGeom>
          <a:solidFill>
            <a:srgbClr val="F2F2F2"/>
          </a:solidFill>
          <a:ln/>
        </p:spPr>
        <p:txBody>
          <a:bodyPr/>
          <a:p/>
        </p:txBody>
      </p:sp>
      <p:sp>
        <p:nvSpPr>
          <p:cNvPr id="13" name="Text 11"/>
          <p:cNvSpPr txBox="1"/>
          <p:nvPr/>
        </p:nvSpPr>
        <p:spPr>
          <a:xfrm>
            <a:off x="6272784" y="1600200"/>
            <a:ext cx="2514600" cy="123444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ls receives</a:t>
            </a:r>
            <a:endParaRPr lang="en-US" sz="1400" dirty="0"/>
          </a:p>
          <a:p>
            <a:pPr algn="ctr" indent="0" marL="0">
              <a:buNone/>
            </a:pPr>
            <a:r>
              <a:rPr lang="en-US" sz="1250" dirty="0">
                <a:solidFill>
                  <a:srgbClr val="36454F"/>
                </a:solidFill>
                <a:latin typeface="Calibri" pitchFamily="34" charset="0"/>
                <a:ea typeface="Calibri" pitchFamily="34" charset="-122"/>
                <a:cs typeface="Calibri" pitchFamily="34" charset="-120"/>
              </a:rPr>
              <a:t>12 arguments:</a:t>
            </a:r>
            <a:endParaRPr lang="en-US" sz="1400" dirty="0"/>
          </a:p>
          <a:p>
            <a:pPr algn="ctr" indent="0" marL="0">
              <a:buNone/>
            </a:pPr>
            <a:r>
              <a:rPr lang="en-US" sz="1250" dirty="0">
                <a:solidFill>
                  <a:srgbClr val="36454F"/>
                </a:solidFill>
                <a:latin typeface="Calibri" pitchFamily="34" charset="0"/>
                <a:ea typeface="Calibri" pitchFamily="34" charset="-122"/>
                <a:cs typeface="Calibri" pitchFamily="34" charset="-120"/>
              </a:rPr>
              <a:t>img001.jpg … img012.jpg</a:t>
            </a:r>
            <a:endParaRPr lang="en-US" sz="1400" dirty="0"/>
          </a:p>
        </p:txBody>
      </p:sp>
      <p:sp>
        <p:nvSpPr>
          <p:cNvPr id="14" name="Shape 12"/>
          <p:cNvSpPr/>
          <p:nvPr/>
        </p:nvSpPr>
        <p:spPr>
          <a:xfrm>
            <a:off x="8805672" y="2217420"/>
            <a:ext cx="310896" cy="91"/>
          </a:xfrm>
          <a:prstGeom prst="line">
            <a:avLst/>
          </a:prstGeom>
          <a:noFill/>
          <a:ln w="25400">
            <a:solidFill>
              <a:srgbClr val="028090"/>
            </a:solidFill>
            <a:prstDash val="solid"/>
            <a:tailEnd type="triangle"/>
          </a:ln>
        </p:spPr>
        <p:txBody>
          <a:bodyPr/>
          <a:p/>
        </p:txBody>
      </p:sp>
      <p:sp>
        <p:nvSpPr>
          <p:cNvPr id="15" name="Shape 13"/>
          <p:cNvSpPr/>
          <p:nvPr/>
        </p:nvSpPr>
        <p:spPr>
          <a:xfrm>
            <a:off x="9134856" y="1600200"/>
            <a:ext cx="2514600" cy="1234440"/>
          </a:xfrm>
          <a:prstGeom prst="roundRect">
            <a:avLst>
              <a:gd name="adj" fmla="val 3704"/>
            </a:avLst>
          </a:prstGeom>
          <a:solidFill>
            <a:srgbClr val="36454F"/>
          </a:solidFill>
          <a:ln/>
        </p:spPr>
        <p:txBody>
          <a:bodyPr/>
          <a:p/>
        </p:txBody>
      </p:sp>
      <p:sp>
        <p:nvSpPr>
          <p:cNvPr id="16" name="Text 14"/>
          <p:cNvSpPr txBox="1"/>
          <p:nvPr/>
        </p:nvSpPr>
        <p:spPr>
          <a:xfrm>
            <a:off x="9134856" y="1600200"/>
            <a:ext cx="2514600" cy="123444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kernel</a:t>
            </a:r>
            <a:endParaRPr lang="en-US" sz="1400" dirty="0"/>
          </a:p>
          <a:p>
            <a:pPr algn="ctr" indent="0" marL="0">
              <a:buNone/>
            </a:pPr>
            <a:r>
              <a:rPr lang="en-US" sz="1250" dirty="0">
                <a:solidFill>
                  <a:srgbClr val="FFFFFF"/>
                </a:solidFill>
                <a:latin typeface="Calibri" pitchFamily="34" charset="0"/>
                <a:ea typeface="Calibri" pitchFamily="34" charset="-122"/>
                <a:cs typeface="Calibri" pitchFamily="34" charset="-120"/>
              </a:rPr>
              <a:t>execve("/usr/bin/ls", …) starts ls with those arguments</a:t>
            </a:r>
            <a:endParaRPr lang="en-US" sz="1400" dirty="0"/>
          </a:p>
        </p:txBody>
      </p:sp>
      <p:sp>
        <p:nvSpPr>
          <p:cNvPr id="17" name="Shape 15"/>
          <p:cNvSpPr/>
          <p:nvPr/>
        </p:nvSpPr>
        <p:spPr>
          <a:xfrm>
            <a:off x="548640" y="3108960"/>
            <a:ext cx="5394960" cy="1783080"/>
          </a:xfrm>
          <a:prstGeom prst="roundRect">
            <a:avLst>
              <a:gd name="adj" fmla="val 2564"/>
            </a:avLst>
          </a:prstGeom>
          <a:solidFill>
            <a:srgbClr val="212121"/>
          </a:solidFill>
          <a:ln/>
        </p:spPr>
        <p:txBody>
          <a:bodyPr/>
          <a:p/>
        </p:txBody>
      </p:sp>
      <p:sp>
        <p:nvSpPr>
          <p:cNvPr id="18" name="Text 16"/>
          <p:cNvSpPr txBox="1"/>
          <p:nvPr/>
        </p:nvSpPr>
        <p:spPr>
          <a:xfrm>
            <a:off x="731520" y="3218688"/>
            <a:ext cx="5029200" cy="15636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student@okan-lab:~/lab/photos$ </a:t>
            </a:r>
            <a:r>
              <a:rPr lang="en-US" sz="1150" b="1" dirty="0">
                <a:solidFill>
                  <a:srgbClr val="FFFFFF"/>
                </a:solidFill>
                <a:latin typeface="Consolas" pitchFamily="34" charset="0"/>
                <a:ea typeface="Consolas" pitchFamily="34" charset="-122"/>
                <a:cs typeface="Consolas" pitchFamily="34" charset="-120"/>
              </a:rPr>
              <a:t>echo *.png</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img013.png</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student@okan-lab:~/lab/photos$ </a:t>
            </a:r>
            <a:r>
              <a:rPr lang="en-US" sz="1150" b="1" dirty="0">
                <a:solidFill>
                  <a:srgbClr val="FFFFFF"/>
                </a:solidFill>
                <a:latin typeface="Consolas" pitchFamily="34" charset="0"/>
                <a:ea typeface="Consolas" pitchFamily="34" charset="-122"/>
                <a:cs typeface="Consolas" pitchFamily="34" charset="-120"/>
              </a:rPr>
              <a:t>echo *.gif</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*.gif</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junk*</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ls: cannot access 'junk*': No such file or directory</a:t>
            </a:r>
            <a:endParaRPr lang="en-US" sz="1150" dirty="0"/>
          </a:p>
        </p:txBody>
      </p:sp>
      <p:sp>
        <p:nvSpPr>
          <p:cNvPr id="19" name="Shape 17"/>
          <p:cNvSpPr/>
          <p:nvPr/>
        </p:nvSpPr>
        <p:spPr>
          <a:xfrm>
            <a:off x="6217920" y="310896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6446520" y="32918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Consequences</a:t>
            </a:r>
            <a:endParaRPr lang="en-US" sz="1500" dirty="0"/>
          </a:p>
        </p:txBody>
      </p:sp>
      <p:sp>
        <p:nvSpPr>
          <p:cNvPr id="21" name="Text 19"/>
          <p:cNvSpPr txBox="1"/>
          <p:nvPr/>
        </p:nvSpPr>
        <p:spPr>
          <a:xfrm>
            <a:off x="6446520" y="374904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echo shows what a command will receive.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Every command "supports" wildcards — it never sees them.</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 match: bash leaves the pattern as it is, so ls looks for a file literally named junk*.</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Patterns match names, not contents; * skips hidden names (starting with .).</a:t>
            </a:r>
            <a:endParaRPr lang="en-US" sz="1400" dirty="0"/>
          </a:p>
        </p:txBody>
      </p:sp>
      <p:sp>
        <p:nvSpPr>
          <p:cNvPr id="22" name="Shape 20"/>
          <p:cNvSpPr/>
          <p:nvPr/>
        </p:nvSpPr>
        <p:spPr>
          <a:xfrm>
            <a:off x="548640" y="5074920"/>
            <a:ext cx="5394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777240" y="5074920"/>
            <a:ext cx="4937760" cy="118872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Link to Week 3: bash expands, then fork() + exec() start ls with the finished list of arguments.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GLOBBING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Wildcard Patterns (in ~/lab/photos)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280160"/>
                <a:gridCol w="3108960"/>
                <a:gridCol w="2194560"/>
                <a:gridCol w="452628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Pattern</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Matches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Example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Result (real)</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any string, also the empty one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12 names: img001.jpg … img012.jpg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exactly one character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img00?.jpg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9 names: img001.jpg … img009.jpg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[0-2]</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one character from a range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img01[0-2].jpg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img010.jpg  img011.jpg  img012.jpg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one of the listed characters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img00[135].jpg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img001.jpg  img003.jpg  img005.jpg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[jJ]</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either case of a letter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*.[jJ][pP]*</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the 12 .jpg, holiday.jpeg, IMG_014.JPG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one character NOT in the set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img010.jpg … img013.png</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Linux names are case-sensitive: *.jpg does not match IMG_014.JPG. A leading . (hidden name) must be typed explicitly: .*</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Wildcards in Action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21</a:t>
            </a:r>
            <a:endParaRPr lang="en-US" sz="900" dirty="0"/>
          </a:p>
        </p:txBody>
      </p:sp>
      <p:sp>
        <p:nvSpPr>
          <p:cNvPr id="6" name="Shape 4"/>
          <p:cNvSpPr/>
          <p:nvPr/>
        </p:nvSpPr>
        <p:spPr>
          <a:xfrm>
            <a:off x="548640" y="1508760"/>
            <a:ext cx="7315200" cy="4754880"/>
          </a:xfrm>
          <a:prstGeom prst="roundRect">
            <a:avLst>
              <a:gd name="adj" fmla="val 962"/>
            </a:avLst>
          </a:prstGeom>
          <a:solidFill>
            <a:srgbClr val="212121"/>
          </a:solidFill>
          <a:ln/>
        </p:spPr>
        <p:txBody>
          <a:bodyPr/>
          <a:p/>
        </p:txBody>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cd photos</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IMG_014.JPG   img002.jpg  img005.jpg  img008.jpg  img011.jpg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holiday.jpeg  img003.jpg  img006.jpg  img009.jpg  img012.jpg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img001.jpg    img004.jpg  img007.jpg  img010.jpg  img013.png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 *.jpg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img001.jpg  img003.jpg  img005.jpg  img007.jpg  img009.jpg  img011.jpg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img002.jpg  img004.jpg  img006.jpg  img008.jpg  img010.jpg  img012.jpg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 img00?.jpg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img001.jpg  img003.jpg  img005.jpg  img007.jpg  img009.jpg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img002.jpg  img004.jpg  img006.jpg  img008.jpg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 img01[0-2].jpg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img010.jpg  img011.jpg  img012.jpg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 img00[135].jpg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img001.jpg  img003.jpg  img005.jpg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ls *.[jJ][pP]*</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IMG_014.JPG   img002.jpg  img005.jpg  img008.jpg  img011.jpg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holiday.jpeg  img003.jpg  img006.jpg  img009.jpg  img012.jpg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img001.jpg    img004.jpg  img007.jpg  img010.jpg</a:t>
            </a:r>
            <a:endParaRPr lang="en-US" sz="110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ls in a terminal prints columns, sorted by name.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With LC_ALL=C.UTF-8, capitals sort first: IMG_014.JPG is at the top.</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img00? matches img001 … img009 but not img010.</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Always test a pattern with ls before using it with rm or mv.</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No Match, Quotes and Brace Expansion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22</a:t>
            </a:r>
            <a:endParaRPr lang="en-US" sz="900" dirty="0"/>
          </a:p>
        </p:txBody>
      </p:sp>
      <p:sp>
        <p:nvSpPr>
          <p:cNvPr id="6" name="Shape 4"/>
          <p:cNvSpPr/>
          <p:nvPr/>
        </p:nvSpPr>
        <p:spPr>
          <a:xfrm>
            <a:off x="548640" y="1508760"/>
            <a:ext cx="7315200" cy="4754880"/>
          </a:xfrm>
          <a:prstGeom prst="roundRect">
            <a:avLst>
              <a:gd name="adj" fmla="val 962"/>
            </a:avLst>
          </a:prstGeom>
          <a:solidFill>
            <a:srgbClr val="212121"/>
          </a:solidFill>
          <a:ln/>
        </p:spPr>
        <p:txBody>
          <a:bodyPr/>
          <a:p/>
        </p:txBody>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echo *.gif</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*.gif</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echo "*.jpg"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echo {1..5}</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1 2 3 4 5</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echo img{01..03}.jpg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img01.jpg img02.jpg img03.jpg</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echo report_{draft,final}.txt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report_draft.txt report_final.txt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mkdir -p ../trip/{day1,day2,day3}/{photos,notes}</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student@okan-lab:~/lab/photos$ </a:t>
            </a:r>
            <a:r>
              <a:rPr lang="en-US" sz="1100" b="1" dirty="0">
                <a:solidFill>
                  <a:srgbClr val="FFFFFF"/>
                </a:solidFill>
                <a:latin typeface="Consolas" pitchFamily="34" charset="0"/>
                <a:ea typeface="Consolas" pitchFamily="34" charset="-122"/>
                <a:cs typeface="Consolas" pitchFamily="34" charset="-120"/>
              </a:rPr>
              <a:t>tree ../trip</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../trip</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day1</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notes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photos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day2</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notes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photos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day3</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notes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photos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10 directories, 0 files</a:t>
            </a:r>
            <a:endParaRPr lang="en-US" sz="110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Quotes</a:t>
            </a:r>
            <a:r>
              <a:rPr lang="en-US" sz="1350" dirty="0">
                <a:solidFill>
                  <a:srgbClr val="3A464C"/>
                </a:solidFill>
                <a:latin typeface="Calibri" pitchFamily="34" charset="0"/>
                <a:ea typeface="Calibri" pitchFamily="34" charset="-122"/>
                <a:cs typeface="Calibri" pitchFamily="34" charset="-120"/>
              </a:rPr>
              <a:t> switch expansion off.</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{a,b}:</a:t>
            </a:r>
            <a:r>
              <a:rPr lang="en-US" sz="1350" dirty="0">
                <a:solidFill>
                  <a:srgbClr val="3A464C"/>
                </a:solidFill>
                <a:latin typeface="Calibri" pitchFamily="34" charset="0"/>
                <a:ea typeface="Calibri" pitchFamily="34" charset="-122"/>
                <a:cs typeface="Calibri" pitchFamily="34" charset="-120"/>
              </a:rPr>
              <a:t> a list.  {1..5}: a range.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{01..03}:</a:t>
            </a:r>
            <a:r>
              <a:rPr lang="en-US" sz="1350" dirty="0">
                <a:solidFill>
                  <a:srgbClr val="3A464C"/>
                </a:solidFill>
                <a:latin typeface="Calibri" pitchFamily="34" charset="0"/>
                <a:ea typeface="Calibri" pitchFamily="34" charset="-122"/>
                <a:cs typeface="Calibri" pitchFamily="34" charset="-120"/>
              </a:rPr>
              <a:t> zero-padded numbers.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Product:</a:t>
            </a:r>
            <a:r>
              <a:rPr lang="en-US" sz="1350" dirty="0">
                <a:solidFill>
                  <a:srgbClr val="3A464C"/>
                </a:solidFill>
                <a:latin typeface="Calibri" pitchFamily="34" charset="0"/>
                <a:ea typeface="Calibri" pitchFamily="34" charset="-122"/>
                <a:cs typeface="Calibri" pitchFamily="34" charset="-120"/>
              </a:rPr>
              <a:t> {day1,day2,day3}/{photos,notes} gives 3 × 2 = 6 directories; with trip and the 3 days, tree counts 10.</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TWO EXPANSIONS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Wildcards vs. Braces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23</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Wildcards  *  ?  [ ]</a:t>
            </a:r>
            <a:endParaRPr lang="en-US"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Match names that already exist in a directory.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Results are sorted alphabetically.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 match: the pattern stays unchanged.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Typical use: ls, cp, mv, rm on many existing files.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Example: mv *.png png/</a:t>
            </a:r>
            <a:endParaRPr lang="en-US"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Braces  { , }  {1..5}</a:t>
            </a:r>
            <a:endParaRPr lang="en-US"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Generate strings — the files need not exist.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Order is kept exactly as written.</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Several braces multiply: {a,b}{1,2} → a1 a2 b1 b2.</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Typical use: mkdir, touch, creating many new names.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Example: mkdir -p week{01..14}</a:t>
            </a:r>
            <a:endParaRPr lang="en-US"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Both are done by bash before the command starts — and both are switched off by quotes ('…' or "…").</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Names with Spaces: Quote or Escape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24</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ls docs</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'final report.txt'   notes_01.txt   notes_03.txt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 linux_quotes.txt    notes_02.txt   syllabus.txt</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cat docs/final report.txt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cat: docs/final: No such file or directory</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cat: report.txt: No such file or directory</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cat "docs/final report.txt"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Final report draft.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This file name contains a space.</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cat 'docs/final report.txt'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Final report draft.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This file name contains a space.</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cat docs/final\ report.txt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Final report draft.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This file name contains a space.</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mkdir my photos</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mkdir: cannot create directory ‘photos’: File exists</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mkdir "my photos"</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ls -d my*</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 my  'my photos'</a:t>
            </a:r>
            <a:endParaRPr lang="en-US" sz="12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space separates arguments: cat got TWO names.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 or '…':</a:t>
            </a:r>
            <a:r>
              <a:rPr lang="en-US" sz="1350" dirty="0">
                <a:solidFill>
                  <a:srgbClr val="3A464C"/>
                </a:solidFill>
                <a:latin typeface="Calibri" pitchFamily="34" charset="0"/>
                <a:ea typeface="Calibri" pitchFamily="34" charset="-122"/>
                <a:cs typeface="Calibri" pitchFamily="34" charset="-120"/>
              </a:rPr>
              <a:t> one argument.</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 (backslash):</a:t>
            </a:r>
            <a:r>
              <a:rPr lang="en-US" sz="1350" dirty="0">
                <a:solidFill>
                  <a:srgbClr val="3A464C"/>
                </a:solidFill>
                <a:latin typeface="Calibri" pitchFamily="34" charset="0"/>
                <a:ea typeface="Calibri" pitchFamily="34" charset="-122"/>
                <a:cs typeface="Calibri" pitchFamily="34" charset="-120"/>
              </a:rPr>
              <a:t> escapes the next character.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Tab completion inserts the backslash for you.</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mkdir my photos made "my" and failed on "photos".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Tip:</a:t>
            </a:r>
            <a:r>
              <a:rPr lang="en-US" sz="1350" dirty="0">
                <a:solidFill>
                  <a:srgbClr val="3A464C"/>
                </a:solidFill>
                <a:latin typeface="Calibri" pitchFamily="34" charset="0"/>
                <a:ea typeface="Calibri" pitchFamily="34" charset="-122"/>
                <a:cs typeface="Calibri" pitchFamily="34" charset="-120"/>
              </a:rPr>
              <a:t> use _ or - instead of spaces in your own names.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4</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Looking Inside Files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cat · less · head · tail · wc · file · stat · du · df</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cat, head and tail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26</a:t>
            </a:r>
            <a:endParaRPr lang="en-US" sz="900" dirty="0"/>
          </a:p>
        </p:txBody>
      </p:sp>
      <p:sp>
        <p:nvSpPr>
          <p:cNvPr id="6" name="Shape 4"/>
          <p:cNvSpPr/>
          <p:nvPr/>
        </p:nvSpPr>
        <p:spPr>
          <a:xfrm>
            <a:off x="548640" y="1508760"/>
            <a:ext cx="7589520" cy="4754880"/>
          </a:xfrm>
          <a:prstGeom prst="roundRect">
            <a:avLst>
              <a:gd name="adj" fmla="val 962"/>
            </a:avLst>
          </a:prstGeom>
          <a:solidFill>
            <a:srgbClr val="212121"/>
          </a:solidFill>
          <a:ln/>
        </p:spPr>
        <p:txBody>
          <a:bodyPr/>
          <a:p/>
        </p:txBody>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cat docs/linux_quotes.txt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Talk is cheap. Show me the code.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Given enough eyeballs, all bugs are shallow.</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Most good programmers do programming not because they expect to get paid.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Theory and practice sometimes clash. And when that happens, theory loses.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Intelligence is the ability to avoid doing work, yet getting the work done.</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cat -n docs/notes_01.txt docs/notes_02.txt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1  Meeting notes 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2  Meeting notes 2</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head -n 3 data/students.csv</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id,name,department,midterm,final</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2026001,Elif Yilmaz,ECT,96,99</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2026002,Zeynep Dogan,ME,95,36</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tail -n 3 logs/system.log</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2026-10-12 14:27:00 INFO  user login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2026-10-12 14:38:00 INFO  backup finished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2026-10-12 14:49:00 INFO  network link up</a:t>
            </a:r>
            <a:endParaRPr lang="en-US"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cat:</a:t>
            </a:r>
            <a:r>
              <a:rPr lang="en-US" sz="1350" dirty="0">
                <a:solidFill>
                  <a:srgbClr val="3A464C"/>
                </a:solidFill>
                <a:latin typeface="Calibri" pitchFamily="34" charset="0"/>
                <a:ea typeface="Calibri" pitchFamily="34" charset="-122"/>
                <a:cs typeface="Calibri" pitchFamily="34" charset="-120"/>
              </a:rPr>
              <a:t> print whole files; with several files, one after another (concatenate).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-n:</a:t>
            </a:r>
            <a:r>
              <a:rPr lang="en-US" sz="1350" dirty="0">
                <a:solidFill>
                  <a:srgbClr val="3A464C"/>
                </a:solidFill>
                <a:latin typeface="Calibri" pitchFamily="34" charset="0"/>
                <a:ea typeface="Calibri" pitchFamily="34" charset="-122"/>
                <a:cs typeface="Calibri" pitchFamily="34" charset="-120"/>
              </a:rPr>
              <a:t> number the lines.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head / tail -n N:</a:t>
            </a:r>
            <a:r>
              <a:rPr lang="en-US" sz="1350" dirty="0">
                <a:solidFill>
                  <a:srgbClr val="3A464C"/>
                </a:solidFill>
                <a:latin typeface="Calibri" pitchFamily="34" charset="0"/>
                <a:ea typeface="Calibri" pitchFamily="34" charset="-122"/>
                <a:cs typeface="Calibri" pitchFamily="34" charset="-120"/>
              </a:rPr>
              <a:t> first / last N lines (default 10).</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For long files cat scrolls away: use less.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Following a Log with tail -f; Paging with less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27</a:t>
            </a:r>
            <a:endParaRPr lang="en-US" sz="900" dirty="0"/>
          </a:p>
        </p:txBody>
      </p:sp>
      <p:sp>
        <p:nvSpPr>
          <p:cNvPr id="6" name="Text 4"/>
          <p:cNvSpPr txBox="1"/>
          <p:nvPr/>
        </p:nvSpPr>
        <p:spPr>
          <a:xfrm>
            <a:off x="548640" y="1481328"/>
            <a:ext cx="2743200" cy="292608"/>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Terminal 1</a:t>
            </a:r>
            <a:endParaRPr lang="en-US" sz="1250" dirty="0"/>
          </a:p>
        </p:txBody>
      </p:sp>
      <p:sp>
        <p:nvSpPr>
          <p:cNvPr id="7" name="Shape 5"/>
          <p:cNvSpPr/>
          <p:nvPr/>
        </p:nvSpPr>
        <p:spPr>
          <a:xfrm>
            <a:off x="548640" y="1783080"/>
            <a:ext cx="6949440" cy="1737360"/>
          </a:xfrm>
          <a:prstGeom prst="roundRect">
            <a:avLst>
              <a:gd name="adj" fmla="val 2632"/>
            </a:avLst>
          </a:prstGeom>
          <a:solidFill>
            <a:srgbClr val="212121"/>
          </a:solidFill>
          <a:ln/>
        </p:spPr>
        <p:txBody>
          <a:bodyPr/>
          <a:p/>
        </p:txBody>
      </p:sp>
      <p:sp>
        <p:nvSpPr>
          <p:cNvPr id="8" name="Text 6"/>
          <p:cNvSpPr txBox="1"/>
          <p:nvPr/>
        </p:nvSpPr>
        <p:spPr>
          <a:xfrm>
            <a:off x="731520" y="1892808"/>
            <a:ext cx="6583680" cy="151790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tail -n 2 -f logs/system.log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2026-10-12 14:38:00 INFO  backup finished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2026-10-12 14:49:00 INFO  network link up</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2026-10-12 15:00:00 WARN  disk almost full</a:t>
            </a:r>
            <a:endParaRPr lang="en-US" sz="1100" dirty="0"/>
          </a:p>
          <a:p>
            <a:pPr indent="0" marL="0">
              <a:lnSpc>
                <a:spcPct val="100000"/>
              </a:lnSpc>
              <a:buNone/>
            </a:pPr>
            <a:r>
              <a:rPr lang="en-US" sz="1100" dirty="0">
                <a:solidFill>
                  <a:srgbClr val="8A9AA0"/>
                </a:solidFill>
                <a:latin typeface="Consolas" pitchFamily="34" charset="0"/>
                <a:ea typeface="Consolas" pitchFamily="34" charset="-122"/>
                <a:cs typeface="Consolas" pitchFamily="34" charset="-120"/>
              </a:rPr>
              <a:t>^C</a:t>
            </a:r>
            <a:endParaRPr lang="en-US" sz="1100" dirty="0"/>
          </a:p>
        </p:txBody>
      </p:sp>
      <p:sp>
        <p:nvSpPr>
          <p:cNvPr id="9" name="Text 7"/>
          <p:cNvSpPr txBox="1"/>
          <p:nvPr/>
        </p:nvSpPr>
        <p:spPr>
          <a:xfrm>
            <a:off x="548640" y="3657600"/>
            <a:ext cx="6949440" cy="292608"/>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Terminal 2 (meanwhile, a program appends a line)</a:t>
            </a:r>
            <a:endParaRPr lang="en-US" sz="1250" dirty="0"/>
          </a:p>
        </p:txBody>
      </p:sp>
      <p:sp>
        <p:nvSpPr>
          <p:cNvPr id="10" name="Shape 8"/>
          <p:cNvSpPr/>
          <p:nvPr/>
        </p:nvSpPr>
        <p:spPr>
          <a:xfrm>
            <a:off x="548640" y="3959352"/>
            <a:ext cx="6949440" cy="777240"/>
          </a:xfrm>
          <a:prstGeom prst="roundRect">
            <a:avLst>
              <a:gd name="adj" fmla="val 5882"/>
            </a:avLst>
          </a:prstGeom>
          <a:solidFill>
            <a:srgbClr val="212121"/>
          </a:solidFill>
          <a:ln/>
        </p:spPr>
        <p:txBody>
          <a:bodyPr/>
          <a:p/>
        </p:txBody>
      </p:sp>
      <p:sp>
        <p:nvSpPr>
          <p:cNvPr id="11" name="Text 9"/>
          <p:cNvSpPr txBox="1"/>
          <p:nvPr/>
        </p:nvSpPr>
        <p:spPr>
          <a:xfrm>
            <a:off x="731520" y="4069080"/>
            <a:ext cx="6583680" cy="557784"/>
          </a:xfrm>
          <a:prstGeom prst="rect">
            <a:avLst/>
          </a:prstGeom>
          <a:noFill/>
          <a:ln/>
        </p:spPr>
        <p:txBody>
          <a:bodyPr wrap="square" lIns="0" tIns="0" rIns="0" bIns="0" rtlCol="0" anchor="t"/>
          <a:lstStyle/>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echo "2026-10-12 15:00:00 WARN  disk almost full" &gt;&gt; logs/system.log</a:t>
            </a:r>
            <a:endParaRPr lang="en-US" sz="900" dirty="0"/>
          </a:p>
        </p:txBody>
      </p:sp>
      <p:sp>
        <p:nvSpPr>
          <p:cNvPr id="12" name="Shape 10"/>
          <p:cNvSpPr/>
          <p:nvPr/>
        </p:nvSpPr>
        <p:spPr>
          <a:xfrm>
            <a:off x="548640" y="4937760"/>
            <a:ext cx="6949440" cy="1325880"/>
          </a:xfrm>
          <a:prstGeom prst="roundRect">
            <a:avLst>
              <a:gd name="adj" fmla="val 4138"/>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4937760"/>
            <a:ext cx="6492240" cy="13258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tail -f keeps the file open and prints every new line as it arrives — the standard way to watch a log. Stop it with Ctrl+C.</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0" y="1508760"/>
          <a:ext cx="3886200" cy="914400"/>
        </p:xfrm>
        <a:graphic>
          <a:graphicData uri="http://schemas.openxmlformats.org/drawingml/2006/table">
            <a:tbl>
              <a:tblPr/>
              <a:tblGrid>
                <a:gridCol w="1417320"/>
                <a:gridCol w="2468880"/>
              </a:tblGrid>
              <a:tr h="0">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Key in less</a:t>
                      </a: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Action</a:t>
                      </a: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Space / b</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next / previous page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 ↑</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one line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/word</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search forward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n  N</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next / previous match</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g  G</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start / end of file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q</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quit</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7772400" y="4800600"/>
            <a:ext cx="3886200" cy="502920"/>
          </a:xfrm>
          <a:prstGeom prst="rect">
            <a:avLst/>
          </a:prstGeom>
          <a:noFill/>
          <a:ln/>
        </p:spPr>
        <p:txBody>
          <a:bodyPr wrap="square" lIns="0" tIns="0" rIns="0" bIns="0" rtlCol="0" anchor="t"/>
          <a:lstStyle/>
          <a:p>
            <a:pPr indent="0" marL="0">
              <a:buNone/>
            </a:pPr>
            <a:r>
              <a:rPr lang="en-US" sz="1250" i="1" dirty="0">
                <a:solidFill>
                  <a:srgbClr val="6B7679"/>
                </a:solidFill>
                <a:latin typeface="Calibri" pitchFamily="34" charset="0"/>
                <a:ea typeface="Calibri" pitchFamily="34" charset="-122"/>
                <a:cs typeface="Calibri" pitchFamily="34" charset="-120"/>
              </a:rPr>
              <a:t>less logs/access.log  ·  man pages use the same keys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wc Counts, file Identifies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28</a:t>
            </a:r>
            <a:endParaRPr lang="en-US" sz="900" dirty="0"/>
          </a:p>
        </p:txBody>
      </p:sp>
      <p:sp>
        <p:nvSpPr>
          <p:cNvPr id="6" name="Shape 4"/>
          <p:cNvSpPr/>
          <p:nvPr/>
        </p:nvSpPr>
        <p:spPr>
          <a:xfrm>
            <a:off x="548640" y="1508760"/>
            <a:ext cx="7589520" cy="4754880"/>
          </a:xfrm>
          <a:prstGeom prst="roundRect">
            <a:avLst>
              <a:gd name="adj" fmla="val 962"/>
            </a:avLst>
          </a:prstGeom>
          <a:solidFill>
            <a:srgbClr val="212121"/>
          </a:solidFill>
          <a:ln/>
        </p:spPr>
        <p:txBody>
          <a:bodyPr/>
          <a:p/>
        </p:txBody>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wc docs/linux_quotes.txt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5  50 302 docs/linux_quotes.txt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wc -l data/*.csv data/*.txt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41 data/students.csv</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30 data/cities.txt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20 data/numbers.txt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91 total</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file README.txt src/hello.c data/students.csv photos/img…</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README.txt:        ASCII text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src/hello.c:       C source, ASCII text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data/students.csv: CSV ASCII text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photos/img001.jpg: empty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          directory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/usr/bin/ls:       ELF 64-bit LSB pie executable, x86-64, version 1 (SYSV), dyna…</a:t>
            </a:r>
            <a:endParaRPr lang="en-US"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wc:</a:t>
            </a:r>
            <a:r>
              <a:rPr lang="en-US" sz="1350" dirty="0">
                <a:solidFill>
                  <a:srgbClr val="3A464C"/>
                </a:solidFill>
                <a:latin typeface="Calibri" pitchFamily="34" charset="0"/>
                <a:ea typeface="Calibri" pitchFamily="34" charset="-122"/>
                <a:cs typeface="Calibri" pitchFamily="34" charset="-120"/>
              </a:rPr>
              <a:t> lines, words, bytes — here 5, 50, 302.</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-l -w -c:</a:t>
            </a:r>
            <a:r>
              <a:rPr lang="en-US" sz="1350" dirty="0">
                <a:solidFill>
                  <a:srgbClr val="3A464C"/>
                </a:solidFill>
                <a:latin typeface="Calibri" pitchFamily="34" charset="0"/>
                <a:ea typeface="Calibri" pitchFamily="34" charset="-122"/>
                <a:cs typeface="Calibri" pitchFamily="34" charset="-120"/>
              </a:rPr>
              <a:t> only lines, words or bytes.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students.csv: 41 lines = 1 header + 40 students.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file</a:t>
            </a:r>
            <a:r>
              <a:rPr lang="en-US" sz="1350" dirty="0">
                <a:solidFill>
                  <a:srgbClr val="3A464C"/>
                </a:solidFill>
                <a:latin typeface="Calibri" pitchFamily="34" charset="0"/>
                <a:ea typeface="Calibri" pitchFamily="34" charset="-122"/>
                <a:cs typeface="Calibri" pitchFamily="34" charset="-120"/>
              </a:rPr>
              <a:t> reads the content (magic number, Week 7), not the extension: img001.jpg is "empty".</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RECAP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stat: Read the Inode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29</a:t>
            </a:r>
            <a:endParaRPr lang="en-US" sz="900" dirty="0"/>
          </a:p>
        </p:txBody>
      </p:sp>
      <p:sp>
        <p:nvSpPr>
          <p:cNvPr id="6" name="Shape 4"/>
          <p:cNvSpPr/>
          <p:nvPr/>
        </p:nvSpPr>
        <p:spPr>
          <a:xfrm>
            <a:off x="548640" y="1508760"/>
            <a:ext cx="7589520" cy="2880360"/>
          </a:xfrm>
          <a:prstGeom prst="roundRect">
            <a:avLst>
              <a:gd name="adj" fmla="val 1587"/>
            </a:avLst>
          </a:prstGeom>
          <a:solidFill>
            <a:srgbClr val="212121"/>
          </a:solidFill>
          <a:ln/>
        </p:spPr>
        <p:txBody>
          <a:bodyPr/>
          <a:p/>
        </p:txBody>
      </p:sp>
      <p:sp>
        <p:nvSpPr>
          <p:cNvPr id="7" name="Text 5"/>
          <p:cNvSpPr txBox="1"/>
          <p:nvPr/>
        </p:nvSpPr>
        <p:spPr>
          <a:xfrm>
            <a:off x="731520" y="1618488"/>
            <a:ext cx="7223760" cy="266090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stat docs/syllabus.txt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File: docs/syllabus.txt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Size: 578             Blocks: 8          IO Block: 4096   regular file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Device: 254,0   Inode: 804123      Links: 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Access: (0664/-rw-rw-r--)  Uid: ( 1010/ student)   Gid: ( 1012/ student)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Access: 2026-10-12 08:47:57.251900492 +0000</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Modify: 2026-10-12 08:47:57.254669759 +0000</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Change: 2026-10-12 08:47:57.254669759 +0000</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Birth: 2026-10-12 08:47:57.251900492 +0000</a:t>
            </a:r>
            <a:endParaRPr lang="en-US" sz="1150" dirty="0"/>
          </a:p>
        </p:txBody>
      </p:sp>
      <p:sp>
        <p:nvSpPr>
          <p:cNvPr id="8" name="Shape 6"/>
          <p:cNvSpPr/>
          <p:nvPr/>
        </p:nvSpPr>
        <p:spPr>
          <a:xfrm>
            <a:off x="548640" y="4572000"/>
            <a:ext cx="7589520" cy="1691640"/>
          </a:xfrm>
          <a:prstGeom prst="roundRect">
            <a:avLst>
              <a:gd name="adj" fmla="val 2703"/>
            </a:avLst>
          </a:prstGeom>
          <a:solidFill>
            <a:srgbClr val="212121"/>
          </a:solidFill>
          <a:ln/>
        </p:spPr>
        <p:txBody>
          <a:bodyPr/>
          <a:p/>
        </p:txBody>
      </p:sp>
      <p:sp>
        <p:nvSpPr>
          <p:cNvPr id="9" name="Text 7"/>
          <p:cNvSpPr txBox="1"/>
          <p:nvPr/>
        </p:nvSpPr>
        <p:spPr>
          <a:xfrm>
            <a:off x="731520" y="4681728"/>
            <a:ext cx="7223760" cy="147218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stat -c "%n: %s bytes, inode %i, %h link(s)" docs/*.txt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docs/final report.txt: 53 bytes, inode 804125, 1 link(s)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docs/linux_quotes.txt: 302 bytes, inode 804124, 1 link(s)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docs/notes_01.txt: 16 bytes, inode 804127, 1 link(s)</a:t>
            </a:r>
            <a:endParaRPr lang="en-US" sz="1100" dirty="0"/>
          </a:p>
          <a:p>
            <a:pPr indent="0" marL="0">
              <a:lnSpc>
                <a:spcPct val="100000"/>
              </a:lnSpc>
              <a:buNone/>
            </a:pPr>
            <a:r>
              <a:rPr lang="en-US" sz="1100" dirty="0">
                <a:solidFill>
                  <a:srgbClr val="8A9AA0"/>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8641080" y="1691640"/>
            <a:ext cx="2788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it</a:t>
            </a:r>
            <a:endParaRPr lang="en-US" sz="1500" dirty="0"/>
          </a:p>
        </p:txBody>
      </p:sp>
      <p:sp>
        <p:nvSpPr>
          <p:cNvPr id="12" name="Text 10"/>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Size 578:</a:t>
            </a:r>
            <a:r>
              <a:rPr lang="en-US" sz="1350" dirty="0">
                <a:solidFill>
                  <a:srgbClr val="3A464C"/>
                </a:solidFill>
                <a:latin typeface="Calibri" pitchFamily="34" charset="0"/>
                <a:ea typeface="Calibri" pitchFamily="34" charset="-122"/>
                <a:cs typeface="Calibri" pitchFamily="34" charset="-120"/>
              </a:rPr>
              <a:t> bytes of data.</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Blocks 8:</a:t>
            </a:r>
            <a:r>
              <a:rPr lang="en-US" sz="1350" dirty="0">
                <a:solidFill>
                  <a:srgbClr val="3A464C"/>
                </a:solidFill>
                <a:latin typeface="Calibri" pitchFamily="34" charset="0"/>
                <a:ea typeface="Calibri" pitchFamily="34" charset="-122"/>
                <a:cs typeface="Calibri" pitchFamily="34" charset="-120"/>
              </a:rPr>
              <a:t> 8 × 512 B = 4096 B = one 4 KiB block.</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Inode, Links:</a:t>
            </a:r>
            <a:r>
              <a:rPr lang="en-US" sz="1350" dirty="0">
                <a:solidFill>
                  <a:srgbClr val="3A464C"/>
                </a:solidFill>
                <a:latin typeface="Calibri" pitchFamily="34" charset="0"/>
                <a:ea typeface="Calibri" pitchFamily="34" charset="-122"/>
                <a:cs typeface="Calibri" pitchFamily="34" charset="-120"/>
              </a:rPr>
              <a:t> number and link count.</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Access (0664/…):</a:t>
            </a:r>
            <a:r>
              <a:rPr lang="en-US" sz="1350" dirty="0">
                <a:solidFill>
                  <a:srgbClr val="3A464C"/>
                </a:solidFill>
                <a:latin typeface="Calibri" pitchFamily="34" charset="0"/>
                <a:ea typeface="Calibri" pitchFamily="34" charset="-122"/>
                <a:cs typeface="Calibri" pitchFamily="34" charset="-120"/>
              </a:rPr>
              <a:t> permissions → Week 11.</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a:t>
            </a:r>
            <a:r>
              <a:rPr lang="en-US" sz="1350" dirty="0">
                <a:solidFill>
                  <a:srgbClr val="3A464C"/>
                </a:solidFill>
                <a:latin typeface="Calibri" pitchFamily="34" charset="0"/>
                <a:ea typeface="Calibri" pitchFamily="34" charset="-122"/>
                <a:cs typeface="Calibri" pitchFamily="34" charset="-120"/>
              </a:rPr>
              <a:t> print only chosen fields (%s %i %h …).</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du and df: How Much Space?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30</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du -sh docs data logs photos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32K     docs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16K     data</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36K     logs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4.0K    photos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du -h projects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8.0K    projects/beta/src</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8.0K    projects/beta/docs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24K     projects/beta</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8.0K    projects/alpha/src</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8.0K    projects/alpha/docs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24K     projects/alpha</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52K     projects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df -h ~</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Filesystem      Size  Used Avail Use% Mounted on</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/dev/vda        252G   13G   30G  29% /</a:t>
            </a:r>
            <a:endParaRPr lang="en-US"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du:</a:t>
            </a:r>
            <a:r>
              <a:rPr lang="en-US" sz="1300" dirty="0">
                <a:solidFill>
                  <a:srgbClr val="3A464C"/>
                </a:solidFill>
                <a:latin typeface="Calibri" pitchFamily="34" charset="0"/>
                <a:ea typeface="Calibri" pitchFamily="34" charset="-122"/>
                <a:cs typeface="Calibri" pitchFamily="34" charset="-120"/>
              </a:rPr>
              <a:t> disk space used by files, in whole blocks. -s total per argument, -h K/M/G.</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photos 4.0K:</a:t>
            </a:r>
            <a:r>
              <a:rPr lang="en-US" sz="1300" dirty="0">
                <a:solidFill>
                  <a:srgbClr val="3A464C"/>
                </a:solidFill>
                <a:latin typeface="Calibri" pitchFamily="34" charset="0"/>
                <a:ea typeface="Calibri" pitchFamily="34" charset="-122"/>
                <a:cs typeface="Calibri" pitchFamily="34" charset="-120"/>
              </a:rPr>
              <a:t> 15 empty files use 0 blocks; only the directory's 4 KiB block counts.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logs 36K</a:t>
            </a:r>
            <a:r>
              <a:rPr lang="en-US" sz="1300" dirty="0">
                <a:solidFill>
                  <a:srgbClr val="3A464C"/>
                </a:solidFill>
                <a:latin typeface="Calibri" pitchFamily="34" charset="0"/>
                <a:ea typeface="Calibri" pitchFamily="34" charset="-122"/>
                <a:cs typeface="Calibri" pitchFamily="34" charset="-120"/>
              </a:rPr>
              <a:t> = 4 K (directory) + 24 K + 8 K (two logs).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df:</a:t>
            </a:r>
            <a:r>
              <a:rPr lang="en-US" sz="1300" dirty="0">
                <a:solidFill>
                  <a:srgbClr val="3A464C"/>
                </a:solidFill>
                <a:latin typeface="Calibri" pitchFamily="34" charset="0"/>
                <a:ea typeface="Calibri" pitchFamily="34" charset="-122"/>
                <a:cs typeface="Calibri" pitchFamily="34" charset="-120"/>
              </a:rPr>
              <a:t> size, used and free space per file system. Use% = Used / (Used + Avail) ≈ 12 / 42 ≈ 29 %.</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 · LINKS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Hard Link, Copy and Symbolic Link Side by Side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31</a:t>
            </a:r>
            <a:endParaRPr lang="en-US" sz="900" dirty="0"/>
          </a:p>
        </p:txBody>
      </p:sp>
      <p:sp>
        <p:nvSpPr>
          <p:cNvPr id="6" name="Shape 4"/>
          <p:cNvSpPr/>
          <p:nvPr/>
        </p:nvSpPr>
        <p:spPr>
          <a:xfrm>
            <a:off x="548640" y="1508760"/>
            <a:ext cx="7589520" cy="4754880"/>
          </a:xfrm>
          <a:prstGeom prst="roundRect">
            <a:avLst>
              <a:gd name="adj" fmla="val 962"/>
            </a:avLst>
          </a:prstGeom>
          <a:solidFill>
            <a:srgbClr val="212121"/>
          </a:solidFill>
          <a:ln/>
        </p:spPr>
        <p:txBody>
          <a:bodyPr/>
          <a:p/>
        </p:txBody>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ln syllabus.txt plan.txt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cp syllabus.txt copy.txt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ln -s syllabus.txt shortcut.txt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ls -li syllabus.txt plan.txt copy.txt shortcut.txt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804702 -rw-rw-r-- 1 student student 578 Oct 12 08:47 copy.txt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804123 -rw-rw-r-- 2 student student 578 Oct 12 08:47 plan.txt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804703 lrwxrwxrwx 1 student student  12 Oct 12 08:47 shortcut.txt -&gt; syllabus.txt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804123 -rw-rw-r-- 2 student student 578 Oct 12 08:47 syllabus.txt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echo "Week 16  Party" &gt;&gt; plan.txt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tail -n 1 syllabus.txt copy.txt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==&gt; syllabus.txt &lt;==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Week 16  Party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==&gt; copy.txt &lt;==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Week 15 Final exam</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rm syllabus.txt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ls -li plan.txt shortcut.txt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804123 -rw-rw-r-- 1 student student 593 Oct 12 08:47 plan.txt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804703 lrwxrwxrwx 1 student student  12 Oct 12 08:47 shortcut.txt -&gt; syllabus.txt</a:t>
            </a:r>
            <a:endParaRPr lang="en-US" sz="1150" dirty="0"/>
          </a:p>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student@okan-lab:~/lab/docs$ </a:t>
            </a:r>
            <a:r>
              <a:rPr lang="en-US" sz="1150" b="1" dirty="0">
                <a:solidFill>
                  <a:srgbClr val="FFFFFF"/>
                </a:solidFill>
                <a:latin typeface="Consolas" pitchFamily="34" charset="0"/>
                <a:ea typeface="Consolas" pitchFamily="34" charset="-122"/>
                <a:cs typeface="Consolas" pitchFamily="34" charset="-120"/>
              </a:rPr>
              <a:t>cat shortcut.txt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cat: shortcut.txt: No such file or directory</a:t>
            </a:r>
            <a:endParaRPr lang="en-US"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plan.txt = same inode 804123, link count 2.</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 change through plan.txt is visible in syllabus.txt, not in copy.txt.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shortcut.txt: own inode, size 12 = length of "syllabus.txt".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After rm: plan.txt keeps the data (count 1); shortcut.txt dangles.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LINKS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Hard Link vs. Symbolic Link vs. Copy</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194560"/>
                <a:gridCol w="2880360"/>
                <a:gridCol w="3154680"/>
                <a:gridCol w="2880360"/>
              </a:tblGrid>
              <a:tr h="0">
                <a:tc>
                  <a:txBody>
                    <a:bodyPr/>
                    <a:lstStyle/>
                    <a:p>
                      <a:pPr indent="0" marL="0">
                        <a:buNone/>
                      </a:pP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Hard link  ln</a:t>
                      </a: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Symbolic link  ln -s</a:t>
                      </a: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Copy  cp</a:t>
                      </a:r>
                      <a:endParaRPr lang="en-US"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Inode</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same as the target</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its own (stores a path)</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its own</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Data</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shared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reached through the path</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duplicated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Target deleted</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data stays (count − 1)</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link dangles</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copy unaffected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Directories</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not allowed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allowed</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with -r</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Other file system</a:t>
                      </a:r>
                      <a:endParaRPr lang="en-US"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not possible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possible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possible</a:t>
                      </a:r>
                      <a:endParaRPr lang="en-US"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4069080"/>
            <a:ext cx="7315200" cy="2194560"/>
          </a:xfrm>
          <a:prstGeom prst="roundRect">
            <a:avLst>
              <a:gd name="adj" fmla="val 2083"/>
            </a:avLst>
          </a:prstGeom>
          <a:solidFill>
            <a:srgbClr val="212121"/>
          </a:solidFill>
          <a:ln/>
        </p:spPr>
        <p:txBody>
          <a:bodyPr/>
          <a:p/>
        </p:txBody>
      </p:sp>
      <p:sp>
        <p:nvSpPr>
          <p:cNvPr id="8" name="Text 5"/>
          <p:cNvSpPr txBox="1"/>
          <p:nvPr/>
        </p:nvSpPr>
        <p:spPr>
          <a:xfrm>
            <a:off x="731520" y="4178808"/>
            <a:ext cx="6949440" cy="197510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ln -s projects/alpha/docs alpha_docs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-l alpha_docs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lrwxrwxrwx 1 student student 19 Oct 12 08:47 alpha_docs -&gt; projects/alpha/docs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ln projects alpha_hard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ln: projects: hard link not allowed for directory</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-ld projects projects/alpha</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drwxrwxr-x 4 student student 4096 Oct 12 08:47 projects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drwxrwxr-x 4 student student 4096 Oct 12 08:47 projects/alpha</a:t>
            </a:r>
            <a:endParaRPr lang="en-US" sz="1050" dirty="0"/>
          </a:p>
        </p:txBody>
      </p:sp>
      <p:sp>
        <p:nvSpPr>
          <p:cNvPr id="9" name="Shape 6"/>
          <p:cNvSpPr/>
          <p:nvPr/>
        </p:nvSpPr>
        <p:spPr>
          <a:xfrm>
            <a:off x="8138160" y="4069080"/>
            <a:ext cx="352044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8366760" y="425196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Directory link count</a:t>
            </a:r>
            <a:endParaRPr lang="en-US" sz="1500" dirty="0"/>
          </a:p>
        </p:txBody>
      </p:sp>
      <p:sp>
        <p:nvSpPr>
          <p:cNvPr id="11" name="Text 8"/>
          <p:cNvSpPr txBox="1"/>
          <p:nvPr/>
        </p:nvSpPr>
        <p:spPr>
          <a:xfrm>
            <a:off x="8366760" y="4709160"/>
            <a:ext cx="3063240" cy="141732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2 + number of subdirectories: its name in the parent, its own . entry, and the .. of each child. projects: 2 + 2 = 4.</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 · C</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Same Operations as System Calls in 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33</a:t>
            </a:r>
            <a:endParaRPr lang="en-US" sz="900" dirty="0"/>
          </a:p>
        </p:txBody>
      </p:sp>
      <p:sp>
        <p:nvSpPr>
          <p:cNvPr id="6" name="Shape 4"/>
          <p:cNvSpPr/>
          <p:nvPr/>
        </p:nvSpPr>
        <p:spPr>
          <a:xfrm>
            <a:off x="548640" y="1508760"/>
            <a:ext cx="7315200" cy="4754880"/>
          </a:xfrm>
          <a:prstGeom prst="roundRect">
            <a:avLst>
              <a:gd name="adj" fmla="val 962"/>
            </a:avLst>
          </a:prstGeom>
          <a:solidFill>
            <a:srgbClr val="212121"/>
          </a:solidFill>
          <a:ln/>
        </p:spPr>
        <p:txBody>
          <a:bodyPr/>
          <a:p/>
        </p:txBody>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CHECK(mkdir("box", 0775));                               /* mkdir box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CHECK(fd = open("box/a.txt", O_WRONLY | O_CREAT, 0664)); /* touch box/a.txt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CHECK(write(fd, "hello\n", 6));  CHECK(close(fd));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CHECK(link("box/a.txt", "box/b.txt"));                   /* ln a.txt b.txt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CHECK(symlink("a.txt", "box/s.txt"));                    /* ln -s a.txt s.txt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CHECK(rename("box/a.txt", "box/c.txt"));                 /* mv a.txt c.txt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CHECK(unlink("box/b.txt"));                              /* rm b.txt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if (rmdir("box") == -1) perror("rmdir(\"box\")");        /* not empty: fails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CHECK(unlink("box/c.txt"));  CHECK(unlink("box/s.txt")); /* rm c.txt s.txt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CHECK(rmdir("box"));                                     /* rmdir box: now OK */</a:t>
            </a:r>
            <a:endParaRPr lang="en-US" sz="1100" dirty="0"/>
          </a:p>
        </p:txBody>
      </p:sp>
      <p:sp>
        <p:nvSpPr>
          <p:cNvPr id="8" name="Shape 6"/>
          <p:cNvSpPr/>
          <p:nvPr/>
        </p:nvSpPr>
        <p:spPr>
          <a:xfrm>
            <a:off x="8138160" y="1508760"/>
            <a:ext cx="352044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366760" y="2148840"/>
            <a:ext cx="3063240" cy="6400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link(): same inode, links 2.</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rename(): inode unchanged.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rmdir() fails while box is not empty.</a:t>
            </a:r>
            <a:endParaRPr lang="en-US" sz="1300" dirty="0"/>
          </a:p>
        </p:txBody>
      </p:sp>
      <p:sp>
        <p:nvSpPr>
          <p:cNvPr id="11" name="Shape 9"/>
          <p:cNvSpPr/>
          <p:nvPr/>
        </p:nvSpPr>
        <p:spPr>
          <a:xfrm>
            <a:off x="8138160" y="3154680"/>
            <a:ext cx="3520440" cy="3108960"/>
          </a:xfrm>
          <a:prstGeom prst="roundRect">
            <a:avLst>
              <a:gd name="adj" fmla="val 1471"/>
            </a:avLst>
          </a:prstGeom>
          <a:solidFill>
            <a:srgbClr val="212121"/>
          </a:solidFill>
          <a:ln/>
        </p:spPr>
        <p:txBody>
          <a:bodyPr/>
          <a:p/>
        </p:txBody>
      </p:sp>
      <p:sp>
        <p:nvSpPr>
          <p:cNvPr id="12" name="Text 10"/>
          <p:cNvSpPr txBox="1"/>
          <p:nvPr/>
        </p:nvSpPr>
        <p:spPr>
          <a:xfrm>
            <a:off x="8321040" y="3264408"/>
            <a:ext cx="3154680" cy="2889504"/>
          </a:xfrm>
          <a:prstGeom prst="rect">
            <a:avLst/>
          </a:prstGeom>
          <a:noFill/>
          <a:ln/>
        </p:spPr>
        <p:txBody>
          <a:bodyPr wrap="square" lIns="0" tIns="0" rIns="0" bIns="0" rtlCol="0" anchor="t"/>
          <a:lstStyle/>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./fileops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after open(O_CREAT):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box/a.txt  inode 804677  links 1</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after link() and symlink():</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box/a.txt  inode 804677  links 2</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box/b.txt  inode 804677  links 2</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box/s.txt  inode 804678  links 1</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after rename() a.txt -&gt; c.txt: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box/c.txt  inode 804677  links 2</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after unlink() b.txt: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box/c.txt  inode 804677  links 1</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rmdir("box"): Directory not empty</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box removed</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 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Viewing, Inspecting and Linking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4572000"/>
                <a:gridCol w="379476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What it does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Useful options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cat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print (concatenate) files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  number lines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less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page through a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Space  /word  n  q</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head / tail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first / last lines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-n N  how many   tail -f  follow</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wc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count lines, words, bytes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  -w  -c</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file name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identify the content type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stat file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show the inode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 "%n %s %i %h"  chosen fields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du / df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space used by files / free per file system</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  summary   -h  human-readable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ln / ln -s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hard link / symbolic link</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ls -li  to check inode and count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IN-CLASS LAB · 35 MINUTES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Lab Sheet: Part A (Basic) and Part B (Intermediate)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Fresh start: bash ~/mcmp117_lab_setup.sh &amp;&amp; cd ~/lab — then do the exercises in order. Full text and points in the course notes.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35</a:t>
            </a:r>
            <a:endParaRPr lang="en-US" sz="900" dirty="0"/>
          </a:p>
        </p:txBody>
      </p:sp>
      <p:sp>
        <p:nvSpPr>
          <p:cNvPr id="7" name="Shape 5"/>
          <p:cNvSpPr/>
          <p:nvPr/>
        </p:nvSpPr>
        <p:spPr>
          <a:xfrm>
            <a:off x="548640" y="2103120"/>
            <a:ext cx="54406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Part A — 33 points</a:t>
            </a:r>
            <a:endParaRPr lang="en-US" sz="1500" dirty="0"/>
          </a:p>
        </p:txBody>
      </p:sp>
      <p:sp>
        <p:nvSpPr>
          <p:cNvPr id="9" name="Text 7"/>
          <p:cNvSpPr txBox="1"/>
          <p:nvPr/>
        </p:nvSpPr>
        <p:spPr>
          <a:xfrm>
            <a:off x="777240" y="2743200"/>
            <a:ext cx="4983480" cy="338328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1  mkdir -p practice/a/b/c</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2  three empty files with one touch</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3  copy syllabus.txt into backup/ with a new name</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4  rename it; prove the inode stays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5  first 4 and last 2 lines of the syllabus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6  count lines/words/bytes; how many students?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7  show "final report.txt" in two ways</a:t>
            </a:r>
            <a:endParaRPr lang="en-US" sz="1600" dirty="0"/>
          </a:p>
        </p:txBody>
      </p:sp>
      <p:sp>
        <p:nvSpPr>
          <p:cNvPr id="10" name="Shape 8"/>
          <p:cNvSpPr/>
          <p:nvPr/>
        </p:nvSpPr>
        <p:spPr>
          <a:xfrm>
            <a:off x="6217920" y="2103120"/>
            <a:ext cx="54406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Part B — 39 points</a:t>
            </a:r>
            <a:endParaRPr lang="en-US" sz="1500" dirty="0"/>
          </a:p>
        </p:txBody>
      </p:sp>
      <p:sp>
        <p:nvSpPr>
          <p:cNvPr id="12" name="Text 10"/>
          <p:cNvSpPr txBox="1"/>
          <p:nvPr/>
        </p:nvSpPr>
        <p:spPr>
          <a:xfrm>
            <a:off x="6446520" y="2743200"/>
            <a:ext cx="4983480" cy="338328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8  list photos with ? and [ ]</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9  sort photos/ into jpg/, png/, other/</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10  why does docs/* not show .settings?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11  back up docs/ with cp -r; compare with du</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12  file types and disk usage</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13  set a timestamp with touch -d; read it with stat</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IN-CLASS LAB · CONTINUED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Lab Sheet: Part C (Challenge) and Grading</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Part C needs the theory of Week 7: inodes, link counts, dangling links.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36</a:t>
            </a:r>
            <a:endParaRPr lang="en-US" sz="900" dirty="0"/>
          </a:p>
        </p:txBody>
      </p:sp>
      <p:sp>
        <p:nvSpPr>
          <p:cNvPr id="7" name="Shape 5"/>
          <p:cNvSpPr/>
          <p:nvPr/>
        </p:nvSpPr>
        <p:spPr>
          <a:xfrm>
            <a:off x="548640" y="2103120"/>
            <a:ext cx="676656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6309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Part C — 28 points</a:t>
            </a:r>
            <a:endParaRPr lang="en-US" sz="1500" dirty="0"/>
          </a:p>
        </p:txBody>
      </p:sp>
      <p:sp>
        <p:nvSpPr>
          <p:cNvPr id="9" name="Text 7"/>
          <p:cNvSpPr txBox="1"/>
          <p:nvPr/>
        </p:nvSpPr>
        <p:spPr>
          <a:xfrm>
            <a:off x="777240" y="2743200"/>
            <a:ext cx="6309360" cy="338328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14  hard link to the syllabus; delete the original; show the data survives</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15  symbolic link alpha_docs; rename its target; repair the dangling link</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16  one command: course/week01 … week14, each with slides/ and notes/ — how many directories?</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17  clean up: why does rmdir practice fail? remove practice and course safely</a:t>
            </a:r>
            <a:endParaRPr lang="en-US" sz="1700" dirty="0"/>
          </a:p>
        </p:txBody>
      </p:sp>
      <p:sp>
        <p:nvSpPr>
          <p:cNvPr id="10" name="Shape 8"/>
          <p:cNvSpPr/>
          <p:nvPr/>
        </p:nvSpPr>
        <p:spPr>
          <a:xfrm>
            <a:off x="7543800" y="2103120"/>
            <a:ext cx="4114800" cy="416052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772400" y="2286000"/>
            <a:ext cx="36576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How it is graded</a:t>
            </a:r>
            <a:endParaRPr lang="en-US" sz="1500" dirty="0"/>
          </a:p>
        </p:txBody>
      </p:sp>
      <p:sp>
        <p:nvSpPr>
          <p:cNvPr id="12" name="Text 10"/>
          <p:cNvSpPr txBox="1"/>
          <p:nvPr/>
        </p:nvSpPr>
        <p:spPr>
          <a:xfrm>
            <a:off x="7772400" y="2743200"/>
            <a:ext cx="3657600" cy="338328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Total 100 points (A 33, B 39, C 28).</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Write the commands AND the key output lines.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Explain in one sentence where asked ("why").</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Solutions with the expected output: last section of the notes.</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COMMON MISTAKES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Error Messages and What They Mean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846320"/>
                <a:gridCol w="3474720"/>
                <a:gridCol w="278892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Message (real)</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Cause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Fix</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cp: -r not specified; omitting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copying a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cp -r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rm: cannot remove 'x': Is a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rm without -r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rmdir (empty) or rm -r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rmdir: failed to remove 'x': Directory not empty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rmdir only removes empty dirs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empty it, or rm -r carefully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mkdir: cannot create directory 'a/b': No such file or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parent a missing</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mkdir -p a/b</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cat: docs/final: No such file or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unquoted space in a name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"docs/final report.txt"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ls: cannot access 'junk*': No such file or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the pattern matched nothing</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check with ls / echo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ln: projects: hard link not allowed for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hard link to a directory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ln -s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38</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In ~/lab/photos, what does echo img01?.* print?</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mv report.txt old/ or cp report.txt old/: which creates a new inode? Which is instant for a 4 GB file?</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How many directories does mkdir -p site/{css,js,img}/{v1,v2} create, including site?</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After ln a.txt b.txt; ln -s a.txt c.txt; rm a.txt — what do cat b.txt and cat c.txt print?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10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10  ·  39</a:t>
            </a:r>
            <a:endParaRPr lang="en-US"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Names vs. inodes:</a:t>
            </a:r>
            <a:r>
              <a:rPr lang="en-US" sz="2000" dirty="0">
                <a:solidFill>
                  <a:srgbClr val="3A464C"/>
                </a:solidFill>
                <a:latin typeface="Calibri" pitchFamily="34" charset="0"/>
                <a:ea typeface="Calibri" pitchFamily="34" charset="-122"/>
                <a:cs typeface="Calibri" pitchFamily="34" charset="-120"/>
              </a:rPr>
              <a:t> cp makes a new inode, mv renames (same inode), ln adds a name, rm removes a name — data is freed when the link count reaches 0.</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Create:</a:t>
            </a:r>
            <a:r>
              <a:rPr lang="en-US" sz="2000" dirty="0">
                <a:solidFill>
                  <a:srgbClr val="3A464C"/>
                </a:solidFill>
                <a:latin typeface="Calibri" pitchFamily="34" charset="0"/>
                <a:ea typeface="Calibri" pitchFamily="34" charset="-122"/>
                <a:cs typeface="Calibri" pitchFamily="34" charset="-120"/>
              </a:rPr>
              <a:t> mkdir -p for whole paths; touch for empty files and timestamps (atime, mtime, ctime).</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Copy, move:</a:t>
            </a:r>
            <a:r>
              <a:rPr lang="en-US" sz="2000" dirty="0">
                <a:solidFill>
                  <a:srgbClr val="3A464C"/>
                </a:solidFill>
                <a:latin typeface="Calibri" pitchFamily="34" charset="0"/>
                <a:ea typeface="Calibri" pitchFamily="34" charset="-122"/>
                <a:cs typeface="Calibri" pitchFamily="34" charset="-120"/>
              </a:rPr>
              <a:t> cp -r for directories; cp and mv overwrite silently — use -i.</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Delete:</a:t>
            </a:r>
            <a:r>
              <a:rPr lang="en-US" sz="2000" dirty="0">
                <a:solidFill>
                  <a:srgbClr val="3A464C"/>
                </a:solidFill>
                <a:latin typeface="Calibri" pitchFamily="34" charset="0"/>
                <a:ea typeface="Calibri" pitchFamily="34" charset="-122"/>
                <a:cs typeface="Calibri" pitchFamily="34" charset="-120"/>
              </a:rPr>
              <a:t> rm has no undo; rmdir only empty directories; look with ls before rm -r.</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Expansion:</a:t>
            </a:r>
            <a:r>
              <a:rPr lang="en-US" sz="2000" dirty="0">
                <a:solidFill>
                  <a:srgbClr val="3A464C"/>
                </a:solidFill>
                <a:latin typeface="Calibri" pitchFamily="34" charset="0"/>
                <a:ea typeface="Calibri" pitchFamily="34" charset="-122"/>
                <a:cs typeface="Calibri" pitchFamily="34" charset="-120"/>
              </a:rPr>
              <a:t> the shell expands * ? [ ] (existing names) and { } (generated text) before the command runs; echo shows the result.</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Viewing:</a:t>
            </a:r>
            <a:r>
              <a:rPr lang="en-US" sz="2000" dirty="0">
                <a:solidFill>
                  <a:srgbClr val="3A464C"/>
                </a:solidFill>
                <a:latin typeface="Calibri" pitchFamily="34" charset="0"/>
                <a:ea typeface="Calibri" pitchFamily="34" charset="-122"/>
                <a:cs typeface="Calibri" pitchFamily="34" charset="-120"/>
              </a:rPr>
              <a:t> cat, less, head, tail -f, wc, file, stat, du, df.</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Every command is a system call:</a:t>
            </a:r>
            <a:r>
              <a:rPr lang="en-US" sz="2000" dirty="0">
                <a:solidFill>
                  <a:srgbClr val="3A464C"/>
                </a:solidFill>
                <a:latin typeface="Calibri" pitchFamily="34" charset="0"/>
                <a:ea typeface="Calibri" pitchFamily="34" charset="-122"/>
                <a:cs typeface="Calibri" pitchFamily="34" charset="-120"/>
              </a:rPr>
              <a:t> mkdir(), renameat2(), linkat(), symlinkat(), unlinkat(), rmdir().</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Permissions, Ownership &amp; Users</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11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Why protection? Links to dual mode (Week 2) and file protection (Week 7)</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Users and groups: id, whoami, /etc/passwd, /etc/group</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Reading -rw-rw-r--; chmod symbolic (u+x) and octal (754)</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umask, chown/chgrp, sudo — and Permission denied as student</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Lab: secure a project folder, make a script executable</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10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10</dc:title>
  <dc:subject>PptxGenJS Presentation</dc:subject>
  <dc:creator>PptxGenJS</dc:creator>
  <cp:lastModifiedBy>PptxGenJS</cp:lastModifiedBy>
  <cp:revision>1</cp:revision>
  <dcterms:created xsi:type="dcterms:W3CDTF">2026-10-12T16:28:08Z</dcterms:created>
  <dcterms:modified xsi:type="dcterms:W3CDTF">2026-10-12T16:28:08Z</dcterms:modified>
</cp:coreProperties>
</file>