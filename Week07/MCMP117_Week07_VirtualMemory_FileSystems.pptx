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notesMasterIdLst>
    <p:notesMasterId r:id="rId4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notesMaster" Target="notesMasters/notesMaster1.xml"/><Relationship Id="rId44" Type="http://schemas.openxmlformats.org/officeDocument/2006/relationships/presProps" Target="presProps.xml"/><Relationship Id="rId45" Type="http://schemas.openxmlformats.org/officeDocument/2006/relationships/viewProps" Target="viewProps.xml"/><Relationship Id="rId46" Type="http://schemas.openxmlformats.org/officeDocument/2006/relationships/theme" Target="theme/theme1.xml"/><Relationship Id="rId4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CPU utilisation</c:v>
                </c:pt>
              </c:strCache>
            </c:strRef>
          </c:tx>
          <c:spPr>
            <a:solidFill>
              <a:srgbClr val="028090"/>
            </a:solidFill>
            <a:ln w="38100" cap="flat">
              <a:solidFill>
                <a:srgbClr val="028090"/>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028090"/>
              </a:solidFill>
              <a:ln w="9525" cap="flat">
                <a:solidFill>
                  <a:srgbClr val="028090"/>
                </a:solidFill>
                <a:prstDash val="solid"/>
                <a:round/>
              </a:ln>
              <a:effectLst/>
            </c:spPr>
          </c:marker>
          <c:cat>
            <c:multiLvlStrRef>
              <c:f>Sheet1!$A$2:$A$13</c:f>
              <c:multiLvlStrCache>
                <c:ptCount val="12"/>
                <c:lvl>
                  <c:pt idx="0">
                    <c:v>1</c:v>
                  </c:pt>
                  <c:pt idx="1">
                    <c:v>2</c:v>
                  </c:pt>
                  <c:pt idx="2">
                    <c:v>3</c:v>
                  </c:pt>
                  <c:pt idx="3">
                    <c:v>4</c:v>
                  </c:pt>
                  <c:pt idx="4">
                    <c:v>5</c:v>
                  </c:pt>
                  <c:pt idx="5">
                    <c:v>6</c:v>
                  </c:pt>
                  <c:pt idx="6">
                    <c:v>7</c:v>
                  </c:pt>
                  <c:pt idx="7">
                    <c:v>8</c:v>
                  </c:pt>
                  <c:pt idx="8">
                    <c:v>9</c:v>
                  </c:pt>
                  <c:pt idx="9">
                    <c:v>10</c:v>
                  </c:pt>
                  <c:pt idx="10">
                    <c:v>11</c:v>
                  </c:pt>
                  <c:pt idx="11">
                    <c:v>12</c:v>
                  </c:pt>
                </c:lvl>
              </c:multiLvlStrCache>
            </c:multiLvlStrRef>
          </c:cat>
          <c:val>
            <c:numRef>
              <c:f>Sheet1!$B$2:$B$13</c:f>
              <c:numCache>
                <c:formatCode>General</c:formatCode>
                <c:ptCount val="12"/>
                <c:pt idx="0">
                  <c:v>18</c:v>
                </c:pt>
                <c:pt idx="1">
                  <c:v>34</c:v>
                </c:pt>
                <c:pt idx="2">
                  <c:v>48</c:v>
                </c:pt>
                <c:pt idx="3">
                  <c:v>60</c:v>
                </c:pt>
                <c:pt idx="4">
                  <c:v>70</c:v>
                </c:pt>
                <c:pt idx="5">
                  <c:v>77</c:v>
                </c:pt>
                <c:pt idx="6">
                  <c:v>82</c:v>
                </c:pt>
                <c:pt idx="7">
                  <c:v>84</c:v>
                </c:pt>
                <c:pt idx="8">
                  <c:v>76</c:v>
                </c:pt>
                <c:pt idx="9">
                  <c:v>55</c:v>
                </c:pt>
                <c:pt idx="10">
                  <c:v>30</c:v>
                </c:pt>
                <c:pt idx="11">
                  <c:v>14</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3A464C"/>
                    </a:solidFill>
                    <a:latin typeface="Arial"/>
                  </a:defRPr>
                </a:pPr>
                <a:r>
                  <a:rPr sz="1200" b="0" i="0" u="none" strike="noStrike">
                    <a:solidFill>
                      <a:srgbClr val="3A464C"/>
                    </a:solidFill>
                    <a:latin typeface="Arial"/>
                  </a:rPr>
                  <a:t>degree of multiprogramming →</a:t>
                </a:r>
              </a:p>
            </c:rich>
          </c:tx>
          <c:layout/>
          <c:overlay val="0"/>
        </c:title>
        <c:numFmt formatCode="General" sourceLinked="1"/>
        <c:majorTickMark val="out"/>
        <c:minorTickMark val="none"/>
        <c:tickLblPos val="low"/>
        <c:spPr>
          <a:ln w="12700" cap="flat">
            <a:solidFill>
              <a:srgbClr val="36454F"/>
            </a:solidFill>
            <a:prstDash val="solid"/>
            <a:round/>
          </a:ln>
        </c:spPr>
        <c:txPr>
          <a:bodyPr/>
          <a:lstStyle/>
          <a:p>
            <a:pPr>
              <a:defRPr sz="800" b="0" i="0" u="none" strike="noStrike">
                <a:solidFill>
                  <a:srgbClr val="FFFFFF"/>
                </a:solidFill>
                <a:latin typeface="Arial"/>
              </a:defRPr>
            </a:pPr>
            <a:endParaRPr lang="en-US"/>
          </a:p>
        </c:txPr>
        <c:crossAx val="2094734552"/>
        <c:crosses val="autoZero"/>
        <c:auto val="1"/>
        <c:lblAlgn val="ctr"/>
        <c:noMultiLvlLbl val="1"/>
      </c:catAx>
      <c:valAx>
        <c:axId val="2094734552"/>
        <c:scaling>
          <c:orientation val="minMax"/>
          <c:max val="100"/>
          <c:min val="0"/>
        </c:scaling>
        <c:delete val="0"/>
        <c:axPos val="l"/>
        <c:title>
          <c:tx>
            <c:rich>
              <a:bodyPr/>
              <a:lstStyle/>
              <a:p>
                <a:pPr>
                  <a:defRPr sz="1200" b="0" i="0" u="none" strike="noStrike">
                    <a:solidFill>
                      <a:srgbClr val="3A464C"/>
                    </a:solidFill>
                    <a:latin typeface="Arial"/>
                  </a:defRPr>
                </a:pPr>
                <a:r>
                  <a:rPr sz="1200" b="0" i="0" u="none" strike="noStrike">
                    <a:solidFill>
                      <a:srgbClr val="3A464C"/>
                    </a:solidFill>
                    <a:latin typeface="Arial"/>
                  </a:rPr>
                  <a:t>CPU utilisation</a:t>
                </a:r>
              </a:p>
            </c:rich>
          </c:tx>
          <c:layout/>
          <c:overlay val="0"/>
        </c:title>
        <c:numFmt formatCode="General" sourceLinked="0"/>
        <c:majorTickMark val="out"/>
        <c:minorTickMark val="none"/>
        <c:tickLblPos val="nextTo"/>
        <c:spPr>
          <a:ln w="12700" cap="flat">
            <a:solidFill>
              <a:srgbClr val="36454F"/>
            </a:solidFill>
            <a:prstDash val="solid"/>
            <a:round/>
          </a:ln>
        </c:spPr>
        <c:txPr>
          <a:bodyPr/>
          <a:lstStyle/>
          <a:p>
            <a:pPr>
              <a:defRPr sz="800" b="0" i="0" u="none" strike="noStrike">
                <a:solidFill>
                  <a:srgbClr val="FFFFFF"/>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Week 7, the last lecture before the midterm next week. First hour: virtual memory (demand paging, page faults, page replacement, thrashing). Second hour: file systems (files, access methods, directories) with a look at Linux inodes and links. At the very end: a checklist of everything the midterm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Two-minute recap. Ask: what does the MMU do? (translates logical to physical addresses.) Why does paging avoid external fragmentation? (any free frame can hold any page.) Remind them of the TLB effective-access-time formula from Week 6; today we will extend the same idea to page faults.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Parts 1–3 before the break, Parts 4–5 after it, then hands-on demos, a short quiz and the midterm checklist.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last week we assumed the whole process is in memory. Is that really necessary?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memory separates the logical memory seen by the programmer from physical memory. Pages A, C and F are in RAM (mint); the others are only on disk. The programmer sees one large, contiguous address space and never needs to know which pages are where. On 64-bit Linux the virtual address space of a process is 128 TiB — far more than any machine's 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a library does not bring every book to your desk at once; it fetches a book when you ask for it. The word 'swapper' is sometimes used, but a swapper moves whole processes; a pager moves individual pages, so 'pager' is the correct term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pages A, C and F are in memory (frames 4, 6 and 9). All eight pages exist on disk. While the program touches only A, C and F, it runs at full speed exactly as in Week 6. The interesting case is an access to an invalid page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arrows in order. Emphasise step 2: an access to an address outside the program is ALSO trapped, but then the OS terminates the process (segmentation fault). Step 4 is the expensive one — a disk read takes milliseconds, so the scheduler (Week 4) gives the CPU to another process. Step 6: the instruction is restarted from the beginning, as if the fault had never happened. If there is no free frame in step 3, we need page replacement — later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verified with code/page_replacement.py: EAT(0.001) = 8199.8 ns, slowdown factor 41.0; p_max = 20/7,999,800 = 2.50e-6, i.e. one fault per 399,990 accesses. The disk time dominates: even one fault in a thousand makes memory forty times slower. With an SSD (t_fault around 0.1 ms) the picture is better but the lesson is the same.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Copy-on-write (COW) connects Week 3 (fork) with today. The trap mechanism is the same as for demand paging: a protection fault instead of an invalid page. Our cow_fork.c demo on the next slides shows this with real fault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from our Linux test machine. These are MINOR faults: the kernel only had to find a free frame and zero it — no disk read. A MAJOR fault needs disk I/O (e.g. a page of a program file or a swapped-out page). '/usr/bin/time -v ./page_faults' reports the whole run: Minor page faults 16463 (our 16384 plus about 80 for loading the program and the C library), Major 0, maximum resident set about 67 MB. The single fault 'after malloc' is malloc writing its own bookkeeping header into the first page — which is why the loop then sees 16383, not 16384. On systems with transparent huge pages enabled for all memory, you may see far fewer faults (one per 2 MB).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child reads all 8192 pages with zero page faults because they are shared with the parent. Writing triggers exactly one fault per page: copy-on-write. The parent still sees 'A' because it kept its own original pages. fork() itself was fast because only the page tables were copied.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Over-allocation: we deliberately let processes' virtual memory add up to more than physical memory, betting that not all pages are needed at once. When the bet fails, we replace. The dirty bit halves the cost of replacing clean pages. From now on we use one reference string for all algorithms so that we can compare them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first few columns slowly. 7, 0, 1 fill the empty frames (3 compulsory faults). 2 replaces 7 (oldest). 0 is a hit. 3 replaces 0 (oldest now) — bad luck, 0 comes right back and replaces 1. Total 15 faults, computed by code/page_replacement.py.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reference 4 (column 8), the frames hold 2, 0, 3. Looking ahead: 2 is used next at position 9, 3 at 10, 0 at 11 — so 0 is used farthest in the future and is replaced. 9 faults, of which 3 are unavoidable (the first use of 7, 0, 1). No algorithm can do better with 3 frames.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reference 4 (column 8), frames hold 2, 0, 3; looking BACK, 2 was used longest ago, so 2 is replaced (OPT would have replaced 0). 12 faults: between FIFO (15) and OPT (9). LRU works well because of locality: recently used pages are likely to be used again soon.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typical exam question type: given a reference string and a number of frames, draw the frame table and count the faults for FIFO, OPT and LRU. Practise at least two strings before the midterm. 'Stack algorithm' (in the notes) explains why OPT and LRU never show Belady's anomaly.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Discovered by László Bélády and colleagues in 1969. The cause: with FIFO, the set of pages in memory with 4 frames is not always a superset of the set with 3 frames. For LRU, the 3 most recently used pages are always among the 4 most recently used pages, so adding a frame can never add a fault. LRU numbers (10 and 8) are from code/page_replacement.py.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clock algorithm approximates LRU with one bit per page and almost no overhead. Pages used since the hand last passed survive; idle pages are replaced. Linux uses a more elaborate relative of this idea (active and inactive lists). Students only need the basic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Degree of multiprogramming = number of processes in memory (Week 1 and Week 4). Up to a point, adding processes raises CPU utilisation; past it, utilisation collapses. You may have experienced thrashing: a PC with too little RAM and too many browser tabs, where the disk light is constantly on and the mouse barely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t1 the program is in a locality using pages 1, 2, 5, 6, 7 (working-set size 5); at t2 it has moved to a loop using only pages 3 and 4 (size 2). Working sets computed with code/page_replacement.py. Conceptual only — no calculation beyond this level is expected in the exam.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minutes. During the break, students can try to recompute the FIFO table on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is volatile; files are how data survives power-off. The file system is the part of the OS that users see most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example column is real output of 'stat notes.txt' from our hands-on session later today. In Linux the attributes live in the inode; the name lives in the directory. 'Blocks: 8' in stat counts 512-byte units, so 8 blocks = one 4 KB file-system block even for a 6-byte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Linux system call names are shown at the end of each card. Delete is called unlink because it removes one NAME (link) of the file; the data is freed only when no names and no open descriptors remain — we will see this with hard links. Week 10 (Linux file operations) uses the command-line versions: touch, cat, cp, mv, 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textbook (Silberschatz) model. Linux has one extra level: the file descriptor points to an 'open file description' (holding the position), which points to the in-memory inode. Students only need the two-level picture: per-process entries with the file pointer, and a system-wide entry with the open 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of the file command; long lines are cut with '…'. The first bytes of many formats are a fixed 'magic number' (JPEG starts with FF D8 FF, ELF executables with 7F 45 4C 46 = 0x7F 'E' 'L' 'F'). students.dat is the binary record file from today's file_access.c, so file only says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numbers in direct access are RELATIVE to the start of the file (0, 1, 2 …); the OS maps relative block numbers to physical disk blocks, so the user never needs to know where on the disk the file is. Sequential access can be simulated on a direct-access file by keeping a current position cp: read next = read cp; cp = cp + 1.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checked in Python: 1000*100 = 100000; 100000 // 4096 = 24; 100000 % 4096 = 1696; (100000+99)//4096 = 24, so the record does not cross a block boundary. Exam tip: write the three lines (offset, block = floor division, offset in block = remainder).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find student 'Kaya'. Binary search in the index (5 entries here, in practice thousands) gives block 2; one disk read fetches it. Without the index we would read the file sequentially until we find Kaya. IBM's ISAM (indexed sequential access method) is the classic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Single-level directories existed on early personal computers and are still used on simple devices (some cameras, embedded flash). The red 'test?' shows the name clash. Two-level directories isolate users from each other — good for protection, bad for cooperation.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modern OS uses a tree (or the generalisations on the next slide). Make students say the paths aloud. Windows uses the same idea with drive letters and backslashes: C:\Users\ayse\os\notes.txt. In Week 9 they will practise cd with absolute and relative paths.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count: the inode counts how many directory entries (hard links) point to it; the file's data is freed only when that count reaches 0 and no process has it open. That is why the Linux delete call is named unlink. Symbolic links can point to directories and across file systems; hard links cannot cross file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bridge to the Linux weeks: Week 9 (navigation), Week 10 (file operations: cp, mv, rm, ln) and Week 11 (permissions, which are stored in the inode's mode field). Note that mv within one file system just changes a directory entry; the inode and data do not move — which is why moving a huge file is instant.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session captured as an ordinary user (script: code/links_demo.sh; a few lines trimmed — the full output is in the notes). Point at the first column of ls -li. Ask: after rm notes.txt, what is the link count of hard.txt? (1 — shown in the last listing.) Week 10 returns to ln, cp, mv and rm in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output. The file pointer here is exactly the 'current position' kept in the per-process open-file table. The file is 160 bytes = 5 records x 32 bytes. Ask: which lseek() call would read the last record? (lseek(fd, 4 * 32, SEEK_SET), byte 128.)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FIFO: 1F 2F 3F 1hit 4F(evicts 1) 1F(evicts 2) 2F(evicts 3) = 6 faults; LRU: 1F 2F 3F 1hit 4F(evicts 2) 1hit 2F(evicts 3) = 5 faults (checked with page_replacement.py; OPT gives 4). (2) EAT = 0.9999 x 200 + 0.0001 x 8,000,000 = 199.98 + 800 = 999.98 ns, about 1 microsecond: 5 times slower than RAM. (3) Byte 200 x 64 = 12,800; block floor(12800/4096) = 3; offset 12800 - 12288 = 512. (4) Yes with a hard link (the inode still has one name); no with a symbolic link (it now points to a missing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through these quickly; each line is a likely exam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 covers Weeks 1 to 7. Numerical question types to practise: Gantt charts and waiting times (W5), address translation and EAT with a TLB (W6), page-fault EAT and page-replacement frame tables (W7), direct-access block arithmetic (W7). Every week's course notes ends with review questions and worked answers — that is the best practice material. Exact time and room will be announced on the Telegram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 is the midterm, covering everything from Week 1 to today. Calculator rules and the exact room and time will be confirmed on Telegram. After the exam we switch to the hands-on half of the course: from Week 9 we use the Linux shell every week, starting with navigating exactly the directory tree we drew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floor for questions, especially about the midterm. Remind students that questions asked on the Telegram channel help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737360"/>
            <a:ext cx="73152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MCMP117  ·  WEEK 7</a:t>
            </a:r>
            <a:endParaRPr lang="en-US" sz="1300" dirty="0"/>
          </a:p>
        </p:txBody>
      </p:sp>
      <p:sp>
        <p:nvSpPr>
          <p:cNvPr id="3" name="Text 1"/>
          <p:cNvSpPr txBox="1"/>
          <p:nvPr/>
        </p:nvSpPr>
        <p:spPr>
          <a:xfrm>
            <a:off x="548640" y="2148840"/>
            <a:ext cx="8229600" cy="146304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Fundamentals of</a:t>
            </a:r>
            <a:endParaRPr lang="en-US" sz="4000" dirty="0"/>
          </a:p>
          <a:p>
            <a:pPr indent="0" marL="0">
              <a:buNone/>
            </a:pPr>
            <a:r>
              <a:rPr lang="en-US" sz="4000" b="1" dirty="0">
                <a:solidFill>
                  <a:srgbClr val="FFFFFF"/>
                </a:solidFill>
                <a:latin typeface="Cambria" pitchFamily="34" charset="0"/>
                <a:ea typeface="Cambria" pitchFamily="34" charset="-122"/>
                <a:cs typeface="Cambria" pitchFamily="34" charset="-120"/>
              </a:rPr>
              <a:t>Operating Systems</a:t>
            </a:r>
            <a:endParaRPr lang="en-US" sz="4000" dirty="0"/>
          </a:p>
        </p:txBody>
      </p:sp>
      <p:sp>
        <p:nvSpPr>
          <p:cNvPr id="4" name="Text 2"/>
          <p:cNvSpPr txBox="1"/>
          <p:nvPr/>
        </p:nvSpPr>
        <p:spPr>
          <a:xfrm>
            <a:off x="548640" y="3703320"/>
            <a:ext cx="10058400" cy="457200"/>
          </a:xfrm>
          <a:prstGeom prst="rect">
            <a:avLst/>
          </a:prstGeom>
          <a:noFill/>
          <a:ln/>
        </p:spPr>
        <p:txBody>
          <a:bodyPr wrap="square" lIns="0" tIns="0" rIns="0" bIns="0" rtlCol="0" anchor="ctr"/>
          <a:lstStyle/>
          <a:p>
            <a:pPr indent="0" marL="0">
              <a:buNone/>
            </a:pPr>
            <a:r>
              <a:rPr lang="en-US" sz="2000" dirty="0">
                <a:solidFill>
                  <a:srgbClr val="F2F2F2"/>
                </a:solidFill>
                <a:latin typeface="Calibri" pitchFamily="34" charset="0"/>
                <a:ea typeface="Calibri" pitchFamily="34" charset="-122"/>
                <a:cs typeface="Calibri" pitchFamily="34" charset="-120"/>
              </a:rPr>
              <a:t>Week 7  ·  Virtual Memory &amp; File Systems</a:t>
            </a:r>
            <a:endParaRPr lang="en-US" sz="2000" dirty="0"/>
          </a:p>
        </p:txBody>
      </p:sp>
      <p:sp>
        <p:nvSpPr>
          <p:cNvPr id="5" name="Text 3"/>
          <p:cNvSpPr txBox="1"/>
          <p:nvPr/>
        </p:nvSpPr>
        <p:spPr>
          <a:xfrm>
            <a:off x="548640" y="4160520"/>
            <a:ext cx="10058400" cy="365760"/>
          </a:xfrm>
          <a:prstGeom prst="rect">
            <a:avLst/>
          </a:prstGeom>
          <a:noFill/>
          <a:ln/>
        </p:spPr>
        <p:txBody>
          <a:bodyPr wrap="square" lIns="0" tIns="0" rIns="0" bIns="0" rtlCol="0" anchor="ctr"/>
          <a:lstStyle/>
          <a:p>
            <a:pPr indent="0" marL="0">
              <a:buNone/>
            </a:pPr>
            <a:r>
              <a:rPr lang="en-US" sz="1400" i="1" dirty="0">
                <a:solidFill>
                  <a:srgbClr val="8A9AA0"/>
                </a:solidFill>
                <a:latin typeface="Calibri" pitchFamily="34" charset="0"/>
                <a:ea typeface="Calibri" pitchFamily="34" charset="-122"/>
                <a:cs typeface="Calibri" pitchFamily="34" charset="-120"/>
              </a:rPr>
              <a:t>How can a 4 GB program run in 2 GB of RAM — and where do files really live?</a:t>
            </a:r>
            <a:endParaRPr lang="en-US" sz="1400" dirty="0"/>
          </a:p>
        </p:txBody>
      </p:sp>
      <p:sp>
        <p:nvSpPr>
          <p:cNvPr id="6" name="Text 4"/>
          <p:cNvSpPr txBox="1"/>
          <p:nvPr/>
        </p:nvSpPr>
        <p:spPr>
          <a:xfrm>
            <a:off x="548640" y="6217920"/>
            <a:ext cx="10058400" cy="274320"/>
          </a:xfrm>
          <a:prstGeom prst="rect">
            <a:avLst/>
          </a:prstGeom>
          <a:noFill/>
          <a:ln/>
        </p:spPr>
        <p:txBody>
          <a:bodyPr wrap="square" lIns="0" tIns="0" rIns="0" bIns="0" rtlCol="0" anchor="ctr"/>
          <a:lstStyle/>
          <a:p>
            <a:pPr indent="0" marL="0">
              <a:buNone/>
            </a:pPr>
            <a:r>
              <a:rPr lang="en-US" sz="1000" dirty="0">
                <a:solidFill>
                  <a:srgbClr val="8A9AA0"/>
                </a:solidFill>
                <a:latin typeface="Calibri" pitchFamily="34" charset="0"/>
                <a:ea typeface="Calibri" pitchFamily="34" charset="-122"/>
                <a:cs typeface="Calibri" pitchFamily="34" charset="-120"/>
              </a:rPr>
              <a:t>Electronical Communication Technology Programme  ·  Vocational School  ·  Istanbul Okan University</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LAST WEEK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6 in Four Ideas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a:t>
            </a:r>
            <a:endParaRPr lang="en-US" sz="900" dirty="0"/>
          </a:p>
        </p:txBody>
      </p:sp>
      <p:sp>
        <p:nvSpPr>
          <p:cNvPr id="6" name="Shape 4"/>
          <p:cNvSpPr/>
          <p:nvPr/>
        </p:nvSpPr>
        <p:spPr>
          <a:xfrm>
            <a:off x="54864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Two kinds of address</a:t>
            </a:r>
            <a:endParaRPr lang="en-US" sz="1600" dirty="0"/>
          </a:p>
        </p:txBody>
      </p:sp>
      <p:sp>
        <p:nvSpPr>
          <p:cNvPr id="8" name="Text 6"/>
          <p:cNvSpPr txBox="1"/>
          <p:nvPr/>
        </p:nvSpPr>
        <p:spPr>
          <a:xfrm>
            <a:off x="77724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Programs use logical addresses; the MMU translates them into physical addresses at run time.</a:t>
            </a:r>
            <a:endParaRPr lang="en-US" sz="1600" dirty="0"/>
          </a:p>
        </p:txBody>
      </p:sp>
      <p:sp>
        <p:nvSpPr>
          <p:cNvPr id="9" name="Shape 7"/>
          <p:cNvSpPr/>
          <p:nvPr/>
        </p:nvSpPr>
        <p:spPr>
          <a:xfrm>
            <a:off x="338328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Contiguous allocation</a:t>
            </a:r>
            <a:endParaRPr lang="en-US" sz="1600" dirty="0"/>
          </a:p>
        </p:txBody>
      </p:sp>
      <p:sp>
        <p:nvSpPr>
          <p:cNvPr id="11" name="Text 9"/>
          <p:cNvSpPr txBox="1"/>
          <p:nvPr/>
        </p:nvSpPr>
        <p:spPr>
          <a:xfrm>
            <a:off x="361188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One block of RAM per process is simple, but leaves holes: external fragmentation.</a:t>
            </a:r>
            <a:endParaRPr lang="en-US" sz="1600" dirty="0"/>
          </a:p>
        </p:txBody>
      </p:sp>
      <p:sp>
        <p:nvSpPr>
          <p:cNvPr id="12" name="Shape 10"/>
          <p:cNvSpPr/>
          <p:nvPr/>
        </p:nvSpPr>
        <p:spPr>
          <a:xfrm>
            <a:off x="621792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Paging</a:t>
            </a:r>
            <a:endParaRPr lang="en-US" sz="1600" dirty="0"/>
          </a:p>
        </p:txBody>
      </p:sp>
      <p:sp>
        <p:nvSpPr>
          <p:cNvPr id="14" name="Text 12"/>
          <p:cNvSpPr txBox="1"/>
          <p:nvPr/>
        </p:nvSpPr>
        <p:spPr>
          <a:xfrm>
            <a:off x="644652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Pages (logical) map to frames (physical) through a page table: no external fragmentation.</a:t>
            </a:r>
            <a:endParaRPr lang="en-US" sz="1600" dirty="0"/>
          </a:p>
        </p:txBody>
      </p:sp>
      <p:sp>
        <p:nvSpPr>
          <p:cNvPr id="15" name="Shape 13"/>
          <p:cNvSpPr/>
          <p:nvPr/>
        </p:nvSpPr>
        <p:spPr>
          <a:xfrm>
            <a:off x="9052560" y="1508760"/>
            <a:ext cx="2606040" cy="3749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TLB</a:t>
            </a:r>
            <a:endParaRPr lang="en-US" sz="1600" dirty="0"/>
          </a:p>
        </p:txBody>
      </p:sp>
      <p:sp>
        <p:nvSpPr>
          <p:cNvPr id="17" name="Text 15"/>
          <p:cNvSpPr txBox="1"/>
          <p:nvPr/>
        </p:nvSpPr>
        <p:spPr>
          <a:xfrm>
            <a:off x="9281160" y="2148840"/>
            <a:ext cx="2148840" cy="2971800"/>
          </a:xfrm>
          <a:prstGeom prst="rect">
            <a:avLst/>
          </a:prstGeom>
          <a:noFill/>
          <a:ln/>
        </p:spPr>
        <p:txBody>
          <a:bodyPr wrap="square" lIns="0" tIns="0" rIns="0" bIns="0" rtlCol="0" anchor="t"/>
          <a:lstStyle/>
          <a:p>
            <a:pPr indent="0" marL="0">
              <a:spcAft>
                <a:spcPts val="400"/>
              </a:spcAft>
              <a:buNone/>
            </a:pPr>
            <a:r>
              <a:rPr lang="en-US" sz="1600" dirty="0">
                <a:solidFill>
                  <a:srgbClr val="3A464C"/>
                </a:solidFill>
                <a:latin typeface="Calibri" pitchFamily="34" charset="0"/>
                <a:ea typeface="Calibri" pitchFamily="34" charset="-122"/>
                <a:cs typeface="Calibri" pitchFamily="34" charset="-120"/>
              </a:rPr>
              <a:t>A small cache of page-table entries. Effective access time depends on the hit ratio α.</a:t>
            </a:r>
            <a:endParaRPr lang="en-US" sz="1600" dirty="0"/>
          </a:p>
        </p:txBody>
      </p:sp>
      <p:sp>
        <p:nvSpPr>
          <p:cNvPr id="18" name="Shape 16"/>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Last week every page of a process was in RAM. Today we drop that assumption: a page may also be on disk.</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WEEK 7</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Today's Agenda</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a:t>
            </a:r>
            <a:endParaRPr lang="en-US" sz="900" dirty="0"/>
          </a:p>
        </p:txBody>
      </p:sp>
      <p:sp>
        <p:nvSpPr>
          <p:cNvPr id="6" name="Shape 4"/>
          <p:cNvSpPr/>
          <p:nvPr/>
        </p:nvSpPr>
        <p:spPr>
          <a:xfrm>
            <a:off x="548640" y="1508760"/>
            <a:ext cx="658368" cy="658368"/>
          </a:xfrm>
          <a:prstGeom prst="roundRect">
            <a:avLst>
              <a:gd name="adj" fmla="val 6944"/>
            </a:avLst>
          </a:prstGeom>
          <a:solidFill>
            <a:srgbClr val="02C39A"/>
          </a:solidFill>
          <a:ln/>
        </p:spPr>
        <p:txBody>
          <a:bodyPr/>
          <a:p/>
        </p:txBody>
      </p:sp>
      <p:sp>
        <p:nvSpPr>
          <p:cNvPr id="7" name="Text 5"/>
          <p:cNvSpPr txBox="1"/>
          <p:nvPr/>
        </p:nvSpPr>
        <p:spPr>
          <a:xfrm>
            <a:off x="548640" y="150876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1</a:t>
            </a:r>
            <a:endParaRPr lang="en-US" sz="2000" dirty="0"/>
          </a:p>
        </p:txBody>
      </p:sp>
      <p:sp>
        <p:nvSpPr>
          <p:cNvPr id="8" name="Shape 6"/>
          <p:cNvSpPr/>
          <p:nvPr/>
        </p:nvSpPr>
        <p:spPr>
          <a:xfrm>
            <a:off x="1371600" y="1508760"/>
            <a:ext cx="10287000" cy="658368"/>
          </a:xfrm>
          <a:prstGeom prst="roundRect">
            <a:avLst>
              <a:gd name="adj" fmla="val 6944"/>
            </a:avLst>
          </a:prstGeom>
          <a:solidFill>
            <a:srgbClr val="F2F2F2"/>
          </a:solidFill>
          <a:ln/>
        </p:spPr>
        <p:txBody>
          <a:bodyPr/>
          <a:p/>
        </p:txBody>
      </p:sp>
      <p:sp>
        <p:nvSpPr>
          <p:cNvPr id="9" name="Text 7"/>
          <p:cNvSpPr txBox="1"/>
          <p:nvPr/>
        </p:nvSpPr>
        <p:spPr>
          <a:xfrm>
            <a:off x="1645920" y="150876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Virtual memory   </a:t>
            </a:r>
            <a:r>
              <a:rPr lang="en-US" sz="1500" dirty="0">
                <a:solidFill>
                  <a:srgbClr val="3A464C"/>
                </a:solidFill>
                <a:latin typeface="Calibri" pitchFamily="34" charset="0"/>
                <a:ea typeface="Calibri" pitchFamily="34" charset="-122"/>
                <a:cs typeface="Calibri" pitchFamily="34" charset="-120"/>
              </a:rPr>
              <a:t>Only part of a program needs to be in RAM: demand paging and page faults.</a:t>
            </a:r>
            <a:endParaRPr lang="en-US" sz="1400" dirty="0"/>
          </a:p>
        </p:txBody>
      </p:sp>
      <p:sp>
        <p:nvSpPr>
          <p:cNvPr id="10" name="Shape 8"/>
          <p:cNvSpPr/>
          <p:nvPr/>
        </p:nvSpPr>
        <p:spPr>
          <a:xfrm>
            <a:off x="548640" y="2295144"/>
            <a:ext cx="658368" cy="658368"/>
          </a:xfrm>
          <a:prstGeom prst="roundRect">
            <a:avLst>
              <a:gd name="adj" fmla="val 6944"/>
            </a:avLst>
          </a:prstGeom>
          <a:solidFill>
            <a:srgbClr val="02C39A"/>
          </a:solidFill>
          <a:ln/>
        </p:spPr>
        <p:txBody>
          <a:bodyPr/>
          <a:p/>
        </p:txBody>
      </p:sp>
      <p:sp>
        <p:nvSpPr>
          <p:cNvPr id="11" name="Text 9"/>
          <p:cNvSpPr txBox="1"/>
          <p:nvPr/>
        </p:nvSpPr>
        <p:spPr>
          <a:xfrm>
            <a:off x="548640" y="2295144"/>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2</a:t>
            </a:r>
            <a:endParaRPr lang="en-US" sz="2000" dirty="0"/>
          </a:p>
        </p:txBody>
      </p:sp>
      <p:sp>
        <p:nvSpPr>
          <p:cNvPr id="12" name="Shape 10"/>
          <p:cNvSpPr/>
          <p:nvPr/>
        </p:nvSpPr>
        <p:spPr>
          <a:xfrm>
            <a:off x="1371600" y="2295144"/>
            <a:ext cx="10287000" cy="658368"/>
          </a:xfrm>
          <a:prstGeom prst="roundRect">
            <a:avLst>
              <a:gd name="adj" fmla="val 6944"/>
            </a:avLst>
          </a:prstGeom>
          <a:solidFill>
            <a:srgbClr val="F2F2F2"/>
          </a:solidFill>
          <a:ln/>
        </p:spPr>
        <p:txBody>
          <a:bodyPr/>
          <a:p/>
        </p:txBody>
      </p:sp>
      <p:sp>
        <p:nvSpPr>
          <p:cNvPr id="13" name="Text 11"/>
          <p:cNvSpPr txBox="1"/>
          <p:nvPr/>
        </p:nvSpPr>
        <p:spPr>
          <a:xfrm>
            <a:off x="1645920" y="2295144"/>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Page replacement   </a:t>
            </a:r>
            <a:r>
              <a:rPr lang="en-US" sz="1500" dirty="0">
                <a:solidFill>
                  <a:srgbClr val="3A464C"/>
                </a:solidFill>
                <a:latin typeface="Calibri" pitchFamily="34" charset="0"/>
                <a:ea typeface="Calibri" pitchFamily="34" charset="-122"/>
                <a:cs typeface="Calibri" pitchFamily="34" charset="-120"/>
              </a:rPr>
              <a:t>When memory is full, who leaves? FIFO, OPT, LRU, Belady's anomaly, the clock.</a:t>
            </a:r>
            <a:endParaRPr lang="en-US" sz="1400" dirty="0"/>
          </a:p>
        </p:txBody>
      </p:sp>
      <p:sp>
        <p:nvSpPr>
          <p:cNvPr id="14" name="Shape 12"/>
          <p:cNvSpPr/>
          <p:nvPr/>
        </p:nvSpPr>
        <p:spPr>
          <a:xfrm>
            <a:off x="548640" y="3081528"/>
            <a:ext cx="658368" cy="658368"/>
          </a:xfrm>
          <a:prstGeom prst="roundRect">
            <a:avLst>
              <a:gd name="adj" fmla="val 6944"/>
            </a:avLst>
          </a:prstGeom>
          <a:solidFill>
            <a:srgbClr val="02C39A"/>
          </a:solidFill>
          <a:ln/>
        </p:spPr>
        <p:txBody>
          <a:bodyPr/>
          <a:p/>
        </p:txBody>
      </p:sp>
      <p:sp>
        <p:nvSpPr>
          <p:cNvPr id="15" name="Text 13"/>
          <p:cNvSpPr txBox="1"/>
          <p:nvPr/>
        </p:nvSpPr>
        <p:spPr>
          <a:xfrm>
            <a:off x="548640" y="3081528"/>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3</a:t>
            </a:r>
            <a:endParaRPr lang="en-US" sz="2000" dirty="0"/>
          </a:p>
        </p:txBody>
      </p:sp>
      <p:sp>
        <p:nvSpPr>
          <p:cNvPr id="16" name="Shape 14"/>
          <p:cNvSpPr/>
          <p:nvPr/>
        </p:nvSpPr>
        <p:spPr>
          <a:xfrm>
            <a:off x="1371600" y="3081528"/>
            <a:ext cx="10287000" cy="658368"/>
          </a:xfrm>
          <a:prstGeom prst="roundRect">
            <a:avLst>
              <a:gd name="adj" fmla="val 6944"/>
            </a:avLst>
          </a:prstGeom>
          <a:solidFill>
            <a:srgbClr val="F2F2F2"/>
          </a:solidFill>
          <a:ln/>
        </p:spPr>
        <p:txBody>
          <a:bodyPr/>
          <a:p/>
        </p:txBody>
      </p:sp>
      <p:sp>
        <p:nvSpPr>
          <p:cNvPr id="17" name="Text 15"/>
          <p:cNvSpPr txBox="1"/>
          <p:nvPr/>
        </p:nvSpPr>
        <p:spPr>
          <a:xfrm>
            <a:off x="1645920" y="3081528"/>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Thrashing   </a:t>
            </a:r>
            <a:r>
              <a:rPr lang="en-US" sz="1500" dirty="0">
                <a:solidFill>
                  <a:srgbClr val="3A464C"/>
                </a:solidFill>
                <a:latin typeface="Calibri" pitchFamily="34" charset="0"/>
                <a:ea typeface="Calibri" pitchFamily="34" charset="-122"/>
                <a:cs typeface="Calibri" pitchFamily="34" charset="-120"/>
              </a:rPr>
              <a:t>Too many processes, too few frames — and the working-set idea.</a:t>
            </a:r>
            <a:endParaRPr lang="en-US" sz="1400" dirty="0"/>
          </a:p>
        </p:txBody>
      </p:sp>
      <p:sp>
        <p:nvSpPr>
          <p:cNvPr id="18" name="Shape 16"/>
          <p:cNvSpPr/>
          <p:nvPr/>
        </p:nvSpPr>
        <p:spPr>
          <a:xfrm>
            <a:off x="548640" y="3867912"/>
            <a:ext cx="658368" cy="658368"/>
          </a:xfrm>
          <a:prstGeom prst="roundRect">
            <a:avLst>
              <a:gd name="adj" fmla="val 6944"/>
            </a:avLst>
          </a:prstGeom>
          <a:solidFill>
            <a:srgbClr val="02C39A"/>
          </a:solidFill>
          <a:ln/>
        </p:spPr>
        <p:txBody>
          <a:bodyPr/>
          <a:p/>
        </p:txBody>
      </p:sp>
      <p:sp>
        <p:nvSpPr>
          <p:cNvPr id="19" name="Text 17"/>
          <p:cNvSpPr txBox="1"/>
          <p:nvPr/>
        </p:nvSpPr>
        <p:spPr>
          <a:xfrm>
            <a:off x="548640" y="3867912"/>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4</a:t>
            </a:r>
            <a:endParaRPr lang="en-US" sz="2000" dirty="0"/>
          </a:p>
        </p:txBody>
      </p:sp>
      <p:sp>
        <p:nvSpPr>
          <p:cNvPr id="20" name="Shape 18"/>
          <p:cNvSpPr/>
          <p:nvPr/>
        </p:nvSpPr>
        <p:spPr>
          <a:xfrm>
            <a:off x="1371600" y="3867912"/>
            <a:ext cx="10287000" cy="658368"/>
          </a:xfrm>
          <a:prstGeom prst="roundRect">
            <a:avLst>
              <a:gd name="adj" fmla="val 6944"/>
            </a:avLst>
          </a:prstGeom>
          <a:solidFill>
            <a:srgbClr val="F2F2F2"/>
          </a:solidFill>
          <a:ln/>
        </p:spPr>
        <p:txBody>
          <a:bodyPr/>
          <a:p/>
        </p:txBody>
      </p:sp>
      <p:sp>
        <p:nvSpPr>
          <p:cNvPr id="21" name="Text 19"/>
          <p:cNvSpPr txBox="1"/>
          <p:nvPr/>
        </p:nvSpPr>
        <p:spPr>
          <a:xfrm>
            <a:off x="1645920" y="3867912"/>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File systems   </a:t>
            </a:r>
            <a:r>
              <a:rPr lang="en-US" sz="1500" dirty="0">
                <a:solidFill>
                  <a:srgbClr val="3A464C"/>
                </a:solidFill>
                <a:latin typeface="Calibri" pitchFamily="34" charset="0"/>
                <a:ea typeface="Calibri" pitchFamily="34" charset="-122"/>
                <a:cs typeface="Calibri" pitchFamily="34" charset="-120"/>
              </a:rPr>
              <a:t>Files, attributes, operations, access methods.</a:t>
            </a:r>
            <a:endParaRPr lang="en-US" sz="1400" dirty="0"/>
          </a:p>
        </p:txBody>
      </p:sp>
      <p:sp>
        <p:nvSpPr>
          <p:cNvPr id="22" name="Shape 20"/>
          <p:cNvSpPr/>
          <p:nvPr/>
        </p:nvSpPr>
        <p:spPr>
          <a:xfrm>
            <a:off x="548640" y="4654296"/>
            <a:ext cx="658368" cy="658368"/>
          </a:xfrm>
          <a:prstGeom prst="roundRect">
            <a:avLst>
              <a:gd name="adj" fmla="val 6944"/>
            </a:avLst>
          </a:prstGeom>
          <a:solidFill>
            <a:srgbClr val="02C39A"/>
          </a:solidFill>
          <a:ln/>
        </p:spPr>
        <p:txBody>
          <a:bodyPr/>
          <a:p/>
        </p:txBody>
      </p:sp>
      <p:sp>
        <p:nvSpPr>
          <p:cNvPr id="23" name="Text 21"/>
          <p:cNvSpPr txBox="1"/>
          <p:nvPr/>
        </p:nvSpPr>
        <p:spPr>
          <a:xfrm>
            <a:off x="548640" y="4654296"/>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5</a:t>
            </a:r>
            <a:endParaRPr lang="en-US" sz="2000" dirty="0"/>
          </a:p>
        </p:txBody>
      </p:sp>
      <p:sp>
        <p:nvSpPr>
          <p:cNvPr id="24" name="Shape 22"/>
          <p:cNvSpPr/>
          <p:nvPr/>
        </p:nvSpPr>
        <p:spPr>
          <a:xfrm>
            <a:off x="1371600" y="4654296"/>
            <a:ext cx="10287000" cy="658368"/>
          </a:xfrm>
          <a:prstGeom prst="roundRect">
            <a:avLst>
              <a:gd name="adj" fmla="val 6944"/>
            </a:avLst>
          </a:prstGeom>
          <a:solidFill>
            <a:srgbClr val="F2F2F2"/>
          </a:solidFill>
          <a:ln/>
        </p:spPr>
        <p:txBody>
          <a:bodyPr/>
          <a:p/>
        </p:txBody>
      </p:sp>
      <p:sp>
        <p:nvSpPr>
          <p:cNvPr id="25" name="Text 23"/>
          <p:cNvSpPr txBox="1"/>
          <p:nvPr/>
        </p:nvSpPr>
        <p:spPr>
          <a:xfrm>
            <a:off x="1645920" y="4654296"/>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Directories &amp; Linux   </a:t>
            </a:r>
            <a:r>
              <a:rPr lang="en-US" sz="1500" dirty="0">
                <a:solidFill>
                  <a:srgbClr val="3A464C"/>
                </a:solidFill>
                <a:latin typeface="Calibri" pitchFamily="34" charset="0"/>
                <a:ea typeface="Calibri" pitchFamily="34" charset="-122"/>
                <a:cs typeface="Calibri" pitchFamily="34" charset="-120"/>
              </a:rPr>
              <a:t>Directory structures, paths, inodes, hard and symbolic links.</a:t>
            </a:r>
            <a:endParaRPr lang="en-US" sz="1400" dirty="0"/>
          </a:p>
        </p:txBody>
      </p:sp>
      <p:sp>
        <p:nvSpPr>
          <p:cNvPr id="26" name="Shape 24"/>
          <p:cNvSpPr/>
          <p:nvPr/>
        </p:nvSpPr>
        <p:spPr>
          <a:xfrm>
            <a:off x="548640" y="5440680"/>
            <a:ext cx="658368" cy="658368"/>
          </a:xfrm>
          <a:prstGeom prst="roundRect">
            <a:avLst>
              <a:gd name="adj" fmla="val 6944"/>
            </a:avLst>
          </a:prstGeom>
          <a:solidFill>
            <a:srgbClr val="02C39A"/>
          </a:solidFill>
          <a:ln/>
        </p:spPr>
        <p:txBody>
          <a:bodyPr/>
          <a:p/>
        </p:txBody>
      </p:sp>
      <p:sp>
        <p:nvSpPr>
          <p:cNvPr id="27" name="Text 25"/>
          <p:cNvSpPr txBox="1"/>
          <p:nvPr/>
        </p:nvSpPr>
        <p:spPr>
          <a:xfrm>
            <a:off x="548640" y="5440680"/>
            <a:ext cx="658368" cy="658368"/>
          </a:xfrm>
          <a:prstGeom prst="rect">
            <a:avLst/>
          </a:prstGeom>
          <a:noFill/>
          <a:ln/>
        </p:spPr>
        <p:txBody>
          <a:bodyPr wrap="square" lIns="38100" tIns="38100" rIns="38100" bIns="38100" rtlCol="0" anchor="ctr"/>
          <a:lstStyle/>
          <a:p>
            <a:pPr algn="ctr" indent="0" marL="0">
              <a:buNone/>
            </a:pPr>
            <a:r>
              <a:rPr lang="en-US" sz="2000" b="1" dirty="0">
                <a:solidFill>
                  <a:srgbClr val="36454F"/>
                </a:solidFill>
                <a:latin typeface="Cambria" pitchFamily="34" charset="0"/>
                <a:ea typeface="Cambria" pitchFamily="34" charset="-122"/>
                <a:cs typeface="Cambria" pitchFamily="34" charset="-120"/>
              </a:rPr>
              <a:t>6</a:t>
            </a:r>
            <a:endParaRPr lang="en-US" sz="2000" dirty="0"/>
          </a:p>
        </p:txBody>
      </p:sp>
      <p:sp>
        <p:nvSpPr>
          <p:cNvPr id="28" name="Shape 26"/>
          <p:cNvSpPr/>
          <p:nvPr/>
        </p:nvSpPr>
        <p:spPr>
          <a:xfrm>
            <a:off x="1371600" y="5440680"/>
            <a:ext cx="10287000" cy="658368"/>
          </a:xfrm>
          <a:prstGeom prst="roundRect">
            <a:avLst>
              <a:gd name="adj" fmla="val 6944"/>
            </a:avLst>
          </a:prstGeom>
          <a:solidFill>
            <a:srgbClr val="F2F2F2"/>
          </a:solidFill>
          <a:ln/>
        </p:spPr>
        <p:txBody>
          <a:bodyPr/>
          <a:p/>
        </p:txBody>
      </p:sp>
      <p:sp>
        <p:nvSpPr>
          <p:cNvPr id="29" name="Text 27"/>
          <p:cNvSpPr txBox="1"/>
          <p:nvPr/>
        </p:nvSpPr>
        <p:spPr>
          <a:xfrm>
            <a:off x="1645920" y="5440680"/>
            <a:ext cx="9875520" cy="658368"/>
          </a:xfrm>
          <a:prstGeom prst="rect">
            <a:avLst/>
          </a:prstGeom>
          <a:noFill/>
          <a:ln/>
        </p:spPr>
        <p:txBody>
          <a:bodyPr wrap="square" lIns="0" tIns="0" rIns="0" bIns="0" rtlCol="0" anchor="ctr"/>
          <a:lstStyle/>
          <a:p>
            <a:pPr indent="0" marL="0">
              <a:buNone/>
            </a:pPr>
            <a:r>
              <a:rPr lang="en-US" sz="1700" b="1" dirty="0">
                <a:solidFill>
                  <a:srgbClr val="36454F"/>
                </a:solidFill>
                <a:latin typeface="Cambria" pitchFamily="34" charset="0"/>
                <a:ea typeface="Cambria" pitchFamily="34" charset="-122"/>
                <a:cs typeface="Cambria" pitchFamily="34" charset="-120"/>
              </a:rPr>
              <a:t>Midterm checklist   </a:t>
            </a:r>
            <a:r>
              <a:rPr lang="en-US" sz="1500" dirty="0">
                <a:solidFill>
                  <a:srgbClr val="3A464C"/>
                </a:solidFill>
                <a:latin typeface="Calibri" pitchFamily="34" charset="0"/>
                <a:ea typeface="Calibri" pitchFamily="34" charset="-122"/>
                <a:cs typeface="Calibri" pitchFamily="34" charset="-120"/>
              </a:rPr>
              <a:t>What to review for next week's exam (Weeks 1–7).</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1</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Virtual Memory</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A program does not need all of its pages in RAM to run.</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7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VIRTUAL MEMORY</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Idea: Separate the Program's View from RAM</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5</a:t>
            </a:r>
            <a:endParaRPr lang="en-US" sz="900" dirty="0"/>
          </a:p>
        </p:txBody>
      </p:sp>
      <p:sp>
        <p:nvSpPr>
          <p:cNvPr id="6" name="Text 4"/>
          <p:cNvSpPr txBox="1"/>
          <p:nvPr/>
        </p:nvSpPr>
        <p:spPr>
          <a:xfrm>
            <a:off x="548640" y="1508760"/>
            <a:ext cx="1828800" cy="41148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Virtual address space</a:t>
            </a:r>
            <a:endParaRPr lang="en-US" sz="1200" dirty="0"/>
          </a:p>
        </p:txBody>
      </p:sp>
      <p:sp>
        <p:nvSpPr>
          <p:cNvPr id="7" name="Shape 5"/>
          <p:cNvSpPr/>
          <p:nvPr/>
        </p:nvSpPr>
        <p:spPr>
          <a:xfrm>
            <a:off x="640080" y="1965960"/>
            <a:ext cx="1645920" cy="402336"/>
          </a:xfrm>
          <a:prstGeom prst="roundRect">
            <a:avLst>
              <a:gd name="adj" fmla="val 11364"/>
            </a:avLst>
          </a:prstGeom>
          <a:solidFill>
            <a:srgbClr val="02C39A"/>
          </a:solidFill>
          <a:ln/>
        </p:spPr>
        <p:txBody>
          <a:bodyPr/>
          <a:p/>
        </p:txBody>
      </p:sp>
      <p:sp>
        <p:nvSpPr>
          <p:cNvPr id="8" name="Text 6"/>
          <p:cNvSpPr txBox="1"/>
          <p:nvPr/>
        </p:nvSpPr>
        <p:spPr>
          <a:xfrm>
            <a:off x="640080" y="19659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0  ·  A</a:t>
            </a:r>
            <a:endParaRPr lang="en-US" sz="1200" dirty="0"/>
          </a:p>
        </p:txBody>
      </p:sp>
      <p:sp>
        <p:nvSpPr>
          <p:cNvPr id="9" name="Shape 7"/>
          <p:cNvSpPr/>
          <p:nvPr/>
        </p:nvSpPr>
        <p:spPr>
          <a:xfrm>
            <a:off x="640080" y="2423160"/>
            <a:ext cx="1645920" cy="402336"/>
          </a:xfrm>
          <a:prstGeom prst="roundRect">
            <a:avLst>
              <a:gd name="adj" fmla="val 11364"/>
            </a:avLst>
          </a:prstGeom>
          <a:solidFill>
            <a:srgbClr val="F2F2F2"/>
          </a:solidFill>
          <a:ln/>
        </p:spPr>
        <p:txBody>
          <a:bodyPr/>
          <a:p/>
        </p:txBody>
      </p:sp>
      <p:sp>
        <p:nvSpPr>
          <p:cNvPr id="10" name="Text 8"/>
          <p:cNvSpPr txBox="1"/>
          <p:nvPr/>
        </p:nvSpPr>
        <p:spPr>
          <a:xfrm>
            <a:off x="640080" y="24231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1  ·  B</a:t>
            </a:r>
            <a:endParaRPr lang="en-US" sz="1200" dirty="0"/>
          </a:p>
        </p:txBody>
      </p:sp>
      <p:sp>
        <p:nvSpPr>
          <p:cNvPr id="11" name="Shape 9"/>
          <p:cNvSpPr/>
          <p:nvPr/>
        </p:nvSpPr>
        <p:spPr>
          <a:xfrm>
            <a:off x="640080" y="2880360"/>
            <a:ext cx="1645920" cy="402336"/>
          </a:xfrm>
          <a:prstGeom prst="roundRect">
            <a:avLst>
              <a:gd name="adj" fmla="val 11364"/>
            </a:avLst>
          </a:prstGeom>
          <a:solidFill>
            <a:srgbClr val="02C39A"/>
          </a:solidFill>
          <a:ln/>
        </p:spPr>
        <p:txBody>
          <a:bodyPr/>
          <a:p/>
        </p:txBody>
      </p:sp>
      <p:sp>
        <p:nvSpPr>
          <p:cNvPr id="12" name="Text 10"/>
          <p:cNvSpPr txBox="1"/>
          <p:nvPr/>
        </p:nvSpPr>
        <p:spPr>
          <a:xfrm>
            <a:off x="640080" y="28803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2  ·  C</a:t>
            </a:r>
            <a:endParaRPr lang="en-US" sz="1200" dirty="0"/>
          </a:p>
        </p:txBody>
      </p:sp>
      <p:sp>
        <p:nvSpPr>
          <p:cNvPr id="13" name="Shape 11"/>
          <p:cNvSpPr/>
          <p:nvPr/>
        </p:nvSpPr>
        <p:spPr>
          <a:xfrm>
            <a:off x="640080" y="3337560"/>
            <a:ext cx="1645920" cy="402336"/>
          </a:xfrm>
          <a:prstGeom prst="roundRect">
            <a:avLst>
              <a:gd name="adj" fmla="val 11364"/>
            </a:avLst>
          </a:prstGeom>
          <a:solidFill>
            <a:srgbClr val="F2F2F2"/>
          </a:solidFill>
          <a:ln/>
        </p:spPr>
        <p:txBody>
          <a:bodyPr/>
          <a:p/>
        </p:txBody>
      </p:sp>
      <p:sp>
        <p:nvSpPr>
          <p:cNvPr id="14" name="Text 12"/>
          <p:cNvSpPr txBox="1"/>
          <p:nvPr/>
        </p:nvSpPr>
        <p:spPr>
          <a:xfrm>
            <a:off x="640080" y="33375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3  ·  D</a:t>
            </a:r>
            <a:endParaRPr lang="en-US" sz="1200" dirty="0"/>
          </a:p>
        </p:txBody>
      </p:sp>
      <p:sp>
        <p:nvSpPr>
          <p:cNvPr id="15" name="Shape 13"/>
          <p:cNvSpPr/>
          <p:nvPr/>
        </p:nvSpPr>
        <p:spPr>
          <a:xfrm>
            <a:off x="640080" y="3794760"/>
            <a:ext cx="1645920" cy="402336"/>
          </a:xfrm>
          <a:prstGeom prst="roundRect">
            <a:avLst>
              <a:gd name="adj" fmla="val 11364"/>
            </a:avLst>
          </a:prstGeom>
          <a:solidFill>
            <a:srgbClr val="F2F2F2"/>
          </a:solidFill>
          <a:ln/>
        </p:spPr>
        <p:txBody>
          <a:bodyPr/>
          <a:p/>
        </p:txBody>
      </p:sp>
      <p:sp>
        <p:nvSpPr>
          <p:cNvPr id="16" name="Text 14"/>
          <p:cNvSpPr txBox="1"/>
          <p:nvPr/>
        </p:nvSpPr>
        <p:spPr>
          <a:xfrm>
            <a:off x="640080" y="37947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4  ·  E</a:t>
            </a:r>
            <a:endParaRPr lang="en-US" sz="1200" dirty="0"/>
          </a:p>
        </p:txBody>
      </p:sp>
      <p:sp>
        <p:nvSpPr>
          <p:cNvPr id="17" name="Shape 15"/>
          <p:cNvSpPr/>
          <p:nvPr/>
        </p:nvSpPr>
        <p:spPr>
          <a:xfrm>
            <a:off x="640080" y="4251960"/>
            <a:ext cx="1645920" cy="402336"/>
          </a:xfrm>
          <a:prstGeom prst="roundRect">
            <a:avLst>
              <a:gd name="adj" fmla="val 11364"/>
            </a:avLst>
          </a:prstGeom>
          <a:solidFill>
            <a:srgbClr val="02C39A"/>
          </a:solidFill>
          <a:ln/>
        </p:spPr>
        <p:txBody>
          <a:bodyPr/>
          <a:p/>
        </p:txBody>
      </p:sp>
      <p:sp>
        <p:nvSpPr>
          <p:cNvPr id="18" name="Text 16"/>
          <p:cNvSpPr txBox="1"/>
          <p:nvPr/>
        </p:nvSpPr>
        <p:spPr>
          <a:xfrm>
            <a:off x="640080" y="42519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5  ·  F</a:t>
            </a:r>
            <a:endParaRPr lang="en-US" sz="1200" dirty="0"/>
          </a:p>
        </p:txBody>
      </p:sp>
      <p:sp>
        <p:nvSpPr>
          <p:cNvPr id="19" name="Shape 17"/>
          <p:cNvSpPr/>
          <p:nvPr/>
        </p:nvSpPr>
        <p:spPr>
          <a:xfrm>
            <a:off x="640080" y="4709160"/>
            <a:ext cx="1645920" cy="402336"/>
          </a:xfrm>
          <a:prstGeom prst="roundRect">
            <a:avLst>
              <a:gd name="adj" fmla="val 11364"/>
            </a:avLst>
          </a:prstGeom>
          <a:solidFill>
            <a:srgbClr val="F2F2F2"/>
          </a:solidFill>
          <a:ln/>
        </p:spPr>
        <p:txBody>
          <a:bodyPr/>
          <a:p/>
        </p:txBody>
      </p:sp>
      <p:sp>
        <p:nvSpPr>
          <p:cNvPr id="20" name="Text 18"/>
          <p:cNvSpPr txBox="1"/>
          <p:nvPr/>
        </p:nvSpPr>
        <p:spPr>
          <a:xfrm>
            <a:off x="640080" y="47091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6  ·  G</a:t>
            </a:r>
            <a:endParaRPr lang="en-US" sz="1200" dirty="0"/>
          </a:p>
        </p:txBody>
      </p:sp>
      <p:sp>
        <p:nvSpPr>
          <p:cNvPr id="21" name="Shape 19"/>
          <p:cNvSpPr/>
          <p:nvPr/>
        </p:nvSpPr>
        <p:spPr>
          <a:xfrm>
            <a:off x="640080" y="5166360"/>
            <a:ext cx="1645920" cy="402336"/>
          </a:xfrm>
          <a:prstGeom prst="roundRect">
            <a:avLst>
              <a:gd name="adj" fmla="val 11364"/>
            </a:avLst>
          </a:prstGeom>
          <a:solidFill>
            <a:srgbClr val="F2F2F2"/>
          </a:solidFill>
          <a:ln/>
        </p:spPr>
        <p:txBody>
          <a:bodyPr/>
          <a:p/>
        </p:txBody>
      </p:sp>
      <p:sp>
        <p:nvSpPr>
          <p:cNvPr id="22" name="Text 20"/>
          <p:cNvSpPr txBox="1"/>
          <p:nvPr/>
        </p:nvSpPr>
        <p:spPr>
          <a:xfrm>
            <a:off x="640080" y="51663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7  ·  H</a:t>
            </a:r>
            <a:endParaRPr lang="en-US" sz="1200" dirty="0"/>
          </a:p>
        </p:txBody>
      </p:sp>
      <p:sp>
        <p:nvSpPr>
          <p:cNvPr id="23" name="Text 21"/>
          <p:cNvSpPr txBox="1"/>
          <p:nvPr/>
        </p:nvSpPr>
        <p:spPr>
          <a:xfrm>
            <a:off x="548640" y="5641848"/>
            <a:ext cx="1828800" cy="457200"/>
          </a:xfrm>
          <a:prstGeom prst="rect">
            <a:avLst/>
          </a:prstGeom>
          <a:noFill/>
          <a:ln/>
        </p:spPr>
        <p:txBody>
          <a:bodyPr wrap="square" lIns="0" tIns="0" rIns="0" bIns="0" rtlCol="0" anchor="t"/>
          <a:lstStyle/>
          <a:p>
            <a:pPr algn="ctr" indent="0" marL="0">
              <a:buNone/>
            </a:pPr>
            <a:r>
              <a:rPr lang="en-US" sz="1050" i="1" dirty="0">
                <a:solidFill>
                  <a:srgbClr val="6B7679"/>
                </a:solidFill>
                <a:latin typeface="Calibri" pitchFamily="34" charset="0"/>
                <a:ea typeface="Calibri" pitchFamily="34" charset="-122"/>
                <a:cs typeface="Calibri" pitchFamily="34" charset="-120"/>
              </a:rPr>
              <a:t>the program's view: large and contiguous</a:t>
            </a:r>
            <a:endParaRPr lang="en-US" sz="1050" dirty="0"/>
          </a:p>
        </p:txBody>
      </p:sp>
      <p:sp>
        <p:nvSpPr>
          <p:cNvPr id="24" name="Text 22"/>
          <p:cNvSpPr txBox="1"/>
          <p:nvPr/>
        </p:nvSpPr>
        <p:spPr>
          <a:xfrm>
            <a:off x="3703320" y="1508760"/>
            <a:ext cx="1828800" cy="41148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Physical memory (RAM)</a:t>
            </a:r>
            <a:endParaRPr lang="en-US" sz="1200" dirty="0"/>
          </a:p>
        </p:txBody>
      </p:sp>
      <p:sp>
        <p:nvSpPr>
          <p:cNvPr id="25" name="Shape 23"/>
          <p:cNvSpPr/>
          <p:nvPr/>
        </p:nvSpPr>
        <p:spPr>
          <a:xfrm>
            <a:off x="3794760" y="1965960"/>
            <a:ext cx="1645920" cy="402336"/>
          </a:xfrm>
          <a:prstGeom prst="roundRect">
            <a:avLst>
              <a:gd name="adj" fmla="val 11364"/>
            </a:avLst>
          </a:prstGeom>
          <a:solidFill>
            <a:srgbClr val="02C39A"/>
          </a:solidFill>
          <a:ln/>
        </p:spPr>
        <p:txBody>
          <a:bodyPr/>
          <a:p/>
        </p:txBody>
      </p:sp>
      <p:sp>
        <p:nvSpPr>
          <p:cNvPr id="26" name="Text 24"/>
          <p:cNvSpPr txBox="1"/>
          <p:nvPr/>
        </p:nvSpPr>
        <p:spPr>
          <a:xfrm>
            <a:off x="3794760" y="19659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frame 0  ·  F</a:t>
            </a:r>
            <a:endParaRPr lang="en-US" sz="1200" dirty="0"/>
          </a:p>
        </p:txBody>
      </p:sp>
      <p:sp>
        <p:nvSpPr>
          <p:cNvPr id="27" name="Shape 25"/>
          <p:cNvSpPr/>
          <p:nvPr/>
        </p:nvSpPr>
        <p:spPr>
          <a:xfrm>
            <a:off x="3794760" y="2423160"/>
            <a:ext cx="1645920" cy="402336"/>
          </a:xfrm>
          <a:prstGeom prst="roundRect">
            <a:avLst>
              <a:gd name="adj" fmla="val 11364"/>
            </a:avLst>
          </a:prstGeom>
          <a:solidFill>
            <a:srgbClr val="E4E8E9"/>
          </a:solidFill>
          <a:ln/>
        </p:spPr>
        <p:txBody>
          <a:bodyPr/>
          <a:p/>
        </p:txBody>
      </p:sp>
      <p:sp>
        <p:nvSpPr>
          <p:cNvPr id="28" name="Text 26"/>
          <p:cNvSpPr txBox="1"/>
          <p:nvPr/>
        </p:nvSpPr>
        <p:spPr>
          <a:xfrm>
            <a:off x="3794760" y="2423160"/>
            <a:ext cx="1645920" cy="402336"/>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other process</a:t>
            </a:r>
            <a:endParaRPr lang="en-US" sz="1200" dirty="0"/>
          </a:p>
        </p:txBody>
      </p:sp>
      <p:sp>
        <p:nvSpPr>
          <p:cNvPr id="29" name="Shape 27"/>
          <p:cNvSpPr/>
          <p:nvPr/>
        </p:nvSpPr>
        <p:spPr>
          <a:xfrm>
            <a:off x="3794760" y="2880360"/>
            <a:ext cx="1645920" cy="402336"/>
          </a:xfrm>
          <a:prstGeom prst="roundRect">
            <a:avLst>
              <a:gd name="adj" fmla="val 11364"/>
            </a:avLst>
          </a:prstGeom>
          <a:solidFill>
            <a:srgbClr val="02C39A"/>
          </a:solidFill>
          <a:ln/>
        </p:spPr>
        <p:txBody>
          <a:bodyPr/>
          <a:p/>
        </p:txBody>
      </p:sp>
      <p:sp>
        <p:nvSpPr>
          <p:cNvPr id="30" name="Text 28"/>
          <p:cNvSpPr txBox="1"/>
          <p:nvPr/>
        </p:nvSpPr>
        <p:spPr>
          <a:xfrm>
            <a:off x="3794760" y="28803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frame 2  ·  A</a:t>
            </a:r>
            <a:endParaRPr lang="en-US" sz="1200" dirty="0"/>
          </a:p>
        </p:txBody>
      </p:sp>
      <p:sp>
        <p:nvSpPr>
          <p:cNvPr id="31" name="Shape 29"/>
          <p:cNvSpPr/>
          <p:nvPr/>
        </p:nvSpPr>
        <p:spPr>
          <a:xfrm>
            <a:off x="3794760" y="3337560"/>
            <a:ext cx="1645920" cy="402336"/>
          </a:xfrm>
          <a:prstGeom prst="roundRect">
            <a:avLst>
              <a:gd name="adj" fmla="val 11364"/>
            </a:avLst>
          </a:prstGeom>
          <a:solidFill>
            <a:srgbClr val="E4E8E9"/>
          </a:solidFill>
          <a:ln/>
        </p:spPr>
        <p:txBody>
          <a:bodyPr/>
          <a:p/>
        </p:txBody>
      </p:sp>
      <p:sp>
        <p:nvSpPr>
          <p:cNvPr id="32" name="Text 30"/>
          <p:cNvSpPr txBox="1"/>
          <p:nvPr/>
        </p:nvSpPr>
        <p:spPr>
          <a:xfrm>
            <a:off x="3794760" y="3337560"/>
            <a:ext cx="1645920" cy="402336"/>
          </a:xfrm>
          <a:prstGeom prst="rect">
            <a:avLst/>
          </a:prstGeom>
          <a:noFill/>
          <a:ln/>
        </p:spPr>
        <p:txBody>
          <a:bodyPr wrap="square" lIns="38100" tIns="38100" rIns="38100" bIns="38100" rtlCol="0" anchor="ctr"/>
          <a:lstStyle/>
          <a:p>
            <a:pPr algn="ctr" indent="0" marL="0">
              <a:buNone/>
            </a:pPr>
            <a:r>
              <a:rPr lang="en-US" sz="1200" dirty="0">
                <a:solidFill>
                  <a:srgbClr val="6B7679"/>
                </a:solidFill>
                <a:latin typeface="Calibri" pitchFamily="34" charset="0"/>
                <a:ea typeface="Calibri" pitchFamily="34" charset="-122"/>
                <a:cs typeface="Calibri" pitchFamily="34" charset="-120"/>
              </a:rPr>
              <a:t>other process</a:t>
            </a:r>
            <a:endParaRPr lang="en-US" sz="1200" dirty="0"/>
          </a:p>
        </p:txBody>
      </p:sp>
      <p:sp>
        <p:nvSpPr>
          <p:cNvPr id="33" name="Shape 31"/>
          <p:cNvSpPr/>
          <p:nvPr/>
        </p:nvSpPr>
        <p:spPr>
          <a:xfrm>
            <a:off x="3794760" y="3794760"/>
            <a:ext cx="1645920" cy="402336"/>
          </a:xfrm>
          <a:prstGeom prst="roundRect">
            <a:avLst>
              <a:gd name="adj" fmla="val 11364"/>
            </a:avLst>
          </a:prstGeom>
          <a:solidFill>
            <a:srgbClr val="02C39A"/>
          </a:solidFill>
          <a:ln/>
        </p:spPr>
        <p:txBody>
          <a:bodyPr/>
          <a:p/>
        </p:txBody>
      </p:sp>
      <p:sp>
        <p:nvSpPr>
          <p:cNvPr id="34" name="Text 32"/>
          <p:cNvSpPr txBox="1"/>
          <p:nvPr/>
        </p:nvSpPr>
        <p:spPr>
          <a:xfrm>
            <a:off x="3794760" y="3794760"/>
            <a:ext cx="164592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frame 4  ·  C</a:t>
            </a:r>
            <a:endParaRPr lang="en-US" sz="1200" dirty="0"/>
          </a:p>
        </p:txBody>
      </p:sp>
      <p:sp>
        <p:nvSpPr>
          <p:cNvPr id="35" name="Shape 33"/>
          <p:cNvSpPr/>
          <p:nvPr/>
        </p:nvSpPr>
        <p:spPr>
          <a:xfrm>
            <a:off x="2304288" y="2167128"/>
            <a:ext cx="1472184" cy="914400"/>
          </a:xfrm>
          <a:prstGeom prst="line">
            <a:avLst/>
          </a:prstGeom>
          <a:noFill/>
          <a:ln w="19050">
            <a:solidFill>
              <a:srgbClr val="028090"/>
            </a:solidFill>
            <a:prstDash val="solid"/>
            <a:tailEnd type="triangle"/>
          </a:ln>
        </p:spPr>
        <p:txBody>
          <a:bodyPr/>
          <a:p/>
        </p:txBody>
      </p:sp>
      <p:sp>
        <p:nvSpPr>
          <p:cNvPr id="36" name="Shape 34"/>
          <p:cNvSpPr/>
          <p:nvPr/>
        </p:nvSpPr>
        <p:spPr>
          <a:xfrm>
            <a:off x="2304288" y="3081528"/>
            <a:ext cx="1472184" cy="914400"/>
          </a:xfrm>
          <a:prstGeom prst="line">
            <a:avLst/>
          </a:prstGeom>
          <a:noFill/>
          <a:ln w="19050">
            <a:solidFill>
              <a:srgbClr val="028090"/>
            </a:solidFill>
            <a:prstDash val="solid"/>
            <a:tailEnd type="triangle"/>
          </a:ln>
        </p:spPr>
        <p:txBody>
          <a:bodyPr/>
          <a:p/>
        </p:txBody>
      </p:sp>
      <p:sp>
        <p:nvSpPr>
          <p:cNvPr id="37" name="Shape 35"/>
          <p:cNvSpPr/>
          <p:nvPr/>
        </p:nvSpPr>
        <p:spPr>
          <a:xfrm flipV="1">
            <a:off x="2304288" y="2167128"/>
            <a:ext cx="1472184" cy="2286000"/>
          </a:xfrm>
          <a:prstGeom prst="line">
            <a:avLst/>
          </a:prstGeom>
          <a:noFill/>
          <a:ln w="19050">
            <a:solidFill>
              <a:srgbClr val="028090"/>
            </a:solidFill>
            <a:prstDash val="solid"/>
            <a:tailEnd type="triangle"/>
          </a:ln>
        </p:spPr>
        <p:txBody>
          <a:bodyPr/>
          <a:p/>
        </p:txBody>
      </p:sp>
      <p:sp>
        <p:nvSpPr>
          <p:cNvPr id="38" name="Shape 36"/>
          <p:cNvSpPr/>
          <p:nvPr/>
        </p:nvSpPr>
        <p:spPr>
          <a:xfrm>
            <a:off x="3749040" y="4480560"/>
            <a:ext cx="1737360" cy="1417320"/>
          </a:xfrm>
          <a:prstGeom prst="can">
            <a:avLst/>
          </a:prstGeom>
          <a:solidFill>
            <a:srgbClr val="50808E"/>
          </a:solidFill>
          <a:ln/>
        </p:spPr>
        <p:txBody>
          <a:bodyPr/>
          <a:p/>
        </p:txBody>
      </p:sp>
      <p:sp>
        <p:nvSpPr>
          <p:cNvPr id="39" name="Text 37"/>
          <p:cNvSpPr txBox="1"/>
          <p:nvPr/>
        </p:nvSpPr>
        <p:spPr>
          <a:xfrm>
            <a:off x="3749040" y="4764024"/>
            <a:ext cx="1737360" cy="113385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Disk</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backing store: B D E G H</a:t>
            </a:r>
            <a:endParaRPr lang="en-US" sz="1300" dirty="0"/>
          </a:p>
        </p:txBody>
      </p:sp>
      <p:sp>
        <p:nvSpPr>
          <p:cNvPr id="40" name="Shape 38"/>
          <p:cNvSpPr/>
          <p:nvPr/>
        </p:nvSpPr>
        <p:spPr>
          <a:xfrm>
            <a:off x="2304288" y="3566160"/>
            <a:ext cx="1444752" cy="1600200"/>
          </a:xfrm>
          <a:prstGeom prst="line">
            <a:avLst/>
          </a:prstGeom>
          <a:noFill/>
          <a:ln w="15875">
            <a:solidFill>
              <a:srgbClr val="50808E"/>
            </a:solidFill>
            <a:prstDash val="dash"/>
          </a:ln>
        </p:spPr>
        <p:txBody>
          <a:bodyPr/>
          <a:p/>
        </p:txBody>
      </p:sp>
      <p:sp>
        <p:nvSpPr>
          <p:cNvPr id="41" name="Shape 39"/>
          <p:cNvSpPr/>
          <p:nvPr/>
        </p:nvSpPr>
        <p:spPr>
          <a:xfrm>
            <a:off x="6035040" y="1508760"/>
            <a:ext cx="5623560" cy="4754880"/>
          </a:xfrm>
          <a:prstGeom prst="roundRect">
            <a:avLst>
              <a:gd name="adj" fmla="val 115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2" name="Text 40"/>
          <p:cNvSpPr txBox="1"/>
          <p:nvPr/>
        </p:nvSpPr>
        <p:spPr>
          <a:xfrm>
            <a:off x="6263640" y="1691640"/>
            <a:ext cx="51663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it works</a:t>
            </a:r>
            <a:endParaRPr lang="en-US" sz="1500" dirty="0"/>
          </a:p>
        </p:txBody>
      </p:sp>
      <p:sp>
        <p:nvSpPr>
          <p:cNvPr id="43" name="Text 41"/>
          <p:cNvSpPr txBox="1"/>
          <p:nvPr/>
        </p:nvSpPr>
        <p:spPr>
          <a:xfrm>
            <a:off x="6263640" y="2148840"/>
            <a:ext cx="5166360" cy="397764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Much of a program is rarely used: error handlers, unusual menu options, arrays declared larger than needed.</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Locality:</a:t>
            </a:r>
            <a:r>
              <a:rPr lang="en-US" sz="1500" dirty="0">
                <a:solidFill>
                  <a:srgbClr val="3A464C"/>
                </a:solidFill>
                <a:latin typeface="Calibri" pitchFamily="34" charset="0"/>
                <a:ea typeface="Calibri" pitchFamily="34" charset="-122"/>
                <a:cs typeface="Calibri" pitchFamily="34" charset="-120"/>
              </a:rPr>
              <a:t> in any short period, a program uses only a few of its pages.</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So:</a:t>
            </a:r>
            <a:r>
              <a:rPr lang="en-US" sz="1500" dirty="0">
                <a:solidFill>
                  <a:srgbClr val="3A464C"/>
                </a:solidFill>
                <a:latin typeface="Calibri" pitchFamily="34" charset="0"/>
                <a:ea typeface="Calibri" pitchFamily="34" charset="-122"/>
                <a:cs typeface="Calibri" pitchFamily="34" charset="-120"/>
              </a:rPr>
              <a:t> keep only the pages in use in RAM; the rest wait on disk.</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Benefits:</a:t>
            </a:r>
            <a:r>
              <a:rPr lang="en-US" sz="1500" dirty="0">
                <a:solidFill>
                  <a:srgbClr val="3A464C"/>
                </a:solidFill>
                <a:latin typeface="Calibri" pitchFamily="34" charset="0"/>
                <a:ea typeface="Calibri" pitchFamily="34" charset="-122"/>
                <a:cs typeface="Calibri" pitchFamily="34" charset="-120"/>
              </a:rPr>
              <a:t> programs larger than RAM can run; more processes fit in memory (higher CPU utilisation); programs start faster because less is loaded.</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DEMAND PAGING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Load Everything, or Load Only What Is Needed?</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Demand paging = paging + lazy loading: a page is brought into RAM only when it is first used.</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6</a:t>
            </a:r>
            <a:endParaRPr lang="en-US" sz="900" dirty="0"/>
          </a:p>
        </p:txBody>
      </p:sp>
      <p:sp>
        <p:nvSpPr>
          <p:cNvPr id="7" name="Shape 5"/>
          <p:cNvSpPr/>
          <p:nvPr/>
        </p:nvSpPr>
        <p:spPr>
          <a:xfrm>
            <a:off x="54864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98348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Eager: load the whole program</a:t>
            </a:r>
            <a:endParaRPr lang="en-US" sz="1500" dirty="0"/>
          </a:p>
        </p:txBody>
      </p:sp>
      <p:sp>
        <p:nvSpPr>
          <p:cNvPr id="9" name="Text 7"/>
          <p:cNvSpPr txBox="1"/>
          <p:nvPr/>
        </p:nvSpPr>
        <p:spPr>
          <a:xfrm>
            <a:off x="77724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All pages are read from disk before the program starts.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Slow start, even if the user only opens one menu.</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Wastes RAM on pages that are never used.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Fewer programs fit in memory at the same time.</a:t>
            </a:r>
            <a:endParaRPr lang="en-US" sz="1400" dirty="0"/>
          </a:p>
        </p:txBody>
      </p:sp>
      <p:sp>
        <p:nvSpPr>
          <p:cNvPr id="10" name="Shape 8"/>
          <p:cNvSpPr/>
          <p:nvPr/>
        </p:nvSpPr>
        <p:spPr>
          <a:xfrm>
            <a:off x="6217920" y="2103120"/>
            <a:ext cx="5440680" cy="31546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9"/>
          <p:cNvSpPr txBox="1"/>
          <p:nvPr/>
        </p:nvSpPr>
        <p:spPr>
          <a:xfrm>
            <a:off x="6446520" y="228600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Lazy: demand paging</a:t>
            </a:r>
            <a:endParaRPr lang="en-US" sz="1500" dirty="0"/>
          </a:p>
        </p:txBody>
      </p:sp>
      <p:sp>
        <p:nvSpPr>
          <p:cNvPr id="12" name="Text 10"/>
          <p:cNvSpPr txBox="1"/>
          <p:nvPr/>
        </p:nvSpPr>
        <p:spPr>
          <a:xfrm>
            <a:off x="6446520" y="2743200"/>
            <a:ext cx="4983480" cy="23774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Start with few (or zero) pages in RAM.</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Load a page the first time it is referenced.</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Less I/O, less memory, faster start, more processes.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Price: the first use of each page causes a page fault.</a:t>
            </a:r>
            <a:endParaRPr lang="en-US" sz="1400" dirty="0"/>
          </a:p>
        </p:txBody>
      </p:sp>
      <p:sp>
        <p:nvSpPr>
          <p:cNvPr id="13" name="Shape 11"/>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4" name="Text 12"/>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The part of the OS that moves pages between disk and RAM is the pager. "Pure" demand paging starts a program with no pages in memory at all.</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DEMAND PAGING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Valid–Invalid Bit: Is the Page in Memory?</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7</a:t>
            </a:r>
            <a:endParaRPr lang="en-US" sz="900" dirty="0"/>
          </a:p>
        </p:txBody>
      </p:sp>
      <p:sp>
        <p:nvSpPr>
          <p:cNvPr id="6" name="Text 4"/>
          <p:cNvSpPr txBox="1"/>
          <p:nvPr/>
        </p:nvSpPr>
        <p:spPr>
          <a:xfrm>
            <a:off x="548640" y="1508760"/>
            <a:ext cx="1371600" cy="41148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Logical memory</a:t>
            </a:r>
            <a:endParaRPr lang="en-US" sz="1200" dirty="0"/>
          </a:p>
        </p:txBody>
      </p:sp>
      <p:sp>
        <p:nvSpPr>
          <p:cNvPr id="7" name="Text 5"/>
          <p:cNvSpPr txBox="1"/>
          <p:nvPr/>
        </p:nvSpPr>
        <p:spPr>
          <a:xfrm>
            <a:off x="502920" y="19659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0</a:t>
            </a:r>
            <a:endParaRPr lang="en-US" sz="1100" dirty="0"/>
          </a:p>
        </p:txBody>
      </p:sp>
      <p:sp>
        <p:nvSpPr>
          <p:cNvPr id="8" name="Shape 6"/>
          <p:cNvSpPr/>
          <p:nvPr/>
        </p:nvSpPr>
        <p:spPr>
          <a:xfrm>
            <a:off x="777240" y="1965960"/>
            <a:ext cx="1097280" cy="402336"/>
          </a:xfrm>
          <a:prstGeom prst="roundRect">
            <a:avLst>
              <a:gd name="adj" fmla="val 11364"/>
            </a:avLst>
          </a:prstGeom>
          <a:solidFill>
            <a:srgbClr val="F2F2F2"/>
          </a:solidFill>
          <a:ln/>
        </p:spPr>
        <p:txBody>
          <a:bodyPr/>
          <a:p/>
        </p:txBody>
      </p:sp>
      <p:sp>
        <p:nvSpPr>
          <p:cNvPr id="9" name="Text 7"/>
          <p:cNvSpPr txBox="1"/>
          <p:nvPr/>
        </p:nvSpPr>
        <p:spPr>
          <a:xfrm>
            <a:off x="777240" y="19659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A</a:t>
            </a:r>
            <a:endParaRPr lang="en-US" sz="1400" dirty="0"/>
          </a:p>
        </p:txBody>
      </p:sp>
      <p:sp>
        <p:nvSpPr>
          <p:cNvPr id="10" name="Text 8"/>
          <p:cNvSpPr txBox="1"/>
          <p:nvPr/>
        </p:nvSpPr>
        <p:spPr>
          <a:xfrm>
            <a:off x="502920" y="24231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1</a:t>
            </a:r>
            <a:endParaRPr lang="en-US" sz="1100" dirty="0"/>
          </a:p>
        </p:txBody>
      </p:sp>
      <p:sp>
        <p:nvSpPr>
          <p:cNvPr id="11" name="Shape 9"/>
          <p:cNvSpPr/>
          <p:nvPr/>
        </p:nvSpPr>
        <p:spPr>
          <a:xfrm>
            <a:off x="777240" y="2423160"/>
            <a:ext cx="1097280" cy="402336"/>
          </a:xfrm>
          <a:prstGeom prst="roundRect">
            <a:avLst>
              <a:gd name="adj" fmla="val 11364"/>
            </a:avLst>
          </a:prstGeom>
          <a:solidFill>
            <a:srgbClr val="F2F2F2"/>
          </a:solidFill>
          <a:ln/>
        </p:spPr>
        <p:txBody>
          <a:bodyPr/>
          <a:p/>
        </p:txBody>
      </p:sp>
      <p:sp>
        <p:nvSpPr>
          <p:cNvPr id="12" name="Text 10"/>
          <p:cNvSpPr txBox="1"/>
          <p:nvPr/>
        </p:nvSpPr>
        <p:spPr>
          <a:xfrm>
            <a:off x="777240" y="24231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B</a:t>
            </a:r>
            <a:endParaRPr lang="en-US" sz="1400" dirty="0"/>
          </a:p>
        </p:txBody>
      </p:sp>
      <p:sp>
        <p:nvSpPr>
          <p:cNvPr id="13" name="Text 11"/>
          <p:cNvSpPr txBox="1"/>
          <p:nvPr/>
        </p:nvSpPr>
        <p:spPr>
          <a:xfrm>
            <a:off x="502920" y="28803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2</a:t>
            </a:r>
            <a:endParaRPr lang="en-US" sz="1100" dirty="0"/>
          </a:p>
        </p:txBody>
      </p:sp>
      <p:sp>
        <p:nvSpPr>
          <p:cNvPr id="14" name="Shape 12"/>
          <p:cNvSpPr/>
          <p:nvPr/>
        </p:nvSpPr>
        <p:spPr>
          <a:xfrm>
            <a:off x="777240" y="2880360"/>
            <a:ext cx="1097280" cy="402336"/>
          </a:xfrm>
          <a:prstGeom prst="roundRect">
            <a:avLst>
              <a:gd name="adj" fmla="val 11364"/>
            </a:avLst>
          </a:prstGeom>
          <a:solidFill>
            <a:srgbClr val="F2F2F2"/>
          </a:solidFill>
          <a:ln/>
        </p:spPr>
        <p:txBody>
          <a:bodyPr/>
          <a:p/>
        </p:txBody>
      </p:sp>
      <p:sp>
        <p:nvSpPr>
          <p:cNvPr id="15" name="Text 13"/>
          <p:cNvSpPr txBox="1"/>
          <p:nvPr/>
        </p:nvSpPr>
        <p:spPr>
          <a:xfrm>
            <a:off x="777240" y="28803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C</a:t>
            </a:r>
            <a:endParaRPr lang="en-US" sz="1400" dirty="0"/>
          </a:p>
        </p:txBody>
      </p:sp>
      <p:sp>
        <p:nvSpPr>
          <p:cNvPr id="16" name="Text 14"/>
          <p:cNvSpPr txBox="1"/>
          <p:nvPr/>
        </p:nvSpPr>
        <p:spPr>
          <a:xfrm>
            <a:off x="502920" y="33375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3</a:t>
            </a:r>
            <a:endParaRPr lang="en-US" sz="1100" dirty="0"/>
          </a:p>
        </p:txBody>
      </p:sp>
      <p:sp>
        <p:nvSpPr>
          <p:cNvPr id="17" name="Shape 15"/>
          <p:cNvSpPr/>
          <p:nvPr/>
        </p:nvSpPr>
        <p:spPr>
          <a:xfrm>
            <a:off x="777240" y="3337560"/>
            <a:ext cx="1097280" cy="402336"/>
          </a:xfrm>
          <a:prstGeom prst="roundRect">
            <a:avLst>
              <a:gd name="adj" fmla="val 11364"/>
            </a:avLst>
          </a:prstGeom>
          <a:solidFill>
            <a:srgbClr val="F2F2F2"/>
          </a:solidFill>
          <a:ln/>
        </p:spPr>
        <p:txBody>
          <a:bodyPr/>
          <a:p/>
        </p:txBody>
      </p:sp>
      <p:sp>
        <p:nvSpPr>
          <p:cNvPr id="18" name="Text 16"/>
          <p:cNvSpPr txBox="1"/>
          <p:nvPr/>
        </p:nvSpPr>
        <p:spPr>
          <a:xfrm>
            <a:off x="777240" y="33375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D</a:t>
            </a:r>
            <a:endParaRPr lang="en-US" sz="1400" dirty="0"/>
          </a:p>
        </p:txBody>
      </p:sp>
      <p:sp>
        <p:nvSpPr>
          <p:cNvPr id="19" name="Text 17"/>
          <p:cNvSpPr txBox="1"/>
          <p:nvPr/>
        </p:nvSpPr>
        <p:spPr>
          <a:xfrm>
            <a:off x="502920" y="37947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4</a:t>
            </a:r>
            <a:endParaRPr lang="en-US" sz="1100" dirty="0"/>
          </a:p>
        </p:txBody>
      </p:sp>
      <p:sp>
        <p:nvSpPr>
          <p:cNvPr id="20" name="Shape 18"/>
          <p:cNvSpPr/>
          <p:nvPr/>
        </p:nvSpPr>
        <p:spPr>
          <a:xfrm>
            <a:off x="777240" y="3794760"/>
            <a:ext cx="1097280" cy="402336"/>
          </a:xfrm>
          <a:prstGeom prst="roundRect">
            <a:avLst>
              <a:gd name="adj" fmla="val 11364"/>
            </a:avLst>
          </a:prstGeom>
          <a:solidFill>
            <a:srgbClr val="F2F2F2"/>
          </a:solidFill>
          <a:ln/>
        </p:spPr>
        <p:txBody>
          <a:bodyPr/>
          <a:p/>
        </p:txBody>
      </p:sp>
      <p:sp>
        <p:nvSpPr>
          <p:cNvPr id="21" name="Text 19"/>
          <p:cNvSpPr txBox="1"/>
          <p:nvPr/>
        </p:nvSpPr>
        <p:spPr>
          <a:xfrm>
            <a:off x="777240" y="37947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E</a:t>
            </a:r>
            <a:endParaRPr lang="en-US" sz="1400" dirty="0"/>
          </a:p>
        </p:txBody>
      </p:sp>
      <p:sp>
        <p:nvSpPr>
          <p:cNvPr id="22" name="Text 20"/>
          <p:cNvSpPr txBox="1"/>
          <p:nvPr/>
        </p:nvSpPr>
        <p:spPr>
          <a:xfrm>
            <a:off x="502920" y="42519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5</a:t>
            </a:r>
            <a:endParaRPr lang="en-US" sz="1100" dirty="0"/>
          </a:p>
        </p:txBody>
      </p:sp>
      <p:sp>
        <p:nvSpPr>
          <p:cNvPr id="23" name="Shape 21"/>
          <p:cNvSpPr/>
          <p:nvPr/>
        </p:nvSpPr>
        <p:spPr>
          <a:xfrm>
            <a:off x="777240" y="4251960"/>
            <a:ext cx="1097280" cy="402336"/>
          </a:xfrm>
          <a:prstGeom prst="roundRect">
            <a:avLst>
              <a:gd name="adj" fmla="val 11364"/>
            </a:avLst>
          </a:prstGeom>
          <a:solidFill>
            <a:srgbClr val="F2F2F2"/>
          </a:solidFill>
          <a:ln/>
        </p:spPr>
        <p:txBody>
          <a:bodyPr/>
          <a:p/>
        </p:txBody>
      </p:sp>
      <p:sp>
        <p:nvSpPr>
          <p:cNvPr id="24" name="Text 22"/>
          <p:cNvSpPr txBox="1"/>
          <p:nvPr/>
        </p:nvSpPr>
        <p:spPr>
          <a:xfrm>
            <a:off x="777240" y="42519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F</a:t>
            </a:r>
            <a:endParaRPr lang="en-US" sz="1400" dirty="0"/>
          </a:p>
        </p:txBody>
      </p:sp>
      <p:sp>
        <p:nvSpPr>
          <p:cNvPr id="25" name="Text 23"/>
          <p:cNvSpPr txBox="1"/>
          <p:nvPr/>
        </p:nvSpPr>
        <p:spPr>
          <a:xfrm>
            <a:off x="502920" y="47091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6</a:t>
            </a:r>
            <a:endParaRPr lang="en-US" sz="1100" dirty="0"/>
          </a:p>
        </p:txBody>
      </p:sp>
      <p:sp>
        <p:nvSpPr>
          <p:cNvPr id="26" name="Shape 24"/>
          <p:cNvSpPr/>
          <p:nvPr/>
        </p:nvSpPr>
        <p:spPr>
          <a:xfrm>
            <a:off x="777240" y="4709160"/>
            <a:ext cx="1097280" cy="402336"/>
          </a:xfrm>
          <a:prstGeom prst="roundRect">
            <a:avLst>
              <a:gd name="adj" fmla="val 11364"/>
            </a:avLst>
          </a:prstGeom>
          <a:solidFill>
            <a:srgbClr val="F2F2F2"/>
          </a:solidFill>
          <a:ln/>
        </p:spPr>
        <p:txBody>
          <a:bodyPr/>
          <a:p/>
        </p:txBody>
      </p:sp>
      <p:sp>
        <p:nvSpPr>
          <p:cNvPr id="27" name="Text 25"/>
          <p:cNvSpPr txBox="1"/>
          <p:nvPr/>
        </p:nvSpPr>
        <p:spPr>
          <a:xfrm>
            <a:off x="777240" y="47091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G</a:t>
            </a:r>
            <a:endParaRPr lang="en-US" sz="1400" dirty="0"/>
          </a:p>
        </p:txBody>
      </p:sp>
      <p:sp>
        <p:nvSpPr>
          <p:cNvPr id="28" name="Text 26"/>
          <p:cNvSpPr txBox="1"/>
          <p:nvPr/>
        </p:nvSpPr>
        <p:spPr>
          <a:xfrm>
            <a:off x="502920" y="5166360"/>
            <a:ext cx="274320" cy="402336"/>
          </a:xfrm>
          <a:prstGeom prst="rect">
            <a:avLst/>
          </a:prstGeom>
          <a:noFill/>
          <a:ln/>
        </p:spPr>
        <p:txBody>
          <a:bodyPr wrap="square" lIns="0" tIns="0" rIns="0" bIns="0" rtlCol="0" anchor="ctr"/>
          <a:lstStyle/>
          <a:p>
            <a:pPr indent="0" marL="0">
              <a:buNone/>
            </a:pPr>
            <a:r>
              <a:rPr lang="en-US" sz="1100" dirty="0">
                <a:solidFill>
                  <a:srgbClr val="6B7679"/>
                </a:solidFill>
                <a:latin typeface="Calibri" pitchFamily="34" charset="0"/>
                <a:ea typeface="Calibri" pitchFamily="34" charset="-122"/>
                <a:cs typeface="Calibri" pitchFamily="34" charset="-120"/>
              </a:rPr>
              <a:t>7</a:t>
            </a:r>
            <a:endParaRPr lang="en-US" sz="1100" dirty="0"/>
          </a:p>
        </p:txBody>
      </p:sp>
      <p:sp>
        <p:nvSpPr>
          <p:cNvPr id="29" name="Shape 27"/>
          <p:cNvSpPr/>
          <p:nvPr/>
        </p:nvSpPr>
        <p:spPr>
          <a:xfrm>
            <a:off x="777240" y="5166360"/>
            <a:ext cx="1097280" cy="402336"/>
          </a:xfrm>
          <a:prstGeom prst="roundRect">
            <a:avLst>
              <a:gd name="adj" fmla="val 11364"/>
            </a:avLst>
          </a:prstGeom>
          <a:solidFill>
            <a:srgbClr val="F2F2F2"/>
          </a:solidFill>
          <a:ln/>
        </p:spPr>
        <p:txBody>
          <a:bodyPr/>
          <a:p/>
        </p:txBody>
      </p:sp>
      <p:sp>
        <p:nvSpPr>
          <p:cNvPr id="30" name="Text 28"/>
          <p:cNvSpPr txBox="1"/>
          <p:nvPr/>
        </p:nvSpPr>
        <p:spPr>
          <a:xfrm>
            <a:off x="777240" y="5166360"/>
            <a:ext cx="1097280" cy="402336"/>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H</a:t>
            </a:r>
            <a:endParaRPr lang="en-US" sz="1400" dirty="0"/>
          </a:p>
        </p:txBody>
      </p:sp>
      <p:sp>
        <p:nvSpPr>
          <p:cNvPr id="31" name="Text 29"/>
          <p:cNvSpPr txBox="1"/>
          <p:nvPr/>
        </p:nvSpPr>
        <p:spPr>
          <a:xfrm>
            <a:off x="2377440" y="1508760"/>
            <a:ext cx="1737360" cy="41148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Page table</a:t>
            </a:r>
            <a:endParaRPr lang="en-US" sz="1200" dirty="0"/>
          </a:p>
        </p:txBody>
      </p:sp>
      <p:sp>
        <p:nvSpPr>
          <p:cNvPr id="32" name="Shape 30"/>
          <p:cNvSpPr/>
          <p:nvPr/>
        </p:nvSpPr>
        <p:spPr>
          <a:xfrm>
            <a:off x="2377440" y="1965960"/>
            <a:ext cx="1005840" cy="402336"/>
          </a:xfrm>
          <a:prstGeom prst="roundRect">
            <a:avLst>
              <a:gd name="adj" fmla="val 11364"/>
            </a:avLst>
          </a:prstGeom>
          <a:solidFill>
            <a:srgbClr val="36454F"/>
          </a:solidFill>
          <a:ln/>
        </p:spPr>
        <p:txBody>
          <a:bodyPr/>
          <a:p/>
        </p:txBody>
      </p:sp>
      <p:sp>
        <p:nvSpPr>
          <p:cNvPr id="33" name="Text 31"/>
          <p:cNvSpPr txBox="1"/>
          <p:nvPr/>
        </p:nvSpPr>
        <p:spPr>
          <a:xfrm>
            <a:off x="2377440" y="1965960"/>
            <a:ext cx="1005840" cy="402336"/>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34" name="Shape 32"/>
          <p:cNvSpPr/>
          <p:nvPr/>
        </p:nvSpPr>
        <p:spPr>
          <a:xfrm>
            <a:off x="3429000" y="1965960"/>
            <a:ext cx="685800" cy="402336"/>
          </a:xfrm>
          <a:prstGeom prst="roundRect">
            <a:avLst>
              <a:gd name="adj" fmla="val 11364"/>
            </a:avLst>
          </a:prstGeom>
          <a:solidFill>
            <a:srgbClr val="02C39A"/>
          </a:solidFill>
          <a:ln/>
        </p:spPr>
        <p:txBody>
          <a:bodyPr/>
          <a:p/>
        </p:txBody>
      </p:sp>
      <p:sp>
        <p:nvSpPr>
          <p:cNvPr id="35" name="Text 33"/>
          <p:cNvSpPr txBox="1"/>
          <p:nvPr/>
        </p:nvSpPr>
        <p:spPr>
          <a:xfrm>
            <a:off x="3429000" y="19659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v</a:t>
            </a:r>
            <a:endParaRPr lang="en-US" sz="1400" dirty="0"/>
          </a:p>
        </p:txBody>
      </p:sp>
      <p:sp>
        <p:nvSpPr>
          <p:cNvPr id="36" name="Shape 34"/>
          <p:cNvSpPr/>
          <p:nvPr/>
        </p:nvSpPr>
        <p:spPr>
          <a:xfrm>
            <a:off x="2377440" y="2423160"/>
            <a:ext cx="1005840" cy="402336"/>
          </a:xfrm>
          <a:prstGeom prst="roundRect">
            <a:avLst>
              <a:gd name="adj" fmla="val 11364"/>
            </a:avLst>
          </a:prstGeom>
          <a:solidFill>
            <a:srgbClr val="F2F2F2"/>
          </a:solidFill>
          <a:ln/>
        </p:spPr>
        <p:txBody>
          <a:bodyPr/>
          <a:p/>
        </p:txBody>
      </p:sp>
      <p:sp>
        <p:nvSpPr>
          <p:cNvPr id="37" name="Text 35"/>
          <p:cNvSpPr txBox="1"/>
          <p:nvPr/>
        </p:nvSpPr>
        <p:spPr>
          <a:xfrm>
            <a:off x="2377440" y="2423160"/>
            <a:ext cx="1005840" cy="402336"/>
          </a:xfrm>
          <a:prstGeom prst="rect">
            <a:avLst/>
          </a:prstGeom>
          <a:noFill/>
          <a:ln/>
        </p:spPr>
        <p:txBody>
          <a:bodyPr wrap="square" lIns="38100" tIns="38100" rIns="38100" bIns="38100" rtlCol="0" anchor="ctr"/>
          <a:lstStyle/>
          <a:p>
            <a:pPr algn="ctr" indent="0" marL="0">
              <a:buNone/>
            </a:pPr>
            <a:endParaRPr lang="en-US" sz="1400" dirty="0"/>
          </a:p>
        </p:txBody>
      </p:sp>
      <p:sp>
        <p:nvSpPr>
          <p:cNvPr id="38" name="Shape 36"/>
          <p:cNvSpPr/>
          <p:nvPr/>
        </p:nvSpPr>
        <p:spPr>
          <a:xfrm>
            <a:off x="3429000" y="2423160"/>
            <a:ext cx="685800" cy="402336"/>
          </a:xfrm>
          <a:prstGeom prst="roundRect">
            <a:avLst>
              <a:gd name="adj" fmla="val 11364"/>
            </a:avLst>
          </a:prstGeom>
          <a:solidFill>
            <a:srgbClr val="F3D9D6"/>
          </a:solidFill>
          <a:ln/>
        </p:spPr>
        <p:txBody>
          <a:bodyPr/>
          <a:p/>
        </p:txBody>
      </p:sp>
      <p:sp>
        <p:nvSpPr>
          <p:cNvPr id="39" name="Text 37"/>
          <p:cNvSpPr txBox="1"/>
          <p:nvPr/>
        </p:nvSpPr>
        <p:spPr>
          <a:xfrm>
            <a:off x="3429000" y="24231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i</a:t>
            </a:r>
            <a:endParaRPr lang="en-US" sz="1400" dirty="0"/>
          </a:p>
        </p:txBody>
      </p:sp>
      <p:sp>
        <p:nvSpPr>
          <p:cNvPr id="40" name="Shape 38"/>
          <p:cNvSpPr/>
          <p:nvPr/>
        </p:nvSpPr>
        <p:spPr>
          <a:xfrm>
            <a:off x="2377440" y="2880360"/>
            <a:ext cx="1005840" cy="402336"/>
          </a:xfrm>
          <a:prstGeom prst="roundRect">
            <a:avLst>
              <a:gd name="adj" fmla="val 11364"/>
            </a:avLst>
          </a:prstGeom>
          <a:solidFill>
            <a:srgbClr val="36454F"/>
          </a:solidFill>
          <a:ln/>
        </p:spPr>
        <p:txBody>
          <a:bodyPr/>
          <a:p/>
        </p:txBody>
      </p:sp>
      <p:sp>
        <p:nvSpPr>
          <p:cNvPr id="41" name="Text 39"/>
          <p:cNvSpPr txBox="1"/>
          <p:nvPr/>
        </p:nvSpPr>
        <p:spPr>
          <a:xfrm>
            <a:off x="2377440" y="2880360"/>
            <a:ext cx="1005840" cy="402336"/>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42" name="Shape 40"/>
          <p:cNvSpPr/>
          <p:nvPr/>
        </p:nvSpPr>
        <p:spPr>
          <a:xfrm>
            <a:off x="3429000" y="2880360"/>
            <a:ext cx="685800" cy="402336"/>
          </a:xfrm>
          <a:prstGeom prst="roundRect">
            <a:avLst>
              <a:gd name="adj" fmla="val 11364"/>
            </a:avLst>
          </a:prstGeom>
          <a:solidFill>
            <a:srgbClr val="02C39A"/>
          </a:solidFill>
          <a:ln/>
        </p:spPr>
        <p:txBody>
          <a:bodyPr/>
          <a:p/>
        </p:txBody>
      </p:sp>
      <p:sp>
        <p:nvSpPr>
          <p:cNvPr id="43" name="Text 41"/>
          <p:cNvSpPr txBox="1"/>
          <p:nvPr/>
        </p:nvSpPr>
        <p:spPr>
          <a:xfrm>
            <a:off x="3429000" y="28803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v</a:t>
            </a:r>
            <a:endParaRPr lang="en-US" sz="1400" dirty="0"/>
          </a:p>
        </p:txBody>
      </p:sp>
      <p:sp>
        <p:nvSpPr>
          <p:cNvPr id="44" name="Shape 42"/>
          <p:cNvSpPr/>
          <p:nvPr/>
        </p:nvSpPr>
        <p:spPr>
          <a:xfrm>
            <a:off x="2377440" y="3337560"/>
            <a:ext cx="1005840" cy="402336"/>
          </a:xfrm>
          <a:prstGeom prst="roundRect">
            <a:avLst>
              <a:gd name="adj" fmla="val 11364"/>
            </a:avLst>
          </a:prstGeom>
          <a:solidFill>
            <a:srgbClr val="F2F2F2"/>
          </a:solidFill>
          <a:ln/>
        </p:spPr>
        <p:txBody>
          <a:bodyPr/>
          <a:p/>
        </p:txBody>
      </p:sp>
      <p:sp>
        <p:nvSpPr>
          <p:cNvPr id="45" name="Text 43"/>
          <p:cNvSpPr txBox="1"/>
          <p:nvPr/>
        </p:nvSpPr>
        <p:spPr>
          <a:xfrm>
            <a:off x="2377440" y="3337560"/>
            <a:ext cx="1005840" cy="402336"/>
          </a:xfrm>
          <a:prstGeom prst="rect">
            <a:avLst/>
          </a:prstGeom>
          <a:noFill/>
          <a:ln/>
        </p:spPr>
        <p:txBody>
          <a:bodyPr wrap="square" lIns="38100" tIns="38100" rIns="38100" bIns="38100" rtlCol="0" anchor="ctr"/>
          <a:lstStyle/>
          <a:p>
            <a:pPr algn="ctr" indent="0" marL="0">
              <a:buNone/>
            </a:pPr>
            <a:endParaRPr lang="en-US" sz="1400" dirty="0"/>
          </a:p>
        </p:txBody>
      </p:sp>
      <p:sp>
        <p:nvSpPr>
          <p:cNvPr id="46" name="Shape 44"/>
          <p:cNvSpPr/>
          <p:nvPr/>
        </p:nvSpPr>
        <p:spPr>
          <a:xfrm>
            <a:off x="3429000" y="3337560"/>
            <a:ext cx="685800" cy="402336"/>
          </a:xfrm>
          <a:prstGeom prst="roundRect">
            <a:avLst>
              <a:gd name="adj" fmla="val 11364"/>
            </a:avLst>
          </a:prstGeom>
          <a:solidFill>
            <a:srgbClr val="F3D9D6"/>
          </a:solidFill>
          <a:ln/>
        </p:spPr>
        <p:txBody>
          <a:bodyPr/>
          <a:p/>
        </p:txBody>
      </p:sp>
      <p:sp>
        <p:nvSpPr>
          <p:cNvPr id="47" name="Text 45"/>
          <p:cNvSpPr txBox="1"/>
          <p:nvPr/>
        </p:nvSpPr>
        <p:spPr>
          <a:xfrm>
            <a:off x="3429000" y="33375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i</a:t>
            </a:r>
            <a:endParaRPr lang="en-US" sz="1400" dirty="0"/>
          </a:p>
        </p:txBody>
      </p:sp>
      <p:sp>
        <p:nvSpPr>
          <p:cNvPr id="48" name="Shape 46"/>
          <p:cNvSpPr/>
          <p:nvPr/>
        </p:nvSpPr>
        <p:spPr>
          <a:xfrm>
            <a:off x="2377440" y="3794760"/>
            <a:ext cx="1005840" cy="402336"/>
          </a:xfrm>
          <a:prstGeom prst="roundRect">
            <a:avLst>
              <a:gd name="adj" fmla="val 11364"/>
            </a:avLst>
          </a:prstGeom>
          <a:solidFill>
            <a:srgbClr val="F2F2F2"/>
          </a:solidFill>
          <a:ln/>
        </p:spPr>
        <p:txBody>
          <a:bodyPr/>
          <a:p/>
        </p:txBody>
      </p:sp>
      <p:sp>
        <p:nvSpPr>
          <p:cNvPr id="49" name="Text 47"/>
          <p:cNvSpPr txBox="1"/>
          <p:nvPr/>
        </p:nvSpPr>
        <p:spPr>
          <a:xfrm>
            <a:off x="2377440" y="3794760"/>
            <a:ext cx="1005840" cy="402336"/>
          </a:xfrm>
          <a:prstGeom prst="rect">
            <a:avLst/>
          </a:prstGeom>
          <a:noFill/>
          <a:ln/>
        </p:spPr>
        <p:txBody>
          <a:bodyPr wrap="square" lIns="38100" tIns="38100" rIns="38100" bIns="38100" rtlCol="0" anchor="ctr"/>
          <a:lstStyle/>
          <a:p>
            <a:pPr algn="ctr" indent="0" marL="0">
              <a:buNone/>
            </a:pPr>
            <a:endParaRPr lang="en-US" sz="1400" dirty="0"/>
          </a:p>
        </p:txBody>
      </p:sp>
      <p:sp>
        <p:nvSpPr>
          <p:cNvPr id="50" name="Shape 48"/>
          <p:cNvSpPr/>
          <p:nvPr/>
        </p:nvSpPr>
        <p:spPr>
          <a:xfrm>
            <a:off x="3429000" y="3794760"/>
            <a:ext cx="685800" cy="402336"/>
          </a:xfrm>
          <a:prstGeom prst="roundRect">
            <a:avLst>
              <a:gd name="adj" fmla="val 11364"/>
            </a:avLst>
          </a:prstGeom>
          <a:solidFill>
            <a:srgbClr val="F3D9D6"/>
          </a:solidFill>
          <a:ln/>
        </p:spPr>
        <p:txBody>
          <a:bodyPr/>
          <a:p/>
        </p:txBody>
      </p:sp>
      <p:sp>
        <p:nvSpPr>
          <p:cNvPr id="51" name="Text 49"/>
          <p:cNvSpPr txBox="1"/>
          <p:nvPr/>
        </p:nvSpPr>
        <p:spPr>
          <a:xfrm>
            <a:off x="3429000" y="37947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i</a:t>
            </a:r>
            <a:endParaRPr lang="en-US" sz="1400" dirty="0"/>
          </a:p>
        </p:txBody>
      </p:sp>
      <p:sp>
        <p:nvSpPr>
          <p:cNvPr id="52" name="Shape 50"/>
          <p:cNvSpPr/>
          <p:nvPr/>
        </p:nvSpPr>
        <p:spPr>
          <a:xfrm>
            <a:off x="2377440" y="4251960"/>
            <a:ext cx="1005840" cy="402336"/>
          </a:xfrm>
          <a:prstGeom prst="roundRect">
            <a:avLst>
              <a:gd name="adj" fmla="val 11364"/>
            </a:avLst>
          </a:prstGeom>
          <a:solidFill>
            <a:srgbClr val="36454F"/>
          </a:solidFill>
          <a:ln/>
        </p:spPr>
        <p:txBody>
          <a:bodyPr/>
          <a:p/>
        </p:txBody>
      </p:sp>
      <p:sp>
        <p:nvSpPr>
          <p:cNvPr id="53" name="Text 51"/>
          <p:cNvSpPr txBox="1"/>
          <p:nvPr/>
        </p:nvSpPr>
        <p:spPr>
          <a:xfrm>
            <a:off x="2377440" y="4251960"/>
            <a:ext cx="1005840" cy="402336"/>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9</a:t>
            </a:r>
            <a:endParaRPr lang="en-US" sz="1400" dirty="0"/>
          </a:p>
        </p:txBody>
      </p:sp>
      <p:sp>
        <p:nvSpPr>
          <p:cNvPr id="54" name="Shape 52"/>
          <p:cNvSpPr/>
          <p:nvPr/>
        </p:nvSpPr>
        <p:spPr>
          <a:xfrm>
            <a:off x="3429000" y="4251960"/>
            <a:ext cx="685800" cy="402336"/>
          </a:xfrm>
          <a:prstGeom prst="roundRect">
            <a:avLst>
              <a:gd name="adj" fmla="val 11364"/>
            </a:avLst>
          </a:prstGeom>
          <a:solidFill>
            <a:srgbClr val="02C39A"/>
          </a:solidFill>
          <a:ln/>
        </p:spPr>
        <p:txBody>
          <a:bodyPr/>
          <a:p/>
        </p:txBody>
      </p:sp>
      <p:sp>
        <p:nvSpPr>
          <p:cNvPr id="55" name="Text 53"/>
          <p:cNvSpPr txBox="1"/>
          <p:nvPr/>
        </p:nvSpPr>
        <p:spPr>
          <a:xfrm>
            <a:off x="3429000" y="42519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v</a:t>
            </a:r>
            <a:endParaRPr lang="en-US" sz="1400" dirty="0"/>
          </a:p>
        </p:txBody>
      </p:sp>
      <p:sp>
        <p:nvSpPr>
          <p:cNvPr id="56" name="Shape 54"/>
          <p:cNvSpPr/>
          <p:nvPr/>
        </p:nvSpPr>
        <p:spPr>
          <a:xfrm>
            <a:off x="2377440" y="4709160"/>
            <a:ext cx="1005840" cy="402336"/>
          </a:xfrm>
          <a:prstGeom prst="roundRect">
            <a:avLst>
              <a:gd name="adj" fmla="val 11364"/>
            </a:avLst>
          </a:prstGeom>
          <a:solidFill>
            <a:srgbClr val="F2F2F2"/>
          </a:solidFill>
          <a:ln/>
        </p:spPr>
        <p:txBody>
          <a:bodyPr/>
          <a:p/>
        </p:txBody>
      </p:sp>
      <p:sp>
        <p:nvSpPr>
          <p:cNvPr id="57" name="Text 55"/>
          <p:cNvSpPr txBox="1"/>
          <p:nvPr/>
        </p:nvSpPr>
        <p:spPr>
          <a:xfrm>
            <a:off x="2377440" y="4709160"/>
            <a:ext cx="1005840" cy="402336"/>
          </a:xfrm>
          <a:prstGeom prst="rect">
            <a:avLst/>
          </a:prstGeom>
          <a:noFill/>
          <a:ln/>
        </p:spPr>
        <p:txBody>
          <a:bodyPr wrap="square" lIns="38100" tIns="38100" rIns="38100" bIns="38100" rtlCol="0" anchor="ctr"/>
          <a:lstStyle/>
          <a:p>
            <a:pPr algn="ctr" indent="0" marL="0">
              <a:buNone/>
            </a:pPr>
            <a:endParaRPr lang="en-US" sz="1400" dirty="0"/>
          </a:p>
        </p:txBody>
      </p:sp>
      <p:sp>
        <p:nvSpPr>
          <p:cNvPr id="58" name="Shape 56"/>
          <p:cNvSpPr/>
          <p:nvPr/>
        </p:nvSpPr>
        <p:spPr>
          <a:xfrm>
            <a:off x="3429000" y="4709160"/>
            <a:ext cx="685800" cy="402336"/>
          </a:xfrm>
          <a:prstGeom prst="roundRect">
            <a:avLst>
              <a:gd name="adj" fmla="val 11364"/>
            </a:avLst>
          </a:prstGeom>
          <a:solidFill>
            <a:srgbClr val="F3D9D6"/>
          </a:solidFill>
          <a:ln/>
        </p:spPr>
        <p:txBody>
          <a:bodyPr/>
          <a:p/>
        </p:txBody>
      </p:sp>
      <p:sp>
        <p:nvSpPr>
          <p:cNvPr id="59" name="Text 57"/>
          <p:cNvSpPr txBox="1"/>
          <p:nvPr/>
        </p:nvSpPr>
        <p:spPr>
          <a:xfrm>
            <a:off x="3429000" y="47091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i</a:t>
            </a:r>
            <a:endParaRPr lang="en-US" sz="1400" dirty="0"/>
          </a:p>
        </p:txBody>
      </p:sp>
      <p:sp>
        <p:nvSpPr>
          <p:cNvPr id="60" name="Shape 58"/>
          <p:cNvSpPr/>
          <p:nvPr/>
        </p:nvSpPr>
        <p:spPr>
          <a:xfrm>
            <a:off x="2377440" y="5166360"/>
            <a:ext cx="1005840" cy="402336"/>
          </a:xfrm>
          <a:prstGeom prst="roundRect">
            <a:avLst>
              <a:gd name="adj" fmla="val 11364"/>
            </a:avLst>
          </a:prstGeom>
          <a:solidFill>
            <a:srgbClr val="F2F2F2"/>
          </a:solidFill>
          <a:ln/>
        </p:spPr>
        <p:txBody>
          <a:bodyPr/>
          <a:p/>
        </p:txBody>
      </p:sp>
      <p:sp>
        <p:nvSpPr>
          <p:cNvPr id="61" name="Text 59"/>
          <p:cNvSpPr txBox="1"/>
          <p:nvPr/>
        </p:nvSpPr>
        <p:spPr>
          <a:xfrm>
            <a:off x="2377440" y="5166360"/>
            <a:ext cx="1005840" cy="402336"/>
          </a:xfrm>
          <a:prstGeom prst="rect">
            <a:avLst/>
          </a:prstGeom>
          <a:noFill/>
          <a:ln/>
        </p:spPr>
        <p:txBody>
          <a:bodyPr wrap="square" lIns="38100" tIns="38100" rIns="38100" bIns="38100" rtlCol="0" anchor="ctr"/>
          <a:lstStyle/>
          <a:p>
            <a:pPr algn="ctr" indent="0" marL="0">
              <a:buNone/>
            </a:pPr>
            <a:endParaRPr lang="en-US" sz="1400" dirty="0"/>
          </a:p>
        </p:txBody>
      </p:sp>
      <p:sp>
        <p:nvSpPr>
          <p:cNvPr id="62" name="Shape 60"/>
          <p:cNvSpPr/>
          <p:nvPr/>
        </p:nvSpPr>
        <p:spPr>
          <a:xfrm>
            <a:off x="3429000" y="5166360"/>
            <a:ext cx="685800" cy="402336"/>
          </a:xfrm>
          <a:prstGeom prst="roundRect">
            <a:avLst>
              <a:gd name="adj" fmla="val 11364"/>
            </a:avLst>
          </a:prstGeom>
          <a:solidFill>
            <a:srgbClr val="F3D9D6"/>
          </a:solidFill>
          <a:ln/>
        </p:spPr>
        <p:txBody>
          <a:bodyPr/>
          <a:p/>
        </p:txBody>
      </p:sp>
      <p:sp>
        <p:nvSpPr>
          <p:cNvPr id="63" name="Text 61"/>
          <p:cNvSpPr txBox="1"/>
          <p:nvPr/>
        </p:nvSpPr>
        <p:spPr>
          <a:xfrm>
            <a:off x="3429000" y="5166360"/>
            <a:ext cx="685800" cy="402336"/>
          </a:xfrm>
          <a:prstGeom prst="rect">
            <a:avLst/>
          </a:prstGeom>
          <a:noFill/>
          <a:ln/>
        </p:spPr>
        <p:txBody>
          <a:bodyPr wrap="square" lIns="38100" tIns="38100" rIns="38100" bIns="3810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i</a:t>
            </a:r>
            <a:endParaRPr lang="en-US" sz="1400" dirty="0"/>
          </a:p>
        </p:txBody>
      </p:sp>
      <p:sp>
        <p:nvSpPr>
          <p:cNvPr id="64" name="Text 62"/>
          <p:cNvSpPr txBox="1"/>
          <p:nvPr/>
        </p:nvSpPr>
        <p:spPr>
          <a:xfrm>
            <a:off x="2468880" y="5623560"/>
            <a:ext cx="1737360" cy="274320"/>
          </a:xfrm>
          <a:prstGeom prst="rect">
            <a:avLst/>
          </a:prstGeom>
          <a:noFill/>
          <a:ln/>
        </p:spPr>
        <p:txBody>
          <a:bodyPr wrap="square" lIns="0" tIns="0" rIns="0" bIns="0" rtlCol="0" anchor="t"/>
          <a:lstStyle/>
          <a:p>
            <a:pPr indent="0" marL="0">
              <a:buNone/>
            </a:pPr>
            <a:r>
              <a:rPr lang="en-US" sz="1050" i="1" dirty="0">
                <a:solidFill>
                  <a:srgbClr val="6B7679"/>
                </a:solidFill>
                <a:latin typeface="Calibri" pitchFamily="34" charset="0"/>
                <a:ea typeface="Calibri" pitchFamily="34" charset="-122"/>
                <a:cs typeface="Calibri" pitchFamily="34" charset="-120"/>
              </a:rPr>
              <a:t>frame       bit</a:t>
            </a:r>
            <a:endParaRPr lang="en-US" sz="1050" dirty="0"/>
          </a:p>
        </p:txBody>
      </p:sp>
      <p:sp>
        <p:nvSpPr>
          <p:cNvPr id="65" name="Text 63"/>
          <p:cNvSpPr txBox="1"/>
          <p:nvPr/>
        </p:nvSpPr>
        <p:spPr>
          <a:xfrm>
            <a:off x="4754880" y="1508760"/>
            <a:ext cx="1463040" cy="411480"/>
          </a:xfrm>
          <a:prstGeom prst="rect">
            <a:avLst/>
          </a:prstGeom>
          <a:noFill/>
          <a:ln/>
        </p:spPr>
        <p:txBody>
          <a:bodyPr wrap="square" lIns="0" tIns="0" rIns="0" bIns="0" rtlCol="0" anchor="b"/>
          <a:lstStyle/>
          <a:p>
            <a:pPr algn="ctr" indent="0" marL="0">
              <a:buNone/>
            </a:pPr>
            <a:r>
              <a:rPr lang="en-US" sz="1200" b="1" dirty="0">
                <a:solidFill>
                  <a:srgbClr val="36454F"/>
                </a:solidFill>
                <a:latin typeface="Calibri" pitchFamily="34" charset="0"/>
                <a:ea typeface="Calibri" pitchFamily="34" charset="-122"/>
                <a:cs typeface="Calibri" pitchFamily="34" charset="-120"/>
              </a:rPr>
              <a:t>Physical memory</a:t>
            </a:r>
            <a:endParaRPr lang="en-US" sz="1200" dirty="0"/>
          </a:p>
        </p:txBody>
      </p:sp>
      <p:sp>
        <p:nvSpPr>
          <p:cNvPr id="66" name="Text 64"/>
          <p:cNvSpPr txBox="1"/>
          <p:nvPr/>
        </p:nvSpPr>
        <p:spPr>
          <a:xfrm>
            <a:off x="4462272" y="196596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0</a:t>
            </a:r>
            <a:endParaRPr lang="en-US" sz="1000" dirty="0"/>
          </a:p>
        </p:txBody>
      </p:sp>
      <p:sp>
        <p:nvSpPr>
          <p:cNvPr id="67" name="Shape 65"/>
          <p:cNvSpPr/>
          <p:nvPr/>
        </p:nvSpPr>
        <p:spPr>
          <a:xfrm>
            <a:off x="4754880" y="1965960"/>
            <a:ext cx="1371600" cy="320040"/>
          </a:xfrm>
          <a:prstGeom prst="roundRect">
            <a:avLst>
              <a:gd name="adj" fmla="val 14286"/>
            </a:avLst>
          </a:prstGeom>
          <a:solidFill>
            <a:srgbClr val="F2F2F2"/>
          </a:solidFill>
          <a:ln/>
        </p:spPr>
        <p:txBody>
          <a:bodyPr/>
          <a:p/>
        </p:txBody>
      </p:sp>
      <p:sp>
        <p:nvSpPr>
          <p:cNvPr id="68" name="Text 66"/>
          <p:cNvSpPr txBox="1"/>
          <p:nvPr/>
        </p:nvSpPr>
        <p:spPr>
          <a:xfrm>
            <a:off x="4754880" y="196596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69" name="Text 67"/>
          <p:cNvSpPr txBox="1"/>
          <p:nvPr/>
        </p:nvSpPr>
        <p:spPr>
          <a:xfrm>
            <a:off x="4462272" y="233172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1</a:t>
            </a:r>
            <a:endParaRPr lang="en-US" sz="1000" dirty="0"/>
          </a:p>
        </p:txBody>
      </p:sp>
      <p:sp>
        <p:nvSpPr>
          <p:cNvPr id="70" name="Shape 68"/>
          <p:cNvSpPr/>
          <p:nvPr/>
        </p:nvSpPr>
        <p:spPr>
          <a:xfrm>
            <a:off x="4754880" y="2331720"/>
            <a:ext cx="1371600" cy="320040"/>
          </a:xfrm>
          <a:prstGeom prst="roundRect">
            <a:avLst>
              <a:gd name="adj" fmla="val 14286"/>
            </a:avLst>
          </a:prstGeom>
          <a:solidFill>
            <a:srgbClr val="F2F2F2"/>
          </a:solidFill>
          <a:ln/>
        </p:spPr>
        <p:txBody>
          <a:bodyPr/>
          <a:p/>
        </p:txBody>
      </p:sp>
      <p:sp>
        <p:nvSpPr>
          <p:cNvPr id="71" name="Text 69"/>
          <p:cNvSpPr txBox="1"/>
          <p:nvPr/>
        </p:nvSpPr>
        <p:spPr>
          <a:xfrm>
            <a:off x="4754880" y="233172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72" name="Text 70"/>
          <p:cNvSpPr txBox="1"/>
          <p:nvPr/>
        </p:nvSpPr>
        <p:spPr>
          <a:xfrm>
            <a:off x="4462272" y="269748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2</a:t>
            </a:r>
            <a:endParaRPr lang="en-US" sz="1000" dirty="0"/>
          </a:p>
        </p:txBody>
      </p:sp>
      <p:sp>
        <p:nvSpPr>
          <p:cNvPr id="73" name="Shape 71"/>
          <p:cNvSpPr/>
          <p:nvPr/>
        </p:nvSpPr>
        <p:spPr>
          <a:xfrm>
            <a:off x="4754880" y="2697480"/>
            <a:ext cx="1371600" cy="320040"/>
          </a:xfrm>
          <a:prstGeom prst="roundRect">
            <a:avLst>
              <a:gd name="adj" fmla="val 14286"/>
            </a:avLst>
          </a:prstGeom>
          <a:solidFill>
            <a:srgbClr val="F2F2F2"/>
          </a:solidFill>
          <a:ln/>
        </p:spPr>
        <p:txBody>
          <a:bodyPr/>
          <a:p/>
        </p:txBody>
      </p:sp>
      <p:sp>
        <p:nvSpPr>
          <p:cNvPr id="74" name="Text 72"/>
          <p:cNvSpPr txBox="1"/>
          <p:nvPr/>
        </p:nvSpPr>
        <p:spPr>
          <a:xfrm>
            <a:off x="4754880" y="269748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75" name="Text 73"/>
          <p:cNvSpPr txBox="1"/>
          <p:nvPr/>
        </p:nvSpPr>
        <p:spPr>
          <a:xfrm>
            <a:off x="4462272" y="306324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3</a:t>
            </a:r>
            <a:endParaRPr lang="en-US" sz="1000" dirty="0"/>
          </a:p>
        </p:txBody>
      </p:sp>
      <p:sp>
        <p:nvSpPr>
          <p:cNvPr id="76" name="Shape 74"/>
          <p:cNvSpPr/>
          <p:nvPr/>
        </p:nvSpPr>
        <p:spPr>
          <a:xfrm>
            <a:off x="4754880" y="3063240"/>
            <a:ext cx="1371600" cy="320040"/>
          </a:xfrm>
          <a:prstGeom prst="roundRect">
            <a:avLst>
              <a:gd name="adj" fmla="val 14286"/>
            </a:avLst>
          </a:prstGeom>
          <a:solidFill>
            <a:srgbClr val="F2F2F2"/>
          </a:solidFill>
          <a:ln/>
        </p:spPr>
        <p:txBody>
          <a:bodyPr/>
          <a:p/>
        </p:txBody>
      </p:sp>
      <p:sp>
        <p:nvSpPr>
          <p:cNvPr id="77" name="Text 75"/>
          <p:cNvSpPr txBox="1"/>
          <p:nvPr/>
        </p:nvSpPr>
        <p:spPr>
          <a:xfrm>
            <a:off x="4754880" y="306324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78" name="Text 76"/>
          <p:cNvSpPr txBox="1"/>
          <p:nvPr/>
        </p:nvSpPr>
        <p:spPr>
          <a:xfrm>
            <a:off x="4462272" y="342900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4</a:t>
            </a:r>
            <a:endParaRPr lang="en-US" sz="1000" dirty="0"/>
          </a:p>
        </p:txBody>
      </p:sp>
      <p:sp>
        <p:nvSpPr>
          <p:cNvPr id="79" name="Shape 77"/>
          <p:cNvSpPr/>
          <p:nvPr/>
        </p:nvSpPr>
        <p:spPr>
          <a:xfrm>
            <a:off x="4754880" y="3429000"/>
            <a:ext cx="1371600" cy="320040"/>
          </a:xfrm>
          <a:prstGeom prst="roundRect">
            <a:avLst>
              <a:gd name="adj" fmla="val 14286"/>
            </a:avLst>
          </a:prstGeom>
          <a:solidFill>
            <a:srgbClr val="02C39A"/>
          </a:solidFill>
          <a:ln/>
        </p:spPr>
        <p:txBody>
          <a:bodyPr/>
          <a:p/>
        </p:txBody>
      </p:sp>
      <p:sp>
        <p:nvSpPr>
          <p:cNvPr id="80" name="Text 78"/>
          <p:cNvSpPr txBox="1"/>
          <p:nvPr/>
        </p:nvSpPr>
        <p:spPr>
          <a:xfrm>
            <a:off x="4754880" y="3429000"/>
            <a:ext cx="1371600" cy="32004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A</a:t>
            </a:r>
            <a:endParaRPr lang="en-US" sz="1300" dirty="0"/>
          </a:p>
        </p:txBody>
      </p:sp>
      <p:sp>
        <p:nvSpPr>
          <p:cNvPr id="81" name="Text 79"/>
          <p:cNvSpPr txBox="1"/>
          <p:nvPr/>
        </p:nvSpPr>
        <p:spPr>
          <a:xfrm>
            <a:off x="4462272" y="379476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5</a:t>
            </a:r>
            <a:endParaRPr lang="en-US" sz="1000" dirty="0"/>
          </a:p>
        </p:txBody>
      </p:sp>
      <p:sp>
        <p:nvSpPr>
          <p:cNvPr id="82" name="Shape 80"/>
          <p:cNvSpPr/>
          <p:nvPr/>
        </p:nvSpPr>
        <p:spPr>
          <a:xfrm>
            <a:off x="4754880" y="3794760"/>
            <a:ext cx="1371600" cy="320040"/>
          </a:xfrm>
          <a:prstGeom prst="roundRect">
            <a:avLst>
              <a:gd name="adj" fmla="val 14286"/>
            </a:avLst>
          </a:prstGeom>
          <a:solidFill>
            <a:srgbClr val="F2F2F2"/>
          </a:solidFill>
          <a:ln/>
        </p:spPr>
        <p:txBody>
          <a:bodyPr/>
          <a:p/>
        </p:txBody>
      </p:sp>
      <p:sp>
        <p:nvSpPr>
          <p:cNvPr id="83" name="Text 81"/>
          <p:cNvSpPr txBox="1"/>
          <p:nvPr/>
        </p:nvSpPr>
        <p:spPr>
          <a:xfrm>
            <a:off x="4754880" y="379476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84" name="Text 82"/>
          <p:cNvSpPr txBox="1"/>
          <p:nvPr/>
        </p:nvSpPr>
        <p:spPr>
          <a:xfrm>
            <a:off x="4462272" y="416052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6</a:t>
            </a:r>
            <a:endParaRPr lang="en-US" sz="1000" dirty="0"/>
          </a:p>
        </p:txBody>
      </p:sp>
      <p:sp>
        <p:nvSpPr>
          <p:cNvPr id="85" name="Shape 83"/>
          <p:cNvSpPr/>
          <p:nvPr/>
        </p:nvSpPr>
        <p:spPr>
          <a:xfrm>
            <a:off x="4754880" y="4160520"/>
            <a:ext cx="1371600" cy="320040"/>
          </a:xfrm>
          <a:prstGeom prst="roundRect">
            <a:avLst>
              <a:gd name="adj" fmla="val 14286"/>
            </a:avLst>
          </a:prstGeom>
          <a:solidFill>
            <a:srgbClr val="02C39A"/>
          </a:solidFill>
          <a:ln/>
        </p:spPr>
        <p:txBody>
          <a:bodyPr/>
          <a:p/>
        </p:txBody>
      </p:sp>
      <p:sp>
        <p:nvSpPr>
          <p:cNvPr id="86" name="Text 84"/>
          <p:cNvSpPr txBox="1"/>
          <p:nvPr/>
        </p:nvSpPr>
        <p:spPr>
          <a:xfrm>
            <a:off x="4754880" y="4160520"/>
            <a:ext cx="1371600" cy="32004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C</a:t>
            </a:r>
            <a:endParaRPr lang="en-US" sz="1300" dirty="0"/>
          </a:p>
        </p:txBody>
      </p:sp>
      <p:sp>
        <p:nvSpPr>
          <p:cNvPr id="87" name="Text 85"/>
          <p:cNvSpPr txBox="1"/>
          <p:nvPr/>
        </p:nvSpPr>
        <p:spPr>
          <a:xfrm>
            <a:off x="4462272" y="452628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7</a:t>
            </a:r>
            <a:endParaRPr lang="en-US" sz="1000" dirty="0"/>
          </a:p>
        </p:txBody>
      </p:sp>
      <p:sp>
        <p:nvSpPr>
          <p:cNvPr id="88" name="Shape 86"/>
          <p:cNvSpPr/>
          <p:nvPr/>
        </p:nvSpPr>
        <p:spPr>
          <a:xfrm>
            <a:off x="4754880" y="4526280"/>
            <a:ext cx="1371600" cy="320040"/>
          </a:xfrm>
          <a:prstGeom prst="roundRect">
            <a:avLst>
              <a:gd name="adj" fmla="val 14286"/>
            </a:avLst>
          </a:prstGeom>
          <a:solidFill>
            <a:srgbClr val="F2F2F2"/>
          </a:solidFill>
          <a:ln/>
        </p:spPr>
        <p:txBody>
          <a:bodyPr/>
          <a:p/>
        </p:txBody>
      </p:sp>
      <p:sp>
        <p:nvSpPr>
          <p:cNvPr id="89" name="Text 87"/>
          <p:cNvSpPr txBox="1"/>
          <p:nvPr/>
        </p:nvSpPr>
        <p:spPr>
          <a:xfrm>
            <a:off x="4754880" y="452628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90" name="Text 88"/>
          <p:cNvSpPr txBox="1"/>
          <p:nvPr/>
        </p:nvSpPr>
        <p:spPr>
          <a:xfrm>
            <a:off x="4462272" y="489204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8</a:t>
            </a:r>
            <a:endParaRPr lang="en-US" sz="1000" dirty="0"/>
          </a:p>
        </p:txBody>
      </p:sp>
      <p:sp>
        <p:nvSpPr>
          <p:cNvPr id="91" name="Shape 89"/>
          <p:cNvSpPr/>
          <p:nvPr/>
        </p:nvSpPr>
        <p:spPr>
          <a:xfrm>
            <a:off x="4754880" y="4892040"/>
            <a:ext cx="1371600" cy="320040"/>
          </a:xfrm>
          <a:prstGeom prst="roundRect">
            <a:avLst>
              <a:gd name="adj" fmla="val 14286"/>
            </a:avLst>
          </a:prstGeom>
          <a:solidFill>
            <a:srgbClr val="F2F2F2"/>
          </a:solidFill>
          <a:ln/>
        </p:spPr>
        <p:txBody>
          <a:bodyPr/>
          <a:p/>
        </p:txBody>
      </p:sp>
      <p:sp>
        <p:nvSpPr>
          <p:cNvPr id="92" name="Text 90"/>
          <p:cNvSpPr txBox="1"/>
          <p:nvPr/>
        </p:nvSpPr>
        <p:spPr>
          <a:xfrm>
            <a:off x="4754880" y="4892040"/>
            <a:ext cx="1371600" cy="320040"/>
          </a:xfrm>
          <a:prstGeom prst="rect">
            <a:avLst/>
          </a:prstGeom>
          <a:noFill/>
          <a:ln/>
        </p:spPr>
        <p:txBody>
          <a:bodyPr wrap="square" lIns="38100" tIns="38100" rIns="38100" bIns="38100" rtlCol="0" anchor="ctr"/>
          <a:lstStyle/>
          <a:p>
            <a:pPr algn="ctr" indent="0" marL="0">
              <a:buNone/>
            </a:pPr>
            <a:endParaRPr lang="en-US" sz="1300" dirty="0"/>
          </a:p>
        </p:txBody>
      </p:sp>
      <p:sp>
        <p:nvSpPr>
          <p:cNvPr id="93" name="Text 91"/>
          <p:cNvSpPr txBox="1"/>
          <p:nvPr/>
        </p:nvSpPr>
        <p:spPr>
          <a:xfrm>
            <a:off x="4462272" y="5257800"/>
            <a:ext cx="274320" cy="320040"/>
          </a:xfrm>
          <a:prstGeom prst="rect">
            <a:avLst/>
          </a:prstGeom>
          <a:noFill/>
          <a:ln/>
        </p:spPr>
        <p:txBody>
          <a:bodyPr wrap="square" lIns="0" tIns="0" rIns="0" bIns="0" rtlCol="0" anchor="ctr"/>
          <a:lstStyle/>
          <a:p>
            <a:pPr algn="r" indent="0" marL="0">
              <a:buNone/>
            </a:pPr>
            <a:r>
              <a:rPr lang="en-US" sz="1000" dirty="0">
                <a:solidFill>
                  <a:srgbClr val="6B7679"/>
                </a:solidFill>
                <a:latin typeface="Calibri" pitchFamily="34" charset="0"/>
                <a:ea typeface="Calibri" pitchFamily="34" charset="-122"/>
                <a:cs typeface="Calibri" pitchFamily="34" charset="-120"/>
              </a:rPr>
              <a:t>9</a:t>
            </a:r>
            <a:endParaRPr lang="en-US" sz="1000" dirty="0"/>
          </a:p>
        </p:txBody>
      </p:sp>
      <p:sp>
        <p:nvSpPr>
          <p:cNvPr id="94" name="Shape 92"/>
          <p:cNvSpPr/>
          <p:nvPr/>
        </p:nvSpPr>
        <p:spPr>
          <a:xfrm>
            <a:off x="4754880" y="5257800"/>
            <a:ext cx="1371600" cy="320040"/>
          </a:xfrm>
          <a:prstGeom prst="roundRect">
            <a:avLst>
              <a:gd name="adj" fmla="val 14286"/>
            </a:avLst>
          </a:prstGeom>
          <a:solidFill>
            <a:srgbClr val="02C39A"/>
          </a:solidFill>
          <a:ln/>
        </p:spPr>
        <p:txBody>
          <a:bodyPr/>
          <a:p/>
        </p:txBody>
      </p:sp>
      <p:sp>
        <p:nvSpPr>
          <p:cNvPr id="95" name="Text 93"/>
          <p:cNvSpPr txBox="1"/>
          <p:nvPr/>
        </p:nvSpPr>
        <p:spPr>
          <a:xfrm>
            <a:off x="4754880" y="5257800"/>
            <a:ext cx="1371600" cy="32004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F</a:t>
            </a:r>
            <a:endParaRPr lang="en-US" sz="1300" dirty="0"/>
          </a:p>
        </p:txBody>
      </p:sp>
      <p:sp>
        <p:nvSpPr>
          <p:cNvPr id="96" name="Shape 94"/>
          <p:cNvSpPr/>
          <p:nvPr/>
        </p:nvSpPr>
        <p:spPr>
          <a:xfrm>
            <a:off x="6446520" y="2377440"/>
            <a:ext cx="1600200" cy="2377440"/>
          </a:xfrm>
          <a:prstGeom prst="can">
            <a:avLst/>
          </a:prstGeom>
          <a:solidFill>
            <a:srgbClr val="50808E"/>
          </a:solidFill>
          <a:ln/>
        </p:spPr>
        <p:txBody>
          <a:bodyPr/>
          <a:p/>
        </p:txBody>
      </p:sp>
      <p:sp>
        <p:nvSpPr>
          <p:cNvPr id="97" name="Text 95"/>
          <p:cNvSpPr txBox="1"/>
          <p:nvPr/>
        </p:nvSpPr>
        <p:spPr>
          <a:xfrm>
            <a:off x="6446520" y="2852928"/>
            <a:ext cx="1600200" cy="190195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Disk</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A B C D</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E F G H</a:t>
            </a:r>
            <a:endParaRPr lang="en-US" sz="1300" dirty="0"/>
          </a:p>
        </p:txBody>
      </p:sp>
      <p:sp>
        <p:nvSpPr>
          <p:cNvPr id="98" name="Shape 96"/>
          <p:cNvSpPr/>
          <p:nvPr/>
        </p:nvSpPr>
        <p:spPr>
          <a:xfrm>
            <a:off x="8366760" y="1508760"/>
            <a:ext cx="3291840" cy="4754880"/>
          </a:xfrm>
          <a:prstGeom prst="roundRect">
            <a:avLst>
              <a:gd name="adj" fmla="val 1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9" name="Text 97"/>
          <p:cNvSpPr txBox="1"/>
          <p:nvPr/>
        </p:nvSpPr>
        <p:spPr>
          <a:xfrm>
            <a:off x="8595360" y="1691640"/>
            <a:ext cx="28346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Reading the bit</a:t>
            </a:r>
            <a:endParaRPr lang="en-US" sz="1500" dirty="0"/>
          </a:p>
        </p:txBody>
      </p:sp>
      <p:sp>
        <p:nvSpPr>
          <p:cNvPr id="100" name="Text 98"/>
          <p:cNvSpPr txBox="1"/>
          <p:nvPr/>
        </p:nvSpPr>
        <p:spPr>
          <a:xfrm>
            <a:off x="8595360" y="2148840"/>
            <a:ext cx="283464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v (valid):</a:t>
            </a:r>
            <a:r>
              <a:rPr lang="en-US" sz="1400" dirty="0">
                <a:solidFill>
                  <a:srgbClr val="3A464C"/>
                </a:solidFill>
                <a:latin typeface="Calibri" pitchFamily="34" charset="0"/>
                <a:ea typeface="Calibri" pitchFamily="34" charset="-122"/>
                <a:cs typeface="Calibri" pitchFamily="34" charset="-120"/>
              </a:rPr>
              <a:t> the page is legal and is in a frame.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i (invalid):</a:t>
            </a:r>
            <a:r>
              <a:rPr lang="en-US" sz="1400" dirty="0">
                <a:solidFill>
                  <a:srgbClr val="3A464C"/>
                </a:solidFill>
                <a:latin typeface="Calibri" pitchFamily="34" charset="0"/>
                <a:ea typeface="Calibri" pitchFamily="34" charset="-122"/>
                <a:cs typeface="Calibri" pitchFamily="34" charset="-120"/>
              </a:rPr>
              <a:t> the page is not in memory (or is not part of the program at all).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Initially every entry is i.</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Touching an i page makes the MMU trap to the OS: a page fault.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FAULTS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Handling a Page Fault, Step by Step</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8</a:t>
            </a:r>
            <a:endParaRPr lang="en-US" sz="900" dirty="0"/>
          </a:p>
        </p:txBody>
      </p:sp>
      <p:sp>
        <p:nvSpPr>
          <p:cNvPr id="6" name="Shape 4"/>
          <p:cNvSpPr/>
          <p:nvPr/>
        </p:nvSpPr>
        <p:spPr>
          <a:xfrm>
            <a:off x="548640" y="1783080"/>
            <a:ext cx="1600200" cy="868680"/>
          </a:xfrm>
          <a:prstGeom prst="roundRect">
            <a:avLst>
              <a:gd name="adj" fmla="val 5263"/>
            </a:avLst>
          </a:prstGeom>
          <a:solidFill>
            <a:srgbClr val="F2F2F2"/>
          </a:solidFill>
          <a:ln/>
        </p:spPr>
        <p:txBody>
          <a:bodyPr/>
          <a:p/>
        </p:txBody>
      </p:sp>
      <p:sp>
        <p:nvSpPr>
          <p:cNvPr id="7" name="Text 5"/>
          <p:cNvSpPr txBox="1"/>
          <p:nvPr/>
        </p:nvSpPr>
        <p:spPr>
          <a:xfrm>
            <a:off x="548640" y="1783080"/>
            <a:ext cx="1600200" cy="868680"/>
          </a:xfrm>
          <a:prstGeom prst="rect">
            <a:avLst/>
          </a:prstGeom>
          <a:noFill/>
          <a:ln/>
        </p:spPr>
        <p:txBody>
          <a:bodyPr wrap="square" lIns="38100" tIns="38100" rIns="38100" bIns="38100" rtlCol="0" anchor="ctr"/>
          <a:lstStyle/>
          <a:p>
            <a:pPr algn="ctr" indent="0" marL="0">
              <a:buNone/>
            </a:pPr>
            <a:r>
              <a:rPr lang="en-US" sz="1400" b="1" dirty="0">
                <a:solidFill>
                  <a:srgbClr val="36454F"/>
                </a:solidFill>
                <a:latin typeface="Calibri" pitchFamily="34" charset="0"/>
                <a:ea typeface="Calibri" pitchFamily="34" charset="-122"/>
                <a:cs typeface="Calibri" pitchFamily="34" charset="-120"/>
              </a:rPr>
              <a:t>Process</a:t>
            </a:r>
            <a:endParaRPr lang="en-US" sz="1400" dirty="0"/>
          </a:p>
          <a:p>
            <a:pPr algn="ctr" indent="0" marL="0">
              <a:buNone/>
            </a:pPr>
            <a:r>
              <a:rPr lang="en-US" sz="1100" dirty="0">
                <a:solidFill>
                  <a:srgbClr val="36454F"/>
                </a:solidFill>
                <a:latin typeface="Calibri" pitchFamily="34" charset="0"/>
                <a:ea typeface="Calibri" pitchFamily="34" charset="-122"/>
                <a:cs typeface="Calibri" pitchFamily="34" charset="-120"/>
              </a:rPr>
              <a:t>load M</a:t>
            </a:r>
            <a:endParaRPr lang="en-US" sz="1400" dirty="0"/>
          </a:p>
        </p:txBody>
      </p:sp>
      <p:sp>
        <p:nvSpPr>
          <p:cNvPr id="8" name="Text 6"/>
          <p:cNvSpPr txBox="1"/>
          <p:nvPr/>
        </p:nvSpPr>
        <p:spPr>
          <a:xfrm>
            <a:off x="2880360" y="1490472"/>
            <a:ext cx="137160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page table</a:t>
            </a:r>
            <a:endParaRPr lang="en-US" sz="1100" dirty="0"/>
          </a:p>
        </p:txBody>
      </p:sp>
      <p:sp>
        <p:nvSpPr>
          <p:cNvPr id="9" name="Shape 7"/>
          <p:cNvSpPr/>
          <p:nvPr/>
        </p:nvSpPr>
        <p:spPr>
          <a:xfrm>
            <a:off x="2880360" y="1783080"/>
            <a:ext cx="868680" cy="347472"/>
          </a:xfrm>
          <a:prstGeom prst="roundRect">
            <a:avLst>
              <a:gd name="adj" fmla="val 13158"/>
            </a:avLst>
          </a:prstGeom>
          <a:solidFill>
            <a:srgbClr val="F2F2F2"/>
          </a:solidFill>
          <a:ln/>
        </p:spPr>
        <p:txBody>
          <a:bodyPr/>
          <a:p/>
        </p:txBody>
      </p:sp>
      <p:sp>
        <p:nvSpPr>
          <p:cNvPr id="10" name="Text 8"/>
          <p:cNvSpPr txBox="1"/>
          <p:nvPr/>
        </p:nvSpPr>
        <p:spPr>
          <a:xfrm>
            <a:off x="2880360" y="1783080"/>
            <a:ext cx="868680" cy="347472"/>
          </a:xfrm>
          <a:prstGeom prst="rect">
            <a:avLst/>
          </a:prstGeom>
          <a:noFill/>
          <a:ln/>
        </p:spPr>
        <p:txBody>
          <a:bodyPr wrap="square" lIns="38100" tIns="38100" rIns="38100" bIns="38100" rtlCol="0" anchor="ctr"/>
          <a:lstStyle/>
          <a:p>
            <a:pPr algn="ctr" indent="0" marL="0">
              <a:buNone/>
            </a:pPr>
            <a:endParaRPr lang="en-US" sz="1200" dirty="0"/>
          </a:p>
        </p:txBody>
      </p:sp>
      <p:sp>
        <p:nvSpPr>
          <p:cNvPr id="11" name="Shape 9"/>
          <p:cNvSpPr/>
          <p:nvPr/>
        </p:nvSpPr>
        <p:spPr>
          <a:xfrm>
            <a:off x="3776472" y="1783080"/>
            <a:ext cx="457200" cy="347472"/>
          </a:xfrm>
          <a:prstGeom prst="roundRect">
            <a:avLst>
              <a:gd name="adj" fmla="val 13158"/>
            </a:avLst>
          </a:prstGeom>
          <a:solidFill>
            <a:srgbClr val="F2F2F2"/>
          </a:solidFill>
          <a:ln/>
        </p:spPr>
        <p:txBody>
          <a:bodyPr/>
          <a:p/>
        </p:txBody>
      </p:sp>
      <p:sp>
        <p:nvSpPr>
          <p:cNvPr id="12" name="Text 10"/>
          <p:cNvSpPr txBox="1"/>
          <p:nvPr/>
        </p:nvSpPr>
        <p:spPr>
          <a:xfrm>
            <a:off x="3776472" y="1783080"/>
            <a:ext cx="457200" cy="347472"/>
          </a:xfrm>
          <a:prstGeom prst="rect">
            <a:avLst/>
          </a:prstGeom>
          <a:noFill/>
          <a:ln/>
        </p:spPr>
        <p:txBody>
          <a:bodyPr wrap="square" lIns="38100" tIns="38100" rIns="38100" bIns="38100" rtlCol="0" anchor="ctr"/>
          <a:lstStyle/>
          <a:p>
            <a:pPr algn="ctr" indent="0" marL="0">
              <a:buNone/>
            </a:pPr>
            <a:r>
              <a:rPr lang="en-US" sz="1200" b="1" dirty="0">
                <a:solidFill>
                  <a:srgbClr val="6B7679"/>
                </a:solidFill>
                <a:latin typeface="Calibri" pitchFamily="34" charset="0"/>
                <a:ea typeface="Calibri" pitchFamily="34" charset="-122"/>
                <a:cs typeface="Calibri" pitchFamily="34" charset="-120"/>
              </a:rPr>
              <a:t>v</a:t>
            </a:r>
            <a:endParaRPr lang="en-US" sz="1200" dirty="0"/>
          </a:p>
        </p:txBody>
      </p:sp>
      <p:sp>
        <p:nvSpPr>
          <p:cNvPr id="13" name="Shape 11"/>
          <p:cNvSpPr/>
          <p:nvPr/>
        </p:nvSpPr>
        <p:spPr>
          <a:xfrm>
            <a:off x="2880360" y="2167128"/>
            <a:ext cx="868680" cy="347472"/>
          </a:xfrm>
          <a:prstGeom prst="roundRect">
            <a:avLst>
              <a:gd name="adj" fmla="val 13158"/>
            </a:avLst>
          </a:prstGeom>
          <a:solidFill>
            <a:srgbClr val="D7E9E6"/>
          </a:solidFill>
          <a:ln/>
        </p:spPr>
        <p:txBody>
          <a:bodyPr/>
          <a:p/>
        </p:txBody>
      </p:sp>
      <p:sp>
        <p:nvSpPr>
          <p:cNvPr id="14" name="Text 12"/>
          <p:cNvSpPr txBox="1"/>
          <p:nvPr/>
        </p:nvSpPr>
        <p:spPr>
          <a:xfrm>
            <a:off x="2880360" y="2167128"/>
            <a:ext cx="868680" cy="347472"/>
          </a:xfrm>
          <a:prstGeom prst="rect">
            <a:avLst/>
          </a:prstGeom>
          <a:noFill/>
          <a:ln/>
        </p:spPr>
        <p:txBody>
          <a:bodyPr wrap="square" lIns="38100" tIns="38100" rIns="38100" bIns="38100" rtlCol="0" anchor="ctr"/>
          <a:lstStyle/>
          <a:p>
            <a:pPr algn="ctr" indent="0" marL="0">
              <a:buNone/>
            </a:pPr>
            <a:r>
              <a:rPr lang="en-US" sz="1200" b="1" dirty="0">
                <a:solidFill>
                  <a:srgbClr val="36454F"/>
                </a:solidFill>
                <a:latin typeface="Calibri" pitchFamily="34" charset="0"/>
                <a:ea typeface="Calibri" pitchFamily="34" charset="-122"/>
                <a:cs typeface="Calibri" pitchFamily="34" charset="-120"/>
              </a:rPr>
              <a:t>M</a:t>
            </a:r>
            <a:endParaRPr lang="en-US" sz="1200" dirty="0"/>
          </a:p>
        </p:txBody>
      </p:sp>
      <p:sp>
        <p:nvSpPr>
          <p:cNvPr id="15" name="Shape 13"/>
          <p:cNvSpPr/>
          <p:nvPr/>
        </p:nvSpPr>
        <p:spPr>
          <a:xfrm>
            <a:off x="3776472" y="2167128"/>
            <a:ext cx="457200" cy="347472"/>
          </a:xfrm>
          <a:prstGeom prst="roundRect">
            <a:avLst>
              <a:gd name="adj" fmla="val 13158"/>
            </a:avLst>
          </a:prstGeom>
          <a:solidFill>
            <a:srgbClr val="F3D9D6"/>
          </a:solidFill>
          <a:ln/>
        </p:spPr>
        <p:txBody>
          <a:bodyPr/>
          <a:p/>
        </p:txBody>
      </p:sp>
      <p:sp>
        <p:nvSpPr>
          <p:cNvPr id="16" name="Text 14"/>
          <p:cNvSpPr txBox="1"/>
          <p:nvPr/>
        </p:nvSpPr>
        <p:spPr>
          <a:xfrm>
            <a:off x="3776472" y="2167128"/>
            <a:ext cx="457200" cy="347472"/>
          </a:xfrm>
          <a:prstGeom prst="rect">
            <a:avLst/>
          </a:prstGeom>
          <a:noFill/>
          <a:ln/>
        </p:spPr>
        <p:txBody>
          <a:bodyPr wrap="square" lIns="38100" tIns="38100" rIns="38100" bIns="38100" rtlCol="0" anchor="ctr"/>
          <a:lstStyle/>
          <a:p>
            <a:pPr algn="ctr" indent="0" marL="0">
              <a:buNone/>
            </a:pPr>
            <a:r>
              <a:rPr lang="en-US" sz="1200" b="1" dirty="0">
                <a:solidFill>
                  <a:srgbClr val="B5453A"/>
                </a:solidFill>
                <a:latin typeface="Calibri" pitchFamily="34" charset="0"/>
                <a:ea typeface="Calibri" pitchFamily="34" charset="-122"/>
                <a:cs typeface="Calibri" pitchFamily="34" charset="-120"/>
              </a:rPr>
              <a:t>i</a:t>
            </a:r>
            <a:endParaRPr lang="en-US" sz="1200" dirty="0"/>
          </a:p>
        </p:txBody>
      </p:sp>
      <p:sp>
        <p:nvSpPr>
          <p:cNvPr id="17" name="Shape 15"/>
          <p:cNvSpPr/>
          <p:nvPr/>
        </p:nvSpPr>
        <p:spPr>
          <a:xfrm>
            <a:off x="2880360" y="2551176"/>
            <a:ext cx="868680" cy="347472"/>
          </a:xfrm>
          <a:prstGeom prst="roundRect">
            <a:avLst>
              <a:gd name="adj" fmla="val 13158"/>
            </a:avLst>
          </a:prstGeom>
          <a:solidFill>
            <a:srgbClr val="F2F2F2"/>
          </a:solidFill>
          <a:ln/>
        </p:spPr>
        <p:txBody>
          <a:bodyPr/>
          <a:p/>
        </p:txBody>
      </p:sp>
      <p:sp>
        <p:nvSpPr>
          <p:cNvPr id="18" name="Text 16"/>
          <p:cNvSpPr txBox="1"/>
          <p:nvPr/>
        </p:nvSpPr>
        <p:spPr>
          <a:xfrm>
            <a:off x="2880360" y="2551176"/>
            <a:ext cx="868680" cy="347472"/>
          </a:xfrm>
          <a:prstGeom prst="rect">
            <a:avLst/>
          </a:prstGeom>
          <a:noFill/>
          <a:ln/>
        </p:spPr>
        <p:txBody>
          <a:bodyPr wrap="square" lIns="38100" tIns="38100" rIns="38100" bIns="38100" rtlCol="0" anchor="ctr"/>
          <a:lstStyle/>
          <a:p>
            <a:pPr algn="ctr" indent="0" marL="0">
              <a:buNone/>
            </a:pPr>
            <a:endParaRPr lang="en-US" sz="1200" dirty="0"/>
          </a:p>
        </p:txBody>
      </p:sp>
      <p:sp>
        <p:nvSpPr>
          <p:cNvPr id="19" name="Shape 17"/>
          <p:cNvSpPr/>
          <p:nvPr/>
        </p:nvSpPr>
        <p:spPr>
          <a:xfrm>
            <a:off x="3776472" y="2551176"/>
            <a:ext cx="457200" cy="347472"/>
          </a:xfrm>
          <a:prstGeom prst="roundRect">
            <a:avLst>
              <a:gd name="adj" fmla="val 13158"/>
            </a:avLst>
          </a:prstGeom>
          <a:solidFill>
            <a:srgbClr val="F2F2F2"/>
          </a:solidFill>
          <a:ln/>
        </p:spPr>
        <p:txBody>
          <a:bodyPr/>
          <a:p/>
        </p:txBody>
      </p:sp>
      <p:sp>
        <p:nvSpPr>
          <p:cNvPr id="20" name="Text 18"/>
          <p:cNvSpPr txBox="1"/>
          <p:nvPr/>
        </p:nvSpPr>
        <p:spPr>
          <a:xfrm>
            <a:off x="3776472" y="2551176"/>
            <a:ext cx="457200" cy="347472"/>
          </a:xfrm>
          <a:prstGeom prst="rect">
            <a:avLst/>
          </a:prstGeom>
          <a:noFill/>
          <a:ln/>
        </p:spPr>
        <p:txBody>
          <a:bodyPr wrap="square" lIns="38100" tIns="38100" rIns="38100" bIns="38100" rtlCol="0" anchor="ctr"/>
          <a:lstStyle/>
          <a:p>
            <a:pPr algn="ctr" indent="0" marL="0">
              <a:buNone/>
            </a:pPr>
            <a:r>
              <a:rPr lang="en-US" sz="1200" b="1" dirty="0">
                <a:solidFill>
                  <a:srgbClr val="6B7679"/>
                </a:solidFill>
                <a:latin typeface="Calibri" pitchFamily="34" charset="0"/>
                <a:ea typeface="Calibri" pitchFamily="34" charset="-122"/>
                <a:cs typeface="Calibri" pitchFamily="34" charset="-120"/>
              </a:rPr>
              <a:t>v</a:t>
            </a:r>
            <a:endParaRPr lang="en-US" sz="1200" dirty="0"/>
          </a:p>
        </p:txBody>
      </p:sp>
      <p:sp>
        <p:nvSpPr>
          <p:cNvPr id="21" name="Shape 19"/>
          <p:cNvSpPr/>
          <p:nvPr/>
        </p:nvSpPr>
        <p:spPr>
          <a:xfrm>
            <a:off x="5120640" y="1783080"/>
            <a:ext cx="1554480" cy="868680"/>
          </a:xfrm>
          <a:prstGeom prst="roundRect">
            <a:avLst>
              <a:gd name="adj" fmla="val 5263"/>
            </a:avLst>
          </a:prstGeom>
          <a:solidFill>
            <a:srgbClr val="36454F"/>
          </a:solidFill>
          <a:ln/>
        </p:spPr>
        <p:txBody>
          <a:bodyPr/>
          <a:p/>
        </p:txBody>
      </p:sp>
      <p:sp>
        <p:nvSpPr>
          <p:cNvPr id="22" name="Text 20"/>
          <p:cNvSpPr txBox="1"/>
          <p:nvPr/>
        </p:nvSpPr>
        <p:spPr>
          <a:xfrm>
            <a:off x="5120640" y="1783080"/>
            <a:ext cx="1554480" cy="86868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Operating system</a:t>
            </a:r>
            <a:endParaRPr lang="en-US" sz="1300" dirty="0"/>
          </a:p>
        </p:txBody>
      </p:sp>
      <p:sp>
        <p:nvSpPr>
          <p:cNvPr id="23" name="Text 21"/>
          <p:cNvSpPr txBox="1"/>
          <p:nvPr/>
        </p:nvSpPr>
        <p:spPr>
          <a:xfrm>
            <a:off x="2743200" y="3474720"/>
            <a:ext cx="173736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physical memory</a:t>
            </a:r>
            <a:endParaRPr lang="en-US" sz="1100" dirty="0"/>
          </a:p>
        </p:txBody>
      </p:sp>
      <p:sp>
        <p:nvSpPr>
          <p:cNvPr id="24" name="Shape 22"/>
          <p:cNvSpPr/>
          <p:nvPr/>
        </p:nvSpPr>
        <p:spPr>
          <a:xfrm>
            <a:off x="2834640" y="3794760"/>
            <a:ext cx="1463040" cy="384048"/>
          </a:xfrm>
          <a:prstGeom prst="roundRect">
            <a:avLst>
              <a:gd name="adj" fmla="val 11905"/>
            </a:avLst>
          </a:prstGeom>
          <a:solidFill>
            <a:srgbClr val="F2F2F2"/>
          </a:solidFill>
          <a:ln/>
        </p:spPr>
        <p:txBody>
          <a:bodyPr/>
          <a:p/>
        </p:txBody>
      </p:sp>
      <p:sp>
        <p:nvSpPr>
          <p:cNvPr id="25" name="Text 23"/>
          <p:cNvSpPr txBox="1"/>
          <p:nvPr/>
        </p:nvSpPr>
        <p:spPr>
          <a:xfrm>
            <a:off x="2834640" y="3794760"/>
            <a:ext cx="1463040" cy="384048"/>
          </a:xfrm>
          <a:prstGeom prst="rect">
            <a:avLst/>
          </a:prstGeom>
          <a:noFill/>
          <a:ln/>
        </p:spPr>
        <p:txBody>
          <a:bodyPr wrap="square" lIns="38100" tIns="38100" rIns="38100" bIns="38100" rtlCol="0" anchor="ctr"/>
          <a:lstStyle/>
          <a:p>
            <a:pPr algn="ctr" indent="0" marL="0">
              <a:buNone/>
            </a:pPr>
            <a:endParaRPr lang="en-US" sz="1100" dirty="0"/>
          </a:p>
        </p:txBody>
      </p:sp>
      <p:sp>
        <p:nvSpPr>
          <p:cNvPr id="26" name="Shape 24"/>
          <p:cNvSpPr/>
          <p:nvPr/>
        </p:nvSpPr>
        <p:spPr>
          <a:xfrm>
            <a:off x="2834640" y="4233672"/>
            <a:ext cx="1463040" cy="384048"/>
          </a:xfrm>
          <a:prstGeom prst="roundRect">
            <a:avLst>
              <a:gd name="adj" fmla="val 11905"/>
            </a:avLst>
          </a:prstGeom>
          <a:solidFill>
            <a:srgbClr val="F2F2F2"/>
          </a:solidFill>
          <a:ln/>
        </p:spPr>
        <p:txBody>
          <a:bodyPr/>
          <a:p/>
        </p:txBody>
      </p:sp>
      <p:sp>
        <p:nvSpPr>
          <p:cNvPr id="27" name="Text 25"/>
          <p:cNvSpPr txBox="1"/>
          <p:nvPr/>
        </p:nvSpPr>
        <p:spPr>
          <a:xfrm>
            <a:off x="2834640" y="4233672"/>
            <a:ext cx="1463040" cy="384048"/>
          </a:xfrm>
          <a:prstGeom prst="rect">
            <a:avLst/>
          </a:prstGeom>
          <a:noFill/>
          <a:ln/>
        </p:spPr>
        <p:txBody>
          <a:bodyPr wrap="square" lIns="38100" tIns="38100" rIns="38100" bIns="38100" rtlCol="0" anchor="ctr"/>
          <a:lstStyle/>
          <a:p>
            <a:pPr algn="ctr" indent="0" marL="0">
              <a:buNone/>
            </a:pPr>
            <a:endParaRPr lang="en-US" sz="1100" dirty="0"/>
          </a:p>
        </p:txBody>
      </p:sp>
      <p:sp>
        <p:nvSpPr>
          <p:cNvPr id="28" name="Shape 26"/>
          <p:cNvSpPr/>
          <p:nvPr/>
        </p:nvSpPr>
        <p:spPr>
          <a:xfrm>
            <a:off x="2834640" y="4672584"/>
            <a:ext cx="1463040" cy="384048"/>
          </a:xfrm>
          <a:prstGeom prst="roundRect">
            <a:avLst>
              <a:gd name="adj" fmla="val 11905"/>
            </a:avLst>
          </a:prstGeom>
          <a:solidFill>
            <a:srgbClr val="F2F2F2"/>
          </a:solidFill>
          <a:ln/>
        </p:spPr>
        <p:txBody>
          <a:bodyPr/>
          <a:p/>
        </p:txBody>
      </p:sp>
      <p:sp>
        <p:nvSpPr>
          <p:cNvPr id="29" name="Text 27"/>
          <p:cNvSpPr txBox="1"/>
          <p:nvPr/>
        </p:nvSpPr>
        <p:spPr>
          <a:xfrm>
            <a:off x="2834640" y="4672584"/>
            <a:ext cx="1463040" cy="384048"/>
          </a:xfrm>
          <a:prstGeom prst="rect">
            <a:avLst/>
          </a:prstGeom>
          <a:noFill/>
          <a:ln/>
        </p:spPr>
        <p:txBody>
          <a:bodyPr wrap="square" lIns="38100" tIns="38100" rIns="38100" bIns="38100" rtlCol="0" anchor="ctr"/>
          <a:lstStyle/>
          <a:p>
            <a:pPr algn="ctr" indent="0" marL="0">
              <a:buNone/>
            </a:pPr>
            <a:endParaRPr lang="en-US" sz="1100" dirty="0"/>
          </a:p>
        </p:txBody>
      </p:sp>
      <p:sp>
        <p:nvSpPr>
          <p:cNvPr id="30" name="Shape 28"/>
          <p:cNvSpPr/>
          <p:nvPr/>
        </p:nvSpPr>
        <p:spPr>
          <a:xfrm>
            <a:off x="2834640" y="5111496"/>
            <a:ext cx="1463040" cy="384048"/>
          </a:xfrm>
          <a:prstGeom prst="roundRect">
            <a:avLst>
              <a:gd name="adj" fmla="val 11905"/>
            </a:avLst>
          </a:prstGeom>
          <a:solidFill>
            <a:srgbClr val="02C39A"/>
          </a:solidFill>
          <a:ln/>
        </p:spPr>
        <p:txBody>
          <a:bodyPr/>
          <a:p/>
        </p:txBody>
      </p:sp>
      <p:sp>
        <p:nvSpPr>
          <p:cNvPr id="31" name="Text 29"/>
          <p:cNvSpPr txBox="1"/>
          <p:nvPr/>
        </p:nvSpPr>
        <p:spPr>
          <a:xfrm>
            <a:off x="2834640" y="5111496"/>
            <a:ext cx="1463040" cy="384048"/>
          </a:xfrm>
          <a:prstGeom prst="rect">
            <a:avLst/>
          </a:prstGeom>
          <a:noFill/>
          <a:ln/>
        </p:spPr>
        <p:txBody>
          <a:bodyPr wrap="square" lIns="38100" tIns="38100" rIns="38100" bIns="38100" rtlCol="0" anchor="ctr"/>
          <a:lstStyle/>
          <a:p>
            <a:pPr algn="ctr" indent="0" marL="0">
              <a:buNone/>
            </a:pPr>
            <a:r>
              <a:rPr lang="en-US" sz="1100" b="1" dirty="0">
                <a:solidFill>
                  <a:srgbClr val="212121"/>
                </a:solidFill>
                <a:latin typeface="Calibri" pitchFamily="34" charset="0"/>
                <a:ea typeface="Calibri" pitchFamily="34" charset="-122"/>
                <a:cs typeface="Calibri" pitchFamily="34" charset="-120"/>
              </a:rPr>
              <a:t>free frame → M</a:t>
            </a:r>
            <a:endParaRPr lang="en-US" sz="1100" dirty="0"/>
          </a:p>
        </p:txBody>
      </p:sp>
      <p:sp>
        <p:nvSpPr>
          <p:cNvPr id="32" name="Shape 30"/>
          <p:cNvSpPr/>
          <p:nvPr/>
        </p:nvSpPr>
        <p:spPr>
          <a:xfrm>
            <a:off x="2834640" y="5550408"/>
            <a:ext cx="1463040" cy="384048"/>
          </a:xfrm>
          <a:prstGeom prst="roundRect">
            <a:avLst>
              <a:gd name="adj" fmla="val 11905"/>
            </a:avLst>
          </a:prstGeom>
          <a:solidFill>
            <a:srgbClr val="F2F2F2"/>
          </a:solidFill>
          <a:ln/>
        </p:spPr>
        <p:txBody>
          <a:bodyPr/>
          <a:p/>
        </p:txBody>
      </p:sp>
      <p:sp>
        <p:nvSpPr>
          <p:cNvPr id="33" name="Text 31"/>
          <p:cNvSpPr txBox="1"/>
          <p:nvPr/>
        </p:nvSpPr>
        <p:spPr>
          <a:xfrm>
            <a:off x="2834640" y="5550408"/>
            <a:ext cx="1463040" cy="384048"/>
          </a:xfrm>
          <a:prstGeom prst="rect">
            <a:avLst/>
          </a:prstGeom>
          <a:noFill/>
          <a:ln/>
        </p:spPr>
        <p:txBody>
          <a:bodyPr wrap="square" lIns="38100" tIns="38100" rIns="38100" bIns="38100" rtlCol="0" anchor="ctr"/>
          <a:lstStyle/>
          <a:p>
            <a:pPr algn="ctr" indent="0" marL="0">
              <a:buNone/>
            </a:pPr>
            <a:endParaRPr lang="en-US" sz="1100" dirty="0"/>
          </a:p>
        </p:txBody>
      </p:sp>
      <p:sp>
        <p:nvSpPr>
          <p:cNvPr id="34" name="Shape 32"/>
          <p:cNvSpPr/>
          <p:nvPr/>
        </p:nvSpPr>
        <p:spPr>
          <a:xfrm>
            <a:off x="5120640" y="4114800"/>
            <a:ext cx="1554480" cy="1600200"/>
          </a:xfrm>
          <a:prstGeom prst="can">
            <a:avLst/>
          </a:prstGeom>
          <a:solidFill>
            <a:srgbClr val="50808E"/>
          </a:solidFill>
          <a:ln/>
        </p:spPr>
        <p:txBody>
          <a:bodyPr/>
          <a:p/>
        </p:txBody>
      </p:sp>
      <p:sp>
        <p:nvSpPr>
          <p:cNvPr id="35" name="Text 33"/>
          <p:cNvSpPr txBox="1"/>
          <p:nvPr/>
        </p:nvSpPr>
        <p:spPr>
          <a:xfrm>
            <a:off x="5120640" y="4434840"/>
            <a:ext cx="1554480" cy="12801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Backing</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store (disk)</a:t>
            </a:r>
            <a:endParaRPr lang="en-US" sz="1300" dirty="0"/>
          </a:p>
        </p:txBody>
      </p:sp>
      <p:sp>
        <p:nvSpPr>
          <p:cNvPr id="36" name="Shape 34"/>
          <p:cNvSpPr/>
          <p:nvPr/>
        </p:nvSpPr>
        <p:spPr>
          <a:xfrm>
            <a:off x="2167128" y="2194560"/>
            <a:ext cx="694944" cy="91"/>
          </a:xfrm>
          <a:prstGeom prst="line">
            <a:avLst/>
          </a:prstGeom>
          <a:noFill/>
          <a:ln w="25400">
            <a:solidFill>
              <a:srgbClr val="028090"/>
            </a:solidFill>
            <a:prstDash val="solid"/>
            <a:tailEnd type="triangle"/>
          </a:ln>
        </p:spPr>
        <p:txBody>
          <a:bodyPr/>
          <a:p/>
        </p:txBody>
      </p:sp>
      <p:sp>
        <p:nvSpPr>
          <p:cNvPr id="37" name="Shape 35"/>
          <p:cNvSpPr/>
          <p:nvPr/>
        </p:nvSpPr>
        <p:spPr>
          <a:xfrm>
            <a:off x="4251960" y="2167128"/>
            <a:ext cx="850392" cy="91"/>
          </a:xfrm>
          <a:prstGeom prst="line">
            <a:avLst/>
          </a:prstGeom>
          <a:noFill/>
          <a:ln w="25400">
            <a:solidFill>
              <a:srgbClr val="B5453A"/>
            </a:solidFill>
            <a:prstDash val="solid"/>
            <a:tailEnd type="triangle"/>
          </a:ln>
        </p:spPr>
        <p:txBody>
          <a:bodyPr/>
          <a:p/>
        </p:txBody>
      </p:sp>
      <p:sp>
        <p:nvSpPr>
          <p:cNvPr id="38" name="Shape 36"/>
          <p:cNvSpPr/>
          <p:nvPr/>
        </p:nvSpPr>
        <p:spPr>
          <a:xfrm>
            <a:off x="5897880" y="2670048"/>
            <a:ext cx="91" cy="1426464"/>
          </a:xfrm>
          <a:prstGeom prst="line">
            <a:avLst/>
          </a:prstGeom>
          <a:noFill/>
          <a:ln w="25400">
            <a:solidFill>
              <a:srgbClr val="028090"/>
            </a:solidFill>
            <a:prstDash val="solid"/>
            <a:tailEnd type="triangle"/>
          </a:ln>
        </p:spPr>
        <p:txBody>
          <a:bodyPr/>
          <a:p/>
        </p:txBody>
      </p:sp>
      <p:sp>
        <p:nvSpPr>
          <p:cNvPr id="39" name="Shape 37"/>
          <p:cNvSpPr/>
          <p:nvPr/>
        </p:nvSpPr>
        <p:spPr>
          <a:xfrm flipH="1">
            <a:off x="4315968" y="5303520"/>
            <a:ext cx="786384" cy="91"/>
          </a:xfrm>
          <a:prstGeom prst="line">
            <a:avLst/>
          </a:prstGeom>
          <a:noFill/>
          <a:ln w="25400">
            <a:solidFill>
              <a:srgbClr val="028090"/>
            </a:solidFill>
            <a:prstDash val="solid"/>
            <a:tailEnd type="triangle"/>
          </a:ln>
        </p:spPr>
        <p:txBody>
          <a:bodyPr/>
          <a:p/>
        </p:txBody>
      </p:sp>
      <p:sp>
        <p:nvSpPr>
          <p:cNvPr id="40" name="Shape 38"/>
          <p:cNvSpPr/>
          <p:nvPr/>
        </p:nvSpPr>
        <p:spPr>
          <a:xfrm flipV="1">
            <a:off x="3291840" y="2944368"/>
            <a:ext cx="91" cy="832104"/>
          </a:xfrm>
          <a:prstGeom prst="line">
            <a:avLst/>
          </a:prstGeom>
          <a:noFill/>
          <a:ln w="25400">
            <a:solidFill>
              <a:srgbClr val="028090"/>
            </a:solidFill>
            <a:prstDash val="solid"/>
            <a:tailEnd type="triangle"/>
          </a:ln>
        </p:spPr>
        <p:txBody>
          <a:bodyPr/>
          <a:p/>
        </p:txBody>
      </p:sp>
      <p:sp>
        <p:nvSpPr>
          <p:cNvPr id="41" name="Shape 39"/>
          <p:cNvSpPr/>
          <p:nvPr/>
        </p:nvSpPr>
        <p:spPr>
          <a:xfrm flipH="1">
            <a:off x="2167128" y="2514600"/>
            <a:ext cx="694944" cy="91"/>
          </a:xfrm>
          <a:prstGeom prst="line">
            <a:avLst/>
          </a:prstGeom>
          <a:noFill/>
          <a:ln w="25400">
            <a:solidFill>
              <a:srgbClr val="028090"/>
            </a:solidFill>
            <a:prstDash val="solid"/>
            <a:tailEnd type="triangle"/>
          </a:ln>
        </p:spPr>
        <p:txBody>
          <a:bodyPr/>
          <a:p/>
        </p:txBody>
      </p:sp>
      <p:sp>
        <p:nvSpPr>
          <p:cNvPr id="42" name="Shape 40"/>
          <p:cNvSpPr/>
          <p:nvPr/>
        </p:nvSpPr>
        <p:spPr>
          <a:xfrm>
            <a:off x="2350008" y="1755648"/>
            <a:ext cx="329184" cy="329184"/>
          </a:xfrm>
          <a:prstGeom prst="ellipse">
            <a:avLst/>
          </a:prstGeom>
          <a:solidFill>
            <a:srgbClr val="02C39A"/>
          </a:solidFill>
          <a:ln/>
        </p:spPr>
        <p:txBody>
          <a:bodyPr/>
          <a:p/>
        </p:txBody>
      </p:sp>
      <p:sp>
        <p:nvSpPr>
          <p:cNvPr id="43" name="Text 41"/>
          <p:cNvSpPr txBox="1"/>
          <p:nvPr/>
        </p:nvSpPr>
        <p:spPr>
          <a:xfrm>
            <a:off x="2350008" y="175564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4" name="Shape 42"/>
          <p:cNvSpPr/>
          <p:nvPr/>
        </p:nvSpPr>
        <p:spPr>
          <a:xfrm>
            <a:off x="4507992" y="1737360"/>
            <a:ext cx="329184" cy="329184"/>
          </a:xfrm>
          <a:prstGeom prst="ellipse">
            <a:avLst/>
          </a:prstGeom>
          <a:solidFill>
            <a:srgbClr val="B5453A"/>
          </a:solidFill>
          <a:ln/>
        </p:spPr>
        <p:txBody>
          <a:bodyPr/>
          <a:p/>
        </p:txBody>
      </p:sp>
      <p:sp>
        <p:nvSpPr>
          <p:cNvPr id="45" name="Text 43"/>
          <p:cNvSpPr txBox="1"/>
          <p:nvPr/>
        </p:nvSpPr>
        <p:spPr>
          <a:xfrm>
            <a:off x="4507992" y="173736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6" name="Shape 44"/>
          <p:cNvSpPr/>
          <p:nvPr/>
        </p:nvSpPr>
        <p:spPr>
          <a:xfrm>
            <a:off x="5989320" y="3200400"/>
            <a:ext cx="329184" cy="329184"/>
          </a:xfrm>
          <a:prstGeom prst="ellipse">
            <a:avLst/>
          </a:prstGeom>
          <a:solidFill>
            <a:srgbClr val="02C39A"/>
          </a:solidFill>
          <a:ln/>
        </p:spPr>
        <p:txBody>
          <a:bodyPr/>
          <a:p/>
        </p:txBody>
      </p:sp>
      <p:sp>
        <p:nvSpPr>
          <p:cNvPr id="47" name="Text 45"/>
          <p:cNvSpPr txBox="1"/>
          <p:nvPr/>
        </p:nvSpPr>
        <p:spPr>
          <a:xfrm>
            <a:off x="5989320" y="3200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8" name="Shape 46"/>
          <p:cNvSpPr/>
          <p:nvPr/>
        </p:nvSpPr>
        <p:spPr>
          <a:xfrm>
            <a:off x="4544568" y="4846320"/>
            <a:ext cx="329184" cy="329184"/>
          </a:xfrm>
          <a:prstGeom prst="ellipse">
            <a:avLst/>
          </a:prstGeom>
          <a:solidFill>
            <a:srgbClr val="02C39A"/>
          </a:solidFill>
          <a:ln/>
        </p:spPr>
        <p:txBody>
          <a:bodyPr/>
          <a:p/>
        </p:txBody>
      </p:sp>
      <p:sp>
        <p:nvSpPr>
          <p:cNvPr id="49" name="Text 47"/>
          <p:cNvSpPr txBox="1"/>
          <p:nvPr/>
        </p:nvSpPr>
        <p:spPr>
          <a:xfrm>
            <a:off x="4544568" y="484632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0" name="Shape 48"/>
          <p:cNvSpPr/>
          <p:nvPr/>
        </p:nvSpPr>
        <p:spPr>
          <a:xfrm>
            <a:off x="3401568" y="3200400"/>
            <a:ext cx="329184" cy="329184"/>
          </a:xfrm>
          <a:prstGeom prst="ellipse">
            <a:avLst/>
          </a:prstGeom>
          <a:solidFill>
            <a:srgbClr val="02C39A"/>
          </a:solidFill>
          <a:ln/>
        </p:spPr>
        <p:txBody>
          <a:bodyPr/>
          <a:p/>
        </p:txBody>
      </p:sp>
      <p:sp>
        <p:nvSpPr>
          <p:cNvPr id="51" name="Text 49"/>
          <p:cNvSpPr txBox="1"/>
          <p:nvPr/>
        </p:nvSpPr>
        <p:spPr>
          <a:xfrm>
            <a:off x="3401568" y="3200400"/>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52" name="Shape 50"/>
          <p:cNvSpPr/>
          <p:nvPr/>
        </p:nvSpPr>
        <p:spPr>
          <a:xfrm>
            <a:off x="2350008" y="2624328"/>
            <a:ext cx="329184" cy="329184"/>
          </a:xfrm>
          <a:prstGeom prst="ellipse">
            <a:avLst/>
          </a:prstGeom>
          <a:solidFill>
            <a:srgbClr val="02C39A"/>
          </a:solidFill>
          <a:ln/>
        </p:spPr>
        <p:txBody>
          <a:bodyPr/>
          <a:p/>
        </p:txBody>
      </p:sp>
      <p:sp>
        <p:nvSpPr>
          <p:cNvPr id="53" name="Text 51"/>
          <p:cNvSpPr txBox="1"/>
          <p:nvPr/>
        </p:nvSpPr>
        <p:spPr>
          <a:xfrm>
            <a:off x="2350008" y="2624328"/>
            <a:ext cx="329184" cy="32918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54" name="Shape 52"/>
          <p:cNvSpPr/>
          <p:nvPr/>
        </p:nvSpPr>
        <p:spPr>
          <a:xfrm>
            <a:off x="7132320" y="1508760"/>
            <a:ext cx="4526280" cy="4754880"/>
          </a:xfrm>
          <a:prstGeom prst="roundRect">
            <a:avLst>
              <a:gd name="adj" fmla="val 121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5" name="Text 53"/>
          <p:cNvSpPr txBox="1"/>
          <p:nvPr/>
        </p:nvSpPr>
        <p:spPr>
          <a:xfrm>
            <a:off x="7360920" y="169164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six steps</a:t>
            </a:r>
            <a:endParaRPr lang="en-US" sz="1500" dirty="0"/>
          </a:p>
        </p:txBody>
      </p:sp>
      <p:sp>
        <p:nvSpPr>
          <p:cNvPr id="56" name="Text 54"/>
          <p:cNvSpPr txBox="1"/>
          <p:nvPr/>
        </p:nvSpPr>
        <p:spPr>
          <a:xfrm>
            <a:off x="7360920" y="2148840"/>
            <a:ext cx="4069080" cy="39776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1 Reference:</a:t>
            </a:r>
            <a:r>
              <a:rPr lang="en-US" sz="1400" dirty="0">
                <a:solidFill>
                  <a:srgbClr val="3A464C"/>
                </a:solidFill>
                <a:latin typeface="Calibri" pitchFamily="34" charset="0"/>
                <a:ea typeface="Calibri" pitchFamily="34" charset="-122"/>
                <a:cs typeface="Calibri" pitchFamily="34" charset="-120"/>
              </a:rPr>
              <a:t> the process touches page M; its bit is i.</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2 Trap:</a:t>
            </a:r>
            <a:r>
              <a:rPr lang="en-US" sz="1400" dirty="0">
                <a:solidFill>
                  <a:srgbClr val="3A464C"/>
                </a:solidFill>
                <a:latin typeface="Calibri" pitchFamily="34" charset="0"/>
                <a:ea typeface="Calibri" pitchFamily="34" charset="-122"/>
                <a:cs typeface="Calibri" pitchFamily="34" charset="-120"/>
              </a:rPr>
              <a:t> the MMU raises a page fault; the OS checks the address is legal (if not: crash).</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3 Locate:</a:t>
            </a:r>
            <a:r>
              <a:rPr lang="en-US" sz="1400" dirty="0">
                <a:solidFill>
                  <a:srgbClr val="3A464C"/>
                </a:solidFill>
                <a:latin typeface="Calibri" pitchFamily="34" charset="0"/>
                <a:ea typeface="Calibri" pitchFamily="34" charset="-122"/>
                <a:cs typeface="Calibri" pitchFamily="34" charset="-120"/>
              </a:rPr>
              <a:t> the OS finds page M on the disk and a free frame.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4 Read:</a:t>
            </a:r>
            <a:r>
              <a:rPr lang="en-US" sz="1400" dirty="0">
                <a:solidFill>
                  <a:srgbClr val="3A464C"/>
                </a:solidFill>
                <a:latin typeface="Calibri" pitchFamily="34" charset="0"/>
                <a:ea typeface="Calibri" pitchFamily="34" charset="-122"/>
                <a:cs typeface="Calibri" pitchFamily="34" charset="-120"/>
              </a:rPr>
              <a:t> disk → frame (milliseconds; meanwhile another process runs).</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5 Update:</a:t>
            </a:r>
            <a:r>
              <a:rPr lang="en-US" sz="1400" dirty="0">
                <a:solidFill>
                  <a:srgbClr val="3A464C"/>
                </a:solidFill>
                <a:latin typeface="Calibri" pitchFamily="34" charset="0"/>
                <a:ea typeface="Calibri" pitchFamily="34" charset="-122"/>
                <a:cs typeface="Calibri" pitchFamily="34" charset="-120"/>
              </a:rPr>
              <a:t> page-table entry = frame number, bit = v.</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6 Restart:</a:t>
            </a:r>
            <a:r>
              <a:rPr lang="en-US" sz="1400" dirty="0">
                <a:solidFill>
                  <a:srgbClr val="3A464C"/>
                </a:solidFill>
                <a:latin typeface="Calibri" pitchFamily="34" charset="0"/>
                <a:ea typeface="Calibri" pitchFamily="34" charset="-122"/>
                <a:cs typeface="Calibri" pitchFamily="34" charset="-120"/>
              </a:rPr>
              <a:t> the same instruction runs again — now it succeeds.</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PERFORMANCE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Effective Access Time with Page Faults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Let p be the page-fault rate (0 ≤ p ≤ 1): the probability that one memory access causes a page fault.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9</a:t>
            </a:r>
            <a:endParaRPr lang="en-US" sz="900" dirty="0"/>
          </a:p>
        </p:txBody>
      </p:sp>
      <p:sp>
        <p:nvSpPr>
          <p:cNvPr id="7" name="Shape 5"/>
          <p:cNvSpPr/>
          <p:nvPr/>
        </p:nvSpPr>
        <p:spPr>
          <a:xfrm>
            <a:off x="548640" y="2103120"/>
            <a:ext cx="4846320" cy="3108960"/>
          </a:xfrm>
          <a:prstGeom prst="roundRect">
            <a:avLst>
              <a:gd name="adj" fmla="val 176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286000"/>
            <a:ext cx="43891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formula</a:t>
            </a:r>
            <a:endParaRPr lang="en-US" sz="1500" dirty="0"/>
          </a:p>
        </p:txBody>
      </p:sp>
      <p:sp>
        <p:nvSpPr>
          <p:cNvPr id="9" name="Text 7"/>
          <p:cNvSpPr txBox="1"/>
          <p:nvPr/>
        </p:nvSpPr>
        <p:spPr>
          <a:xfrm>
            <a:off x="777240" y="2743200"/>
            <a:ext cx="4389120" cy="2331720"/>
          </a:xfrm>
          <a:prstGeom prst="rect">
            <a:avLst/>
          </a:prstGeom>
          <a:noFill/>
          <a:ln/>
        </p:spPr>
        <p:txBody>
          <a:bodyPr wrap="square" lIns="0" tIns="0" rIns="0" bIns="0" rtlCol="0" anchor="t"/>
          <a:lstStyle/>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EAT = (1 − p) × tₘ + p × t_fault</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tₘ:</a:t>
            </a:r>
            <a:r>
              <a:rPr lang="en-US" sz="1500" dirty="0">
                <a:solidFill>
                  <a:srgbClr val="3A464C"/>
                </a:solidFill>
                <a:latin typeface="Calibri" pitchFamily="34" charset="0"/>
                <a:ea typeface="Calibri" pitchFamily="34" charset="-122"/>
                <a:cs typeface="Calibri" pitchFamily="34" charset="-120"/>
              </a:rPr>
              <a:t> memory access time (here 200 ns).</a:t>
            </a:r>
            <a:endParaRPr lang="en-US" sz="1500" dirty="0"/>
          </a:p>
          <a:p>
            <a:pPr marL="228600" indent="-228600">
              <a:spcAft>
                <a:spcPts val="400"/>
              </a:spcAft>
              <a:buSzPct val="100000"/>
              <a:buChar char="•"/>
            </a:pPr>
            <a:r>
              <a:rPr lang="en-US" sz="1500" b="1" dirty="0">
                <a:solidFill>
                  <a:srgbClr val="3A464C"/>
                </a:solidFill>
                <a:latin typeface="Calibri" pitchFamily="34" charset="0"/>
                <a:ea typeface="Calibri" pitchFamily="34" charset="-122"/>
                <a:cs typeface="Calibri" pitchFamily="34" charset="-120"/>
              </a:rPr>
              <a:t>t_fault:</a:t>
            </a:r>
            <a:r>
              <a:rPr lang="en-US" sz="1500" dirty="0">
                <a:solidFill>
                  <a:srgbClr val="3A464C"/>
                </a:solidFill>
                <a:latin typeface="Calibri" pitchFamily="34" charset="0"/>
                <a:ea typeface="Calibri" pitchFamily="34" charset="-122"/>
                <a:cs typeface="Calibri" pitchFamily="34" charset="-120"/>
              </a:rPr>
              <a:t> page-fault service time: trap, disk read, restart (here 8 ms, dominated by the disk).</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 weighted average, like the TLB formula of Week 6.</a:t>
            </a:r>
            <a:endParaRPr lang="en-US" sz="1500" dirty="0"/>
          </a:p>
        </p:txBody>
      </p:sp>
      <p:sp>
        <p:nvSpPr>
          <p:cNvPr id="10" name="Shape 8"/>
          <p:cNvSpPr/>
          <p:nvPr/>
        </p:nvSpPr>
        <p:spPr>
          <a:xfrm>
            <a:off x="5623560" y="2103120"/>
            <a:ext cx="6035040" cy="4160520"/>
          </a:xfrm>
          <a:prstGeom prst="roundRect">
            <a:avLst>
              <a:gd name="adj" fmla="val 1099"/>
            </a:avLst>
          </a:prstGeom>
          <a:solidFill>
            <a:srgbClr val="212121"/>
          </a:solidFill>
          <a:ln/>
        </p:spPr>
        <p:txBody>
          <a:bodyPr/>
          <a:p/>
        </p:txBody>
      </p:sp>
      <p:sp>
        <p:nvSpPr>
          <p:cNvPr id="11" name="Text 9"/>
          <p:cNvSpPr txBox="1"/>
          <p:nvPr/>
        </p:nvSpPr>
        <p:spPr>
          <a:xfrm>
            <a:off x="5806440" y="2212848"/>
            <a:ext cx="5669280" cy="394106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tₘ = 200 ns,  t_fault = 8 ms = 8,000,000 ns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Example: p = 0.001 (1 fault per 1000 accesses)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EAT = 0.999 × 200 + 0.001 × 8,000,000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 199.8 + 8,000 = 8,199.8 ns ≈ 8.2 µs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41 times slower than RAM!</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8A9AA0"/>
                </a:solidFill>
                <a:latin typeface="Consolas" pitchFamily="34" charset="0"/>
                <a:ea typeface="Consolas" pitchFamily="34" charset="-122"/>
                <a:cs typeface="Consolas" pitchFamily="34" charset="-120"/>
              </a:rPr>
              <a:t># Slow-down below 10 %  ⇔  EAT &lt; 220 ns</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200 + p × (8,000,000 − 200) &lt; 220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p &lt; 20 / 7,999,800 ≈ 2.5 × 10⁻⁶</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most 1 fault per ≈ 400,000 accesses</a:t>
            </a:r>
            <a:endParaRPr lang="en-US" sz="1350" dirty="0"/>
          </a:p>
        </p:txBody>
      </p:sp>
      <p:sp>
        <p:nvSpPr>
          <p:cNvPr id="12" name="Shape 10"/>
          <p:cNvSpPr/>
          <p:nvPr/>
        </p:nvSpPr>
        <p:spPr>
          <a:xfrm>
            <a:off x="548640" y="5440680"/>
            <a:ext cx="4846320" cy="822960"/>
          </a:xfrm>
          <a:prstGeom prst="roundRect">
            <a:avLst>
              <a:gd name="adj" fmla="val 6667"/>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777240" y="5440680"/>
            <a:ext cx="4389120" cy="82296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Lesson: the page-fault rate must be tiny. Locality is what makes it tiny.</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VIRTUAL MEMORY TRICK</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Copy-on-Write: Making fork() Cheap</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Week 3: fork() creates a child that is a copy of its parent. Copying every page would be slow — and is often wasted.</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10</a:t>
            </a:r>
            <a:endParaRPr lang="en-US" sz="900" dirty="0"/>
          </a:p>
        </p:txBody>
      </p:sp>
      <p:sp>
        <p:nvSpPr>
          <p:cNvPr id="7" name="Text 5"/>
          <p:cNvSpPr txBox="1"/>
          <p:nvPr/>
        </p:nvSpPr>
        <p:spPr>
          <a:xfrm>
            <a:off x="548640" y="2148840"/>
            <a:ext cx="539496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1. Right after fork(): pages shared, read-only</a:t>
            </a:r>
            <a:endParaRPr lang="en-US" sz="1400" dirty="0"/>
          </a:p>
        </p:txBody>
      </p:sp>
      <p:sp>
        <p:nvSpPr>
          <p:cNvPr id="8" name="Shape 6"/>
          <p:cNvSpPr/>
          <p:nvPr/>
        </p:nvSpPr>
        <p:spPr>
          <a:xfrm>
            <a:off x="548640" y="2926080"/>
            <a:ext cx="1143000" cy="1645920"/>
          </a:xfrm>
          <a:prstGeom prst="roundRect">
            <a:avLst>
              <a:gd name="adj" fmla="val 4000"/>
            </a:avLst>
          </a:prstGeom>
          <a:solidFill>
            <a:srgbClr val="36454F"/>
          </a:solidFill>
          <a:ln/>
        </p:spPr>
        <p:txBody>
          <a:bodyPr/>
          <a:p/>
        </p:txBody>
      </p:sp>
      <p:sp>
        <p:nvSpPr>
          <p:cNvPr id="9" name="Text 7"/>
          <p:cNvSpPr txBox="1"/>
          <p:nvPr/>
        </p:nvSpPr>
        <p:spPr>
          <a:xfrm>
            <a:off x="548640" y="2926080"/>
            <a:ext cx="1143000" cy="1645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Parent</a:t>
            </a:r>
            <a:endParaRPr lang="en-US" sz="1300" dirty="0"/>
          </a:p>
        </p:txBody>
      </p:sp>
      <p:sp>
        <p:nvSpPr>
          <p:cNvPr id="10" name="Shape 8"/>
          <p:cNvSpPr/>
          <p:nvPr/>
        </p:nvSpPr>
        <p:spPr>
          <a:xfrm>
            <a:off x="4754880" y="2926080"/>
            <a:ext cx="1143000" cy="1645920"/>
          </a:xfrm>
          <a:prstGeom prst="roundRect">
            <a:avLst>
              <a:gd name="adj" fmla="val 4000"/>
            </a:avLst>
          </a:prstGeom>
          <a:solidFill>
            <a:srgbClr val="36454F"/>
          </a:solidFill>
          <a:ln/>
        </p:spPr>
        <p:txBody>
          <a:bodyPr/>
          <a:p/>
        </p:txBody>
      </p:sp>
      <p:sp>
        <p:nvSpPr>
          <p:cNvPr id="11" name="Text 9"/>
          <p:cNvSpPr txBox="1"/>
          <p:nvPr/>
        </p:nvSpPr>
        <p:spPr>
          <a:xfrm>
            <a:off x="4754880" y="2926080"/>
            <a:ext cx="1143000" cy="1645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Child</a:t>
            </a:r>
            <a:endParaRPr lang="en-US" sz="1300" dirty="0"/>
          </a:p>
        </p:txBody>
      </p:sp>
      <p:sp>
        <p:nvSpPr>
          <p:cNvPr id="12" name="Shape 10"/>
          <p:cNvSpPr/>
          <p:nvPr/>
        </p:nvSpPr>
        <p:spPr>
          <a:xfrm>
            <a:off x="2514600" y="2651760"/>
            <a:ext cx="1417320" cy="457200"/>
          </a:xfrm>
          <a:prstGeom prst="roundRect">
            <a:avLst>
              <a:gd name="adj" fmla="val 10000"/>
            </a:avLst>
          </a:prstGeom>
          <a:solidFill>
            <a:srgbClr val="F2F2F2"/>
          </a:solidFill>
          <a:ln/>
        </p:spPr>
        <p:txBody>
          <a:bodyPr/>
          <a:p/>
        </p:txBody>
      </p:sp>
      <p:sp>
        <p:nvSpPr>
          <p:cNvPr id="13" name="Text 11"/>
          <p:cNvSpPr txBox="1"/>
          <p:nvPr/>
        </p:nvSpPr>
        <p:spPr>
          <a:xfrm>
            <a:off x="2514600" y="2651760"/>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A</a:t>
            </a:r>
            <a:endParaRPr lang="en-US" sz="1200" dirty="0"/>
          </a:p>
        </p:txBody>
      </p:sp>
      <p:sp>
        <p:nvSpPr>
          <p:cNvPr id="14" name="Shape 12"/>
          <p:cNvSpPr/>
          <p:nvPr/>
        </p:nvSpPr>
        <p:spPr>
          <a:xfrm>
            <a:off x="2514600" y="3218688"/>
            <a:ext cx="1417320" cy="457200"/>
          </a:xfrm>
          <a:prstGeom prst="roundRect">
            <a:avLst>
              <a:gd name="adj" fmla="val 10000"/>
            </a:avLst>
          </a:prstGeom>
          <a:solidFill>
            <a:srgbClr val="F2F2F2"/>
          </a:solidFill>
          <a:ln/>
        </p:spPr>
        <p:txBody>
          <a:bodyPr/>
          <a:p/>
        </p:txBody>
      </p:sp>
      <p:sp>
        <p:nvSpPr>
          <p:cNvPr id="15" name="Text 13"/>
          <p:cNvSpPr txBox="1"/>
          <p:nvPr/>
        </p:nvSpPr>
        <p:spPr>
          <a:xfrm>
            <a:off x="2514600" y="3218688"/>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B</a:t>
            </a:r>
            <a:endParaRPr lang="en-US" sz="1200" dirty="0"/>
          </a:p>
        </p:txBody>
      </p:sp>
      <p:sp>
        <p:nvSpPr>
          <p:cNvPr id="16" name="Shape 14"/>
          <p:cNvSpPr/>
          <p:nvPr/>
        </p:nvSpPr>
        <p:spPr>
          <a:xfrm>
            <a:off x="2514600" y="3785616"/>
            <a:ext cx="1417320" cy="457200"/>
          </a:xfrm>
          <a:prstGeom prst="roundRect">
            <a:avLst>
              <a:gd name="adj" fmla="val 10000"/>
            </a:avLst>
          </a:prstGeom>
          <a:solidFill>
            <a:srgbClr val="F2F2F2"/>
          </a:solidFill>
          <a:ln/>
        </p:spPr>
        <p:txBody>
          <a:bodyPr/>
          <a:p/>
        </p:txBody>
      </p:sp>
      <p:sp>
        <p:nvSpPr>
          <p:cNvPr id="17" name="Text 15"/>
          <p:cNvSpPr txBox="1"/>
          <p:nvPr/>
        </p:nvSpPr>
        <p:spPr>
          <a:xfrm>
            <a:off x="2514600" y="3785616"/>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C</a:t>
            </a:r>
            <a:endParaRPr lang="en-US" sz="1200" dirty="0"/>
          </a:p>
        </p:txBody>
      </p:sp>
      <p:sp>
        <p:nvSpPr>
          <p:cNvPr id="18" name="Text 16"/>
          <p:cNvSpPr txBox="1"/>
          <p:nvPr/>
        </p:nvSpPr>
        <p:spPr>
          <a:xfrm>
            <a:off x="2377440" y="4343400"/>
            <a:ext cx="1691640" cy="274320"/>
          </a:xfrm>
          <a:prstGeom prst="rect">
            <a:avLst/>
          </a:prstGeom>
          <a:noFill/>
          <a:ln/>
        </p:spPr>
        <p:txBody>
          <a:bodyPr wrap="square" lIns="0" tIns="0" rIns="0" bIns="0" rtlCol="0" anchor="t"/>
          <a:lstStyle/>
          <a:p>
            <a:pPr algn="ctr" indent="0" marL="0">
              <a:buNone/>
            </a:pPr>
            <a:r>
              <a:rPr lang="en-US" sz="1050" i="1" dirty="0">
                <a:solidFill>
                  <a:srgbClr val="6B7679"/>
                </a:solidFill>
                <a:latin typeface="Calibri" pitchFamily="34" charset="0"/>
                <a:ea typeface="Calibri" pitchFamily="34" charset="-122"/>
                <a:cs typeface="Calibri" pitchFamily="34" charset="-120"/>
              </a:rPr>
              <a:t>physical memory</a:t>
            </a:r>
            <a:endParaRPr lang="en-US" sz="1050" dirty="0"/>
          </a:p>
        </p:txBody>
      </p:sp>
      <p:sp>
        <p:nvSpPr>
          <p:cNvPr id="19" name="Shape 17"/>
          <p:cNvSpPr/>
          <p:nvPr/>
        </p:nvSpPr>
        <p:spPr>
          <a:xfrm flipV="1">
            <a:off x="1709928" y="2880360"/>
            <a:ext cx="786384" cy="868680"/>
          </a:xfrm>
          <a:prstGeom prst="line">
            <a:avLst/>
          </a:prstGeom>
          <a:noFill/>
          <a:ln w="15875">
            <a:solidFill>
              <a:srgbClr val="50808E"/>
            </a:solidFill>
            <a:prstDash val="solid"/>
            <a:tailEnd type="triangle"/>
          </a:ln>
        </p:spPr>
        <p:txBody>
          <a:bodyPr/>
          <a:p/>
        </p:txBody>
      </p:sp>
      <p:sp>
        <p:nvSpPr>
          <p:cNvPr id="20" name="Shape 18"/>
          <p:cNvSpPr/>
          <p:nvPr/>
        </p:nvSpPr>
        <p:spPr>
          <a:xfrm flipV="1">
            <a:off x="1709928" y="3447288"/>
            <a:ext cx="786384" cy="301752"/>
          </a:xfrm>
          <a:prstGeom prst="line">
            <a:avLst/>
          </a:prstGeom>
          <a:noFill/>
          <a:ln w="15875">
            <a:solidFill>
              <a:srgbClr val="50808E"/>
            </a:solidFill>
            <a:prstDash val="solid"/>
            <a:tailEnd type="triangle"/>
          </a:ln>
        </p:spPr>
        <p:txBody>
          <a:bodyPr/>
          <a:p/>
        </p:txBody>
      </p:sp>
      <p:sp>
        <p:nvSpPr>
          <p:cNvPr id="21" name="Shape 19"/>
          <p:cNvSpPr/>
          <p:nvPr/>
        </p:nvSpPr>
        <p:spPr>
          <a:xfrm>
            <a:off x="1709928" y="3749040"/>
            <a:ext cx="786384" cy="265176"/>
          </a:xfrm>
          <a:prstGeom prst="line">
            <a:avLst/>
          </a:prstGeom>
          <a:noFill/>
          <a:ln w="15875">
            <a:solidFill>
              <a:srgbClr val="50808E"/>
            </a:solidFill>
            <a:prstDash val="solid"/>
            <a:tailEnd type="triangle"/>
          </a:ln>
        </p:spPr>
        <p:txBody>
          <a:bodyPr/>
          <a:p/>
        </p:txBody>
      </p:sp>
      <p:sp>
        <p:nvSpPr>
          <p:cNvPr id="22" name="Shape 20"/>
          <p:cNvSpPr/>
          <p:nvPr/>
        </p:nvSpPr>
        <p:spPr>
          <a:xfrm flipH="1" flipV="1">
            <a:off x="3950208" y="2880360"/>
            <a:ext cx="786384" cy="868680"/>
          </a:xfrm>
          <a:prstGeom prst="line">
            <a:avLst/>
          </a:prstGeom>
          <a:noFill/>
          <a:ln w="15875">
            <a:solidFill>
              <a:srgbClr val="50808E"/>
            </a:solidFill>
            <a:prstDash val="solid"/>
            <a:tailEnd type="triangle"/>
          </a:ln>
        </p:spPr>
        <p:txBody>
          <a:bodyPr/>
          <a:p/>
        </p:txBody>
      </p:sp>
      <p:sp>
        <p:nvSpPr>
          <p:cNvPr id="23" name="Shape 21"/>
          <p:cNvSpPr/>
          <p:nvPr/>
        </p:nvSpPr>
        <p:spPr>
          <a:xfrm flipH="1" flipV="1">
            <a:off x="3950208" y="3447288"/>
            <a:ext cx="786384" cy="301752"/>
          </a:xfrm>
          <a:prstGeom prst="line">
            <a:avLst/>
          </a:prstGeom>
          <a:noFill/>
          <a:ln w="15875">
            <a:solidFill>
              <a:srgbClr val="50808E"/>
            </a:solidFill>
            <a:prstDash val="solid"/>
            <a:tailEnd type="triangle"/>
          </a:ln>
        </p:spPr>
        <p:txBody>
          <a:bodyPr/>
          <a:p/>
        </p:txBody>
      </p:sp>
      <p:sp>
        <p:nvSpPr>
          <p:cNvPr id="24" name="Shape 22"/>
          <p:cNvSpPr/>
          <p:nvPr/>
        </p:nvSpPr>
        <p:spPr>
          <a:xfrm flipH="1">
            <a:off x="3950208" y="3749040"/>
            <a:ext cx="786384" cy="265176"/>
          </a:xfrm>
          <a:prstGeom prst="line">
            <a:avLst/>
          </a:prstGeom>
          <a:noFill/>
          <a:ln w="15875">
            <a:solidFill>
              <a:srgbClr val="50808E"/>
            </a:solidFill>
            <a:prstDash val="solid"/>
            <a:tailEnd type="triangle"/>
          </a:ln>
        </p:spPr>
        <p:txBody>
          <a:bodyPr/>
          <a:p/>
        </p:txBody>
      </p:sp>
      <p:sp>
        <p:nvSpPr>
          <p:cNvPr id="25" name="Text 23"/>
          <p:cNvSpPr txBox="1"/>
          <p:nvPr/>
        </p:nvSpPr>
        <p:spPr>
          <a:xfrm>
            <a:off x="6309360" y="2148840"/>
            <a:ext cx="539496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2. Child writes page C: only C is copied</a:t>
            </a:r>
            <a:endParaRPr lang="en-US" sz="1400" dirty="0"/>
          </a:p>
        </p:txBody>
      </p:sp>
      <p:sp>
        <p:nvSpPr>
          <p:cNvPr id="26" name="Shape 24"/>
          <p:cNvSpPr/>
          <p:nvPr/>
        </p:nvSpPr>
        <p:spPr>
          <a:xfrm>
            <a:off x="6309360" y="2926080"/>
            <a:ext cx="1143000" cy="1645920"/>
          </a:xfrm>
          <a:prstGeom prst="roundRect">
            <a:avLst>
              <a:gd name="adj" fmla="val 4000"/>
            </a:avLst>
          </a:prstGeom>
          <a:solidFill>
            <a:srgbClr val="36454F"/>
          </a:solidFill>
          <a:ln/>
        </p:spPr>
        <p:txBody>
          <a:bodyPr/>
          <a:p/>
        </p:txBody>
      </p:sp>
      <p:sp>
        <p:nvSpPr>
          <p:cNvPr id="27" name="Text 25"/>
          <p:cNvSpPr txBox="1"/>
          <p:nvPr/>
        </p:nvSpPr>
        <p:spPr>
          <a:xfrm>
            <a:off x="6309360" y="2926080"/>
            <a:ext cx="1143000" cy="1645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Parent</a:t>
            </a:r>
            <a:endParaRPr lang="en-US" sz="1300" dirty="0"/>
          </a:p>
        </p:txBody>
      </p:sp>
      <p:sp>
        <p:nvSpPr>
          <p:cNvPr id="28" name="Shape 26"/>
          <p:cNvSpPr/>
          <p:nvPr/>
        </p:nvSpPr>
        <p:spPr>
          <a:xfrm>
            <a:off x="10515600" y="2926080"/>
            <a:ext cx="1143000" cy="1645920"/>
          </a:xfrm>
          <a:prstGeom prst="roundRect">
            <a:avLst>
              <a:gd name="adj" fmla="val 4000"/>
            </a:avLst>
          </a:prstGeom>
          <a:solidFill>
            <a:srgbClr val="36454F"/>
          </a:solidFill>
          <a:ln/>
        </p:spPr>
        <p:txBody>
          <a:bodyPr/>
          <a:p/>
        </p:txBody>
      </p:sp>
      <p:sp>
        <p:nvSpPr>
          <p:cNvPr id="29" name="Text 27"/>
          <p:cNvSpPr txBox="1"/>
          <p:nvPr/>
        </p:nvSpPr>
        <p:spPr>
          <a:xfrm>
            <a:off x="10515600" y="2926080"/>
            <a:ext cx="1143000" cy="164592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Child</a:t>
            </a:r>
            <a:endParaRPr lang="en-US" sz="1300" dirty="0"/>
          </a:p>
        </p:txBody>
      </p:sp>
      <p:sp>
        <p:nvSpPr>
          <p:cNvPr id="30" name="Shape 28"/>
          <p:cNvSpPr/>
          <p:nvPr/>
        </p:nvSpPr>
        <p:spPr>
          <a:xfrm>
            <a:off x="8275320" y="2651760"/>
            <a:ext cx="1417320" cy="457200"/>
          </a:xfrm>
          <a:prstGeom prst="roundRect">
            <a:avLst>
              <a:gd name="adj" fmla="val 10000"/>
            </a:avLst>
          </a:prstGeom>
          <a:solidFill>
            <a:srgbClr val="F2F2F2"/>
          </a:solidFill>
          <a:ln/>
        </p:spPr>
        <p:txBody>
          <a:bodyPr/>
          <a:p/>
        </p:txBody>
      </p:sp>
      <p:sp>
        <p:nvSpPr>
          <p:cNvPr id="31" name="Text 29"/>
          <p:cNvSpPr txBox="1"/>
          <p:nvPr/>
        </p:nvSpPr>
        <p:spPr>
          <a:xfrm>
            <a:off x="8275320" y="2651760"/>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A</a:t>
            </a:r>
            <a:endParaRPr lang="en-US" sz="1200" dirty="0"/>
          </a:p>
        </p:txBody>
      </p:sp>
      <p:sp>
        <p:nvSpPr>
          <p:cNvPr id="32" name="Shape 30"/>
          <p:cNvSpPr/>
          <p:nvPr/>
        </p:nvSpPr>
        <p:spPr>
          <a:xfrm>
            <a:off x="8275320" y="3218688"/>
            <a:ext cx="1417320" cy="457200"/>
          </a:xfrm>
          <a:prstGeom prst="roundRect">
            <a:avLst>
              <a:gd name="adj" fmla="val 10000"/>
            </a:avLst>
          </a:prstGeom>
          <a:solidFill>
            <a:srgbClr val="F2F2F2"/>
          </a:solidFill>
          <a:ln/>
        </p:spPr>
        <p:txBody>
          <a:bodyPr/>
          <a:p/>
        </p:txBody>
      </p:sp>
      <p:sp>
        <p:nvSpPr>
          <p:cNvPr id="33" name="Text 31"/>
          <p:cNvSpPr txBox="1"/>
          <p:nvPr/>
        </p:nvSpPr>
        <p:spPr>
          <a:xfrm>
            <a:off x="8275320" y="3218688"/>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B</a:t>
            </a:r>
            <a:endParaRPr lang="en-US" sz="1200" dirty="0"/>
          </a:p>
        </p:txBody>
      </p:sp>
      <p:sp>
        <p:nvSpPr>
          <p:cNvPr id="34" name="Shape 32"/>
          <p:cNvSpPr/>
          <p:nvPr/>
        </p:nvSpPr>
        <p:spPr>
          <a:xfrm>
            <a:off x="8275320" y="3785616"/>
            <a:ext cx="1417320" cy="457200"/>
          </a:xfrm>
          <a:prstGeom prst="roundRect">
            <a:avLst>
              <a:gd name="adj" fmla="val 10000"/>
            </a:avLst>
          </a:prstGeom>
          <a:solidFill>
            <a:srgbClr val="D7E9E6"/>
          </a:solidFill>
          <a:ln/>
        </p:spPr>
        <p:txBody>
          <a:bodyPr/>
          <a:p/>
        </p:txBody>
      </p:sp>
      <p:sp>
        <p:nvSpPr>
          <p:cNvPr id="35" name="Text 33"/>
          <p:cNvSpPr txBox="1"/>
          <p:nvPr/>
        </p:nvSpPr>
        <p:spPr>
          <a:xfrm>
            <a:off x="8275320" y="3785616"/>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page C</a:t>
            </a:r>
            <a:endParaRPr lang="en-US" sz="1200" dirty="0"/>
          </a:p>
        </p:txBody>
      </p:sp>
      <p:sp>
        <p:nvSpPr>
          <p:cNvPr id="36" name="Shape 34"/>
          <p:cNvSpPr/>
          <p:nvPr/>
        </p:nvSpPr>
        <p:spPr>
          <a:xfrm>
            <a:off x="8275320" y="4352544"/>
            <a:ext cx="1417320" cy="457200"/>
          </a:xfrm>
          <a:prstGeom prst="roundRect">
            <a:avLst>
              <a:gd name="adj" fmla="val 10000"/>
            </a:avLst>
          </a:prstGeom>
          <a:solidFill>
            <a:srgbClr val="02C39A"/>
          </a:solidFill>
          <a:ln/>
        </p:spPr>
        <p:txBody>
          <a:bodyPr/>
          <a:p/>
        </p:txBody>
      </p:sp>
      <p:sp>
        <p:nvSpPr>
          <p:cNvPr id="37" name="Text 35"/>
          <p:cNvSpPr txBox="1"/>
          <p:nvPr/>
        </p:nvSpPr>
        <p:spPr>
          <a:xfrm>
            <a:off x="8275320" y="4352544"/>
            <a:ext cx="1417320" cy="45720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copy of C</a:t>
            </a:r>
            <a:endParaRPr lang="en-US" sz="1200" dirty="0"/>
          </a:p>
        </p:txBody>
      </p:sp>
      <p:sp>
        <p:nvSpPr>
          <p:cNvPr id="38" name="Text 36"/>
          <p:cNvSpPr txBox="1"/>
          <p:nvPr/>
        </p:nvSpPr>
        <p:spPr>
          <a:xfrm>
            <a:off x="8138160" y="4892040"/>
            <a:ext cx="1691640" cy="274320"/>
          </a:xfrm>
          <a:prstGeom prst="rect">
            <a:avLst/>
          </a:prstGeom>
          <a:noFill/>
          <a:ln/>
        </p:spPr>
        <p:txBody>
          <a:bodyPr wrap="square" lIns="0" tIns="0" rIns="0" bIns="0" rtlCol="0" anchor="t"/>
          <a:lstStyle/>
          <a:p>
            <a:pPr algn="ctr" indent="0" marL="0">
              <a:buNone/>
            </a:pPr>
            <a:r>
              <a:rPr lang="en-US" sz="1050" i="1" dirty="0">
                <a:solidFill>
                  <a:srgbClr val="6B7679"/>
                </a:solidFill>
                <a:latin typeface="Calibri" pitchFamily="34" charset="0"/>
                <a:ea typeface="Calibri" pitchFamily="34" charset="-122"/>
                <a:cs typeface="Calibri" pitchFamily="34" charset="-120"/>
              </a:rPr>
              <a:t>physical memory</a:t>
            </a:r>
            <a:endParaRPr lang="en-US" sz="1050" dirty="0"/>
          </a:p>
        </p:txBody>
      </p:sp>
      <p:sp>
        <p:nvSpPr>
          <p:cNvPr id="39" name="Shape 37"/>
          <p:cNvSpPr/>
          <p:nvPr/>
        </p:nvSpPr>
        <p:spPr>
          <a:xfrm flipV="1">
            <a:off x="7470648" y="2880360"/>
            <a:ext cx="786384" cy="868680"/>
          </a:xfrm>
          <a:prstGeom prst="line">
            <a:avLst/>
          </a:prstGeom>
          <a:noFill/>
          <a:ln w="15875">
            <a:solidFill>
              <a:srgbClr val="50808E"/>
            </a:solidFill>
            <a:prstDash val="solid"/>
            <a:tailEnd type="triangle"/>
          </a:ln>
        </p:spPr>
        <p:txBody>
          <a:bodyPr/>
          <a:p/>
        </p:txBody>
      </p:sp>
      <p:sp>
        <p:nvSpPr>
          <p:cNvPr id="40" name="Shape 38"/>
          <p:cNvSpPr/>
          <p:nvPr/>
        </p:nvSpPr>
        <p:spPr>
          <a:xfrm flipV="1">
            <a:off x="7470648" y="3447288"/>
            <a:ext cx="786384" cy="301752"/>
          </a:xfrm>
          <a:prstGeom prst="line">
            <a:avLst/>
          </a:prstGeom>
          <a:noFill/>
          <a:ln w="15875">
            <a:solidFill>
              <a:srgbClr val="50808E"/>
            </a:solidFill>
            <a:prstDash val="solid"/>
            <a:tailEnd type="triangle"/>
          </a:ln>
        </p:spPr>
        <p:txBody>
          <a:bodyPr/>
          <a:p/>
        </p:txBody>
      </p:sp>
      <p:sp>
        <p:nvSpPr>
          <p:cNvPr id="41" name="Shape 39"/>
          <p:cNvSpPr/>
          <p:nvPr/>
        </p:nvSpPr>
        <p:spPr>
          <a:xfrm>
            <a:off x="7470648" y="3749040"/>
            <a:ext cx="786384" cy="265176"/>
          </a:xfrm>
          <a:prstGeom prst="line">
            <a:avLst/>
          </a:prstGeom>
          <a:noFill/>
          <a:ln w="15875">
            <a:solidFill>
              <a:srgbClr val="50808E"/>
            </a:solidFill>
            <a:prstDash val="solid"/>
            <a:tailEnd type="triangle"/>
          </a:ln>
        </p:spPr>
        <p:txBody>
          <a:bodyPr/>
          <a:p/>
        </p:txBody>
      </p:sp>
      <p:sp>
        <p:nvSpPr>
          <p:cNvPr id="42" name="Shape 40"/>
          <p:cNvSpPr/>
          <p:nvPr/>
        </p:nvSpPr>
        <p:spPr>
          <a:xfrm flipH="1" flipV="1">
            <a:off x="9710928" y="2880360"/>
            <a:ext cx="786384" cy="868680"/>
          </a:xfrm>
          <a:prstGeom prst="line">
            <a:avLst/>
          </a:prstGeom>
          <a:noFill/>
          <a:ln w="15875">
            <a:solidFill>
              <a:srgbClr val="50808E"/>
            </a:solidFill>
            <a:prstDash val="solid"/>
            <a:tailEnd type="triangle"/>
          </a:ln>
        </p:spPr>
        <p:txBody>
          <a:bodyPr/>
          <a:p/>
        </p:txBody>
      </p:sp>
      <p:sp>
        <p:nvSpPr>
          <p:cNvPr id="43" name="Shape 41"/>
          <p:cNvSpPr/>
          <p:nvPr/>
        </p:nvSpPr>
        <p:spPr>
          <a:xfrm flipH="1" flipV="1">
            <a:off x="9710928" y="3447288"/>
            <a:ext cx="786384" cy="301752"/>
          </a:xfrm>
          <a:prstGeom prst="line">
            <a:avLst/>
          </a:prstGeom>
          <a:noFill/>
          <a:ln w="15875">
            <a:solidFill>
              <a:srgbClr val="50808E"/>
            </a:solidFill>
            <a:prstDash val="solid"/>
            <a:tailEnd type="triangle"/>
          </a:ln>
        </p:spPr>
        <p:txBody>
          <a:bodyPr/>
          <a:p/>
        </p:txBody>
      </p:sp>
      <p:sp>
        <p:nvSpPr>
          <p:cNvPr id="44" name="Shape 42"/>
          <p:cNvSpPr/>
          <p:nvPr/>
        </p:nvSpPr>
        <p:spPr>
          <a:xfrm flipH="1">
            <a:off x="9710928" y="3749040"/>
            <a:ext cx="786384" cy="832104"/>
          </a:xfrm>
          <a:prstGeom prst="line">
            <a:avLst/>
          </a:prstGeom>
          <a:noFill/>
          <a:ln w="15875">
            <a:solidFill>
              <a:srgbClr val="028090"/>
            </a:solidFill>
            <a:prstDash val="solid"/>
            <a:tailEnd type="triangle"/>
          </a:ln>
        </p:spPr>
        <p:txBody>
          <a:bodyPr/>
          <a:p/>
        </p:txBody>
      </p:sp>
      <p:sp>
        <p:nvSpPr>
          <p:cNvPr id="45" name="Shape 43"/>
          <p:cNvSpPr/>
          <p:nvPr/>
        </p:nvSpPr>
        <p:spPr>
          <a:xfrm>
            <a:off x="548640" y="5257800"/>
            <a:ext cx="11109960" cy="1005840"/>
          </a:xfrm>
          <a:prstGeom prst="roundRect">
            <a:avLst>
              <a:gd name="adj" fmla="val 5455"/>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46" name="Text 44"/>
          <p:cNvSpPr txBox="1"/>
          <p:nvPr/>
        </p:nvSpPr>
        <p:spPr>
          <a:xfrm>
            <a:off x="777240" y="5257800"/>
            <a:ext cx="10652760" cy="10058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After fork() both processes share all pages, marked read-only. The first write to a page causes a page fault; the OS then copies just that page. Pages that are never written — often most of them, especially if the child soon calls exec() — are never copied.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1: Watching Demand Paging Happen</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11</a:t>
            </a:r>
            <a:endParaRPr lang="en-US" sz="900" dirty="0"/>
          </a:p>
        </p:txBody>
      </p:sp>
      <p:sp>
        <p:nvSpPr>
          <p:cNvPr id="6" name="Shape 4"/>
          <p:cNvSpPr/>
          <p:nvPr/>
        </p:nvSpPr>
        <p:spPr>
          <a:xfrm>
            <a:off x="548640" y="1508760"/>
            <a:ext cx="6492240" cy="4754880"/>
          </a:xfrm>
          <a:prstGeom prst="roundRect">
            <a:avLst>
              <a:gd name="adj" fmla="val 962"/>
            </a:avLst>
          </a:prstGeom>
          <a:solidFill>
            <a:srgbClr val="212121"/>
          </a:solidFill>
          <a:ln/>
        </p:spPr>
        <p:txBody>
          <a:bodyPr/>
          <a:p/>
        </p:txBody>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static long minor_faults(void)          /* kernel's counter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struct rusage ru;</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getrusage(RUSAGE_SELF, &amp;ru);</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return ru.ru_minflt;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int main(void)</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page = sysconf(_SC_PAGESIZE);  /* 4096 bytes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size = 64 * MB;                /* 16384 pages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f0 = minor_faults();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char *a = malloc(size);             /* virtual only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f1 = minor_faults();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for (long i = 0; i &lt; size; i += page)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a[i] = 1;                       /* first touch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f2 = minor_faults();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for (long i = 0; i &lt; size; i += page)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a[i] += 1;                      /* now resident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f3 = minor_faults();</a:t>
            </a:r>
            <a:endParaRPr lang="en-US" sz="1150" dirty="0"/>
          </a:p>
          <a:p>
            <a:pPr indent="0" marL="0">
              <a:lnSpc>
                <a:spcPct val="105000"/>
              </a:lnSpc>
              <a:buNone/>
            </a:pPr>
            <a:r>
              <a:rPr lang="en-US" sz="1150" dirty="0">
                <a:solidFill>
                  <a:srgbClr val="8A9AA0"/>
                </a:solidFill>
                <a:latin typeface="Consolas" pitchFamily="34" charset="0"/>
                <a:ea typeface="Consolas" pitchFamily="34" charset="-122"/>
                <a:cs typeface="Consolas" pitchFamily="34" charset="-120"/>
              </a:rPr>
              <a:t>    /* print f1-f0, f2-f1, f3-f2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8A9AA0"/>
                </a:solidFill>
                <a:latin typeface="Consolas" pitchFamily="34" charset="0"/>
                <a:ea typeface="Consolas" pitchFamily="34" charset="-122"/>
                <a:cs typeface="Consolas" pitchFamily="34" charset="-120"/>
              </a:rPr>
              <a:t>/* full program: code/page_faults.c */</a:t>
            </a:r>
            <a:endParaRPr lang="en-US" sz="1150" dirty="0"/>
          </a:p>
        </p:txBody>
      </p:sp>
      <p:sp>
        <p:nvSpPr>
          <p:cNvPr id="8" name="Shape 6"/>
          <p:cNvSpPr/>
          <p:nvPr/>
        </p:nvSpPr>
        <p:spPr>
          <a:xfrm>
            <a:off x="7315200" y="1508760"/>
            <a:ext cx="434340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543800" y="2148840"/>
            <a:ext cx="3886200" cy="21945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malloc() only reserves virtual space: almost no faults.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first write to each page faults once: 16,383 + 1 = 16,384 pages.</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Second pass: 0 faults — the pages are now resident.</a:t>
            </a:r>
            <a:endParaRPr lang="en-US" sz="1300" dirty="0"/>
          </a:p>
        </p:txBody>
      </p:sp>
      <p:sp>
        <p:nvSpPr>
          <p:cNvPr id="11" name="Shape 9"/>
          <p:cNvSpPr/>
          <p:nvPr/>
        </p:nvSpPr>
        <p:spPr>
          <a:xfrm>
            <a:off x="7315200" y="4709160"/>
            <a:ext cx="4343400" cy="1554480"/>
          </a:xfrm>
          <a:prstGeom prst="roundRect">
            <a:avLst>
              <a:gd name="adj" fmla="val 2941"/>
            </a:avLst>
          </a:prstGeom>
          <a:solidFill>
            <a:srgbClr val="212121"/>
          </a:solidFill>
          <a:ln/>
        </p:spPr>
        <p:txBody>
          <a:bodyPr/>
          <a:p/>
        </p:txBody>
      </p:sp>
      <p:sp>
        <p:nvSpPr>
          <p:cNvPr id="12" name="Text 10"/>
          <p:cNvSpPr txBox="1"/>
          <p:nvPr/>
        </p:nvSpPr>
        <p:spPr>
          <a:xfrm>
            <a:off x="7498080" y="4818888"/>
            <a:ext cx="3977640" cy="1335024"/>
          </a:xfrm>
          <a:prstGeom prst="rect">
            <a:avLst/>
          </a:prstGeom>
          <a:noFill/>
          <a:ln/>
        </p:spPr>
        <p:txBody>
          <a:bodyPr wrap="square" lIns="0" tIns="0" rIns="0" bIns="0" rtlCol="0" anchor="t"/>
          <a:lstStyle/>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./page_faults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page size 4096 bytes; array 64 MB = 16384 pages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after malloc       :      1 new faults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first touch (write):  16383 new faults</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second touch       :      0 new faults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2: Copy-on-Write, Measured</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12</a:t>
            </a:r>
            <a:endParaRPr lang="en-US" sz="900" dirty="0"/>
          </a:p>
        </p:txBody>
      </p:sp>
      <p:sp>
        <p:nvSpPr>
          <p:cNvPr id="6" name="Shape 4"/>
          <p:cNvSpPr/>
          <p:nvPr/>
        </p:nvSpPr>
        <p:spPr>
          <a:xfrm>
            <a:off x="548640" y="1508760"/>
            <a:ext cx="6492240" cy="4754880"/>
          </a:xfrm>
          <a:prstGeom prst="roundRect">
            <a:avLst>
              <a:gd name="adj" fmla="val 962"/>
            </a:avLst>
          </a:prstGeom>
          <a:solidFill>
            <a:srgbClr val="212121"/>
          </a:solidFill>
          <a:ln/>
        </p:spPr>
        <p:txBody>
          <a:bodyPr/>
          <a:p/>
        </p:txBody>
      </p:sp>
      <p:sp>
        <p:nvSpPr>
          <p:cNvPr id="7" name="Text 5"/>
          <p:cNvSpPr txBox="1"/>
          <p:nvPr/>
        </p:nvSpPr>
        <p:spPr>
          <a:xfrm>
            <a:off x="731520" y="1618488"/>
            <a:ext cx="6126480" cy="4535424"/>
          </a:xfrm>
          <a:prstGeom prst="rect">
            <a:avLst/>
          </a:prstGeom>
          <a:noFill/>
          <a:ln/>
        </p:spPr>
        <p:txBody>
          <a:bodyPr wrap="square" lIns="0" tIns="0" rIns="0" bIns="0" rtlCol="0" anchor="t"/>
          <a:lstStyle/>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char *buf = malloc(SIZE);              /* 32 MB = 8192 pages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memset(buf, 'A', SIZE);                /* parent owns them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pid_t pid = fork();</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if (pid == 0) {                        /* ---- child ----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f0 = minor_faults();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for (long i = 0; i &lt; SIZE; i += page)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sum += buf[i];                 /* READ: shared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f1 = minor_faults();</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for (long i = 0; i &lt; SIZE; i += page)</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buf[i] = 'B';                  /* WRITE: copy page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long f2 = minor_faults();</a:t>
            </a:r>
            <a:endParaRPr lang="en-US" sz="1150" dirty="0"/>
          </a:p>
          <a:p>
            <a:pPr indent="0" marL="0">
              <a:lnSpc>
                <a:spcPct val="105000"/>
              </a:lnSpc>
              <a:buNone/>
            </a:pPr>
            <a:r>
              <a:rPr lang="en-US" sz="1150" dirty="0">
                <a:solidFill>
                  <a:srgbClr val="8A9AA0"/>
                </a:solidFill>
                <a:latin typeface="Consolas" pitchFamily="34" charset="0"/>
                <a:ea typeface="Consolas" pitchFamily="34" charset="-122"/>
                <a:cs typeface="Consolas" pitchFamily="34" charset="-120"/>
              </a:rPr>
              <a:t>    /* print f1 - f0 and f2 - f1 */</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    exit(0);</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wait(NULL);</a:t>
            </a:r>
            <a:endParaRPr lang="en-US" sz="1150" dirty="0"/>
          </a:p>
          <a:p>
            <a:pPr indent="0" marL="0">
              <a:lnSpc>
                <a:spcPct val="105000"/>
              </a:lnSpc>
              <a:buNone/>
            </a:pPr>
            <a:r>
              <a:rPr lang="en-US" sz="1150" dirty="0">
                <a:solidFill>
                  <a:srgbClr val="F2F2F2"/>
                </a:solidFill>
                <a:latin typeface="Consolas" pitchFamily="34" charset="0"/>
                <a:ea typeface="Consolas" pitchFamily="34" charset="-122"/>
                <a:cs typeface="Consolas" pitchFamily="34" charset="-120"/>
              </a:rPr>
              <a:t>printf("parent still sees '%c'\n", buf[0]);</a:t>
            </a:r>
            <a:endParaRPr lang="en-US" sz="1150" dirty="0"/>
          </a:p>
          <a:p>
            <a:pPr indent="0" marL="0">
              <a:lnSpc>
                <a:spcPct val="105000"/>
              </a:lnSpc>
              <a:buNone/>
            </a:pPr>
            <a:r>
              <a:rPr lang="en-US" sz="1150" dirty="0">
                <a:solidFill>
                  <a:srgbClr val="8A9AA0"/>
                </a:solidFill>
                <a:latin typeface="Consolas" pitchFamily="34" charset="0"/>
                <a:ea typeface="Consolas" pitchFamily="34" charset="-122"/>
                <a:cs typeface="Consolas" pitchFamily="34" charset="-120"/>
              </a:rPr>
              <a:t>/* full program: code/cow_fork.c */</a:t>
            </a:r>
            <a:endParaRPr lang="en-US" sz="1150" dirty="0"/>
          </a:p>
        </p:txBody>
      </p:sp>
      <p:sp>
        <p:nvSpPr>
          <p:cNvPr id="8" name="Shape 6"/>
          <p:cNvSpPr/>
          <p:nvPr/>
        </p:nvSpPr>
        <p:spPr>
          <a:xfrm>
            <a:off x="7315200" y="1508760"/>
            <a:ext cx="4343400" cy="2743200"/>
          </a:xfrm>
          <a:prstGeom prst="roundRect">
            <a:avLst>
              <a:gd name="adj" fmla="val 2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543800" y="1691640"/>
            <a:ext cx="3886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7543800" y="2148840"/>
            <a:ext cx="3886200" cy="1965960"/>
          </a:xfrm>
          <a:prstGeom prst="rect">
            <a:avLst/>
          </a:prstGeom>
          <a:noFill/>
          <a:ln/>
        </p:spPr>
        <p:txBody>
          <a:bodyPr wrap="square" lIns="0" tIns="0" rIns="0" bIns="0" rtlCol="0" anchor="t"/>
          <a:lstStyle/>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Reading shared pages: no faults at all.</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Writing: one fault per page (8192) — each is copied on first write.</a:t>
            </a:r>
            <a:endParaRPr lang="en-US" sz="1300" dirty="0"/>
          </a:p>
          <a:p>
            <a:pPr marL="228600" indent="-228600">
              <a:spcAft>
                <a:spcPts val="400"/>
              </a:spcAft>
              <a:buSzPct val="100000"/>
              <a:buChar char="•"/>
            </a:pPr>
            <a:r>
              <a:rPr lang="en-US" sz="1300" dirty="0">
                <a:solidFill>
                  <a:srgbClr val="3A464C"/>
                </a:solidFill>
                <a:latin typeface="Calibri" pitchFamily="34" charset="0"/>
                <a:ea typeface="Calibri" pitchFamily="34" charset="-122"/>
                <a:cs typeface="Calibri" pitchFamily="34" charset="-120"/>
              </a:rPr>
              <a:t>The parent's data is untouched.</a:t>
            </a:r>
            <a:endParaRPr lang="en-US" sz="1300" dirty="0"/>
          </a:p>
        </p:txBody>
      </p:sp>
      <p:sp>
        <p:nvSpPr>
          <p:cNvPr id="11" name="Shape 9"/>
          <p:cNvSpPr/>
          <p:nvPr/>
        </p:nvSpPr>
        <p:spPr>
          <a:xfrm>
            <a:off x="7315200" y="4480560"/>
            <a:ext cx="4343400" cy="1783080"/>
          </a:xfrm>
          <a:prstGeom prst="roundRect">
            <a:avLst>
              <a:gd name="adj" fmla="val 2564"/>
            </a:avLst>
          </a:prstGeom>
          <a:solidFill>
            <a:srgbClr val="212121"/>
          </a:solidFill>
          <a:ln/>
        </p:spPr>
        <p:txBody>
          <a:bodyPr/>
          <a:p/>
        </p:txBody>
      </p:sp>
      <p:sp>
        <p:nvSpPr>
          <p:cNvPr id="12" name="Text 10"/>
          <p:cNvSpPr txBox="1"/>
          <p:nvPr/>
        </p:nvSpPr>
        <p:spPr>
          <a:xfrm>
            <a:off x="7498080" y="4590288"/>
            <a:ext cx="3977640" cy="1563624"/>
          </a:xfrm>
          <a:prstGeom prst="rect">
            <a:avLst/>
          </a:prstGeom>
          <a:noFill/>
          <a:ln/>
        </p:spPr>
        <p:txBody>
          <a:bodyPr wrap="square" lIns="0" tIns="0" rIns="0" bIns="0" rtlCol="0" anchor="t"/>
          <a:lstStyle/>
          <a:p>
            <a:pPr indent="0" marL="0">
              <a:lnSpc>
                <a:spcPct val="105000"/>
              </a:lnSpc>
              <a:buNone/>
            </a:pPr>
            <a:r>
              <a:rPr lang="en-US" sz="1000" dirty="0">
                <a:solidFill>
                  <a:srgbClr val="02C39A"/>
                </a:solidFill>
                <a:latin typeface="Consolas" pitchFamily="34" charset="0"/>
                <a:ea typeface="Consolas" pitchFamily="34" charset="-122"/>
                <a:cs typeface="Consolas" pitchFamily="34" charset="-120"/>
              </a:rPr>
              <a:t>$ ./cow_fork</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buffer: 8192 pages of 4096 bytes</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child read  all pages:      0 faults</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child write all pages:   8192 faults</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                      (copy-on-write)</a:t>
            </a:r>
            <a:endParaRPr lang="en-US" sz="1000" dirty="0"/>
          </a:p>
          <a:p>
            <a:pPr indent="0" marL="0">
              <a:lnSpc>
                <a:spcPct val="105000"/>
              </a:lnSpc>
              <a:buNone/>
            </a:pPr>
            <a:r>
              <a:rPr lang="en-US" sz="1000" dirty="0">
                <a:solidFill>
                  <a:srgbClr val="F2F2F2"/>
                </a:solidFill>
                <a:latin typeface="Consolas" pitchFamily="34" charset="0"/>
                <a:ea typeface="Consolas" pitchFamily="34" charset="-122"/>
                <a:cs typeface="Consolas" pitchFamily="34" charset="-120"/>
              </a:rPr>
              <a:t>parent still sees  'A'</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REPLACEMENT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No Free Frame? Someone Has to Leave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Memory is over-allocated on purpose. When a page fault finds every frame in use, the OS must choose a victim page.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13</a:t>
            </a:r>
            <a:endParaRPr lang="en-US" sz="900" dirty="0"/>
          </a:p>
        </p:txBody>
      </p:sp>
      <p:sp>
        <p:nvSpPr>
          <p:cNvPr id="7" name="Shape 5"/>
          <p:cNvSpPr/>
          <p:nvPr/>
        </p:nvSpPr>
        <p:spPr>
          <a:xfrm>
            <a:off x="548640"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8" name="Text 6"/>
          <p:cNvSpPr txBox="1"/>
          <p:nvPr/>
        </p:nvSpPr>
        <p:spPr>
          <a:xfrm>
            <a:off x="777240" y="233172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1. Find the page</a:t>
            </a:r>
            <a:endParaRPr lang="en-US" sz="1500" dirty="0"/>
          </a:p>
        </p:txBody>
      </p:sp>
      <p:sp>
        <p:nvSpPr>
          <p:cNvPr id="9" name="Text 7"/>
          <p:cNvSpPr txBox="1"/>
          <p:nvPr/>
        </p:nvSpPr>
        <p:spPr>
          <a:xfrm>
            <a:off x="777240" y="2788920"/>
            <a:ext cx="160020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Locate the wanted page on the disk.</a:t>
            </a:r>
            <a:endParaRPr lang="en-US" sz="1400" dirty="0"/>
          </a:p>
        </p:txBody>
      </p:sp>
      <p:sp>
        <p:nvSpPr>
          <p:cNvPr id="10" name="Shape 8"/>
          <p:cNvSpPr/>
          <p:nvPr/>
        </p:nvSpPr>
        <p:spPr>
          <a:xfrm>
            <a:off x="2615184" y="3063240"/>
            <a:ext cx="182880" cy="91"/>
          </a:xfrm>
          <a:prstGeom prst="line">
            <a:avLst/>
          </a:prstGeom>
          <a:noFill/>
          <a:ln w="19050">
            <a:solidFill>
              <a:srgbClr val="50808E"/>
            </a:solidFill>
            <a:prstDash val="solid"/>
            <a:tailEnd type="triangle"/>
          </a:ln>
        </p:spPr>
        <p:txBody>
          <a:bodyPr/>
          <a:p/>
        </p:txBody>
      </p:sp>
      <p:sp>
        <p:nvSpPr>
          <p:cNvPr id="11" name="Shape 9"/>
          <p:cNvSpPr/>
          <p:nvPr/>
        </p:nvSpPr>
        <p:spPr>
          <a:xfrm>
            <a:off x="2807208" y="2148840"/>
            <a:ext cx="2057400" cy="1828800"/>
          </a:xfrm>
          <a:prstGeom prst="roundRect">
            <a:avLst>
              <a:gd name="adj" fmla="val 3000"/>
            </a:avLst>
          </a:prstGeom>
          <a:solidFill>
            <a:srgbClr val="D7E9E6"/>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3035808" y="233172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2. Choose a victim</a:t>
            </a:r>
            <a:endParaRPr lang="en-US" sz="1500" dirty="0"/>
          </a:p>
        </p:txBody>
      </p:sp>
      <p:sp>
        <p:nvSpPr>
          <p:cNvPr id="13" name="Text 11"/>
          <p:cNvSpPr txBox="1"/>
          <p:nvPr/>
        </p:nvSpPr>
        <p:spPr>
          <a:xfrm>
            <a:off x="3035808" y="2788920"/>
            <a:ext cx="160020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No free frame → a replacement algorithm picks one.</a:t>
            </a:r>
            <a:endParaRPr lang="en-US" sz="1400" dirty="0"/>
          </a:p>
        </p:txBody>
      </p:sp>
      <p:sp>
        <p:nvSpPr>
          <p:cNvPr id="14" name="Shape 12"/>
          <p:cNvSpPr/>
          <p:nvPr/>
        </p:nvSpPr>
        <p:spPr>
          <a:xfrm>
            <a:off x="4873752" y="3063240"/>
            <a:ext cx="182880" cy="91"/>
          </a:xfrm>
          <a:prstGeom prst="line">
            <a:avLst/>
          </a:prstGeom>
          <a:noFill/>
          <a:ln w="19050">
            <a:solidFill>
              <a:srgbClr val="50808E"/>
            </a:solidFill>
            <a:prstDash val="solid"/>
            <a:tailEnd type="triangle"/>
          </a:ln>
        </p:spPr>
        <p:txBody>
          <a:bodyPr/>
          <a:p/>
        </p:txBody>
      </p:sp>
      <p:sp>
        <p:nvSpPr>
          <p:cNvPr id="15" name="Shape 13"/>
          <p:cNvSpPr/>
          <p:nvPr/>
        </p:nvSpPr>
        <p:spPr>
          <a:xfrm>
            <a:off x="5065776"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5294376" y="233172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3. Write it out?</a:t>
            </a:r>
            <a:endParaRPr lang="en-US" sz="1500" dirty="0"/>
          </a:p>
        </p:txBody>
      </p:sp>
      <p:sp>
        <p:nvSpPr>
          <p:cNvPr id="17" name="Text 15"/>
          <p:cNvSpPr txBox="1"/>
          <p:nvPr/>
        </p:nvSpPr>
        <p:spPr>
          <a:xfrm>
            <a:off x="5294376" y="2788920"/>
            <a:ext cx="160020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Only if the victim is dirty (modified).</a:t>
            </a:r>
            <a:endParaRPr lang="en-US" sz="1400" dirty="0"/>
          </a:p>
        </p:txBody>
      </p:sp>
      <p:sp>
        <p:nvSpPr>
          <p:cNvPr id="18" name="Shape 16"/>
          <p:cNvSpPr/>
          <p:nvPr/>
        </p:nvSpPr>
        <p:spPr>
          <a:xfrm>
            <a:off x="7132320" y="3063240"/>
            <a:ext cx="182880" cy="91"/>
          </a:xfrm>
          <a:prstGeom prst="line">
            <a:avLst/>
          </a:prstGeom>
          <a:noFill/>
          <a:ln w="19050">
            <a:solidFill>
              <a:srgbClr val="50808E"/>
            </a:solidFill>
            <a:prstDash val="solid"/>
            <a:tailEnd type="triangle"/>
          </a:ln>
        </p:spPr>
        <p:txBody>
          <a:bodyPr/>
          <a:p/>
        </p:txBody>
      </p:sp>
      <p:sp>
        <p:nvSpPr>
          <p:cNvPr id="19" name="Shape 17"/>
          <p:cNvSpPr/>
          <p:nvPr/>
        </p:nvSpPr>
        <p:spPr>
          <a:xfrm>
            <a:off x="7324344"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0" name="Text 18"/>
          <p:cNvSpPr txBox="1"/>
          <p:nvPr/>
        </p:nvSpPr>
        <p:spPr>
          <a:xfrm>
            <a:off x="7552944" y="233172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4. Read it in</a:t>
            </a:r>
            <a:endParaRPr lang="en-US" sz="1500" dirty="0"/>
          </a:p>
        </p:txBody>
      </p:sp>
      <p:sp>
        <p:nvSpPr>
          <p:cNvPr id="21" name="Text 19"/>
          <p:cNvSpPr txBox="1"/>
          <p:nvPr/>
        </p:nvSpPr>
        <p:spPr>
          <a:xfrm>
            <a:off x="7552944" y="2788920"/>
            <a:ext cx="160020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Load the wanted page; update both page tables.</a:t>
            </a:r>
            <a:endParaRPr lang="en-US" sz="1400" dirty="0"/>
          </a:p>
        </p:txBody>
      </p:sp>
      <p:sp>
        <p:nvSpPr>
          <p:cNvPr id="22" name="Shape 20"/>
          <p:cNvSpPr/>
          <p:nvPr/>
        </p:nvSpPr>
        <p:spPr>
          <a:xfrm>
            <a:off x="9390888" y="3063240"/>
            <a:ext cx="182880" cy="91"/>
          </a:xfrm>
          <a:prstGeom prst="line">
            <a:avLst/>
          </a:prstGeom>
          <a:noFill/>
          <a:ln w="19050">
            <a:solidFill>
              <a:srgbClr val="50808E"/>
            </a:solidFill>
            <a:prstDash val="solid"/>
            <a:tailEnd type="triangle"/>
          </a:ln>
        </p:spPr>
        <p:txBody>
          <a:bodyPr/>
          <a:p/>
        </p:txBody>
      </p:sp>
      <p:sp>
        <p:nvSpPr>
          <p:cNvPr id="23" name="Shape 21"/>
          <p:cNvSpPr/>
          <p:nvPr/>
        </p:nvSpPr>
        <p:spPr>
          <a:xfrm>
            <a:off x="9582912" y="2148840"/>
            <a:ext cx="2057400" cy="1828800"/>
          </a:xfrm>
          <a:prstGeom prst="roundRect">
            <a:avLst>
              <a:gd name="adj" fmla="val 30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4" name="Text 22"/>
          <p:cNvSpPr txBox="1"/>
          <p:nvPr/>
        </p:nvSpPr>
        <p:spPr>
          <a:xfrm>
            <a:off x="9811512" y="2331720"/>
            <a:ext cx="16002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5. Restart</a:t>
            </a:r>
            <a:endParaRPr lang="en-US" sz="1500" dirty="0"/>
          </a:p>
        </p:txBody>
      </p:sp>
      <p:sp>
        <p:nvSpPr>
          <p:cNvPr id="25" name="Text 23"/>
          <p:cNvSpPr txBox="1"/>
          <p:nvPr/>
        </p:nvSpPr>
        <p:spPr>
          <a:xfrm>
            <a:off x="9811512" y="2788920"/>
            <a:ext cx="1600200" cy="10515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Resume the process that faulted.</a:t>
            </a:r>
            <a:endParaRPr lang="en-US" sz="1400" dirty="0"/>
          </a:p>
        </p:txBody>
      </p:sp>
      <p:sp>
        <p:nvSpPr>
          <p:cNvPr id="26" name="Shape 24"/>
          <p:cNvSpPr/>
          <p:nvPr/>
        </p:nvSpPr>
        <p:spPr>
          <a:xfrm>
            <a:off x="548640" y="4206240"/>
            <a:ext cx="544068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7" name="Text 25"/>
          <p:cNvSpPr txBox="1"/>
          <p:nvPr/>
        </p:nvSpPr>
        <p:spPr>
          <a:xfrm>
            <a:off x="777240" y="438912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modify (dirty) bit</a:t>
            </a:r>
            <a:endParaRPr lang="en-US" sz="1500" dirty="0"/>
          </a:p>
        </p:txBody>
      </p:sp>
      <p:sp>
        <p:nvSpPr>
          <p:cNvPr id="28" name="Text 26"/>
          <p:cNvSpPr txBox="1"/>
          <p:nvPr/>
        </p:nvSpPr>
        <p:spPr>
          <a:xfrm>
            <a:off x="777240" y="4846320"/>
            <a:ext cx="4983480" cy="12801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Hardware sets it when a page is written. A clean victim (e.g. program code) already has an identical copy on disk, so it can be dropped: one disk transfer instead of two.</a:t>
            </a:r>
            <a:endParaRPr lang="en-US" sz="1400" dirty="0"/>
          </a:p>
        </p:txBody>
      </p:sp>
      <p:sp>
        <p:nvSpPr>
          <p:cNvPr id="29" name="Shape 27"/>
          <p:cNvSpPr/>
          <p:nvPr/>
        </p:nvSpPr>
        <p:spPr>
          <a:xfrm>
            <a:off x="6217920" y="4206240"/>
            <a:ext cx="544068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0" name="Text 28"/>
          <p:cNvSpPr txBox="1"/>
          <p:nvPr/>
        </p:nvSpPr>
        <p:spPr>
          <a:xfrm>
            <a:off x="6446520" y="438912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How we compare algorithms</a:t>
            </a:r>
            <a:endParaRPr lang="en-US" sz="1500" dirty="0"/>
          </a:p>
        </p:txBody>
      </p:sp>
      <p:sp>
        <p:nvSpPr>
          <p:cNvPr id="31" name="Text 29"/>
          <p:cNvSpPr txBox="1"/>
          <p:nvPr/>
        </p:nvSpPr>
        <p:spPr>
          <a:xfrm>
            <a:off x="6446520" y="4846320"/>
            <a:ext cx="4983480" cy="128016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Run each one on the same reference string (the sequence of page numbers a program touches) with the same number of frames, and count page faults. Fewer is better.</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REPLACEMENT · FIFO</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FIFO: Replace the Oldest Page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First-In, First-Out: the victim is the page that has been in memory the longest. Easy to build with a queue.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14</a:t>
            </a:r>
            <a:endParaRPr lang="en-US"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Reference string: 7, 0, 1, 2, 0, 3, 0, 4, 2, 3, 0, 3, 2, 1, 2, 0, 1, 7, 0, 1   ·   3 frames</a:t>
            </a:r>
            <a:endParaRPr lang="en-US"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txBody>
          <a:bodyPr/>
          <a:p/>
        </p:txBody>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txBody>
          <a:bodyPr/>
          <a:p/>
        </p:txBody>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txBody>
          <a:bodyPr/>
          <a:p/>
        </p:txBody>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txBody>
          <a:bodyPr/>
          <a:p/>
        </p:txBody>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txBody>
          <a:bodyPr/>
          <a:p/>
        </p:txBody>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txBody>
          <a:bodyPr/>
          <a:p/>
        </p:txBody>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txBody>
          <a:bodyPr/>
          <a:p/>
        </p:txBody>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txBody>
          <a:bodyPr/>
          <a:p/>
        </p:txBody>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txBody>
          <a:bodyPr/>
          <a:p/>
        </p:txBody>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txBody>
          <a:bodyPr/>
          <a:p/>
        </p:txBody>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txBody>
          <a:bodyPr/>
          <a:p/>
        </p:txBody>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txBody>
          <a:bodyPr/>
          <a:p/>
        </p:txBody>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txBody>
          <a:bodyPr/>
          <a:p/>
        </p:txBody>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txBody>
          <a:bodyPr/>
          <a:p/>
        </p:txBody>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txBody>
          <a:bodyPr/>
          <a:p/>
        </p:txBody>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txBody>
          <a:bodyPr/>
          <a:p/>
        </p:txBody>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txBody>
          <a:bodyPr/>
          <a:p/>
        </p:txBody>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txBody>
          <a:bodyPr/>
          <a:p/>
        </p:txBody>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txBody>
          <a:bodyPr/>
          <a:p/>
        </p:txBody>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txBody>
          <a:bodyPr/>
          <a:p/>
        </p:txBody>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txBody>
          <a:bodyPr/>
          <a:p/>
        </p:txBody>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txBody>
          <a:bodyPr/>
          <a:p/>
        </p:txBody>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62" name="Shape 60"/>
          <p:cNvSpPr/>
          <p:nvPr/>
        </p:nvSpPr>
        <p:spPr>
          <a:xfrm>
            <a:off x="4030218" y="3236976"/>
            <a:ext cx="473202" cy="384048"/>
          </a:xfrm>
          <a:prstGeom prst="roundRect">
            <a:avLst>
              <a:gd name="adj" fmla="val 11905"/>
            </a:avLst>
          </a:prstGeom>
          <a:solidFill>
            <a:srgbClr val="02C39A"/>
          </a:solidFill>
          <a:ln/>
        </p:spPr>
        <p:txBody>
          <a:bodyPr/>
          <a:p/>
        </p:txBody>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64" name="Shape 62"/>
          <p:cNvSpPr/>
          <p:nvPr/>
        </p:nvSpPr>
        <p:spPr>
          <a:xfrm>
            <a:off x="4030218" y="3657600"/>
            <a:ext cx="473202" cy="384048"/>
          </a:xfrm>
          <a:prstGeom prst="roundRect">
            <a:avLst>
              <a:gd name="adj" fmla="val 11905"/>
            </a:avLst>
          </a:prstGeom>
          <a:solidFill>
            <a:srgbClr val="D7E9E6"/>
          </a:solidFill>
          <a:ln/>
        </p:spPr>
        <p:txBody>
          <a:bodyPr/>
          <a:p/>
        </p:txBody>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txBody>
          <a:bodyPr/>
          <a:p/>
        </p:txBody>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69" name="Shape 67"/>
          <p:cNvSpPr/>
          <p:nvPr/>
        </p:nvSpPr>
        <p:spPr>
          <a:xfrm>
            <a:off x="4539996" y="2816352"/>
            <a:ext cx="473202" cy="384048"/>
          </a:xfrm>
          <a:prstGeom prst="roundRect">
            <a:avLst>
              <a:gd name="adj" fmla="val 11905"/>
            </a:avLst>
          </a:prstGeom>
          <a:solidFill>
            <a:srgbClr val="D7E9E6"/>
          </a:solidFill>
          <a:ln/>
        </p:spPr>
        <p:txBody>
          <a:bodyPr/>
          <a:p/>
        </p:txBody>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71" name="Shape 69"/>
          <p:cNvSpPr/>
          <p:nvPr/>
        </p:nvSpPr>
        <p:spPr>
          <a:xfrm>
            <a:off x="4539996" y="3236976"/>
            <a:ext cx="473202" cy="384048"/>
          </a:xfrm>
          <a:prstGeom prst="roundRect">
            <a:avLst>
              <a:gd name="adj" fmla="val 11905"/>
            </a:avLst>
          </a:prstGeom>
          <a:solidFill>
            <a:srgbClr val="D7E9E6"/>
          </a:solidFill>
          <a:ln/>
        </p:spPr>
        <p:txBody>
          <a:bodyPr/>
          <a:p/>
        </p:txBody>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73" name="Shape 71"/>
          <p:cNvSpPr/>
          <p:nvPr/>
        </p:nvSpPr>
        <p:spPr>
          <a:xfrm>
            <a:off x="4539996" y="3657600"/>
            <a:ext cx="473202" cy="384048"/>
          </a:xfrm>
          <a:prstGeom prst="roundRect">
            <a:avLst>
              <a:gd name="adj" fmla="val 11905"/>
            </a:avLst>
          </a:prstGeom>
          <a:solidFill>
            <a:srgbClr val="02C39A"/>
          </a:solidFill>
          <a:ln/>
        </p:spPr>
        <p:txBody>
          <a:bodyPr/>
          <a:p/>
        </p:txBody>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txBody>
          <a:bodyPr/>
          <a:p/>
        </p:txBody>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8" name="Shape 76"/>
          <p:cNvSpPr/>
          <p:nvPr/>
        </p:nvSpPr>
        <p:spPr>
          <a:xfrm>
            <a:off x="5049774" y="2816352"/>
            <a:ext cx="473202" cy="384048"/>
          </a:xfrm>
          <a:prstGeom prst="roundRect">
            <a:avLst>
              <a:gd name="adj" fmla="val 11905"/>
            </a:avLst>
          </a:prstGeom>
          <a:solidFill>
            <a:srgbClr val="02C39A"/>
          </a:solidFill>
          <a:ln/>
        </p:spPr>
        <p:txBody>
          <a:bodyPr/>
          <a:p/>
        </p:txBody>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80" name="Shape 78"/>
          <p:cNvSpPr/>
          <p:nvPr/>
        </p:nvSpPr>
        <p:spPr>
          <a:xfrm>
            <a:off x="5049774" y="3236976"/>
            <a:ext cx="473202" cy="384048"/>
          </a:xfrm>
          <a:prstGeom prst="roundRect">
            <a:avLst>
              <a:gd name="adj" fmla="val 11905"/>
            </a:avLst>
          </a:prstGeom>
          <a:solidFill>
            <a:srgbClr val="D7E9E6"/>
          </a:solidFill>
          <a:ln/>
        </p:spPr>
        <p:txBody>
          <a:bodyPr/>
          <a:p/>
        </p:txBody>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txBody>
          <a:bodyPr/>
          <a:p/>
        </p:txBody>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txBody>
          <a:bodyPr/>
          <a:p/>
        </p:txBody>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7" name="Shape 85"/>
          <p:cNvSpPr/>
          <p:nvPr/>
        </p:nvSpPr>
        <p:spPr>
          <a:xfrm>
            <a:off x="5559552" y="2816352"/>
            <a:ext cx="473202" cy="384048"/>
          </a:xfrm>
          <a:prstGeom prst="roundRect">
            <a:avLst>
              <a:gd name="adj" fmla="val 11905"/>
            </a:avLst>
          </a:prstGeom>
          <a:solidFill>
            <a:srgbClr val="D7E9E6"/>
          </a:solidFill>
          <a:ln/>
        </p:spPr>
        <p:txBody>
          <a:bodyPr/>
          <a:p/>
        </p:txBody>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4</a:t>
            </a:r>
            <a:endParaRPr lang="en-US" sz="1400" dirty="0"/>
          </a:p>
        </p:txBody>
      </p:sp>
      <p:sp>
        <p:nvSpPr>
          <p:cNvPr id="89" name="Shape 87"/>
          <p:cNvSpPr/>
          <p:nvPr/>
        </p:nvSpPr>
        <p:spPr>
          <a:xfrm>
            <a:off x="5559552" y="3236976"/>
            <a:ext cx="473202" cy="384048"/>
          </a:xfrm>
          <a:prstGeom prst="roundRect">
            <a:avLst>
              <a:gd name="adj" fmla="val 11905"/>
            </a:avLst>
          </a:prstGeom>
          <a:solidFill>
            <a:srgbClr val="02C39A"/>
          </a:solidFill>
          <a:ln/>
        </p:spPr>
        <p:txBody>
          <a:bodyPr/>
          <a:p/>
        </p:txBody>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91" name="Shape 89"/>
          <p:cNvSpPr/>
          <p:nvPr/>
        </p:nvSpPr>
        <p:spPr>
          <a:xfrm>
            <a:off x="5559552" y="3657600"/>
            <a:ext cx="473202" cy="384048"/>
          </a:xfrm>
          <a:prstGeom prst="roundRect">
            <a:avLst>
              <a:gd name="adj" fmla="val 11905"/>
            </a:avLst>
          </a:prstGeom>
          <a:solidFill>
            <a:srgbClr val="D7E9E6"/>
          </a:solidFill>
          <a:ln/>
        </p:spPr>
        <p:txBody>
          <a:bodyPr/>
          <a:p/>
        </p:txBody>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txBody>
          <a:bodyPr/>
          <a:p/>
        </p:txBody>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6" name="Shape 94"/>
          <p:cNvSpPr/>
          <p:nvPr/>
        </p:nvSpPr>
        <p:spPr>
          <a:xfrm>
            <a:off x="6069330" y="2816352"/>
            <a:ext cx="473202" cy="384048"/>
          </a:xfrm>
          <a:prstGeom prst="roundRect">
            <a:avLst>
              <a:gd name="adj" fmla="val 11905"/>
            </a:avLst>
          </a:prstGeom>
          <a:solidFill>
            <a:srgbClr val="D7E9E6"/>
          </a:solidFill>
          <a:ln/>
        </p:spPr>
        <p:txBody>
          <a:bodyPr/>
          <a:p/>
        </p:txBody>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4</a:t>
            </a:r>
            <a:endParaRPr lang="en-US" sz="1400" dirty="0"/>
          </a:p>
        </p:txBody>
      </p:sp>
      <p:sp>
        <p:nvSpPr>
          <p:cNvPr id="98" name="Shape 96"/>
          <p:cNvSpPr/>
          <p:nvPr/>
        </p:nvSpPr>
        <p:spPr>
          <a:xfrm>
            <a:off x="6069330" y="3236976"/>
            <a:ext cx="473202" cy="384048"/>
          </a:xfrm>
          <a:prstGeom prst="roundRect">
            <a:avLst>
              <a:gd name="adj" fmla="val 11905"/>
            </a:avLst>
          </a:prstGeom>
          <a:solidFill>
            <a:srgbClr val="D7E9E6"/>
          </a:solidFill>
          <a:ln/>
        </p:spPr>
        <p:txBody>
          <a:bodyPr/>
          <a:p/>
        </p:txBody>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00" name="Shape 98"/>
          <p:cNvSpPr/>
          <p:nvPr/>
        </p:nvSpPr>
        <p:spPr>
          <a:xfrm>
            <a:off x="6069330" y="3657600"/>
            <a:ext cx="473202" cy="384048"/>
          </a:xfrm>
          <a:prstGeom prst="roundRect">
            <a:avLst>
              <a:gd name="adj" fmla="val 11905"/>
            </a:avLst>
          </a:prstGeom>
          <a:solidFill>
            <a:srgbClr val="02C39A"/>
          </a:solidFill>
          <a:ln/>
        </p:spPr>
        <p:txBody>
          <a:bodyPr/>
          <a:p/>
        </p:txBody>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txBody>
          <a:bodyPr/>
          <a:p/>
        </p:txBody>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05" name="Shape 103"/>
          <p:cNvSpPr/>
          <p:nvPr/>
        </p:nvSpPr>
        <p:spPr>
          <a:xfrm>
            <a:off x="6579108" y="2816352"/>
            <a:ext cx="473202" cy="384048"/>
          </a:xfrm>
          <a:prstGeom prst="roundRect">
            <a:avLst>
              <a:gd name="adj" fmla="val 11905"/>
            </a:avLst>
          </a:prstGeom>
          <a:solidFill>
            <a:srgbClr val="02C39A"/>
          </a:solidFill>
          <a:ln/>
        </p:spPr>
        <p:txBody>
          <a:bodyPr/>
          <a:p/>
        </p:txBody>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07" name="Shape 105"/>
          <p:cNvSpPr/>
          <p:nvPr/>
        </p:nvSpPr>
        <p:spPr>
          <a:xfrm>
            <a:off x="6579108" y="3236976"/>
            <a:ext cx="473202" cy="384048"/>
          </a:xfrm>
          <a:prstGeom prst="roundRect">
            <a:avLst>
              <a:gd name="adj" fmla="val 11905"/>
            </a:avLst>
          </a:prstGeom>
          <a:solidFill>
            <a:srgbClr val="D7E9E6"/>
          </a:solidFill>
          <a:ln/>
        </p:spPr>
        <p:txBody>
          <a:bodyPr/>
          <a:p/>
        </p:txBody>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txBody>
          <a:bodyPr/>
          <a:p/>
        </p:txBody>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txBody>
          <a:bodyPr/>
          <a:p/>
        </p:txBody>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txBody>
          <a:bodyPr/>
          <a:p/>
        </p:txBody>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txBody>
          <a:bodyPr/>
          <a:p/>
        </p:txBody>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txBody>
          <a:bodyPr/>
          <a:p/>
        </p:txBody>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txBody>
          <a:bodyPr/>
          <a:p/>
        </p:txBody>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txBody>
          <a:bodyPr/>
          <a:p/>
        </p:txBody>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txBody>
          <a:bodyPr/>
          <a:p/>
        </p:txBody>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txBody>
          <a:bodyPr/>
          <a:p/>
        </p:txBody>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txBody>
          <a:bodyPr/>
          <a:p/>
        </p:txBody>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2" name="Shape 130"/>
          <p:cNvSpPr/>
          <p:nvPr/>
        </p:nvSpPr>
        <p:spPr>
          <a:xfrm>
            <a:off x="8108442" y="2816352"/>
            <a:ext cx="473202" cy="384048"/>
          </a:xfrm>
          <a:prstGeom prst="roundRect">
            <a:avLst>
              <a:gd name="adj" fmla="val 11905"/>
            </a:avLst>
          </a:prstGeom>
          <a:solidFill>
            <a:srgbClr val="D7E9E6"/>
          </a:solidFill>
          <a:ln/>
        </p:spPr>
        <p:txBody>
          <a:bodyPr/>
          <a:p/>
        </p:txBody>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34" name="Shape 132"/>
          <p:cNvSpPr/>
          <p:nvPr/>
        </p:nvSpPr>
        <p:spPr>
          <a:xfrm>
            <a:off x="8108442" y="3236976"/>
            <a:ext cx="473202" cy="384048"/>
          </a:xfrm>
          <a:prstGeom prst="roundRect">
            <a:avLst>
              <a:gd name="adj" fmla="val 11905"/>
            </a:avLst>
          </a:prstGeom>
          <a:solidFill>
            <a:srgbClr val="02C39A"/>
          </a:solidFill>
          <a:ln/>
        </p:spPr>
        <p:txBody>
          <a:bodyPr/>
          <a:p/>
        </p:txBody>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136" name="Shape 134"/>
          <p:cNvSpPr/>
          <p:nvPr/>
        </p:nvSpPr>
        <p:spPr>
          <a:xfrm>
            <a:off x="8108442" y="3657600"/>
            <a:ext cx="473202" cy="384048"/>
          </a:xfrm>
          <a:prstGeom prst="roundRect">
            <a:avLst>
              <a:gd name="adj" fmla="val 11905"/>
            </a:avLst>
          </a:prstGeom>
          <a:solidFill>
            <a:srgbClr val="D7E9E6"/>
          </a:solidFill>
          <a:ln/>
        </p:spPr>
        <p:txBody>
          <a:bodyPr/>
          <a:p/>
        </p:txBody>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txBody>
          <a:bodyPr/>
          <a:p/>
        </p:txBody>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1" name="Shape 139"/>
          <p:cNvSpPr/>
          <p:nvPr/>
        </p:nvSpPr>
        <p:spPr>
          <a:xfrm>
            <a:off x="8618220" y="2816352"/>
            <a:ext cx="473202" cy="384048"/>
          </a:xfrm>
          <a:prstGeom prst="roundRect">
            <a:avLst>
              <a:gd name="adj" fmla="val 11905"/>
            </a:avLst>
          </a:prstGeom>
          <a:solidFill>
            <a:srgbClr val="D7E9E6"/>
          </a:solidFill>
          <a:ln/>
        </p:spPr>
        <p:txBody>
          <a:bodyPr/>
          <a:p/>
        </p:txBody>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43" name="Shape 141"/>
          <p:cNvSpPr/>
          <p:nvPr/>
        </p:nvSpPr>
        <p:spPr>
          <a:xfrm>
            <a:off x="8618220" y="3236976"/>
            <a:ext cx="473202" cy="384048"/>
          </a:xfrm>
          <a:prstGeom prst="roundRect">
            <a:avLst>
              <a:gd name="adj" fmla="val 11905"/>
            </a:avLst>
          </a:prstGeom>
          <a:solidFill>
            <a:srgbClr val="D7E9E6"/>
          </a:solidFill>
          <a:ln/>
        </p:spPr>
        <p:txBody>
          <a:bodyPr/>
          <a:p/>
        </p:txBody>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45" name="Shape 143"/>
          <p:cNvSpPr/>
          <p:nvPr/>
        </p:nvSpPr>
        <p:spPr>
          <a:xfrm>
            <a:off x="8618220" y="3657600"/>
            <a:ext cx="473202" cy="384048"/>
          </a:xfrm>
          <a:prstGeom prst="roundRect">
            <a:avLst>
              <a:gd name="adj" fmla="val 11905"/>
            </a:avLst>
          </a:prstGeom>
          <a:solidFill>
            <a:srgbClr val="02C39A"/>
          </a:solidFill>
          <a:ln/>
        </p:spPr>
        <p:txBody>
          <a:bodyPr/>
          <a:p/>
        </p:txBody>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txBody>
          <a:bodyPr/>
          <a:p/>
        </p:txBody>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50" name="Shape 148"/>
          <p:cNvSpPr/>
          <p:nvPr/>
        </p:nvSpPr>
        <p:spPr>
          <a:xfrm>
            <a:off x="9127998" y="2816352"/>
            <a:ext cx="473202" cy="384048"/>
          </a:xfrm>
          <a:prstGeom prst="roundRect">
            <a:avLst>
              <a:gd name="adj" fmla="val 11905"/>
            </a:avLst>
          </a:prstGeom>
          <a:solidFill>
            <a:srgbClr val="F2F2F2"/>
          </a:solidFill>
          <a:ln/>
        </p:spPr>
        <p:txBody>
          <a:bodyPr/>
          <a:p/>
        </p:txBody>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52" name="Shape 150"/>
          <p:cNvSpPr/>
          <p:nvPr/>
        </p:nvSpPr>
        <p:spPr>
          <a:xfrm>
            <a:off x="9127998" y="3236976"/>
            <a:ext cx="473202" cy="384048"/>
          </a:xfrm>
          <a:prstGeom prst="roundRect">
            <a:avLst>
              <a:gd name="adj" fmla="val 11905"/>
            </a:avLst>
          </a:prstGeom>
          <a:solidFill>
            <a:srgbClr val="F2F2F2"/>
          </a:solidFill>
          <a:ln/>
        </p:spPr>
        <p:txBody>
          <a:bodyPr/>
          <a:p/>
        </p:txBody>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54" name="Shape 152"/>
          <p:cNvSpPr/>
          <p:nvPr/>
        </p:nvSpPr>
        <p:spPr>
          <a:xfrm>
            <a:off x="9127998" y="3657600"/>
            <a:ext cx="473202" cy="384048"/>
          </a:xfrm>
          <a:prstGeom prst="roundRect">
            <a:avLst>
              <a:gd name="adj" fmla="val 11905"/>
            </a:avLst>
          </a:prstGeom>
          <a:solidFill>
            <a:srgbClr val="F2F2F2"/>
          </a:solidFill>
          <a:ln/>
        </p:spPr>
        <p:txBody>
          <a:bodyPr/>
          <a:p/>
        </p:txBody>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txBody>
          <a:bodyPr/>
          <a:p/>
        </p:txBody>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txBody>
          <a:bodyPr/>
          <a:p/>
        </p:txBody>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txBody>
          <a:bodyPr/>
          <a:p/>
        </p:txBody>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txBody>
          <a:bodyPr/>
          <a:p/>
        </p:txBody>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txBody>
          <a:bodyPr/>
          <a:p/>
        </p:txBody>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68" name="Shape 166"/>
          <p:cNvSpPr/>
          <p:nvPr/>
        </p:nvSpPr>
        <p:spPr>
          <a:xfrm>
            <a:off x="10147554" y="2816352"/>
            <a:ext cx="473202" cy="384048"/>
          </a:xfrm>
          <a:prstGeom prst="roundRect">
            <a:avLst>
              <a:gd name="adj" fmla="val 11905"/>
            </a:avLst>
          </a:prstGeom>
          <a:solidFill>
            <a:srgbClr val="02C39A"/>
          </a:solidFill>
          <a:ln/>
        </p:spPr>
        <p:txBody>
          <a:bodyPr/>
          <a:p/>
        </p:txBody>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txBody>
          <a:bodyPr/>
          <a:p/>
        </p:txBody>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72" name="Shape 170"/>
          <p:cNvSpPr/>
          <p:nvPr/>
        </p:nvSpPr>
        <p:spPr>
          <a:xfrm>
            <a:off x="10147554" y="3657600"/>
            <a:ext cx="473202" cy="384048"/>
          </a:xfrm>
          <a:prstGeom prst="roundRect">
            <a:avLst>
              <a:gd name="adj" fmla="val 11905"/>
            </a:avLst>
          </a:prstGeom>
          <a:solidFill>
            <a:srgbClr val="D7E9E6"/>
          </a:solidFill>
          <a:ln/>
        </p:spPr>
        <p:txBody>
          <a:bodyPr/>
          <a:p/>
        </p:txBody>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txBody>
          <a:bodyPr/>
          <a:p/>
        </p:txBody>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77" name="Shape 175"/>
          <p:cNvSpPr/>
          <p:nvPr/>
        </p:nvSpPr>
        <p:spPr>
          <a:xfrm>
            <a:off x="10657332" y="2816352"/>
            <a:ext cx="473202" cy="384048"/>
          </a:xfrm>
          <a:prstGeom prst="roundRect">
            <a:avLst>
              <a:gd name="adj" fmla="val 11905"/>
            </a:avLst>
          </a:prstGeom>
          <a:solidFill>
            <a:srgbClr val="D7E9E6"/>
          </a:solidFill>
          <a:ln/>
        </p:spPr>
        <p:txBody>
          <a:bodyPr/>
          <a:p/>
        </p:txBody>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179" name="Shape 177"/>
          <p:cNvSpPr/>
          <p:nvPr/>
        </p:nvSpPr>
        <p:spPr>
          <a:xfrm>
            <a:off x="10657332" y="3236976"/>
            <a:ext cx="473202" cy="384048"/>
          </a:xfrm>
          <a:prstGeom prst="roundRect">
            <a:avLst>
              <a:gd name="adj" fmla="val 11905"/>
            </a:avLst>
          </a:prstGeom>
          <a:solidFill>
            <a:srgbClr val="02C39A"/>
          </a:solidFill>
          <a:ln/>
        </p:spPr>
        <p:txBody>
          <a:bodyPr/>
          <a:p/>
        </p:txBody>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81" name="Shape 179"/>
          <p:cNvSpPr/>
          <p:nvPr/>
        </p:nvSpPr>
        <p:spPr>
          <a:xfrm>
            <a:off x="10657332" y="3657600"/>
            <a:ext cx="473202" cy="384048"/>
          </a:xfrm>
          <a:prstGeom prst="roundRect">
            <a:avLst>
              <a:gd name="adj" fmla="val 11905"/>
            </a:avLst>
          </a:prstGeom>
          <a:solidFill>
            <a:srgbClr val="D7E9E6"/>
          </a:solidFill>
          <a:ln/>
        </p:spPr>
        <p:txBody>
          <a:bodyPr/>
          <a:p/>
        </p:txBody>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txBody>
          <a:bodyPr/>
          <a:p/>
        </p:txBody>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6" name="Shape 184"/>
          <p:cNvSpPr/>
          <p:nvPr/>
        </p:nvSpPr>
        <p:spPr>
          <a:xfrm>
            <a:off x="11167110" y="2816352"/>
            <a:ext cx="473202" cy="384048"/>
          </a:xfrm>
          <a:prstGeom prst="roundRect">
            <a:avLst>
              <a:gd name="adj" fmla="val 11905"/>
            </a:avLst>
          </a:prstGeom>
          <a:solidFill>
            <a:srgbClr val="D7E9E6"/>
          </a:solidFill>
          <a:ln/>
        </p:spPr>
        <p:txBody>
          <a:bodyPr/>
          <a:p/>
        </p:txBody>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188" name="Shape 186"/>
          <p:cNvSpPr/>
          <p:nvPr/>
        </p:nvSpPr>
        <p:spPr>
          <a:xfrm>
            <a:off x="11167110" y="3236976"/>
            <a:ext cx="473202" cy="384048"/>
          </a:xfrm>
          <a:prstGeom prst="roundRect">
            <a:avLst>
              <a:gd name="adj" fmla="val 11905"/>
            </a:avLst>
          </a:prstGeom>
          <a:solidFill>
            <a:srgbClr val="D7E9E6"/>
          </a:solidFill>
          <a:ln/>
        </p:spPr>
        <p:txBody>
          <a:bodyPr/>
          <a:p/>
        </p:txBody>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90" name="Shape 188"/>
          <p:cNvSpPr/>
          <p:nvPr/>
        </p:nvSpPr>
        <p:spPr>
          <a:xfrm>
            <a:off x="11167110" y="3657600"/>
            <a:ext cx="473202" cy="384048"/>
          </a:xfrm>
          <a:prstGeom prst="roundRect">
            <a:avLst>
              <a:gd name="adj" fmla="val 11905"/>
            </a:avLst>
          </a:prstGeom>
          <a:solidFill>
            <a:srgbClr val="02C39A"/>
          </a:solidFill>
          <a:ln/>
        </p:spPr>
        <p:txBody>
          <a:bodyPr/>
          <a:p/>
        </p:txBody>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Note</a:t>
            </a:r>
            <a:endParaRPr lang="en-US"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FIFO ignores how often a page is used: at reference 7 it throws out page 0 — which is needed again immediately (reference 11). Mint = page just loaded; pale columns = faults.</a:t>
            </a:r>
            <a:endParaRPr lang="en-US"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txBody>
          <a:bodyPr/>
          <a:p/>
        </p:txBody>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15</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page faults with FIFO</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REPLACEMENT · OPT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OPT: Replace the Page Used Farthest in the Future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Optimal (Belady, 1966): the victim is the page that will not be used for the longest time. Lowest possible number of faults.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15</a:t>
            </a:r>
            <a:endParaRPr lang="en-US"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Reference string: 7, 0, 1, 2, 0, 3, 0, 4, 2, 3, 0, 3, 2, 1, 2, 0, 1, 7, 0, 1   ·   3 frames</a:t>
            </a:r>
            <a:endParaRPr lang="en-US"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txBody>
          <a:bodyPr/>
          <a:p/>
        </p:txBody>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txBody>
          <a:bodyPr/>
          <a:p/>
        </p:txBody>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txBody>
          <a:bodyPr/>
          <a:p/>
        </p:txBody>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txBody>
          <a:bodyPr/>
          <a:p/>
        </p:txBody>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txBody>
          <a:bodyPr/>
          <a:p/>
        </p:txBody>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txBody>
          <a:bodyPr/>
          <a:p/>
        </p:txBody>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txBody>
          <a:bodyPr/>
          <a:p/>
        </p:txBody>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txBody>
          <a:bodyPr/>
          <a:p/>
        </p:txBody>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txBody>
          <a:bodyPr/>
          <a:p/>
        </p:txBody>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txBody>
          <a:bodyPr/>
          <a:p/>
        </p:txBody>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txBody>
          <a:bodyPr/>
          <a:p/>
        </p:txBody>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txBody>
          <a:bodyPr/>
          <a:p/>
        </p:txBody>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txBody>
          <a:bodyPr/>
          <a:p/>
        </p:txBody>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txBody>
          <a:bodyPr/>
          <a:p/>
        </p:txBody>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txBody>
          <a:bodyPr/>
          <a:p/>
        </p:txBody>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txBody>
          <a:bodyPr/>
          <a:p/>
        </p:txBody>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txBody>
          <a:bodyPr/>
          <a:p/>
        </p:txBody>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txBody>
          <a:bodyPr/>
          <a:p/>
        </p:txBody>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txBody>
          <a:bodyPr/>
          <a:p/>
        </p:txBody>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txBody>
          <a:bodyPr/>
          <a:p/>
        </p:txBody>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txBody>
          <a:bodyPr/>
          <a:p/>
        </p:txBody>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txBody>
          <a:bodyPr/>
          <a:p/>
        </p:txBody>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62" name="Shape 60"/>
          <p:cNvSpPr/>
          <p:nvPr/>
        </p:nvSpPr>
        <p:spPr>
          <a:xfrm>
            <a:off x="4030218" y="3236976"/>
            <a:ext cx="473202" cy="384048"/>
          </a:xfrm>
          <a:prstGeom prst="roundRect">
            <a:avLst>
              <a:gd name="adj" fmla="val 11905"/>
            </a:avLst>
          </a:prstGeom>
          <a:solidFill>
            <a:srgbClr val="D7E9E6"/>
          </a:solidFill>
          <a:ln/>
        </p:spPr>
        <p:txBody>
          <a:bodyPr/>
          <a:p/>
        </p:txBody>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64" name="Shape 62"/>
          <p:cNvSpPr/>
          <p:nvPr/>
        </p:nvSpPr>
        <p:spPr>
          <a:xfrm>
            <a:off x="4030218" y="3657600"/>
            <a:ext cx="473202" cy="384048"/>
          </a:xfrm>
          <a:prstGeom prst="roundRect">
            <a:avLst>
              <a:gd name="adj" fmla="val 11905"/>
            </a:avLst>
          </a:prstGeom>
          <a:solidFill>
            <a:srgbClr val="02C39A"/>
          </a:solidFill>
          <a:ln/>
        </p:spPr>
        <p:txBody>
          <a:bodyPr/>
          <a:p/>
        </p:txBody>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txBody>
          <a:bodyPr/>
          <a:p/>
        </p:txBody>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69" name="Shape 67"/>
          <p:cNvSpPr/>
          <p:nvPr/>
        </p:nvSpPr>
        <p:spPr>
          <a:xfrm>
            <a:off x="4539996" y="2816352"/>
            <a:ext cx="473202" cy="384048"/>
          </a:xfrm>
          <a:prstGeom prst="roundRect">
            <a:avLst>
              <a:gd name="adj" fmla="val 11905"/>
            </a:avLst>
          </a:prstGeom>
          <a:solidFill>
            <a:srgbClr val="F2F2F2"/>
          </a:solidFill>
          <a:ln/>
        </p:spPr>
        <p:txBody>
          <a:bodyPr/>
          <a:p/>
        </p:txBody>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71" name="Shape 69"/>
          <p:cNvSpPr/>
          <p:nvPr/>
        </p:nvSpPr>
        <p:spPr>
          <a:xfrm>
            <a:off x="4539996" y="3236976"/>
            <a:ext cx="473202" cy="384048"/>
          </a:xfrm>
          <a:prstGeom prst="roundRect">
            <a:avLst>
              <a:gd name="adj" fmla="val 11905"/>
            </a:avLst>
          </a:prstGeom>
          <a:solidFill>
            <a:srgbClr val="F2F2F2"/>
          </a:solidFill>
          <a:ln/>
        </p:spPr>
        <p:txBody>
          <a:bodyPr/>
          <a:p/>
        </p:txBody>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73" name="Shape 71"/>
          <p:cNvSpPr/>
          <p:nvPr/>
        </p:nvSpPr>
        <p:spPr>
          <a:xfrm>
            <a:off x="4539996" y="3657600"/>
            <a:ext cx="473202" cy="384048"/>
          </a:xfrm>
          <a:prstGeom prst="roundRect">
            <a:avLst>
              <a:gd name="adj" fmla="val 11905"/>
            </a:avLst>
          </a:prstGeom>
          <a:solidFill>
            <a:srgbClr val="F2F2F2"/>
          </a:solidFill>
          <a:ln/>
        </p:spPr>
        <p:txBody>
          <a:bodyPr/>
          <a:p/>
        </p:txBody>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txBody>
          <a:bodyPr/>
          <a:p/>
        </p:txBody>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8" name="Shape 76"/>
          <p:cNvSpPr/>
          <p:nvPr/>
        </p:nvSpPr>
        <p:spPr>
          <a:xfrm>
            <a:off x="5049774" y="2816352"/>
            <a:ext cx="473202" cy="384048"/>
          </a:xfrm>
          <a:prstGeom prst="roundRect">
            <a:avLst>
              <a:gd name="adj" fmla="val 11905"/>
            </a:avLst>
          </a:prstGeom>
          <a:solidFill>
            <a:srgbClr val="D7E9E6"/>
          </a:solidFill>
          <a:ln/>
        </p:spPr>
        <p:txBody>
          <a:bodyPr/>
          <a:p/>
        </p:txBody>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80" name="Shape 78"/>
          <p:cNvSpPr/>
          <p:nvPr/>
        </p:nvSpPr>
        <p:spPr>
          <a:xfrm>
            <a:off x="5049774" y="3236976"/>
            <a:ext cx="473202" cy="384048"/>
          </a:xfrm>
          <a:prstGeom prst="roundRect">
            <a:avLst>
              <a:gd name="adj" fmla="val 11905"/>
            </a:avLst>
          </a:prstGeom>
          <a:solidFill>
            <a:srgbClr val="02C39A"/>
          </a:solidFill>
          <a:ln/>
        </p:spPr>
        <p:txBody>
          <a:bodyPr/>
          <a:p/>
        </p:txBody>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txBody>
          <a:bodyPr/>
          <a:p/>
        </p:txBody>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txBody>
          <a:bodyPr/>
          <a:p/>
        </p:txBody>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7" name="Shape 85"/>
          <p:cNvSpPr/>
          <p:nvPr/>
        </p:nvSpPr>
        <p:spPr>
          <a:xfrm>
            <a:off x="5559552" y="2816352"/>
            <a:ext cx="473202" cy="384048"/>
          </a:xfrm>
          <a:prstGeom prst="roundRect">
            <a:avLst>
              <a:gd name="adj" fmla="val 11905"/>
            </a:avLst>
          </a:prstGeom>
          <a:solidFill>
            <a:srgbClr val="F2F2F2"/>
          </a:solidFill>
          <a:ln/>
        </p:spPr>
        <p:txBody>
          <a:bodyPr/>
          <a:p/>
        </p:txBody>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89" name="Shape 87"/>
          <p:cNvSpPr/>
          <p:nvPr/>
        </p:nvSpPr>
        <p:spPr>
          <a:xfrm>
            <a:off x="5559552" y="3236976"/>
            <a:ext cx="473202" cy="384048"/>
          </a:xfrm>
          <a:prstGeom prst="roundRect">
            <a:avLst>
              <a:gd name="adj" fmla="val 11905"/>
            </a:avLst>
          </a:prstGeom>
          <a:solidFill>
            <a:srgbClr val="F2F2F2"/>
          </a:solidFill>
          <a:ln/>
        </p:spPr>
        <p:txBody>
          <a:bodyPr/>
          <a:p/>
        </p:txBody>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4</a:t>
            </a:r>
            <a:endParaRPr lang="en-US" sz="1400" dirty="0"/>
          </a:p>
        </p:txBody>
      </p:sp>
      <p:sp>
        <p:nvSpPr>
          <p:cNvPr id="91" name="Shape 89"/>
          <p:cNvSpPr/>
          <p:nvPr/>
        </p:nvSpPr>
        <p:spPr>
          <a:xfrm>
            <a:off x="5559552" y="3657600"/>
            <a:ext cx="473202" cy="384048"/>
          </a:xfrm>
          <a:prstGeom prst="roundRect">
            <a:avLst>
              <a:gd name="adj" fmla="val 11905"/>
            </a:avLst>
          </a:prstGeom>
          <a:solidFill>
            <a:srgbClr val="F2F2F2"/>
          </a:solidFill>
          <a:ln/>
        </p:spPr>
        <p:txBody>
          <a:bodyPr/>
          <a:p/>
        </p:txBody>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txBody>
          <a:bodyPr/>
          <a:p/>
        </p:txBody>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6" name="Shape 94"/>
          <p:cNvSpPr/>
          <p:nvPr/>
        </p:nvSpPr>
        <p:spPr>
          <a:xfrm>
            <a:off x="6069330" y="2816352"/>
            <a:ext cx="473202" cy="384048"/>
          </a:xfrm>
          <a:prstGeom prst="roundRect">
            <a:avLst>
              <a:gd name="adj" fmla="val 11905"/>
            </a:avLst>
          </a:prstGeom>
          <a:solidFill>
            <a:srgbClr val="F2F2F2"/>
          </a:solidFill>
          <a:ln/>
        </p:spPr>
        <p:txBody>
          <a:bodyPr/>
          <a:p/>
        </p:txBody>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98" name="Shape 96"/>
          <p:cNvSpPr/>
          <p:nvPr/>
        </p:nvSpPr>
        <p:spPr>
          <a:xfrm>
            <a:off x="6069330" y="3236976"/>
            <a:ext cx="473202" cy="384048"/>
          </a:xfrm>
          <a:prstGeom prst="roundRect">
            <a:avLst>
              <a:gd name="adj" fmla="val 11905"/>
            </a:avLst>
          </a:prstGeom>
          <a:solidFill>
            <a:srgbClr val="F2F2F2"/>
          </a:solidFill>
          <a:ln/>
        </p:spPr>
        <p:txBody>
          <a:bodyPr/>
          <a:p/>
        </p:txBody>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4</a:t>
            </a:r>
            <a:endParaRPr lang="en-US" sz="1400" dirty="0"/>
          </a:p>
        </p:txBody>
      </p:sp>
      <p:sp>
        <p:nvSpPr>
          <p:cNvPr id="100" name="Shape 98"/>
          <p:cNvSpPr/>
          <p:nvPr/>
        </p:nvSpPr>
        <p:spPr>
          <a:xfrm>
            <a:off x="6069330" y="3657600"/>
            <a:ext cx="473202" cy="384048"/>
          </a:xfrm>
          <a:prstGeom prst="roundRect">
            <a:avLst>
              <a:gd name="adj" fmla="val 11905"/>
            </a:avLst>
          </a:prstGeom>
          <a:solidFill>
            <a:srgbClr val="F2F2F2"/>
          </a:solidFill>
          <a:ln/>
        </p:spPr>
        <p:txBody>
          <a:bodyPr/>
          <a:p/>
        </p:txBody>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txBody>
          <a:bodyPr/>
          <a:p/>
        </p:txBody>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05" name="Shape 103"/>
          <p:cNvSpPr/>
          <p:nvPr/>
        </p:nvSpPr>
        <p:spPr>
          <a:xfrm>
            <a:off x="6579108" y="2816352"/>
            <a:ext cx="473202" cy="384048"/>
          </a:xfrm>
          <a:prstGeom prst="roundRect">
            <a:avLst>
              <a:gd name="adj" fmla="val 11905"/>
            </a:avLst>
          </a:prstGeom>
          <a:solidFill>
            <a:srgbClr val="D7E9E6"/>
          </a:solidFill>
          <a:ln/>
        </p:spPr>
        <p:txBody>
          <a:bodyPr/>
          <a:p/>
        </p:txBody>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07" name="Shape 105"/>
          <p:cNvSpPr/>
          <p:nvPr/>
        </p:nvSpPr>
        <p:spPr>
          <a:xfrm>
            <a:off x="6579108" y="3236976"/>
            <a:ext cx="473202" cy="384048"/>
          </a:xfrm>
          <a:prstGeom prst="roundRect">
            <a:avLst>
              <a:gd name="adj" fmla="val 11905"/>
            </a:avLst>
          </a:prstGeom>
          <a:solidFill>
            <a:srgbClr val="02C39A"/>
          </a:solidFill>
          <a:ln/>
        </p:spPr>
        <p:txBody>
          <a:bodyPr/>
          <a:p/>
        </p:txBody>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txBody>
          <a:bodyPr/>
          <a:p/>
        </p:txBody>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txBody>
          <a:bodyPr/>
          <a:p/>
        </p:txBody>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txBody>
          <a:bodyPr/>
          <a:p/>
        </p:txBody>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txBody>
          <a:bodyPr/>
          <a:p/>
        </p:txBody>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txBody>
          <a:bodyPr/>
          <a:p/>
        </p:txBody>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txBody>
          <a:bodyPr/>
          <a:p/>
        </p:txBody>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txBody>
          <a:bodyPr/>
          <a:p/>
        </p:txBody>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txBody>
          <a:bodyPr/>
          <a:p/>
        </p:txBody>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txBody>
          <a:bodyPr/>
          <a:p/>
        </p:txBody>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txBody>
          <a:bodyPr/>
          <a:p/>
        </p:txBody>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2" name="Shape 130"/>
          <p:cNvSpPr/>
          <p:nvPr/>
        </p:nvSpPr>
        <p:spPr>
          <a:xfrm>
            <a:off x="8108442" y="2816352"/>
            <a:ext cx="473202" cy="384048"/>
          </a:xfrm>
          <a:prstGeom prst="roundRect">
            <a:avLst>
              <a:gd name="adj" fmla="val 11905"/>
            </a:avLst>
          </a:prstGeom>
          <a:solidFill>
            <a:srgbClr val="D7E9E6"/>
          </a:solidFill>
          <a:ln/>
        </p:spPr>
        <p:txBody>
          <a:bodyPr/>
          <a:p/>
        </p:txBody>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34" name="Shape 132"/>
          <p:cNvSpPr/>
          <p:nvPr/>
        </p:nvSpPr>
        <p:spPr>
          <a:xfrm>
            <a:off x="8108442" y="3236976"/>
            <a:ext cx="473202" cy="384048"/>
          </a:xfrm>
          <a:prstGeom prst="roundRect">
            <a:avLst>
              <a:gd name="adj" fmla="val 11905"/>
            </a:avLst>
          </a:prstGeom>
          <a:solidFill>
            <a:srgbClr val="D7E9E6"/>
          </a:solidFill>
          <a:ln/>
        </p:spPr>
        <p:txBody>
          <a:bodyPr/>
          <a:p/>
        </p:txBody>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36" name="Shape 134"/>
          <p:cNvSpPr/>
          <p:nvPr/>
        </p:nvSpPr>
        <p:spPr>
          <a:xfrm>
            <a:off x="8108442" y="3657600"/>
            <a:ext cx="473202" cy="384048"/>
          </a:xfrm>
          <a:prstGeom prst="roundRect">
            <a:avLst>
              <a:gd name="adj" fmla="val 11905"/>
            </a:avLst>
          </a:prstGeom>
          <a:solidFill>
            <a:srgbClr val="02C39A"/>
          </a:solidFill>
          <a:ln/>
        </p:spPr>
        <p:txBody>
          <a:bodyPr/>
          <a:p/>
        </p:txBody>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txBody>
          <a:bodyPr/>
          <a:p/>
        </p:txBody>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1" name="Shape 139"/>
          <p:cNvSpPr/>
          <p:nvPr/>
        </p:nvSpPr>
        <p:spPr>
          <a:xfrm>
            <a:off x="8618220" y="2816352"/>
            <a:ext cx="473202" cy="384048"/>
          </a:xfrm>
          <a:prstGeom prst="roundRect">
            <a:avLst>
              <a:gd name="adj" fmla="val 11905"/>
            </a:avLst>
          </a:prstGeom>
          <a:solidFill>
            <a:srgbClr val="F2F2F2"/>
          </a:solidFill>
          <a:ln/>
        </p:spPr>
        <p:txBody>
          <a:bodyPr/>
          <a:p/>
        </p:txBody>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43" name="Shape 141"/>
          <p:cNvSpPr/>
          <p:nvPr/>
        </p:nvSpPr>
        <p:spPr>
          <a:xfrm>
            <a:off x="8618220" y="3236976"/>
            <a:ext cx="473202" cy="384048"/>
          </a:xfrm>
          <a:prstGeom prst="roundRect">
            <a:avLst>
              <a:gd name="adj" fmla="val 11905"/>
            </a:avLst>
          </a:prstGeom>
          <a:solidFill>
            <a:srgbClr val="F2F2F2"/>
          </a:solidFill>
          <a:ln/>
        </p:spPr>
        <p:txBody>
          <a:bodyPr/>
          <a:p/>
        </p:txBody>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45" name="Shape 143"/>
          <p:cNvSpPr/>
          <p:nvPr/>
        </p:nvSpPr>
        <p:spPr>
          <a:xfrm>
            <a:off x="8618220" y="3657600"/>
            <a:ext cx="473202" cy="384048"/>
          </a:xfrm>
          <a:prstGeom prst="roundRect">
            <a:avLst>
              <a:gd name="adj" fmla="val 11905"/>
            </a:avLst>
          </a:prstGeom>
          <a:solidFill>
            <a:srgbClr val="F2F2F2"/>
          </a:solidFill>
          <a:ln/>
        </p:spPr>
        <p:txBody>
          <a:bodyPr/>
          <a:p/>
        </p:txBody>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txBody>
          <a:bodyPr/>
          <a:p/>
        </p:txBody>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50" name="Shape 148"/>
          <p:cNvSpPr/>
          <p:nvPr/>
        </p:nvSpPr>
        <p:spPr>
          <a:xfrm>
            <a:off x="9127998" y="2816352"/>
            <a:ext cx="473202" cy="384048"/>
          </a:xfrm>
          <a:prstGeom prst="roundRect">
            <a:avLst>
              <a:gd name="adj" fmla="val 11905"/>
            </a:avLst>
          </a:prstGeom>
          <a:solidFill>
            <a:srgbClr val="F2F2F2"/>
          </a:solidFill>
          <a:ln/>
        </p:spPr>
        <p:txBody>
          <a:bodyPr/>
          <a:p/>
        </p:txBody>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52" name="Shape 150"/>
          <p:cNvSpPr/>
          <p:nvPr/>
        </p:nvSpPr>
        <p:spPr>
          <a:xfrm>
            <a:off x="9127998" y="3236976"/>
            <a:ext cx="473202" cy="384048"/>
          </a:xfrm>
          <a:prstGeom prst="roundRect">
            <a:avLst>
              <a:gd name="adj" fmla="val 11905"/>
            </a:avLst>
          </a:prstGeom>
          <a:solidFill>
            <a:srgbClr val="F2F2F2"/>
          </a:solidFill>
          <a:ln/>
        </p:spPr>
        <p:txBody>
          <a:bodyPr/>
          <a:p/>
        </p:txBody>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54" name="Shape 152"/>
          <p:cNvSpPr/>
          <p:nvPr/>
        </p:nvSpPr>
        <p:spPr>
          <a:xfrm>
            <a:off x="9127998" y="3657600"/>
            <a:ext cx="473202" cy="384048"/>
          </a:xfrm>
          <a:prstGeom prst="roundRect">
            <a:avLst>
              <a:gd name="adj" fmla="val 11905"/>
            </a:avLst>
          </a:prstGeom>
          <a:solidFill>
            <a:srgbClr val="F2F2F2"/>
          </a:solidFill>
          <a:ln/>
        </p:spPr>
        <p:txBody>
          <a:bodyPr/>
          <a:p/>
        </p:txBody>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txBody>
          <a:bodyPr/>
          <a:p/>
        </p:txBody>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txBody>
          <a:bodyPr/>
          <a:p/>
        </p:txBody>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txBody>
          <a:bodyPr/>
          <a:p/>
        </p:txBody>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txBody>
          <a:bodyPr/>
          <a:p/>
        </p:txBody>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txBody>
          <a:bodyPr/>
          <a:p/>
        </p:txBody>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68" name="Shape 166"/>
          <p:cNvSpPr/>
          <p:nvPr/>
        </p:nvSpPr>
        <p:spPr>
          <a:xfrm>
            <a:off x="10147554" y="2816352"/>
            <a:ext cx="473202" cy="384048"/>
          </a:xfrm>
          <a:prstGeom prst="roundRect">
            <a:avLst>
              <a:gd name="adj" fmla="val 11905"/>
            </a:avLst>
          </a:prstGeom>
          <a:solidFill>
            <a:srgbClr val="02C39A"/>
          </a:solidFill>
          <a:ln/>
        </p:spPr>
        <p:txBody>
          <a:bodyPr/>
          <a:p/>
        </p:txBody>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txBody>
          <a:bodyPr/>
          <a:p/>
        </p:txBody>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72" name="Shape 170"/>
          <p:cNvSpPr/>
          <p:nvPr/>
        </p:nvSpPr>
        <p:spPr>
          <a:xfrm>
            <a:off x="10147554" y="3657600"/>
            <a:ext cx="473202" cy="384048"/>
          </a:xfrm>
          <a:prstGeom prst="roundRect">
            <a:avLst>
              <a:gd name="adj" fmla="val 11905"/>
            </a:avLst>
          </a:prstGeom>
          <a:solidFill>
            <a:srgbClr val="D7E9E6"/>
          </a:solidFill>
          <a:ln/>
        </p:spPr>
        <p:txBody>
          <a:bodyPr/>
          <a:p/>
        </p:txBody>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txBody>
          <a:bodyPr/>
          <a:p/>
        </p:txBody>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77" name="Shape 175"/>
          <p:cNvSpPr/>
          <p:nvPr/>
        </p:nvSpPr>
        <p:spPr>
          <a:xfrm>
            <a:off x="10657332" y="2816352"/>
            <a:ext cx="473202" cy="384048"/>
          </a:xfrm>
          <a:prstGeom prst="roundRect">
            <a:avLst>
              <a:gd name="adj" fmla="val 11905"/>
            </a:avLst>
          </a:prstGeom>
          <a:solidFill>
            <a:srgbClr val="F2F2F2"/>
          </a:solidFill>
          <a:ln/>
        </p:spPr>
        <p:txBody>
          <a:bodyPr/>
          <a:p/>
        </p:txBody>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7</a:t>
            </a:r>
            <a:endParaRPr lang="en-US" sz="1400" dirty="0"/>
          </a:p>
        </p:txBody>
      </p:sp>
      <p:sp>
        <p:nvSpPr>
          <p:cNvPr id="179" name="Shape 177"/>
          <p:cNvSpPr/>
          <p:nvPr/>
        </p:nvSpPr>
        <p:spPr>
          <a:xfrm>
            <a:off x="10657332" y="3236976"/>
            <a:ext cx="473202" cy="384048"/>
          </a:xfrm>
          <a:prstGeom prst="roundRect">
            <a:avLst>
              <a:gd name="adj" fmla="val 11905"/>
            </a:avLst>
          </a:prstGeom>
          <a:solidFill>
            <a:srgbClr val="F2F2F2"/>
          </a:solidFill>
          <a:ln/>
        </p:spPr>
        <p:txBody>
          <a:bodyPr/>
          <a:p/>
        </p:txBody>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81" name="Shape 179"/>
          <p:cNvSpPr/>
          <p:nvPr/>
        </p:nvSpPr>
        <p:spPr>
          <a:xfrm>
            <a:off x="10657332" y="3657600"/>
            <a:ext cx="473202" cy="384048"/>
          </a:xfrm>
          <a:prstGeom prst="roundRect">
            <a:avLst>
              <a:gd name="adj" fmla="val 11905"/>
            </a:avLst>
          </a:prstGeom>
          <a:solidFill>
            <a:srgbClr val="F2F2F2"/>
          </a:solidFill>
          <a:ln/>
        </p:spPr>
        <p:txBody>
          <a:bodyPr/>
          <a:p/>
        </p:txBody>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txBody>
          <a:bodyPr/>
          <a:p/>
        </p:txBody>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6" name="Shape 184"/>
          <p:cNvSpPr/>
          <p:nvPr/>
        </p:nvSpPr>
        <p:spPr>
          <a:xfrm>
            <a:off x="11167110" y="2816352"/>
            <a:ext cx="473202" cy="384048"/>
          </a:xfrm>
          <a:prstGeom prst="roundRect">
            <a:avLst>
              <a:gd name="adj" fmla="val 11905"/>
            </a:avLst>
          </a:prstGeom>
          <a:solidFill>
            <a:srgbClr val="F2F2F2"/>
          </a:solidFill>
          <a:ln/>
        </p:spPr>
        <p:txBody>
          <a:bodyPr/>
          <a:p/>
        </p:txBody>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7</a:t>
            </a:r>
            <a:endParaRPr lang="en-US" sz="1400" dirty="0"/>
          </a:p>
        </p:txBody>
      </p:sp>
      <p:sp>
        <p:nvSpPr>
          <p:cNvPr id="188" name="Shape 186"/>
          <p:cNvSpPr/>
          <p:nvPr/>
        </p:nvSpPr>
        <p:spPr>
          <a:xfrm>
            <a:off x="11167110" y="3236976"/>
            <a:ext cx="473202" cy="384048"/>
          </a:xfrm>
          <a:prstGeom prst="roundRect">
            <a:avLst>
              <a:gd name="adj" fmla="val 11905"/>
            </a:avLst>
          </a:prstGeom>
          <a:solidFill>
            <a:srgbClr val="F2F2F2"/>
          </a:solidFill>
          <a:ln/>
        </p:spPr>
        <p:txBody>
          <a:bodyPr/>
          <a:p/>
        </p:txBody>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90" name="Shape 188"/>
          <p:cNvSpPr/>
          <p:nvPr/>
        </p:nvSpPr>
        <p:spPr>
          <a:xfrm>
            <a:off x="11167110" y="3657600"/>
            <a:ext cx="473202" cy="384048"/>
          </a:xfrm>
          <a:prstGeom prst="roundRect">
            <a:avLst>
              <a:gd name="adj" fmla="val 11905"/>
            </a:avLst>
          </a:prstGeom>
          <a:solidFill>
            <a:srgbClr val="F2F2F2"/>
          </a:solidFill>
          <a:ln/>
        </p:spPr>
        <p:txBody>
          <a:bodyPr/>
          <a:p/>
        </p:txBody>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Catch</a:t>
            </a:r>
            <a:endParaRPr lang="en-US"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OPT needs to know the future reference string, so no real OS can implement it. It is the yardstick: "our algorithm is within 10 % of optimal".</a:t>
            </a:r>
            <a:endParaRPr lang="en-US"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txBody>
          <a:bodyPr/>
          <a:p/>
        </p:txBody>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9</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page faults with OPT (the minimum)</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REPLACEMENT · LRU</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LRU: Replace the Least Recently Used Page</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Least Recently Used: the victim is the page that has not been used for the longest time. Uses the past as a guess for the future.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16</a:t>
            </a:r>
            <a:endParaRPr lang="en-US" sz="900" dirty="0"/>
          </a:p>
        </p:txBody>
      </p:sp>
      <p:sp>
        <p:nvSpPr>
          <p:cNvPr id="7" name="Text 5"/>
          <p:cNvSpPr txBox="1"/>
          <p:nvPr/>
        </p:nvSpPr>
        <p:spPr>
          <a:xfrm>
            <a:off x="548640" y="2011680"/>
            <a:ext cx="1110996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Reference string: 7, 0, 1, 2, 0, 3, 0, 4, 2, 3, 0, 3, 2, 1, 2, 0, 1, 7, 0, 1   ·   3 frames</a:t>
            </a:r>
            <a:endParaRPr lang="en-US" sz="1300" dirty="0"/>
          </a:p>
        </p:txBody>
      </p:sp>
      <p:sp>
        <p:nvSpPr>
          <p:cNvPr id="8" name="Text 6"/>
          <p:cNvSpPr txBox="1"/>
          <p:nvPr/>
        </p:nvSpPr>
        <p:spPr>
          <a:xfrm>
            <a:off x="548640" y="2377440"/>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9" name="Text 7"/>
          <p:cNvSpPr txBox="1"/>
          <p:nvPr/>
        </p:nvSpPr>
        <p:spPr>
          <a:xfrm>
            <a:off x="548640" y="2798064"/>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10" name="Text 8"/>
          <p:cNvSpPr txBox="1"/>
          <p:nvPr/>
        </p:nvSpPr>
        <p:spPr>
          <a:xfrm>
            <a:off x="548640" y="3218688"/>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1" name="Text 9"/>
          <p:cNvSpPr txBox="1"/>
          <p:nvPr/>
        </p:nvSpPr>
        <p:spPr>
          <a:xfrm>
            <a:off x="548640" y="3639312"/>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2" name="Text 10"/>
          <p:cNvSpPr txBox="1"/>
          <p:nvPr/>
        </p:nvSpPr>
        <p:spPr>
          <a:xfrm>
            <a:off x="548640" y="4059936"/>
            <a:ext cx="841248" cy="42062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3" name="Shape 11"/>
          <p:cNvSpPr/>
          <p:nvPr/>
        </p:nvSpPr>
        <p:spPr>
          <a:xfrm>
            <a:off x="1481328" y="2395728"/>
            <a:ext cx="473202" cy="384048"/>
          </a:xfrm>
          <a:prstGeom prst="roundRect">
            <a:avLst>
              <a:gd name="adj" fmla="val 11905"/>
            </a:avLst>
          </a:prstGeom>
          <a:solidFill>
            <a:srgbClr val="36454F"/>
          </a:solidFill>
          <a:ln/>
        </p:spPr>
        <p:txBody>
          <a:bodyPr/>
          <a:p/>
        </p:txBody>
      </p:sp>
      <p:sp>
        <p:nvSpPr>
          <p:cNvPr id="14" name="Text 12"/>
          <p:cNvSpPr txBox="1"/>
          <p:nvPr/>
        </p:nvSpPr>
        <p:spPr>
          <a:xfrm>
            <a:off x="148132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5" name="Shape 13"/>
          <p:cNvSpPr/>
          <p:nvPr/>
        </p:nvSpPr>
        <p:spPr>
          <a:xfrm>
            <a:off x="1481328" y="2816352"/>
            <a:ext cx="473202" cy="384048"/>
          </a:xfrm>
          <a:prstGeom prst="roundRect">
            <a:avLst>
              <a:gd name="adj" fmla="val 11905"/>
            </a:avLst>
          </a:prstGeom>
          <a:solidFill>
            <a:srgbClr val="02C39A"/>
          </a:solidFill>
          <a:ln/>
        </p:spPr>
        <p:txBody>
          <a:bodyPr/>
          <a:p/>
        </p:txBody>
      </p:sp>
      <p:sp>
        <p:nvSpPr>
          <p:cNvPr id="16" name="Text 14"/>
          <p:cNvSpPr txBox="1"/>
          <p:nvPr/>
        </p:nvSpPr>
        <p:spPr>
          <a:xfrm>
            <a:off x="1481328"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 name="Shape 15"/>
          <p:cNvSpPr/>
          <p:nvPr/>
        </p:nvSpPr>
        <p:spPr>
          <a:xfrm>
            <a:off x="1481328" y="3236976"/>
            <a:ext cx="473202" cy="384048"/>
          </a:xfrm>
          <a:prstGeom prst="roundRect">
            <a:avLst>
              <a:gd name="adj" fmla="val 11905"/>
            </a:avLst>
          </a:prstGeom>
          <a:solidFill>
            <a:srgbClr val="D7E9E6"/>
          </a:solidFill>
          <a:ln/>
        </p:spPr>
        <p:txBody>
          <a:bodyPr/>
          <a:p/>
        </p:txBody>
      </p:sp>
      <p:sp>
        <p:nvSpPr>
          <p:cNvPr id="18" name="Text 16"/>
          <p:cNvSpPr txBox="1"/>
          <p:nvPr/>
        </p:nvSpPr>
        <p:spPr>
          <a:xfrm>
            <a:off x="1481328" y="3236976"/>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19" name="Shape 17"/>
          <p:cNvSpPr/>
          <p:nvPr/>
        </p:nvSpPr>
        <p:spPr>
          <a:xfrm>
            <a:off x="1481328" y="3657600"/>
            <a:ext cx="473202" cy="384048"/>
          </a:xfrm>
          <a:prstGeom prst="roundRect">
            <a:avLst>
              <a:gd name="adj" fmla="val 11905"/>
            </a:avLst>
          </a:prstGeom>
          <a:solidFill>
            <a:srgbClr val="D7E9E6"/>
          </a:solidFill>
          <a:ln/>
        </p:spPr>
        <p:txBody>
          <a:bodyPr/>
          <a:p/>
        </p:txBody>
      </p:sp>
      <p:sp>
        <p:nvSpPr>
          <p:cNvPr id="20" name="Text 18"/>
          <p:cNvSpPr txBox="1"/>
          <p:nvPr/>
        </p:nvSpPr>
        <p:spPr>
          <a:xfrm>
            <a:off x="1481328"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21" name="Text 19"/>
          <p:cNvSpPr txBox="1"/>
          <p:nvPr/>
        </p:nvSpPr>
        <p:spPr>
          <a:xfrm>
            <a:off x="146304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22" name="Shape 20"/>
          <p:cNvSpPr/>
          <p:nvPr/>
        </p:nvSpPr>
        <p:spPr>
          <a:xfrm>
            <a:off x="1991106" y="2395728"/>
            <a:ext cx="473202" cy="384048"/>
          </a:xfrm>
          <a:prstGeom prst="roundRect">
            <a:avLst>
              <a:gd name="adj" fmla="val 11905"/>
            </a:avLst>
          </a:prstGeom>
          <a:solidFill>
            <a:srgbClr val="36454F"/>
          </a:solidFill>
          <a:ln/>
        </p:spPr>
        <p:txBody>
          <a:bodyPr/>
          <a:p/>
        </p:txBody>
      </p:sp>
      <p:sp>
        <p:nvSpPr>
          <p:cNvPr id="23" name="Text 21"/>
          <p:cNvSpPr txBox="1"/>
          <p:nvPr/>
        </p:nvSpPr>
        <p:spPr>
          <a:xfrm>
            <a:off x="199110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24" name="Shape 22"/>
          <p:cNvSpPr/>
          <p:nvPr/>
        </p:nvSpPr>
        <p:spPr>
          <a:xfrm>
            <a:off x="1991106" y="2816352"/>
            <a:ext cx="473202" cy="384048"/>
          </a:xfrm>
          <a:prstGeom prst="roundRect">
            <a:avLst>
              <a:gd name="adj" fmla="val 11905"/>
            </a:avLst>
          </a:prstGeom>
          <a:solidFill>
            <a:srgbClr val="D7E9E6"/>
          </a:solidFill>
          <a:ln/>
        </p:spPr>
        <p:txBody>
          <a:bodyPr/>
          <a:p/>
        </p:txBody>
      </p:sp>
      <p:sp>
        <p:nvSpPr>
          <p:cNvPr id="25" name="Text 23"/>
          <p:cNvSpPr txBox="1"/>
          <p:nvPr/>
        </p:nvSpPr>
        <p:spPr>
          <a:xfrm>
            <a:off x="199110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26" name="Shape 24"/>
          <p:cNvSpPr/>
          <p:nvPr/>
        </p:nvSpPr>
        <p:spPr>
          <a:xfrm>
            <a:off x="1991106" y="3236976"/>
            <a:ext cx="473202" cy="384048"/>
          </a:xfrm>
          <a:prstGeom prst="roundRect">
            <a:avLst>
              <a:gd name="adj" fmla="val 11905"/>
            </a:avLst>
          </a:prstGeom>
          <a:solidFill>
            <a:srgbClr val="02C39A"/>
          </a:solidFill>
          <a:ln/>
        </p:spPr>
        <p:txBody>
          <a:bodyPr/>
          <a:p/>
        </p:txBody>
      </p:sp>
      <p:sp>
        <p:nvSpPr>
          <p:cNvPr id="27" name="Text 25"/>
          <p:cNvSpPr txBox="1"/>
          <p:nvPr/>
        </p:nvSpPr>
        <p:spPr>
          <a:xfrm>
            <a:off x="1991106"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28" name="Shape 26"/>
          <p:cNvSpPr/>
          <p:nvPr/>
        </p:nvSpPr>
        <p:spPr>
          <a:xfrm>
            <a:off x="1991106" y="3657600"/>
            <a:ext cx="473202" cy="384048"/>
          </a:xfrm>
          <a:prstGeom prst="roundRect">
            <a:avLst>
              <a:gd name="adj" fmla="val 11905"/>
            </a:avLst>
          </a:prstGeom>
          <a:solidFill>
            <a:srgbClr val="D7E9E6"/>
          </a:solidFill>
          <a:ln/>
        </p:spPr>
        <p:txBody>
          <a:bodyPr/>
          <a:p/>
        </p:txBody>
      </p:sp>
      <p:sp>
        <p:nvSpPr>
          <p:cNvPr id="29" name="Text 27"/>
          <p:cNvSpPr txBox="1"/>
          <p:nvPr/>
        </p:nvSpPr>
        <p:spPr>
          <a:xfrm>
            <a:off x="1991106" y="3657600"/>
            <a:ext cx="473202" cy="384048"/>
          </a:xfrm>
          <a:prstGeom prst="rect">
            <a:avLst/>
          </a:prstGeom>
          <a:noFill/>
          <a:ln/>
        </p:spPr>
        <p:txBody>
          <a:bodyPr wrap="square" lIns="38100" tIns="38100" rIns="38100" bIns="38100" rtlCol="0" anchor="ctr"/>
          <a:lstStyle/>
          <a:p>
            <a:pPr algn="ctr" indent="0" marL="0">
              <a:buNone/>
            </a:pPr>
            <a:endParaRPr lang="en-US" sz="1400" dirty="0"/>
          </a:p>
        </p:txBody>
      </p:sp>
      <p:sp>
        <p:nvSpPr>
          <p:cNvPr id="30" name="Text 28"/>
          <p:cNvSpPr txBox="1"/>
          <p:nvPr/>
        </p:nvSpPr>
        <p:spPr>
          <a:xfrm>
            <a:off x="1972818"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31" name="Shape 29"/>
          <p:cNvSpPr/>
          <p:nvPr/>
        </p:nvSpPr>
        <p:spPr>
          <a:xfrm>
            <a:off x="2500884" y="2395728"/>
            <a:ext cx="473202" cy="384048"/>
          </a:xfrm>
          <a:prstGeom prst="roundRect">
            <a:avLst>
              <a:gd name="adj" fmla="val 11905"/>
            </a:avLst>
          </a:prstGeom>
          <a:solidFill>
            <a:srgbClr val="36454F"/>
          </a:solidFill>
          <a:ln/>
        </p:spPr>
        <p:txBody>
          <a:bodyPr/>
          <a:p/>
        </p:txBody>
      </p:sp>
      <p:sp>
        <p:nvSpPr>
          <p:cNvPr id="32" name="Text 30"/>
          <p:cNvSpPr txBox="1"/>
          <p:nvPr/>
        </p:nvSpPr>
        <p:spPr>
          <a:xfrm>
            <a:off x="250088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3" name="Shape 31"/>
          <p:cNvSpPr/>
          <p:nvPr/>
        </p:nvSpPr>
        <p:spPr>
          <a:xfrm>
            <a:off x="2500884" y="2816352"/>
            <a:ext cx="473202" cy="384048"/>
          </a:xfrm>
          <a:prstGeom prst="roundRect">
            <a:avLst>
              <a:gd name="adj" fmla="val 11905"/>
            </a:avLst>
          </a:prstGeom>
          <a:solidFill>
            <a:srgbClr val="D7E9E6"/>
          </a:solidFill>
          <a:ln/>
        </p:spPr>
        <p:txBody>
          <a:bodyPr/>
          <a:p/>
        </p:txBody>
      </p:sp>
      <p:sp>
        <p:nvSpPr>
          <p:cNvPr id="34" name="Text 32"/>
          <p:cNvSpPr txBox="1"/>
          <p:nvPr/>
        </p:nvSpPr>
        <p:spPr>
          <a:xfrm>
            <a:off x="250088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7</a:t>
            </a:r>
            <a:endParaRPr lang="en-US" sz="1400" dirty="0"/>
          </a:p>
        </p:txBody>
      </p:sp>
      <p:sp>
        <p:nvSpPr>
          <p:cNvPr id="35" name="Shape 33"/>
          <p:cNvSpPr/>
          <p:nvPr/>
        </p:nvSpPr>
        <p:spPr>
          <a:xfrm>
            <a:off x="2500884" y="3236976"/>
            <a:ext cx="473202" cy="384048"/>
          </a:xfrm>
          <a:prstGeom prst="roundRect">
            <a:avLst>
              <a:gd name="adj" fmla="val 11905"/>
            </a:avLst>
          </a:prstGeom>
          <a:solidFill>
            <a:srgbClr val="D7E9E6"/>
          </a:solidFill>
          <a:ln/>
        </p:spPr>
        <p:txBody>
          <a:bodyPr/>
          <a:p/>
        </p:txBody>
      </p:sp>
      <p:sp>
        <p:nvSpPr>
          <p:cNvPr id="36" name="Text 34"/>
          <p:cNvSpPr txBox="1"/>
          <p:nvPr/>
        </p:nvSpPr>
        <p:spPr>
          <a:xfrm>
            <a:off x="250088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37" name="Shape 35"/>
          <p:cNvSpPr/>
          <p:nvPr/>
        </p:nvSpPr>
        <p:spPr>
          <a:xfrm>
            <a:off x="2500884" y="3657600"/>
            <a:ext cx="473202" cy="384048"/>
          </a:xfrm>
          <a:prstGeom prst="roundRect">
            <a:avLst>
              <a:gd name="adj" fmla="val 11905"/>
            </a:avLst>
          </a:prstGeom>
          <a:solidFill>
            <a:srgbClr val="02C39A"/>
          </a:solidFill>
          <a:ln/>
        </p:spPr>
        <p:txBody>
          <a:bodyPr/>
          <a:p/>
        </p:txBody>
      </p:sp>
      <p:sp>
        <p:nvSpPr>
          <p:cNvPr id="38" name="Text 36"/>
          <p:cNvSpPr txBox="1"/>
          <p:nvPr/>
        </p:nvSpPr>
        <p:spPr>
          <a:xfrm>
            <a:off x="2500884"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9" name="Text 37"/>
          <p:cNvSpPr txBox="1"/>
          <p:nvPr/>
        </p:nvSpPr>
        <p:spPr>
          <a:xfrm>
            <a:off x="248259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0" name="Shape 38"/>
          <p:cNvSpPr/>
          <p:nvPr/>
        </p:nvSpPr>
        <p:spPr>
          <a:xfrm>
            <a:off x="3010662" y="2395728"/>
            <a:ext cx="473202" cy="384048"/>
          </a:xfrm>
          <a:prstGeom prst="roundRect">
            <a:avLst>
              <a:gd name="adj" fmla="val 11905"/>
            </a:avLst>
          </a:prstGeom>
          <a:solidFill>
            <a:srgbClr val="36454F"/>
          </a:solidFill>
          <a:ln/>
        </p:spPr>
        <p:txBody>
          <a:bodyPr/>
          <a:p/>
        </p:txBody>
      </p:sp>
      <p:sp>
        <p:nvSpPr>
          <p:cNvPr id="41" name="Text 39"/>
          <p:cNvSpPr txBox="1"/>
          <p:nvPr/>
        </p:nvSpPr>
        <p:spPr>
          <a:xfrm>
            <a:off x="301066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2" name="Shape 40"/>
          <p:cNvSpPr/>
          <p:nvPr/>
        </p:nvSpPr>
        <p:spPr>
          <a:xfrm>
            <a:off x="3010662" y="2816352"/>
            <a:ext cx="473202" cy="384048"/>
          </a:xfrm>
          <a:prstGeom prst="roundRect">
            <a:avLst>
              <a:gd name="adj" fmla="val 11905"/>
            </a:avLst>
          </a:prstGeom>
          <a:solidFill>
            <a:srgbClr val="02C39A"/>
          </a:solidFill>
          <a:ln/>
        </p:spPr>
        <p:txBody>
          <a:bodyPr/>
          <a:p/>
        </p:txBody>
      </p:sp>
      <p:sp>
        <p:nvSpPr>
          <p:cNvPr id="43" name="Text 41"/>
          <p:cNvSpPr txBox="1"/>
          <p:nvPr/>
        </p:nvSpPr>
        <p:spPr>
          <a:xfrm>
            <a:off x="3010662"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44" name="Shape 42"/>
          <p:cNvSpPr/>
          <p:nvPr/>
        </p:nvSpPr>
        <p:spPr>
          <a:xfrm>
            <a:off x="3010662" y="3236976"/>
            <a:ext cx="473202" cy="384048"/>
          </a:xfrm>
          <a:prstGeom prst="roundRect">
            <a:avLst>
              <a:gd name="adj" fmla="val 11905"/>
            </a:avLst>
          </a:prstGeom>
          <a:solidFill>
            <a:srgbClr val="D7E9E6"/>
          </a:solidFill>
          <a:ln/>
        </p:spPr>
        <p:txBody>
          <a:bodyPr/>
          <a:p/>
        </p:txBody>
      </p:sp>
      <p:sp>
        <p:nvSpPr>
          <p:cNvPr id="45" name="Text 43"/>
          <p:cNvSpPr txBox="1"/>
          <p:nvPr/>
        </p:nvSpPr>
        <p:spPr>
          <a:xfrm>
            <a:off x="301066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46" name="Shape 44"/>
          <p:cNvSpPr/>
          <p:nvPr/>
        </p:nvSpPr>
        <p:spPr>
          <a:xfrm>
            <a:off x="3010662" y="3657600"/>
            <a:ext cx="473202" cy="384048"/>
          </a:xfrm>
          <a:prstGeom prst="roundRect">
            <a:avLst>
              <a:gd name="adj" fmla="val 11905"/>
            </a:avLst>
          </a:prstGeom>
          <a:solidFill>
            <a:srgbClr val="D7E9E6"/>
          </a:solidFill>
          <a:ln/>
        </p:spPr>
        <p:txBody>
          <a:bodyPr/>
          <a:p/>
        </p:txBody>
      </p:sp>
      <p:sp>
        <p:nvSpPr>
          <p:cNvPr id="47" name="Text 45"/>
          <p:cNvSpPr txBox="1"/>
          <p:nvPr/>
        </p:nvSpPr>
        <p:spPr>
          <a:xfrm>
            <a:off x="301066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48" name="Text 46"/>
          <p:cNvSpPr txBox="1"/>
          <p:nvPr/>
        </p:nvSpPr>
        <p:spPr>
          <a:xfrm>
            <a:off x="299237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49" name="Shape 47"/>
          <p:cNvSpPr/>
          <p:nvPr/>
        </p:nvSpPr>
        <p:spPr>
          <a:xfrm>
            <a:off x="3520440" y="2395728"/>
            <a:ext cx="473202" cy="384048"/>
          </a:xfrm>
          <a:prstGeom prst="roundRect">
            <a:avLst>
              <a:gd name="adj" fmla="val 11905"/>
            </a:avLst>
          </a:prstGeom>
          <a:solidFill>
            <a:srgbClr val="36454F"/>
          </a:solidFill>
          <a:ln/>
        </p:spPr>
        <p:txBody>
          <a:bodyPr/>
          <a:p/>
        </p:txBody>
      </p:sp>
      <p:sp>
        <p:nvSpPr>
          <p:cNvPr id="50" name="Text 48"/>
          <p:cNvSpPr txBox="1"/>
          <p:nvPr/>
        </p:nvSpPr>
        <p:spPr>
          <a:xfrm>
            <a:off x="352044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51" name="Shape 49"/>
          <p:cNvSpPr/>
          <p:nvPr/>
        </p:nvSpPr>
        <p:spPr>
          <a:xfrm>
            <a:off x="3520440" y="2816352"/>
            <a:ext cx="473202" cy="384048"/>
          </a:xfrm>
          <a:prstGeom prst="roundRect">
            <a:avLst>
              <a:gd name="adj" fmla="val 11905"/>
            </a:avLst>
          </a:prstGeom>
          <a:solidFill>
            <a:srgbClr val="F2F2F2"/>
          </a:solidFill>
          <a:ln/>
        </p:spPr>
        <p:txBody>
          <a:bodyPr/>
          <a:p/>
        </p:txBody>
      </p:sp>
      <p:sp>
        <p:nvSpPr>
          <p:cNvPr id="52" name="Text 50"/>
          <p:cNvSpPr txBox="1"/>
          <p:nvPr/>
        </p:nvSpPr>
        <p:spPr>
          <a:xfrm>
            <a:off x="352044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53" name="Shape 51"/>
          <p:cNvSpPr/>
          <p:nvPr/>
        </p:nvSpPr>
        <p:spPr>
          <a:xfrm>
            <a:off x="3520440" y="3236976"/>
            <a:ext cx="473202" cy="384048"/>
          </a:xfrm>
          <a:prstGeom prst="roundRect">
            <a:avLst>
              <a:gd name="adj" fmla="val 11905"/>
            </a:avLst>
          </a:prstGeom>
          <a:solidFill>
            <a:srgbClr val="F2F2F2"/>
          </a:solidFill>
          <a:ln/>
        </p:spPr>
        <p:txBody>
          <a:bodyPr/>
          <a:p/>
        </p:txBody>
      </p:sp>
      <p:sp>
        <p:nvSpPr>
          <p:cNvPr id="54" name="Text 52"/>
          <p:cNvSpPr txBox="1"/>
          <p:nvPr/>
        </p:nvSpPr>
        <p:spPr>
          <a:xfrm>
            <a:off x="352044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55" name="Shape 53"/>
          <p:cNvSpPr/>
          <p:nvPr/>
        </p:nvSpPr>
        <p:spPr>
          <a:xfrm>
            <a:off x="3520440" y="3657600"/>
            <a:ext cx="473202" cy="384048"/>
          </a:xfrm>
          <a:prstGeom prst="roundRect">
            <a:avLst>
              <a:gd name="adj" fmla="val 11905"/>
            </a:avLst>
          </a:prstGeom>
          <a:solidFill>
            <a:srgbClr val="F2F2F2"/>
          </a:solidFill>
          <a:ln/>
        </p:spPr>
        <p:txBody>
          <a:bodyPr/>
          <a:p/>
        </p:txBody>
      </p:sp>
      <p:sp>
        <p:nvSpPr>
          <p:cNvPr id="56" name="Text 54"/>
          <p:cNvSpPr txBox="1"/>
          <p:nvPr/>
        </p:nvSpPr>
        <p:spPr>
          <a:xfrm>
            <a:off x="352044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57" name="Text 55"/>
          <p:cNvSpPr txBox="1"/>
          <p:nvPr/>
        </p:nvSpPr>
        <p:spPr>
          <a:xfrm>
            <a:off x="350215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58" name="Shape 56"/>
          <p:cNvSpPr/>
          <p:nvPr/>
        </p:nvSpPr>
        <p:spPr>
          <a:xfrm>
            <a:off x="4030218" y="2395728"/>
            <a:ext cx="473202" cy="384048"/>
          </a:xfrm>
          <a:prstGeom prst="roundRect">
            <a:avLst>
              <a:gd name="adj" fmla="val 11905"/>
            </a:avLst>
          </a:prstGeom>
          <a:solidFill>
            <a:srgbClr val="36454F"/>
          </a:solidFill>
          <a:ln/>
        </p:spPr>
        <p:txBody>
          <a:bodyPr/>
          <a:p/>
        </p:txBody>
      </p:sp>
      <p:sp>
        <p:nvSpPr>
          <p:cNvPr id="59" name="Text 57"/>
          <p:cNvSpPr txBox="1"/>
          <p:nvPr/>
        </p:nvSpPr>
        <p:spPr>
          <a:xfrm>
            <a:off x="403021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60" name="Shape 58"/>
          <p:cNvSpPr/>
          <p:nvPr/>
        </p:nvSpPr>
        <p:spPr>
          <a:xfrm>
            <a:off x="4030218" y="2816352"/>
            <a:ext cx="473202" cy="384048"/>
          </a:xfrm>
          <a:prstGeom prst="roundRect">
            <a:avLst>
              <a:gd name="adj" fmla="val 11905"/>
            </a:avLst>
          </a:prstGeom>
          <a:solidFill>
            <a:srgbClr val="D7E9E6"/>
          </a:solidFill>
          <a:ln/>
        </p:spPr>
        <p:txBody>
          <a:bodyPr/>
          <a:p/>
        </p:txBody>
      </p:sp>
      <p:sp>
        <p:nvSpPr>
          <p:cNvPr id="61" name="Text 59"/>
          <p:cNvSpPr txBox="1"/>
          <p:nvPr/>
        </p:nvSpPr>
        <p:spPr>
          <a:xfrm>
            <a:off x="403021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62" name="Shape 60"/>
          <p:cNvSpPr/>
          <p:nvPr/>
        </p:nvSpPr>
        <p:spPr>
          <a:xfrm>
            <a:off x="4030218" y="3236976"/>
            <a:ext cx="473202" cy="384048"/>
          </a:xfrm>
          <a:prstGeom prst="roundRect">
            <a:avLst>
              <a:gd name="adj" fmla="val 11905"/>
            </a:avLst>
          </a:prstGeom>
          <a:solidFill>
            <a:srgbClr val="D7E9E6"/>
          </a:solidFill>
          <a:ln/>
        </p:spPr>
        <p:txBody>
          <a:bodyPr/>
          <a:p/>
        </p:txBody>
      </p:sp>
      <p:sp>
        <p:nvSpPr>
          <p:cNvPr id="63" name="Text 61"/>
          <p:cNvSpPr txBox="1"/>
          <p:nvPr/>
        </p:nvSpPr>
        <p:spPr>
          <a:xfrm>
            <a:off x="403021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64" name="Shape 62"/>
          <p:cNvSpPr/>
          <p:nvPr/>
        </p:nvSpPr>
        <p:spPr>
          <a:xfrm>
            <a:off x="4030218" y="3657600"/>
            <a:ext cx="473202" cy="384048"/>
          </a:xfrm>
          <a:prstGeom prst="roundRect">
            <a:avLst>
              <a:gd name="adj" fmla="val 11905"/>
            </a:avLst>
          </a:prstGeom>
          <a:solidFill>
            <a:srgbClr val="02C39A"/>
          </a:solidFill>
          <a:ln/>
        </p:spPr>
        <p:txBody>
          <a:bodyPr/>
          <a:p/>
        </p:txBody>
      </p:sp>
      <p:sp>
        <p:nvSpPr>
          <p:cNvPr id="65" name="Text 63"/>
          <p:cNvSpPr txBox="1"/>
          <p:nvPr/>
        </p:nvSpPr>
        <p:spPr>
          <a:xfrm>
            <a:off x="4030218"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66" name="Text 64"/>
          <p:cNvSpPr txBox="1"/>
          <p:nvPr/>
        </p:nvSpPr>
        <p:spPr>
          <a:xfrm>
            <a:off x="401193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67" name="Shape 65"/>
          <p:cNvSpPr/>
          <p:nvPr/>
        </p:nvSpPr>
        <p:spPr>
          <a:xfrm>
            <a:off x="4539996" y="2395728"/>
            <a:ext cx="473202" cy="384048"/>
          </a:xfrm>
          <a:prstGeom prst="roundRect">
            <a:avLst>
              <a:gd name="adj" fmla="val 11905"/>
            </a:avLst>
          </a:prstGeom>
          <a:solidFill>
            <a:srgbClr val="36454F"/>
          </a:solidFill>
          <a:ln/>
        </p:spPr>
        <p:txBody>
          <a:bodyPr/>
          <a:p/>
        </p:txBody>
      </p:sp>
      <p:sp>
        <p:nvSpPr>
          <p:cNvPr id="68" name="Text 66"/>
          <p:cNvSpPr txBox="1"/>
          <p:nvPr/>
        </p:nvSpPr>
        <p:spPr>
          <a:xfrm>
            <a:off x="453999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69" name="Shape 67"/>
          <p:cNvSpPr/>
          <p:nvPr/>
        </p:nvSpPr>
        <p:spPr>
          <a:xfrm>
            <a:off x="4539996" y="2816352"/>
            <a:ext cx="473202" cy="384048"/>
          </a:xfrm>
          <a:prstGeom prst="roundRect">
            <a:avLst>
              <a:gd name="adj" fmla="val 11905"/>
            </a:avLst>
          </a:prstGeom>
          <a:solidFill>
            <a:srgbClr val="F2F2F2"/>
          </a:solidFill>
          <a:ln/>
        </p:spPr>
        <p:txBody>
          <a:bodyPr/>
          <a:p/>
        </p:txBody>
      </p:sp>
      <p:sp>
        <p:nvSpPr>
          <p:cNvPr id="70" name="Text 68"/>
          <p:cNvSpPr txBox="1"/>
          <p:nvPr/>
        </p:nvSpPr>
        <p:spPr>
          <a:xfrm>
            <a:off x="453999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71" name="Shape 69"/>
          <p:cNvSpPr/>
          <p:nvPr/>
        </p:nvSpPr>
        <p:spPr>
          <a:xfrm>
            <a:off x="4539996" y="3236976"/>
            <a:ext cx="473202" cy="384048"/>
          </a:xfrm>
          <a:prstGeom prst="roundRect">
            <a:avLst>
              <a:gd name="adj" fmla="val 11905"/>
            </a:avLst>
          </a:prstGeom>
          <a:solidFill>
            <a:srgbClr val="F2F2F2"/>
          </a:solidFill>
          <a:ln/>
        </p:spPr>
        <p:txBody>
          <a:bodyPr/>
          <a:p/>
        </p:txBody>
      </p:sp>
      <p:sp>
        <p:nvSpPr>
          <p:cNvPr id="72" name="Text 70"/>
          <p:cNvSpPr txBox="1"/>
          <p:nvPr/>
        </p:nvSpPr>
        <p:spPr>
          <a:xfrm>
            <a:off x="453999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73" name="Shape 71"/>
          <p:cNvSpPr/>
          <p:nvPr/>
        </p:nvSpPr>
        <p:spPr>
          <a:xfrm>
            <a:off x="4539996" y="3657600"/>
            <a:ext cx="473202" cy="384048"/>
          </a:xfrm>
          <a:prstGeom prst="roundRect">
            <a:avLst>
              <a:gd name="adj" fmla="val 11905"/>
            </a:avLst>
          </a:prstGeom>
          <a:solidFill>
            <a:srgbClr val="F2F2F2"/>
          </a:solidFill>
          <a:ln/>
        </p:spPr>
        <p:txBody>
          <a:bodyPr/>
          <a:p/>
        </p:txBody>
      </p:sp>
      <p:sp>
        <p:nvSpPr>
          <p:cNvPr id="74" name="Text 72"/>
          <p:cNvSpPr txBox="1"/>
          <p:nvPr/>
        </p:nvSpPr>
        <p:spPr>
          <a:xfrm>
            <a:off x="453999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75" name="Text 73"/>
          <p:cNvSpPr txBox="1"/>
          <p:nvPr/>
        </p:nvSpPr>
        <p:spPr>
          <a:xfrm>
            <a:off x="452170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76" name="Shape 74"/>
          <p:cNvSpPr/>
          <p:nvPr/>
        </p:nvSpPr>
        <p:spPr>
          <a:xfrm>
            <a:off x="5049774" y="2395728"/>
            <a:ext cx="473202" cy="384048"/>
          </a:xfrm>
          <a:prstGeom prst="roundRect">
            <a:avLst>
              <a:gd name="adj" fmla="val 11905"/>
            </a:avLst>
          </a:prstGeom>
          <a:solidFill>
            <a:srgbClr val="36454F"/>
          </a:solidFill>
          <a:ln/>
        </p:spPr>
        <p:txBody>
          <a:bodyPr/>
          <a:p/>
        </p:txBody>
      </p:sp>
      <p:sp>
        <p:nvSpPr>
          <p:cNvPr id="77" name="Text 75"/>
          <p:cNvSpPr txBox="1"/>
          <p:nvPr/>
        </p:nvSpPr>
        <p:spPr>
          <a:xfrm>
            <a:off x="504977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78" name="Shape 76"/>
          <p:cNvSpPr/>
          <p:nvPr/>
        </p:nvSpPr>
        <p:spPr>
          <a:xfrm>
            <a:off x="5049774" y="2816352"/>
            <a:ext cx="473202" cy="384048"/>
          </a:xfrm>
          <a:prstGeom prst="roundRect">
            <a:avLst>
              <a:gd name="adj" fmla="val 11905"/>
            </a:avLst>
          </a:prstGeom>
          <a:solidFill>
            <a:srgbClr val="02C39A"/>
          </a:solidFill>
          <a:ln/>
        </p:spPr>
        <p:txBody>
          <a:bodyPr/>
          <a:p/>
        </p:txBody>
      </p:sp>
      <p:sp>
        <p:nvSpPr>
          <p:cNvPr id="79" name="Text 77"/>
          <p:cNvSpPr txBox="1"/>
          <p:nvPr/>
        </p:nvSpPr>
        <p:spPr>
          <a:xfrm>
            <a:off x="5049774"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80" name="Shape 78"/>
          <p:cNvSpPr/>
          <p:nvPr/>
        </p:nvSpPr>
        <p:spPr>
          <a:xfrm>
            <a:off x="5049774" y="3236976"/>
            <a:ext cx="473202" cy="384048"/>
          </a:xfrm>
          <a:prstGeom prst="roundRect">
            <a:avLst>
              <a:gd name="adj" fmla="val 11905"/>
            </a:avLst>
          </a:prstGeom>
          <a:solidFill>
            <a:srgbClr val="D7E9E6"/>
          </a:solidFill>
          <a:ln/>
        </p:spPr>
        <p:txBody>
          <a:bodyPr/>
          <a:p/>
        </p:txBody>
      </p:sp>
      <p:sp>
        <p:nvSpPr>
          <p:cNvPr id="81" name="Text 79"/>
          <p:cNvSpPr txBox="1"/>
          <p:nvPr/>
        </p:nvSpPr>
        <p:spPr>
          <a:xfrm>
            <a:off x="504977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82" name="Shape 80"/>
          <p:cNvSpPr/>
          <p:nvPr/>
        </p:nvSpPr>
        <p:spPr>
          <a:xfrm>
            <a:off x="5049774" y="3657600"/>
            <a:ext cx="473202" cy="384048"/>
          </a:xfrm>
          <a:prstGeom prst="roundRect">
            <a:avLst>
              <a:gd name="adj" fmla="val 11905"/>
            </a:avLst>
          </a:prstGeom>
          <a:solidFill>
            <a:srgbClr val="D7E9E6"/>
          </a:solidFill>
          <a:ln/>
        </p:spPr>
        <p:txBody>
          <a:bodyPr/>
          <a:p/>
        </p:txBody>
      </p:sp>
      <p:sp>
        <p:nvSpPr>
          <p:cNvPr id="83" name="Text 81"/>
          <p:cNvSpPr txBox="1"/>
          <p:nvPr/>
        </p:nvSpPr>
        <p:spPr>
          <a:xfrm>
            <a:off x="504977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84" name="Text 82"/>
          <p:cNvSpPr txBox="1"/>
          <p:nvPr/>
        </p:nvSpPr>
        <p:spPr>
          <a:xfrm>
            <a:off x="503148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85" name="Shape 83"/>
          <p:cNvSpPr/>
          <p:nvPr/>
        </p:nvSpPr>
        <p:spPr>
          <a:xfrm>
            <a:off x="5559552" y="2395728"/>
            <a:ext cx="473202" cy="384048"/>
          </a:xfrm>
          <a:prstGeom prst="roundRect">
            <a:avLst>
              <a:gd name="adj" fmla="val 11905"/>
            </a:avLst>
          </a:prstGeom>
          <a:solidFill>
            <a:srgbClr val="36454F"/>
          </a:solidFill>
          <a:ln/>
        </p:spPr>
        <p:txBody>
          <a:bodyPr/>
          <a:p/>
        </p:txBody>
      </p:sp>
      <p:sp>
        <p:nvSpPr>
          <p:cNvPr id="86" name="Text 84"/>
          <p:cNvSpPr txBox="1"/>
          <p:nvPr/>
        </p:nvSpPr>
        <p:spPr>
          <a:xfrm>
            <a:off x="555955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87" name="Shape 85"/>
          <p:cNvSpPr/>
          <p:nvPr/>
        </p:nvSpPr>
        <p:spPr>
          <a:xfrm>
            <a:off x="5559552" y="2816352"/>
            <a:ext cx="473202" cy="384048"/>
          </a:xfrm>
          <a:prstGeom prst="roundRect">
            <a:avLst>
              <a:gd name="adj" fmla="val 11905"/>
            </a:avLst>
          </a:prstGeom>
          <a:solidFill>
            <a:srgbClr val="D7E9E6"/>
          </a:solidFill>
          <a:ln/>
        </p:spPr>
        <p:txBody>
          <a:bodyPr/>
          <a:p/>
        </p:txBody>
      </p:sp>
      <p:sp>
        <p:nvSpPr>
          <p:cNvPr id="88" name="Text 86"/>
          <p:cNvSpPr txBox="1"/>
          <p:nvPr/>
        </p:nvSpPr>
        <p:spPr>
          <a:xfrm>
            <a:off x="555955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4</a:t>
            </a:r>
            <a:endParaRPr lang="en-US" sz="1400" dirty="0"/>
          </a:p>
        </p:txBody>
      </p:sp>
      <p:sp>
        <p:nvSpPr>
          <p:cNvPr id="89" name="Shape 87"/>
          <p:cNvSpPr/>
          <p:nvPr/>
        </p:nvSpPr>
        <p:spPr>
          <a:xfrm>
            <a:off x="5559552" y="3236976"/>
            <a:ext cx="473202" cy="384048"/>
          </a:xfrm>
          <a:prstGeom prst="roundRect">
            <a:avLst>
              <a:gd name="adj" fmla="val 11905"/>
            </a:avLst>
          </a:prstGeom>
          <a:solidFill>
            <a:srgbClr val="D7E9E6"/>
          </a:solidFill>
          <a:ln/>
        </p:spPr>
        <p:txBody>
          <a:bodyPr/>
          <a:p/>
        </p:txBody>
      </p:sp>
      <p:sp>
        <p:nvSpPr>
          <p:cNvPr id="90" name="Text 88"/>
          <p:cNvSpPr txBox="1"/>
          <p:nvPr/>
        </p:nvSpPr>
        <p:spPr>
          <a:xfrm>
            <a:off x="555955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91" name="Shape 89"/>
          <p:cNvSpPr/>
          <p:nvPr/>
        </p:nvSpPr>
        <p:spPr>
          <a:xfrm>
            <a:off x="5559552" y="3657600"/>
            <a:ext cx="473202" cy="384048"/>
          </a:xfrm>
          <a:prstGeom prst="roundRect">
            <a:avLst>
              <a:gd name="adj" fmla="val 11905"/>
            </a:avLst>
          </a:prstGeom>
          <a:solidFill>
            <a:srgbClr val="02C39A"/>
          </a:solidFill>
          <a:ln/>
        </p:spPr>
        <p:txBody>
          <a:bodyPr/>
          <a:p/>
        </p:txBody>
      </p:sp>
      <p:sp>
        <p:nvSpPr>
          <p:cNvPr id="92" name="Text 90"/>
          <p:cNvSpPr txBox="1"/>
          <p:nvPr/>
        </p:nvSpPr>
        <p:spPr>
          <a:xfrm>
            <a:off x="5559552"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93" name="Text 91"/>
          <p:cNvSpPr txBox="1"/>
          <p:nvPr/>
        </p:nvSpPr>
        <p:spPr>
          <a:xfrm>
            <a:off x="554126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94" name="Shape 92"/>
          <p:cNvSpPr/>
          <p:nvPr/>
        </p:nvSpPr>
        <p:spPr>
          <a:xfrm>
            <a:off x="6069330" y="2395728"/>
            <a:ext cx="473202" cy="384048"/>
          </a:xfrm>
          <a:prstGeom prst="roundRect">
            <a:avLst>
              <a:gd name="adj" fmla="val 11905"/>
            </a:avLst>
          </a:prstGeom>
          <a:solidFill>
            <a:srgbClr val="36454F"/>
          </a:solidFill>
          <a:ln/>
        </p:spPr>
        <p:txBody>
          <a:bodyPr/>
          <a:p/>
        </p:txBody>
      </p:sp>
      <p:sp>
        <p:nvSpPr>
          <p:cNvPr id="95" name="Text 93"/>
          <p:cNvSpPr txBox="1"/>
          <p:nvPr/>
        </p:nvSpPr>
        <p:spPr>
          <a:xfrm>
            <a:off x="606933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96" name="Shape 94"/>
          <p:cNvSpPr/>
          <p:nvPr/>
        </p:nvSpPr>
        <p:spPr>
          <a:xfrm>
            <a:off x="6069330" y="2816352"/>
            <a:ext cx="473202" cy="384048"/>
          </a:xfrm>
          <a:prstGeom prst="roundRect">
            <a:avLst>
              <a:gd name="adj" fmla="val 11905"/>
            </a:avLst>
          </a:prstGeom>
          <a:solidFill>
            <a:srgbClr val="D7E9E6"/>
          </a:solidFill>
          <a:ln/>
        </p:spPr>
        <p:txBody>
          <a:bodyPr/>
          <a:p/>
        </p:txBody>
      </p:sp>
      <p:sp>
        <p:nvSpPr>
          <p:cNvPr id="97" name="Text 95"/>
          <p:cNvSpPr txBox="1"/>
          <p:nvPr/>
        </p:nvSpPr>
        <p:spPr>
          <a:xfrm>
            <a:off x="606933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4</a:t>
            </a:r>
            <a:endParaRPr lang="en-US" sz="1400" dirty="0"/>
          </a:p>
        </p:txBody>
      </p:sp>
      <p:sp>
        <p:nvSpPr>
          <p:cNvPr id="98" name="Shape 96"/>
          <p:cNvSpPr/>
          <p:nvPr/>
        </p:nvSpPr>
        <p:spPr>
          <a:xfrm>
            <a:off x="6069330" y="3236976"/>
            <a:ext cx="473202" cy="384048"/>
          </a:xfrm>
          <a:prstGeom prst="roundRect">
            <a:avLst>
              <a:gd name="adj" fmla="val 11905"/>
            </a:avLst>
          </a:prstGeom>
          <a:solidFill>
            <a:srgbClr val="02C39A"/>
          </a:solidFill>
          <a:ln/>
        </p:spPr>
        <p:txBody>
          <a:bodyPr/>
          <a:p/>
        </p:txBody>
      </p:sp>
      <p:sp>
        <p:nvSpPr>
          <p:cNvPr id="99" name="Text 97"/>
          <p:cNvSpPr txBox="1"/>
          <p:nvPr/>
        </p:nvSpPr>
        <p:spPr>
          <a:xfrm>
            <a:off x="6069330"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100" name="Shape 98"/>
          <p:cNvSpPr/>
          <p:nvPr/>
        </p:nvSpPr>
        <p:spPr>
          <a:xfrm>
            <a:off x="6069330" y="3657600"/>
            <a:ext cx="473202" cy="384048"/>
          </a:xfrm>
          <a:prstGeom prst="roundRect">
            <a:avLst>
              <a:gd name="adj" fmla="val 11905"/>
            </a:avLst>
          </a:prstGeom>
          <a:solidFill>
            <a:srgbClr val="D7E9E6"/>
          </a:solidFill>
          <a:ln/>
        </p:spPr>
        <p:txBody>
          <a:bodyPr/>
          <a:p/>
        </p:txBody>
      </p:sp>
      <p:sp>
        <p:nvSpPr>
          <p:cNvPr id="101" name="Text 99"/>
          <p:cNvSpPr txBox="1"/>
          <p:nvPr/>
        </p:nvSpPr>
        <p:spPr>
          <a:xfrm>
            <a:off x="606933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02" name="Text 100"/>
          <p:cNvSpPr txBox="1"/>
          <p:nvPr/>
        </p:nvSpPr>
        <p:spPr>
          <a:xfrm>
            <a:off x="6051042"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03" name="Shape 101"/>
          <p:cNvSpPr/>
          <p:nvPr/>
        </p:nvSpPr>
        <p:spPr>
          <a:xfrm>
            <a:off x="6579108" y="2395728"/>
            <a:ext cx="473202" cy="384048"/>
          </a:xfrm>
          <a:prstGeom prst="roundRect">
            <a:avLst>
              <a:gd name="adj" fmla="val 11905"/>
            </a:avLst>
          </a:prstGeom>
          <a:solidFill>
            <a:srgbClr val="36454F"/>
          </a:solidFill>
          <a:ln/>
        </p:spPr>
        <p:txBody>
          <a:bodyPr/>
          <a:p/>
        </p:txBody>
      </p:sp>
      <p:sp>
        <p:nvSpPr>
          <p:cNvPr id="104" name="Text 102"/>
          <p:cNvSpPr txBox="1"/>
          <p:nvPr/>
        </p:nvSpPr>
        <p:spPr>
          <a:xfrm>
            <a:off x="657910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05" name="Shape 103"/>
          <p:cNvSpPr/>
          <p:nvPr/>
        </p:nvSpPr>
        <p:spPr>
          <a:xfrm>
            <a:off x="6579108" y="2816352"/>
            <a:ext cx="473202" cy="384048"/>
          </a:xfrm>
          <a:prstGeom prst="roundRect">
            <a:avLst>
              <a:gd name="adj" fmla="val 11905"/>
            </a:avLst>
          </a:prstGeom>
          <a:solidFill>
            <a:srgbClr val="02C39A"/>
          </a:solidFill>
          <a:ln/>
        </p:spPr>
        <p:txBody>
          <a:bodyPr/>
          <a:p/>
        </p:txBody>
      </p:sp>
      <p:sp>
        <p:nvSpPr>
          <p:cNvPr id="106" name="Text 104"/>
          <p:cNvSpPr txBox="1"/>
          <p:nvPr/>
        </p:nvSpPr>
        <p:spPr>
          <a:xfrm>
            <a:off x="6579108"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07" name="Shape 105"/>
          <p:cNvSpPr/>
          <p:nvPr/>
        </p:nvSpPr>
        <p:spPr>
          <a:xfrm>
            <a:off x="6579108" y="3236976"/>
            <a:ext cx="473202" cy="384048"/>
          </a:xfrm>
          <a:prstGeom prst="roundRect">
            <a:avLst>
              <a:gd name="adj" fmla="val 11905"/>
            </a:avLst>
          </a:prstGeom>
          <a:solidFill>
            <a:srgbClr val="D7E9E6"/>
          </a:solidFill>
          <a:ln/>
        </p:spPr>
        <p:txBody>
          <a:bodyPr/>
          <a:p/>
        </p:txBody>
      </p:sp>
      <p:sp>
        <p:nvSpPr>
          <p:cNvPr id="108" name="Text 106"/>
          <p:cNvSpPr txBox="1"/>
          <p:nvPr/>
        </p:nvSpPr>
        <p:spPr>
          <a:xfrm>
            <a:off x="6579108"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109" name="Shape 107"/>
          <p:cNvSpPr/>
          <p:nvPr/>
        </p:nvSpPr>
        <p:spPr>
          <a:xfrm>
            <a:off x="6579108" y="3657600"/>
            <a:ext cx="473202" cy="384048"/>
          </a:xfrm>
          <a:prstGeom prst="roundRect">
            <a:avLst>
              <a:gd name="adj" fmla="val 11905"/>
            </a:avLst>
          </a:prstGeom>
          <a:solidFill>
            <a:srgbClr val="D7E9E6"/>
          </a:solidFill>
          <a:ln/>
        </p:spPr>
        <p:txBody>
          <a:bodyPr/>
          <a:p/>
        </p:txBody>
      </p:sp>
      <p:sp>
        <p:nvSpPr>
          <p:cNvPr id="110" name="Text 108"/>
          <p:cNvSpPr txBox="1"/>
          <p:nvPr/>
        </p:nvSpPr>
        <p:spPr>
          <a:xfrm>
            <a:off x="657910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11" name="Text 109"/>
          <p:cNvSpPr txBox="1"/>
          <p:nvPr/>
        </p:nvSpPr>
        <p:spPr>
          <a:xfrm>
            <a:off x="656082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12" name="Shape 110"/>
          <p:cNvSpPr/>
          <p:nvPr/>
        </p:nvSpPr>
        <p:spPr>
          <a:xfrm>
            <a:off x="7088886" y="2395728"/>
            <a:ext cx="473202" cy="384048"/>
          </a:xfrm>
          <a:prstGeom prst="roundRect">
            <a:avLst>
              <a:gd name="adj" fmla="val 11905"/>
            </a:avLst>
          </a:prstGeom>
          <a:solidFill>
            <a:srgbClr val="36454F"/>
          </a:solidFill>
          <a:ln/>
        </p:spPr>
        <p:txBody>
          <a:bodyPr/>
          <a:p/>
        </p:txBody>
      </p:sp>
      <p:sp>
        <p:nvSpPr>
          <p:cNvPr id="113" name="Text 111"/>
          <p:cNvSpPr txBox="1"/>
          <p:nvPr/>
        </p:nvSpPr>
        <p:spPr>
          <a:xfrm>
            <a:off x="708888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14" name="Shape 112"/>
          <p:cNvSpPr/>
          <p:nvPr/>
        </p:nvSpPr>
        <p:spPr>
          <a:xfrm>
            <a:off x="7088886" y="2816352"/>
            <a:ext cx="473202" cy="384048"/>
          </a:xfrm>
          <a:prstGeom prst="roundRect">
            <a:avLst>
              <a:gd name="adj" fmla="val 11905"/>
            </a:avLst>
          </a:prstGeom>
          <a:solidFill>
            <a:srgbClr val="F2F2F2"/>
          </a:solidFill>
          <a:ln/>
        </p:spPr>
        <p:txBody>
          <a:bodyPr/>
          <a:p/>
        </p:txBody>
      </p:sp>
      <p:sp>
        <p:nvSpPr>
          <p:cNvPr id="115" name="Text 113"/>
          <p:cNvSpPr txBox="1"/>
          <p:nvPr/>
        </p:nvSpPr>
        <p:spPr>
          <a:xfrm>
            <a:off x="708888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16" name="Shape 114"/>
          <p:cNvSpPr/>
          <p:nvPr/>
        </p:nvSpPr>
        <p:spPr>
          <a:xfrm>
            <a:off x="7088886" y="3236976"/>
            <a:ext cx="473202" cy="384048"/>
          </a:xfrm>
          <a:prstGeom prst="roundRect">
            <a:avLst>
              <a:gd name="adj" fmla="val 11905"/>
            </a:avLst>
          </a:prstGeom>
          <a:solidFill>
            <a:srgbClr val="F2F2F2"/>
          </a:solidFill>
          <a:ln/>
        </p:spPr>
        <p:txBody>
          <a:bodyPr/>
          <a:p/>
        </p:txBody>
      </p:sp>
      <p:sp>
        <p:nvSpPr>
          <p:cNvPr id="117" name="Text 115"/>
          <p:cNvSpPr txBox="1"/>
          <p:nvPr/>
        </p:nvSpPr>
        <p:spPr>
          <a:xfrm>
            <a:off x="708888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18" name="Shape 116"/>
          <p:cNvSpPr/>
          <p:nvPr/>
        </p:nvSpPr>
        <p:spPr>
          <a:xfrm>
            <a:off x="7088886" y="3657600"/>
            <a:ext cx="473202" cy="384048"/>
          </a:xfrm>
          <a:prstGeom prst="roundRect">
            <a:avLst>
              <a:gd name="adj" fmla="val 11905"/>
            </a:avLst>
          </a:prstGeom>
          <a:solidFill>
            <a:srgbClr val="F2F2F2"/>
          </a:solidFill>
          <a:ln/>
        </p:spPr>
        <p:txBody>
          <a:bodyPr/>
          <a:p/>
        </p:txBody>
      </p:sp>
      <p:sp>
        <p:nvSpPr>
          <p:cNvPr id="119" name="Text 117"/>
          <p:cNvSpPr txBox="1"/>
          <p:nvPr/>
        </p:nvSpPr>
        <p:spPr>
          <a:xfrm>
            <a:off x="708888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20" name="Text 118"/>
          <p:cNvSpPr txBox="1"/>
          <p:nvPr/>
        </p:nvSpPr>
        <p:spPr>
          <a:xfrm>
            <a:off x="707059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21" name="Shape 119"/>
          <p:cNvSpPr/>
          <p:nvPr/>
        </p:nvSpPr>
        <p:spPr>
          <a:xfrm>
            <a:off x="7598664" y="2395728"/>
            <a:ext cx="473202" cy="384048"/>
          </a:xfrm>
          <a:prstGeom prst="roundRect">
            <a:avLst>
              <a:gd name="adj" fmla="val 11905"/>
            </a:avLst>
          </a:prstGeom>
          <a:solidFill>
            <a:srgbClr val="36454F"/>
          </a:solidFill>
          <a:ln/>
        </p:spPr>
        <p:txBody>
          <a:bodyPr/>
          <a:p/>
        </p:txBody>
      </p:sp>
      <p:sp>
        <p:nvSpPr>
          <p:cNvPr id="122" name="Text 120"/>
          <p:cNvSpPr txBox="1"/>
          <p:nvPr/>
        </p:nvSpPr>
        <p:spPr>
          <a:xfrm>
            <a:off x="759866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3" name="Shape 121"/>
          <p:cNvSpPr/>
          <p:nvPr/>
        </p:nvSpPr>
        <p:spPr>
          <a:xfrm>
            <a:off x="7598664" y="2816352"/>
            <a:ext cx="473202" cy="384048"/>
          </a:xfrm>
          <a:prstGeom prst="roundRect">
            <a:avLst>
              <a:gd name="adj" fmla="val 11905"/>
            </a:avLst>
          </a:prstGeom>
          <a:solidFill>
            <a:srgbClr val="F2F2F2"/>
          </a:solidFill>
          <a:ln/>
        </p:spPr>
        <p:txBody>
          <a:bodyPr/>
          <a:p/>
        </p:txBody>
      </p:sp>
      <p:sp>
        <p:nvSpPr>
          <p:cNvPr id="124" name="Text 122"/>
          <p:cNvSpPr txBox="1"/>
          <p:nvPr/>
        </p:nvSpPr>
        <p:spPr>
          <a:xfrm>
            <a:off x="759866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25" name="Shape 123"/>
          <p:cNvSpPr/>
          <p:nvPr/>
        </p:nvSpPr>
        <p:spPr>
          <a:xfrm>
            <a:off x="7598664" y="3236976"/>
            <a:ext cx="473202" cy="384048"/>
          </a:xfrm>
          <a:prstGeom prst="roundRect">
            <a:avLst>
              <a:gd name="adj" fmla="val 11905"/>
            </a:avLst>
          </a:prstGeom>
          <a:solidFill>
            <a:srgbClr val="F2F2F2"/>
          </a:solidFill>
          <a:ln/>
        </p:spPr>
        <p:txBody>
          <a:bodyPr/>
          <a:p/>
        </p:txBody>
      </p:sp>
      <p:sp>
        <p:nvSpPr>
          <p:cNvPr id="126" name="Text 124"/>
          <p:cNvSpPr txBox="1"/>
          <p:nvPr/>
        </p:nvSpPr>
        <p:spPr>
          <a:xfrm>
            <a:off x="759866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27" name="Shape 125"/>
          <p:cNvSpPr/>
          <p:nvPr/>
        </p:nvSpPr>
        <p:spPr>
          <a:xfrm>
            <a:off x="7598664" y="3657600"/>
            <a:ext cx="473202" cy="384048"/>
          </a:xfrm>
          <a:prstGeom prst="roundRect">
            <a:avLst>
              <a:gd name="adj" fmla="val 11905"/>
            </a:avLst>
          </a:prstGeom>
          <a:solidFill>
            <a:srgbClr val="F2F2F2"/>
          </a:solidFill>
          <a:ln/>
        </p:spPr>
        <p:txBody>
          <a:bodyPr/>
          <a:p/>
        </p:txBody>
      </p:sp>
      <p:sp>
        <p:nvSpPr>
          <p:cNvPr id="128" name="Text 126"/>
          <p:cNvSpPr txBox="1"/>
          <p:nvPr/>
        </p:nvSpPr>
        <p:spPr>
          <a:xfrm>
            <a:off x="7598664"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29" name="Text 127"/>
          <p:cNvSpPr txBox="1"/>
          <p:nvPr/>
        </p:nvSpPr>
        <p:spPr>
          <a:xfrm>
            <a:off x="7580376"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30" name="Shape 128"/>
          <p:cNvSpPr/>
          <p:nvPr/>
        </p:nvSpPr>
        <p:spPr>
          <a:xfrm>
            <a:off x="8108442" y="2395728"/>
            <a:ext cx="473202" cy="384048"/>
          </a:xfrm>
          <a:prstGeom prst="roundRect">
            <a:avLst>
              <a:gd name="adj" fmla="val 11905"/>
            </a:avLst>
          </a:prstGeom>
          <a:solidFill>
            <a:srgbClr val="36454F"/>
          </a:solidFill>
          <a:ln/>
        </p:spPr>
        <p:txBody>
          <a:bodyPr/>
          <a:p/>
        </p:txBody>
      </p:sp>
      <p:sp>
        <p:nvSpPr>
          <p:cNvPr id="131" name="Text 129"/>
          <p:cNvSpPr txBox="1"/>
          <p:nvPr/>
        </p:nvSpPr>
        <p:spPr>
          <a:xfrm>
            <a:off x="810844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2" name="Shape 130"/>
          <p:cNvSpPr/>
          <p:nvPr/>
        </p:nvSpPr>
        <p:spPr>
          <a:xfrm>
            <a:off x="8108442" y="2816352"/>
            <a:ext cx="473202" cy="384048"/>
          </a:xfrm>
          <a:prstGeom prst="roundRect">
            <a:avLst>
              <a:gd name="adj" fmla="val 11905"/>
            </a:avLst>
          </a:prstGeom>
          <a:solidFill>
            <a:srgbClr val="02C39A"/>
          </a:solidFill>
          <a:ln/>
        </p:spPr>
        <p:txBody>
          <a:bodyPr/>
          <a:p/>
        </p:txBody>
      </p:sp>
      <p:sp>
        <p:nvSpPr>
          <p:cNvPr id="133" name="Text 131"/>
          <p:cNvSpPr txBox="1"/>
          <p:nvPr/>
        </p:nvSpPr>
        <p:spPr>
          <a:xfrm>
            <a:off x="8108442" y="2816352"/>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134" name="Shape 132"/>
          <p:cNvSpPr/>
          <p:nvPr/>
        </p:nvSpPr>
        <p:spPr>
          <a:xfrm>
            <a:off x="8108442" y="3236976"/>
            <a:ext cx="473202" cy="384048"/>
          </a:xfrm>
          <a:prstGeom prst="roundRect">
            <a:avLst>
              <a:gd name="adj" fmla="val 11905"/>
            </a:avLst>
          </a:prstGeom>
          <a:solidFill>
            <a:srgbClr val="D7E9E6"/>
          </a:solidFill>
          <a:ln/>
        </p:spPr>
        <p:txBody>
          <a:bodyPr/>
          <a:p/>
        </p:txBody>
      </p:sp>
      <p:sp>
        <p:nvSpPr>
          <p:cNvPr id="135" name="Text 133"/>
          <p:cNvSpPr txBox="1"/>
          <p:nvPr/>
        </p:nvSpPr>
        <p:spPr>
          <a:xfrm>
            <a:off x="810844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3</a:t>
            </a:r>
            <a:endParaRPr lang="en-US" sz="1400" dirty="0"/>
          </a:p>
        </p:txBody>
      </p:sp>
      <p:sp>
        <p:nvSpPr>
          <p:cNvPr id="136" name="Shape 134"/>
          <p:cNvSpPr/>
          <p:nvPr/>
        </p:nvSpPr>
        <p:spPr>
          <a:xfrm>
            <a:off x="8108442" y="3657600"/>
            <a:ext cx="473202" cy="384048"/>
          </a:xfrm>
          <a:prstGeom prst="roundRect">
            <a:avLst>
              <a:gd name="adj" fmla="val 11905"/>
            </a:avLst>
          </a:prstGeom>
          <a:solidFill>
            <a:srgbClr val="D7E9E6"/>
          </a:solidFill>
          <a:ln/>
        </p:spPr>
        <p:txBody>
          <a:bodyPr/>
          <a:p/>
        </p:txBody>
      </p:sp>
      <p:sp>
        <p:nvSpPr>
          <p:cNvPr id="137" name="Text 135"/>
          <p:cNvSpPr txBox="1"/>
          <p:nvPr/>
        </p:nvSpPr>
        <p:spPr>
          <a:xfrm>
            <a:off x="810844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38" name="Text 136"/>
          <p:cNvSpPr txBox="1"/>
          <p:nvPr/>
        </p:nvSpPr>
        <p:spPr>
          <a:xfrm>
            <a:off x="8090154"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39" name="Shape 137"/>
          <p:cNvSpPr/>
          <p:nvPr/>
        </p:nvSpPr>
        <p:spPr>
          <a:xfrm>
            <a:off x="8618220" y="2395728"/>
            <a:ext cx="473202" cy="384048"/>
          </a:xfrm>
          <a:prstGeom prst="roundRect">
            <a:avLst>
              <a:gd name="adj" fmla="val 11905"/>
            </a:avLst>
          </a:prstGeom>
          <a:solidFill>
            <a:srgbClr val="36454F"/>
          </a:solidFill>
          <a:ln/>
        </p:spPr>
        <p:txBody>
          <a:bodyPr/>
          <a:p/>
        </p:txBody>
      </p:sp>
      <p:sp>
        <p:nvSpPr>
          <p:cNvPr id="140" name="Text 138"/>
          <p:cNvSpPr txBox="1"/>
          <p:nvPr/>
        </p:nvSpPr>
        <p:spPr>
          <a:xfrm>
            <a:off x="861822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41" name="Shape 139"/>
          <p:cNvSpPr/>
          <p:nvPr/>
        </p:nvSpPr>
        <p:spPr>
          <a:xfrm>
            <a:off x="8618220" y="2816352"/>
            <a:ext cx="473202" cy="384048"/>
          </a:xfrm>
          <a:prstGeom prst="roundRect">
            <a:avLst>
              <a:gd name="adj" fmla="val 11905"/>
            </a:avLst>
          </a:prstGeom>
          <a:solidFill>
            <a:srgbClr val="F2F2F2"/>
          </a:solidFill>
          <a:ln/>
        </p:spPr>
        <p:txBody>
          <a:bodyPr/>
          <a:p/>
        </p:txBody>
      </p:sp>
      <p:sp>
        <p:nvSpPr>
          <p:cNvPr id="142" name="Text 140"/>
          <p:cNvSpPr txBox="1"/>
          <p:nvPr/>
        </p:nvSpPr>
        <p:spPr>
          <a:xfrm>
            <a:off x="861822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43" name="Shape 141"/>
          <p:cNvSpPr/>
          <p:nvPr/>
        </p:nvSpPr>
        <p:spPr>
          <a:xfrm>
            <a:off x="8618220" y="3236976"/>
            <a:ext cx="473202" cy="384048"/>
          </a:xfrm>
          <a:prstGeom prst="roundRect">
            <a:avLst>
              <a:gd name="adj" fmla="val 11905"/>
            </a:avLst>
          </a:prstGeom>
          <a:solidFill>
            <a:srgbClr val="F2F2F2"/>
          </a:solidFill>
          <a:ln/>
        </p:spPr>
        <p:txBody>
          <a:bodyPr/>
          <a:p/>
        </p:txBody>
      </p:sp>
      <p:sp>
        <p:nvSpPr>
          <p:cNvPr id="144" name="Text 142"/>
          <p:cNvSpPr txBox="1"/>
          <p:nvPr/>
        </p:nvSpPr>
        <p:spPr>
          <a:xfrm>
            <a:off x="861822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3</a:t>
            </a:r>
            <a:endParaRPr lang="en-US" sz="1400" dirty="0"/>
          </a:p>
        </p:txBody>
      </p:sp>
      <p:sp>
        <p:nvSpPr>
          <p:cNvPr id="145" name="Shape 143"/>
          <p:cNvSpPr/>
          <p:nvPr/>
        </p:nvSpPr>
        <p:spPr>
          <a:xfrm>
            <a:off x="8618220" y="3657600"/>
            <a:ext cx="473202" cy="384048"/>
          </a:xfrm>
          <a:prstGeom prst="roundRect">
            <a:avLst>
              <a:gd name="adj" fmla="val 11905"/>
            </a:avLst>
          </a:prstGeom>
          <a:solidFill>
            <a:srgbClr val="F2F2F2"/>
          </a:solidFill>
          <a:ln/>
        </p:spPr>
        <p:txBody>
          <a:bodyPr/>
          <a:p/>
        </p:txBody>
      </p:sp>
      <p:sp>
        <p:nvSpPr>
          <p:cNvPr id="146" name="Text 144"/>
          <p:cNvSpPr txBox="1"/>
          <p:nvPr/>
        </p:nvSpPr>
        <p:spPr>
          <a:xfrm>
            <a:off x="861822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47" name="Text 145"/>
          <p:cNvSpPr txBox="1"/>
          <p:nvPr/>
        </p:nvSpPr>
        <p:spPr>
          <a:xfrm>
            <a:off x="859993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48" name="Shape 146"/>
          <p:cNvSpPr/>
          <p:nvPr/>
        </p:nvSpPr>
        <p:spPr>
          <a:xfrm>
            <a:off x="9127998" y="2395728"/>
            <a:ext cx="473202" cy="384048"/>
          </a:xfrm>
          <a:prstGeom prst="roundRect">
            <a:avLst>
              <a:gd name="adj" fmla="val 11905"/>
            </a:avLst>
          </a:prstGeom>
          <a:solidFill>
            <a:srgbClr val="36454F"/>
          </a:solidFill>
          <a:ln/>
        </p:spPr>
        <p:txBody>
          <a:bodyPr/>
          <a:p/>
        </p:txBody>
      </p:sp>
      <p:sp>
        <p:nvSpPr>
          <p:cNvPr id="149" name="Text 147"/>
          <p:cNvSpPr txBox="1"/>
          <p:nvPr/>
        </p:nvSpPr>
        <p:spPr>
          <a:xfrm>
            <a:off x="9127998"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50" name="Shape 148"/>
          <p:cNvSpPr/>
          <p:nvPr/>
        </p:nvSpPr>
        <p:spPr>
          <a:xfrm>
            <a:off x="9127998" y="2816352"/>
            <a:ext cx="473202" cy="384048"/>
          </a:xfrm>
          <a:prstGeom prst="roundRect">
            <a:avLst>
              <a:gd name="adj" fmla="val 11905"/>
            </a:avLst>
          </a:prstGeom>
          <a:solidFill>
            <a:srgbClr val="D7E9E6"/>
          </a:solidFill>
          <a:ln/>
        </p:spPr>
        <p:txBody>
          <a:bodyPr/>
          <a:p/>
        </p:txBody>
      </p:sp>
      <p:sp>
        <p:nvSpPr>
          <p:cNvPr id="151" name="Text 149"/>
          <p:cNvSpPr txBox="1"/>
          <p:nvPr/>
        </p:nvSpPr>
        <p:spPr>
          <a:xfrm>
            <a:off x="9127998"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52" name="Shape 150"/>
          <p:cNvSpPr/>
          <p:nvPr/>
        </p:nvSpPr>
        <p:spPr>
          <a:xfrm>
            <a:off x="9127998" y="3236976"/>
            <a:ext cx="473202" cy="384048"/>
          </a:xfrm>
          <a:prstGeom prst="roundRect">
            <a:avLst>
              <a:gd name="adj" fmla="val 11905"/>
            </a:avLst>
          </a:prstGeom>
          <a:solidFill>
            <a:srgbClr val="02C39A"/>
          </a:solidFill>
          <a:ln/>
        </p:spPr>
        <p:txBody>
          <a:bodyPr/>
          <a:p/>
        </p:txBody>
      </p:sp>
      <p:sp>
        <p:nvSpPr>
          <p:cNvPr id="153" name="Text 151"/>
          <p:cNvSpPr txBox="1"/>
          <p:nvPr/>
        </p:nvSpPr>
        <p:spPr>
          <a:xfrm>
            <a:off x="9127998" y="3236976"/>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0</a:t>
            </a:r>
            <a:endParaRPr lang="en-US" sz="1400" dirty="0"/>
          </a:p>
        </p:txBody>
      </p:sp>
      <p:sp>
        <p:nvSpPr>
          <p:cNvPr id="154" name="Shape 152"/>
          <p:cNvSpPr/>
          <p:nvPr/>
        </p:nvSpPr>
        <p:spPr>
          <a:xfrm>
            <a:off x="9127998" y="3657600"/>
            <a:ext cx="473202" cy="384048"/>
          </a:xfrm>
          <a:prstGeom prst="roundRect">
            <a:avLst>
              <a:gd name="adj" fmla="val 11905"/>
            </a:avLst>
          </a:prstGeom>
          <a:solidFill>
            <a:srgbClr val="D7E9E6"/>
          </a:solidFill>
          <a:ln/>
        </p:spPr>
        <p:txBody>
          <a:bodyPr/>
          <a:p/>
        </p:txBody>
      </p:sp>
      <p:sp>
        <p:nvSpPr>
          <p:cNvPr id="155" name="Text 153"/>
          <p:cNvSpPr txBox="1"/>
          <p:nvPr/>
        </p:nvSpPr>
        <p:spPr>
          <a:xfrm>
            <a:off x="9127998"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2</a:t>
            </a:r>
            <a:endParaRPr lang="en-US" sz="1400" dirty="0"/>
          </a:p>
        </p:txBody>
      </p:sp>
      <p:sp>
        <p:nvSpPr>
          <p:cNvPr id="156" name="Text 154"/>
          <p:cNvSpPr txBox="1"/>
          <p:nvPr/>
        </p:nvSpPr>
        <p:spPr>
          <a:xfrm>
            <a:off x="9109710"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57" name="Shape 155"/>
          <p:cNvSpPr/>
          <p:nvPr/>
        </p:nvSpPr>
        <p:spPr>
          <a:xfrm>
            <a:off x="9637776" y="2395728"/>
            <a:ext cx="473202" cy="384048"/>
          </a:xfrm>
          <a:prstGeom prst="roundRect">
            <a:avLst>
              <a:gd name="adj" fmla="val 11905"/>
            </a:avLst>
          </a:prstGeom>
          <a:solidFill>
            <a:srgbClr val="36454F"/>
          </a:solidFill>
          <a:ln/>
        </p:spPr>
        <p:txBody>
          <a:bodyPr/>
          <a:p/>
        </p:txBody>
      </p:sp>
      <p:sp>
        <p:nvSpPr>
          <p:cNvPr id="158" name="Text 156"/>
          <p:cNvSpPr txBox="1"/>
          <p:nvPr/>
        </p:nvSpPr>
        <p:spPr>
          <a:xfrm>
            <a:off x="9637776"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59" name="Shape 157"/>
          <p:cNvSpPr/>
          <p:nvPr/>
        </p:nvSpPr>
        <p:spPr>
          <a:xfrm>
            <a:off x="9637776" y="2816352"/>
            <a:ext cx="473202" cy="384048"/>
          </a:xfrm>
          <a:prstGeom prst="roundRect">
            <a:avLst>
              <a:gd name="adj" fmla="val 11905"/>
            </a:avLst>
          </a:prstGeom>
          <a:solidFill>
            <a:srgbClr val="F2F2F2"/>
          </a:solidFill>
          <a:ln/>
        </p:spPr>
        <p:txBody>
          <a:bodyPr/>
          <a:p/>
        </p:txBody>
      </p:sp>
      <p:sp>
        <p:nvSpPr>
          <p:cNvPr id="160" name="Text 158"/>
          <p:cNvSpPr txBox="1"/>
          <p:nvPr/>
        </p:nvSpPr>
        <p:spPr>
          <a:xfrm>
            <a:off x="9637776"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61" name="Shape 159"/>
          <p:cNvSpPr/>
          <p:nvPr/>
        </p:nvSpPr>
        <p:spPr>
          <a:xfrm>
            <a:off x="9637776" y="3236976"/>
            <a:ext cx="473202" cy="384048"/>
          </a:xfrm>
          <a:prstGeom prst="roundRect">
            <a:avLst>
              <a:gd name="adj" fmla="val 11905"/>
            </a:avLst>
          </a:prstGeom>
          <a:solidFill>
            <a:srgbClr val="F2F2F2"/>
          </a:solidFill>
          <a:ln/>
        </p:spPr>
        <p:txBody>
          <a:bodyPr/>
          <a:p/>
        </p:txBody>
      </p:sp>
      <p:sp>
        <p:nvSpPr>
          <p:cNvPr id="162" name="Text 160"/>
          <p:cNvSpPr txBox="1"/>
          <p:nvPr/>
        </p:nvSpPr>
        <p:spPr>
          <a:xfrm>
            <a:off x="9637776"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63" name="Shape 161"/>
          <p:cNvSpPr/>
          <p:nvPr/>
        </p:nvSpPr>
        <p:spPr>
          <a:xfrm>
            <a:off x="9637776" y="3657600"/>
            <a:ext cx="473202" cy="384048"/>
          </a:xfrm>
          <a:prstGeom prst="roundRect">
            <a:avLst>
              <a:gd name="adj" fmla="val 11905"/>
            </a:avLst>
          </a:prstGeom>
          <a:solidFill>
            <a:srgbClr val="F2F2F2"/>
          </a:solidFill>
          <a:ln/>
        </p:spPr>
        <p:txBody>
          <a:bodyPr/>
          <a:p/>
        </p:txBody>
      </p:sp>
      <p:sp>
        <p:nvSpPr>
          <p:cNvPr id="164" name="Text 162"/>
          <p:cNvSpPr txBox="1"/>
          <p:nvPr/>
        </p:nvSpPr>
        <p:spPr>
          <a:xfrm>
            <a:off x="9637776"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2</a:t>
            </a:r>
            <a:endParaRPr lang="en-US" sz="1400" dirty="0"/>
          </a:p>
        </p:txBody>
      </p:sp>
      <p:sp>
        <p:nvSpPr>
          <p:cNvPr id="165" name="Text 163"/>
          <p:cNvSpPr txBox="1"/>
          <p:nvPr/>
        </p:nvSpPr>
        <p:spPr>
          <a:xfrm>
            <a:off x="9619488"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66" name="Shape 164"/>
          <p:cNvSpPr/>
          <p:nvPr/>
        </p:nvSpPr>
        <p:spPr>
          <a:xfrm>
            <a:off x="10147554" y="2395728"/>
            <a:ext cx="473202" cy="384048"/>
          </a:xfrm>
          <a:prstGeom prst="roundRect">
            <a:avLst>
              <a:gd name="adj" fmla="val 11905"/>
            </a:avLst>
          </a:prstGeom>
          <a:solidFill>
            <a:srgbClr val="36454F"/>
          </a:solidFill>
          <a:ln/>
        </p:spPr>
        <p:txBody>
          <a:bodyPr/>
          <a:p/>
        </p:txBody>
      </p:sp>
      <p:sp>
        <p:nvSpPr>
          <p:cNvPr id="167" name="Text 165"/>
          <p:cNvSpPr txBox="1"/>
          <p:nvPr/>
        </p:nvSpPr>
        <p:spPr>
          <a:xfrm>
            <a:off x="10147554"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168" name="Shape 166"/>
          <p:cNvSpPr/>
          <p:nvPr/>
        </p:nvSpPr>
        <p:spPr>
          <a:xfrm>
            <a:off x="10147554" y="2816352"/>
            <a:ext cx="473202" cy="384048"/>
          </a:xfrm>
          <a:prstGeom prst="roundRect">
            <a:avLst>
              <a:gd name="adj" fmla="val 11905"/>
            </a:avLst>
          </a:prstGeom>
          <a:solidFill>
            <a:srgbClr val="D7E9E6"/>
          </a:solidFill>
          <a:ln/>
        </p:spPr>
        <p:txBody>
          <a:bodyPr/>
          <a:p/>
        </p:txBody>
      </p:sp>
      <p:sp>
        <p:nvSpPr>
          <p:cNvPr id="169" name="Text 167"/>
          <p:cNvSpPr txBox="1"/>
          <p:nvPr/>
        </p:nvSpPr>
        <p:spPr>
          <a:xfrm>
            <a:off x="10147554"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1</a:t>
            </a:r>
            <a:endParaRPr lang="en-US" sz="1400" dirty="0"/>
          </a:p>
        </p:txBody>
      </p:sp>
      <p:sp>
        <p:nvSpPr>
          <p:cNvPr id="170" name="Shape 168"/>
          <p:cNvSpPr/>
          <p:nvPr/>
        </p:nvSpPr>
        <p:spPr>
          <a:xfrm>
            <a:off x="10147554" y="3236976"/>
            <a:ext cx="473202" cy="384048"/>
          </a:xfrm>
          <a:prstGeom prst="roundRect">
            <a:avLst>
              <a:gd name="adj" fmla="val 11905"/>
            </a:avLst>
          </a:prstGeom>
          <a:solidFill>
            <a:srgbClr val="D7E9E6"/>
          </a:solidFill>
          <a:ln/>
        </p:spPr>
        <p:txBody>
          <a:bodyPr/>
          <a:p/>
        </p:txBody>
      </p:sp>
      <p:sp>
        <p:nvSpPr>
          <p:cNvPr id="171" name="Text 169"/>
          <p:cNvSpPr txBox="1"/>
          <p:nvPr/>
        </p:nvSpPr>
        <p:spPr>
          <a:xfrm>
            <a:off x="10147554"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212121"/>
                </a:solidFill>
                <a:latin typeface="Calibri" pitchFamily="34" charset="0"/>
                <a:ea typeface="Calibri" pitchFamily="34" charset="-122"/>
                <a:cs typeface="Calibri" pitchFamily="34" charset="-120"/>
              </a:rPr>
              <a:t>0</a:t>
            </a:r>
            <a:endParaRPr lang="en-US" sz="1400" dirty="0"/>
          </a:p>
        </p:txBody>
      </p:sp>
      <p:sp>
        <p:nvSpPr>
          <p:cNvPr id="172" name="Shape 170"/>
          <p:cNvSpPr/>
          <p:nvPr/>
        </p:nvSpPr>
        <p:spPr>
          <a:xfrm>
            <a:off x="10147554" y="3657600"/>
            <a:ext cx="473202" cy="384048"/>
          </a:xfrm>
          <a:prstGeom prst="roundRect">
            <a:avLst>
              <a:gd name="adj" fmla="val 11905"/>
            </a:avLst>
          </a:prstGeom>
          <a:solidFill>
            <a:srgbClr val="02C39A"/>
          </a:solidFill>
          <a:ln/>
        </p:spPr>
        <p:txBody>
          <a:bodyPr/>
          <a:p/>
        </p:txBody>
      </p:sp>
      <p:sp>
        <p:nvSpPr>
          <p:cNvPr id="173" name="Text 171"/>
          <p:cNvSpPr txBox="1"/>
          <p:nvPr/>
        </p:nvSpPr>
        <p:spPr>
          <a:xfrm>
            <a:off x="10147554" y="3657600"/>
            <a:ext cx="473202" cy="384048"/>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4" name="Text 172"/>
          <p:cNvSpPr txBox="1"/>
          <p:nvPr/>
        </p:nvSpPr>
        <p:spPr>
          <a:xfrm>
            <a:off x="10129266" y="4059936"/>
            <a:ext cx="509778" cy="420624"/>
          </a:xfrm>
          <a:prstGeom prst="rect">
            <a:avLst/>
          </a:prstGeom>
          <a:noFill/>
          <a:ln/>
        </p:spPr>
        <p:txBody>
          <a:bodyPr wrap="square" lIns="0" tIns="0" rIns="0" bIns="0" rtlCol="0" anchor="ctr"/>
          <a:lstStyle/>
          <a:p>
            <a:pPr algn="ctr" indent="0" marL="0">
              <a:buNone/>
            </a:pPr>
            <a:r>
              <a:rPr lang="en-US" sz="1400" b="1" dirty="0">
                <a:solidFill>
                  <a:srgbClr val="B5453A"/>
                </a:solidFill>
                <a:latin typeface="Calibri" pitchFamily="34" charset="0"/>
                <a:ea typeface="Calibri" pitchFamily="34" charset="-122"/>
                <a:cs typeface="Calibri" pitchFamily="34" charset="-120"/>
              </a:rPr>
              <a:t>F</a:t>
            </a:r>
            <a:endParaRPr lang="en-US" sz="1400" dirty="0"/>
          </a:p>
        </p:txBody>
      </p:sp>
      <p:sp>
        <p:nvSpPr>
          <p:cNvPr id="175" name="Shape 173"/>
          <p:cNvSpPr/>
          <p:nvPr/>
        </p:nvSpPr>
        <p:spPr>
          <a:xfrm>
            <a:off x="10657332" y="2395728"/>
            <a:ext cx="473202" cy="384048"/>
          </a:xfrm>
          <a:prstGeom prst="roundRect">
            <a:avLst>
              <a:gd name="adj" fmla="val 11905"/>
            </a:avLst>
          </a:prstGeom>
          <a:solidFill>
            <a:srgbClr val="36454F"/>
          </a:solidFill>
          <a:ln/>
        </p:spPr>
        <p:txBody>
          <a:bodyPr/>
          <a:p/>
        </p:txBody>
      </p:sp>
      <p:sp>
        <p:nvSpPr>
          <p:cNvPr id="176" name="Text 174"/>
          <p:cNvSpPr txBox="1"/>
          <p:nvPr/>
        </p:nvSpPr>
        <p:spPr>
          <a:xfrm>
            <a:off x="10657332"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0</a:t>
            </a:r>
            <a:endParaRPr lang="en-US" sz="1400" dirty="0"/>
          </a:p>
        </p:txBody>
      </p:sp>
      <p:sp>
        <p:nvSpPr>
          <p:cNvPr id="177" name="Shape 175"/>
          <p:cNvSpPr/>
          <p:nvPr/>
        </p:nvSpPr>
        <p:spPr>
          <a:xfrm>
            <a:off x="10657332" y="2816352"/>
            <a:ext cx="473202" cy="384048"/>
          </a:xfrm>
          <a:prstGeom prst="roundRect">
            <a:avLst>
              <a:gd name="adj" fmla="val 11905"/>
            </a:avLst>
          </a:prstGeom>
          <a:solidFill>
            <a:srgbClr val="F2F2F2"/>
          </a:solidFill>
          <a:ln/>
        </p:spPr>
        <p:txBody>
          <a:bodyPr/>
          <a:p/>
        </p:txBody>
      </p:sp>
      <p:sp>
        <p:nvSpPr>
          <p:cNvPr id="178" name="Text 176"/>
          <p:cNvSpPr txBox="1"/>
          <p:nvPr/>
        </p:nvSpPr>
        <p:spPr>
          <a:xfrm>
            <a:off x="10657332"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79" name="Shape 177"/>
          <p:cNvSpPr/>
          <p:nvPr/>
        </p:nvSpPr>
        <p:spPr>
          <a:xfrm>
            <a:off x="10657332" y="3236976"/>
            <a:ext cx="473202" cy="384048"/>
          </a:xfrm>
          <a:prstGeom prst="roundRect">
            <a:avLst>
              <a:gd name="adj" fmla="val 11905"/>
            </a:avLst>
          </a:prstGeom>
          <a:solidFill>
            <a:srgbClr val="F2F2F2"/>
          </a:solidFill>
          <a:ln/>
        </p:spPr>
        <p:txBody>
          <a:bodyPr/>
          <a:p/>
        </p:txBody>
      </p:sp>
      <p:sp>
        <p:nvSpPr>
          <p:cNvPr id="180" name="Text 178"/>
          <p:cNvSpPr txBox="1"/>
          <p:nvPr/>
        </p:nvSpPr>
        <p:spPr>
          <a:xfrm>
            <a:off x="10657332"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81" name="Shape 179"/>
          <p:cNvSpPr/>
          <p:nvPr/>
        </p:nvSpPr>
        <p:spPr>
          <a:xfrm>
            <a:off x="10657332" y="3657600"/>
            <a:ext cx="473202" cy="384048"/>
          </a:xfrm>
          <a:prstGeom prst="roundRect">
            <a:avLst>
              <a:gd name="adj" fmla="val 11905"/>
            </a:avLst>
          </a:prstGeom>
          <a:solidFill>
            <a:srgbClr val="F2F2F2"/>
          </a:solidFill>
          <a:ln/>
        </p:spPr>
        <p:txBody>
          <a:bodyPr/>
          <a:p/>
        </p:txBody>
      </p:sp>
      <p:sp>
        <p:nvSpPr>
          <p:cNvPr id="182" name="Text 180"/>
          <p:cNvSpPr txBox="1"/>
          <p:nvPr/>
        </p:nvSpPr>
        <p:spPr>
          <a:xfrm>
            <a:off x="10657332"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7</a:t>
            </a:r>
            <a:endParaRPr lang="en-US" sz="1400" dirty="0"/>
          </a:p>
        </p:txBody>
      </p:sp>
      <p:sp>
        <p:nvSpPr>
          <p:cNvPr id="183" name="Text 181"/>
          <p:cNvSpPr txBox="1"/>
          <p:nvPr/>
        </p:nvSpPr>
        <p:spPr>
          <a:xfrm>
            <a:off x="10639044"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84" name="Shape 182"/>
          <p:cNvSpPr/>
          <p:nvPr/>
        </p:nvSpPr>
        <p:spPr>
          <a:xfrm>
            <a:off x="11167110" y="2395728"/>
            <a:ext cx="473202" cy="384048"/>
          </a:xfrm>
          <a:prstGeom prst="roundRect">
            <a:avLst>
              <a:gd name="adj" fmla="val 11905"/>
            </a:avLst>
          </a:prstGeom>
          <a:solidFill>
            <a:srgbClr val="36454F"/>
          </a:solidFill>
          <a:ln/>
        </p:spPr>
        <p:txBody>
          <a:bodyPr/>
          <a:p/>
        </p:txBody>
      </p:sp>
      <p:sp>
        <p:nvSpPr>
          <p:cNvPr id="185" name="Text 183"/>
          <p:cNvSpPr txBox="1"/>
          <p:nvPr/>
        </p:nvSpPr>
        <p:spPr>
          <a:xfrm>
            <a:off x="11167110" y="2395728"/>
            <a:ext cx="473202" cy="384048"/>
          </a:xfrm>
          <a:prstGeom prst="rect">
            <a:avLst/>
          </a:prstGeom>
          <a:no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86" name="Shape 184"/>
          <p:cNvSpPr/>
          <p:nvPr/>
        </p:nvSpPr>
        <p:spPr>
          <a:xfrm>
            <a:off x="11167110" y="2816352"/>
            <a:ext cx="473202" cy="384048"/>
          </a:xfrm>
          <a:prstGeom prst="roundRect">
            <a:avLst>
              <a:gd name="adj" fmla="val 11905"/>
            </a:avLst>
          </a:prstGeom>
          <a:solidFill>
            <a:srgbClr val="F2F2F2"/>
          </a:solidFill>
          <a:ln/>
        </p:spPr>
        <p:txBody>
          <a:bodyPr/>
          <a:p/>
        </p:txBody>
      </p:sp>
      <p:sp>
        <p:nvSpPr>
          <p:cNvPr id="187" name="Text 185"/>
          <p:cNvSpPr txBox="1"/>
          <p:nvPr/>
        </p:nvSpPr>
        <p:spPr>
          <a:xfrm>
            <a:off x="11167110" y="2816352"/>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1</a:t>
            </a:r>
            <a:endParaRPr lang="en-US" sz="1400" dirty="0"/>
          </a:p>
        </p:txBody>
      </p:sp>
      <p:sp>
        <p:nvSpPr>
          <p:cNvPr id="188" name="Shape 186"/>
          <p:cNvSpPr/>
          <p:nvPr/>
        </p:nvSpPr>
        <p:spPr>
          <a:xfrm>
            <a:off x="11167110" y="3236976"/>
            <a:ext cx="473202" cy="384048"/>
          </a:xfrm>
          <a:prstGeom prst="roundRect">
            <a:avLst>
              <a:gd name="adj" fmla="val 11905"/>
            </a:avLst>
          </a:prstGeom>
          <a:solidFill>
            <a:srgbClr val="F2F2F2"/>
          </a:solidFill>
          <a:ln/>
        </p:spPr>
        <p:txBody>
          <a:bodyPr/>
          <a:p/>
        </p:txBody>
      </p:sp>
      <p:sp>
        <p:nvSpPr>
          <p:cNvPr id="189" name="Text 187"/>
          <p:cNvSpPr txBox="1"/>
          <p:nvPr/>
        </p:nvSpPr>
        <p:spPr>
          <a:xfrm>
            <a:off x="11167110" y="3236976"/>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0</a:t>
            </a:r>
            <a:endParaRPr lang="en-US" sz="1400" dirty="0"/>
          </a:p>
        </p:txBody>
      </p:sp>
      <p:sp>
        <p:nvSpPr>
          <p:cNvPr id="190" name="Shape 188"/>
          <p:cNvSpPr/>
          <p:nvPr/>
        </p:nvSpPr>
        <p:spPr>
          <a:xfrm>
            <a:off x="11167110" y="3657600"/>
            <a:ext cx="473202" cy="384048"/>
          </a:xfrm>
          <a:prstGeom prst="roundRect">
            <a:avLst>
              <a:gd name="adj" fmla="val 11905"/>
            </a:avLst>
          </a:prstGeom>
          <a:solidFill>
            <a:srgbClr val="F2F2F2"/>
          </a:solidFill>
          <a:ln/>
        </p:spPr>
        <p:txBody>
          <a:bodyPr/>
          <a:p/>
        </p:txBody>
      </p:sp>
      <p:sp>
        <p:nvSpPr>
          <p:cNvPr id="191" name="Text 189"/>
          <p:cNvSpPr txBox="1"/>
          <p:nvPr/>
        </p:nvSpPr>
        <p:spPr>
          <a:xfrm>
            <a:off x="11167110" y="3657600"/>
            <a:ext cx="473202" cy="384048"/>
          </a:xfrm>
          <a:prstGeom prst="rect">
            <a:avLst/>
          </a:prstGeom>
          <a:noFill/>
          <a:ln/>
        </p:spPr>
        <p:txBody>
          <a:bodyPr wrap="square" lIns="38100" tIns="38100" rIns="38100" bIns="38100" rtlCol="0" anchor="ctr"/>
          <a:lstStyle/>
          <a:p>
            <a:pPr algn="ctr" indent="0" marL="0">
              <a:buNone/>
            </a:pPr>
            <a:r>
              <a:rPr lang="en-US" sz="1400" dirty="0">
                <a:solidFill>
                  <a:srgbClr val="9AA5A8"/>
                </a:solidFill>
                <a:latin typeface="Calibri" pitchFamily="34" charset="0"/>
                <a:ea typeface="Calibri" pitchFamily="34" charset="-122"/>
                <a:cs typeface="Calibri" pitchFamily="34" charset="-120"/>
              </a:rPr>
              <a:t>7</a:t>
            </a:r>
            <a:endParaRPr lang="en-US" sz="1400" dirty="0"/>
          </a:p>
        </p:txBody>
      </p:sp>
      <p:sp>
        <p:nvSpPr>
          <p:cNvPr id="192" name="Text 190"/>
          <p:cNvSpPr txBox="1"/>
          <p:nvPr/>
        </p:nvSpPr>
        <p:spPr>
          <a:xfrm>
            <a:off x="11148822" y="4059936"/>
            <a:ext cx="509778" cy="420624"/>
          </a:xfrm>
          <a:prstGeom prst="rect">
            <a:avLst/>
          </a:prstGeom>
          <a:noFill/>
          <a:ln/>
        </p:spPr>
        <p:txBody>
          <a:bodyPr wrap="square" lIns="0" tIns="0" rIns="0" bIns="0" rtlCol="0" anchor="ctr"/>
          <a:lstStyle/>
          <a:p>
            <a:pPr algn="ctr" indent="0" marL="0">
              <a:buNone/>
            </a:pPr>
            <a:endParaRPr lang="en-US" sz="1400" dirty="0"/>
          </a:p>
        </p:txBody>
      </p:sp>
      <p:sp>
        <p:nvSpPr>
          <p:cNvPr id="193" name="Shape 191"/>
          <p:cNvSpPr/>
          <p:nvPr/>
        </p:nvSpPr>
        <p:spPr>
          <a:xfrm>
            <a:off x="548640" y="5029200"/>
            <a:ext cx="8092440" cy="1234440"/>
          </a:xfrm>
          <a:prstGeom prst="roundRect">
            <a:avLst>
              <a:gd name="adj" fmla="val 444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4" name="Text 192"/>
          <p:cNvSpPr txBox="1"/>
          <p:nvPr/>
        </p:nvSpPr>
        <p:spPr>
          <a:xfrm>
            <a:off x="777240" y="5212080"/>
            <a:ext cx="7635240" cy="384048"/>
          </a:xfrm>
          <a:prstGeom prst="rect">
            <a:avLst/>
          </a:prstGeom>
          <a:noFill/>
          <a:ln/>
        </p:spPr>
        <p:txBody>
          <a:bodyPr wrap="square" lIns="0" tIns="0" rIns="0" bIns="0" rtlCol="0" anchor="ctr"/>
          <a:lstStyle/>
          <a:p>
            <a:pPr indent="0" marL="0">
              <a:buNone/>
            </a:pPr>
            <a:r>
              <a:rPr lang="en-US" sz="1400" b="1" dirty="0">
                <a:solidFill>
                  <a:srgbClr val="028090"/>
                </a:solidFill>
                <a:latin typeface="Cambria" pitchFamily="34" charset="0"/>
                <a:ea typeface="Cambria" pitchFamily="34" charset="-122"/>
                <a:cs typeface="Cambria" pitchFamily="34" charset="-120"/>
              </a:rPr>
              <a:t>Implementation</a:t>
            </a:r>
            <a:endParaRPr lang="en-US" sz="1400" dirty="0"/>
          </a:p>
        </p:txBody>
      </p:sp>
      <p:sp>
        <p:nvSpPr>
          <p:cNvPr id="195" name="Text 193"/>
          <p:cNvSpPr txBox="1"/>
          <p:nvPr/>
        </p:nvSpPr>
        <p:spPr>
          <a:xfrm>
            <a:off x="777240" y="5669280"/>
            <a:ext cx="7635240" cy="457200"/>
          </a:xfrm>
          <a:prstGeom prst="rect">
            <a:avLst/>
          </a:prstGeom>
          <a:noFill/>
          <a:ln/>
        </p:spPr>
        <p:txBody>
          <a:bodyPr wrap="square" lIns="0" tIns="0" rIns="0" bIns="0" rtlCol="0" anchor="t"/>
          <a:lstStyle/>
          <a:p>
            <a:pPr indent="0" marL="0">
              <a:spcAft>
                <a:spcPts val="400"/>
              </a:spcAft>
              <a:buNone/>
            </a:pPr>
            <a:r>
              <a:rPr lang="en-US" sz="1350" dirty="0">
                <a:solidFill>
                  <a:srgbClr val="3A464C"/>
                </a:solidFill>
                <a:latin typeface="Calibri" pitchFamily="34" charset="0"/>
                <a:ea typeface="Calibri" pitchFamily="34" charset="-122"/>
                <a:cs typeface="Calibri" pitchFamily="34" charset="-120"/>
              </a:rPr>
              <a:t>Exact LRU needs a timestamp or a stack updated on every memory access — too expensive in hardware. Real systems approximate it (clock algorithm, coming up).</a:t>
            </a:r>
            <a:endParaRPr lang="en-US" sz="1350" dirty="0"/>
          </a:p>
        </p:txBody>
      </p:sp>
      <p:sp>
        <p:nvSpPr>
          <p:cNvPr id="196" name="Shape 194"/>
          <p:cNvSpPr/>
          <p:nvPr/>
        </p:nvSpPr>
        <p:spPr>
          <a:xfrm>
            <a:off x="8869680" y="5029200"/>
            <a:ext cx="2788920" cy="1234440"/>
          </a:xfrm>
          <a:prstGeom prst="roundRect">
            <a:avLst>
              <a:gd name="adj" fmla="val 4444"/>
            </a:avLst>
          </a:prstGeom>
          <a:solidFill>
            <a:srgbClr val="36454F"/>
          </a:solidFill>
          <a:ln/>
        </p:spPr>
        <p:txBody>
          <a:bodyPr/>
          <a:p/>
        </p:txBody>
      </p:sp>
      <p:sp>
        <p:nvSpPr>
          <p:cNvPr id="197" name="Text 195"/>
          <p:cNvSpPr txBox="1"/>
          <p:nvPr/>
        </p:nvSpPr>
        <p:spPr>
          <a:xfrm>
            <a:off x="9052560" y="5029200"/>
            <a:ext cx="2423160" cy="1234440"/>
          </a:xfrm>
          <a:prstGeom prst="rect">
            <a:avLst/>
          </a:prstGeom>
          <a:noFill/>
          <a:ln/>
        </p:spPr>
        <p:txBody>
          <a:bodyPr wrap="square" lIns="0" tIns="0" rIns="0" bIns="0"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12</a:t>
            </a:r>
            <a:endParaRPr lang="en-US" sz="1400" dirty="0"/>
          </a:p>
          <a:p>
            <a:pPr algn="ctr" indent="0" marL="0">
              <a:buNone/>
            </a:pPr>
            <a:r>
              <a:rPr lang="en-US" sz="1300" dirty="0">
                <a:solidFill>
                  <a:srgbClr val="F2F2F2"/>
                </a:solidFill>
                <a:latin typeface="Calibri" pitchFamily="34" charset="0"/>
                <a:ea typeface="Calibri" pitchFamily="34" charset="-122"/>
                <a:cs typeface="Calibri" pitchFamily="34" charset="-120"/>
              </a:rPr>
              <a:t>page faults with LRU</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PAGE REPLACEMENT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Three Algorithms, One Reference String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17</a:t>
            </a:r>
            <a:endParaRPr lang="en-US" sz="9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109960" cy="914400"/>
        </p:xfrm>
        <a:graphic>
          <a:graphicData uri="http://schemas.openxmlformats.org/drawingml/2006/table">
            <a:tbl>
              <a:tblPr/>
              <a:tblGrid>
                <a:gridCol w="1645920"/>
                <a:gridCol w="3291840"/>
                <a:gridCol w="2240280"/>
                <a:gridCol w="2103120"/>
                <a:gridCol w="1828800"/>
              </a:tblGrid>
              <a:tr h="0">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Algorithm</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Victim is the page…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Faults (3 frames)</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Implementable?</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700" b="1" dirty="0">
                          <a:solidFill>
                            <a:srgbClr val="FFFFFF"/>
                          </a:solidFill>
                          <a:latin typeface="Cambria" pitchFamily="34" charset="0"/>
                          <a:ea typeface="Cambria" pitchFamily="34" charset="-122"/>
                          <a:cs typeface="Cambria" pitchFamily="34" charset="-120"/>
                        </a:rPr>
                        <a:t>Belady's anomaly?</a:t>
                      </a:r>
                      <a:endParaRPr lang="en-US" sz="17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FIFO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loaded longest ago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15</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yes, very cheap</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possible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OPT</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used farthest in the future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9</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no (needs the future)</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never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3A464C"/>
                          </a:solidFill>
                          <a:latin typeface="Calibri" pitchFamily="34" charset="0"/>
                          <a:ea typeface="Calibri" pitchFamily="34" charset="-122"/>
                          <a:cs typeface="Calibri" pitchFamily="34" charset="-120"/>
                        </a:rPr>
                        <a:t>LRU</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used longest ago</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12</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approximately</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600" dirty="0">
                          <a:solidFill>
                            <a:srgbClr val="3A464C"/>
                          </a:solidFill>
                          <a:latin typeface="Calibri" pitchFamily="34" charset="0"/>
                          <a:ea typeface="Calibri" pitchFamily="34" charset="-122"/>
                          <a:cs typeface="Calibri" pitchFamily="34" charset="-120"/>
                        </a:rPr>
                        <a:t>never</a:t>
                      </a:r>
                      <a:endParaRPr lang="en-US" sz="160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7" name="Shape 4"/>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8" name="Text 5"/>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Ranking on this string: OPT (9) &lt; LRU (12) &lt; FIFO (15). Every algorithm pays the 3 compulsory faults for the first use of 7, 0 and 1.</a:t>
            </a:r>
            <a:endParaRPr lang="en-US" sz="1400" dirty="0"/>
          </a:p>
        </p:txBody>
      </p:sp>
      <p:sp>
        <p:nvSpPr>
          <p:cNvPr id="9" name="Text 6"/>
          <p:cNvSpPr txBox="1"/>
          <p:nvPr/>
        </p:nvSpPr>
        <p:spPr>
          <a:xfrm>
            <a:off x="548640" y="3611880"/>
            <a:ext cx="1005840" cy="45720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OPT</a:t>
            </a:r>
            <a:endParaRPr lang="en-US" sz="1500" dirty="0"/>
          </a:p>
        </p:txBody>
      </p:sp>
      <p:sp>
        <p:nvSpPr>
          <p:cNvPr id="10" name="Shape 7"/>
          <p:cNvSpPr/>
          <p:nvPr/>
        </p:nvSpPr>
        <p:spPr>
          <a:xfrm>
            <a:off x="1645920" y="3657600"/>
            <a:ext cx="3703320" cy="365760"/>
          </a:xfrm>
          <a:prstGeom prst="rect">
            <a:avLst/>
          </a:prstGeom>
          <a:solidFill>
            <a:srgbClr val="02C39A"/>
          </a:solidFill>
          <a:ln/>
        </p:spPr>
        <p:txBody>
          <a:bodyPr/>
          <a:p/>
        </p:txBody>
      </p:sp>
      <p:sp>
        <p:nvSpPr>
          <p:cNvPr id="11" name="Text 8"/>
          <p:cNvSpPr txBox="1"/>
          <p:nvPr/>
        </p:nvSpPr>
        <p:spPr>
          <a:xfrm>
            <a:off x="5440680" y="3611880"/>
            <a:ext cx="1463040" cy="45720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9 faults</a:t>
            </a:r>
            <a:endParaRPr lang="en-US" sz="1400" dirty="0"/>
          </a:p>
        </p:txBody>
      </p:sp>
      <p:sp>
        <p:nvSpPr>
          <p:cNvPr id="12" name="Text 9"/>
          <p:cNvSpPr txBox="1"/>
          <p:nvPr/>
        </p:nvSpPr>
        <p:spPr>
          <a:xfrm>
            <a:off x="548640" y="4178808"/>
            <a:ext cx="1005840" cy="45720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LRU</a:t>
            </a:r>
            <a:endParaRPr lang="en-US" sz="1500" dirty="0"/>
          </a:p>
        </p:txBody>
      </p:sp>
      <p:sp>
        <p:nvSpPr>
          <p:cNvPr id="13" name="Shape 10"/>
          <p:cNvSpPr/>
          <p:nvPr/>
        </p:nvSpPr>
        <p:spPr>
          <a:xfrm>
            <a:off x="1645920" y="4224528"/>
            <a:ext cx="4937760" cy="365760"/>
          </a:xfrm>
          <a:prstGeom prst="rect">
            <a:avLst/>
          </a:prstGeom>
          <a:solidFill>
            <a:srgbClr val="028090"/>
          </a:solidFill>
          <a:ln/>
        </p:spPr>
        <p:txBody>
          <a:bodyPr/>
          <a:p/>
        </p:txBody>
      </p:sp>
      <p:sp>
        <p:nvSpPr>
          <p:cNvPr id="14" name="Text 11"/>
          <p:cNvSpPr txBox="1"/>
          <p:nvPr/>
        </p:nvSpPr>
        <p:spPr>
          <a:xfrm>
            <a:off x="6675120" y="4178808"/>
            <a:ext cx="1463040" cy="45720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12 faults</a:t>
            </a:r>
            <a:endParaRPr lang="en-US" sz="1400" dirty="0"/>
          </a:p>
        </p:txBody>
      </p:sp>
      <p:sp>
        <p:nvSpPr>
          <p:cNvPr id="15" name="Text 12"/>
          <p:cNvSpPr txBox="1"/>
          <p:nvPr/>
        </p:nvSpPr>
        <p:spPr>
          <a:xfrm>
            <a:off x="548640" y="4745736"/>
            <a:ext cx="1005840" cy="457200"/>
          </a:xfrm>
          <a:prstGeom prst="rect">
            <a:avLst/>
          </a:prstGeom>
          <a:noFill/>
          <a:ln/>
        </p:spPr>
        <p:txBody>
          <a:bodyPr wrap="square" lIns="0" tIns="0" rIns="0" bIns="0" rtlCol="0" anchor="ctr"/>
          <a:lstStyle/>
          <a:p>
            <a:pPr indent="0" marL="0">
              <a:buNone/>
            </a:pPr>
            <a:r>
              <a:rPr lang="en-US" sz="1500" b="1" dirty="0">
                <a:solidFill>
                  <a:srgbClr val="36454F"/>
                </a:solidFill>
                <a:latin typeface="Calibri" pitchFamily="34" charset="0"/>
                <a:ea typeface="Calibri" pitchFamily="34" charset="-122"/>
                <a:cs typeface="Calibri" pitchFamily="34" charset="-120"/>
              </a:rPr>
              <a:t>FIFO</a:t>
            </a:r>
            <a:endParaRPr lang="en-US" sz="1500" dirty="0"/>
          </a:p>
        </p:txBody>
      </p:sp>
      <p:sp>
        <p:nvSpPr>
          <p:cNvPr id="16" name="Shape 13"/>
          <p:cNvSpPr/>
          <p:nvPr/>
        </p:nvSpPr>
        <p:spPr>
          <a:xfrm>
            <a:off x="1645920" y="4791456"/>
            <a:ext cx="6172200" cy="365760"/>
          </a:xfrm>
          <a:prstGeom prst="rect">
            <a:avLst/>
          </a:prstGeom>
          <a:solidFill>
            <a:srgbClr val="50808E"/>
          </a:solidFill>
          <a:ln/>
        </p:spPr>
        <p:txBody>
          <a:bodyPr/>
          <a:p/>
        </p:txBody>
      </p:sp>
      <p:sp>
        <p:nvSpPr>
          <p:cNvPr id="17" name="Text 14"/>
          <p:cNvSpPr txBox="1"/>
          <p:nvPr/>
        </p:nvSpPr>
        <p:spPr>
          <a:xfrm>
            <a:off x="7909560" y="4745736"/>
            <a:ext cx="1463040" cy="457200"/>
          </a:xfrm>
          <a:prstGeom prst="rect">
            <a:avLst/>
          </a:prstGeom>
          <a:noFill/>
          <a:ln/>
        </p:spPr>
        <p:txBody>
          <a:bodyPr wrap="square" lIns="0" tIns="0" rIns="0" bIns="0" rtlCol="0" anchor="ctr"/>
          <a:lstStyle/>
          <a:p>
            <a:pPr indent="0" marL="0">
              <a:buNone/>
            </a:pPr>
            <a:r>
              <a:rPr lang="en-US" sz="1400" b="1" dirty="0">
                <a:solidFill>
                  <a:srgbClr val="36454F"/>
                </a:solidFill>
                <a:latin typeface="Calibri" pitchFamily="34" charset="0"/>
                <a:ea typeface="Calibri" pitchFamily="34" charset="-122"/>
                <a:cs typeface="Calibri" pitchFamily="34" charset="-120"/>
              </a:rPr>
              <a:t>15 faults</a:t>
            </a:r>
            <a:endParaRPr lang="en-US" sz="1400" dirty="0"/>
          </a:p>
        </p:txBody>
      </p:sp>
      <p:sp>
        <p:nvSpPr>
          <p:cNvPr id="18" name="Text 15"/>
          <p:cNvSpPr txBox="1"/>
          <p:nvPr/>
        </p:nvSpPr>
        <p:spPr>
          <a:xfrm>
            <a:off x="8778240" y="4846320"/>
            <a:ext cx="283464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out of 20 references</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SURPRISE</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Belady's Anomaly: More Frames, More Faults?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18</a:t>
            </a:r>
            <a:endParaRPr lang="en-US" sz="900" dirty="0"/>
          </a:p>
        </p:txBody>
      </p:sp>
      <p:sp>
        <p:nvSpPr>
          <p:cNvPr id="6" name="Text 4"/>
          <p:cNvSpPr txBox="1"/>
          <p:nvPr/>
        </p:nvSpPr>
        <p:spPr>
          <a:xfrm>
            <a:off x="548640" y="1463040"/>
            <a:ext cx="7680960" cy="320040"/>
          </a:xfrm>
          <a:prstGeom prst="rect">
            <a:avLst/>
          </a:prstGeom>
          <a:noFill/>
          <a:ln/>
        </p:spPr>
        <p:txBody>
          <a:bodyPr wrap="square" lIns="0" tIns="0" rIns="0" bIns="0" rtlCol="0" anchor="t"/>
          <a:lstStyle/>
          <a:p>
            <a:pPr indent="0" marL="0">
              <a:buNone/>
            </a:pPr>
            <a:r>
              <a:rPr lang="en-US" sz="1300" i="1" dirty="0">
                <a:solidFill>
                  <a:srgbClr val="6B7679"/>
                </a:solidFill>
                <a:latin typeface="Calibri" pitchFamily="34" charset="0"/>
                <a:ea typeface="Calibri" pitchFamily="34" charset="-122"/>
                <a:cs typeface="Calibri" pitchFamily="34" charset="-120"/>
              </a:rPr>
              <a:t>FIFO on 1, 2, 3, 4, 1, 2, 5, 1, 2, 3, 4, 5</a:t>
            </a:r>
            <a:endParaRPr lang="en-US" sz="1300" dirty="0"/>
          </a:p>
        </p:txBody>
      </p:sp>
      <p:sp>
        <p:nvSpPr>
          <p:cNvPr id="7" name="Text 5"/>
          <p:cNvSpPr txBox="1"/>
          <p:nvPr/>
        </p:nvSpPr>
        <p:spPr>
          <a:xfrm>
            <a:off x="548640" y="1783080"/>
            <a:ext cx="7680960" cy="320040"/>
          </a:xfrm>
          <a:prstGeom prst="rect">
            <a:avLst/>
          </a:prstGeom>
          <a:noFill/>
          <a:ln/>
        </p:spPr>
        <p:txBody>
          <a:bodyPr wrap="square" lIns="0" tIns="0" rIns="0" bIns="0" rtlCol="0" anchor="t"/>
          <a:lstStyle/>
          <a:p>
            <a:pPr indent="0" marL="0">
              <a:buNone/>
            </a:pPr>
            <a:r>
              <a:rPr lang="en-US" sz="1400" b="1" dirty="0">
                <a:solidFill>
                  <a:srgbClr val="028090"/>
                </a:solidFill>
                <a:latin typeface="Calibri" pitchFamily="34" charset="0"/>
                <a:ea typeface="Calibri" pitchFamily="34" charset="-122"/>
                <a:cs typeface="Calibri" pitchFamily="34" charset="-120"/>
              </a:rPr>
              <a:t>3 frames → 9 faults</a:t>
            </a:r>
            <a:endParaRPr lang="en-US" sz="1400" dirty="0"/>
          </a:p>
        </p:txBody>
      </p:sp>
      <p:sp>
        <p:nvSpPr>
          <p:cNvPr id="8" name="Text 6"/>
          <p:cNvSpPr txBox="1"/>
          <p:nvPr/>
        </p:nvSpPr>
        <p:spPr>
          <a:xfrm>
            <a:off x="548640" y="2103120"/>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9" name="Text 7"/>
          <p:cNvSpPr txBox="1"/>
          <p:nvPr/>
        </p:nvSpPr>
        <p:spPr>
          <a:xfrm>
            <a:off x="548640" y="2432304"/>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10" name="Text 8"/>
          <p:cNvSpPr txBox="1"/>
          <p:nvPr/>
        </p:nvSpPr>
        <p:spPr>
          <a:xfrm>
            <a:off x="548640" y="2761488"/>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1" name="Text 9"/>
          <p:cNvSpPr txBox="1"/>
          <p:nvPr/>
        </p:nvSpPr>
        <p:spPr>
          <a:xfrm>
            <a:off x="548640" y="3090672"/>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2" name="Text 10"/>
          <p:cNvSpPr txBox="1"/>
          <p:nvPr/>
        </p:nvSpPr>
        <p:spPr>
          <a:xfrm>
            <a:off x="548640" y="3419856"/>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3" name="Shape 11"/>
          <p:cNvSpPr/>
          <p:nvPr/>
        </p:nvSpPr>
        <p:spPr>
          <a:xfrm>
            <a:off x="1481328" y="2121408"/>
            <a:ext cx="527304" cy="292608"/>
          </a:xfrm>
          <a:prstGeom prst="roundRect">
            <a:avLst>
              <a:gd name="adj" fmla="val 15625"/>
            </a:avLst>
          </a:prstGeom>
          <a:solidFill>
            <a:srgbClr val="36454F"/>
          </a:solidFill>
          <a:ln/>
        </p:spPr>
        <p:txBody>
          <a:bodyPr/>
          <a:p/>
        </p:txBody>
      </p:sp>
      <p:sp>
        <p:nvSpPr>
          <p:cNvPr id="14" name="Text 12"/>
          <p:cNvSpPr txBox="1"/>
          <p:nvPr/>
        </p:nvSpPr>
        <p:spPr>
          <a:xfrm>
            <a:off x="148132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1481328" y="2450592"/>
            <a:ext cx="527304" cy="292608"/>
          </a:xfrm>
          <a:prstGeom prst="roundRect">
            <a:avLst>
              <a:gd name="adj" fmla="val 15625"/>
            </a:avLst>
          </a:prstGeom>
          <a:solidFill>
            <a:srgbClr val="02C39A"/>
          </a:solidFill>
          <a:ln/>
        </p:spPr>
        <p:txBody>
          <a:bodyPr/>
          <a:p/>
        </p:txBody>
      </p:sp>
      <p:sp>
        <p:nvSpPr>
          <p:cNvPr id="16" name="Text 14"/>
          <p:cNvSpPr txBox="1"/>
          <p:nvPr/>
        </p:nvSpPr>
        <p:spPr>
          <a:xfrm>
            <a:off x="1481328" y="245059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7" name="Shape 15"/>
          <p:cNvSpPr/>
          <p:nvPr/>
        </p:nvSpPr>
        <p:spPr>
          <a:xfrm>
            <a:off x="1481328" y="2779776"/>
            <a:ext cx="527304" cy="292608"/>
          </a:xfrm>
          <a:prstGeom prst="roundRect">
            <a:avLst>
              <a:gd name="adj" fmla="val 15625"/>
            </a:avLst>
          </a:prstGeom>
          <a:solidFill>
            <a:srgbClr val="D7E9E6"/>
          </a:solidFill>
          <a:ln/>
        </p:spPr>
        <p:txBody>
          <a:bodyPr/>
          <a:p/>
        </p:txBody>
      </p:sp>
      <p:sp>
        <p:nvSpPr>
          <p:cNvPr id="18" name="Text 16"/>
          <p:cNvSpPr txBox="1"/>
          <p:nvPr/>
        </p:nvSpPr>
        <p:spPr>
          <a:xfrm>
            <a:off x="1481328" y="2779776"/>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9" name="Shape 17"/>
          <p:cNvSpPr/>
          <p:nvPr/>
        </p:nvSpPr>
        <p:spPr>
          <a:xfrm>
            <a:off x="1481328" y="3108960"/>
            <a:ext cx="527304" cy="292608"/>
          </a:xfrm>
          <a:prstGeom prst="roundRect">
            <a:avLst>
              <a:gd name="adj" fmla="val 15625"/>
            </a:avLst>
          </a:prstGeom>
          <a:solidFill>
            <a:srgbClr val="D7E9E6"/>
          </a:solidFill>
          <a:ln/>
        </p:spPr>
        <p:txBody>
          <a:bodyPr/>
          <a:p/>
        </p:txBody>
      </p:sp>
      <p:sp>
        <p:nvSpPr>
          <p:cNvPr id="20" name="Text 18"/>
          <p:cNvSpPr txBox="1"/>
          <p:nvPr/>
        </p:nvSpPr>
        <p:spPr>
          <a:xfrm>
            <a:off x="1481328" y="3108960"/>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21" name="Text 19"/>
          <p:cNvSpPr txBox="1"/>
          <p:nvPr/>
        </p:nvSpPr>
        <p:spPr>
          <a:xfrm>
            <a:off x="146304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2" name="Shape 20"/>
          <p:cNvSpPr/>
          <p:nvPr/>
        </p:nvSpPr>
        <p:spPr>
          <a:xfrm>
            <a:off x="2045208" y="2121408"/>
            <a:ext cx="527304" cy="292608"/>
          </a:xfrm>
          <a:prstGeom prst="roundRect">
            <a:avLst>
              <a:gd name="adj" fmla="val 15625"/>
            </a:avLst>
          </a:prstGeom>
          <a:solidFill>
            <a:srgbClr val="36454F"/>
          </a:solidFill>
          <a:ln/>
        </p:spPr>
        <p:txBody>
          <a:bodyPr/>
          <a:p/>
        </p:txBody>
      </p:sp>
      <p:sp>
        <p:nvSpPr>
          <p:cNvPr id="23" name="Text 21"/>
          <p:cNvSpPr txBox="1"/>
          <p:nvPr/>
        </p:nvSpPr>
        <p:spPr>
          <a:xfrm>
            <a:off x="204520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4" name="Shape 22"/>
          <p:cNvSpPr/>
          <p:nvPr/>
        </p:nvSpPr>
        <p:spPr>
          <a:xfrm>
            <a:off x="2045208" y="2450592"/>
            <a:ext cx="527304" cy="292608"/>
          </a:xfrm>
          <a:prstGeom prst="roundRect">
            <a:avLst>
              <a:gd name="adj" fmla="val 15625"/>
            </a:avLst>
          </a:prstGeom>
          <a:solidFill>
            <a:srgbClr val="D7E9E6"/>
          </a:solidFill>
          <a:ln/>
        </p:spPr>
        <p:txBody>
          <a:bodyPr/>
          <a:p/>
        </p:txBody>
      </p:sp>
      <p:sp>
        <p:nvSpPr>
          <p:cNvPr id="25" name="Text 23"/>
          <p:cNvSpPr txBox="1"/>
          <p:nvPr/>
        </p:nvSpPr>
        <p:spPr>
          <a:xfrm>
            <a:off x="204520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6" name="Shape 24"/>
          <p:cNvSpPr/>
          <p:nvPr/>
        </p:nvSpPr>
        <p:spPr>
          <a:xfrm>
            <a:off x="2045208" y="2779776"/>
            <a:ext cx="527304" cy="292608"/>
          </a:xfrm>
          <a:prstGeom prst="roundRect">
            <a:avLst>
              <a:gd name="adj" fmla="val 15625"/>
            </a:avLst>
          </a:prstGeom>
          <a:solidFill>
            <a:srgbClr val="02C39A"/>
          </a:solidFill>
          <a:ln/>
        </p:spPr>
        <p:txBody>
          <a:bodyPr/>
          <a:p/>
        </p:txBody>
      </p:sp>
      <p:sp>
        <p:nvSpPr>
          <p:cNvPr id="27" name="Text 25"/>
          <p:cNvSpPr txBox="1"/>
          <p:nvPr/>
        </p:nvSpPr>
        <p:spPr>
          <a:xfrm>
            <a:off x="2045208" y="277977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28" name="Shape 26"/>
          <p:cNvSpPr/>
          <p:nvPr/>
        </p:nvSpPr>
        <p:spPr>
          <a:xfrm>
            <a:off x="2045208" y="3108960"/>
            <a:ext cx="527304" cy="292608"/>
          </a:xfrm>
          <a:prstGeom prst="roundRect">
            <a:avLst>
              <a:gd name="adj" fmla="val 15625"/>
            </a:avLst>
          </a:prstGeom>
          <a:solidFill>
            <a:srgbClr val="D7E9E6"/>
          </a:solidFill>
          <a:ln/>
        </p:spPr>
        <p:txBody>
          <a:bodyPr/>
          <a:p/>
        </p:txBody>
      </p:sp>
      <p:sp>
        <p:nvSpPr>
          <p:cNvPr id="29" name="Text 27"/>
          <p:cNvSpPr txBox="1"/>
          <p:nvPr/>
        </p:nvSpPr>
        <p:spPr>
          <a:xfrm>
            <a:off x="2045208" y="3108960"/>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30" name="Text 28"/>
          <p:cNvSpPr txBox="1"/>
          <p:nvPr/>
        </p:nvSpPr>
        <p:spPr>
          <a:xfrm>
            <a:off x="202692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31" name="Shape 29"/>
          <p:cNvSpPr/>
          <p:nvPr/>
        </p:nvSpPr>
        <p:spPr>
          <a:xfrm>
            <a:off x="2609088" y="2121408"/>
            <a:ext cx="527304" cy="292608"/>
          </a:xfrm>
          <a:prstGeom prst="roundRect">
            <a:avLst>
              <a:gd name="adj" fmla="val 15625"/>
            </a:avLst>
          </a:prstGeom>
          <a:solidFill>
            <a:srgbClr val="36454F"/>
          </a:solidFill>
          <a:ln/>
        </p:spPr>
        <p:txBody>
          <a:bodyPr/>
          <a:p/>
        </p:txBody>
      </p:sp>
      <p:sp>
        <p:nvSpPr>
          <p:cNvPr id="32" name="Text 30"/>
          <p:cNvSpPr txBox="1"/>
          <p:nvPr/>
        </p:nvSpPr>
        <p:spPr>
          <a:xfrm>
            <a:off x="260908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Shape 31"/>
          <p:cNvSpPr/>
          <p:nvPr/>
        </p:nvSpPr>
        <p:spPr>
          <a:xfrm>
            <a:off x="2609088" y="2450592"/>
            <a:ext cx="527304" cy="292608"/>
          </a:xfrm>
          <a:prstGeom prst="roundRect">
            <a:avLst>
              <a:gd name="adj" fmla="val 15625"/>
            </a:avLst>
          </a:prstGeom>
          <a:solidFill>
            <a:srgbClr val="D7E9E6"/>
          </a:solidFill>
          <a:ln/>
        </p:spPr>
        <p:txBody>
          <a:bodyPr/>
          <a:p/>
        </p:txBody>
      </p:sp>
      <p:sp>
        <p:nvSpPr>
          <p:cNvPr id="34" name="Text 32"/>
          <p:cNvSpPr txBox="1"/>
          <p:nvPr/>
        </p:nvSpPr>
        <p:spPr>
          <a:xfrm>
            <a:off x="260908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35" name="Shape 33"/>
          <p:cNvSpPr/>
          <p:nvPr/>
        </p:nvSpPr>
        <p:spPr>
          <a:xfrm>
            <a:off x="2609088" y="2779776"/>
            <a:ext cx="527304" cy="292608"/>
          </a:xfrm>
          <a:prstGeom prst="roundRect">
            <a:avLst>
              <a:gd name="adj" fmla="val 15625"/>
            </a:avLst>
          </a:prstGeom>
          <a:solidFill>
            <a:srgbClr val="D7E9E6"/>
          </a:solidFill>
          <a:ln/>
        </p:spPr>
        <p:txBody>
          <a:bodyPr/>
          <a:p/>
        </p:txBody>
      </p:sp>
      <p:sp>
        <p:nvSpPr>
          <p:cNvPr id="36" name="Text 34"/>
          <p:cNvSpPr txBox="1"/>
          <p:nvPr/>
        </p:nvSpPr>
        <p:spPr>
          <a:xfrm>
            <a:off x="260908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37" name="Shape 35"/>
          <p:cNvSpPr/>
          <p:nvPr/>
        </p:nvSpPr>
        <p:spPr>
          <a:xfrm>
            <a:off x="2609088" y="3108960"/>
            <a:ext cx="527304" cy="292608"/>
          </a:xfrm>
          <a:prstGeom prst="roundRect">
            <a:avLst>
              <a:gd name="adj" fmla="val 15625"/>
            </a:avLst>
          </a:prstGeom>
          <a:solidFill>
            <a:srgbClr val="02C39A"/>
          </a:solidFill>
          <a:ln/>
        </p:spPr>
        <p:txBody>
          <a:bodyPr/>
          <a:p/>
        </p:txBody>
      </p:sp>
      <p:sp>
        <p:nvSpPr>
          <p:cNvPr id="38" name="Text 36"/>
          <p:cNvSpPr txBox="1"/>
          <p:nvPr/>
        </p:nvSpPr>
        <p:spPr>
          <a:xfrm>
            <a:off x="2609088" y="3108960"/>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39" name="Text 37"/>
          <p:cNvSpPr txBox="1"/>
          <p:nvPr/>
        </p:nvSpPr>
        <p:spPr>
          <a:xfrm>
            <a:off x="259080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40" name="Shape 38"/>
          <p:cNvSpPr/>
          <p:nvPr/>
        </p:nvSpPr>
        <p:spPr>
          <a:xfrm>
            <a:off x="3172968" y="2121408"/>
            <a:ext cx="527304" cy="292608"/>
          </a:xfrm>
          <a:prstGeom prst="roundRect">
            <a:avLst>
              <a:gd name="adj" fmla="val 15625"/>
            </a:avLst>
          </a:prstGeom>
          <a:solidFill>
            <a:srgbClr val="36454F"/>
          </a:solidFill>
          <a:ln/>
        </p:spPr>
        <p:txBody>
          <a:bodyPr/>
          <a:p/>
        </p:txBody>
      </p:sp>
      <p:sp>
        <p:nvSpPr>
          <p:cNvPr id="41" name="Text 39"/>
          <p:cNvSpPr txBox="1"/>
          <p:nvPr/>
        </p:nvSpPr>
        <p:spPr>
          <a:xfrm>
            <a:off x="317296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42" name="Shape 40"/>
          <p:cNvSpPr/>
          <p:nvPr/>
        </p:nvSpPr>
        <p:spPr>
          <a:xfrm>
            <a:off x="3172968" y="2450592"/>
            <a:ext cx="527304" cy="292608"/>
          </a:xfrm>
          <a:prstGeom prst="roundRect">
            <a:avLst>
              <a:gd name="adj" fmla="val 15625"/>
            </a:avLst>
          </a:prstGeom>
          <a:solidFill>
            <a:srgbClr val="02C39A"/>
          </a:solidFill>
          <a:ln/>
        </p:spPr>
        <p:txBody>
          <a:bodyPr/>
          <a:p/>
        </p:txBody>
      </p:sp>
      <p:sp>
        <p:nvSpPr>
          <p:cNvPr id="43" name="Text 41"/>
          <p:cNvSpPr txBox="1"/>
          <p:nvPr/>
        </p:nvSpPr>
        <p:spPr>
          <a:xfrm>
            <a:off x="3172968" y="245059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44" name="Shape 42"/>
          <p:cNvSpPr/>
          <p:nvPr/>
        </p:nvSpPr>
        <p:spPr>
          <a:xfrm>
            <a:off x="3172968" y="2779776"/>
            <a:ext cx="527304" cy="292608"/>
          </a:xfrm>
          <a:prstGeom prst="roundRect">
            <a:avLst>
              <a:gd name="adj" fmla="val 15625"/>
            </a:avLst>
          </a:prstGeom>
          <a:solidFill>
            <a:srgbClr val="D7E9E6"/>
          </a:solidFill>
          <a:ln/>
        </p:spPr>
        <p:txBody>
          <a:bodyPr/>
          <a:p/>
        </p:txBody>
      </p:sp>
      <p:sp>
        <p:nvSpPr>
          <p:cNvPr id="45" name="Text 43"/>
          <p:cNvSpPr txBox="1"/>
          <p:nvPr/>
        </p:nvSpPr>
        <p:spPr>
          <a:xfrm>
            <a:off x="317296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46" name="Shape 44"/>
          <p:cNvSpPr/>
          <p:nvPr/>
        </p:nvSpPr>
        <p:spPr>
          <a:xfrm>
            <a:off x="3172968" y="3108960"/>
            <a:ext cx="527304" cy="292608"/>
          </a:xfrm>
          <a:prstGeom prst="roundRect">
            <a:avLst>
              <a:gd name="adj" fmla="val 15625"/>
            </a:avLst>
          </a:prstGeom>
          <a:solidFill>
            <a:srgbClr val="D7E9E6"/>
          </a:solidFill>
          <a:ln/>
        </p:spPr>
        <p:txBody>
          <a:bodyPr/>
          <a:p/>
        </p:txBody>
      </p:sp>
      <p:sp>
        <p:nvSpPr>
          <p:cNvPr id="47" name="Text 45"/>
          <p:cNvSpPr txBox="1"/>
          <p:nvPr/>
        </p:nvSpPr>
        <p:spPr>
          <a:xfrm>
            <a:off x="317296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48" name="Text 46"/>
          <p:cNvSpPr txBox="1"/>
          <p:nvPr/>
        </p:nvSpPr>
        <p:spPr>
          <a:xfrm>
            <a:off x="315468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49" name="Shape 47"/>
          <p:cNvSpPr/>
          <p:nvPr/>
        </p:nvSpPr>
        <p:spPr>
          <a:xfrm>
            <a:off x="3736848" y="2121408"/>
            <a:ext cx="527304" cy="292608"/>
          </a:xfrm>
          <a:prstGeom prst="roundRect">
            <a:avLst>
              <a:gd name="adj" fmla="val 15625"/>
            </a:avLst>
          </a:prstGeom>
          <a:solidFill>
            <a:srgbClr val="36454F"/>
          </a:solidFill>
          <a:ln/>
        </p:spPr>
        <p:txBody>
          <a:bodyPr/>
          <a:p/>
        </p:txBody>
      </p:sp>
      <p:sp>
        <p:nvSpPr>
          <p:cNvPr id="50" name="Text 48"/>
          <p:cNvSpPr txBox="1"/>
          <p:nvPr/>
        </p:nvSpPr>
        <p:spPr>
          <a:xfrm>
            <a:off x="373684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51" name="Shape 49"/>
          <p:cNvSpPr/>
          <p:nvPr/>
        </p:nvSpPr>
        <p:spPr>
          <a:xfrm>
            <a:off x="3736848" y="2450592"/>
            <a:ext cx="527304" cy="292608"/>
          </a:xfrm>
          <a:prstGeom prst="roundRect">
            <a:avLst>
              <a:gd name="adj" fmla="val 15625"/>
            </a:avLst>
          </a:prstGeom>
          <a:solidFill>
            <a:srgbClr val="D7E9E6"/>
          </a:solidFill>
          <a:ln/>
        </p:spPr>
        <p:txBody>
          <a:bodyPr/>
          <a:p/>
        </p:txBody>
      </p:sp>
      <p:sp>
        <p:nvSpPr>
          <p:cNvPr id="52" name="Text 50"/>
          <p:cNvSpPr txBox="1"/>
          <p:nvPr/>
        </p:nvSpPr>
        <p:spPr>
          <a:xfrm>
            <a:off x="373684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53" name="Shape 51"/>
          <p:cNvSpPr/>
          <p:nvPr/>
        </p:nvSpPr>
        <p:spPr>
          <a:xfrm>
            <a:off x="3736848" y="2779776"/>
            <a:ext cx="527304" cy="292608"/>
          </a:xfrm>
          <a:prstGeom prst="roundRect">
            <a:avLst>
              <a:gd name="adj" fmla="val 15625"/>
            </a:avLst>
          </a:prstGeom>
          <a:solidFill>
            <a:srgbClr val="02C39A"/>
          </a:solidFill>
          <a:ln/>
        </p:spPr>
        <p:txBody>
          <a:bodyPr/>
          <a:p/>
        </p:txBody>
      </p:sp>
      <p:sp>
        <p:nvSpPr>
          <p:cNvPr id="54" name="Text 52"/>
          <p:cNvSpPr txBox="1"/>
          <p:nvPr/>
        </p:nvSpPr>
        <p:spPr>
          <a:xfrm>
            <a:off x="3736848" y="277977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55" name="Shape 53"/>
          <p:cNvSpPr/>
          <p:nvPr/>
        </p:nvSpPr>
        <p:spPr>
          <a:xfrm>
            <a:off x="3736848" y="3108960"/>
            <a:ext cx="527304" cy="292608"/>
          </a:xfrm>
          <a:prstGeom prst="roundRect">
            <a:avLst>
              <a:gd name="adj" fmla="val 15625"/>
            </a:avLst>
          </a:prstGeom>
          <a:solidFill>
            <a:srgbClr val="D7E9E6"/>
          </a:solidFill>
          <a:ln/>
        </p:spPr>
        <p:txBody>
          <a:bodyPr/>
          <a:p/>
        </p:txBody>
      </p:sp>
      <p:sp>
        <p:nvSpPr>
          <p:cNvPr id="56" name="Text 54"/>
          <p:cNvSpPr txBox="1"/>
          <p:nvPr/>
        </p:nvSpPr>
        <p:spPr>
          <a:xfrm>
            <a:off x="373684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57" name="Text 55"/>
          <p:cNvSpPr txBox="1"/>
          <p:nvPr/>
        </p:nvSpPr>
        <p:spPr>
          <a:xfrm>
            <a:off x="371856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58" name="Shape 56"/>
          <p:cNvSpPr/>
          <p:nvPr/>
        </p:nvSpPr>
        <p:spPr>
          <a:xfrm>
            <a:off x="4300728" y="2121408"/>
            <a:ext cx="527304" cy="292608"/>
          </a:xfrm>
          <a:prstGeom prst="roundRect">
            <a:avLst>
              <a:gd name="adj" fmla="val 15625"/>
            </a:avLst>
          </a:prstGeom>
          <a:solidFill>
            <a:srgbClr val="36454F"/>
          </a:solidFill>
          <a:ln/>
        </p:spPr>
        <p:txBody>
          <a:bodyPr/>
          <a:p/>
        </p:txBody>
      </p:sp>
      <p:sp>
        <p:nvSpPr>
          <p:cNvPr id="59" name="Text 57"/>
          <p:cNvSpPr txBox="1"/>
          <p:nvPr/>
        </p:nvSpPr>
        <p:spPr>
          <a:xfrm>
            <a:off x="430072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60" name="Shape 58"/>
          <p:cNvSpPr/>
          <p:nvPr/>
        </p:nvSpPr>
        <p:spPr>
          <a:xfrm>
            <a:off x="4300728" y="2450592"/>
            <a:ext cx="527304" cy="292608"/>
          </a:xfrm>
          <a:prstGeom prst="roundRect">
            <a:avLst>
              <a:gd name="adj" fmla="val 15625"/>
            </a:avLst>
          </a:prstGeom>
          <a:solidFill>
            <a:srgbClr val="D7E9E6"/>
          </a:solidFill>
          <a:ln/>
        </p:spPr>
        <p:txBody>
          <a:bodyPr/>
          <a:p/>
        </p:txBody>
      </p:sp>
      <p:sp>
        <p:nvSpPr>
          <p:cNvPr id="61" name="Text 59"/>
          <p:cNvSpPr txBox="1"/>
          <p:nvPr/>
        </p:nvSpPr>
        <p:spPr>
          <a:xfrm>
            <a:off x="430072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62" name="Shape 60"/>
          <p:cNvSpPr/>
          <p:nvPr/>
        </p:nvSpPr>
        <p:spPr>
          <a:xfrm>
            <a:off x="4300728" y="2779776"/>
            <a:ext cx="527304" cy="292608"/>
          </a:xfrm>
          <a:prstGeom prst="roundRect">
            <a:avLst>
              <a:gd name="adj" fmla="val 15625"/>
            </a:avLst>
          </a:prstGeom>
          <a:solidFill>
            <a:srgbClr val="D7E9E6"/>
          </a:solidFill>
          <a:ln/>
        </p:spPr>
        <p:txBody>
          <a:bodyPr/>
          <a:p/>
        </p:txBody>
      </p:sp>
      <p:sp>
        <p:nvSpPr>
          <p:cNvPr id="63" name="Text 61"/>
          <p:cNvSpPr txBox="1"/>
          <p:nvPr/>
        </p:nvSpPr>
        <p:spPr>
          <a:xfrm>
            <a:off x="430072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64" name="Shape 62"/>
          <p:cNvSpPr/>
          <p:nvPr/>
        </p:nvSpPr>
        <p:spPr>
          <a:xfrm>
            <a:off x="4300728" y="3108960"/>
            <a:ext cx="527304" cy="292608"/>
          </a:xfrm>
          <a:prstGeom prst="roundRect">
            <a:avLst>
              <a:gd name="adj" fmla="val 15625"/>
            </a:avLst>
          </a:prstGeom>
          <a:solidFill>
            <a:srgbClr val="02C39A"/>
          </a:solidFill>
          <a:ln/>
        </p:spPr>
        <p:txBody>
          <a:bodyPr/>
          <a:p/>
        </p:txBody>
      </p:sp>
      <p:sp>
        <p:nvSpPr>
          <p:cNvPr id="65" name="Text 63"/>
          <p:cNvSpPr txBox="1"/>
          <p:nvPr/>
        </p:nvSpPr>
        <p:spPr>
          <a:xfrm>
            <a:off x="4300728" y="3108960"/>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66" name="Text 64"/>
          <p:cNvSpPr txBox="1"/>
          <p:nvPr/>
        </p:nvSpPr>
        <p:spPr>
          <a:xfrm>
            <a:off x="428244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67" name="Shape 65"/>
          <p:cNvSpPr/>
          <p:nvPr/>
        </p:nvSpPr>
        <p:spPr>
          <a:xfrm>
            <a:off x="4864608" y="2121408"/>
            <a:ext cx="527304" cy="292608"/>
          </a:xfrm>
          <a:prstGeom prst="roundRect">
            <a:avLst>
              <a:gd name="adj" fmla="val 15625"/>
            </a:avLst>
          </a:prstGeom>
          <a:solidFill>
            <a:srgbClr val="36454F"/>
          </a:solidFill>
          <a:ln/>
        </p:spPr>
        <p:txBody>
          <a:bodyPr/>
          <a:p/>
        </p:txBody>
      </p:sp>
      <p:sp>
        <p:nvSpPr>
          <p:cNvPr id="68" name="Text 66"/>
          <p:cNvSpPr txBox="1"/>
          <p:nvPr/>
        </p:nvSpPr>
        <p:spPr>
          <a:xfrm>
            <a:off x="486460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69" name="Shape 67"/>
          <p:cNvSpPr/>
          <p:nvPr/>
        </p:nvSpPr>
        <p:spPr>
          <a:xfrm>
            <a:off x="4864608" y="2450592"/>
            <a:ext cx="527304" cy="292608"/>
          </a:xfrm>
          <a:prstGeom prst="roundRect">
            <a:avLst>
              <a:gd name="adj" fmla="val 15625"/>
            </a:avLst>
          </a:prstGeom>
          <a:solidFill>
            <a:srgbClr val="02C39A"/>
          </a:solidFill>
          <a:ln/>
        </p:spPr>
        <p:txBody>
          <a:bodyPr/>
          <a:p/>
        </p:txBody>
      </p:sp>
      <p:sp>
        <p:nvSpPr>
          <p:cNvPr id="70" name="Text 68"/>
          <p:cNvSpPr txBox="1"/>
          <p:nvPr/>
        </p:nvSpPr>
        <p:spPr>
          <a:xfrm>
            <a:off x="4864608" y="245059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5</a:t>
            </a:r>
            <a:endParaRPr lang="en-US" sz="1300" dirty="0"/>
          </a:p>
        </p:txBody>
      </p:sp>
      <p:sp>
        <p:nvSpPr>
          <p:cNvPr id="71" name="Shape 69"/>
          <p:cNvSpPr/>
          <p:nvPr/>
        </p:nvSpPr>
        <p:spPr>
          <a:xfrm>
            <a:off x="4864608" y="2779776"/>
            <a:ext cx="527304" cy="292608"/>
          </a:xfrm>
          <a:prstGeom prst="roundRect">
            <a:avLst>
              <a:gd name="adj" fmla="val 15625"/>
            </a:avLst>
          </a:prstGeom>
          <a:solidFill>
            <a:srgbClr val="D7E9E6"/>
          </a:solidFill>
          <a:ln/>
        </p:spPr>
        <p:txBody>
          <a:bodyPr/>
          <a:p/>
        </p:txBody>
      </p:sp>
      <p:sp>
        <p:nvSpPr>
          <p:cNvPr id="72" name="Text 70"/>
          <p:cNvSpPr txBox="1"/>
          <p:nvPr/>
        </p:nvSpPr>
        <p:spPr>
          <a:xfrm>
            <a:off x="486460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73" name="Shape 71"/>
          <p:cNvSpPr/>
          <p:nvPr/>
        </p:nvSpPr>
        <p:spPr>
          <a:xfrm>
            <a:off x="4864608" y="3108960"/>
            <a:ext cx="527304" cy="292608"/>
          </a:xfrm>
          <a:prstGeom prst="roundRect">
            <a:avLst>
              <a:gd name="adj" fmla="val 15625"/>
            </a:avLst>
          </a:prstGeom>
          <a:solidFill>
            <a:srgbClr val="D7E9E6"/>
          </a:solidFill>
          <a:ln/>
        </p:spPr>
        <p:txBody>
          <a:bodyPr/>
          <a:p/>
        </p:txBody>
      </p:sp>
      <p:sp>
        <p:nvSpPr>
          <p:cNvPr id="74" name="Text 72"/>
          <p:cNvSpPr txBox="1"/>
          <p:nvPr/>
        </p:nvSpPr>
        <p:spPr>
          <a:xfrm>
            <a:off x="486460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75" name="Text 73"/>
          <p:cNvSpPr txBox="1"/>
          <p:nvPr/>
        </p:nvSpPr>
        <p:spPr>
          <a:xfrm>
            <a:off x="484632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76" name="Shape 74"/>
          <p:cNvSpPr/>
          <p:nvPr/>
        </p:nvSpPr>
        <p:spPr>
          <a:xfrm>
            <a:off x="5428488" y="2121408"/>
            <a:ext cx="527304" cy="292608"/>
          </a:xfrm>
          <a:prstGeom prst="roundRect">
            <a:avLst>
              <a:gd name="adj" fmla="val 15625"/>
            </a:avLst>
          </a:prstGeom>
          <a:solidFill>
            <a:srgbClr val="36454F"/>
          </a:solidFill>
          <a:ln/>
        </p:spPr>
        <p:txBody>
          <a:bodyPr/>
          <a:p/>
        </p:txBody>
      </p:sp>
      <p:sp>
        <p:nvSpPr>
          <p:cNvPr id="77" name="Text 75"/>
          <p:cNvSpPr txBox="1"/>
          <p:nvPr/>
        </p:nvSpPr>
        <p:spPr>
          <a:xfrm>
            <a:off x="542848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8" name="Shape 76"/>
          <p:cNvSpPr/>
          <p:nvPr/>
        </p:nvSpPr>
        <p:spPr>
          <a:xfrm>
            <a:off x="5428488" y="2450592"/>
            <a:ext cx="527304" cy="292608"/>
          </a:xfrm>
          <a:prstGeom prst="roundRect">
            <a:avLst>
              <a:gd name="adj" fmla="val 15625"/>
            </a:avLst>
          </a:prstGeom>
          <a:solidFill>
            <a:srgbClr val="F2F2F2"/>
          </a:solidFill>
          <a:ln/>
        </p:spPr>
        <p:txBody>
          <a:bodyPr/>
          <a:p/>
        </p:txBody>
      </p:sp>
      <p:sp>
        <p:nvSpPr>
          <p:cNvPr id="79" name="Text 77"/>
          <p:cNvSpPr txBox="1"/>
          <p:nvPr/>
        </p:nvSpPr>
        <p:spPr>
          <a:xfrm>
            <a:off x="542848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5</a:t>
            </a:r>
            <a:endParaRPr lang="en-US" sz="1300" dirty="0"/>
          </a:p>
        </p:txBody>
      </p:sp>
      <p:sp>
        <p:nvSpPr>
          <p:cNvPr id="80" name="Shape 78"/>
          <p:cNvSpPr/>
          <p:nvPr/>
        </p:nvSpPr>
        <p:spPr>
          <a:xfrm>
            <a:off x="5428488" y="2779776"/>
            <a:ext cx="527304" cy="292608"/>
          </a:xfrm>
          <a:prstGeom prst="roundRect">
            <a:avLst>
              <a:gd name="adj" fmla="val 15625"/>
            </a:avLst>
          </a:prstGeom>
          <a:solidFill>
            <a:srgbClr val="F2F2F2"/>
          </a:solidFill>
          <a:ln/>
        </p:spPr>
        <p:txBody>
          <a:bodyPr/>
          <a:p/>
        </p:txBody>
      </p:sp>
      <p:sp>
        <p:nvSpPr>
          <p:cNvPr id="81" name="Text 79"/>
          <p:cNvSpPr txBox="1"/>
          <p:nvPr/>
        </p:nvSpPr>
        <p:spPr>
          <a:xfrm>
            <a:off x="542848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82" name="Shape 80"/>
          <p:cNvSpPr/>
          <p:nvPr/>
        </p:nvSpPr>
        <p:spPr>
          <a:xfrm>
            <a:off x="5428488" y="3108960"/>
            <a:ext cx="527304" cy="292608"/>
          </a:xfrm>
          <a:prstGeom prst="roundRect">
            <a:avLst>
              <a:gd name="adj" fmla="val 15625"/>
            </a:avLst>
          </a:prstGeom>
          <a:solidFill>
            <a:srgbClr val="F2F2F2"/>
          </a:solidFill>
          <a:ln/>
        </p:spPr>
        <p:txBody>
          <a:bodyPr/>
          <a:p/>
        </p:txBody>
      </p:sp>
      <p:sp>
        <p:nvSpPr>
          <p:cNvPr id="83" name="Text 81"/>
          <p:cNvSpPr txBox="1"/>
          <p:nvPr/>
        </p:nvSpPr>
        <p:spPr>
          <a:xfrm>
            <a:off x="542848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84" name="Text 82"/>
          <p:cNvSpPr txBox="1"/>
          <p:nvPr/>
        </p:nvSpPr>
        <p:spPr>
          <a:xfrm>
            <a:off x="5410200" y="3419856"/>
            <a:ext cx="563880" cy="329184"/>
          </a:xfrm>
          <a:prstGeom prst="rect">
            <a:avLst/>
          </a:prstGeom>
          <a:noFill/>
          <a:ln/>
        </p:spPr>
        <p:txBody>
          <a:bodyPr wrap="square" lIns="0" tIns="0" rIns="0" bIns="0" rtlCol="0" anchor="ctr"/>
          <a:lstStyle/>
          <a:p>
            <a:pPr algn="ctr" indent="0" marL="0">
              <a:buNone/>
            </a:pPr>
            <a:endParaRPr lang="en-US" sz="1300" dirty="0"/>
          </a:p>
        </p:txBody>
      </p:sp>
      <p:sp>
        <p:nvSpPr>
          <p:cNvPr id="85" name="Shape 83"/>
          <p:cNvSpPr/>
          <p:nvPr/>
        </p:nvSpPr>
        <p:spPr>
          <a:xfrm>
            <a:off x="5992368" y="2121408"/>
            <a:ext cx="527304" cy="292608"/>
          </a:xfrm>
          <a:prstGeom prst="roundRect">
            <a:avLst>
              <a:gd name="adj" fmla="val 15625"/>
            </a:avLst>
          </a:prstGeom>
          <a:solidFill>
            <a:srgbClr val="36454F"/>
          </a:solidFill>
          <a:ln/>
        </p:spPr>
        <p:txBody>
          <a:bodyPr/>
          <a:p/>
        </p:txBody>
      </p:sp>
      <p:sp>
        <p:nvSpPr>
          <p:cNvPr id="86" name="Text 84"/>
          <p:cNvSpPr txBox="1"/>
          <p:nvPr/>
        </p:nvSpPr>
        <p:spPr>
          <a:xfrm>
            <a:off x="599236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87" name="Shape 85"/>
          <p:cNvSpPr/>
          <p:nvPr/>
        </p:nvSpPr>
        <p:spPr>
          <a:xfrm>
            <a:off x="5992368" y="2450592"/>
            <a:ext cx="527304" cy="292608"/>
          </a:xfrm>
          <a:prstGeom prst="roundRect">
            <a:avLst>
              <a:gd name="adj" fmla="val 15625"/>
            </a:avLst>
          </a:prstGeom>
          <a:solidFill>
            <a:srgbClr val="F2F2F2"/>
          </a:solidFill>
          <a:ln/>
        </p:spPr>
        <p:txBody>
          <a:bodyPr/>
          <a:p/>
        </p:txBody>
      </p:sp>
      <p:sp>
        <p:nvSpPr>
          <p:cNvPr id="88" name="Text 86"/>
          <p:cNvSpPr txBox="1"/>
          <p:nvPr/>
        </p:nvSpPr>
        <p:spPr>
          <a:xfrm>
            <a:off x="599236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5</a:t>
            </a:r>
            <a:endParaRPr lang="en-US" sz="1300" dirty="0"/>
          </a:p>
        </p:txBody>
      </p:sp>
      <p:sp>
        <p:nvSpPr>
          <p:cNvPr id="89" name="Shape 87"/>
          <p:cNvSpPr/>
          <p:nvPr/>
        </p:nvSpPr>
        <p:spPr>
          <a:xfrm>
            <a:off x="5992368" y="2779776"/>
            <a:ext cx="527304" cy="292608"/>
          </a:xfrm>
          <a:prstGeom prst="roundRect">
            <a:avLst>
              <a:gd name="adj" fmla="val 15625"/>
            </a:avLst>
          </a:prstGeom>
          <a:solidFill>
            <a:srgbClr val="F2F2F2"/>
          </a:solidFill>
          <a:ln/>
        </p:spPr>
        <p:txBody>
          <a:bodyPr/>
          <a:p/>
        </p:txBody>
      </p:sp>
      <p:sp>
        <p:nvSpPr>
          <p:cNvPr id="90" name="Text 88"/>
          <p:cNvSpPr txBox="1"/>
          <p:nvPr/>
        </p:nvSpPr>
        <p:spPr>
          <a:xfrm>
            <a:off x="599236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91" name="Shape 89"/>
          <p:cNvSpPr/>
          <p:nvPr/>
        </p:nvSpPr>
        <p:spPr>
          <a:xfrm>
            <a:off x="5992368" y="3108960"/>
            <a:ext cx="527304" cy="292608"/>
          </a:xfrm>
          <a:prstGeom prst="roundRect">
            <a:avLst>
              <a:gd name="adj" fmla="val 15625"/>
            </a:avLst>
          </a:prstGeom>
          <a:solidFill>
            <a:srgbClr val="F2F2F2"/>
          </a:solidFill>
          <a:ln/>
        </p:spPr>
        <p:txBody>
          <a:bodyPr/>
          <a:p/>
        </p:txBody>
      </p:sp>
      <p:sp>
        <p:nvSpPr>
          <p:cNvPr id="92" name="Text 90"/>
          <p:cNvSpPr txBox="1"/>
          <p:nvPr/>
        </p:nvSpPr>
        <p:spPr>
          <a:xfrm>
            <a:off x="599236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93" name="Text 91"/>
          <p:cNvSpPr txBox="1"/>
          <p:nvPr/>
        </p:nvSpPr>
        <p:spPr>
          <a:xfrm>
            <a:off x="5974080" y="3419856"/>
            <a:ext cx="563880" cy="329184"/>
          </a:xfrm>
          <a:prstGeom prst="rect">
            <a:avLst/>
          </a:prstGeom>
          <a:noFill/>
          <a:ln/>
        </p:spPr>
        <p:txBody>
          <a:bodyPr wrap="square" lIns="0" tIns="0" rIns="0" bIns="0" rtlCol="0" anchor="ctr"/>
          <a:lstStyle/>
          <a:p>
            <a:pPr algn="ctr" indent="0" marL="0">
              <a:buNone/>
            </a:pPr>
            <a:endParaRPr lang="en-US" sz="1300" dirty="0"/>
          </a:p>
        </p:txBody>
      </p:sp>
      <p:sp>
        <p:nvSpPr>
          <p:cNvPr id="94" name="Shape 92"/>
          <p:cNvSpPr/>
          <p:nvPr/>
        </p:nvSpPr>
        <p:spPr>
          <a:xfrm>
            <a:off x="6556248" y="2121408"/>
            <a:ext cx="527304" cy="292608"/>
          </a:xfrm>
          <a:prstGeom prst="roundRect">
            <a:avLst>
              <a:gd name="adj" fmla="val 15625"/>
            </a:avLst>
          </a:prstGeom>
          <a:solidFill>
            <a:srgbClr val="36454F"/>
          </a:solidFill>
          <a:ln/>
        </p:spPr>
        <p:txBody>
          <a:bodyPr/>
          <a:p/>
        </p:txBody>
      </p:sp>
      <p:sp>
        <p:nvSpPr>
          <p:cNvPr id="95" name="Text 93"/>
          <p:cNvSpPr txBox="1"/>
          <p:nvPr/>
        </p:nvSpPr>
        <p:spPr>
          <a:xfrm>
            <a:off x="655624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96" name="Shape 94"/>
          <p:cNvSpPr/>
          <p:nvPr/>
        </p:nvSpPr>
        <p:spPr>
          <a:xfrm>
            <a:off x="6556248" y="2450592"/>
            <a:ext cx="527304" cy="292608"/>
          </a:xfrm>
          <a:prstGeom prst="roundRect">
            <a:avLst>
              <a:gd name="adj" fmla="val 15625"/>
            </a:avLst>
          </a:prstGeom>
          <a:solidFill>
            <a:srgbClr val="D7E9E6"/>
          </a:solidFill>
          <a:ln/>
        </p:spPr>
        <p:txBody>
          <a:bodyPr/>
          <a:p/>
        </p:txBody>
      </p:sp>
      <p:sp>
        <p:nvSpPr>
          <p:cNvPr id="97" name="Text 95"/>
          <p:cNvSpPr txBox="1"/>
          <p:nvPr/>
        </p:nvSpPr>
        <p:spPr>
          <a:xfrm>
            <a:off x="655624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5</a:t>
            </a:r>
            <a:endParaRPr lang="en-US" sz="1300" dirty="0"/>
          </a:p>
        </p:txBody>
      </p:sp>
      <p:sp>
        <p:nvSpPr>
          <p:cNvPr id="98" name="Shape 96"/>
          <p:cNvSpPr/>
          <p:nvPr/>
        </p:nvSpPr>
        <p:spPr>
          <a:xfrm>
            <a:off x="6556248" y="2779776"/>
            <a:ext cx="527304" cy="292608"/>
          </a:xfrm>
          <a:prstGeom prst="roundRect">
            <a:avLst>
              <a:gd name="adj" fmla="val 15625"/>
            </a:avLst>
          </a:prstGeom>
          <a:solidFill>
            <a:srgbClr val="02C39A"/>
          </a:solidFill>
          <a:ln/>
        </p:spPr>
        <p:txBody>
          <a:bodyPr/>
          <a:p/>
        </p:txBody>
      </p:sp>
      <p:sp>
        <p:nvSpPr>
          <p:cNvPr id="99" name="Text 97"/>
          <p:cNvSpPr txBox="1"/>
          <p:nvPr/>
        </p:nvSpPr>
        <p:spPr>
          <a:xfrm>
            <a:off x="6556248" y="277977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100" name="Shape 98"/>
          <p:cNvSpPr/>
          <p:nvPr/>
        </p:nvSpPr>
        <p:spPr>
          <a:xfrm>
            <a:off x="6556248" y="3108960"/>
            <a:ext cx="527304" cy="292608"/>
          </a:xfrm>
          <a:prstGeom prst="roundRect">
            <a:avLst>
              <a:gd name="adj" fmla="val 15625"/>
            </a:avLst>
          </a:prstGeom>
          <a:solidFill>
            <a:srgbClr val="D7E9E6"/>
          </a:solidFill>
          <a:ln/>
        </p:spPr>
        <p:txBody>
          <a:bodyPr/>
          <a:p/>
        </p:txBody>
      </p:sp>
      <p:sp>
        <p:nvSpPr>
          <p:cNvPr id="101" name="Text 99"/>
          <p:cNvSpPr txBox="1"/>
          <p:nvPr/>
        </p:nvSpPr>
        <p:spPr>
          <a:xfrm>
            <a:off x="655624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02" name="Text 100"/>
          <p:cNvSpPr txBox="1"/>
          <p:nvPr/>
        </p:nvSpPr>
        <p:spPr>
          <a:xfrm>
            <a:off x="653796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03" name="Shape 101"/>
          <p:cNvSpPr/>
          <p:nvPr/>
        </p:nvSpPr>
        <p:spPr>
          <a:xfrm>
            <a:off x="7120128" y="2121408"/>
            <a:ext cx="527304" cy="292608"/>
          </a:xfrm>
          <a:prstGeom prst="roundRect">
            <a:avLst>
              <a:gd name="adj" fmla="val 15625"/>
            </a:avLst>
          </a:prstGeom>
          <a:solidFill>
            <a:srgbClr val="36454F"/>
          </a:solidFill>
          <a:ln/>
        </p:spPr>
        <p:txBody>
          <a:bodyPr/>
          <a:p/>
        </p:txBody>
      </p:sp>
      <p:sp>
        <p:nvSpPr>
          <p:cNvPr id="104" name="Text 102"/>
          <p:cNvSpPr txBox="1"/>
          <p:nvPr/>
        </p:nvSpPr>
        <p:spPr>
          <a:xfrm>
            <a:off x="712012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05" name="Shape 103"/>
          <p:cNvSpPr/>
          <p:nvPr/>
        </p:nvSpPr>
        <p:spPr>
          <a:xfrm>
            <a:off x="7120128" y="2450592"/>
            <a:ext cx="527304" cy="292608"/>
          </a:xfrm>
          <a:prstGeom prst="roundRect">
            <a:avLst>
              <a:gd name="adj" fmla="val 15625"/>
            </a:avLst>
          </a:prstGeom>
          <a:solidFill>
            <a:srgbClr val="D7E9E6"/>
          </a:solidFill>
          <a:ln/>
        </p:spPr>
        <p:txBody>
          <a:bodyPr/>
          <a:p/>
        </p:txBody>
      </p:sp>
      <p:sp>
        <p:nvSpPr>
          <p:cNvPr id="106" name="Text 104"/>
          <p:cNvSpPr txBox="1"/>
          <p:nvPr/>
        </p:nvSpPr>
        <p:spPr>
          <a:xfrm>
            <a:off x="712012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5</a:t>
            </a:r>
            <a:endParaRPr lang="en-US" sz="1300" dirty="0"/>
          </a:p>
        </p:txBody>
      </p:sp>
      <p:sp>
        <p:nvSpPr>
          <p:cNvPr id="107" name="Shape 105"/>
          <p:cNvSpPr/>
          <p:nvPr/>
        </p:nvSpPr>
        <p:spPr>
          <a:xfrm>
            <a:off x="7120128" y="2779776"/>
            <a:ext cx="527304" cy="292608"/>
          </a:xfrm>
          <a:prstGeom prst="roundRect">
            <a:avLst>
              <a:gd name="adj" fmla="val 15625"/>
            </a:avLst>
          </a:prstGeom>
          <a:solidFill>
            <a:srgbClr val="D7E9E6"/>
          </a:solidFill>
          <a:ln/>
        </p:spPr>
        <p:txBody>
          <a:bodyPr/>
          <a:p/>
        </p:txBody>
      </p:sp>
      <p:sp>
        <p:nvSpPr>
          <p:cNvPr id="108" name="Text 106"/>
          <p:cNvSpPr txBox="1"/>
          <p:nvPr/>
        </p:nvSpPr>
        <p:spPr>
          <a:xfrm>
            <a:off x="712012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109" name="Shape 107"/>
          <p:cNvSpPr/>
          <p:nvPr/>
        </p:nvSpPr>
        <p:spPr>
          <a:xfrm>
            <a:off x="7120128" y="3108960"/>
            <a:ext cx="527304" cy="292608"/>
          </a:xfrm>
          <a:prstGeom prst="roundRect">
            <a:avLst>
              <a:gd name="adj" fmla="val 15625"/>
            </a:avLst>
          </a:prstGeom>
          <a:solidFill>
            <a:srgbClr val="02C39A"/>
          </a:solidFill>
          <a:ln/>
        </p:spPr>
        <p:txBody>
          <a:bodyPr/>
          <a:p/>
        </p:txBody>
      </p:sp>
      <p:sp>
        <p:nvSpPr>
          <p:cNvPr id="110" name="Text 108"/>
          <p:cNvSpPr txBox="1"/>
          <p:nvPr/>
        </p:nvSpPr>
        <p:spPr>
          <a:xfrm>
            <a:off x="7120128" y="3108960"/>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111" name="Text 109"/>
          <p:cNvSpPr txBox="1"/>
          <p:nvPr/>
        </p:nvSpPr>
        <p:spPr>
          <a:xfrm>
            <a:off x="7101840" y="3419856"/>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12" name="Shape 110"/>
          <p:cNvSpPr/>
          <p:nvPr/>
        </p:nvSpPr>
        <p:spPr>
          <a:xfrm>
            <a:off x="7684008" y="2121408"/>
            <a:ext cx="527304" cy="292608"/>
          </a:xfrm>
          <a:prstGeom prst="roundRect">
            <a:avLst>
              <a:gd name="adj" fmla="val 15625"/>
            </a:avLst>
          </a:prstGeom>
          <a:solidFill>
            <a:srgbClr val="36454F"/>
          </a:solidFill>
          <a:ln/>
        </p:spPr>
        <p:txBody>
          <a:bodyPr/>
          <a:p/>
        </p:txBody>
      </p:sp>
      <p:sp>
        <p:nvSpPr>
          <p:cNvPr id="113" name="Text 111"/>
          <p:cNvSpPr txBox="1"/>
          <p:nvPr/>
        </p:nvSpPr>
        <p:spPr>
          <a:xfrm>
            <a:off x="7684008" y="212140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14" name="Shape 112"/>
          <p:cNvSpPr/>
          <p:nvPr/>
        </p:nvSpPr>
        <p:spPr>
          <a:xfrm>
            <a:off x="7684008" y="2450592"/>
            <a:ext cx="527304" cy="292608"/>
          </a:xfrm>
          <a:prstGeom prst="roundRect">
            <a:avLst>
              <a:gd name="adj" fmla="val 15625"/>
            </a:avLst>
          </a:prstGeom>
          <a:solidFill>
            <a:srgbClr val="F2F2F2"/>
          </a:solidFill>
          <a:ln/>
        </p:spPr>
        <p:txBody>
          <a:bodyPr/>
          <a:p/>
        </p:txBody>
      </p:sp>
      <p:sp>
        <p:nvSpPr>
          <p:cNvPr id="115" name="Text 113"/>
          <p:cNvSpPr txBox="1"/>
          <p:nvPr/>
        </p:nvSpPr>
        <p:spPr>
          <a:xfrm>
            <a:off x="7684008" y="2450592"/>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5</a:t>
            </a:r>
            <a:endParaRPr lang="en-US" sz="1300" dirty="0"/>
          </a:p>
        </p:txBody>
      </p:sp>
      <p:sp>
        <p:nvSpPr>
          <p:cNvPr id="116" name="Shape 114"/>
          <p:cNvSpPr/>
          <p:nvPr/>
        </p:nvSpPr>
        <p:spPr>
          <a:xfrm>
            <a:off x="7684008" y="2779776"/>
            <a:ext cx="527304" cy="292608"/>
          </a:xfrm>
          <a:prstGeom prst="roundRect">
            <a:avLst>
              <a:gd name="adj" fmla="val 15625"/>
            </a:avLst>
          </a:prstGeom>
          <a:solidFill>
            <a:srgbClr val="F2F2F2"/>
          </a:solidFill>
          <a:ln/>
        </p:spPr>
        <p:txBody>
          <a:bodyPr/>
          <a:p/>
        </p:txBody>
      </p:sp>
      <p:sp>
        <p:nvSpPr>
          <p:cNvPr id="117" name="Text 115"/>
          <p:cNvSpPr txBox="1"/>
          <p:nvPr/>
        </p:nvSpPr>
        <p:spPr>
          <a:xfrm>
            <a:off x="7684008" y="2779776"/>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118" name="Shape 116"/>
          <p:cNvSpPr/>
          <p:nvPr/>
        </p:nvSpPr>
        <p:spPr>
          <a:xfrm>
            <a:off x="7684008" y="3108960"/>
            <a:ext cx="527304" cy="292608"/>
          </a:xfrm>
          <a:prstGeom prst="roundRect">
            <a:avLst>
              <a:gd name="adj" fmla="val 15625"/>
            </a:avLst>
          </a:prstGeom>
          <a:solidFill>
            <a:srgbClr val="F2F2F2"/>
          </a:solidFill>
          <a:ln/>
        </p:spPr>
        <p:txBody>
          <a:bodyPr/>
          <a:p/>
        </p:txBody>
      </p:sp>
      <p:sp>
        <p:nvSpPr>
          <p:cNvPr id="119" name="Text 117"/>
          <p:cNvSpPr txBox="1"/>
          <p:nvPr/>
        </p:nvSpPr>
        <p:spPr>
          <a:xfrm>
            <a:off x="7684008" y="3108960"/>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120" name="Text 118"/>
          <p:cNvSpPr txBox="1"/>
          <p:nvPr/>
        </p:nvSpPr>
        <p:spPr>
          <a:xfrm>
            <a:off x="7665720" y="3419856"/>
            <a:ext cx="563880" cy="329184"/>
          </a:xfrm>
          <a:prstGeom prst="rect">
            <a:avLst/>
          </a:prstGeom>
          <a:noFill/>
          <a:ln/>
        </p:spPr>
        <p:txBody>
          <a:bodyPr wrap="square" lIns="0" tIns="0" rIns="0" bIns="0" rtlCol="0" anchor="ctr"/>
          <a:lstStyle/>
          <a:p>
            <a:pPr algn="ctr" indent="0" marL="0">
              <a:buNone/>
            </a:pPr>
            <a:endParaRPr lang="en-US" sz="1300" dirty="0"/>
          </a:p>
        </p:txBody>
      </p:sp>
      <p:sp>
        <p:nvSpPr>
          <p:cNvPr id="121" name="Text 119"/>
          <p:cNvSpPr txBox="1"/>
          <p:nvPr/>
        </p:nvSpPr>
        <p:spPr>
          <a:xfrm>
            <a:off x="548640" y="3886200"/>
            <a:ext cx="7680960" cy="320040"/>
          </a:xfrm>
          <a:prstGeom prst="rect">
            <a:avLst/>
          </a:prstGeom>
          <a:noFill/>
          <a:ln/>
        </p:spPr>
        <p:txBody>
          <a:bodyPr wrap="square" lIns="0" tIns="0" rIns="0" bIns="0" rtlCol="0" anchor="t"/>
          <a:lstStyle/>
          <a:p>
            <a:pPr indent="0" marL="0">
              <a:buNone/>
            </a:pPr>
            <a:r>
              <a:rPr lang="en-US" sz="1400" b="1" dirty="0">
                <a:solidFill>
                  <a:srgbClr val="B5453A"/>
                </a:solidFill>
                <a:latin typeface="Calibri" pitchFamily="34" charset="0"/>
                <a:ea typeface="Calibri" pitchFamily="34" charset="-122"/>
                <a:cs typeface="Calibri" pitchFamily="34" charset="-120"/>
              </a:rPr>
              <a:t>4 frames → 10 faults</a:t>
            </a:r>
            <a:endParaRPr lang="en-US" sz="1400" dirty="0"/>
          </a:p>
        </p:txBody>
      </p:sp>
      <p:sp>
        <p:nvSpPr>
          <p:cNvPr id="122" name="Text 120"/>
          <p:cNvSpPr txBox="1"/>
          <p:nvPr/>
        </p:nvSpPr>
        <p:spPr>
          <a:xfrm>
            <a:off x="548640" y="4206240"/>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reference</a:t>
            </a:r>
            <a:endParaRPr lang="en-US" sz="1100" dirty="0"/>
          </a:p>
        </p:txBody>
      </p:sp>
      <p:sp>
        <p:nvSpPr>
          <p:cNvPr id="123" name="Text 121"/>
          <p:cNvSpPr txBox="1"/>
          <p:nvPr/>
        </p:nvSpPr>
        <p:spPr>
          <a:xfrm>
            <a:off x="548640" y="4535424"/>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0</a:t>
            </a:r>
            <a:endParaRPr lang="en-US" sz="1100" dirty="0"/>
          </a:p>
        </p:txBody>
      </p:sp>
      <p:sp>
        <p:nvSpPr>
          <p:cNvPr id="124" name="Text 122"/>
          <p:cNvSpPr txBox="1"/>
          <p:nvPr/>
        </p:nvSpPr>
        <p:spPr>
          <a:xfrm>
            <a:off x="548640" y="4864608"/>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1</a:t>
            </a:r>
            <a:endParaRPr lang="en-US" sz="1100" dirty="0"/>
          </a:p>
        </p:txBody>
      </p:sp>
      <p:sp>
        <p:nvSpPr>
          <p:cNvPr id="125" name="Text 123"/>
          <p:cNvSpPr txBox="1"/>
          <p:nvPr/>
        </p:nvSpPr>
        <p:spPr>
          <a:xfrm>
            <a:off x="548640" y="5193792"/>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2</a:t>
            </a:r>
            <a:endParaRPr lang="en-US" sz="1100" dirty="0"/>
          </a:p>
        </p:txBody>
      </p:sp>
      <p:sp>
        <p:nvSpPr>
          <p:cNvPr id="126" name="Text 124"/>
          <p:cNvSpPr txBox="1"/>
          <p:nvPr/>
        </p:nvSpPr>
        <p:spPr>
          <a:xfrm>
            <a:off x="548640" y="5522976"/>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frame 3</a:t>
            </a:r>
            <a:endParaRPr lang="en-US" sz="1100" dirty="0"/>
          </a:p>
        </p:txBody>
      </p:sp>
      <p:sp>
        <p:nvSpPr>
          <p:cNvPr id="127" name="Text 125"/>
          <p:cNvSpPr txBox="1"/>
          <p:nvPr/>
        </p:nvSpPr>
        <p:spPr>
          <a:xfrm>
            <a:off x="548640" y="5852160"/>
            <a:ext cx="841248" cy="329184"/>
          </a:xfrm>
          <a:prstGeom prst="rect">
            <a:avLst/>
          </a:prstGeom>
          <a:noFill/>
          <a:ln/>
        </p:spPr>
        <p:txBody>
          <a:bodyPr wrap="square" lIns="0" tIns="0" rIns="0" bIns="0" rtlCol="0" anchor="ctr"/>
          <a:lstStyle/>
          <a:p>
            <a:pPr algn="r" indent="0" marL="0">
              <a:buNone/>
            </a:pPr>
            <a:r>
              <a:rPr lang="en-US" sz="1100" i="1" dirty="0">
                <a:solidFill>
                  <a:srgbClr val="6B7679"/>
                </a:solidFill>
                <a:latin typeface="Calibri" pitchFamily="34" charset="0"/>
                <a:ea typeface="Calibri" pitchFamily="34" charset="-122"/>
                <a:cs typeface="Calibri" pitchFamily="34" charset="-120"/>
              </a:rPr>
              <a:t>fault?</a:t>
            </a:r>
            <a:endParaRPr lang="en-US" sz="1100" dirty="0"/>
          </a:p>
        </p:txBody>
      </p:sp>
      <p:sp>
        <p:nvSpPr>
          <p:cNvPr id="128" name="Shape 126"/>
          <p:cNvSpPr/>
          <p:nvPr/>
        </p:nvSpPr>
        <p:spPr>
          <a:xfrm>
            <a:off x="1481328" y="4224528"/>
            <a:ext cx="527304" cy="292608"/>
          </a:xfrm>
          <a:prstGeom prst="roundRect">
            <a:avLst>
              <a:gd name="adj" fmla="val 15625"/>
            </a:avLst>
          </a:prstGeom>
          <a:solidFill>
            <a:srgbClr val="36454F"/>
          </a:solidFill>
          <a:ln/>
        </p:spPr>
        <p:txBody>
          <a:bodyPr/>
          <a:p/>
        </p:txBody>
      </p:sp>
      <p:sp>
        <p:nvSpPr>
          <p:cNvPr id="129" name="Text 127"/>
          <p:cNvSpPr txBox="1"/>
          <p:nvPr/>
        </p:nvSpPr>
        <p:spPr>
          <a:xfrm>
            <a:off x="148132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0" name="Shape 128"/>
          <p:cNvSpPr/>
          <p:nvPr/>
        </p:nvSpPr>
        <p:spPr>
          <a:xfrm>
            <a:off x="1481328" y="4553712"/>
            <a:ext cx="527304" cy="292608"/>
          </a:xfrm>
          <a:prstGeom prst="roundRect">
            <a:avLst>
              <a:gd name="adj" fmla="val 15625"/>
            </a:avLst>
          </a:prstGeom>
          <a:solidFill>
            <a:srgbClr val="02C39A"/>
          </a:solidFill>
          <a:ln/>
        </p:spPr>
        <p:txBody>
          <a:bodyPr/>
          <a:p/>
        </p:txBody>
      </p:sp>
      <p:sp>
        <p:nvSpPr>
          <p:cNvPr id="131" name="Text 129"/>
          <p:cNvSpPr txBox="1"/>
          <p:nvPr/>
        </p:nvSpPr>
        <p:spPr>
          <a:xfrm>
            <a:off x="1481328" y="455371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132" name="Shape 130"/>
          <p:cNvSpPr/>
          <p:nvPr/>
        </p:nvSpPr>
        <p:spPr>
          <a:xfrm>
            <a:off x="1481328" y="4882896"/>
            <a:ext cx="527304" cy="292608"/>
          </a:xfrm>
          <a:prstGeom prst="roundRect">
            <a:avLst>
              <a:gd name="adj" fmla="val 15625"/>
            </a:avLst>
          </a:prstGeom>
          <a:solidFill>
            <a:srgbClr val="D7E9E6"/>
          </a:solidFill>
          <a:ln/>
        </p:spPr>
        <p:txBody>
          <a:bodyPr/>
          <a:p/>
        </p:txBody>
      </p:sp>
      <p:sp>
        <p:nvSpPr>
          <p:cNvPr id="133" name="Text 131"/>
          <p:cNvSpPr txBox="1"/>
          <p:nvPr/>
        </p:nvSpPr>
        <p:spPr>
          <a:xfrm>
            <a:off x="1481328" y="4882896"/>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34" name="Shape 132"/>
          <p:cNvSpPr/>
          <p:nvPr/>
        </p:nvSpPr>
        <p:spPr>
          <a:xfrm>
            <a:off x="1481328" y="5212080"/>
            <a:ext cx="527304" cy="292608"/>
          </a:xfrm>
          <a:prstGeom prst="roundRect">
            <a:avLst>
              <a:gd name="adj" fmla="val 15625"/>
            </a:avLst>
          </a:prstGeom>
          <a:solidFill>
            <a:srgbClr val="D7E9E6"/>
          </a:solidFill>
          <a:ln/>
        </p:spPr>
        <p:txBody>
          <a:bodyPr/>
          <a:p/>
        </p:txBody>
      </p:sp>
      <p:sp>
        <p:nvSpPr>
          <p:cNvPr id="135" name="Text 133"/>
          <p:cNvSpPr txBox="1"/>
          <p:nvPr/>
        </p:nvSpPr>
        <p:spPr>
          <a:xfrm>
            <a:off x="1481328" y="5212080"/>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36" name="Shape 134"/>
          <p:cNvSpPr/>
          <p:nvPr/>
        </p:nvSpPr>
        <p:spPr>
          <a:xfrm>
            <a:off x="1481328" y="5541264"/>
            <a:ext cx="527304" cy="292608"/>
          </a:xfrm>
          <a:prstGeom prst="roundRect">
            <a:avLst>
              <a:gd name="adj" fmla="val 15625"/>
            </a:avLst>
          </a:prstGeom>
          <a:solidFill>
            <a:srgbClr val="D7E9E6"/>
          </a:solidFill>
          <a:ln/>
        </p:spPr>
        <p:txBody>
          <a:bodyPr/>
          <a:p/>
        </p:txBody>
      </p:sp>
      <p:sp>
        <p:nvSpPr>
          <p:cNvPr id="137" name="Text 135"/>
          <p:cNvSpPr txBox="1"/>
          <p:nvPr/>
        </p:nvSpPr>
        <p:spPr>
          <a:xfrm>
            <a:off x="1481328" y="5541264"/>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38" name="Text 136"/>
          <p:cNvSpPr txBox="1"/>
          <p:nvPr/>
        </p:nvSpPr>
        <p:spPr>
          <a:xfrm>
            <a:off x="146304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39" name="Shape 137"/>
          <p:cNvSpPr/>
          <p:nvPr/>
        </p:nvSpPr>
        <p:spPr>
          <a:xfrm>
            <a:off x="2045208" y="4224528"/>
            <a:ext cx="527304" cy="292608"/>
          </a:xfrm>
          <a:prstGeom prst="roundRect">
            <a:avLst>
              <a:gd name="adj" fmla="val 15625"/>
            </a:avLst>
          </a:prstGeom>
          <a:solidFill>
            <a:srgbClr val="36454F"/>
          </a:solidFill>
          <a:ln/>
        </p:spPr>
        <p:txBody>
          <a:bodyPr/>
          <a:p/>
        </p:txBody>
      </p:sp>
      <p:sp>
        <p:nvSpPr>
          <p:cNvPr id="140" name="Text 138"/>
          <p:cNvSpPr txBox="1"/>
          <p:nvPr/>
        </p:nvSpPr>
        <p:spPr>
          <a:xfrm>
            <a:off x="204520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1" name="Shape 139"/>
          <p:cNvSpPr/>
          <p:nvPr/>
        </p:nvSpPr>
        <p:spPr>
          <a:xfrm>
            <a:off x="2045208" y="4553712"/>
            <a:ext cx="527304" cy="292608"/>
          </a:xfrm>
          <a:prstGeom prst="roundRect">
            <a:avLst>
              <a:gd name="adj" fmla="val 15625"/>
            </a:avLst>
          </a:prstGeom>
          <a:solidFill>
            <a:srgbClr val="D7E9E6"/>
          </a:solidFill>
          <a:ln/>
        </p:spPr>
        <p:txBody>
          <a:bodyPr/>
          <a:p/>
        </p:txBody>
      </p:sp>
      <p:sp>
        <p:nvSpPr>
          <p:cNvPr id="142" name="Text 140"/>
          <p:cNvSpPr txBox="1"/>
          <p:nvPr/>
        </p:nvSpPr>
        <p:spPr>
          <a:xfrm>
            <a:off x="204520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43" name="Shape 141"/>
          <p:cNvSpPr/>
          <p:nvPr/>
        </p:nvSpPr>
        <p:spPr>
          <a:xfrm>
            <a:off x="2045208" y="4882896"/>
            <a:ext cx="527304" cy="292608"/>
          </a:xfrm>
          <a:prstGeom prst="roundRect">
            <a:avLst>
              <a:gd name="adj" fmla="val 15625"/>
            </a:avLst>
          </a:prstGeom>
          <a:solidFill>
            <a:srgbClr val="02C39A"/>
          </a:solidFill>
          <a:ln/>
        </p:spPr>
        <p:txBody>
          <a:bodyPr/>
          <a:p/>
        </p:txBody>
      </p:sp>
      <p:sp>
        <p:nvSpPr>
          <p:cNvPr id="144" name="Text 142"/>
          <p:cNvSpPr txBox="1"/>
          <p:nvPr/>
        </p:nvSpPr>
        <p:spPr>
          <a:xfrm>
            <a:off x="2045208" y="488289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145" name="Shape 143"/>
          <p:cNvSpPr/>
          <p:nvPr/>
        </p:nvSpPr>
        <p:spPr>
          <a:xfrm>
            <a:off x="2045208" y="5212080"/>
            <a:ext cx="527304" cy="292608"/>
          </a:xfrm>
          <a:prstGeom prst="roundRect">
            <a:avLst>
              <a:gd name="adj" fmla="val 15625"/>
            </a:avLst>
          </a:prstGeom>
          <a:solidFill>
            <a:srgbClr val="D7E9E6"/>
          </a:solidFill>
          <a:ln/>
        </p:spPr>
        <p:txBody>
          <a:bodyPr/>
          <a:p/>
        </p:txBody>
      </p:sp>
      <p:sp>
        <p:nvSpPr>
          <p:cNvPr id="146" name="Text 144"/>
          <p:cNvSpPr txBox="1"/>
          <p:nvPr/>
        </p:nvSpPr>
        <p:spPr>
          <a:xfrm>
            <a:off x="2045208" y="5212080"/>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47" name="Shape 145"/>
          <p:cNvSpPr/>
          <p:nvPr/>
        </p:nvSpPr>
        <p:spPr>
          <a:xfrm>
            <a:off x="2045208" y="5541264"/>
            <a:ext cx="527304" cy="292608"/>
          </a:xfrm>
          <a:prstGeom prst="roundRect">
            <a:avLst>
              <a:gd name="adj" fmla="val 15625"/>
            </a:avLst>
          </a:prstGeom>
          <a:solidFill>
            <a:srgbClr val="D7E9E6"/>
          </a:solidFill>
          <a:ln/>
        </p:spPr>
        <p:txBody>
          <a:bodyPr/>
          <a:p/>
        </p:txBody>
      </p:sp>
      <p:sp>
        <p:nvSpPr>
          <p:cNvPr id="148" name="Text 146"/>
          <p:cNvSpPr txBox="1"/>
          <p:nvPr/>
        </p:nvSpPr>
        <p:spPr>
          <a:xfrm>
            <a:off x="2045208" y="5541264"/>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49" name="Text 147"/>
          <p:cNvSpPr txBox="1"/>
          <p:nvPr/>
        </p:nvSpPr>
        <p:spPr>
          <a:xfrm>
            <a:off x="202692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50" name="Shape 148"/>
          <p:cNvSpPr/>
          <p:nvPr/>
        </p:nvSpPr>
        <p:spPr>
          <a:xfrm>
            <a:off x="2609088" y="4224528"/>
            <a:ext cx="527304" cy="292608"/>
          </a:xfrm>
          <a:prstGeom prst="roundRect">
            <a:avLst>
              <a:gd name="adj" fmla="val 15625"/>
            </a:avLst>
          </a:prstGeom>
          <a:solidFill>
            <a:srgbClr val="36454F"/>
          </a:solidFill>
          <a:ln/>
        </p:spPr>
        <p:txBody>
          <a:bodyPr/>
          <a:p/>
        </p:txBody>
      </p:sp>
      <p:sp>
        <p:nvSpPr>
          <p:cNvPr id="151" name="Text 149"/>
          <p:cNvSpPr txBox="1"/>
          <p:nvPr/>
        </p:nvSpPr>
        <p:spPr>
          <a:xfrm>
            <a:off x="260908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52" name="Shape 150"/>
          <p:cNvSpPr/>
          <p:nvPr/>
        </p:nvSpPr>
        <p:spPr>
          <a:xfrm>
            <a:off x="2609088" y="4553712"/>
            <a:ext cx="527304" cy="292608"/>
          </a:xfrm>
          <a:prstGeom prst="roundRect">
            <a:avLst>
              <a:gd name="adj" fmla="val 15625"/>
            </a:avLst>
          </a:prstGeom>
          <a:solidFill>
            <a:srgbClr val="D7E9E6"/>
          </a:solidFill>
          <a:ln/>
        </p:spPr>
        <p:txBody>
          <a:bodyPr/>
          <a:p/>
        </p:txBody>
      </p:sp>
      <p:sp>
        <p:nvSpPr>
          <p:cNvPr id="153" name="Text 151"/>
          <p:cNvSpPr txBox="1"/>
          <p:nvPr/>
        </p:nvSpPr>
        <p:spPr>
          <a:xfrm>
            <a:off x="260908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54" name="Shape 152"/>
          <p:cNvSpPr/>
          <p:nvPr/>
        </p:nvSpPr>
        <p:spPr>
          <a:xfrm>
            <a:off x="2609088" y="4882896"/>
            <a:ext cx="527304" cy="292608"/>
          </a:xfrm>
          <a:prstGeom prst="roundRect">
            <a:avLst>
              <a:gd name="adj" fmla="val 15625"/>
            </a:avLst>
          </a:prstGeom>
          <a:solidFill>
            <a:srgbClr val="D7E9E6"/>
          </a:solidFill>
          <a:ln/>
        </p:spPr>
        <p:txBody>
          <a:bodyPr/>
          <a:p/>
        </p:txBody>
      </p:sp>
      <p:sp>
        <p:nvSpPr>
          <p:cNvPr id="155" name="Text 153"/>
          <p:cNvSpPr txBox="1"/>
          <p:nvPr/>
        </p:nvSpPr>
        <p:spPr>
          <a:xfrm>
            <a:off x="260908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56" name="Shape 154"/>
          <p:cNvSpPr/>
          <p:nvPr/>
        </p:nvSpPr>
        <p:spPr>
          <a:xfrm>
            <a:off x="2609088" y="5212080"/>
            <a:ext cx="527304" cy="292608"/>
          </a:xfrm>
          <a:prstGeom prst="roundRect">
            <a:avLst>
              <a:gd name="adj" fmla="val 15625"/>
            </a:avLst>
          </a:prstGeom>
          <a:solidFill>
            <a:srgbClr val="02C39A"/>
          </a:solidFill>
          <a:ln/>
        </p:spPr>
        <p:txBody>
          <a:bodyPr/>
          <a:p/>
        </p:txBody>
      </p:sp>
      <p:sp>
        <p:nvSpPr>
          <p:cNvPr id="157" name="Text 155"/>
          <p:cNvSpPr txBox="1"/>
          <p:nvPr/>
        </p:nvSpPr>
        <p:spPr>
          <a:xfrm>
            <a:off x="2609088" y="5212080"/>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158" name="Shape 156"/>
          <p:cNvSpPr/>
          <p:nvPr/>
        </p:nvSpPr>
        <p:spPr>
          <a:xfrm>
            <a:off x="2609088" y="5541264"/>
            <a:ext cx="527304" cy="292608"/>
          </a:xfrm>
          <a:prstGeom prst="roundRect">
            <a:avLst>
              <a:gd name="adj" fmla="val 15625"/>
            </a:avLst>
          </a:prstGeom>
          <a:solidFill>
            <a:srgbClr val="D7E9E6"/>
          </a:solidFill>
          <a:ln/>
        </p:spPr>
        <p:txBody>
          <a:bodyPr/>
          <a:p/>
        </p:txBody>
      </p:sp>
      <p:sp>
        <p:nvSpPr>
          <p:cNvPr id="159" name="Text 157"/>
          <p:cNvSpPr txBox="1"/>
          <p:nvPr/>
        </p:nvSpPr>
        <p:spPr>
          <a:xfrm>
            <a:off x="2609088" y="5541264"/>
            <a:ext cx="527304" cy="292608"/>
          </a:xfrm>
          <a:prstGeom prst="rect">
            <a:avLst/>
          </a:prstGeom>
          <a:noFill/>
          <a:ln/>
        </p:spPr>
        <p:txBody>
          <a:bodyPr wrap="square" lIns="38100" tIns="38100" rIns="38100" bIns="38100" rtlCol="0" anchor="ctr"/>
          <a:lstStyle/>
          <a:p>
            <a:pPr algn="ctr" indent="0" marL="0">
              <a:buNone/>
            </a:pPr>
            <a:endParaRPr lang="en-US" sz="1300" dirty="0"/>
          </a:p>
        </p:txBody>
      </p:sp>
      <p:sp>
        <p:nvSpPr>
          <p:cNvPr id="160" name="Text 158"/>
          <p:cNvSpPr txBox="1"/>
          <p:nvPr/>
        </p:nvSpPr>
        <p:spPr>
          <a:xfrm>
            <a:off x="259080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61" name="Shape 159"/>
          <p:cNvSpPr/>
          <p:nvPr/>
        </p:nvSpPr>
        <p:spPr>
          <a:xfrm>
            <a:off x="3172968" y="4224528"/>
            <a:ext cx="527304" cy="292608"/>
          </a:xfrm>
          <a:prstGeom prst="roundRect">
            <a:avLst>
              <a:gd name="adj" fmla="val 15625"/>
            </a:avLst>
          </a:prstGeom>
          <a:solidFill>
            <a:srgbClr val="36454F"/>
          </a:solidFill>
          <a:ln/>
        </p:spPr>
        <p:txBody>
          <a:bodyPr/>
          <a:p/>
        </p:txBody>
      </p:sp>
      <p:sp>
        <p:nvSpPr>
          <p:cNvPr id="162" name="Text 160"/>
          <p:cNvSpPr txBox="1"/>
          <p:nvPr/>
        </p:nvSpPr>
        <p:spPr>
          <a:xfrm>
            <a:off x="317296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63" name="Shape 161"/>
          <p:cNvSpPr/>
          <p:nvPr/>
        </p:nvSpPr>
        <p:spPr>
          <a:xfrm>
            <a:off x="3172968" y="4553712"/>
            <a:ext cx="527304" cy="292608"/>
          </a:xfrm>
          <a:prstGeom prst="roundRect">
            <a:avLst>
              <a:gd name="adj" fmla="val 15625"/>
            </a:avLst>
          </a:prstGeom>
          <a:solidFill>
            <a:srgbClr val="D7E9E6"/>
          </a:solidFill>
          <a:ln/>
        </p:spPr>
        <p:txBody>
          <a:bodyPr/>
          <a:p/>
        </p:txBody>
      </p:sp>
      <p:sp>
        <p:nvSpPr>
          <p:cNvPr id="164" name="Text 162"/>
          <p:cNvSpPr txBox="1"/>
          <p:nvPr/>
        </p:nvSpPr>
        <p:spPr>
          <a:xfrm>
            <a:off x="317296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165" name="Shape 163"/>
          <p:cNvSpPr/>
          <p:nvPr/>
        </p:nvSpPr>
        <p:spPr>
          <a:xfrm>
            <a:off x="3172968" y="4882896"/>
            <a:ext cx="527304" cy="292608"/>
          </a:xfrm>
          <a:prstGeom prst="roundRect">
            <a:avLst>
              <a:gd name="adj" fmla="val 15625"/>
            </a:avLst>
          </a:prstGeom>
          <a:solidFill>
            <a:srgbClr val="D7E9E6"/>
          </a:solidFill>
          <a:ln/>
        </p:spPr>
        <p:txBody>
          <a:bodyPr/>
          <a:p/>
        </p:txBody>
      </p:sp>
      <p:sp>
        <p:nvSpPr>
          <p:cNvPr id="166" name="Text 164"/>
          <p:cNvSpPr txBox="1"/>
          <p:nvPr/>
        </p:nvSpPr>
        <p:spPr>
          <a:xfrm>
            <a:off x="317296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167" name="Shape 165"/>
          <p:cNvSpPr/>
          <p:nvPr/>
        </p:nvSpPr>
        <p:spPr>
          <a:xfrm>
            <a:off x="3172968" y="5212080"/>
            <a:ext cx="527304" cy="292608"/>
          </a:xfrm>
          <a:prstGeom prst="roundRect">
            <a:avLst>
              <a:gd name="adj" fmla="val 15625"/>
            </a:avLst>
          </a:prstGeom>
          <a:solidFill>
            <a:srgbClr val="D7E9E6"/>
          </a:solidFill>
          <a:ln/>
        </p:spPr>
        <p:txBody>
          <a:bodyPr/>
          <a:p/>
        </p:txBody>
      </p:sp>
      <p:sp>
        <p:nvSpPr>
          <p:cNvPr id="168" name="Text 166"/>
          <p:cNvSpPr txBox="1"/>
          <p:nvPr/>
        </p:nvSpPr>
        <p:spPr>
          <a:xfrm>
            <a:off x="317296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169" name="Shape 167"/>
          <p:cNvSpPr/>
          <p:nvPr/>
        </p:nvSpPr>
        <p:spPr>
          <a:xfrm>
            <a:off x="3172968" y="5541264"/>
            <a:ext cx="527304" cy="292608"/>
          </a:xfrm>
          <a:prstGeom prst="roundRect">
            <a:avLst>
              <a:gd name="adj" fmla="val 15625"/>
            </a:avLst>
          </a:prstGeom>
          <a:solidFill>
            <a:srgbClr val="02C39A"/>
          </a:solidFill>
          <a:ln/>
        </p:spPr>
        <p:txBody>
          <a:bodyPr/>
          <a:p/>
        </p:txBody>
      </p:sp>
      <p:sp>
        <p:nvSpPr>
          <p:cNvPr id="170" name="Text 168"/>
          <p:cNvSpPr txBox="1"/>
          <p:nvPr/>
        </p:nvSpPr>
        <p:spPr>
          <a:xfrm>
            <a:off x="3172968" y="5541264"/>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171" name="Text 169"/>
          <p:cNvSpPr txBox="1"/>
          <p:nvPr/>
        </p:nvSpPr>
        <p:spPr>
          <a:xfrm>
            <a:off x="315468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172" name="Shape 170"/>
          <p:cNvSpPr/>
          <p:nvPr/>
        </p:nvSpPr>
        <p:spPr>
          <a:xfrm>
            <a:off x="3736848" y="4224528"/>
            <a:ext cx="527304" cy="292608"/>
          </a:xfrm>
          <a:prstGeom prst="roundRect">
            <a:avLst>
              <a:gd name="adj" fmla="val 15625"/>
            </a:avLst>
          </a:prstGeom>
          <a:solidFill>
            <a:srgbClr val="36454F"/>
          </a:solidFill>
          <a:ln/>
        </p:spPr>
        <p:txBody>
          <a:bodyPr/>
          <a:p/>
        </p:txBody>
      </p:sp>
      <p:sp>
        <p:nvSpPr>
          <p:cNvPr id="173" name="Text 171"/>
          <p:cNvSpPr txBox="1"/>
          <p:nvPr/>
        </p:nvSpPr>
        <p:spPr>
          <a:xfrm>
            <a:off x="373684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74" name="Shape 172"/>
          <p:cNvSpPr/>
          <p:nvPr/>
        </p:nvSpPr>
        <p:spPr>
          <a:xfrm>
            <a:off x="3736848" y="4553712"/>
            <a:ext cx="527304" cy="292608"/>
          </a:xfrm>
          <a:prstGeom prst="roundRect">
            <a:avLst>
              <a:gd name="adj" fmla="val 15625"/>
            </a:avLst>
          </a:prstGeom>
          <a:solidFill>
            <a:srgbClr val="F2F2F2"/>
          </a:solidFill>
          <a:ln/>
        </p:spPr>
        <p:txBody>
          <a:bodyPr/>
          <a:p/>
        </p:txBody>
      </p:sp>
      <p:sp>
        <p:nvSpPr>
          <p:cNvPr id="175" name="Text 173"/>
          <p:cNvSpPr txBox="1"/>
          <p:nvPr/>
        </p:nvSpPr>
        <p:spPr>
          <a:xfrm>
            <a:off x="373684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176" name="Shape 174"/>
          <p:cNvSpPr/>
          <p:nvPr/>
        </p:nvSpPr>
        <p:spPr>
          <a:xfrm>
            <a:off x="3736848" y="4882896"/>
            <a:ext cx="527304" cy="292608"/>
          </a:xfrm>
          <a:prstGeom prst="roundRect">
            <a:avLst>
              <a:gd name="adj" fmla="val 15625"/>
            </a:avLst>
          </a:prstGeom>
          <a:solidFill>
            <a:srgbClr val="F2F2F2"/>
          </a:solidFill>
          <a:ln/>
        </p:spPr>
        <p:txBody>
          <a:bodyPr/>
          <a:p/>
        </p:txBody>
      </p:sp>
      <p:sp>
        <p:nvSpPr>
          <p:cNvPr id="177" name="Text 175"/>
          <p:cNvSpPr txBox="1"/>
          <p:nvPr/>
        </p:nvSpPr>
        <p:spPr>
          <a:xfrm>
            <a:off x="373684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78" name="Shape 176"/>
          <p:cNvSpPr/>
          <p:nvPr/>
        </p:nvSpPr>
        <p:spPr>
          <a:xfrm>
            <a:off x="3736848" y="5212080"/>
            <a:ext cx="527304" cy="292608"/>
          </a:xfrm>
          <a:prstGeom prst="roundRect">
            <a:avLst>
              <a:gd name="adj" fmla="val 15625"/>
            </a:avLst>
          </a:prstGeom>
          <a:solidFill>
            <a:srgbClr val="F2F2F2"/>
          </a:solidFill>
          <a:ln/>
        </p:spPr>
        <p:txBody>
          <a:bodyPr/>
          <a:p/>
        </p:txBody>
      </p:sp>
      <p:sp>
        <p:nvSpPr>
          <p:cNvPr id="179" name="Text 177"/>
          <p:cNvSpPr txBox="1"/>
          <p:nvPr/>
        </p:nvSpPr>
        <p:spPr>
          <a:xfrm>
            <a:off x="373684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180" name="Shape 178"/>
          <p:cNvSpPr/>
          <p:nvPr/>
        </p:nvSpPr>
        <p:spPr>
          <a:xfrm>
            <a:off x="3736848" y="5541264"/>
            <a:ext cx="527304" cy="292608"/>
          </a:xfrm>
          <a:prstGeom prst="roundRect">
            <a:avLst>
              <a:gd name="adj" fmla="val 15625"/>
            </a:avLst>
          </a:prstGeom>
          <a:solidFill>
            <a:srgbClr val="F2F2F2"/>
          </a:solidFill>
          <a:ln/>
        </p:spPr>
        <p:txBody>
          <a:bodyPr/>
          <a:p/>
        </p:txBody>
      </p:sp>
      <p:sp>
        <p:nvSpPr>
          <p:cNvPr id="181" name="Text 179"/>
          <p:cNvSpPr txBox="1"/>
          <p:nvPr/>
        </p:nvSpPr>
        <p:spPr>
          <a:xfrm>
            <a:off x="373684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182" name="Text 180"/>
          <p:cNvSpPr txBox="1"/>
          <p:nvPr/>
        </p:nvSpPr>
        <p:spPr>
          <a:xfrm>
            <a:off x="3718560" y="5852160"/>
            <a:ext cx="563880" cy="329184"/>
          </a:xfrm>
          <a:prstGeom prst="rect">
            <a:avLst/>
          </a:prstGeom>
          <a:noFill/>
          <a:ln/>
        </p:spPr>
        <p:txBody>
          <a:bodyPr wrap="square" lIns="0" tIns="0" rIns="0" bIns="0" rtlCol="0" anchor="ctr"/>
          <a:lstStyle/>
          <a:p>
            <a:pPr algn="ctr" indent="0" marL="0">
              <a:buNone/>
            </a:pPr>
            <a:endParaRPr lang="en-US" sz="1300" dirty="0"/>
          </a:p>
        </p:txBody>
      </p:sp>
      <p:sp>
        <p:nvSpPr>
          <p:cNvPr id="183" name="Shape 181"/>
          <p:cNvSpPr/>
          <p:nvPr/>
        </p:nvSpPr>
        <p:spPr>
          <a:xfrm>
            <a:off x="4300728" y="4224528"/>
            <a:ext cx="527304" cy="292608"/>
          </a:xfrm>
          <a:prstGeom prst="roundRect">
            <a:avLst>
              <a:gd name="adj" fmla="val 15625"/>
            </a:avLst>
          </a:prstGeom>
          <a:solidFill>
            <a:srgbClr val="36454F"/>
          </a:solidFill>
          <a:ln/>
        </p:spPr>
        <p:txBody>
          <a:bodyPr/>
          <a:p/>
        </p:txBody>
      </p:sp>
      <p:sp>
        <p:nvSpPr>
          <p:cNvPr id="184" name="Text 182"/>
          <p:cNvSpPr txBox="1"/>
          <p:nvPr/>
        </p:nvSpPr>
        <p:spPr>
          <a:xfrm>
            <a:off x="430072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5" name="Shape 183"/>
          <p:cNvSpPr/>
          <p:nvPr/>
        </p:nvSpPr>
        <p:spPr>
          <a:xfrm>
            <a:off x="4300728" y="4553712"/>
            <a:ext cx="527304" cy="292608"/>
          </a:xfrm>
          <a:prstGeom prst="roundRect">
            <a:avLst>
              <a:gd name="adj" fmla="val 15625"/>
            </a:avLst>
          </a:prstGeom>
          <a:solidFill>
            <a:srgbClr val="F2F2F2"/>
          </a:solidFill>
          <a:ln/>
        </p:spPr>
        <p:txBody>
          <a:bodyPr/>
          <a:p/>
        </p:txBody>
      </p:sp>
      <p:sp>
        <p:nvSpPr>
          <p:cNvPr id="186" name="Text 184"/>
          <p:cNvSpPr txBox="1"/>
          <p:nvPr/>
        </p:nvSpPr>
        <p:spPr>
          <a:xfrm>
            <a:off x="430072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1</a:t>
            </a:r>
            <a:endParaRPr lang="en-US" sz="1300" dirty="0"/>
          </a:p>
        </p:txBody>
      </p:sp>
      <p:sp>
        <p:nvSpPr>
          <p:cNvPr id="187" name="Shape 185"/>
          <p:cNvSpPr/>
          <p:nvPr/>
        </p:nvSpPr>
        <p:spPr>
          <a:xfrm>
            <a:off x="4300728" y="4882896"/>
            <a:ext cx="527304" cy="292608"/>
          </a:xfrm>
          <a:prstGeom prst="roundRect">
            <a:avLst>
              <a:gd name="adj" fmla="val 15625"/>
            </a:avLst>
          </a:prstGeom>
          <a:solidFill>
            <a:srgbClr val="F2F2F2"/>
          </a:solidFill>
          <a:ln/>
        </p:spPr>
        <p:txBody>
          <a:bodyPr/>
          <a:p/>
        </p:txBody>
      </p:sp>
      <p:sp>
        <p:nvSpPr>
          <p:cNvPr id="188" name="Text 186"/>
          <p:cNvSpPr txBox="1"/>
          <p:nvPr/>
        </p:nvSpPr>
        <p:spPr>
          <a:xfrm>
            <a:off x="430072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2</a:t>
            </a:r>
            <a:endParaRPr lang="en-US" sz="1300" dirty="0"/>
          </a:p>
        </p:txBody>
      </p:sp>
      <p:sp>
        <p:nvSpPr>
          <p:cNvPr id="189" name="Shape 187"/>
          <p:cNvSpPr/>
          <p:nvPr/>
        </p:nvSpPr>
        <p:spPr>
          <a:xfrm>
            <a:off x="4300728" y="5212080"/>
            <a:ext cx="527304" cy="292608"/>
          </a:xfrm>
          <a:prstGeom prst="roundRect">
            <a:avLst>
              <a:gd name="adj" fmla="val 15625"/>
            </a:avLst>
          </a:prstGeom>
          <a:solidFill>
            <a:srgbClr val="F2F2F2"/>
          </a:solidFill>
          <a:ln/>
        </p:spPr>
        <p:txBody>
          <a:bodyPr/>
          <a:p/>
        </p:txBody>
      </p:sp>
      <p:sp>
        <p:nvSpPr>
          <p:cNvPr id="190" name="Text 188"/>
          <p:cNvSpPr txBox="1"/>
          <p:nvPr/>
        </p:nvSpPr>
        <p:spPr>
          <a:xfrm>
            <a:off x="430072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3</a:t>
            </a:r>
            <a:endParaRPr lang="en-US" sz="1300" dirty="0"/>
          </a:p>
        </p:txBody>
      </p:sp>
      <p:sp>
        <p:nvSpPr>
          <p:cNvPr id="191" name="Shape 189"/>
          <p:cNvSpPr/>
          <p:nvPr/>
        </p:nvSpPr>
        <p:spPr>
          <a:xfrm>
            <a:off x="4300728" y="5541264"/>
            <a:ext cx="527304" cy="292608"/>
          </a:xfrm>
          <a:prstGeom prst="roundRect">
            <a:avLst>
              <a:gd name="adj" fmla="val 15625"/>
            </a:avLst>
          </a:prstGeom>
          <a:solidFill>
            <a:srgbClr val="F2F2F2"/>
          </a:solidFill>
          <a:ln/>
        </p:spPr>
        <p:txBody>
          <a:bodyPr/>
          <a:p/>
        </p:txBody>
      </p:sp>
      <p:sp>
        <p:nvSpPr>
          <p:cNvPr id="192" name="Text 190"/>
          <p:cNvSpPr txBox="1"/>
          <p:nvPr/>
        </p:nvSpPr>
        <p:spPr>
          <a:xfrm>
            <a:off x="430072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9AA5A8"/>
                </a:solidFill>
                <a:latin typeface="Calibri" pitchFamily="34" charset="0"/>
                <a:ea typeface="Calibri" pitchFamily="34" charset="-122"/>
                <a:cs typeface="Calibri" pitchFamily="34" charset="-120"/>
              </a:rPr>
              <a:t>4</a:t>
            </a:r>
            <a:endParaRPr lang="en-US" sz="1300" dirty="0"/>
          </a:p>
        </p:txBody>
      </p:sp>
      <p:sp>
        <p:nvSpPr>
          <p:cNvPr id="193" name="Text 191"/>
          <p:cNvSpPr txBox="1"/>
          <p:nvPr/>
        </p:nvSpPr>
        <p:spPr>
          <a:xfrm>
            <a:off x="4282440" y="5852160"/>
            <a:ext cx="563880" cy="329184"/>
          </a:xfrm>
          <a:prstGeom prst="rect">
            <a:avLst/>
          </a:prstGeom>
          <a:noFill/>
          <a:ln/>
        </p:spPr>
        <p:txBody>
          <a:bodyPr wrap="square" lIns="0" tIns="0" rIns="0" bIns="0" rtlCol="0" anchor="ctr"/>
          <a:lstStyle/>
          <a:p>
            <a:pPr algn="ctr" indent="0" marL="0">
              <a:buNone/>
            </a:pPr>
            <a:endParaRPr lang="en-US" sz="1300" dirty="0"/>
          </a:p>
        </p:txBody>
      </p:sp>
      <p:sp>
        <p:nvSpPr>
          <p:cNvPr id="194" name="Shape 192"/>
          <p:cNvSpPr/>
          <p:nvPr/>
        </p:nvSpPr>
        <p:spPr>
          <a:xfrm>
            <a:off x="4864608" y="4224528"/>
            <a:ext cx="527304" cy="292608"/>
          </a:xfrm>
          <a:prstGeom prst="roundRect">
            <a:avLst>
              <a:gd name="adj" fmla="val 15625"/>
            </a:avLst>
          </a:prstGeom>
          <a:solidFill>
            <a:srgbClr val="36454F"/>
          </a:solidFill>
          <a:ln/>
        </p:spPr>
        <p:txBody>
          <a:bodyPr/>
          <a:p/>
        </p:txBody>
      </p:sp>
      <p:sp>
        <p:nvSpPr>
          <p:cNvPr id="195" name="Text 193"/>
          <p:cNvSpPr txBox="1"/>
          <p:nvPr/>
        </p:nvSpPr>
        <p:spPr>
          <a:xfrm>
            <a:off x="486460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96" name="Shape 194"/>
          <p:cNvSpPr/>
          <p:nvPr/>
        </p:nvSpPr>
        <p:spPr>
          <a:xfrm>
            <a:off x="4864608" y="4553712"/>
            <a:ext cx="527304" cy="292608"/>
          </a:xfrm>
          <a:prstGeom prst="roundRect">
            <a:avLst>
              <a:gd name="adj" fmla="val 15625"/>
            </a:avLst>
          </a:prstGeom>
          <a:solidFill>
            <a:srgbClr val="02C39A"/>
          </a:solidFill>
          <a:ln/>
        </p:spPr>
        <p:txBody>
          <a:bodyPr/>
          <a:p/>
        </p:txBody>
      </p:sp>
      <p:sp>
        <p:nvSpPr>
          <p:cNvPr id="197" name="Text 195"/>
          <p:cNvSpPr txBox="1"/>
          <p:nvPr/>
        </p:nvSpPr>
        <p:spPr>
          <a:xfrm>
            <a:off x="4864608" y="455371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5</a:t>
            </a:r>
            <a:endParaRPr lang="en-US" sz="1300" dirty="0"/>
          </a:p>
        </p:txBody>
      </p:sp>
      <p:sp>
        <p:nvSpPr>
          <p:cNvPr id="198" name="Shape 196"/>
          <p:cNvSpPr/>
          <p:nvPr/>
        </p:nvSpPr>
        <p:spPr>
          <a:xfrm>
            <a:off x="4864608" y="4882896"/>
            <a:ext cx="527304" cy="292608"/>
          </a:xfrm>
          <a:prstGeom prst="roundRect">
            <a:avLst>
              <a:gd name="adj" fmla="val 15625"/>
            </a:avLst>
          </a:prstGeom>
          <a:solidFill>
            <a:srgbClr val="D7E9E6"/>
          </a:solidFill>
          <a:ln/>
        </p:spPr>
        <p:txBody>
          <a:bodyPr/>
          <a:p/>
        </p:txBody>
      </p:sp>
      <p:sp>
        <p:nvSpPr>
          <p:cNvPr id="199" name="Text 197"/>
          <p:cNvSpPr txBox="1"/>
          <p:nvPr/>
        </p:nvSpPr>
        <p:spPr>
          <a:xfrm>
            <a:off x="486460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00" name="Shape 198"/>
          <p:cNvSpPr/>
          <p:nvPr/>
        </p:nvSpPr>
        <p:spPr>
          <a:xfrm>
            <a:off x="4864608" y="5212080"/>
            <a:ext cx="527304" cy="292608"/>
          </a:xfrm>
          <a:prstGeom prst="roundRect">
            <a:avLst>
              <a:gd name="adj" fmla="val 15625"/>
            </a:avLst>
          </a:prstGeom>
          <a:solidFill>
            <a:srgbClr val="D7E9E6"/>
          </a:solidFill>
          <a:ln/>
        </p:spPr>
        <p:txBody>
          <a:bodyPr/>
          <a:p/>
        </p:txBody>
      </p:sp>
      <p:sp>
        <p:nvSpPr>
          <p:cNvPr id="201" name="Text 199"/>
          <p:cNvSpPr txBox="1"/>
          <p:nvPr/>
        </p:nvSpPr>
        <p:spPr>
          <a:xfrm>
            <a:off x="486460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202" name="Shape 200"/>
          <p:cNvSpPr/>
          <p:nvPr/>
        </p:nvSpPr>
        <p:spPr>
          <a:xfrm>
            <a:off x="4864608" y="5541264"/>
            <a:ext cx="527304" cy="292608"/>
          </a:xfrm>
          <a:prstGeom prst="roundRect">
            <a:avLst>
              <a:gd name="adj" fmla="val 15625"/>
            </a:avLst>
          </a:prstGeom>
          <a:solidFill>
            <a:srgbClr val="D7E9E6"/>
          </a:solidFill>
          <a:ln/>
        </p:spPr>
        <p:txBody>
          <a:bodyPr/>
          <a:p/>
        </p:txBody>
      </p:sp>
      <p:sp>
        <p:nvSpPr>
          <p:cNvPr id="203" name="Text 201"/>
          <p:cNvSpPr txBox="1"/>
          <p:nvPr/>
        </p:nvSpPr>
        <p:spPr>
          <a:xfrm>
            <a:off x="486460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204" name="Text 202"/>
          <p:cNvSpPr txBox="1"/>
          <p:nvPr/>
        </p:nvSpPr>
        <p:spPr>
          <a:xfrm>
            <a:off x="484632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05" name="Shape 203"/>
          <p:cNvSpPr/>
          <p:nvPr/>
        </p:nvSpPr>
        <p:spPr>
          <a:xfrm>
            <a:off x="5428488" y="4224528"/>
            <a:ext cx="527304" cy="292608"/>
          </a:xfrm>
          <a:prstGeom prst="roundRect">
            <a:avLst>
              <a:gd name="adj" fmla="val 15625"/>
            </a:avLst>
          </a:prstGeom>
          <a:solidFill>
            <a:srgbClr val="36454F"/>
          </a:solidFill>
          <a:ln/>
        </p:spPr>
        <p:txBody>
          <a:bodyPr/>
          <a:p/>
        </p:txBody>
      </p:sp>
      <p:sp>
        <p:nvSpPr>
          <p:cNvPr id="206" name="Text 204"/>
          <p:cNvSpPr txBox="1"/>
          <p:nvPr/>
        </p:nvSpPr>
        <p:spPr>
          <a:xfrm>
            <a:off x="542848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07" name="Shape 205"/>
          <p:cNvSpPr/>
          <p:nvPr/>
        </p:nvSpPr>
        <p:spPr>
          <a:xfrm>
            <a:off x="5428488" y="4553712"/>
            <a:ext cx="527304" cy="292608"/>
          </a:xfrm>
          <a:prstGeom prst="roundRect">
            <a:avLst>
              <a:gd name="adj" fmla="val 15625"/>
            </a:avLst>
          </a:prstGeom>
          <a:solidFill>
            <a:srgbClr val="D7E9E6"/>
          </a:solidFill>
          <a:ln/>
        </p:spPr>
        <p:txBody>
          <a:bodyPr/>
          <a:p/>
        </p:txBody>
      </p:sp>
      <p:sp>
        <p:nvSpPr>
          <p:cNvPr id="208" name="Text 206"/>
          <p:cNvSpPr txBox="1"/>
          <p:nvPr/>
        </p:nvSpPr>
        <p:spPr>
          <a:xfrm>
            <a:off x="542848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5</a:t>
            </a:r>
            <a:endParaRPr lang="en-US" sz="1300" dirty="0"/>
          </a:p>
        </p:txBody>
      </p:sp>
      <p:sp>
        <p:nvSpPr>
          <p:cNvPr id="209" name="Shape 207"/>
          <p:cNvSpPr/>
          <p:nvPr/>
        </p:nvSpPr>
        <p:spPr>
          <a:xfrm>
            <a:off x="5428488" y="4882896"/>
            <a:ext cx="527304" cy="292608"/>
          </a:xfrm>
          <a:prstGeom prst="roundRect">
            <a:avLst>
              <a:gd name="adj" fmla="val 15625"/>
            </a:avLst>
          </a:prstGeom>
          <a:solidFill>
            <a:srgbClr val="02C39A"/>
          </a:solidFill>
          <a:ln/>
        </p:spPr>
        <p:txBody>
          <a:bodyPr/>
          <a:p/>
        </p:txBody>
      </p:sp>
      <p:sp>
        <p:nvSpPr>
          <p:cNvPr id="210" name="Text 208"/>
          <p:cNvSpPr txBox="1"/>
          <p:nvPr/>
        </p:nvSpPr>
        <p:spPr>
          <a:xfrm>
            <a:off x="5428488" y="488289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1</a:t>
            </a:r>
            <a:endParaRPr lang="en-US" sz="1300" dirty="0"/>
          </a:p>
        </p:txBody>
      </p:sp>
      <p:sp>
        <p:nvSpPr>
          <p:cNvPr id="211" name="Shape 209"/>
          <p:cNvSpPr/>
          <p:nvPr/>
        </p:nvSpPr>
        <p:spPr>
          <a:xfrm>
            <a:off x="5428488" y="5212080"/>
            <a:ext cx="527304" cy="292608"/>
          </a:xfrm>
          <a:prstGeom prst="roundRect">
            <a:avLst>
              <a:gd name="adj" fmla="val 15625"/>
            </a:avLst>
          </a:prstGeom>
          <a:solidFill>
            <a:srgbClr val="D7E9E6"/>
          </a:solidFill>
          <a:ln/>
        </p:spPr>
        <p:txBody>
          <a:bodyPr/>
          <a:p/>
        </p:txBody>
      </p:sp>
      <p:sp>
        <p:nvSpPr>
          <p:cNvPr id="212" name="Text 210"/>
          <p:cNvSpPr txBox="1"/>
          <p:nvPr/>
        </p:nvSpPr>
        <p:spPr>
          <a:xfrm>
            <a:off x="542848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213" name="Shape 211"/>
          <p:cNvSpPr/>
          <p:nvPr/>
        </p:nvSpPr>
        <p:spPr>
          <a:xfrm>
            <a:off x="5428488" y="5541264"/>
            <a:ext cx="527304" cy="292608"/>
          </a:xfrm>
          <a:prstGeom prst="roundRect">
            <a:avLst>
              <a:gd name="adj" fmla="val 15625"/>
            </a:avLst>
          </a:prstGeom>
          <a:solidFill>
            <a:srgbClr val="D7E9E6"/>
          </a:solidFill>
          <a:ln/>
        </p:spPr>
        <p:txBody>
          <a:bodyPr/>
          <a:p/>
        </p:txBody>
      </p:sp>
      <p:sp>
        <p:nvSpPr>
          <p:cNvPr id="214" name="Text 212"/>
          <p:cNvSpPr txBox="1"/>
          <p:nvPr/>
        </p:nvSpPr>
        <p:spPr>
          <a:xfrm>
            <a:off x="542848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215" name="Text 213"/>
          <p:cNvSpPr txBox="1"/>
          <p:nvPr/>
        </p:nvSpPr>
        <p:spPr>
          <a:xfrm>
            <a:off x="541020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16" name="Shape 214"/>
          <p:cNvSpPr/>
          <p:nvPr/>
        </p:nvSpPr>
        <p:spPr>
          <a:xfrm>
            <a:off x="5992368" y="4224528"/>
            <a:ext cx="527304" cy="292608"/>
          </a:xfrm>
          <a:prstGeom prst="roundRect">
            <a:avLst>
              <a:gd name="adj" fmla="val 15625"/>
            </a:avLst>
          </a:prstGeom>
          <a:solidFill>
            <a:srgbClr val="36454F"/>
          </a:solidFill>
          <a:ln/>
        </p:spPr>
        <p:txBody>
          <a:bodyPr/>
          <a:p/>
        </p:txBody>
      </p:sp>
      <p:sp>
        <p:nvSpPr>
          <p:cNvPr id="217" name="Text 215"/>
          <p:cNvSpPr txBox="1"/>
          <p:nvPr/>
        </p:nvSpPr>
        <p:spPr>
          <a:xfrm>
            <a:off x="599236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18" name="Shape 216"/>
          <p:cNvSpPr/>
          <p:nvPr/>
        </p:nvSpPr>
        <p:spPr>
          <a:xfrm>
            <a:off x="5992368" y="4553712"/>
            <a:ext cx="527304" cy="292608"/>
          </a:xfrm>
          <a:prstGeom prst="roundRect">
            <a:avLst>
              <a:gd name="adj" fmla="val 15625"/>
            </a:avLst>
          </a:prstGeom>
          <a:solidFill>
            <a:srgbClr val="D7E9E6"/>
          </a:solidFill>
          <a:ln/>
        </p:spPr>
        <p:txBody>
          <a:bodyPr/>
          <a:p/>
        </p:txBody>
      </p:sp>
      <p:sp>
        <p:nvSpPr>
          <p:cNvPr id="219" name="Text 217"/>
          <p:cNvSpPr txBox="1"/>
          <p:nvPr/>
        </p:nvSpPr>
        <p:spPr>
          <a:xfrm>
            <a:off x="599236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5</a:t>
            </a:r>
            <a:endParaRPr lang="en-US" sz="1300" dirty="0"/>
          </a:p>
        </p:txBody>
      </p:sp>
      <p:sp>
        <p:nvSpPr>
          <p:cNvPr id="220" name="Shape 218"/>
          <p:cNvSpPr/>
          <p:nvPr/>
        </p:nvSpPr>
        <p:spPr>
          <a:xfrm>
            <a:off x="5992368" y="4882896"/>
            <a:ext cx="527304" cy="292608"/>
          </a:xfrm>
          <a:prstGeom prst="roundRect">
            <a:avLst>
              <a:gd name="adj" fmla="val 15625"/>
            </a:avLst>
          </a:prstGeom>
          <a:solidFill>
            <a:srgbClr val="D7E9E6"/>
          </a:solidFill>
          <a:ln/>
        </p:spPr>
        <p:txBody>
          <a:bodyPr/>
          <a:p/>
        </p:txBody>
      </p:sp>
      <p:sp>
        <p:nvSpPr>
          <p:cNvPr id="221" name="Text 219"/>
          <p:cNvSpPr txBox="1"/>
          <p:nvPr/>
        </p:nvSpPr>
        <p:spPr>
          <a:xfrm>
            <a:off x="599236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22" name="Shape 220"/>
          <p:cNvSpPr/>
          <p:nvPr/>
        </p:nvSpPr>
        <p:spPr>
          <a:xfrm>
            <a:off x="5992368" y="5212080"/>
            <a:ext cx="527304" cy="292608"/>
          </a:xfrm>
          <a:prstGeom prst="roundRect">
            <a:avLst>
              <a:gd name="adj" fmla="val 15625"/>
            </a:avLst>
          </a:prstGeom>
          <a:solidFill>
            <a:srgbClr val="02C39A"/>
          </a:solidFill>
          <a:ln/>
        </p:spPr>
        <p:txBody>
          <a:bodyPr/>
          <a:p/>
        </p:txBody>
      </p:sp>
      <p:sp>
        <p:nvSpPr>
          <p:cNvPr id="223" name="Text 221"/>
          <p:cNvSpPr txBox="1"/>
          <p:nvPr/>
        </p:nvSpPr>
        <p:spPr>
          <a:xfrm>
            <a:off x="5992368" y="5212080"/>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2</a:t>
            </a:r>
            <a:endParaRPr lang="en-US" sz="1300" dirty="0"/>
          </a:p>
        </p:txBody>
      </p:sp>
      <p:sp>
        <p:nvSpPr>
          <p:cNvPr id="224" name="Shape 222"/>
          <p:cNvSpPr/>
          <p:nvPr/>
        </p:nvSpPr>
        <p:spPr>
          <a:xfrm>
            <a:off x="5992368" y="5541264"/>
            <a:ext cx="527304" cy="292608"/>
          </a:xfrm>
          <a:prstGeom prst="roundRect">
            <a:avLst>
              <a:gd name="adj" fmla="val 15625"/>
            </a:avLst>
          </a:prstGeom>
          <a:solidFill>
            <a:srgbClr val="D7E9E6"/>
          </a:solidFill>
          <a:ln/>
        </p:spPr>
        <p:txBody>
          <a:bodyPr/>
          <a:p/>
        </p:txBody>
      </p:sp>
      <p:sp>
        <p:nvSpPr>
          <p:cNvPr id="225" name="Text 223"/>
          <p:cNvSpPr txBox="1"/>
          <p:nvPr/>
        </p:nvSpPr>
        <p:spPr>
          <a:xfrm>
            <a:off x="599236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226" name="Text 224"/>
          <p:cNvSpPr txBox="1"/>
          <p:nvPr/>
        </p:nvSpPr>
        <p:spPr>
          <a:xfrm>
            <a:off x="597408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27" name="Shape 225"/>
          <p:cNvSpPr/>
          <p:nvPr/>
        </p:nvSpPr>
        <p:spPr>
          <a:xfrm>
            <a:off x="6556248" y="4224528"/>
            <a:ext cx="527304" cy="292608"/>
          </a:xfrm>
          <a:prstGeom prst="roundRect">
            <a:avLst>
              <a:gd name="adj" fmla="val 15625"/>
            </a:avLst>
          </a:prstGeom>
          <a:solidFill>
            <a:srgbClr val="36454F"/>
          </a:solidFill>
          <a:ln/>
        </p:spPr>
        <p:txBody>
          <a:bodyPr/>
          <a:p/>
        </p:txBody>
      </p:sp>
      <p:sp>
        <p:nvSpPr>
          <p:cNvPr id="228" name="Text 226"/>
          <p:cNvSpPr txBox="1"/>
          <p:nvPr/>
        </p:nvSpPr>
        <p:spPr>
          <a:xfrm>
            <a:off x="655624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29" name="Shape 227"/>
          <p:cNvSpPr/>
          <p:nvPr/>
        </p:nvSpPr>
        <p:spPr>
          <a:xfrm>
            <a:off x="6556248" y="4553712"/>
            <a:ext cx="527304" cy="292608"/>
          </a:xfrm>
          <a:prstGeom prst="roundRect">
            <a:avLst>
              <a:gd name="adj" fmla="val 15625"/>
            </a:avLst>
          </a:prstGeom>
          <a:solidFill>
            <a:srgbClr val="D7E9E6"/>
          </a:solidFill>
          <a:ln/>
        </p:spPr>
        <p:txBody>
          <a:bodyPr/>
          <a:p/>
        </p:txBody>
      </p:sp>
      <p:sp>
        <p:nvSpPr>
          <p:cNvPr id="230" name="Text 228"/>
          <p:cNvSpPr txBox="1"/>
          <p:nvPr/>
        </p:nvSpPr>
        <p:spPr>
          <a:xfrm>
            <a:off x="655624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5</a:t>
            </a:r>
            <a:endParaRPr lang="en-US" sz="1300" dirty="0"/>
          </a:p>
        </p:txBody>
      </p:sp>
      <p:sp>
        <p:nvSpPr>
          <p:cNvPr id="231" name="Shape 229"/>
          <p:cNvSpPr/>
          <p:nvPr/>
        </p:nvSpPr>
        <p:spPr>
          <a:xfrm>
            <a:off x="6556248" y="4882896"/>
            <a:ext cx="527304" cy="292608"/>
          </a:xfrm>
          <a:prstGeom prst="roundRect">
            <a:avLst>
              <a:gd name="adj" fmla="val 15625"/>
            </a:avLst>
          </a:prstGeom>
          <a:solidFill>
            <a:srgbClr val="D7E9E6"/>
          </a:solidFill>
          <a:ln/>
        </p:spPr>
        <p:txBody>
          <a:bodyPr/>
          <a:p/>
        </p:txBody>
      </p:sp>
      <p:sp>
        <p:nvSpPr>
          <p:cNvPr id="232" name="Text 230"/>
          <p:cNvSpPr txBox="1"/>
          <p:nvPr/>
        </p:nvSpPr>
        <p:spPr>
          <a:xfrm>
            <a:off x="655624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33" name="Shape 231"/>
          <p:cNvSpPr/>
          <p:nvPr/>
        </p:nvSpPr>
        <p:spPr>
          <a:xfrm>
            <a:off x="6556248" y="5212080"/>
            <a:ext cx="527304" cy="292608"/>
          </a:xfrm>
          <a:prstGeom prst="roundRect">
            <a:avLst>
              <a:gd name="adj" fmla="val 15625"/>
            </a:avLst>
          </a:prstGeom>
          <a:solidFill>
            <a:srgbClr val="D7E9E6"/>
          </a:solidFill>
          <a:ln/>
        </p:spPr>
        <p:txBody>
          <a:bodyPr/>
          <a:p/>
        </p:txBody>
      </p:sp>
      <p:sp>
        <p:nvSpPr>
          <p:cNvPr id="234" name="Text 232"/>
          <p:cNvSpPr txBox="1"/>
          <p:nvPr/>
        </p:nvSpPr>
        <p:spPr>
          <a:xfrm>
            <a:off x="655624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35" name="Shape 233"/>
          <p:cNvSpPr/>
          <p:nvPr/>
        </p:nvSpPr>
        <p:spPr>
          <a:xfrm>
            <a:off x="6556248" y="5541264"/>
            <a:ext cx="527304" cy="292608"/>
          </a:xfrm>
          <a:prstGeom prst="roundRect">
            <a:avLst>
              <a:gd name="adj" fmla="val 15625"/>
            </a:avLst>
          </a:prstGeom>
          <a:solidFill>
            <a:srgbClr val="02C39A"/>
          </a:solidFill>
          <a:ln/>
        </p:spPr>
        <p:txBody>
          <a:bodyPr/>
          <a:p/>
        </p:txBody>
      </p:sp>
      <p:sp>
        <p:nvSpPr>
          <p:cNvPr id="236" name="Text 234"/>
          <p:cNvSpPr txBox="1"/>
          <p:nvPr/>
        </p:nvSpPr>
        <p:spPr>
          <a:xfrm>
            <a:off x="6556248" y="5541264"/>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3</a:t>
            </a:r>
            <a:endParaRPr lang="en-US" sz="1300" dirty="0"/>
          </a:p>
        </p:txBody>
      </p:sp>
      <p:sp>
        <p:nvSpPr>
          <p:cNvPr id="237" name="Text 235"/>
          <p:cNvSpPr txBox="1"/>
          <p:nvPr/>
        </p:nvSpPr>
        <p:spPr>
          <a:xfrm>
            <a:off x="653796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38" name="Shape 236"/>
          <p:cNvSpPr/>
          <p:nvPr/>
        </p:nvSpPr>
        <p:spPr>
          <a:xfrm>
            <a:off x="7120128" y="4224528"/>
            <a:ext cx="527304" cy="292608"/>
          </a:xfrm>
          <a:prstGeom prst="roundRect">
            <a:avLst>
              <a:gd name="adj" fmla="val 15625"/>
            </a:avLst>
          </a:prstGeom>
          <a:solidFill>
            <a:srgbClr val="36454F"/>
          </a:solidFill>
          <a:ln/>
        </p:spPr>
        <p:txBody>
          <a:bodyPr/>
          <a:p/>
        </p:txBody>
      </p:sp>
      <p:sp>
        <p:nvSpPr>
          <p:cNvPr id="239" name="Text 237"/>
          <p:cNvSpPr txBox="1"/>
          <p:nvPr/>
        </p:nvSpPr>
        <p:spPr>
          <a:xfrm>
            <a:off x="712012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0" name="Shape 238"/>
          <p:cNvSpPr/>
          <p:nvPr/>
        </p:nvSpPr>
        <p:spPr>
          <a:xfrm>
            <a:off x="7120128" y="4553712"/>
            <a:ext cx="527304" cy="292608"/>
          </a:xfrm>
          <a:prstGeom prst="roundRect">
            <a:avLst>
              <a:gd name="adj" fmla="val 15625"/>
            </a:avLst>
          </a:prstGeom>
          <a:solidFill>
            <a:srgbClr val="02C39A"/>
          </a:solidFill>
          <a:ln/>
        </p:spPr>
        <p:txBody>
          <a:bodyPr/>
          <a:p/>
        </p:txBody>
      </p:sp>
      <p:sp>
        <p:nvSpPr>
          <p:cNvPr id="241" name="Text 239"/>
          <p:cNvSpPr txBox="1"/>
          <p:nvPr/>
        </p:nvSpPr>
        <p:spPr>
          <a:xfrm>
            <a:off x="7120128" y="4553712"/>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4</a:t>
            </a:r>
            <a:endParaRPr lang="en-US" sz="1300" dirty="0"/>
          </a:p>
        </p:txBody>
      </p:sp>
      <p:sp>
        <p:nvSpPr>
          <p:cNvPr id="242" name="Shape 240"/>
          <p:cNvSpPr/>
          <p:nvPr/>
        </p:nvSpPr>
        <p:spPr>
          <a:xfrm>
            <a:off x="7120128" y="4882896"/>
            <a:ext cx="527304" cy="292608"/>
          </a:xfrm>
          <a:prstGeom prst="roundRect">
            <a:avLst>
              <a:gd name="adj" fmla="val 15625"/>
            </a:avLst>
          </a:prstGeom>
          <a:solidFill>
            <a:srgbClr val="D7E9E6"/>
          </a:solidFill>
          <a:ln/>
        </p:spPr>
        <p:txBody>
          <a:bodyPr/>
          <a:p/>
        </p:txBody>
      </p:sp>
      <p:sp>
        <p:nvSpPr>
          <p:cNvPr id="243" name="Text 241"/>
          <p:cNvSpPr txBox="1"/>
          <p:nvPr/>
        </p:nvSpPr>
        <p:spPr>
          <a:xfrm>
            <a:off x="7120128" y="4882896"/>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1</a:t>
            </a:r>
            <a:endParaRPr lang="en-US" sz="1300" dirty="0"/>
          </a:p>
        </p:txBody>
      </p:sp>
      <p:sp>
        <p:nvSpPr>
          <p:cNvPr id="244" name="Shape 242"/>
          <p:cNvSpPr/>
          <p:nvPr/>
        </p:nvSpPr>
        <p:spPr>
          <a:xfrm>
            <a:off x="7120128" y="5212080"/>
            <a:ext cx="527304" cy="292608"/>
          </a:xfrm>
          <a:prstGeom prst="roundRect">
            <a:avLst>
              <a:gd name="adj" fmla="val 15625"/>
            </a:avLst>
          </a:prstGeom>
          <a:solidFill>
            <a:srgbClr val="D7E9E6"/>
          </a:solidFill>
          <a:ln/>
        </p:spPr>
        <p:txBody>
          <a:bodyPr/>
          <a:p/>
        </p:txBody>
      </p:sp>
      <p:sp>
        <p:nvSpPr>
          <p:cNvPr id="245" name="Text 243"/>
          <p:cNvSpPr txBox="1"/>
          <p:nvPr/>
        </p:nvSpPr>
        <p:spPr>
          <a:xfrm>
            <a:off x="712012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46" name="Shape 244"/>
          <p:cNvSpPr/>
          <p:nvPr/>
        </p:nvSpPr>
        <p:spPr>
          <a:xfrm>
            <a:off x="7120128" y="5541264"/>
            <a:ext cx="527304" cy="292608"/>
          </a:xfrm>
          <a:prstGeom prst="roundRect">
            <a:avLst>
              <a:gd name="adj" fmla="val 15625"/>
            </a:avLst>
          </a:prstGeom>
          <a:solidFill>
            <a:srgbClr val="D7E9E6"/>
          </a:solidFill>
          <a:ln/>
        </p:spPr>
        <p:txBody>
          <a:bodyPr/>
          <a:p/>
        </p:txBody>
      </p:sp>
      <p:sp>
        <p:nvSpPr>
          <p:cNvPr id="247" name="Text 245"/>
          <p:cNvSpPr txBox="1"/>
          <p:nvPr/>
        </p:nvSpPr>
        <p:spPr>
          <a:xfrm>
            <a:off x="712012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248" name="Text 246"/>
          <p:cNvSpPr txBox="1"/>
          <p:nvPr/>
        </p:nvSpPr>
        <p:spPr>
          <a:xfrm>
            <a:off x="710184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49" name="Shape 247"/>
          <p:cNvSpPr/>
          <p:nvPr/>
        </p:nvSpPr>
        <p:spPr>
          <a:xfrm>
            <a:off x="7684008" y="4224528"/>
            <a:ext cx="527304" cy="292608"/>
          </a:xfrm>
          <a:prstGeom prst="roundRect">
            <a:avLst>
              <a:gd name="adj" fmla="val 15625"/>
            </a:avLst>
          </a:prstGeom>
          <a:solidFill>
            <a:srgbClr val="36454F"/>
          </a:solidFill>
          <a:ln/>
        </p:spPr>
        <p:txBody>
          <a:bodyPr/>
          <a:p/>
        </p:txBody>
      </p:sp>
      <p:sp>
        <p:nvSpPr>
          <p:cNvPr id="250" name="Text 248"/>
          <p:cNvSpPr txBox="1"/>
          <p:nvPr/>
        </p:nvSpPr>
        <p:spPr>
          <a:xfrm>
            <a:off x="7684008" y="4224528"/>
            <a:ext cx="527304" cy="29260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51" name="Shape 249"/>
          <p:cNvSpPr/>
          <p:nvPr/>
        </p:nvSpPr>
        <p:spPr>
          <a:xfrm>
            <a:off x="7684008" y="4553712"/>
            <a:ext cx="527304" cy="292608"/>
          </a:xfrm>
          <a:prstGeom prst="roundRect">
            <a:avLst>
              <a:gd name="adj" fmla="val 15625"/>
            </a:avLst>
          </a:prstGeom>
          <a:solidFill>
            <a:srgbClr val="D7E9E6"/>
          </a:solidFill>
          <a:ln/>
        </p:spPr>
        <p:txBody>
          <a:bodyPr/>
          <a:p/>
        </p:txBody>
      </p:sp>
      <p:sp>
        <p:nvSpPr>
          <p:cNvPr id="252" name="Text 250"/>
          <p:cNvSpPr txBox="1"/>
          <p:nvPr/>
        </p:nvSpPr>
        <p:spPr>
          <a:xfrm>
            <a:off x="7684008" y="4553712"/>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4</a:t>
            </a:r>
            <a:endParaRPr lang="en-US" sz="1300" dirty="0"/>
          </a:p>
        </p:txBody>
      </p:sp>
      <p:sp>
        <p:nvSpPr>
          <p:cNvPr id="253" name="Shape 251"/>
          <p:cNvSpPr/>
          <p:nvPr/>
        </p:nvSpPr>
        <p:spPr>
          <a:xfrm>
            <a:off x="7684008" y="4882896"/>
            <a:ext cx="527304" cy="292608"/>
          </a:xfrm>
          <a:prstGeom prst="roundRect">
            <a:avLst>
              <a:gd name="adj" fmla="val 15625"/>
            </a:avLst>
          </a:prstGeom>
          <a:solidFill>
            <a:srgbClr val="02C39A"/>
          </a:solidFill>
          <a:ln/>
        </p:spPr>
        <p:txBody>
          <a:bodyPr/>
          <a:p/>
        </p:txBody>
      </p:sp>
      <p:sp>
        <p:nvSpPr>
          <p:cNvPr id="254" name="Text 252"/>
          <p:cNvSpPr txBox="1"/>
          <p:nvPr/>
        </p:nvSpPr>
        <p:spPr>
          <a:xfrm>
            <a:off x="7684008" y="4882896"/>
            <a:ext cx="527304" cy="29260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5</a:t>
            </a:r>
            <a:endParaRPr lang="en-US" sz="1300" dirty="0"/>
          </a:p>
        </p:txBody>
      </p:sp>
      <p:sp>
        <p:nvSpPr>
          <p:cNvPr id="255" name="Shape 253"/>
          <p:cNvSpPr/>
          <p:nvPr/>
        </p:nvSpPr>
        <p:spPr>
          <a:xfrm>
            <a:off x="7684008" y="5212080"/>
            <a:ext cx="527304" cy="292608"/>
          </a:xfrm>
          <a:prstGeom prst="roundRect">
            <a:avLst>
              <a:gd name="adj" fmla="val 15625"/>
            </a:avLst>
          </a:prstGeom>
          <a:solidFill>
            <a:srgbClr val="D7E9E6"/>
          </a:solidFill>
          <a:ln/>
        </p:spPr>
        <p:txBody>
          <a:bodyPr/>
          <a:p/>
        </p:txBody>
      </p:sp>
      <p:sp>
        <p:nvSpPr>
          <p:cNvPr id="256" name="Text 254"/>
          <p:cNvSpPr txBox="1"/>
          <p:nvPr/>
        </p:nvSpPr>
        <p:spPr>
          <a:xfrm>
            <a:off x="7684008" y="5212080"/>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2</a:t>
            </a:r>
            <a:endParaRPr lang="en-US" sz="1300" dirty="0"/>
          </a:p>
        </p:txBody>
      </p:sp>
      <p:sp>
        <p:nvSpPr>
          <p:cNvPr id="257" name="Shape 255"/>
          <p:cNvSpPr/>
          <p:nvPr/>
        </p:nvSpPr>
        <p:spPr>
          <a:xfrm>
            <a:off x="7684008" y="5541264"/>
            <a:ext cx="527304" cy="292608"/>
          </a:xfrm>
          <a:prstGeom prst="roundRect">
            <a:avLst>
              <a:gd name="adj" fmla="val 15625"/>
            </a:avLst>
          </a:prstGeom>
          <a:solidFill>
            <a:srgbClr val="D7E9E6"/>
          </a:solidFill>
          <a:ln/>
        </p:spPr>
        <p:txBody>
          <a:bodyPr/>
          <a:p/>
        </p:txBody>
      </p:sp>
      <p:sp>
        <p:nvSpPr>
          <p:cNvPr id="258" name="Text 256"/>
          <p:cNvSpPr txBox="1"/>
          <p:nvPr/>
        </p:nvSpPr>
        <p:spPr>
          <a:xfrm>
            <a:off x="7684008" y="5541264"/>
            <a:ext cx="527304" cy="292608"/>
          </a:xfrm>
          <a:prstGeom prst="rect">
            <a:avLst/>
          </a:prstGeom>
          <a:noFill/>
          <a:ln/>
        </p:spPr>
        <p:txBody>
          <a:bodyPr wrap="square" lIns="38100" tIns="38100" rIns="38100" bIns="38100" rtlCol="0" anchor="ctr"/>
          <a:lstStyle/>
          <a:p>
            <a:pPr algn="ctr" indent="0" marL="0">
              <a:buNone/>
            </a:pPr>
            <a:r>
              <a:rPr lang="en-US" sz="1300" dirty="0">
                <a:solidFill>
                  <a:srgbClr val="212121"/>
                </a:solidFill>
                <a:latin typeface="Calibri" pitchFamily="34" charset="0"/>
                <a:ea typeface="Calibri" pitchFamily="34" charset="-122"/>
                <a:cs typeface="Calibri" pitchFamily="34" charset="-120"/>
              </a:rPr>
              <a:t>3</a:t>
            </a:r>
            <a:endParaRPr lang="en-US" sz="1300" dirty="0"/>
          </a:p>
        </p:txBody>
      </p:sp>
      <p:sp>
        <p:nvSpPr>
          <p:cNvPr id="259" name="Text 257"/>
          <p:cNvSpPr txBox="1"/>
          <p:nvPr/>
        </p:nvSpPr>
        <p:spPr>
          <a:xfrm>
            <a:off x="7665720" y="5852160"/>
            <a:ext cx="563880" cy="329184"/>
          </a:xfrm>
          <a:prstGeom prst="rect">
            <a:avLst/>
          </a:prstGeom>
          <a:noFill/>
          <a:ln/>
        </p:spPr>
        <p:txBody>
          <a:bodyPr wrap="square" lIns="0" tIns="0" rIns="0" bIns="0" rtlCol="0" anchor="ctr"/>
          <a:lstStyle/>
          <a:p>
            <a:pPr algn="ctr" indent="0" marL="0">
              <a:buNone/>
            </a:pPr>
            <a:r>
              <a:rPr lang="en-US" sz="1300" b="1" dirty="0">
                <a:solidFill>
                  <a:srgbClr val="B5453A"/>
                </a:solidFill>
                <a:latin typeface="Calibri" pitchFamily="34" charset="0"/>
                <a:ea typeface="Calibri" pitchFamily="34" charset="-122"/>
                <a:cs typeface="Calibri" pitchFamily="34" charset="-120"/>
              </a:rPr>
              <a:t>F</a:t>
            </a:r>
            <a:endParaRPr lang="en-US" sz="1300" dirty="0"/>
          </a:p>
        </p:txBody>
      </p:sp>
      <p:sp>
        <p:nvSpPr>
          <p:cNvPr id="260" name="Shape 258"/>
          <p:cNvSpPr/>
          <p:nvPr/>
        </p:nvSpPr>
        <p:spPr>
          <a:xfrm>
            <a:off x="8503920" y="1508760"/>
            <a:ext cx="3154680" cy="4754880"/>
          </a:xfrm>
          <a:prstGeom prst="roundRect">
            <a:avLst>
              <a:gd name="adj" fmla="val 173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1" name="Text 259"/>
          <p:cNvSpPr txBox="1"/>
          <p:nvPr/>
        </p:nvSpPr>
        <p:spPr>
          <a:xfrm>
            <a:off x="8732520" y="1691640"/>
            <a:ext cx="2697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it means</a:t>
            </a:r>
            <a:endParaRPr lang="en-US" sz="1500" dirty="0"/>
          </a:p>
        </p:txBody>
      </p:sp>
      <p:sp>
        <p:nvSpPr>
          <p:cNvPr id="262" name="Text 260"/>
          <p:cNvSpPr txBox="1"/>
          <p:nvPr/>
        </p:nvSpPr>
        <p:spPr>
          <a:xfrm>
            <a:off x="8732520" y="2148840"/>
            <a:ext cx="2697480" cy="39776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Common sense: more memory should never hurt.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With FIFO it can: 9 faults with 3 frames, 10 with 4.</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OPT and LRU never behave like this (they are "stack algorithms").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On the same string LRU gives 10 → 8 faults.</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LRU APPROXIMATION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Reference Bit and the Second-Chance (Clock) Algorithm</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Hardware sets a page's reference bit R to 1 whenever the page is used. The OS can read and clear it.</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19</a:t>
            </a:r>
            <a:endParaRPr lang="en-US" sz="900" dirty="0"/>
          </a:p>
        </p:txBody>
      </p:sp>
      <p:sp>
        <p:nvSpPr>
          <p:cNvPr id="7" name="Shape 5"/>
          <p:cNvSpPr/>
          <p:nvPr/>
        </p:nvSpPr>
        <p:spPr>
          <a:xfrm>
            <a:off x="1737360" y="2606040"/>
            <a:ext cx="3108960" cy="3108960"/>
          </a:xfrm>
          <a:prstGeom prst="ellipse">
            <a:avLst/>
          </a:prstGeom>
          <a:ln w="15875">
            <a:solidFill>
              <a:srgbClr val="50808E"/>
            </a:solidFill>
            <a:prstDash val="dash"/>
          </a:ln>
        </p:spPr>
        <p:txBody>
          <a:bodyPr/>
          <a:p/>
        </p:txBody>
      </p:sp>
      <p:sp>
        <p:nvSpPr>
          <p:cNvPr id="8" name="Shape 6"/>
          <p:cNvSpPr/>
          <p:nvPr/>
        </p:nvSpPr>
        <p:spPr>
          <a:xfrm>
            <a:off x="2724912" y="2276856"/>
            <a:ext cx="1133856" cy="658368"/>
          </a:xfrm>
          <a:prstGeom prst="roundRect">
            <a:avLst>
              <a:gd name="adj" fmla="val 6944"/>
            </a:avLst>
          </a:prstGeom>
          <a:solidFill>
            <a:srgbClr val="D7E9E6"/>
          </a:solidFill>
          <a:ln/>
        </p:spPr>
        <p:txBody>
          <a:bodyPr/>
          <a:p/>
        </p:txBody>
      </p:sp>
      <p:sp>
        <p:nvSpPr>
          <p:cNvPr id="9" name="Text 7"/>
          <p:cNvSpPr txBox="1"/>
          <p:nvPr/>
        </p:nvSpPr>
        <p:spPr>
          <a:xfrm>
            <a:off x="2724912" y="227685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3</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R = 1 → 0</a:t>
            </a:r>
            <a:endParaRPr lang="en-US" sz="1300" dirty="0"/>
          </a:p>
        </p:txBody>
      </p:sp>
      <p:sp>
        <p:nvSpPr>
          <p:cNvPr id="10" name="Shape 8"/>
          <p:cNvSpPr/>
          <p:nvPr/>
        </p:nvSpPr>
        <p:spPr>
          <a:xfrm>
            <a:off x="4071131" y="3054096"/>
            <a:ext cx="1133856" cy="658368"/>
          </a:xfrm>
          <a:prstGeom prst="roundRect">
            <a:avLst>
              <a:gd name="adj" fmla="val 6944"/>
            </a:avLst>
          </a:prstGeom>
          <a:solidFill>
            <a:srgbClr val="B5453A"/>
          </a:solidFill>
          <a:ln/>
        </p:spPr>
        <p:txBody>
          <a:bodyPr/>
          <a:p/>
        </p:txBody>
      </p:sp>
      <p:sp>
        <p:nvSpPr>
          <p:cNvPr id="11" name="Text 9"/>
          <p:cNvSpPr txBox="1"/>
          <p:nvPr/>
        </p:nvSpPr>
        <p:spPr>
          <a:xfrm>
            <a:off x="4071131" y="305409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page 7</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R = 0</a:t>
            </a:r>
            <a:endParaRPr lang="en-US" sz="1300" dirty="0"/>
          </a:p>
        </p:txBody>
      </p:sp>
      <p:sp>
        <p:nvSpPr>
          <p:cNvPr id="12" name="Shape 10"/>
          <p:cNvSpPr/>
          <p:nvPr/>
        </p:nvSpPr>
        <p:spPr>
          <a:xfrm>
            <a:off x="4071131" y="4608576"/>
            <a:ext cx="1133856" cy="658368"/>
          </a:xfrm>
          <a:prstGeom prst="roundRect">
            <a:avLst>
              <a:gd name="adj" fmla="val 6944"/>
            </a:avLst>
          </a:prstGeom>
          <a:solidFill>
            <a:srgbClr val="F2F2F2"/>
          </a:solidFill>
          <a:ln/>
        </p:spPr>
        <p:txBody>
          <a:bodyPr/>
          <a:p/>
        </p:txBody>
      </p:sp>
      <p:sp>
        <p:nvSpPr>
          <p:cNvPr id="13" name="Text 11"/>
          <p:cNvSpPr txBox="1"/>
          <p:nvPr/>
        </p:nvSpPr>
        <p:spPr>
          <a:xfrm>
            <a:off x="4071131" y="460857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1</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R = 1</a:t>
            </a:r>
            <a:endParaRPr lang="en-US" sz="1300" dirty="0"/>
          </a:p>
        </p:txBody>
      </p:sp>
      <p:sp>
        <p:nvSpPr>
          <p:cNvPr id="14" name="Shape 12"/>
          <p:cNvSpPr/>
          <p:nvPr/>
        </p:nvSpPr>
        <p:spPr>
          <a:xfrm>
            <a:off x="2724912" y="5385816"/>
            <a:ext cx="1133856" cy="658368"/>
          </a:xfrm>
          <a:prstGeom prst="roundRect">
            <a:avLst>
              <a:gd name="adj" fmla="val 6944"/>
            </a:avLst>
          </a:prstGeom>
          <a:solidFill>
            <a:srgbClr val="F2F2F2"/>
          </a:solidFill>
          <a:ln/>
        </p:spPr>
        <p:txBody>
          <a:bodyPr/>
          <a:p/>
        </p:txBody>
      </p:sp>
      <p:sp>
        <p:nvSpPr>
          <p:cNvPr id="15" name="Text 13"/>
          <p:cNvSpPr txBox="1"/>
          <p:nvPr/>
        </p:nvSpPr>
        <p:spPr>
          <a:xfrm>
            <a:off x="2724912" y="538581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4</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R = 1</a:t>
            </a:r>
            <a:endParaRPr lang="en-US" sz="1300" dirty="0"/>
          </a:p>
        </p:txBody>
      </p:sp>
      <p:sp>
        <p:nvSpPr>
          <p:cNvPr id="16" name="Shape 14"/>
          <p:cNvSpPr/>
          <p:nvPr/>
        </p:nvSpPr>
        <p:spPr>
          <a:xfrm>
            <a:off x="1378693" y="4608576"/>
            <a:ext cx="1133856" cy="658368"/>
          </a:xfrm>
          <a:prstGeom prst="roundRect">
            <a:avLst>
              <a:gd name="adj" fmla="val 6944"/>
            </a:avLst>
          </a:prstGeom>
          <a:solidFill>
            <a:srgbClr val="F2F2F2"/>
          </a:solidFill>
          <a:ln/>
        </p:spPr>
        <p:txBody>
          <a:bodyPr/>
          <a:p/>
        </p:txBody>
      </p:sp>
      <p:sp>
        <p:nvSpPr>
          <p:cNvPr id="17" name="Text 15"/>
          <p:cNvSpPr txBox="1"/>
          <p:nvPr/>
        </p:nvSpPr>
        <p:spPr>
          <a:xfrm>
            <a:off x="1378693" y="460857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9</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R = 0</a:t>
            </a:r>
            <a:endParaRPr lang="en-US" sz="1300" dirty="0"/>
          </a:p>
        </p:txBody>
      </p:sp>
      <p:sp>
        <p:nvSpPr>
          <p:cNvPr id="18" name="Shape 16"/>
          <p:cNvSpPr/>
          <p:nvPr/>
        </p:nvSpPr>
        <p:spPr>
          <a:xfrm>
            <a:off x="1378693" y="3054096"/>
            <a:ext cx="1133856" cy="658368"/>
          </a:xfrm>
          <a:prstGeom prst="roundRect">
            <a:avLst>
              <a:gd name="adj" fmla="val 6944"/>
            </a:avLst>
          </a:prstGeom>
          <a:solidFill>
            <a:srgbClr val="F2F2F2"/>
          </a:solidFill>
          <a:ln/>
        </p:spPr>
        <p:txBody>
          <a:bodyPr/>
          <a:p/>
        </p:txBody>
      </p:sp>
      <p:sp>
        <p:nvSpPr>
          <p:cNvPr id="19" name="Text 17"/>
          <p:cNvSpPr txBox="1"/>
          <p:nvPr/>
        </p:nvSpPr>
        <p:spPr>
          <a:xfrm>
            <a:off x="1378693" y="3054096"/>
            <a:ext cx="1133856" cy="658368"/>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page 2</a:t>
            </a:r>
            <a:endParaRPr lang="en-US" sz="1300" dirty="0"/>
          </a:p>
          <a:p>
            <a:pPr algn="ctr" indent="0" marL="0">
              <a:buNone/>
            </a:pPr>
            <a:r>
              <a:rPr lang="en-US" sz="1100" dirty="0">
                <a:solidFill>
                  <a:srgbClr val="212121"/>
                </a:solidFill>
                <a:latin typeface="Calibri" pitchFamily="34" charset="0"/>
                <a:ea typeface="Calibri" pitchFamily="34" charset="-122"/>
                <a:cs typeface="Calibri" pitchFamily="34" charset="-120"/>
              </a:rPr>
              <a:t>R = 1</a:t>
            </a:r>
            <a:endParaRPr lang="en-US" sz="1300" dirty="0"/>
          </a:p>
        </p:txBody>
      </p:sp>
      <p:sp>
        <p:nvSpPr>
          <p:cNvPr id="20" name="Shape 18"/>
          <p:cNvSpPr/>
          <p:nvPr/>
        </p:nvSpPr>
        <p:spPr>
          <a:xfrm flipV="1">
            <a:off x="3291840" y="3017520"/>
            <a:ext cx="45720" cy="1143000"/>
          </a:xfrm>
          <a:prstGeom prst="line">
            <a:avLst/>
          </a:prstGeom>
          <a:noFill/>
          <a:ln w="38100">
            <a:solidFill>
              <a:srgbClr val="028090"/>
            </a:solidFill>
            <a:prstDash val="solid"/>
            <a:tailEnd type="triangle"/>
          </a:ln>
        </p:spPr>
        <p:txBody>
          <a:bodyPr/>
          <a:p/>
        </p:txBody>
      </p:sp>
      <p:sp>
        <p:nvSpPr>
          <p:cNvPr id="21" name="Shape 19"/>
          <p:cNvSpPr/>
          <p:nvPr/>
        </p:nvSpPr>
        <p:spPr>
          <a:xfrm flipV="1">
            <a:off x="3291840" y="3429000"/>
            <a:ext cx="1005840" cy="731520"/>
          </a:xfrm>
          <a:prstGeom prst="line">
            <a:avLst/>
          </a:prstGeom>
          <a:noFill/>
          <a:ln w="19050">
            <a:solidFill>
              <a:srgbClr val="028090"/>
            </a:solidFill>
            <a:prstDash val="solid"/>
            <a:tailEnd type="triangle"/>
          </a:ln>
        </p:spPr>
        <p:txBody>
          <a:bodyPr/>
          <a:p/>
        </p:txBody>
      </p:sp>
      <p:sp>
        <p:nvSpPr>
          <p:cNvPr id="22" name="Shape 20"/>
          <p:cNvSpPr/>
          <p:nvPr/>
        </p:nvSpPr>
        <p:spPr>
          <a:xfrm>
            <a:off x="3182112" y="4050792"/>
            <a:ext cx="219456" cy="219456"/>
          </a:xfrm>
          <a:prstGeom prst="ellipse">
            <a:avLst/>
          </a:prstGeom>
          <a:solidFill>
            <a:srgbClr val="028090"/>
          </a:solidFill>
          <a:ln/>
        </p:spPr>
        <p:txBody>
          <a:bodyPr/>
          <a:p/>
        </p:txBody>
      </p:sp>
      <p:sp>
        <p:nvSpPr>
          <p:cNvPr id="23" name="Text 21"/>
          <p:cNvSpPr txBox="1"/>
          <p:nvPr/>
        </p:nvSpPr>
        <p:spPr>
          <a:xfrm>
            <a:off x="2514600" y="4069080"/>
            <a:ext cx="640080" cy="274320"/>
          </a:xfrm>
          <a:prstGeom prst="rect">
            <a:avLst/>
          </a:prstGeom>
          <a:noFill/>
          <a:ln/>
        </p:spPr>
        <p:txBody>
          <a:bodyPr wrap="square" lIns="0" tIns="0" rIns="0" bIns="0" rtlCol="0" anchor="t"/>
          <a:lstStyle/>
          <a:p>
            <a:pPr algn="r" indent="0" marL="0">
              <a:buNone/>
            </a:pPr>
            <a:r>
              <a:rPr lang="en-US" sz="1100" i="1" dirty="0">
                <a:solidFill>
                  <a:srgbClr val="028090"/>
                </a:solidFill>
                <a:latin typeface="Calibri" pitchFamily="34" charset="0"/>
                <a:ea typeface="Calibri" pitchFamily="34" charset="-122"/>
                <a:cs typeface="Calibri" pitchFamily="34" charset="-120"/>
              </a:rPr>
              <a:t>hand</a:t>
            </a:r>
            <a:endParaRPr lang="en-US" sz="1100" dirty="0"/>
          </a:p>
        </p:txBody>
      </p:sp>
      <p:sp>
        <p:nvSpPr>
          <p:cNvPr id="24" name="Shape 22"/>
          <p:cNvSpPr/>
          <p:nvPr/>
        </p:nvSpPr>
        <p:spPr>
          <a:xfrm>
            <a:off x="6400800" y="2103120"/>
            <a:ext cx="525780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6629400" y="2286000"/>
            <a:ext cx="48006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algorithm</a:t>
            </a:r>
            <a:endParaRPr lang="en-US" sz="1500" dirty="0"/>
          </a:p>
        </p:txBody>
      </p:sp>
      <p:sp>
        <p:nvSpPr>
          <p:cNvPr id="26" name="Text 24"/>
          <p:cNvSpPr txBox="1"/>
          <p:nvPr/>
        </p:nvSpPr>
        <p:spPr>
          <a:xfrm>
            <a:off x="6629400" y="2743200"/>
            <a:ext cx="4800600" cy="33832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Frames form a circle; a "clock hand" points to the next candidate.</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 = 1:</a:t>
            </a:r>
            <a:r>
              <a:rPr lang="en-US" sz="1400" dirty="0">
                <a:solidFill>
                  <a:srgbClr val="3A464C"/>
                </a:solidFill>
                <a:latin typeface="Calibri" pitchFamily="34" charset="0"/>
                <a:ea typeface="Calibri" pitchFamily="34" charset="-122"/>
                <a:cs typeface="Calibri" pitchFamily="34" charset="-120"/>
              </a:rPr>
              <a:t> give a second chance — clear R to 0, move on.</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 = 0:</a:t>
            </a:r>
            <a:r>
              <a:rPr lang="en-US" sz="1400" dirty="0">
                <a:solidFill>
                  <a:srgbClr val="3A464C"/>
                </a:solidFill>
                <a:latin typeface="Calibri" pitchFamily="34" charset="0"/>
                <a:ea typeface="Calibri" pitchFamily="34" charset="-122"/>
                <a:cs typeface="Calibri" pitchFamily="34" charset="-120"/>
              </a:rPr>
              <a:t> not used recently → this is the victim.</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Example:</a:t>
            </a:r>
            <a:r>
              <a:rPr lang="en-US" sz="1400" dirty="0">
                <a:solidFill>
                  <a:srgbClr val="3A464C"/>
                </a:solidFill>
                <a:latin typeface="Calibri" pitchFamily="34" charset="0"/>
                <a:ea typeface="Calibri" pitchFamily="34" charset="-122"/>
                <a:cs typeface="Calibri" pitchFamily="34" charset="-120"/>
              </a:rPr>
              <a:t> the hand is at page 3 (R = 1): clear it, move to page 7 (R = 0): replace page 7.</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If every R is 1, the hand goes all the way round: FIFO.</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THRASHING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Thrashing: Busy Paging, No Real Work</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If a process has fewer frames than the pages it is actively using, it faults again and again.</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20</a:t>
            </a:r>
            <a:endParaRPr lang="en-US" sz="900" dirty="0"/>
          </a:p>
        </p:txBody>
      </p:sp>
      <p:graphicFrame>
        <p:nvGraphicFramePr>
          <p:cNvPr id="7" name="Chart 0" descr=""/>
          <p:cNvGraphicFramePr/>
          <p:nvPr/>
        </p:nvGraphicFramePr>
        <p:xfrm>
          <a:off x="548640" y="2103120"/>
          <a:ext cx="5852160" cy="3794760"/>
        </p:xfrm>
        <a:graphic xmlns:a="http://schemas.openxmlformats.org/drawingml/2006/main">
          <a:graphicData uri="http://schemas.openxmlformats.org/drawingml/2006/chart">
            <c:chart xmlns:c="http://schemas.openxmlformats.org/drawingml/2006/chart" r:id="rId1"/>
          </a:graphicData>
        </a:graphic>
      </p:graphicFrame>
      <p:sp>
        <p:nvSpPr>
          <p:cNvPr id="8" name="Text 5"/>
          <p:cNvSpPr txBox="1"/>
          <p:nvPr/>
        </p:nvSpPr>
        <p:spPr>
          <a:xfrm>
            <a:off x="3566160" y="4480560"/>
            <a:ext cx="1554480" cy="320040"/>
          </a:xfrm>
          <a:prstGeom prst="rect">
            <a:avLst/>
          </a:prstGeom>
          <a:noFill/>
          <a:ln/>
        </p:spPr>
        <p:txBody>
          <a:bodyPr wrap="square" lIns="0" tIns="0" rIns="0" bIns="0" rtlCol="0" anchor="t"/>
          <a:lstStyle/>
          <a:p>
            <a:pPr algn="r" indent="0" marL="0">
              <a:buNone/>
            </a:pPr>
            <a:r>
              <a:rPr lang="en-US" sz="1400" b="1" dirty="0">
                <a:solidFill>
                  <a:srgbClr val="B5453A"/>
                </a:solidFill>
                <a:latin typeface="Calibri" pitchFamily="34" charset="0"/>
                <a:ea typeface="Calibri" pitchFamily="34" charset="-122"/>
                <a:cs typeface="Calibri" pitchFamily="34" charset="-120"/>
              </a:rPr>
              <a:t>thrashing →</a:t>
            </a:r>
            <a:endParaRPr lang="en-US" sz="1400" dirty="0"/>
          </a:p>
        </p:txBody>
      </p:sp>
      <p:sp>
        <p:nvSpPr>
          <p:cNvPr id="9" name="Text 6"/>
          <p:cNvSpPr txBox="1"/>
          <p:nvPr/>
        </p:nvSpPr>
        <p:spPr>
          <a:xfrm>
            <a:off x="548640" y="5897880"/>
            <a:ext cx="5852160" cy="274320"/>
          </a:xfrm>
          <a:prstGeom prst="rect">
            <a:avLst/>
          </a:prstGeom>
          <a:noFill/>
          <a:ln/>
        </p:spPr>
        <p:txBody>
          <a:bodyPr wrap="square" lIns="0" tIns="0" rIns="0" bIns="0" rtlCol="0" anchor="t"/>
          <a:lstStyle/>
          <a:p>
            <a:pPr algn="ctr" indent="0" marL="0">
              <a:buNone/>
            </a:pPr>
            <a:r>
              <a:rPr lang="en-US" sz="1050" i="1" dirty="0">
                <a:solidFill>
                  <a:srgbClr val="6B7679"/>
                </a:solidFill>
                <a:latin typeface="Calibri" pitchFamily="34" charset="0"/>
                <a:ea typeface="Calibri" pitchFamily="34" charset="-122"/>
                <a:cs typeface="Calibri" pitchFamily="34" charset="-120"/>
              </a:rPr>
              <a:t>conceptual curve — not measured data</a:t>
            </a:r>
            <a:endParaRPr lang="en-US" sz="1050" dirty="0"/>
          </a:p>
        </p:txBody>
      </p:sp>
      <p:sp>
        <p:nvSpPr>
          <p:cNvPr id="10" name="Shape 7"/>
          <p:cNvSpPr/>
          <p:nvPr/>
        </p:nvSpPr>
        <p:spPr>
          <a:xfrm>
            <a:off x="6675120" y="2103120"/>
            <a:ext cx="4983480" cy="4160520"/>
          </a:xfrm>
          <a:prstGeom prst="roundRect">
            <a:avLst>
              <a:gd name="adj" fmla="val 131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Text 8"/>
          <p:cNvSpPr txBox="1"/>
          <p:nvPr/>
        </p:nvSpPr>
        <p:spPr>
          <a:xfrm>
            <a:off x="6903720" y="2286000"/>
            <a:ext cx="45262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vicious circle</a:t>
            </a:r>
            <a:endParaRPr lang="en-US" sz="1500" dirty="0"/>
          </a:p>
        </p:txBody>
      </p:sp>
      <p:sp>
        <p:nvSpPr>
          <p:cNvPr id="12" name="Text 9"/>
          <p:cNvSpPr txBox="1"/>
          <p:nvPr/>
        </p:nvSpPr>
        <p:spPr>
          <a:xfrm>
            <a:off x="6903720" y="2743200"/>
            <a:ext cx="4526280" cy="33832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Too many processes → too few frames each → many page faults.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Processes wait for the disk → CPU utilisation drops.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A naive scheduler sees an idle CPU and admits more processes…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…which makes it worse. The system spends its time paging, not computing.</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Cure:</a:t>
            </a:r>
            <a:r>
              <a:rPr lang="en-US" sz="1400" dirty="0">
                <a:solidFill>
                  <a:srgbClr val="3A464C"/>
                </a:solidFill>
                <a:latin typeface="Calibri" pitchFamily="34" charset="0"/>
                <a:ea typeface="Calibri" pitchFamily="34" charset="-122"/>
                <a:cs typeface="Calibri" pitchFamily="34" charset="-120"/>
              </a:rPr>
              <a:t> reduce the degree of multiprogramming (suspend processes) or add RAM.</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THRASHING</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Working-Set Model</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Working set WS(t, Δ) = the set of distinct pages referenced in the last Δ references. It follows the program's locality.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21</a:t>
            </a:r>
            <a:endParaRPr lang="en-US" sz="900" dirty="0"/>
          </a:p>
        </p:txBody>
      </p:sp>
      <p:sp>
        <p:nvSpPr>
          <p:cNvPr id="7" name="Shape 5"/>
          <p:cNvSpPr/>
          <p:nvPr/>
        </p:nvSpPr>
        <p:spPr>
          <a:xfrm>
            <a:off x="566928" y="2606040"/>
            <a:ext cx="390730" cy="457200"/>
          </a:xfrm>
          <a:prstGeom prst="roundRect">
            <a:avLst>
              <a:gd name="adj" fmla="val 11701"/>
            </a:avLst>
          </a:prstGeom>
          <a:solidFill>
            <a:srgbClr val="D7E9E6"/>
          </a:solidFill>
          <a:ln/>
        </p:spPr>
        <p:txBody>
          <a:bodyPr/>
          <a:p/>
        </p:txBody>
      </p:sp>
      <p:sp>
        <p:nvSpPr>
          <p:cNvPr id="8" name="Text 6"/>
          <p:cNvSpPr txBox="1"/>
          <p:nvPr/>
        </p:nvSpPr>
        <p:spPr>
          <a:xfrm>
            <a:off x="566928"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9" name="Shape 7"/>
          <p:cNvSpPr/>
          <p:nvPr/>
        </p:nvSpPr>
        <p:spPr>
          <a:xfrm>
            <a:off x="994234" y="2606040"/>
            <a:ext cx="390730" cy="457200"/>
          </a:xfrm>
          <a:prstGeom prst="roundRect">
            <a:avLst>
              <a:gd name="adj" fmla="val 11701"/>
            </a:avLst>
          </a:prstGeom>
          <a:solidFill>
            <a:srgbClr val="D7E9E6"/>
          </a:solidFill>
          <a:ln/>
        </p:spPr>
        <p:txBody>
          <a:bodyPr/>
          <a:p/>
        </p:txBody>
      </p:sp>
      <p:sp>
        <p:nvSpPr>
          <p:cNvPr id="10" name="Text 8"/>
          <p:cNvSpPr txBox="1"/>
          <p:nvPr/>
        </p:nvSpPr>
        <p:spPr>
          <a:xfrm>
            <a:off x="994234"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6</a:t>
            </a:r>
            <a:endParaRPr lang="en-US" sz="1400" dirty="0"/>
          </a:p>
        </p:txBody>
      </p:sp>
      <p:sp>
        <p:nvSpPr>
          <p:cNvPr id="11" name="Shape 9"/>
          <p:cNvSpPr/>
          <p:nvPr/>
        </p:nvSpPr>
        <p:spPr>
          <a:xfrm>
            <a:off x="1421540" y="2606040"/>
            <a:ext cx="390730" cy="457200"/>
          </a:xfrm>
          <a:prstGeom prst="roundRect">
            <a:avLst>
              <a:gd name="adj" fmla="val 11701"/>
            </a:avLst>
          </a:prstGeom>
          <a:solidFill>
            <a:srgbClr val="D7E9E6"/>
          </a:solidFill>
          <a:ln/>
        </p:spPr>
        <p:txBody>
          <a:bodyPr/>
          <a:p/>
        </p:txBody>
      </p:sp>
      <p:sp>
        <p:nvSpPr>
          <p:cNvPr id="12" name="Text 10"/>
          <p:cNvSpPr txBox="1"/>
          <p:nvPr/>
        </p:nvSpPr>
        <p:spPr>
          <a:xfrm>
            <a:off x="1421540"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13" name="Shape 11"/>
          <p:cNvSpPr/>
          <p:nvPr/>
        </p:nvSpPr>
        <p:spPr>
          <a:xfrm>
            <a:off x="1848846" y="2606040"/>
            <a:ext cx="390730" cy="457200"/>
          </a:xfrm>
          <a:prstGeom prst="roundRect">
            <a:avLst>
              <a:gd name="adj" fmla="val 11701"/>
            </a:avLst>
          </a:prstGeom>
          <a:solidFill>
            <a:srgbClr val="D7E9E6"/>
          </a:solidFill>
          <a:ln/>
        </p:spPr>
        <p:txBody>
          <a:bodyPr/>
          <a:p/>
        </p:txBody>
      </p:sp>
      <p:sp>
        <p:nvSpPr>
          <p:cNvPr id="14" name="Text 12"/>
          <p:cNvSpPr txBox="1"/>
          <p:nvPr/>
        </p:nvSpPr>
        <p:spPr>
          <a:xfrm>
            <a:off x="1848846"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a:t>
            </a:r>
            <a:endParaRPr lang="en-US" sz="1400" dirty="0"/>
          </a:p>
        </p:txBody>
      </p:sp>
      <p:sp>
        <p:nvSpPr>
          <p:cNvPr id="15" name="Shape 13"/>
          <p:cNvSpPr/>
          <p:nvPr/>
        </p:nvSpPr>
        <p:spPr>
          <a:xfrm>
            <a:off x="2276153" y="2606040"/>
            <a:ext cx="390730" cy="457200"/>
          </a:xfrm>
          <a:prstGeom prst="roundRect">
            <a:avLst>
              <a:gd name="adj" fmla="val 11701"/>
            </a:avLst>
          </a:prstGeom>
          <a:solidFill>
            <a:srgbClr val="D7E9E6"/>
          </a:solidFill>
          <a:ln/>
        </p:spPr>
        <p:txBody>
          <a:bodyPr/>
          <a:p/>
        </p:txBody>
      </p:sp>
      <p:sp>
        <p:nvSpPr>
          <p:cNvPr id="16" name="Text 14"/>
          <p:cNvSpPr txBox="1"/>
          <p:nvPr/>
        </p:nvSpPr>
        <p:spPr>
          <a:xfrm>
            <a:off x="2276153"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7" name="Shape 15"/>
          <p:cNvSpPr/>
          <p:nvPr/>
        </p:nvSpPr>
        <p:spPr>
          <a:xfrm>
            <a:off x="2703459" y="2606040"/>
            <a:ext cx="390730" cy="457200"/>
          </a:xfrm>
          <a:prstGeom prst="roundRect">
            <a:avLst>
              <a:gd name="adj" fmla="val 11701"/>
            </a:avLst>
          </a:prstGeom>
          <a:solidFill>
            <a:srgbClr val="D7E9E6"/>
          </a:solidFill>
          <a:ln/>
        </p:spPr>
        <p:txBody>
          <a:bodyPr/>
          <a:p/>
        </p:txBody>
      </p:sp>
      <p:sp>
        <p:nvSpPr>
          <p:cNvPr id="18" name="Text 16"/>
          <p:cNvSpPr txBox="1"/>
          <p:nvPr/>
        </p:nvSpPr>
        <p:spPr>
          <a:xfrm>
            <a:off x="2703459"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19" name="Shape 17"/>
          <p:cNvSpPr/>
          <p:nvPr/>
        </p:nvSpPr>
        <p:spPr>
          <a:xfrm>
            <a:off x="3130765" y="2606040"/>
            <a:ext cx="390730" cy="457200"/>
          </a:xfrm>
          <a:prstGeom prst="roundRect">
            <a:avLst>
              <a:gd name="adj" fmla="val 11701"/>
            </a:avLst>
          </a:prstGeom>
          <a:solidFill>
            <a:srgbClr val="D7E9E6"/>
          </a:solidFill>
          <a:ln/>
        </p:spPr>
        <p:txBody>
          <a:bodyPr/>
          <a:p/>
        </p:txBody>
      </p:sp>
      <p:sp>
        <p:nvSpPr>
          <p:cNvPr id="20" name="Text 18"/>
          <p:cNvSpPr txBox="1"/>
          <p:nvPr/>
        </p:nvSpPr>
        <p:spPr>
          <a:xfrm>
            <a:off x="3130765"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21" name="Shape 19"/>
          <p:cNvSpPr/>
          <p:nvPr/>
        </p:nvSpPr>
        <p:spPr>
          <a:xfrm>
            <a:off x="3558071" y="2606040"/>
            <a:ext cx="390730" cy="457200"/>
          </a:xfrm>
          <a:prstGeom prst="roundRect">
            <a:avLst>
              <a:gd name="adj" fmla="val 11701"/>
            </a:avLst>
          </a:prstGeom>
          <a:solidFill>
            <a:srgbClr val="D7E9E6"/>
          </a:solidFill>
          <a:ln/>
        </p:spPr>
        <p:txBody>
          <a:bodyPr/>
          <a:p/>
        </p:txBody>
      </p:sp>
      <p:sp>
        <p:nvSpPr>
          <p:cNvPr id="22" name="Text 20"/>
          <p:cNvSpPr txBox="1"/>
          <p:nvPr/>
        </p:nvSpPr>
        <p:spPr>
          <a:xfrm>
            <a:off x="3558071"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7</a:t>
            </a:r>
            <a:endParaRPr lang="en-US" sz="1400" dirty="0"/>
          </a:p>
        </p:txBody>
      </p:sp>
      <p:sp>
        <p:nvSpPr>
          <p:cNvPr id="23" name="Shape 21"/>
          <p:cNvSpPr/>
          <p:nvPr/>
        </p:nvSpPr>
        <p:spPr>
          <a:xfrm>
            <a:off x="3985377" y="2606040"/>
            <a:ext cx="390730" cy="457200"/>
          </a:xfrm>
          <a:prstGeom prst="roundRect">
            <a:avLst>
              <a:gd name="adj" fmla="val 11701"/>
            </a:avLst>
          </a:prstGeom>
          <a:solidFill>
            <a:srgbClr val="D7E9E6"/>
          </a:solidFill>
          <a:ln/>
        </p:spPr>
        <p:txBody>
          <a:bodyPr/>
          <a:p/>
        </p:txBody>
      </p:sp>
      <p:sp>
        <p:nvSpPr>
          <p:cNvPr id="24" name="Text 22"/>
          <p:cNvSpPr txBox="1"/>
          <p:nvPr/>
        </p:nvSpPr>
        <p:spPr>
          <a:xfrm>
            <a:off x="3985377"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5</a:t>
            </a:r>
            <a:endParaRPr lang="en-US" sz="1400" dirty="0"/>
          </a:p>
        </p:txBody>
      </p:sp>
      <p:sp>
        <p:nvSpPr>
          <p:cNvPr id="25" name="Shape 23"/>
          <p:cNvSpPr/>
          <p:nvPr/>
        </p:nvSpPr>
        <p:spPr>
          <a:xfrm>
            <a:off x="4412683" y="2606040"/>
            <a:ext cx="390730" cy="457200"/>
          </a:xfrm>
          <a:prstGeom prst="roundRect">
            <a:avLst>
              <a:gd name="adj" fmla="val 11701"/>
            </a:avLst>
          </a:prstGeom>
          <a:solidFill>
            <a:srgbClr val="D7E9E6"/>
          </a:solidFill>
          <a:ln/>
        </p:spPr>
        <p:txBody>
          <a:bodyPr/>
          <a:p/>
        </p:txBody>
      </p:sp>
      <p:sp>
        <p:nvSpPr>
          <p:cNvPr id="26" name="Text 24"/>
          <p:cNvSpPr txBox="1"/>
          <p:nvPr/>
        </p:nvSpPr>
        <p:spPr>
          <a:xfrm>
            <a:off x="4412683"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27" name="Shape 25"/>
          <p:cNvSpPr/>
          <p:nvPr/>
        </p:nvSpPr>
        <p:spPr>
          <a:xfrm>
            <a:off x="4839990" y="2606040"/>
            <a:ext cx="390730" cy="457200"/>
          </a:xfrm>
          <a:prstGeom prst="roundRect">
            <a:avLst>
              <a:gd name="adj" fmla="val 11701"/>
            </a:avLst>
          </a:prstGeom>
          <a:solidFill>
            <a:srgbClr val="F2F2F2"/>
          </a:solidFill>
          <a:ln/>
        </p:spPr>
        <p:txBody>
          <a:bodyPr/>
          <a:p/>
        </p:txBody>
      </p:sp>
      <p:sp>
        <p:nvSpPr>
          <p:cNvPr id="28" name="Text 26"/>
          <p:cNvSpPr txBox="1"/>
          <p:nvPr/>
        </p:nvSpPr>
        <p:spPr>
          <a:xfrm>
            <a:off x="4839990"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6</a:t>
            </a:r>
            <a:endParaRPr lang="en-US" sz="1400" dirty="0"/>
          </a:p>
        </p:txBody>
      </p:sp>
      <p:sp>
        <p:nvSpPr>
          <p:cNvPr id="29" name="Shape 27"/>
          <p:cNvSpPr/>
          <p:nvPr/>
        </p:nvSpPr>
        <p:spPr>
          <a:xfrm>
            <a:off x="5267296" y="2606040"/>
            <a:ext cx="390730" cy="457200"/>
          </a:xfrm>
          <a:prstGeom prst="roundRect">
            <a:avLst>
              <a:gd name="adj" fmla="val 11701"/>
            </a:avLst>
          </a:prstGeom>
          <a:solidFill>
            <a:srgbClr val="F2F2F2"/>
          </a:solidFill>
          <a:ln/>
        </p:spPr>
        <p:txBody>
          <a:bodyPr/>
          <a:p/>
        </p:txBody>
      </p:sp>
      <p:sp>
        <p:nvSpPr>
          <p:cNvPr id="30" name="Text 28"/>
          <p:cNvSpPr txBox="1"/>
          <p:nvPr/>
        </p:nvSpPr>
        <p:spPr>
          <a:xfrm>
            <a:off x="5267296"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31" name="Shape 29"/>
          <p:cNvSpPr/>
          <p:nvPr/>
        </p:nvSpPr>
        <p:spPr>
          <a:xfrm>
            <a:off x="5694602" y="2606040"/>
            <a:ext cx="390730" cy="457200"/>
          </a:xfrm>
          <a:prstGeom prst="roundRect">
            <a:avLst>
              <a:gd name="adj" fmla="val 11701"/>
            </a:avLst>
          </a:prstGeom>
          <a:solidFill>
            <a:srgbClr val="F2F2F2"/>
          </a:solidFill>
          <a:ln/>
        </p:spPr>
        <p:txBody>
          <a:bodyPr/>
          <a:p/>
        </p:txBody>
      </p:sp>
      <p:sp>
        <p:nvSpPr>
          <p:cNvPr id="32" name="Text 30"/>
          <p:cNvSpPr txBox="1"/>
          <p:nvPr/>
        </p:nvSpPr>
        <p:spPr>
          <a:xfrm>
            <a:off x="5694602"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33" name="Shape 31"/>
          <p:cNvSpPr/>
          <p:nvPr/>
        </p:nvSpPr>
        <p:spPr>
          <a:xfrm>
            <a:off x="6121908" y="2606040"/>
            <a:ext cx="390730" cy="457200"/>
          </a:xfrm>
          <a:prstGeom prst="roundRect">
            <a:avLst>
              <a:gd name="adj" fmla="val 11701"/>
            </a:avLst>
          </a:prstGeom>
          <a:solidFill>
            <a:srgbClr val="F2F2F2"/>
          </a:solidFill>
          <a:ln/>
        </p:spPr>
        <p:txBody>
          <a:bodyPr/>
          <a:p/>
        </p:txBody>
      </p:sp>
      <p:sp>
        <p:nvSpPr>
          <p:cNvPr id="34" name="Text 32"/>
          <p:cNvSpPr txBox="1"/>
          <p:nvPr/>
        </p:nvSpPr>
        <p:spPr>
          <a:xfrm>
            <a:off x="6121908"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35" name="Shape 33"/>
          <p:cNvSpPr/>
          <p:nvPr/>
        </p:nvSpPr>
        <p:spPr>
          <a:xfrm>
            <a:off x="6549214" y="2606040"/>
            <a:ext cx="390730" cy="457200"/>
          </a:xfrm>
          <a:prstGeom prst="roundRect">
            <a:avLst>
              <a:gd name="adj" fmla="val 11701"/>
            </a:avLst>
          </a:prstGeom>
          <a:solidFill>
            <a:srgbClr val="F2F2F2"/>
          </a:solidFill>
          <a:ln/>
        </p:spPr>
        <p:txBody>
          <a:bodyPr/>
          <a:p/>
        </p:txBody>
      </p:sp>
      <p:sp>
        <p:nvSpPr>
          <p:cNvPr id="36" name="Text 34"/>
          <p:cNvSpPr txBox="1"/>
          <p:nvPr/>
        </p:nvSpPr>
        <p:spPr>
          <a:xfrm>
            <a:off x="6549214"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1</a:t>
            </a:r>
            <a:endParaRPr lang="en-US" sz="1400" dirty="0"/>
          </a:p>
        </p:txBody>
      </p:sp>
      <p:sp>
        <p:nvSpPr>
          <p:cNvPr id="37" name="Shape 35"/>
          <p:cNvSpPr/>
          <p:nvPr/>
        </p:nvSpPr>
        <p:spPr>
          <a:xfrm>
            <a:off x="6976520" y="2606040"/>
            <a:ext cx="390730" cy="457200"/>
          </a:xfrm>
          <a:prstGeom prst="roundRect">
            <a:avLst>
              <a:gd name="adj" fmla="val 11701"/>
            </a:avLst>
          </a:prstGeom>
          <a:solidFill>
            <a:srgbClr val="F2F2F2"/>
          </a:solidFill>
          <a:ln/>
        </p:spPr>
        <p:txBody>
          <a:bodyPr/>
          <a:p/>
        </p:txBody>
      </p:sp>
      <p:sp>
        <p:nvSpPr>
          <p:cNvPr id="38" name="Text 36"/>
          <p:cNvSpPr txBox="1"/>
          <p:nvPr/>
        </p:nvSpPr>
        <p:spPr>
          <a:xfrm>
            <a:off x="6976520"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2</a:t>
            </a:r>
            <a:endParaRPr lang="en-US" sz="1400" dirty="0"/>
          </a:p>
        </p:txBody>
      </p:sp>
      <p:sp>
        <p:nvSpPr>
          <p:cNvPr id="39" name="Shape 37"/>
          <p:cNvSpPr/>
          <p:nvPr/>
        </p:nvSpPr>
        <p:spPr>
          <a:xfrm>
            <a:off x="7403826" y="2606040"/>
            <a:ext cx="390730" cy="457200"/>
          </a:xfrm>
          <a:prstGeom prst="roundRect">
            <a:avLst>
              <a:gd name="adj" fmla="val 11701"/>
            </a:avLst>
          </a:prstGeom>
          <a:solidFill>
            <a:srgbClr val="D7E9E6"/>
          </a:solidFill>
          <a:ln/>
        </p:spPr>
        <p:txBody>
          <a:bodyPr/>
          <a:p/>
        </p:txBody>
      </p:sp>
      <p:sp>
        <p:nvSpPr>
          <p:cNvPr id="40" name="Text 38"/>
          <p:cNvSpPr txBox="1"/>
          <p:nvPr/>
        </p:nvSpPr>
        <p:spPr>
          <a:xfrm>
            <a:off x="7403826"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41" name="Shape 39"/>
          <p:cNvSpPr/>
          <p:nvPr/>
        </p:nvSpPr>
        <p:spPr>
          <a:xfrm>
            <a:off x="7831133" y="2606040"/>
            <a:ext cx="390730" cy="457200"/>
          </a:xfrm>
          <a:prstGeom prst="roundRect">
            <a:avLst>
              <a:gd name="adj" fmla="val 11701"/>
            </a:avLst>
          </a:prstGeom>
          <a:solidFill>
            <a:srgbClr val="D7E9E6"/>
          </a:solidFill>
          <a:ln/>
        </p:spPr>
        <p:txBody>
          <a:bodyPr/>
          <a:p/>
        </p:txBody>
      </p:sp>
      <p:sp>
        <p:nvSpPr>
          <p:cNvPr id="42" name="Text 40"/>
          <p:cNvSpPr txBox="1"/>
          <p:nvPr/>
        </p:nvSpPr>
        <p:spPr>
          <a:xfrm>
            <a:off x="7831133"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43" name="Shape 41"/>
          <p:cNvSpPr/>
          <p:nvPr/>
        </p:nvSpPr>
        <p:spPr>
          <a:xfrm>
            <a:off x="8258439" y="2606040"/>
            <a:ext cx="390730" cy="457200"/>
          </a:xfrm>
          <a:prstGeom prst="roundRect">
            <a:avLst>
              <a:gd name="adj" fmla="val 11701"/>
            </a:avLst>
          </a:prstGeom>
          <a:solidFill>
            <a:srgbClr val="D7E9E6"/>
          </a:solidFill>
          <a:ln/>
        </p:spPr>
        <p:txBody>
          <a:bodyPr/>
          <a:p/>
        </p:txBody>
      </p:sp>
      <p:sp>
        <p:nvSpPr>
          <p:cNvPr id="44" name="Text 42"/>
          <p:cNvSpPr txBox="1"/>
          <p:nvPr/>
        </p:nvSpPr>
        <p:spPr>
          <a:xfrm>
            <a:off x="8258439"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45" name="Shape 43"/>
          <p:cNvSpPr/>
          <p:nvPr/>
        </p:nvSpPr>
        <p:spPr>
          <a:xfrm>
            <a:off x="8685745" y="2606040"/>
            <a:ext cx="390730" cy="457200"/>
          </a:xfrm>
          <a:prstGeom prst="roundRect">
            <a:avLst>
              <a:gd name="adj" fmla="val 11701"/>
            </a:avLst>
          </a:prstGeom>
          <a:solidFill>
            <a:srgbClr val="D7E9E6"/>
          </a:solidFill>
          <a:ln/>
        </p:spPr>
        <p:txBody>
          <a:bodyPr/>
          <a:p/>
        </p:txBody>
      </p:sp>
      <p:sp>
        <p:nvSpPr>
          <p:cNvPr id="46" name="Text 44"/>
          <p:cNvSpPr txBox="1"/>
          <p:nvPr/>
        </p:nvSpPr>
        <p:spPr>
          <a:xfrm>
            <a:off x="8685745"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47" name="Shape 45"/>
          <p:cNvSpPr/>
          <p:nvPr/>
        </p:nvSpPr>
        <p:spPr>
          <a:xfrm>
            <a:off x="9113051" y="2606040"/>
            <a:ext cx="390730" cy="457200"/>
          </a:xfrm>
          <a:prstGeom prst="roundRect">
            <a:avLst>
              <a:gd name="adj" fmla="val 11701"/>
            </a:avLst>
          </a:prstGeom>
          <a:solidFill>
            <a:srgbClr val="D7E9E6"/>
          </a:solidFill>
          <a:ln/>
        </p:spPr>
        <p:txBody>
          <a:bodyPr/>
          <a:p/>
        </p:txBody>
      </p:sp>
      <p:sp>
        <p:nvSpPr>
          <p:cNvPr id="48" name="Text 46"/>
          <p:cNvSpPr txBox="1"/>
          <p:nvPr/>
        </p:nvSpPr>
        <p:spPr>
          <a:xfrm>
            <a:off x="9113051"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49" name="Shape 47"/>
          <p:cNvSpPr/>
          <p:nvPr/>
        </p:nvSpPr>
        <p:spPr>
          <a:xfrm>
            <a:off x="9540357" y="2606040"/>
            <a:ext cx="390730" cy="457200"/>
          </a:xfrm>
          <a:prstGeom prst="roundRect">
            <a:avLst>
              <a:gd name="adj" fmla="val 11701"/>
            </a:avLst>
          </a:prstGeom>
          <a:solidFill>
            <a:srgbClr val="D7E9E6"/>
          </a:solidFill>
          <a:ln/>
        </p:spPr>
        <p:txBody>
          <a:bodyPr/>
          <a:p/>
        </p:txBody>
      </p:sp>
      <p:sp>
        <p:nvSpPr>
          <p:cNvPr id="50" name="Text 48"/>
          <p:cNvSpPr txBox="1"/>
          <p:nvPr/>
        </p:nvSpPr>
        <p:spPr>
          <a:xfrm>
            <a:off x="9540357"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51" name="Shape 49"/>
          <p:cNvSpPr/>
          <p:nvPr/>
        </p:nvSpPr>
        <p:spPr>
          <a:xfrm>
            <a:off x="9967663" y="2606040"/>
            <a:ext cx="390730" cy="457200"/>
          </a:xfrm>
          <a:prstGeom prst="roundRect">
            <a:avLst>
              <a:gd name="adj" fmla="val 11701"/>
            </a:avLst>
          </a:prstGeom>
          <a:solidFill>
            <a:srgbClr val="D7E9E6"/>
          </a:solidFill>
          <a:ln/>
        </p:spPr>
        <p:txBody>
          <a:bodyPr/>
          <a:p/>
        </p:txBody>
      </p:sp>
      <p:sp>
        <p:nvSpPr>
          <p:cNvPr id="52" name="Text 50"/>
          <p:cNvSpPr txBox="1"/>
          <p:nvPr/>
        </p:nvSpPr>
        <p:spPr>
          <a:xfrm>
            <a:off x="9967663"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3</a:t>
            </a:r>
            <a:endParaRPr lang="en-US" sz="1400" dirty="0"/>
          </a:p>
        </p:txBody>
      </p:sp>
      <p:sp>
        <p:nvSpPr>
          <p:cNvPr id="53" name="Shape 51"/>
          <p:cNvSpPr/>
          <p:nvPr/>
        </p:nvSpPr>
        <p:spPr>
          <a:xfrm>
            <a:off x="10394970" y="2606040"/>
            <a:ext cx="390730" cy="457200"/>
          </a:xfrm>
          <a:prstGeom prst="roundRect">
            <a:avLst>
              <a:gd name="adj" fmla="val 11701"/>
            </a:avLst>
          </a:prstGeom>
          <a:solidFill>
            <a:srgbClr val="D7E9E6"/>
          </a:solidFill>
          <a:ln/>
        </p:spPr>
        <p:txBody>
          <a:bodyPr/>
          <a:p/>
        </p:txBody>
      </p:sp>
      <p:sp>
        <p:nvSpPr>
          <p:cNvPr id="54" name="Text 52"/>
          <p:cNvSpPr txBox="1"/>
          <p:nvPr/>
        </p:nvSpPr>
        <p:spPr>
          <a:xfrm>
            <a:off x="10394970"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55" name="Shape 53"/>
          <p:cNvSpPr/>
          <p:nvPr/>
        </p:nvSpPr>
        <p:spPr>
          <a:xfrm>
            <a:off x="10822276" y="2606040"/>
            <a:ext cx="390730" cy="457200"/>
          </a:xfrm>
          <a:prstGeom prst="roundRect">
            <a:avLst>
              <a:gd name="adj" fmla="val 11701"/>
            </a:avLst>
          </a:prstGeom>
          <a:solidFill>
            <a:srgbClr val="D7E9E6"/>
          </a:solidFill>
          <a:ln/>
        </p:spPr>
        <p:txBody>
          <a:bodyPr/>
          <a:p/>
        </p:txBody>
      </p:sp>
      <p:sp>
        <p:nvSpPr>
          <p:cNvPr id="56" name="Text 54"/>
          <p:cNvSpPr txBox="1"/>
          <p:nvPr/>
        </p:nvSpPr>
        <p:spPr>
          <a:xfrm>
            <a:off x="10822276"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57" name="Shape 55"/>
          <p:cNvSpPr/>
          <p:nvPr/>
        </p:nvSpPr>
        <p:spPr>
          <a:xfrm>
            <a:off x="11249582" y="2606040"/>
            <a:ext cx="390730" cy="457200"/>
          </a:xfrm>
          <a:prstGeom prst="roundRect">
            <a:avLst>
              <a:gd name="adj" fmla="val 11701"/>
            </a:avLst>
          </a:prstGeom>
          <a:solidFill>
            <a:srgbClr val="D7E9E6"/>
          </a:solidFill>
          <a:ln/>
        </p:spPr>
        <p:txBody>
          <a:bodyPr/>
          <a:p/>
        </p:txBody>
      </p:sp>
      <p:sp>
        <p:nvSpPr>
          <p:cNvPr id="58" name="Text 56"/>
          <p:cNvSpPr txBox="1"/>
          <p:nvPr/>
        </p:nvSpPr>
        <p:spPr>
          <a:xfrm>
            <a:off x="11249582" y="2606040"/>
            <a:ext cx="390730" cy="457200"/>
          </a:xfrm>
          <a:prstGeom prst="rect">
            <a:avLst/>
          </a:prstGeom>
          <a:noFill/>
          <a:ln/>
        </p:spPr>
        <p:txBody>
          <a:bodyPr wrap="square" lIns="38100" tIns="38100" rIns="38100" bIns="38100" rtlCol="0" anchor="ctr"/>
          <a:lstStyle/>
          <a:p>
            <a:pPr algn="ctr" indent="0" marL="0">
              <a:buNone/>
            </a:pPr>
            <a:r>
              <a:rPr lang="en-US" sz="1400" b="1" dirty="0">
                <a:solidFill>
                  <a:srgbClr val="212121"/>
                </a:solidFill>
                <a:latin typeface="Calibri" pitchFamily="34" charset="0"/>
                <a:ea typeface="Calibri" pitchFamily="34" charset="-122"/>
                <a:cs typeface="Calibri" pitchFamily="34" charset="-120"/>
              </a:rPr>
              <a:t>4</a:t>
            </a:r>
            <a:endParaRPr lang="en-US" sz="1400" dirty="0"/>
          </a:p>
        </p:txBody>
      </p:sp>
      <p:sp>
        <p:nvSpPr>
          <p:cNvPr id="59" name="Shape 57"/>
          <p:cNvSpPr/>
          <p:nvPr/>
        </p:nvSpPr>
        <p:spPr>
          <a:xfrm>
            <a:off x="576072" y="3291840"/>
            <a:ext cx="4218198" cy="91"/>
          </a:xfrm>
          <a:prstGeom prst="line">
            <a:avLst/>
          </a:prstGeom>
          <a:noFill/>
          <a:ln w="25400">
            <a:solidFill>
              <a:srgbClr val="028090"/>
            </a:solidFill>
            <a:prstDash val="solid"/>
          </a:ln>
        </p:spPr>
        <p:txBody>
          <a:bodyPr/>
          <a:p/>
        </p:txBody>
      </p:sp>
      <p:sp>
        <p:nvSpPr>
          <p:cNvPr id="60" name="Shape 58"/>
          <p:cNvSpPr/>
          <p:nvPr/>
        </p:nvSpPr>
        <p:spPr>
          <a:xfrm>
            <a:off x="576072" y="3182112"/>
            <a:ext cx="91" cy="109728"/>
          </a:xfrm>
          <a:prstGeom prst="line">
            <a:avLst/>
          </a:prstGeom>
          <a:noFill/>
          <a:ln w="25400">
            <a:solidFill>
              <a:srgbClr val="028090"/>
            </a:solidFill>
            <a:prstDash val="solid"/>
          </a:ln>
        </p:spPr>
        <p:txBody>
          <a:bodyPr/>
          <a:p/>
        </p:txBody>
      </p:sp>
      <p:sp>
        <p:nvSpPr>
          <p:cNvPr id="61" name="Shape 59"/>
          <p:cNvSpPr/>
          <p:nvPr/>
        </p:nvSpPr>
        <p:spPr>
          <a:xfrm>
            <a:off x="4794270" y="3182112"/>
            <a:ext cx="91" cy="109728"/>
          </a:xfrm>
          <a:prstGeom prst="line">
            <a:avLst/>
          </a:prstGeom>
          <a:noFill/>
          <a:ln w="25400">
            <a:solidFill>
              <a:srgbClr val="028090"/>
            </a:solidFill>
            <a:prstDash val="solid"/>
          </a:ln>
        </p:spPr>
        <p:txBody>
          <a:bodyPr/>
          <a:p/>
        </p:txBody>
      </p:sp>
      <p:sp>
        <p:nvSpPr>
          <p:cNvPr id="62" name="Text 60"/>
          <p:cNvSpPr txBox="1"/>
          <p:nvPr/>
        </p:nvSpPr>
        <p:spPr>
          <a:xfrm>
            <a:off x="548640" y="3337560"/>
            <a:ext cx="4273062" cy="365760"/>
          </a:xfrm>
          <a:prstGeom prst="rect">
            <a:avLst/>
          </a:prstGeom>
          <a:noFill/>
          <a:ln/>
        </p:spPr>
        <p:txBody>
          <a:bodyPr wrap="square" lIns="0" tIns="0" rIns="0" bIns="0" rtlCol="0" anchor="t"/>
          <a:lstStyle/>
          <a:p>
            <a:pPr algn="ctr" indent="0" marL="0">
              <a:buNone/>
            </a:pPr>
            <a:r>
              <a:rPr lang="en-US" sz="1400" b="1" dirty="0">
                <a:solidFill>
                  <a:srgbClr val="028090"/>
                </a:solidFill>
                <a:latin typeface="Calibri" pitchFamily="34" charset="0"/>
                <a:ea typeface="Calibri" pitchFamily="34" charset="-122"/>
                <a:cs typeface="Calibri" pitchFamily="34" charset="-120"/>
              </a:rPr>
              <a:t>Δ = 10   →   WS(t₁) = {1, 2, 5, 6, 7}</a:t>
            </a:r>
            <a:endParaRPr lang="en-US" sz="1400" dirty="0"/>
          </a:p>
        </p:txBody>
      </p:sp>
      <p:sp>
        <p:nvSpPr>
          <p:cNvPr id="63" name="Shape 61"/>
          <p:cNvSpPr/>
          <p:nvPr/>
        </p:nvSpPr>
        <p:spPr>
          <a:xfrm>
            <a:off x="7412970" y="3291840"/>
            <a:ext cx="4218198" cy="91"/>
          </a:xfrm>
          <a:prstGeom prst="line">
            <a:avLst/>
          </a:prstGeom>
          <a:noFill/>
          <a:ln w="25400">
            <a:solidFill>
              <a:srgbClr val="028090"/>
            </a:solidFill>
            <a:prstDash val="solid"/>
          </a:ln>
        </p:spPr>
        <p:txBody>
          <a:bodyPr/>
          <a:p/>
        </p:txBody>
      </p:sp>
      <p:sp>
        <p:nvSpPr>
          <p:cNvPr id="64" name="Shape 62"/>
          <p:cNvSpPr/>
          <p:nvPr/>
        </p:nvSpPr>
        <p:spPr>
          <a:xfrm>
            <a:off x="7412970" y="3182112"/>
            <a:ext cx="91" cy="109728"/>
          </a:xfrm>
          <a:prstGeom prst="line">
            <a:avLst/>
          </a:prstGeom>
          <a:noFill/>
          <a:ln w="25400">
            <a:solidFill>
              <a:srgbClr val="028090"/>
            </a:solidFill>
            <a:prstDash val="solid"/>
          </a:ln>
        </p:spPr>
        <p:txBody>
          <a:bodyPr/>
          <a:p/>
        </p:txBody>
      </p:sp>
      <p:sp>
        <p:nvSpPr>
          <p:cNvPr id="65" name="Shape 63"/>
          <p:cNvSpPr/>
          <p:nvPr/>
        </p:nvSpPr>
        <p:spPr>
          <a:xfrm>
            <a:off x="11631168" y="3182112"/>
            <a:ext cx="91" cy="109728"/>
          </a:xfrm>
          <a:prstGeom prst="line">
            <a:avLst/>
          </a:prstGeom>
          <a:noFill/>
          <a:ln w="25400">
            <a:solidFill>
              <a:srgbClr val="028090"/>
            </a:solidFill>
            <a:prstDash val="solid"/>
          </a:ln>
        </p:spPr>
        <p:txBody>
          <a:bodyPr/>
          <a:p/>
        </p:txBody>
      </p:sp>
      <p:sp>
        <p:nvSpPr>
          <p:cNvPr id="66" name="Text 64"/>
          <p:cNvSpPr txBox="1"/>
          <p:nvPr/>
        </p:nvSpPr>
        <p:spPr>
          <a:xfrm>
            <a:off x="7385538" y="3337560"/>
            <a:ext cx="4273062" cy="365760"/>
          </a:xfrm>
          <a:prstGeom prst="rect">
            <a:avLst/>
          </a:prstGeom>
          <a:noFill/>
          <a:ln/>
        </p:spPr>
        <p:txBody>
          <a:bodyPr wrap="square" lIns="0" tIns="0" rIns="0" bIns="0" rtlCol="0" anchor="t"/>
          <a:lstStyle/>
          <a:p>
            <a:pPr algn="ctr" indent="0" marL="0">
              <a:buNone/>
            </a:pPr>
            <a:r>
              <a:rPr lang="en-US" sz="1400" b="1" dirty="0">
                <a:solidFill>
                  <a:srgbClr val="028090"/>
                </a:solidFill>
                <a:latin typeface="Calibri" pitchFamily="34" charset="0"/>
                <a:ea typeface="Calibri" pitchFamily="34" charset="-122"/>
                <a:cs typeface="Calibri" pitchFamily="34" charset="-120"/>
              </a:rPr>
              <a:t>Δ = 10   →   WS(t₂) = {3, 4}</a:t>
            </a:r>
            <a:endParaRPr lang="en-US" sz="1400" dirty="0"/>
          </a:p>
        </p:txBody>
      </p:sp>
      <p:sp>
        <p:nvSpPr>
          <p:cNvPr id="67" name="Shape 65"/>
          <p:cNvSpPr/>
          <p:nvPr/>
        </p:nvSpPr>
        <p:spPr>
          <a:xfrm>
            <a:off x="4608048" y="2240280"/>
            <a:ext cx="91" cy="329184"/>
          </a:xfrm>
          <a:prstGeom prst="line">
            <a:avLst/>
          </a:prstGeom>
          <a:noFill/>
          <a:ln w="19050">
            <a:solidFill>
              <a:srgbClr val="36454F"/>
            </a:solidFill>
            <a:prstDash val="solid"/>
            <a:tailEnd type="triangle"/>
          </a:ln>
        </p:spPr>
        <p:txBody>
          <a:bodyPr/>
          <a:p/>
        </p:txBody>
      </p:sp>
      <p:sp>
        <p:nvSpPr>
          <p:cNvPr id="68" name="Text 66"/>
          <p:cNvSpPr txBox="1"/>
          <p:nvPr/>
        </p:nvSpPr>
        <p:spPr>
          <a:xfrm>
            <a:off x="4333728" y="1984248"/>
            <a:ext cx="548640" cy="274320"/>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t₁</a:t>
            </a:r>
            <a:endParaRPr lang="en-US" sz="1300" dirty="0"/>
          </a:p>
        </p:txBody>
      </p:sp>
      <p:sp>
        <p:nvSpPr>
          <p:cNvPr id="69" name="Shape 67"/>
          <p:cNvSpPr/>
          <p:nvPr/>
        </p:nvSpPr>
        <p:spPr>
          <a:xfrm>
            <a:off x="11444947" y="2240280"/>
            <a:ext cx="91" cy="329184"/>
          </a:xfrm>
          <a:prstGeom prst="line">
            <a:avLst/>
          </a:prstGeom>
          <a:noFill/>
          <a:ln w="19050">
            <a:solidFill>
              <a:srgbClr val="36454F"/>
            </a:solidFill>
            <a:prstDash val="solid"/>
            <a:tailEnd type="triangle"/>
          </a:ln>
        </p:spPr>
        <p:txBody>
          <a:bodyPr/>
          <a:p/>
        </p:txBody>
      </p:sp>
      <p:sp>
        <p:nvSpPr>
          <p:cNvPr id="70" name="Text 68"/>
          <p:cNvSpPr txBox="1"/>
          <p:nvPr/>
        </p:nvSpPr>
        <p:spPr>
          <a:xfrm>
            <a:off x="11170627" y="1984248"/>
            <a:ext cx="548640" cy="274320"/>
          </a:xfrm>
          <a:prstGeom prst="rect">
            <a:avLst/>
          </a:prstGeom>
          <a:noFill/>
          <a:ln/>
        </p:spPr>
        <p:txBody>
          <a:bodyPr wrap="square" lIns="0" tIns="0" rIns="0" bIns="0" rtlCol="0" anchor="t"/>
          <a:lstStyle/>
          <a:p>
            <a:pPr algn="ctr" indent="0" marL="0">
              <a:buNone/>
            </a:pPr>
            <a:r>
              <a:rPr lang="en-US" sz="1300" b="1" dirty="0">
                <a:solidFill>
                  <a:srgbClr val="36454F"/>
                </a:solidFill>
                <a:latin typeface="Calibri" pitchFamily="34" charset="0"/>
                <a:ea typeface="Calibri" pitchFamily="34" charset="-122"/>
                <a:cs typeface="Calibri" pitchFamily="34" charset="-120"/>
              </a:rPr>
              <a:t>t₂</a:t>
            </a:r>
            <a:endParaRPr lang="en-US" sz="1300" dirty="0"/>
          </a:p>
        </p:txBody>
      </p:sp>
      <p:sp>
        <p:nvSpPr>
          <p:cNvPr id="71" name="Shape 69"/>
          <p:cNvSpPr/>
          <p:nvPr/>
        </p:nvSpPr>
        <p:spPr>
          <a:xfrm>
            <a:off x="54864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2" name="Text 70"/>
          <p:cNvSpPr txBox="1"/>
          <p:nvPr/>
        </p:nvSpPr>
        <p:spPr>
          <a:xfrm>
            <a:off x="777240" y="42062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Rule of the OS</a:t>
            </a:r>
            <a:endParaRPr lang="en-US" sz="1500" dirty="0"/>
          </a:p>
        </p:txBody>
      </p:sp>
      <p:sp>
        <p:nvSpPr>
          <p:cNvPr id="73" name="Text 71"/>
          <p:cNvSpPr txBox="1"/>
          <p:nvPr/>
        </p:nvSpPr>
        <p:spPr>
          <a:xfrm>
            <a:off x="777240" y="4663440"/>
            <a:ext cx="4983480" cy="14630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Give each process at least |WS| frames (its working-set size).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Total demand D = Σ |WSᵢ|. If D &gt; number of frames m: thrashing ahead → suspend a process.</a:t>
            </a:r>
            <a:endParaRPr lang="en-US" sz="1400" dirty="0"/>
          </a:p>
        </p:txBody>
      </p:sp>
      <p:sp>
        <p:nvSpPr>
          <p:cNvPr id="74" name="Shape 72"/>
          <p:cNvSpPr/>
          <p:nvPr/>
        </p:nvSpPr>
        <p:spPr>
          <a:xfrm>
            <a:off x="621792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5" name="Text 73"/>
          <p:cNvSpPr txBox="1"/>
          <p:nvPr/>
        </p:nvSpPr>
        <p:spPr>
          <a:xfrm>
            <a:off x="6446520" y="4206240"/>
            <a:ext cx="49834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Choosing Δ</a:t>
            </a:r>
            <a:endParaRPr lang="en-US" sz="1500" dirty="0"/>
          </a:p>
        </p:txBody>
      </p:sp>
      <p:sp>
        <p:nvSpPr>
          <p:cNvPr id="76" name="Text 74"/>
          <p:cNvSpPr txBox="1"/>
          <p:nvPr/>
        </p:nvSpPr>
        <p:spPr>
          <a:xfrm>
            <a:off x="6446520" y="4663440"/>
            <a:ext cx="4983480" cy="14630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Δ too small: misses part of the locality.</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Δ too large: covers several localities, wastes frames.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Simpler cousin: watch the page-fault frequency and give frames to processes that fault too often.</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INTERMISSION</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10-Minute Break</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Next: file systems — files, access methods, directories and Linux links.</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7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251460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PART 2</a:t>
            </a:r>
            <a:endParaRPr lang="en-US" sz="1300" dirty="0"/>
          </a:p>
        </p:txBody>
      </p:sp>
      <p:sp>
        <p:nvSpPr>
          <p:cNvPr id="3" name="Text 1"/>
          <p:cNvSpPr txBox="1"/>
          <p:nvPr/>
        </p:nvSpPr>
        <p:spPr>
          <a:xfrm>
            <a:off x="548640" y="2880360"/>
            <a:ext cx="10972800" cy="86868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File Systems</a:t>
            </a:r>
            <a:endParaRPr lang="en-US" sz="3800" dirty="0"/>
          </a:p>
        </p:txBody>
      </p:sp>
      <p:sp>
        <p:nvSpPr>
          <p:cNvPr id="4" name="Text 2"/>
          <p:cNvSpPr txBox="1"/>
          <p:nvPr/>
        </p:nvSpPr>
        <p:spPr>
          <a:xfrm>
            <a:off x="548640" y="3794760"/>
            <a:ext cx="10515600" cy="457200"/>
          </a:xfrm>
          <a:prstGeom prst="rect">
            <a:avLst/>
          </a:prstGeom>
          <a:noFill/>
          <a:ln/>
        </p:spPr>
        <p:txBody>
          <a:bodyPr wrap="square" lIns="0" tIns="0" rIns="0" bIns="0" rtlCol="0" anchor="ctr"/>
          <a:lstStyle/>
          <a:p>
            <a:pPr indent="0" marL="0">
              <a:buNone/>
            </a:pPr>
            <a:r>
              <a:rPr lang="en-US" sz="1600" i="1" dirty="0">
                <a:solidFill>
                  <a:srgbClr val="F2F2F2"/>
                </a:solidFill>
                <a:latin typeface="Calibri" pitchFamily="34" charset="0"/>
                <a:ea typeface="Calibri" pitchFamily="34" charset="-122"/>
                <a:cs typeface="Calibri" pitchFamily="34" charset="-120"/>
              </a:rPr>
              <a:t>The most visible part of the operating system.</a:t>
            </a:r>
            <a:endParaRPr lang="en-US" sz="16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7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FILE CONCEPT</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 File and Its Attributes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file is a named collection of related information stored on secondary storage — the smallest unit a user can save.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24</a:t>
            </a:r>
            <a:endParaRPr lang="en-US" sz="9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109960" cy="914400"/>
        </p:xfrm>
        <a:graphic>
          <a:graphicData uri="http://schemas.openxmlformats.org/drawingml/2006/table">
            <a:tbl>
              <a:tblPr/>
              <a:tblGrid>
                <a:gridCol w="1920240"/>
                <a:gridCol w="4983480"/>
                <a:gridCol w="4206240"/>
              </a:tblGrid>
              <a:tr h="0">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Attribute</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Meaning</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550" b="1" dirty="0">
                          <a:solidFill>
                            <a:srgbClr val="FFFFFF"/>
                          </a:solidFill>
                          <a:latin typeface="Cambria" pitchFamily="34" charset="0"/>
                          <a:ea typeface="Cambria" pitchFamily="34" charset="-122"/>
                          <a:cs typeface="Cambria" pitchFamily="34" charset="-120"/>
                        </a:rPr>
                        <a:t>Example (Linux, notes.txt)</a:t>
                      </a:r>
                      <a:endParaRPr lang="en-US" sz="155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Name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Human-readable; in Linux kept in the directory, not with the other attributes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notes.txt</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Identifier</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Unique number inside the file system</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inode 368662</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Type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Regular file, directory, link, device, …</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regular file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Location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Where the data blocks are on the device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block pointers in the inode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Size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Current size in bytes (or blocks)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6 bytes (8 blocks of 512 B)</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Protection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Who may read, write, execute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-rw-rw-r--  owner student</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450" b="1" dirty="0">
                          <a:solidFill>
                            <a:srgbClr val="3A464C"/>
                          </a:solidFill>
                          <a:latin typeface="Calibri" pitchFamily="34" charset="0"/>
                          <a:ea typeface="Calibri" pitchFamily="34" charset="-122"/>
                          <a:cs typeface="Calibri" pitchFamily="34" charset="-120"/>
                        </a:rPr>
                        <a:t>Timestamps</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Creation, last access, last modification</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450" dirty="0">
                          <a:solidFill>
                            <a:srgbClr val="3A464C"/>
                          </a:solidFill>
                          <a:latin typeface="Calibri" pitchFamily="34" charset="0"/>
                          <a:ea typeface="Calibri" pitchFamily="34" charset="-122"/>
                          <a:cs typeface="Calibri" pitchFamily="34" charset="-120"/>
                        </a:rPr>
                        <a:t>Access / Modify / Change</a:t>
                      </a:r>
                      <a:endParaRPr lang="en-US" sz="14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bl>
          </a:graphicData>
        </a:graphic>
      </p:graphicFrame>
      <p:sp>
        <p:nvSpPr>
          <p:cNvPr id="8" name="Shape 5"/>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9" name="Text 6"/>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Run stat notes.txt and you see almost every row of this table. The OS keeps these attributes in a file control block (in Linux: the inode).</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FILE OPERATIONS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Eight Basic Operations on a File</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25</a:t>
            </a:r>
            <a:endParaRPr lang="en-US" sz="900" dirty="0"/>
          </a:p>
        </p:txBody>
      </p:sp>
      <p:sp>
        <p:nvSpPr>
          <p:cNvPr id="6" name="Shape 4"/>
          <p:cNvSpPr/>
          <p:nvPr/>
        </p:nvSpPr>
        <p:spPr>
          <a:xfrm>
            <a:off x="54864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create</a:t>
            </a:r>
            <a:endParaRPr lang="en-US" sz="1600" dirty="0"/>
          </a:p>
        </p:txBody>
      </p:sp>
      <p:sp>
        <p:nvSpPr>
          <p:cNvPr id="8" name="Text 6"/>
          <p:cNvSpPr txBox="1"/>
          <p:nvPr/>
        </p:nvSpPr>
        <p:spPr>
          <a:xfrm>
            <a:off x="777240" y="214884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Find space; add a directory entry.  open(…, O_CREAT)</a:t>
            </a:r>
            <a:endParaRPr lang="en-US" sz="1400" dirty="0"/>
          </a:p>
        </p:txBody>
      </p:sp>
      <p:sp>
        <p:nvSpPr>
          <p:cNvPr id="9" name="Shape 7"/>
          <p:cNvSpPr/>
          <p:nvPr/>
        </p:nvSpPr>
        <p:spPr>
          <a:xfrm>
            <a:off x="338328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open</a:t>
            </a:r>
            <a:endParaRPr lang="en-US" sz="1600" dirty="0"/>
          </a:p>
        </p:txBody>
      </p:sp>
      <p:sp>
        <p:nvSpPr>
          <p:cNvPr id="11" name="Text 9"/>
          <p:cNvSpPr txBox="1"/>
          <p:nvPr/>
        </p:nvSpPr>
        <p:spPr>
          <a:xfrm>
            <a:off x="3611880" y="214884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Look up the name once; get a file descriptor.  open()</a:t>
            </a:r>
            <a:endParaRPr lang="en-US" sz="1400" dirty="0"/>
          </a:p>
        </p:txBody>
      </p:sp>
      <p:sp>
        <p:nvSpPr>
          <p:cNvPr id="12" name="Shape 10"/>
          <p:cNvSpPr/>
          <p:nvPr/>
        </p:nvSpPr>
        <p:spPr>
          <a:xfrm>
            <a:off x="621792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read</a:t>
            </a:r>
            <a:endParaRPr lang="en-US" sz="1600" dirty="0"/>
          </a:p>
        </p:txBody>
      </p:sp>
      <p:sp>
        <p:nvSpPr>
          <p:cNvPr id="14" name="Text 12"/>
          <p:cNvSpPr txBox="1"/>
          <p:nvPr/>
        </p:nvSpPr>
        <p:spPr>
          <a:xfrm>
            <a:off x="6446520" y="214884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Copy bytes from the current position.  read()</a:t>
            </a:r>
            <a:endParaRPr lang="en-US" sz="1400" dirty="0"/>
          </a:p>
        </p:txBody>
      </p:sp>
      <p:sp>
        <p:nvSpPr>
          <p:cNvPr id="15" name="Shape 13"/>
          <p:cNvSpPr/>
          <p:nvPr/>
        </p:nvSpPr>
        <p:spPr>
          <a:xfrm>
            <a:off x="9052560" y="150876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write</a:t>
            </a:r>
            <a:endParaRPr lang="en-US" sz="1600" dirty="0"/>
          </a:p>
        </p:txBody>
      </p:sp>
      <p:sp>
        <p:nvSpPr>
          <p:cNvPr id="17" name="Text 15"/>
          <p:cNvSpPr txBox="1"/>
          <p:nvPr/>
        </p:nvSpPr>
        <p:spPr>
          <a:xfrm>
            <a:off x="9281160" y="214884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Copy bytes to the current position.  write()</a:t>
            </a:r>
            <a:endParaRPr lang="en-US" sz="1400" dirty="0"/>
          </a:p>
        </p:txBody>
      </p:sp>
      <p:sp>
        <p:nvSpPr>
          <p:cNvPr id="18" name="Shape 16"/>
          <p:cNvSpPr/>
          <p:nvPr/>
        </p:nvSpPr>
        <p:spPr>
          <a:xfrm>
            <a:off x="54864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368046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seek</a:t>
            </a:r>
            <a:endParaRPr lang="en-US" sz="1600" dirty="0"/>
          </a:p>
        </p:txBody>
      </p:sp>
      <p:sp>
        <p:nvSpPr>
          <p:cNvPr id="20" name="Text 18"/>
          <p:cNvSpPr txBox="1"/>
          <p:nvPr/>
        </p:nvSpPr>
        <p:spPr>
          <a:xfrm>
            <a:off x="777240" y="413766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Move the current position — no I/O.  lseek()</a:t>
            </a:r>
            <a:endParaRPr lang="en-US" sz="1400" dirty="0"/>
          </a:p>
        </p:txBody>
      </p:sp>
      <p:sp>
        <p:nvSpPr>
          <p:cNvPr id="21" name="Shape 19"/>
          <p:cNvSpPr/>
          <p:nvPr/>
        </p:nvSpPr>
        <p:spPr>
          <a:xfrm>
            <a:off x="338328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3611880" y="368046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close</a:t>
            </a:r>
            <a:endParaRPr lang="en-US" sz="1600" dirty="0"/>
          </a:p>
        </p:txBody>
      </p:sp>
      <p:sp>
        <p:nvSpPr>
          <p:cNvPr id="23" name="Text 21"/>
          <p:cNvSpPr txBox="1"/>
          <p:nvPr/>
        </p:nvSpPr>
        <p:spPr>
          <a:xfrm>
            <a:off x="3611880" y="413766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Release the open-file table entry.  close()</a:t>
            </a:r>
            <a:endParaRPr lang="en-US" sz="1400" dirty="0"/>
          </a:p>
        </p:txBody>
      </p:sp>
      <p:sp>
        <p:nvSpPr>
          <p:cNvPr id="24" name="Shape 22"/>
          <p:cNvSpPr/>
          <p:nvPr/>
        </p:nvSpPr>
        <p:spPr>
          <a:xfrm>
            <a:off x="621792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6446520" y="368046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delete</a:t>
            </a:r>
            <a:endParaRPr lang="en-US" sz="1600" dirty="0"/>
          </a:p>
        </p:txBody>
      </p:sp>
      <p:sp>
        <p:nvSpPr>
          <p:cNvPr id="26" name="Text 24"/>
          <p:cNvSpPr txBox="1"/>
          <p:nvPr/>
        </p:nvSpPr>
        <p:spPr>
          <a:xfrm>
            <a:off x="6446520" y="413766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Remove the name; free space when unused.  unlink()</a:t>
            </a:r>
            <a:endParaRPr lang="en-US" sz="1400" dirty="0"/>
          </a:p>
        </p:txBody>
      </p:sp>
      <p:sp>
        <p:nvSpPr>
          <p:cNvPr id="27" name="Shape 25"/>
          <p:cNvSpPr/>
          <p:nvPr/>
        </p:nvSpPr>
        <p:spPr>
          <a:xfrm>
            <a:off x="9052560" y="3497580"/>
            <a:ext cx="2606040" cy="1760220"/>
          </a:xfrm>
          <a:prstGeom prst="roundRect">
            <a:avLst>
              <a:gd name="adj" fmla="val 311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9281160" y="368046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truncate</a:t>
            </a:r>
            <a:endParaRPr lang="en-US" sz="1600" dirty="0"/>
          </a:p>
        </p:txBody>
      </p:sp>
      <p:sp>
        <p:nvSpPr>
          <p:cNvPr id="29" name="Text 27"/>
          <p:cNvSpPr txBox="1"/>
          <p:nvPr/>
        </p:nvSpPr>
        <p:spPr>
          <a:xfrm>
            <a:off x="9281160" y="4137660"/>
            <a:ext cx="2148840" cy="982980"/>
          </a:xfrm>
          <a:prstGeom prst="rect">
            <a:avLst/>
          </a:prstGeom>
          <a:noFill/>
          <a:ln/>
        </p:spPr>
        <p:txBody>
          <a:bodyPr wrap="square" lIns="0" tIns="0" rIns="0" bIns="0" rtlCol="0" anchor="t"/>
          <a:lstStyle/>
          <a:p>
            <a:pPr indent="0" marL="0">
              <a:spcAft>
                <a:spcPts val="400"/>
              </a:spcAft>
              <a:buNone/>
            </a:pPr>
            <a:r>
              <a:rPr lang="en-US" sz="1400" dirty="0">
                <a:solidFill>
                  <a:srgbClr val="3A464C"/>
                </a:solidFill>
                <a:latin typeface="Calibri" pitchFamily="34" charset="0"/>
                <a:ea typeface="Calibri" pitchFamily="34" charset="-122"/>
                <a:cs typeface="Calibri" pitchFamily="34" charset="-120"/>
              </a:rPr>
              <a:t>Erase contents, keep attributes.  truncate()</a:t>
            </a:r>
            <a:endParaRPr lang="en-US" sz="1400" dirty="0"/>
          </a:p>
        </p:txBody>
      </p:sp>
      <p:sp>
        <p:nvSpPr>
          <p:cNvPr id="30" name="Shape 28"/>
          <p:cNvSpPr/>
          <p:nvPr/>
        </p:nvSpPr>
        <p:spPr>
          <a:xfrm>
            <a:off x="548640" y="5486400"/>
            <a:ext cx="11109960" cy="777240"/>
          </a:xfrm>
          <a:prstGeom prst="roundRect">
            <a:avLst>
              <a:gd name="adj" fmla="val 705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777240" y="5486400"/>
            <a:ext cx="10652760" cy="77724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Open once, then use the small integer (file descriptor) for every read/write: the OS does not have to search the directory again. 0, 1, 2 are already open: stdin, stdout, stderr (Week 2).</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FILE OPERATIONS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The Open-File Tables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open() does the slow work once (directory search, permission check) and remembers the result in tables.</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26</a:t>
            </a:r>
            <a:endParaRPr lang="en-US" sz="900" dirty="0"/>
          </a:p>
        </p:txBody>
      </p:sp>
      <p:sp>
        <p:nvSpPr>
          <p:cNvPr id="7" name="Text 5"/>
          <p:cNvSpPr txBox="1"/>
          <p:nvPr/>
        </p:nvSpPr>
        <p:spPr>
          <a:xfrm>
            <a:off x="548640" y="1892808"/>
            <a:ext cx="219456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Process A: per-process table</a:t>
            </a:r>
            <a:endParaRPr lang="en-US" sz="1200" dirty="0"/>
          </a:p>
        </p:txBody>
      </p:sp>
      <p:sp>
        <p:nvSpPr>
          <p:cNvPr id="8" name="Shape 6"/>
          <p:cNvSpPr/>
          <p:nvPr/>
        </p:nvSpPr>
        <p:spPr>
          <a:xfrm>
            <a:off x="548640" y="2240280"/>
            <a:ext cx="2194560" cy="347472"/>
          </a:xfrm>
          <a:prstGeom prst="roundRect">
            <a:avLst>
              <a:gd name="adj" fmla="val 13158"/>
            </a:avLst>
          </a:prstGeom>
          <a:solidFill>
            <a:srgbClr val="F2F2F2"/>
          </a:solidFill>
          <a:ln/>
        </p:spPr>
        <p:txBody>
          <a:bodyPr/>
          <a:p/>
        </p:txBody>
      </p:sp>
      <p:sp>
        <p:nvSpPr>
          <p:cNvPr id="9" name="Text 7"/>
          <p:cNvSpPr txBox="1"/>
          <p:nvPr/>
        </p:nvSpPr>
        <p:spPr>
          <a:xfrm>
            <a:off x="548640" y="2240280"/>
            <a:ext cx="219456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onsolas" pitchFamily="34" charset="0"/>
                <a:ea typeface="Consolas" pitchFamily="34" charset="-122"/>
                <a:cs typeface="Consolas" pitchFamily="34" charset="-120"/>
              </a:rPr>
              <a:t>fd 0  stdin</a:t>
            </a:r>
            <a:endParaRPr lang="en-US" sz="1100" dirty="0"/>
          </a:p>
        </p:txBody>
      </p:sp>
      <p:sp>
        <p:nvSpPr>
          <p:cNvPr id="10" name="Shape 8"/>
          <p:cNvSpPr/>
          <p:nvPr/>
        </p:nvSpPr>
        <p:spPr>
          <a:xfrm>
            <a:off x="548640" y="2624328"/>
            <a:ext cx="2194560" cy="347472"/>
          </a:xfrm>
          <a:prstGeom prst="roundRect">
            <a:avLst>
              <a:gd name="adj" fmla="val 13158"/>
            </a:avLst>
          </a:prstGeom>
          <a:solidFill>
            <a:srgbClr val="F2F2F2"/>
          </a:solidFill>
          <a:ln/>
        </p:spPr>
        <p:txBody>
          <a:bodyPr/>
          <a:p/>
        </p:txBody>
      </p:sp>
      <p:sp>
        <p:nvSpPr>
          <p:cNvPr id="11" name="Text 9"/>
          <p:cNvSpPr txBox="1"/>
          <p:nvPr/>
        </p:nvSpPr>
        <p:spPr>
          <a:xfrm>
            <a:off x="548640" y="2624328"/>
            <a:ext cx="219456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onsolas" pitchFamily="34" charset="0"/>
                <a:ea typeface="Consolas" pitchFamily="34" charset="-122"/>
                <a:cs typeface="Consolas" pitchFamily="34" charset="-120"/>
              </a:rPr>
              <a:t>fd 1  stdout</a:t>
            </a:r>
            <a:endParaRPr lang="en-US" sz="1100" dirty="0"/>
          </a:p>
        </p:txBody>
      </p:sp>
      <p:sp>
        <p:nvSpPr>
          <p:cNvPr id="12" name="Shape 10"/>
          <p:cNvSpPr/>
          <p:nvPr/>
        </p:nvSpPr>
        <p:spPr>
          <a:xfrm>
            <a:off x="548640" y="3008376"/>
            <a:ext cx="2194560" cy="347472"/>
          </a:xfrm>
          <a:prstGeom prst="roundRect">
            <a:avLst>
              <a:gd name="adj" fmla="val 13158"/>
            </a:avLst>
          </a:prstGeom>
          <a:solidFill>
            <a:srgbClr val="D7E9E6"/>
          </a:solidFill>
          <a:ln/>
        </p:spPr>
        <p:txBody>
          <a:bodyPr/>
          <a:p/>
        </p:txBody>
      </p:sp>
      <p:sp>
        <p:nvSpPr>
          <p:cNvPr id="13" name="Text 11"/>
          <p:cNvSpPr txBox="1"/>
          <p:nvPr/>
        </p:nvSpPr>
        <p:spPr>
          <a:xfrm>
            <a:off x="548640" y="3008376"/>
            <a:ext cx="219456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onsolas" pitchFamily="34" charset="0"/>
                <a:ea typeface="Consolas" pitchFamily="34" charset="-122"/>
                <a:cs typeface="Consolas" pitchFamily="34" charset="-120"/>
              </a:rPr>
              <a:t>fd 3  pos = 96</a:t>
            </a:r>
            <a:endParaRPr lang="en-US" sz="1100" dirty="0"/>
          </a:p>
        </p:txBody>
      </p:sp>
      <p:sp>
        <p:nvSpPr>
          <p:cNvPr id="14" name="Text 12"/>
          <p:cNvSpPr txBox="1"/>
          <p:nvPr/>
        </p:nvSpPr>
        <p:spPr>
          <a:xfrm>
            <a:off x="548640" y="3858768"/>
            <a:ext cx="219456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Process B: per-process table</a:t>
            </a:r>
            <a:endParaRPr lang="en-US" sz="1200" dirty="0"/>
          </a:p>
        </p:txBody>
      </p:sp>
      <p:sp>
        <p:nvSpPr>
          <p:cNvPr id="15" name="Shape 13"/>
          <p:cNvSpPr/>
          <p:nvPr/>
        </p:nvSpPr>
        <p:spPr>
          <a:xfrm>
            <a:off x="548640" y="4206240"/>
            <a:ext cx="2194560" cy="347472"/>
          </a:xfrm>
          <a:prstGeom prst="roundRect">
            <a:avLst>
              <a:gd name="adj" fmla="val 13158"/>
            </a:avLst>
          </a:prstGeom>
          <a:solidFill>
            <a:srgbClr val="F2F2F2"/>
          </a:solidFill>
          <a:ln/>
        </p:spPr>
        <p:txBody>
          <a:bodyPr/>
          <a:p/>
        </p:txBody>
      </p:sp>
      <p:sp>
        <p:nvSpPr>
          <p:cNvPr id="16" name="Text 14"/>
          <p:cNvSpPr txBox="1"/>
          <p:nvPr/>
        </p:nvSpPr>
        <p:spPr>
          <a:xfrm>
            <a:off x="548640" y="4206240"/>
            <a:ext cx="219456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onsolas" pitchFamily="34" charset="0"/>
                <a:ea typeface="Consolas" pitchFamily="34" charset="-122"/>
                <a:cs typeface="Consolas" pitchFamily="34" charset="-120"/>
              </a:rPr>
              <a:t>fd 0  stdin</a:t>
            </a:r>
            <a:endParaRPr lang="en-US" sz="1100" dirty="0"/>
          </a:p>
        </p:txBody>
      </p:sp>
      <p:sp>
        <p:nvSpPr>
          <p:cNvPr id="17" name="Shape 15"/>
          <p:cNvSpPr/>
          <p:nvPr/>
        </p:nvSpPr>
        <p:spPr>
          <a:xfrm>
            <a:off x="548640" y="4590288"/>
            <a:ext cx="2194560" cy="347472"/>
          </a:xfrm>
          <a:prstGeom prst="roundRect">
            <a:avLst>
              <a:gd name="adj" fmla="val 13158"/>
            </a:avLst>
          </a:prstGeom>
          <a:solidFill>
            <a:srgbClr val="D7E9E6"/>
          </a:solidFill>
          <a:ln/>
        </p:spPr>
        <p:txBody>
          <a:bodyPr/>
          <a:p/>
        </p:txBody>
      </p:sp>
      <p:sp>
        <p:nvSpPr>
          <p:cNvPr id="18" name="Text 16"/>
          <p:cNvSpPr txBox="1"/>
          <p:nvPr/>
        </p:nvSpPr>
        <p:spPr>
          <a:xfrm>
            <a:off x="548640" y="4590288"/>
            <a:ext cx="2194560" cy="347472"/>
          </a:xfrm>
          <a:prstGeom prst="rect">
            <a:avLst/>
          </a:prstGeom>
          <a:noFill/>
          <a:ln/>
        </p:spPr>
        <p:txBody>
          <a:bodyPr wrap="square" lIns="38100" tIns="38100" rIns="38100" bIns="38100" rtlCol="0" anchor="ctr"/>
          <a:lstStyle/>
          <a:p>
            <a:pPr algn="ctr" indent="0" marL="0">
              <a:buNone/>
            </a:pPr>
            <a:r>
              <a:rPr lang="en-US" sz="1100" dirty="0">
                <a:solidFill>
                  <a:srgbClr val="36454F"/>
                </a:solidFill>
                <a:latin typeface="Consolas" pitchFamily="34" charset="0"/>
                <a:ea typeface="Consolas" pitchFamily="34" charset="-122"/>
                <a:cs typeface="Consolas" pitchFamily="34" charset="-120"/>
              </a:rPr>
              <a:t>fd 4  pos = 0</a:t>
            </a:r>
            <a:endParaRPr lang="en-US" sz="1100" dirty="0"/>
          </a:p>
        </p:txBody>
      </p:sp>
      <p:sp>
        <p:nvSpPr>
          <p:cNvPr id="19" name="Text 17"/>
          <p:cNvSpPr txBox="1"/>
          <p:nvPr/>
        </p:nvSpPr>
        <p:spPr>
          <a:xfrm>
            <a:off x="3657600" y="1892808"/>
            <a:ext cx="274320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System-wide open-file table</a:t>
            </a:r>
            <a:endParaRPr lang="en-US" sz="1200" dirty="0"/>
          </a:p>
        </p:txBody>
      </p:sp>
      <p:sp>
        <p:nvSpPr>
          <p:cNvPr id="20" name="Shape 18"/>
          <p:cNvSpPr/>
          <p:nvPr/>
        </p:nvSpPr>
        <p:spPr>
          <a:xfrm>
            <a:off x="3657600" y="2606040"/>
            <a:ext cx="2651760" cy="1143000"/>
          </a:xfrm>
          <a:prstGeom prst="roundRect">
            <a:avLst>
              <a:gd name="adj" fmla="val 4000"/>
            </a:avLst>
          </a:prstGeom>
          <a:solidFill>
            <a:srgbClr val="36454F"/>
          </a:solidFill>
          <a:ln/>
        </p:spPr>
        <p:txBody>
          <a:bodyPr/>
          <a:p/>
        </p:txBody>
      </p:sp>
      <p:sp>
        <p:nvSpPr>
          <p:cNvPr id="21" name="Text 19"/>
          <p:cNvSpPr txBox="1"/>
          <p:nvPr/>
        </p:nvSpPr>
        <p:spPr>
          <a:xfrm>
            <a:off x="3657600" y="2606040"/>
            <a:ext cx="2651760" cy="114300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students.dat</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open count = 2</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size, location on disk</a:t>
            </a:r>
            <a:endParaRPr lang="en-US" sz="1300" dirty="0"/>
          </a:p>
        </p:txBody>
      </p:sp>
      <p:sp>
        <p:nvSpPr>
          <p:cNvPr id="22" name="Shape 20"/>
          <p:cNvSpPr/>
          <p:nvPr/>
        </p:nvSpPr>
        <p:spPr>
          <a:xfrm>
            <a:off x="3657600" y="3931920"/>
            <a:ext cx="2651760" cy="548640"/>
          </a:xfrm>
          <a:prstGeom prst="roundRect">
            <a:avLst>
              <a:gd name="adj" fmla="val 8333"/>
            </a:avLst>
          </a:prstGeom>
          <a:solidFill>
            <a:srgbClr val="F2F2F2"/>
          </a:solidFill>
          <a:ln/>
        </p:spPr>
        <p:txBody>
          <a:bodyPr/>
          <a:p/>
        </p:txBody>
      </p:sp>
      <p:sp>
        <p:nvSpPr>
          <p:cNvPr id="23" name="Text 21"/>
          <p:cNvSpPr txBox="1"/>
          <p:nvPr/>
        </p:nvSpPr>
        <p:spPr>
          <a:xfrm>
            <a:off x="3657600" y="3931920"/>
            <a:ext cx="2651760" cy="548640"/>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alibri" pitchFamily="34" charset="0"/>
                <a:ea typeface="Calibri" pitchFamily="34" charset="-122"/>
                <a:cs typeface="Calibri" pitchFamily="34" charset="-120"/>
              </a:rPr>
              <a:t>other open files …</a:t>
            </a:r>
            <a:endParaRPr lang="en-US" sz="1200" dirty="0"/>
          </a:p>
        </p:txBody>
      </p:sp>
      <p:sp>
        <p:nvSpPr>
          <p:cNvPr id="24" name="Shape 22"/>
          <p:cNvSpPr/>
          <p:nvPr/>
        </p:nvSpPr>
        <p:spPr>
          <a:xfrm flipV="1">
            <a:off x="2761488" y="3108960"/>
            <a:ext cx="877824" cy="73152"/>
          </a:xfrm>
          <a:prstGeom prst="line">
            <a:avLst/>
          </a:prstGeom>
          <a:noFill/>
          <a:ln w="22225">
            <a:solidFill>
              <a:srgbClr val="028090"/>
            </a:solidFill>
            <a:prstDash val="solid"/>
            <a:tailEnd type="triangle"/>
          </a:ln>
        </p:spPr>
        <p:txBody>
          <a:bodyPr/>
          <a:p/>
        </p:txBody>
      </p:sp>
      <p:sp>
        <p:nvSpPr>
          <p:cNvPr id="25" name="Shape 23"/>
          <p:cNvSpPr/>
          <p:nvPr/>
        </p:nvSpPr>
        <p:spPr>
          <a:xfrm flipV="1">
            <a:off x="2761488" y="3474720"/>
            <a:ext cx="877824" cy="1115568"/>
          </a:xfrm>
          <a:prstGeom prst="line">
            <a:avLst/>
          </a:prstGeom>
          <a:noFill/>
          <a:ln w="22225">
            <a:solidFill>
              <a:srgbClr val="028090"/>
            </a:solidFill>
            <a:prstDash val="solid"/>
            <a:tailEnd type="triangle"/>
          </a:ln>
        </p:spPr>
        <p:txBody>
          <a:bodyPr/>
          <a:p/>
        </p:txBody>
      </p:sp>
      <p:sp>
        <p:nvSpPr>
          <p:cNvPr id="26" name="Shape 24"/>
          <p:cNvSpPr/>
          <p:nvPr/>
        </p:nvSpPr>
        <p:spPr>
          <a:xfrm>
            <a:off x="6858000" y="2468880"/>
            <a:ext cx="1463040" cy="1463040"/>
          </a:xfrm>
          <a:prstGeom prst="can">
            <a:avLst/>
          </a:prstGeom>
          <a:solidFill>
            <a:srgbClr val="50808E"/>
          </a:solidFill>
          <a:ln/>
        </p:spPr>
        <p:txBody>
          <a:bodyPr/>
          <a:p/>
        </p:txBody>
      </p:sp>
      <p:sp>
        <p:nvSpPr>
          <p:cNvPr id="27" name="Text 25"/>
          <p:cNvSpPr txBox="1"/>
          <p:nvPr/>
        </p:nvSpPr>
        <p:spPr>
          <a:xfrm>
            <a:off x="6858000" y="2761488"/>
            <a:ext cx="1463040" cy="1170432"/>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Disk</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file control block / inode</a:t>
            </a:r>
            <a:endParaRPr lang="en-US" sz="1300" dirty="0"/>
          </a:p>
        </p:txBody>
      </p:sp>
      <p:sp>
        <p:nvSpPr>
          <p:cNvPr id="28" name="Shape 26"/>
          <p:cNvSpPr/>
          <p:nvPr/>
        </p:nvSpPr>
        <p:spPr>
          <a:xfrm>
            <a:off x="6327648" y="3172968"/>
            <a:ext cx="512064" cy="91"/>
          </a:xfrm>
          <a:prstGeom prst="line">
            <a:avLst/>
          </a:prstGeom>
          <a:noFill/>
          <a:ln w="19050">
            <a:solidFill>
              <a:srgbClr val="50808E"/>
            </a:solidFill>
            <a:prstDash val="solid"/>
            <a:tailEnd type="triangle"/>
          </a:ln>
        </p:spPr>
        <p:txBody>
          <a:bodyPr/>
          <a:p/>
        </p:txBody>
      </p:sp>
      <p:sp>
        <p:nvSpPr>
          <p:cNvPr id="29" name="Shape 27"/>
          <p:cNvSpPr/>
          <p:nvPr/>
        </p:nvSpPr>
        <p:spPr>
          <a:xfrm>
            <a:off x="8595360" y="2057400"/>
            <a:ext cx="3063240" cy="420624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0" name="Text 28"/>
          <p:cNvSpPr txBox="1"/>
          <p:nvPr/>
        </p:nvSpPr>
        <p:spPr>
          <a:xfrm>
            <a:off x="8823960" y="2240280"/>
            <a:ext cx="2606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Who keeps what</a:t>
            </a:r>
            <a:endParaRPr lang="en-US" sz="1500" dirty="0"/>
          </a:p>
        </p:txBody>
      </p:sp>
      <p:sp>
        <p:nvSpPr>
          <p:cNvPr id="31" name="Text 29"/>
          <p:cNvSpPr txBox="1"/>
          <p:nvPr/>
        </p:nvSpPr>
        <p:spPr>
          <a:xfrm>
            <a:off x="8823960" y="2697480"/>
            <a:ext cx="2606040" cy="3429000"/>
          </a:xfrm>
          <a:prstGeom prst="rect">
            <a:avLst/>
          </a:prstGeom>
          <a:noFill/>
          <a:ln/>
        </p:spPr>
        <p:txBody>
          <a:bodyPr wrap="square" lIns="0" tIns="0" rIns="0" bIns="0" rtlCol="0" anchor="t"/>
          <a:lstStyle/>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Per process:</a:t>
            </a:r>
            <a:r>
              <a:rPr lang="en-US" sz="1350" dirty="0">
                <a:solidFill>
                  <a:srgbClr val="3A464C"/>
                </a:solidFill>
                <a:latin typeface="Calibri" pitchFamily="34" charset="0"/>
                <a:ea typeface="Calibri" pitchFamily="34" charset="-122"/>
                <a:cs typeface="Calibri" pitchFamily="34" charset="-120"/>
              </a:rPr>
              <a:t> the file pointer (current position) and access mode.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System-wide:</a:t>
            </a:r>
            <a:r>
              <a:rPr lang="en-US" sz="1350" dirty="0">
                <a:solidFill>
                  <a:srgbClr val="3A464C"/>
                </a:solidFill>
                <a:latin typeface="Calibri" pitchFamily="34" charset="0"/>
                <a:ea typeface="Calibri" pitchFamily="34" charset="-122"/>
                <a:cs typeface="Calibri" pitchFamily="34" charset="-120"/>
              </a:rPr>
              <a:t> information shared by all users of the file, and an open count.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close() decrements the count; at 0 the entry is removed.</a:t>
            </a:r>
            <a:endParaRPr lang="en-US" sz="13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FILE TYPES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File Types and Extensions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27</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309360" cy="914400"/>
        </p:xfrm>
        <a:graphic>
          <a:graphicData uri="http://schemas.openxmlformats.org/drawingml/2006/table">
            <a:tbl>
              <a:tblPr/>
              <a:tblGrid>
                <a:gridCol w="1965960"/>
                <a:gridCol w="2240280"/>
                <a:gridCol w="2103120"/>
              </a:tblGrid>
              <a:tr h="0">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File type</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Usual extensions</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c>
                  <a:txBody>
                    <a:bodyPr/>
                    <a:lstStyle/>
                    <a:p>
                      <a:pPr indent="0" marL="0">
                        <a:buNone/>
                      </a:pPr>
                      <a:r>
                        <a:rPr lang="en-US" sz="1400" b="1" dirty="0">
                          <a:solidFill>
                            <a:srgbClr val="FFFFFF"/>
                          </a:solidFill>
                          <a:latin typeface="Cambria" pitchFamily="34" charset="0"/>
                          <a:ea typeface="Cambria" pitchFamily="34" charset="-122"/>
                          <a:cs typeface="Cambria" pitchFamily="34" charset="-120"/>
                        </a:rPr>
                        <a:t>Contents</a:t>
                      </a:r>
                      <a:endParaRPr lang="en-US" sz="1400" dirty="0">
                        <a:latin typeface="Cambria" charset="0"/>
                        <a:ea typeface="Cambria" charset="0"/>
                        <a:cs typeface="Cambria"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36454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Source code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.c  .py  .java</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program text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Object / executable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.o  .exe  (none on Linux)</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machine code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Script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.sh  .bat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commands for a shell</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Text / document</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.txt  .pdf  .docx</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text, formatted documents</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Multimedia</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.jpg  .mp3  .mp4</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image, sound, video</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2F2F2"/>
                    </a:solidFill>
                  </a:tcPr>
                </a:tc>
              </a:tr>
              <a:tr h="0">
                <a:tc>
                  <a:txBody>
                    <a:bodyPr/>
                    <a:lstStyle/>
                    <a:p>
                      <a:pPr indent="0" marL="0">
                        <a:buNone/>
                      </a:pPr>
                      <a:r>
                        <a:rPr lang="en-US" sz="1350" b="1" dirty="0">
                          <a:solidFill>
                            <a:srgbClr val="3A464C"/>
                          </a:solidFill>
                          <a:latin typeface="Calibri" pitchFamily="34" charset="0"/>
                          <a:ea typeface="Calibri" pitchFamily="34" charset="-122"/>
                          <a:cs typeface="Calibri" pitchFamily="34" charset="-120"/>
                        </a:rPr>
                        <a:t>Archive</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.zip  .tar.gz</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c>
                  <a:txBody>
                    <a:bodyPr/>
                    <a:lstStyle/>
                    <a:p>
                      <a:pPr indent="0" marL="0">
                        <a:buNone/>
                      </a:pPr>
                      <a:r>
                        <a:rPr lang="en-US" sz="1350" dirty="0">
                          <a:solidFill>
                            <a:srgbClr val="3A464C"/>
                          </a:solidFill>
                          <a:latin typeface="Calibri" pitchFamily="34" charset="0"/>
                          <a:ea typeface="Calibri" pitchFamily="34" charset="-122"/>
                          <a:cs typeface="Calibri" pitchFamily="34" charset="-120"/>
                        </a:rPr>
                        <a:t>several files, compressed</a:t>
                      </a:r>
                      <a:endParaRPr lang="en-US" sz="1350" dirty="0">
                        <a:latin typeface="Calibri" charset="0"/>
                        <a:ea typeface="Calibri" charset="0"/>
                        <a:cs typeface="Calibri" charset="0"/>
                      </a:endParaRPr>
                    </a:p>
                  </a:txBody>
                  <a:tcPr marL="101600" marR="101600" marT="63500" marB="63500" anchor="ctr">
                    <a:lnL w="6350" cap="flat" cmpd="sng" algn="ctr">
                      <a:solidFill>
                        <a:srgbClr val="DADFE1"/>
                      </a:solidFill>
                      <a:prstDash val="solid"/>
                      <a:round/>
                      <a:headEnd type="none" w="med" len="med"/>
                      <a:tailEnd type="none" w="med" len="med"/>
                    </a:lnL>
                    <a:lnR w="6350" cap="flat" cmpd="sng" algn="ctr">
                      <a:solidFill>
                        <a:srgbClr val="DADFE1"/>
                      </a:solidFill>
                      <a:prstDash val="solid"/>
                      <a:round/>
                      <a:headEnd type="none" w="med" len="med"/>
                      <a:tailEnd type="none" w="med" len="med"/>
                    </a:lnR>
                    <a:lnT w="6350" cap="flat" cmpd="sng" algn="ctr">
                      <a:solidFill>
                        <a:srgbClr val="DADFE1"/>
                      </a:solidFill>
                      <a:prstDash val="solid"/>
                      <a:round/>
                      <a:headEnd type="none" w="med" len="med"/>
                      <a:tailEnd type="none" w="med" len="med"/>
                    </a:lnT>
                    <a:lnB w="6350" cap="flat" cmpd="sng" algn="ctr">
                      <a:solidFill>
                        <a:srgbClr val="DADFE1"/>
                      </a:solidFill>
                      <a:prstDash val="solid"/>
                      <a:round/>
                      <a:headEnd type="none" w="med" len="med"/>
                      <a:tailEnd type="none" w="med" len="med"/>
                    </a:lnB>
                    <a:solidFill>
                      <a:srgbClr val="FFFFFF"/>
                    </a:solidFill>
                  </a:tcPr>
                </a:tc>
              </a:tr>
            </a:tbl>
          </a:graphicData>
        </a:graphic>
      </p:graphicFrame>
      <p:sp>
        <p:nvSpPr>
          <p:cNvPr id="7" name="Shape 4"/>
          <p:cNvSpPr/>
          <p:nvPr/>
        </p:nvSpPr>
        <p:spPr>
          <a:xfrm>
            <a:off x="7132320" y="1554480"/>
            <a:ext cx="4526280" cy="2377440"/>
          </a:xfrm>
          <a:prstGeom prst="roundRect">
            <a:avLst>
              <a:gd name="adj" fmla="val 1923"/>
            </a:avLst>
          </a:prstGeom>
          <a:solidFill>
            <a:srgbClr val="212121"/>
          </a:solidFill>
          <a:ln/>
        </p:spPr>
        <p:txBody>
          <a:bodyPr/>
          <a:p/>
        </p:txBody>
      </p:sp>
      <p:sp>
        <p:nvSpPr>
          <p:cNvPr id="8" name="Text 5"/>
          <p:cNvSpPr txBox="1"/>
          <p:nvPr/>
        </p:nvSpPr>
        <p:spPr>
          <a:xfrm>
            <a:off x="7315200" y="1664208"/>
            <a:ext cx="4160520" cy="215798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file file_access.c</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file_access.c: C source, ASCII text</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file file_access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file_access: ELF 64-bit LSB pie executable,…</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file photo.txt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photo.txt: JPEG image data, JFIF standard 1…</a:t>
            </a:r>
            <a:endParaRPr lang="en-US" sz="1100" dirty="0"/>
          </a:p>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file students.dat</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students.dat: data</a:t>
            </a:r>
            <a:endParaRPr lang="en-US" sz="1100" dirty="0"/>
          </a:p>
        </p:txBody>
      </p:sp>
      <p:sp>
        <p:nvSpPr>
          <p:cNvPr id="9" name="Shape 6"/>
          <p:cNvSpPr/>
          <p:nvPr/>
        </p:nvSpPr>
        <p:spPr>
          <a:xfrm>
            <a:off x="7132320" y="4114800"/>
            <a:ext cx="4526280" cy="2148840"/>
          </a:xfrm>
          <a:prstGeom prst="roundRect">
            <a:avLst>
              <a:gd name="adj" fmla="val 2553"/>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7"/>
          <p:cNvSpPr txBox="1"/>
          <p:nvPr/>
        </p:nvSpPr>
        <p:spPr>
          <a:xfrm>
            <a:off x="7360920" y="429768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Name vs. content</a:t>
            </a:r>
            <a:endParaRPr lang="en-US" sz="1500" dirty="0"/>
          </a:p>
        </p:txBody>
      </p:sp>
      <p:sp>
        <p:nvSpPr>
          <p:cNvPr id="11" name="Text 8"/>
          <p:cNvSpPr txBox="1"/>
          <p:nvPr/>
        </p:nvSpPr>
        <p:spPr>
          <a:xfrm>
            <a:off x="7360920" y="4754880"/>
            <a:ext cx="4069080" cy="137160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Windows uses the extension to choose a program.</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In Linux an extension is only a hint; `file` reads the content ("magic number"). photo.txt is really a JPEG.</a:t>
            </a:r>
            <a:endParaRPr lang="en-US" sz="13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ACCESS METHODS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Sequential Access vs. Direct Access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28</a:t>
            </a:r>
            <a:endParaRPr lang="en-US" sz="900" dirty="0"/>
          </a:p>
        </p:txBody>
      </p:sp>
      <p:sp>
        <p:nvSpPr>
          <p:cNvPr id="6" name="Text 4"/>
          <p:cNvSpPr txBox="1"/>
          <p:nvPr/>
        </p:nvSpPr>
        <p:spPr>
          <a:xfrm>
            <a:off x="548640" y="1554480"/>
            <a:ext cx="544068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Sequential: read next / write next / rewind</a:t>
            </a:r>
            <a:endParaRPr lang="en-US" sz="1500" dirty="0"/>
          </a:p>
        </p:txBody>
      </p:sp>
      <p:sp>
        <p:nvSpPr>
          <p:cNvPr id="7" name="Shape 5"/>
          <p:cNvSpPr/>
          <p:nvPr/>
        </p:nvSpPr>
        <p:spPr>
          <a:xfrm>
            <a:off x="548640" y="2194560"/>
            <a:ext cx="548640" cy="548640"/>
          </a:xfrm>
          <a:prstGeom prst="roundRect">
            <a:avLst>
              <a:gd name="adj" fmla="val 8333"/>
            </a:avLst>
          </a:prstGeom>
          <a:solidFill>
            <a:srgbClr val="D7E9E6"/>
          </a:solidFill>
          <a:ln/>
        </p:spPr>
        <p:txBody>
          <a:bodyPr/>
          <a:p/>
        </p:txBody>
      </p:sp>
      <p:sp>
        <p:nvSpPr>
          <p:cNvPr id="8" name="Text 6"/>
          <p:cNvSpPr txBox="1"/>
          <p:nvPr/>
        </p:nvSpPr>
        <p:spPr>
          <a:xfrm>
            <a:off x="548640"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9" name="Shape 7"/>
          <p:cNvSpPr/>
          <p:nvPr/>
        </p:nvSpPr>
        <p:spPr>
          <a:xfrm>
            <a:off x="1133856" y="2194560"/>
            <a:ext cx="548640" cy="548640"/>
          </a:xfrm>
          <a:prstGeom prst="roundRect">
            <a:avLst>
              <a:gd name="adj" fmla="val 8333"/>
            </a:avLst>
          </a:prstGeom>
          <a:solidFill>
            <a:srgbClr val="D7E9E6"/>
          </a:solidFill>
          <a:ln/>
        </p:spPr>
        <p:txBody>
          <a:bodyPr/>
          <a:p/>
        </p:txBody>
      </p:sp>
      <p:sp>
        <p:nvSpPr>
          <p:cNvPr id="10" name="Text 8"/>
          <p:cNvSpPr txBox="1"/>
          <p:nvPr/>
        </p:nvSpPr>
        <p:spPr>
          <a:xfrm>
            <a:off x="1133856"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11" name="Shape 9"/>
          <p:cNvSpPr/>
          <p:nvPr/>
        </p:nvSpPr>
        <p:spPr>
          <a:xfrm>
            <a:off x="1719072" y="2194560"/>
            <a:ext cx="548640" cy="548640"/>
          </a:xfrm>
          <a:prstGeom prst="roundRect">
            <a:avLst>
              <a:gd name="adj" fmla="val 8333"/>
            </a:avLst>
          </a:prstGeom>
          <a:solidFill>
            <a:srgbClr val="D7E9E6"/>
          </a:solidFill>
          <a:ln/>
        </p:spPr>
        <p:txBody>
          <a:bodyPr/>
          <a:p/>
        </p:txBody>
      </p:sp>
      <p:sp>
        <p:nvSpPr>
          <p:cNvPr id="12" name="Text 10"/>
          <p:cNvSpPr txBox="1"/>
          <p:nvPr/>
        </p:nvSpPr>
        <p:spPr>
          <a:xfrm>
            <a:off x="1719072"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13" name="Shape 11"/>
          <p:cNvSpPr/>
          <p:nvPr/>
        </p:nvSpPr>
        <p:spPr>
          <a:xfrm>
            <a:off x="2304288" y="2194560"/>
            <a:ext cx="548640" cy="548640"/>
          </a:xfrm>
          <a:prstGeom prst="roundRect">
            <a:avLst>
              <a:gd name="adj" fmla="val 8333"/>
            </a:avLst>
          </a:prstGeom>
          <a:solidFill>
            <a:srgbClr val="D7E9E6"/>
          </a:solidFill>
          <a:ln/>
        </p:spPr>
        <p:txBody>
          <a:bodyPr/>
          <a:p/>
        </p:txBody>
      </p:sp>
      <p:sp>
        <p:nvSpPr>
          <p:cNvPr id="14" name="Text 12"/>
          <p:cNvSpPr txBox="1"/>
          <p:nvPr/>
        </p:nvSpPr>
        <p:spPr>
          <a:xfrm>
            <a:off x="2304288"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15" name="Shape 13"/>
          <p:cNvSpPr/>
          <p:nvPr/>
        </p:nvSpPr>
        <p:spPr>
          <a:xfrm>
            <a:off x="2889504" y="2194560"/>
            <a:ext cx="548640" cy="548640"/>
          </a:xfrm>
          <a:prstGeom prst="roundRect">
            <a:avLst>
              <a:gd name="adj" fmla="val 8333"/>
            </a:avLst>
          </a:prstGeom>
          <a:solidFill>
            <a:srgbClr val="F2F2F2"/>
          </a:solidFill>
          <a:ln/>
        </p:spPr>
        <p:txBody>
          <a:bodyPr/>
          <a:p/>
        </p:txBody>
      </p:sp>
      <p:sp>
        <p:nvSpPr>
          <p:cNvPr id="16" name="Text 14"/>
          <p:cNvSpPr txBox="1"/>
          <p:nvPr/>
        </p:nvSpPr>
        <p:spPr>
          <a:xfrm>
            <a:off x="2889504"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17" name="Shape 15"/>
          <p:cNvSpPr/>
          <p:nvPr/>
        </p:nvSpPr>
        <p:spPr>
          <a:xfrm>
            <a:off x="3474720" y="2194560"/>
            <a:ext cx="548640" cy="548640"/>
          </a:xfrm>
          <a:prstGeom prst="roundRect">
            <a:avLst>
              <a:gd name="adj" fmla="val 8333"/>
            </a:avLst>
          </a:prstGeom>
          <a:solidFill>
            <a:srgbClr val="F2F2F2"/>
          </a:solidFill>
          <a:ln/>
        </p:spPr>
        <p:txBody>
          <a:bodyPr/>
          <a:p/>
        </p:txBody>
      </p:sp>
      <p:sp>
        <p:nvSpPr>
          <p:cNvPr id="18" name="Text 16"/>
          <p:cNvSpPr txBox="1"/>
          <p:nvPr/>
        </p:nvSpPr>
        <p:spPr>
          <a:xfrm>
            <a:off x="3474720"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19" name="Shape 17"/>
          <p:cNvSpPr/>
          <p:nvPr/>
        </p:nvSpPr>
        <p:spPr>
          <a:xfrm>
            <a:off x="4059936" y="2194560"/>
            <a:ext cx="548640" cy="548640"/>
          </a:xfrm>
          <a:prstGeom prst="roundRect">
            <a:avLst>
              <a:gd name="adj" fmla="val 8333"/>
            </a:avLst>
          </a:prstGeom>
          <a:solidFill>
            <a:srgbClr val="F2F2F2"/>
          </a:solidFill>
          <a:ln/>
        </p:spPr>
        <p:txBody>
          <a:bodyPr/>
          <a:p/>
        </p:txBody>
      </p:sp>
      <p:sp>
        <p:nvSpPr>
          <p:cNvPr id="20" name="Text 18"/>
          <p:cNvSpPr txBox="1"/>
          <p:nvPr/>
        </p:nvSpPr>
        <p:spPr>
          <a:xfrm>
            <a:off x="4059936"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21" name="Shape 19"/>
          <p:cNvSpPr/>
          <p:nvPr/>
        </p:nvSpPr>
        <p:spPr>
          <a:xfrm>
            <a:off x="4645152" y="2194560"/>
            <a:ext cx="548640" cy="548640"/>
          </a:xfrm>
          <a:prstGeom prst="roundRect">
            <a:avLst>
              <a:gd name="adj" fmla="val 8333"/>
            </a:avLst>
          </a:prstGeom>
          <a:solidFill>
            <a:srgbClr val="F2F2F2"/>
          </a:solidFill>
          <a:ln/>
        </p:spPr>
        <p:txBody>
          <a:bodyPr/>
          <a:p/>
        </p:txBody>
      </p:sp>
      <p:sp>
        <p:nvSpPr>
          <p:cNvPr id="22" name="Text 20"/>
          <p:cNvSpPr txBox="1"/>
          <p:nvPr/>
        </p:nvSpPr>
        <p:spPr>
          <a:xfrm>
            <a:off x="4645152"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23" name="Shape 21"/>
          <p:cNvSpPr/>
          <p:nvPr/>
        </p:nvSpPr>
        <p:spPr>
          <a:xfrm>
            <a:off x="5230368" y="2194560"/>
            <a:ext cx="548640" cy="548640"/>
          </a:xfrm>
          <a:prstGeom prst="roundRect">
            <a:avLst>
              <a:gd name="adj" fmla="val 8333"/>
            </a:avLst>
          </a:prstGeom>
          <a:solidFill>
            <a:srgbClr val="F2F2F2"/>
          </a:solidFill>
          <a:ln/>
        </p:spPr>
        <p:txBody>
          <a:bodyPr/>
          <a:p/>
        </p:txBody>
      </p:sp>
      <p:sp>
        <p:nvSpPr>
          <p:cNvPr id="24" name="Text 22"/>
          <p:cNvSpPr txBox="1"/>
          <p:nvPr/>
        </p:nvSpPr>
        <p:spPr>
          <a:xfrm>
            <a:off x="5230368" y="2194560"/>
            <a:ext cx="548640" cy="548640"/>
          </a:xfrm>
          <a:prstGeom prst="rect">
            <a:avLst/>
          </a:prstGeom>
          <a:noFill/>
          <a:ln/>
        </p:spPr>
        <p:txBody>
          <a:bodyPr wrap="square" lIns="38100" tIns="38100" rIns="38100" bIns="38100" rtlCol="0" anchor="ctr"/>
          <a:lstStyle/>
          <a:p>
            <a:pPr algn="ctr" indent="0" marL="0">
              <a:buNone/>
            </a:pPr>
            <a:endParaRPr lang="en-US" sz="1300" dirty="0"/>
          </a:p>
        </p:txBody>
      </p:sp>
      <p:sp>
        <p:nvSpPr>
          <p:cNvPr id="25" name="Text 23"/>
          <p:cNvSpPr txBox="1"/>
          <p:nvPr/>
        </p:nvSpPr>
        <p:spPr>
          <a:xfrm>
            <a:off x="457200" y="2788920"/>
            <a:ext cx="118872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beginning</a:t>
            </a:r>
            <a:endParaRPr lang="en-US" sz="1100" dirty="0"/>
          </a:p>
        </p:txBody>
      </p:sp>
      <p:sp>
        <p:nvSpPr>
          <p:cNvPr id="26" name="Text 24"/>
          <p:cNvSpPr txBox="1"/>
          <p:nvPr/>
        </p:nvSpPr>
        <p:spPr>
          <a:xfrm>
            <a:off x="5120640" y="2788920"/>
            <a:ext cx="685800" cy="274320"/>
          </a:xfrm>
          <a:prstGeom prst="rect">
            <a:avLst/>
          </a:prstGeom>
          <a:noFill/>
          <a:ln/>
        </p:spPr>
        <p:txBody>
          <a:bodyPr wrap="square" lIns="0" tIns="0" rIns="0" bIns="0" rtlCol="0" anchor="t"/>
          <a:lstStyle/>
          <a:p>
            <a:pPr algn="r" indent="0" marL="0">
              <a:buNone/>
            </a:pPr>
            <a:r>
              <a:rPr lang="en-US" sz="1100" i="1" dirty="0">
                <a:solidFill>
                  <a:srgbClr val="6B7679"/>
                </a:solidFill>
                <a:latin typeface="Calibri" pitchFamily="34" charset="0"/>
                <a:ea typeface="Calibri" pitchFamily="34" charset="-122"/>
                <a:cs typeface="Calibri" pitchFamily="34" charset="-120"/>
              </a:rPr>
              <a:t>end</a:t>
            </a:r>
            <a:endParaRPr lang="en-US" sz="1100" dirty="0"/>
          </a:p>
        </p:txBody>
      </p:sp>
      <p:sp>
        <p:nvSpPr>
          <p:cNvPr id="27" name="Shape 25"/>
          <p:cNvSpPr/>
          <p:nvPr/>
        </p:nvSpPr>
        <p:spPr>
          <a:xfrm flipV="1">
            <a:off x="2889504" y="2770632"/>
            <a:ext cx="91" cy="612648"/>
          </a:xfrm>
          <a:prstGeom prst="line">
            <a:avLst/>
          </a:prstGeom>
          <a:noFill/>
          <a:ln w="25400">
            <a:solidFill>
              <a:srgbClr val="36454F"/>
            </a:solidFill>
            <a:prstDash val="solid"/>
            <a:tailEnd type="triangle"/>
          </a:ln>
        </p:spPr>
        <p:txBody>
          <a:bodyPr/>
          <a:p/>
        </p:txBody>
      </p:sp>
      <p:sp>
        <p:nvSpPr>
          <p:cNvPr id="28" name="Text 26"/>
          <p:cNvSpPr txBox="1"/>
          <p:nvPr/>
        </p:nvSpPr>
        <p:spPr>
          <a:xfrm>
            <a:off x="2011680" y="3401568"/>
            <a:ext cx="1783080" cy="274320"/>
          </a:xfrm>
          <a:prstGeom prst="rect">
            <a:avLst/>
          </a:prstGeom>
          <a:noFill/>
          <a:ln/>
        </p:spPr>
        <p:txBody>
          <a:bodyPr wrap="square" lIns="0" tIns="0" rIns="0" bIns="0" rtlCol="0" anchor="t"/>
          <a:lstStyle/>
          <a:p>
            <a:pPr algn="ctr" indent="0" marL="0">
              <a:buNone/>
            </a:pPr>
            <a:r>
              <a:rPr lang="en-US" sz="1100" b="1" dirty="0">
                <a:solidFill>
                  <a:srgbClr val="36454F"/>
                </a:solidFill>
                <a:latin typeface="Calibri" pitchFamily="34" charset="0"/>
                <a:ea typeface="Calibri" pitchFamily="34" charset="-122"/>
                <a:cs typeface="Calibri" pitchFamily="34" charset="-120"/>
              </a:rPr>
              <a:t>current position</a:t>
            </a:r>
            <a:endParaRPr lang="en-US" sz="1100" dirty="0"/>
          </a:p>
        </p:txBody>
      </p:sp>
      <p:sp>
        <p:nvSpPr>
          <p:cNvPr id="29" name="Shape 27"/>
          <p:cNvSpPr/>
          <p:nvPr/>
        </p:nvSpPr>
        <p:spPr>
          <a:xfrm>
            <a:off x="2926080" y="2011680"/>
            <a:ext cx="1097280" cy="91"/>
          </a:xfrm>
          <a:prstGeom prst="line">
            <a:avLst/>
          </a:prstGeom>
          <a:noFill/>
          <a:ln w="25400">
            <a:solidFill>
              <a:srgbClr val="028090"/>
            </a:solidFill>
            <a:prstDash val="solid"/>
            <a:tailEnd type="triangle"/>
          </a:ln>
        </p:spPr>
        <p:txBody>
          <a:bodyPr/>
          <a:p/>
        </p:txBody>
      </p:sp>
      <p:sp>
        <p:nvSpPr>
          <p:cNvPr id="30" name="Text 28"/>
          <p:cNvSpPr txBox="1"/>
          <p:nvPr/>
        </p:nvSpPr>
        <p:spPr>
          <a:xfrm>
            <a:off x="4069080" y="1856232"/>
            <a:ext cx="1188720" cy="292608"/>
          </a:xfrm>
          <a:prstGeom prst="rect">
            <a:avLst/>
          </a:prstGeom>
          <a:noFill/>
          <a:ln/>
        </p:spPr>
        <p:txBody>
          <a:bodyPr wrap="square" lIns="0" tIns="0" rIns="0" bIns="0" rtlCol="0" anchor="t"/>
          <a:lstStyle/>
          <a:p>
            <a:pPr indent="0" marL="0">
              <a:buNone/>
            </a:pPr>
            <a:r>
              <a:rPr lang="en-US" sz="1100" b="1" dirty="0">
                <a:solidFill>
                  <a:srgbClr val="028090"/>
                </a:solidFill>
                <a:latin typeface="Calibri" pitchFamily="34" charset="0"/>
                <a:ea typeface="Calibri" pitchFamily="34" charset="-122"/>
                <a:cs typeface="Calibri" pitchFamily="34" charset="-120"/>
              </a:rPr>
              <a:t>read next</a:t>
            </a:r>
            <a:endParaRPr lang="en-US" sz="1100" dirty="0"/>
          </a:p>
        </p:txBody>
      </p:sp>
      <p:sp>
        <p:nvSpPr>
          <p:cNvPr id="31" name="Shape 29"/>
          <p:cNvSpPr/>
          <p:nvPr/>
        </p:nvSpPr>
        <p:spPr>
          <a:xfrm>
            <a:off x="548640" y="388620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2" name="Text 30"/>
          <p:cNvSpPr txBox="1"/>
          <p:nvPr/>
        </p:nvSpPr>
        <p:spPr>
          <a:xfrm>
            <a:off x="777240" y="4069080"/>
            <a:ext cx="4983480" cy="2057400"/>
          </a:xfrm>
          <a:prstGeom prst="rect">
            <a:avLst/>
          </a:prstGeom>
          <a:noFill/>
          <a:ln/>
        </p:spPr>
        <p:txBody>
          <a:bodyPr wrap="square" lIns="0" tIns="0" rIns="0" bIns="0" rtlCol="0" anchor="t"/>
          <a:lstStyle/>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Information is processed in order, one record after another.</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The model of a tape — and of most programs: compilers, editors, media players.</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In C: repeated read() calls; the position advances by itself.</a:t>
            </a:r>
            <a:endParaRPr lang="en-US" sz="1550" dirty="0"/>
          </a:p>
        </p:txBody>
      </p:sp>
      <p:sp>
        <p:nvSpPr>
          <p:cNvPr id="33" name="Text 31"/>
          <p:cNvSpPr txBox="1"/>
          <p:nvPr/>
        </p:nvSpPr>
        <p:spPr>
          <a:xfrm>
            <a:off x="6217920" y="1554480"/>
            <a:ext cx="544068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Direct (relative): read n / write n / seek n</a:t>
            </a:r>
            <a:endParaRPr lang="en-US" sz="1500" dirty="0"/>
          </a:p>
        </p:txBody>
      </p:sp>
      <p:sp>
        <p:nvSpPr>
          <p:cNvPr id="34" name="Shape 32"/>
          <p:cNvSpPr/>
          <p:nvPr/>
        </p:nvSpPr>
        <p:spPr>
          <a:xfrm>
            <a:off x="6217920" y="2194560"/>
            <a:ext cx="548640" cy="548640"/>
          </a:xfrm>
          <a:prstGeom prst="roundRect">
            <a:avLst>
              <a:gd name="adj" fmla="val 8333"/>
            </a:avLst>
          </a:prstGeom>
          <a:solidFill>
            <a:srgbClr val="F2F2F2"/>
          </a:solidFill>
          <a:ln/>
        </p:spPr>
        <p:txBody>
          <a:bodyPr/>
          <a:p/>
        </p:txBody>
      </p:sp>
      <p:sp>
        <p:nvSpPr>
          <p:cNvPr id="35" name="Text 33"/>
          <p:cNvSpPr txBox="1"/>
          <p:nvPr/>
        </p:nvSpPr>
        <p:spPr>
          <a:xfrm>
            <a:off x="6217920"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0</a:t>
            </a:r>
            <a:endParaRPr lang="en-US" sz="1200" dirty="0"/>
          </a:p>
        </p:txBody>
      </p:sp>
      <p:sp>
        <p:nvSpPr>
          <p:cNvPr id="36" name="Shape 34"/>
          <p:cNvSpPr/>
          <p:nvPr/>
        </p:nvSpPr>
        <p:spPr>
          <a:xfrm>
            <a:off x="6803136" y="2194560"/>
            <a:ext cx="548640" cy="548640"/>
          </a:xfrm>
          <a:prstGeom prst="roundRect">
            <a:avLst>
              <a:gd name="adj" fmla="val 8333"/>
            </a:avLst>
          </a:prstGeom>
          <a:solidFill>
            <a:srgbClr val="F2F2F2"/>
          </a:solidFill>
          <a:ln/>
        </p:spPr>
        <p:txBody>
          <a:bodyPr/>
          <a:p/>
        </p:txBody>
      </p:sp>
      <p:sp>
        <p:nvSpPr>
          <p:cNvPr id="37" name="Text 35"/>
          <p:cNvSpPr txBox="1"/>
          <p:nvPr/>
        </p:nvSpPr>
        <p:spPr>
          <a:xfrm>
            <a:off x="6803136"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1</a:t>
            </a:r>
            <a:endParaRPr lang="en-US" sz="1200" dirty="0"/>
          </a:p>
        </p:txBody>
      </p:sp>
      <p:sp>
        <p:nvSpPr>
          <p:cNvPr id="38" name="Shape 36"/>
          <p:cNvSpPr/>
          <p:nvPr/>
        </p:nvSpPr>
        <p:spPr>
          <a:xfrm>
            <a:off x="7388352" y="2194560"/>
            <a:ext cx="548640" cy="548640"/>
          </a:xfrm>
          <a:prstGeom prst="roundRect">
            <a:avLst>
              <a:gd name="adj" fmla="val 8333"/>
            </a:avLst>
          </a:prstGeom>
          <a:solidFill>
            <a:srgbClr val="D7E9E6"/>
          </a:solidFill>
          <a:ln/>
        </p:spPr>
        <p:txBody>
          <a:bodyPr/>
          <a:p/>
        </p:txBody>
      </p:sp>
      <p:sp>
        <p:nvSpPr>
          <p:cNvPr id="39" name="Text 37"/>
          <p:cNvSpPr txBox="1"/>
          <p:nvPr/>
        </p:nvSpPr>
        <p:spPr>
          <a:xfrm>
            <a:off x="7388352"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2</a:t>
            </a:r>
            <a:endParaRPr lang="en-US" sz="1200" dirty="0"/>
          </a:p>
        </p:txBody>
      </p:sp>
      <p:sp>
        <p:nvSpPr>
          <p:cNvPr id="40" name="Shape 38"/>
          <p:cNvSpPr/>
          <p:nvPr/>
        </p:nvSpPr>
        <p:spPr>
          <a:xfrm>
            <a:off x="7973568" y="2194560"/>
            <a:ext cx="548640" cy="548640"/>
          </a:xfrm>
          <a:prstGeom prst="roundRect">
            <a:avLst>
              <a:gd name="adj" fmla="val 8333"/>
            </a:avLst>
          </a:prstGeom>
          <a:solidFill>
            <a:srgbClr val="F2F2F2"/>
          </a:solidFill>
          <a:ln/>
        </p:spPr>
        <p:txBody>
          <a:bodyPr/>
          <a:p/>
        </p:txBody>
      </p:sp>
      <p:sp>
        <p:nvSpPr>
          <p:cNvPr id="41" name="Text 39"/>
          <p:cNvSpPr txBox="1"/>
          <p:nvPr/>
        </p:nvSpPr>
        <p:spPr>
          <a:xfrm>
            <a:off x="7973568"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3</a:t>
            </a:r>
            <a:endParaRPr lang="en-US" sz="1200" dirty="0"/>
          </a:p>
        </p:txBody>
      </p:sp>
      <p:sp>
        <p:nvSpPr>
          <p:cNvPr id="42" name="Shape 40"/>
          <p:cNvSpPr/>
          <p:nvPr/>
        </p:nvSpPr>
        <p:spPr>
          <a:xfrm>
            <a:off x="8558784" y="2194560"/>
            <a:ext cx="548640" cy="548640"/>
          </a:xfrm>
          <a:prstGeom prst="roundRect">
            <a:avLst>
              <a:gd name="adj" fmla="val 8333"/>
            </a:avLst>
          </a:prstGeom>
          <a:solidFill>
            <a:srgbClr val="F2F2F2"/>
          </a:solidFill>
          <a:ln/>
        </p:spPr>
        <p:txBody>
          <a:bodyPr/>
          <a:p/>
        </p:txBody>
      </p:sp>
      <p:sp>
        <p:nvSpPr>
          <p:cNvPr id="43" name="Text 41"/>
          <p:cNvSpPr txBox="1"/>
          <p:nvPr/>
        </p:nvSpPr>
        <p:spPr>
          <a:xfrm>
            <a:off x="8558784"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4</a:t>
            </a:r>
            <a:endParaRPr lang="en-US" sz="1200" dirty="0"/>
          </a:p>
        </p:txBody>
      </p:sp>
      <p:sp>
        <p:nvSpPr>
          <p:cNvPr id="44" name="Shape 42"/>
          <p:cNvSpPr/>
          <p:nvPr/>
        </p:nvSpPr>
        <p:spPr>
          <a:xfrm>
            <a:off x="9144000" y="2194560"/>
            <a:ext cx="548640" cy="548640"/>
          </a:xfrm>
          <a:prstGeom prst="roundRect">
            <a:avLst>
              <a:gd name="adj" fmla="val 8333"/>
            </a:avLst>
          </a:prstGeom>
          <a:solidFill>
            <a:srgbClr val="F2F2F2"/>
          </a:solidFill>
          <a:ln/>
        </p:spPr>
        <p:txBody>
          <a:bodyPr/>
          <a:p/>
        </p:txBody>
      </p:sp>
      <p:sp>
        <p:nvSpPr>
          <p:cNvPr id="45" name="Text 43"/>
          <p:cNvSpPr txBox="1"/>
          <p:nvPr/>
        </p:nvSpPr>
        <p:spPr>
          <a:xfrm>
            <a:off x="9144000"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5</a:t>
            </a:r>
            <a:endParaRPr lang="en-US" sz="1200" dirty="0"/>
          </a:p>
        </p:txBody>
      </p:sp>
      <p:sp>
        <p:nvSpPr>
          <p:cNvPr id="46" name="Shape 44"/>
          <p:cNvSpPr/>
          <p:nvPr/>
        </p:nvSpPr>
        <p:spPr>
          <a:xfrm>
            <a:off x="9729216" y="2194560"/>
            <a:ext cx="548640" cy="548640"/>
          </a:xfrm>
          <a:prstGeom prst="roundRect">
            <a:avLst>
              <a:gd name="adj" fmla="val 8333"/>
            </a:avLst>
          </a:prstGeom>
          <a:solidFill>
            <a:srgbClr val="02C39A"/>
          </a:solidFill>
          <a:ln/>
        </p:spPr>
        <p:txBody>
          <a:bodyPr/>
          <a:p/>
        </p:txBody>
      </p:sp>
      <p:sp>
        <p:nvSpPr>
          <p:cNvPr id="47" name="Text 45"/>
          <p:cNvSpPr txBox="1"/>
          <p:nvPr/>
        </p:nvSpPr>
        <p:spPr>
          <a:xfrm>
            <a:off x="9729216"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6</a:t>
            </a:r>
            <a:endParaRPr lang="en-US" sz="1200" dirty="0"/>
          </a:p>
        </p:txBody>
      </p:sp>
      <p:sp>
        <p:nvSpPr>
          <p:cNvPr id="48" name="Shape 46"/>
          <p:cNvSpPr/>
          <p:nvPr/>
        </p:nvSpPr>
        <p:spPr>
          <a:xfrm>
            <a:off x="10314432" y="2194560"/>
            <a:ext cx="548640" cy="548640"/>
          </a:xfrm>
          <a:prstGeom prst="roundRect">
            <a:avLst>
              <a:gd name="adj" fmla="val 8333"/>
            </a:avLst>
          </a:prstGeom>
          <a:solidFill>
            <a:srgbClr val="F2F2F2"/>
          </a:solidFill>
          <a:ln/>
        </p:spPr>
        <p:txBody>
          <a:bodyPr/>
          <a:p/>
        </p:txBody>
      </p:sp>
      <p:sp>
        <p:nvSpPr>
          <p:cNvPr id="49" name="Text 47"/>
          <p:cNvSpPr txBox="1"/>
          <p:nvPr/>
        </p:nvSpPr>
        <p:spPr>
          <a:xfrm>
            <a:off x="10314432"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7</a:t>
            </a:r>
            <a:endParaRPr lang="en-US" sz="1200" dirty="0"/>
          </a:p>
        </p:txBody>
      </p:sp>
      <p:sp>
        <p:nvSpPr>
          <p:cNvPr id="50" name="Shape 48"/>
          <p:cNvSpPr/>
          <p:nvPr/>
        </p:nvSpPr>
        <p:spPr>
          <a:xfrm>
            <a:off x="10899648" y="2194560"/>
            <a:ext cx="548640" cy="548640"/>
          </a:xfrm>
          <a:prstGeom prst="roundRect">
            <a:avLst>
              <a:gd name="adj" fmla="val 8333"/>
            </a:avLst>
          </a:prstGeom>
          <a:solidFill>
            <a:srgbClr val="F2F2F2"/>
          </a:solidFill>
          <a:ln/>
        </p:spPr>
        <p:txBody>
          <a:bodyPr/>
          <a:p/>
        </p:txBody>
      </p:sp>
      <p:sp>
        <p:nvSpPr>
          <p:cNvPr id="51" name="Text 49"/>
          <p:cNvSpPr txBox="1"/>
          <p:nvPr/>
        </p:nvSpPr>
        <p:spPr>
          <a:xfrm>
            <a:off x="10899648" y="2194560"/>
            <a:ext cx="54864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8</a:t>
            </a:r>
            <a:endParaRPr lang="en-US" sz="1200" dirty="0"/>
          </a:p>
        </p:txBody>
      </p:sp>
      <p:sp>
        <p:nvSpPr>
          <p:cNvPr id="52" name="Shape 50"/>
          <p:cNvSpPr/>
          <p:nvPr/>
        </p:nvSpPr>
        <p:spPr>
          <a:xfrm>
            <a:off x="7680960" y="2971800"/>
            <a:ext cx="2286000" cy="91"/>
          </a:xfrm>
          <a:prstGeom prst="line">
            <a:avLst/>
          </a:prstGeom>
          <a:noFill/>
          <a:ln w="25400">
            <a:solidFill>
              <a:srgbClr val="028090"/>
            </a:solidFill>
            <a:prstDash val="solid"/>
            <a:tailEnd type="triangle"/>
          </a:ln>
        </p:spPr>
        <p:txBody>
          <a:bodyPr/>
          <a:p/>
        </p:txBody>
      </p:sp>
      <p:sp>
        <p:nvSpPr>
          <p:cNvPr id="53" name="Text 51"/>
          <p:cNvSpPr txBox="1"/>
          <p:nvPr/>
        </p:nvSpPr>
        <p:spPr>
          <a:xfrm>
            <a:off x="6217920" y="3154680"/>
            <a:ext cx="5440680" cy="320040"/>
          </a:xfrm>
          <a:prstGeom prst="rect">
            <a:avLst/>
          </a:prstGeom>
          <a:noFill/>
          <a:ln/>
        </p:spPr>
        <p:txBody>
          <a:bodyPr wrap="square" lIns="0" tIns="0" rIns="0" bIns="0" rtlCol="0" anchor="t"/>
          <a:lstStyle/>
          <a:p>
            <a:pPr indent="0" marL="0">
              <a:buNone/>
            </a:pPr>
            <a:r>
              <a:rPr lang="en-US" sz="1100" i="1" dirty="0">
                <a:solidFill>
                  <a:srgbClr val="028090"/>
                </a:solidFill>
                <a:latin typeface="Calibri" pitchFamily="34" charset="0"/>
                <a:ea typeface="Calibri" pitchFamily="34" charset="-122"/>
                <a:cs typeface="Calibri" pitchFamily="34" charset="-120"/>
              </a:rPr>
              <a:t>jump from block 2 to block 6 — no reading in between</a:t>
            </a:r>
            <a:endParaRPr lang="en-US" sz="1100" dirty="0"/>
          </a:p>
        </p:txBody>
      </p:sp>
      <p:sp>
        <p:nvSpPr>
          <p:cNvPr id="54" name="Shape 52"/>
          <p:cNvSpPr/>
          <p:nvPr/>
        </p:nvSpPr>
        <p:spPr>
          <a:xfrm>
            <a:off x="6217920" y="3886200"/>
            <a:ext cx="5440680" cy="2377440"/>
          </a:xfrm>
          <a:prstGeom prst="roundRect">
            <a:avLst>
              <a:gd name="adj" fmla="val 230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55" name="Text 53"/>
          <p:cNvSpPr txBox="1"/>
          <p:nvPr/>
        </p:nvSpPr>
        <p:spPr>
          <a:xfrm>
            <a:off x="6446520" y="4069080"/>
            <a:ext cx="4983480" cy="2057400"/>
          </a:xfrm>
          <a:prstGeom prst="rect">
            <a:avLst/>
          </a:prstGeom>
          <a:noFill/>
          <a:ln/>
        </p:spPr>
        <p:txBody>
          <a:bodyPr wrap="square" lIns="0" tIns="0" rIns="0" bIns="0" rtlCol="0" anchor="t"/>
          <a:lstStyle/>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The file is a numbered sequence of fixed-size blocks or records.</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Any record can be read in any order — the model of a disk.</a:t>
            </a:r>
            <a:endParaRPr lang="en-US" sz="1550" dirty="0"/>
          </a:p>
          <a:p>
            <a:pPr marL="228600" indent="-228600">
              <a:spcAft>
                <a:spcPts val="400"/>
              </a:spcAft>
              <a:buSzPct val="100000"/>
              <a:buChar char="•"/>
            </a:pPr>
            <a:r>
              <a:rPr lang="en-US" sz="1550" dirty="0">
                <a:solidFill>
                  <a:srgbClr val="3A464C"/>
                </a:solidFill>
                <a:latin typeface="Calibri" pitchFamily="34" charset="0"/>
                <a:ea typeface="Calibri" pitchFamily="34" charset="-122"/>
                <a:cs typeface="Calibri" pitchFamily="34" charset="-120"/>
              </a:rPr>
              <a:t>Databases, airline reservations. In C: lseek() then read().</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ACCESS METHODS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Worked Example: Where Is Record 1000?</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29</a:t>
            </a:r>
            <a:endParaRPr lang="en-US" sz="900" dirty="0"/>
          </a:p>
        </p:txBody>
      </p:sp>
      <p:sp>
        <p:nvSpPr>
          <p:cNvPr id="6" name="Shape 4"/>
          <p:cNvSpPr/>
          <p:nvPr/>
        </p:nvSpPr>
        <p:spPr>
          <a:xfrm>
            <a:off x="548640" y="1508760"/>
            <a:ext cx="5120640" cy="2971800"/>
          </a:xfrm>
          <a:prstGeom prst="roundRect">
            <a:avLst>
              <a:gd name="adj" fmla="val 184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46634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The question</a:t>
            </a:r>
            <a:endParaRPr lang="en-US" sz="1500" dirty="0"/>
          </a:p>
        </p:txBody>
      </p:sp>
      <p:sp>
        <p:nvSpPr>
          <p:cNvPr id="8" name="Text 6"/>
          <p:cNvSpPr txBox="1"/>
          <p:nvPr/>
        </p:nvSpPr>
        <p:spPr>
          <a:xfrm>
            <a:off x="777240" y="2148840"/>
            <a:ext cx="4663440" cy="2194560"/>
          </a:xfrm>
          <a:prstGeom prst="rect">
            <a:avLst/>
          </a:prstGeom>
          <a:noFill/>
          <a:ln/>
        </p:spPr>
        <p:txBody>
          <a:bodyPr wrap="square" lIns="0" tIns="0" rIns="0" bIns="0" rtlCol="0" anchor="t"/>
          <a:lstStyle/>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A file holds student records of 100 bytes each, numbered from 0.</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The file system uses blocks of 4096 bytes.</a:t>
            </a:r>
            <a:endParaRPr lang="en-US" sz="1500" dirty="0"/>
          </a:p>
          <a:p>
            <a:pPr marL="228600" indent="-228600">
              <a:spcAft>
                <a:spcPts val="400"/>
              </a:spcAft>
              <a:buSzPct val="100000"/>
              <a:buChar char="•"/>
            </a:pPr>
            <a:r>
              <a:rPr lang="en-US" sz="1500" dirty="0">
                <a:solidFill>
                  <a:srgbClr val="3A464C"/>
                </a:solidFill>
                <a:latin typeface="Calibri" pitchFamily="34" charset="0"/>
                <a:ea typeface="Calibri" pitchFamily="34" charset="-122"/>
                <a:cs typeface="Calibri" pitchFamily="34" charset="-120"/>
              </a:rPr>
              <a:t>Which block holds record 1000, and where in that block does it start?</a:t>
            </a:r>
            <a:endParaRPr lang="en-US" sz="1500" dirty="0"/>
          </a:p>
        </p:txBody>
      </p:sp>
      <p:sp>
        <p:nvSpPr>
          <p:cNvPr id="9" name="Shape 7"/>
          <p:cNvSpPr/>
          <p:nvPr/>
        </p:nvSpPr>
        <p:spPr>
          <a:xfrm>
            <a:off x="5897880" y="1508760"/>
            <a:ext cx="5760720" cy="2971800"/>
          </a:xfrm>
          <a:prstGeom prst="roundRect">
            <a:avLst>
              <a:gd name="adj" fmla="val 1538"/>
            </a:avLst>
          </a:prstGeom>
          <a:solidFill>
            <a:srgbClr val="212121"/>
          </a:solidFill>
          <a:ln/>
        </p:spPr>
        <p:txBody>
          <a:bodyPr/>
          <a:p/>
        </p:txBody>
      </p:sp>
      <p:sp>
        <p:nvSpPr>
          <p:cNvPr id="10" name="Text 8"/>
          <p:cNvSpPr txBox="1"/>
          <p:nvPr/>
        </p:nvSpPr>
        <p:spPr>
          <a:xfrm>
            <a:off x="6080760" y="1618488"/>
            <a:ext cx="5394960" cy="2752344"/>
          </a:xfrm>
          <a:prstGeom prst="rect">
            <a:avLst/>
          </a:prstGeom>
          <a:noFill/>
          <a:ln/>
        </p:spPr>
        <p:txBody>
          <a:bodyPr wrap="square" lIns="0" tIns="0" rIns="0" bIns="0" rtlCol="0" anchor="t"/>
          <a:lstStyle/>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byte offset = record number × record size</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 1000 × 100 = 100,000</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block       = ⌊100,000 / 4096⌋ = 24</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offset      = 100,000 − 24 × 4096</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 100,000 − 98,304 = 1,696</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 </a:t>
            </a:r>
            <a:endParaRPr lang="en-US" sz="1350" dirty="0"/>
          </a:p>
          <a:p>
            <a:pPr indent="0" marL="0">
              <a:lnSpc>
                <a:spcPct val="105000"/>
              </a:lnSpc>
              <a:buNone/>
            </a:pPr>
            <a:r>
              <a:rPr lang="en-US" sz="1350" dirty="0">
                <a:solidFill>
                  <a:srgbClr val="F2F2F2"/>
                </a:solidFill>
                <a:latin typeface="Consolas" pitchFamily="34" charset="0"/>
                <a:ea typeface="Consolas" pitchFamily="34" charset="-122"/>
                <a:cs typeface="Consolas" pitchFamily="34" charset="-120"/>
              </a:rPr>
              <a:t>last byte   = 100,099  → still block 24</a:t>
            </a:r>
            <a:endParaRPr lang="en-US" sz="1350" dirty="0"/>
          </a:p>
        </p:txBody>
      </p:sp>
      <p:sp>
        <p:nvSpPr>
          <p:cNvPr id="11" name="Shape 9"/>
          <p:cNvSpPr/>
          <p:nvPr/>
        </p:nvSpPr>
        <p:spPr>
          <a:xfrm>
            <a:off x="548640" y="4709160"/>
            <a:ext cx="11109960" cy="1554480"/>
          </a:xfrm>
          <a:prstGeom prst="roundRect">
            <a:avLst>
              <a:gd name="adj" fmla="val 3529"/>
            </a:avLst>
          </a:prstGeom>
          <a:solidFill>
            <a:srgbClr val="36454F"/>
          </a:solidFill>
          <a:ln/>
          <a:effectLst>
            <a:outerShdw sx="100000" sy="100000" kx="0" ky="0" algn="bl" rotWithShape="0" blurRad="101600" dist="25400" dir="5400000">
              <a:srgbClr val="000000">
                <a:alpha val="12000"/>
              </a:srgbClr>
            </a:outerShdw>
          </a:effectLst>
        </p:spPr>
        <p:txBody>
          <a:bodyPr/>
          <a:p/>
        </p:txBody>
      </p:sp>
      <p:sp>
        <p:nvSpPr>
          <p:cNvPr id="12" name="Text 10"/>
          <p:cNvSpPr txBox="1"/>
          <p:nvPr/>
        </p:nvSpPr>
        <p:spPr>
          <a:xfrm>
            <a:off x="777240" y="4709160"/>
            <a:ext cx="10652760" cy="1554480"/>
          </a:xfrm>
          <a:prstGeom prst="rect">
            <a:avLst/>
          </a:prstGeom>
          <a:noFill/>
          <a:ln/>
        </p:spPr>
        <p:txBody>
          <a:bodyPr wrap="square" lIns="0" tIns="0" rIns="0" bIns="0" rtlCol="0" anchor="ctr"/>
          <a:lstStyle/>
          <a:p>
            <a:pPr indent="0" marL="0">
              <a:buNone/>
            </a:pPr>
            <a:r>
              <a:rPr lang="en-US" sz="1400" dirty="0">
                <a:solidFill>
                  <a:srgbClr val="F2F2F2"/>
                </a:solidFill>
                <a:latin typeface="Calibri" pitchFamily="34" charset="0"/>
                <a:ea typeface="Calibri" pitchFamily="34" charset="-122"/>
                <a:cs typeface="Calibri" pitchFamily="34" charset="-120"/>
              </a:rPr>
              <a:t>So: read relative block 24 and take bytes 1,696 … 1,795. In C this is one line: lseek(fd, 1000 * 100, SEEK_SET); then read(fd, rec, 100). The OS turns the byte offset into a block number exactly as above. Our demo program uses 32-byte records: record 3 starts at byte 3 × 32 = 96.</a:t>
            </a:r>
            <a:endParaRPr lang="en-US" sz="1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ACCESS METHODS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Indexed Access: Look Up First, Then Jump</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small index file maps keys to block numbers; search the index, then read one block directly.</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30</a:t>
            </a:r>
            <a:endParaRPr lang="en-US" sz="900" dirty="0"/>
          </a:p>
        </p:txBody>
      </p:sp>
      <p:sp>
        <p:nvSpPr>
          <p:cNvPr id="7" name="Text 5"/>
          <p:cNvSpPr txBox="1"/>
          <p:nvPr/>
        </p:nvSpPr>
        <p:spPr>
          <a:xfrm>
            <a:off x="548640" y="2011680"/>
            <a:ext cx="292608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Index (sorted by key)</a:t>
            </a:r>
            <a:endParaRPr lang="en-US" sz="1200" dirty="0"/>
          </a:p>
        </p:txBody>
      </p:sp>
      <p:sp>
        <p:nvSpPr>
          <p:cNvPr id="8" name="Shape 6"/>
          <p:cNvSpPr/>
          <p:nvPr/>
        </p:nvSpPr>
        <p:spPr>
          <a:xfrm>
            <a:off x="548640" y="2377440"/>
            <a:ext cx="1828800" cy="438912"/>
          </a:xfrm>
          <a:prstGeom prst="roundRect">
            <a:avLst>
              <a:gd name="adj" fmla="val 10417"/>
            </a:avLst>
          </a:prstGeom>
          <a:solidFill>
            <a:srgbClr val="F2F2F2"/>
          </a:solidFill>
          <a:ln/>
        </p:spPr>
        <p:txBody>
          <a:bodyPr/>
          <a:p/>
        </p:txBody>
      </p:sp>
      <p:sp>
        <p:nvSpPr>
          <p:cNvPr id="9" name="Text 7"/>
          <p:cNvSpPr txBox="1"/>
          <p:nvPr/>
        </p:nvSpPr>
        <p:spPr>
          <a:xfrm>
            <a:off x="548640" y="2377440"/>
            <a:ext cx="1828800" cy="438912"/>
          </a:xfrm>
          <a:prstGeom prst="rect">
            <a:avLst/>
          </a:prstGeom>
          <a:noFill/>
          <a:ln/>
        </p:spPr>
        <p:txBody>
          <a:bodyPr wrap="square" lIns="38100" tIns="38100" rIns="38100" bIns="38100" rtlCol="0" anchor="ctr"/>
          <a:lstStyle/>
          <a:p>
            <a:pPr algn="ctr" indent="0" marL="0">
              <a:buNone/>
            </a:pPr>
            <a:r>
              <a:rPr lang="en-US" sz="1300" dirty="0">
                <a:solidFill>
                  <a:srgbClr val="36454F"/>
                </a:solidFill>
                <a:latin typeface="Calibri" pitchFamily="34" charset="0"/>
                <a:ea typeface="Calibri" pitchFamily="34" charset="-122"/>
                <a:cs typeface="Calibri" pitchFamily="34" charset="-120"/>
              </a:rPr>
              <a:t>Aksoy</a:t>
            </a:r>
            <a:endParaRPr lang="en-US" sz="1300" dirty="0"/>
          </a:p>
        </p:txBody>
      </p:sp>
      <p:sp>
        <p:nvSpPr>
          <p:cNvPr id="10" name="Shape 8"/>
          <p:cNvSpPr/>
          <p:nvPr/>
        </p:nvSpPr>
        <p:spPr>
          <a:xfrm>
            <a:off x="2423160" y="2377440"/>
            <a:ext cx="822960" cy="438912"/>
          </a:xfrm>
          <a:prstGeom prst="roundRect">
            <a:avLst>
              <a:gd name="adj" fmla="val 10417"/>
            </a:avLst>
          </a:prstGeom>
          <a:solidFill>
            <a:srgbClr val="F2F2F2"/>
          </a:solidFill>
          <a:ln/>
        </p:spPr>
        <p:txBody>
          <a:bodyPr/>
          <a:p/>
        </p:txBody>
      </p:sp>
      <p:sp>
        <p:nvSpPr>
          <p:cNvPr id="11" name="Text 9"/>
          <p:cNvSpPr txBox="1"/>
          <p:nvPr/>
        </p:nvSpPr>
        <p:spPr>
          <a:xfrm>
            <a:off x="2423160" y="2377440"/>
            <a:ext cx="822960" cy="438912"/>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 0</a:t>
            </a:r>
            <a:endParaRPr lang="en-US" sz="1300" dirty="0"/>
          </a:p>
        </p:txBody>
      </p:sp>
      <p:sp>
        <p:nvSpPr>
          <p:cNvPr id="12" name="Shape 10"/>
          <p:cNvSpPr/>
          <p:nvPr/>
        </p:nvSpPr>
        <p:spPr>
          <a:xfrm>
            <a:off x="548640" y="2880360"/>
            <a:ext cx="1828800" cy="438912"/>
          </a:xfrm>
          <a:prstGeom prst="roundRect">
            <a:avLst>
              <a:gd name="adj" fmla="val 10417"/>
            </a:avLst>
          </a:prstGeom>
          <a:solidFill>
            <a:srgbClr val="F2F2F2"/>
          </a:solidFill>
          <a:ln/>
        </p:spPr>
        <p:txBody>
          <a:bodyPr/>
          <a:p/>
        </p:txBody>
      </p:sp>
      <p:sp>
        <p:nvSpPr>
          <p:cNvPr id="13" name="Text 11"/>
          <p:cNvSpPr txBox="1"/>
          <p:nvPr/>
        </p:nvSpPr>
        <p:spPr>
          <a:xfrm>
            <a:off x="548640" y="2880360"/>
            <a:ext cx="1828800" cy="438912"/>
          </a:xfrm>
          <a:prstGeom prst="rect">
            <a:avLst/>
          </a:prstGeom>
          <a:noFill/>
          <a:ln/>
        </p:spPr>
        <p:txBody>
          <a:bodyPr wrap="square" lIns="38100" tIns="38100" rIns="38100" bIns="38100" rtlCol="0" anchor="ctr"/>
          <a:lstStyle/>
          <a:p>
            <a:pPr algn="ctr" indent="0" marL="0">
              <a:buNone/>
            </a:pPr>
            <a:r>
              <a:rPr lang="en-US" sz="1300" dirty="0">
                <a:solidFill>
                  <a:srgbClr val="36454F"/>
                </a:solidFill>
                <a:latin typeface="Calibri" pitchFamily="34" charset="0"/>
                <a:ea typeface="Calibri" pitchFamily="34" charset="-122"/>
                <a:cs typeface="Calibri" pitchFamily="34" charset="-120"/>
              </a:rPr>
              <a:t>Demir</a:t>
            </a:r>
            <a:endParaRPr lang="en-US" sz="1300" dirty="0"/>
          </a:p>
        </p:txBody>
      </p:sp>
      <p:sp>
        <p:nvSpPr>
          <p:cNvPr id="14" name="Shape 12"/>
          <p:cNvSpPr/>
          <p:nvPr/>
        </p:nvSpPr>
        <p:spPr>
          <a:xfrm>
            <a:off x="2423160" y="2880360"/>
            <a:ext cx="822960" cy="438912"/>
          </a:xfrm>
          <a:prstGeom prst="roundRect">
            <a:avLst>
              <a:gd name="adj" fmla="val 10417"/>
            </a:avLst>
          </a:prstGeom>
          <a:solidFill>
            <a:srgbClr val="F2F2F2"/>
          </a:solidFill>
          <a:ln/>
        </p:spPr>
        <p:txBody>
          <a:bodyPr/>
          <a:p/>
        </p:txBody>
      </p:sp>
      <p:sp>
        <p:nvSpPr>
          <p:cNvPr id="15" name="Text 13"/>
          <p:cNvSpPr txBox="1"/>
          <p:nvPr/>
        </p:nvSpPr>
        <p:spPr>
          <a:xfrm>
            <a:off x="2423160" y="2880360"/>
            <a:ext cx="822960" cy="438912"/>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 1</a:t>
            </a:r>
            <a:endParaRPr lang="en-US" sz="1300" dirty="0"/>
          </a:p>
        </p:txBody>
      </p:sp>
      <p:sp>
        <p:nvSpPr>
          <p:cNvPr id="16" name="Shape 14"/>
          <p:cNvSpPr/>
          <p:nvPr/>
        </p:nvSpPr>
        <p:spPr>
          <a:xfrm>
            <a:off x="548640" y="3383280"/>
            <a:ext cx="1828800" cy="438912"/>
          </a:xfrm>
          <a:prstGeom prst="roundRect">
            <a:avLst>
              <a:gd name="adj" fmla="val 10417"/>
            </a:avLst>
          </a:prstGeom>
          <a:solidFill>
            <a:srgbClr val="D7E9E6"/>
          </a:solidFill>
          <a:ln/>
        </p:spPr>
        <p:txBody>
          <a:bodyPr/>
          <a:p/>
        </p:txBody>
      </p:sp>
      <p:sp>
        <p:nvSpPr>
          <p:cNvPr id="17" name="Text 15"/>
          <p:cNvSpPr txBox="1"/>
          <p:nvPr/>
        </p:nvSpPr>
        <p:spPr>
          <a:xfrm>
            <a:off x="548640" y="3383280"/>
            <a:ext cx="1828800" cy="438912"/>
          </a:xfrm>
          <a:prstGeom prst="rect">
            <a:avLst/>
          </a:prstGeom>
          <a:noFill/>
          <a:ln/>
        </p:spPr>
        <p:txBody>
          <a:bodyPr wrap="square" lIns="38100" tIns="38100" rIns="38100" bIns="38100" rtlCol="0" anchor="ctr"/>
          <a:lstStyle/>
          <a:p>
            <a:pPr algn="ctr" indent="0" marL="0">
              <a:buNone/>
            </a:pPr>
            <a:r>
              <a:rPr lang="en-US" sz="1300" dirty="0">
                <a:solidFill>
                  <a:srgbClr val="36454F"/>
                </a:solidFill>
                <a:latin typeface="Calibri" pitchFamily="34" charset="0"/>
                <a:ea typeface="Calibri" pitchFamily="34" charset="-122"/>
                <a:cs typeface="Calibri" pitchFamily="34" charset="-120"/>
              </a:rPr>
              <a:t>Kaya</a:t>
            </a:r>
            <a:endParaRPr lang="en-US" sz="1300" dirty="0"/>
          </a:p>
        </p:txBody>
      </p:sp>
      <p:sp>
        <p:nvSpPr>
          <p:cNvPr id="18" name="Shape 16"/>
          <p:cNvSpPr/>
          <p:nvPr/>
        </p:nvSpPr>
        <p:spPr>
          <a:xfrm>
            <a:off x="2423160" y="3383280"/>
            <a:ext cx="822960" cy="438912"/>
          </a:xfrm>
          <a:prstGeom prst="roundRect">
            <a:avLst>
              <a:gd name="adj" fmla="val 10417"/>
            </a:avLst>
          </a:prstGeom>
          <a:solidFill>
            <a:srgbClr val="D7E9E6"/>
          </a:solidFill>
          <a:ln/>
        </p:spPr>
        <p:txBody>
          <a:bodyPr/>
          <a:p/>
        </p:txBody>
      </p:sp>
      <p:sp>
        <p:nvSpPr>
          <p:cNvPr id="19" name="Text 17"/>
          <p:cNvSpPr txBox="1"/>
          <p:nvPr/>
        </p:nvSpPr>
        <p:spPr>
          <a:xfrm>
            <a:off x="2423160" y="3383280"/>
            <a:ext cx="822960" cy="438912"/>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 2</a:t>
            </a:r>
            <a:endParaRPr lang="en-US" sz="1300" dirty="0"/>
          </a:p>
        </p:txBody>
      </p:sp>
      <p:sp>
        <p:nvSpPr>
          <p:cNvPr id="20" name="Shape 18"/>
          <p:cNvSpPr/>
          <p:nvPr/>
        </p:nvSpPr>
        <p:spPr>
          <a:xfrm>
            <a:off x="548640" y="3886200"/>
            <a:ext cx="1828800" cy="438912"/>
          </a:xfrm>
          <a:prstGeom prst="roundRect">
            <a:avLst>
              <a:gd name="adj" fmla="val 10417"/>
            </a:avLst>
          </a:prstGeom>
          <a:solidFill>
            <a:srgbClr val="F2F2F2"/>
          </a:solidFill>
          <a:ln/>
        </p:spPr>
        <p:txBody>
          <a:bodyPr/>
          <a:p/>
        </p:txBody>
      </p:sp>
      <p:sp>
        <p:nvSpPr>
          <p:cNvPr id="21" name="Text 19"/>
          <p:cNvSpPr txBox="1"/>
          <p:nvPr/>
        </p:nvSpPr>
        <p:spPr>
          <a:xfrm>
            <a:off x="548640" y="3886200"/>
            <a:ext cx="1828800" cy="438912"/>
          </a:xfrm>
          <a:prstGeom prst="rect">
            <a:avLst/>
          </a:prstGeom>
          <a:noFill/>
          <a:ln/>
        </p:spPr>
        <p:txBody>
          <a:bodyPr wrap="square" lIns="38100" tIns="38100" rIns="38100" bIns="38100" rtlCol="0" anchor="ctr"/>
          <a:lstStyle/>
          <a:p>
            <a:pPr algn="ctr" indent="0" marL="0">
              <a:buNone/>
            </a:pPr>
            <a:r>
              <a:rPr lang="en-US" sz="1300" dirty="0">
                <a:solidFill>
                  <a:srgbClr val="36454F"/>
                </a:solidFill>
                <a:latin typeface="Calibri" pitchFamily="34" charset="0"/>
                <a:ea typeface="Calibri" pitchFamily="34" charset="-122"/>
                <a:cs typeface="Calibri" pitchFamily="34" charset="-120"/>
              </a:rPr>
              <a:t>Öztürk</a:t>
            </a:r>
            <a:endParaRPr lang="en-US" sz="1300" dirty="0"/>
          </a:p>
        </p:txBody>
      </p:sp>
      <p:sp>
        <p:nvSpPr>
          <p:cNvPr id="22" name="Shape 20"/>
          <p:cNvSpPr/>
          <p:nvPr/>
        </p:nvSpPr>
        <p:spPr>
          <a:xfrm>
            <a:off x="2423160" y="3886200"/>
            <a:ext cx="822960" cy="438912"/>
          </a:xfrm>
          <a:prstGeom prst="roundRect">
            <a:avLst>
              <a:gd name="adj" fmla="val 10417"/>
            </a:avLst>
          </a:prstGeom>
          <a:solidFill>
            <a:srgbClr val="F2F2F2"/>
          </a:solidFill>
          <a:ln/>
        </p:spPr>
        <p:txBody>
          <a:bodyPr/>
          <a:p/>
        </p:txBody>
      </p:sp>
      <p:sp>
        <p:nvSpPr>
          <p:cNvPr id="23" name="Text 21"/>
          <p:cNvSpPr txBox="1"/>
          <p:nvPr/>
        </p:nvSpPr>
        <p:spPr>
          <a:xfrm>
            <a:off x="2423160" y="3886200"/>
            <a:ext cx="822960" cy="438912"/>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 3</a:t>
            </a:r>
            <a:endParaRPr lang="en-US" sz="1300" dirty="0"/>
          </a:p>
        </p:txBody>
      </p:sp>
      <p:sp>
        <p:nvSpPr>
          <p:cNvPr id="24" name="Shape 22"/>
          <p:cNvSpPr/>
          <p:nvPr/>
        </p:nvSpPr>
        <p:spPr>
          <a:xfrm>
            <a:off x="548640" y="4389120"/>
            <a:ext cx="1828800" cy="438912"/>
          </a:xfrm>
          <a:prstGeom prst="roundRect">
            <a:avLst>
              <a:gd name="adj" fmla="val 10417"/>
            </a:avLst>
          </a:prstGeom>
          <a:solidFill>
            <a:srgbClr val="F2F2F2"/>
          </a:solidFill>
          <a:ln/>
        </p:spPr>
        <p:txBody>
          <a:bodyPr/>
          <a:p/>
        </p:txBody>
      </p:sp>
      <p:sp>
        <p:nvSpPr>
          <p:cNvPr id="25" name="Text 23"/>
          <p:cNvSpPr txBox="1"/>
          <p:nvPr/>
        </p:nvSpPr>
        <p:spPr>
          <a:xfrm>
            <a:off x="548640" y="4389120"/>
            <a:ext cx="1828800" cy="438912"/>
          </a:xfrm>
          <a:prstGeom prst="rect">
            <a:avLst/>
          </a:prstGeom>
          <a:noFill/>
          <a:ln/>
        </p:spPr>
        <p:txBody>
          <a:bodyPr wrap="square" lIns="38100" tIns="38100" rIns="38100" bIns="38100" rtlCol="0" anchor="ctr"/>
          <a:lstStyle/>
          <a:p>
            <a:pPr algn="ctr" indent="0" marL="0">
              <a:buNone/>
            </a:pPr>
            <a:r>
              <a:rPr lang="en-US" sz="1300" dirty="0">
                <a:solidFill>
                  <a:srgbClr val="36454F"/>
                </a:solidFill>
                <a:latin typeface="Calibri" pitchFamily="34" charset="0"/>
                <a:ea typeface="Calibri" pitchFamily="34" charset="-122"/>
                <a:cs typeface="Calibri" pitchFamily="34" charset="-120"/>
              </a:rPr>
              <a:t>Yılmaz</a:t>
            </a:r>
            <a:endParaRPr lang="en-US" sz="1300" dirty="0"/>
          </a:p>
        </p:txBody>
      </p:sp>
      <p:sp>
        <p:nvSpPr>
          <p:cNvPr id="26" name="Shape 24"/>
          <p:cNvSpPr/>
          <p:nvPr/>
        </p:nvSpPr>
        <p:spPr>
          <a:xfrm>
            <a:off x="2423160" y="4389120"/>
            <a:ext cx="822960" cy="438912"/>
          </a:xfrm>
          <a:prstGeom prst="roundRect">
            <a:avLst>
              <a:gd name="adj" fmla="val 10417"/>
            </a:avLst>
          </a:prstGeom>
          <a:solidFill>
            <a:srgbClr val="F2F2F2"/>
          </a:solidFill>
          <a:ln/>
        </p:spPr>
        <p:txBody>
          <a:bodyPr/>
          <a:p/>
        </p:txBody>
      </p:sp>
      <p:sp>
        <p:nvSpPr>
          <p:cNvPr id="27" name="Text 25"/>
          <p:cNvSpPr txBox="1"/>
          <p:nvPr/>
        </p:nvSpPr>
        <p:spPr>
          <a:xfrm>
            <a:off x="2423160" y="4389120"/>
            <a:ext cx="822960" cy="438912"/>
          </a:xfrm>
          <a:prstGeom prst="rect">
            <a:avLst/>
          </a:prstGeom>
          <a:noFill/>
          <a:ln/>
        </p:spPr>
        <p:txBody>
          <a:bodyPr wrap="square" lIns="38100" tIns="38100" rIns="38100" bIns="38100" rtlCol="0" anchor="ctr"/>
          <a:lstStyle/>
          <a:p>
            <a:pPr algn="ctr" indent="0" marL="0">
              <a:buNone/>
            </a:pPr>
            <a:r>
              <a:rPr lang="en-US" sz="1300" b="1" dirty="0">
                <a:solidFill>
                  <a:srgbClr val="36454F"/>
                </a:solidFill>
                <a:latin typeface="Calibri" pitchFamily="34" charset="0"/>
                <a:ea typeface="Calibri" pitchFamily="34" charset="-122"/>
                <a:cs typeface="Calibri" pitchFamily="34" charset="-120"/>
              </a:rPr>
              <a:t>→ 4</a:t>
            </a:r>
            <a:endParaRPr lang="en-US" sz="1300" dirty="0"/>
          </a:p>
        </p:txBody>
      </p:sp>
      <p:sp>
        <p:nvSpPr>
          <p:cNvPr id="28" name="Text 26"/>
          <p:cNvSpPr txBox="1"/>
          <p:nvPr/>
        </p:nvSpPr>
        <p:spPr>
          <a:xfrm>
            <a:off x="4480560" y="2011680"/>
            <a:ext cx="274320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Data file (relative blocks)</a:t>
            </a:r>
            <a:endParaRPr lang="en-US" sz="1200" dirty="0"/>
          </a:p>
        </p:txBody>
      </p:sp>
      <p:sp>
        <p:nvSpPr>
          <p:cNvPr id="29" name="Shape 27"/>
          <p:cNvSpPr/>
          <p:nvPr/>
        </p:nvSpPr>
        <p:spPr>
          <a:xfrm>
            <a:off x="4480560" y="2377440"/>
            <a:ext cx="2103120" cy="438912"/>
          </a:xfrm>
          <a:prstGeom prst="roundRect">
            <a:avLst>
              <a:gd name="adj" fmla="val 10417"/>
            </a:avLst>
          </a:prstGeom>
          <a:solidFill>
            <a:srgbClr val="F2F2F2"/>
          </a:solidFill>
          <a:ln/>
        </p:spPr>
        <p:txBody>
          <a:bodyPr/>
          <a:p/>
        </p:txBody>
      </p:sp>
      <p:sp>
        <p:nvSpPr>
          <p:cNvPr id="30" name="Text 28"/>
          <p:cNvSpPr txBox="1"/>
          <p:nvPr/>
        </p:nvSpPr>
        <p:spPr>
          <a:xfrm>
            <a:off x="4480560" y="2377440"/>
            <a:ext cx="2103120" cy="43891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block 0</a:t>
            </a:r>
            <a:endParaRPr lang="en-US" sz="1200" dirty="0"/>
          </a:p>
        </p:txBody>
      </p:sp>
      <p:sp>
        <p:nvSpPr>
          <p:cNvPr id="31" name="Shape 29"/>
          <p:cNvSpPr/>
          <p:nvPr/>
        </p:nvSpPr>
        <p:spPr>
          <a:xfrm>
            <a:off x="4480560" y="2880360"/>
            <a:ext cx="2103120" cy="438912"/>
          </a:xfrm>
          <a:prstGeom prst="roundRect">
            <a:avLst>
              <a:gd name="adj" fmla="val 10417"/>
            </a:avLst>
          </a:prstGeom>
          <a:solidFill>
            <a:srgbClr val="F2F2F2"/>
          </a:solidFill>
          <a:ln/>
        </p:spPr>
        <p:txBody>
          <a:bodyPr/>
          <a:p/>
        </p:txBody>
      </p:sp>
      <p:sp>
        <p:nvSpPr>
          <p:cNvPr id="32" name="Text 30"/>
          <p:cNvSpPr txBox="1"/>
          <p:nvPr/>
        </p:nvSpPr>
        <p:spPr>
          <a:xfrm>
            <a:off x="4480560" y="2880360"/>
            <a:ext cx="2103120" cy="43891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block 1</a:t>
            </a:r>
            <a:endParaRPr lang="en-US" sz="1200" dirty="0"/>
          </a:p>
        </p:txBody>
      </p:sp>
      <p:sp>
        <p:nvSpPr>
          <p:cNvPr id="33" name="Shape 31"/>
          <p:cNvSpPr/>
          <p:nvPr/>
        </p:nvSpPr>
        <p:spPr>
          <a:xfrm>
            <a:off x="4480560" y="3383280"/>
            <a:ext cx="2103120" cy="438912"/>
          </a:xfrm>
          <a:prstGeom prst="roundRect">
            <a:avLst>
              <a:gd name="adj" fmla="val 10417"/>
            </a:avLst>
          </a:prstGeom>
          <a:solidFill>
            <a:srgbClr val="02C39A"/>
          </a:solidFill>
          <a:ln/>
        </p:spPr>
        <p:txBody>
          <a:bodyPr/>
          <a:p/>
        </p:txBody>
      </p:sp>
      <p:sp>
        <p:nvSpPr>
          <p:cNvPr id="34" name="Text 32"/>
          <p:cNvSpPr txBox="1"/>
          <p:nvPr/>
        </p:nvSpPr>
        <p:spPr>
          <a:xfrm>
            <a:off x="4480560" y="3383280"/>
            <a:ext cx="2103120" cy="43891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block 2</a:t>
            </a:r>
            <a:endParaRPr lang="en-US" sz="1200" dirty="0"/>
          </a:p>
          <a:p>
            <a:pPr algn="ctr" indent="0" marL="0">
              <a:buNone/>
            </a:pPr>
            <a:r>
              <a:rPr lang="en-US" sz="1000" dirty="0">
                <a:solidFill>
                  <a:srgbClr val="212121"/>
                </a:solidFill>
                <a:latin typeface="Calibri" pitchFamily="34" charset="0"/>
                <a:ea typeface="Calibri" pitchFamily="34" charset="-122"/>
                <a:cs typeface="Calibri" pitchFamily="34" charset="-120"/>
              </a:rPr>
              <a:t>Kaya … records</a:t>
            </a:r>
            <a:endParaRPr lang="en-US" sz="1200" dirty="0"/>
          </a:p>
        </p:txBody>
      </p:sp>
      <p:sp>
        <p:nvSpPr>
          <p:cNvPr id="35" name="Shape 33"/>
          <p:cNvSpPr/>
          <p:nvPr/>
        </p:nvSpPr>
        <p:spPr>
          <a:xfrm>
            <a:off x="4480560" y="3886200"/>
            <a:ext cx="2103120" cy="438912"/>
          </a:xfrm>
          <a:prstGeom prst="roundRect">
            <a:avLst>
              <a:gd name="adj" fmla="val 10417"/>
            </a:avLst>
          </a:prstGeom>
          <a:solidFill>
            <a:srgbClr val="F2F2F2"/>
          </a:solidFill>
          <a:ln/>
        </p:spPr>
        <p:txBody>
          <a:bodyPr/>
          <a:p/>
        </p:txBody>
      </p:sp>
      <p:sp>
        <p:nvSpPr>
          <p:cNvPr id="36" name="Text 34"/>
          <p:cNvSpPr txBox="1"/>
          <p:nvPr/>
        </p:nvSpPr>
        <p:spPr>
          <a:xfrm>
            <a:off x="4480560" y="3886200"/>
            <a:ext cx="2103120" cy="43891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block 3</a:t>
            </a:r>
            <a:endParaRPr lang="en-US" sz="1200" dirty="0"/>
          </a:p>
        </p:txBody>
      </p:sp>
      <p:sp>
        <p:nvSpPr>
          <p:cNvPr id="37" name="Shape 35"/>
          <p:cNvSpPr/>
          <p:nvPr/>
        </p:nvSpPr>
        <p:spPr>
          <a:xfrm>
            <a:off x="4480560" y="4389120"/>
            <a:ext cx="2103120" cy="438912"/>
          </a:xfrm>
          <a:prstGeom prst="roundRect">
            <a:avLst>
              <a:gd name="adj" fmla="val 10417"/>
            </a:avLst>
          </a:prstGeom>
          <a:solidFill>
            <a:srgbClr val="F2F2F2"/>
          </a:solidFill>
          <a:ln/>
        </p:spPr>
        <p:txBody>
          <a:bodyPr/>
          <a:p/>
        </p:txBody>
      </p:sp>
      <p:sp>
        <p:nvSpPr>
          <p:cNvPr id="38" name="Text 36"/>
          <p:cNvSpPr txBox="1"/>
          <p:nvPr/>
        </p:nvSpPr>
        <p:spPr>
          <a:xfrm>
            <a:off x="4480560" y="4389120"/>
            <a:ext cx="2103120" cy="438912"/>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block 4</a:t>
            </a:r>
            <a:endParaRPr lang="en-US" sz="1200" dirty="0"/>
          </a:p>
        </p:txBody>
      </p:sp>
      <p:sp>
        <p:nvSpPr>
          <p:cNvPr id="39" name="Shape 37"/>
          <p:cNvSpPr/>
          <p:nvPr/>
        </p:nvSpPr>
        <p:spPr>
          <a:xfrm>
            <a:off x="3264408" y="3602736"/>
            <a:ext cx="1197864" cy="91"/>
          </a:xfrm>
          <a:prstGeom prst="line">
            <a:avLst/>
          </a:prstGeom>
          <a:noFill/>
          <a:ln w="25400">
            <a:solidFill>
              <a:srgbClr val="028090"/>
            </a:solidFill>
            <a:prstDash val="solid"/>
            <a:tailEnd type="triangle"/>
          </a:ln>
        </p:spPr>
        <p:txBody>
          <a:bodyPr/>
          <a:p/>
        </p:txBody>
      </p:sp>
      <p:sp>
        <p:nvSpPr>
          <p:cNvPr id="40" name="Shape 38"/>
          <p:cNvSpPr/>
          <p:nvPr/>
        </p:nvSpPr>
        <p:spPr>
          <a:xfrm>
            <a:off x="7132320" y="2011680"/>
            <a:ext cx="4526280" cy="4251960"/>
          </a:xfrm>
          <a:prstGeom prst="roundRect">
            <a:avLst>
              <a:gd name="adj" fmla="val 129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1" name="Text 39"/>
          <p:cNvSpPr txBox="1"/>
          <p:nvPr/>
        </p:nvSpPr>
        <p:spPr>
          <a:xfrm>
            <a:off x="7360920" y="2194560"/>
            <a:ext cx="40690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Why and how</a:t>
            </a:r>
            <a:endParaRPr lang="en-US" sz="1500" dirty="0"/>
          </a:p>
        </p:txBody>
      </p:sp>
      <p:sp>
        <p:nvSpPr>
          <p:cNvPr id="42" name="Text 40"/>
          <p:cNvSpPr txBox="1"/>
          <p:nvPr/>
        </p:nvSpPr>
        <p:spPr>
          <a:xfrm>
            <a:off x="7360920" y="2651760"/>
            <a:ext cx="4069080" cy="347472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Search a small, sorted index (fast) instead of the whole file.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Then one direct read of the right block.</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Very large files: an index of the index (multi-level).</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The basis of databases (B-trees) and of how file systems find a file's own blocks.</a:t>
            </a:r>
            <a:endParaRPr lang="en-US" sz="1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DIRECTORY STRUCTURES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Single-Level and Two-Level Directories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31</a:t>
            </a:r>
            <a:endParaRPr lang="en-US" sz="900" dirty="0"/>
          </a:p>
        </p:txBody>
      </p:sp>
      <p:sp>
        <p:nvSpPr>
          <p:cNvPr id="6" name="Text 4"/>
          <p:cNvSpPr txBox="1"/>
          <p:nvPr/>
        </p:nvSpPr>
        <p:spPr>
          <a:xfrm>
            <a:off x="548640" y="1600200"/>
            <a:ext cx="544068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Single-level: one directory for everyone</a:t>
            </a:r>
            <a:endParaRPr lang="en-US" sz="1500" dirty="0"/>
          </a:p>
        </p:txBody>
      </p:sp>
      <p:sp>
        <p:nvSpPr>
          <p:cNvPr id="7" name="Shape 5"/>
          <p:cNvSpPr/>
          <p:nvPr/>
        </p:nvSpPr>
        <p:spPr>
          <a:xfrm>
            <a:off x="548640" y="2103120"/>
            <a:ext cx="5440680" cy="548640"/>
          </a:xfrm>
          <a:prstGeom prst="roundRect">
            <a:avLst>
              <a:gd name="adj" fmla="val 8333"/>
            </a:avLst>
          </a:prstGeom>
          <a:solidFill>
            <a:srgbClr val="36454F"/>
          </a:solidFill>
          <a:ln/>
        </p:spPr>
        <p:txBody>
          <a:bodyPr/>
          <a:p/>
        </p:txBody>
      </p:sp>
      <p:sp>
        <p:nvSpPr>
          <p:cNvPr id="8" name="Text 6"/>
          <p:cNvSpPr txBox="1"/>
          <p:nvPr/>
        </p:nvSpPr>
        <p:spPr>
          <a:xfrm>
            <a:off x="685800" y="2103120"/>
            <a:ext cx="7315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a:t>
            </a:r>
            <a:endParaRPr lang="en-US" sz="1200" dirty="0"/>
          </a:p>
        </p:txBody>
      </p:sp>
      <p:sp>
        <p:nvSpPr>
          <p:cNvPr id="9" name="Shape 7"/>
          <p:cNvSpPr/>
          <p:nvPr/>
        </p:nvSpPr>
        <p:spPr>
          <a:xfrm>
            <a:off x="1051560" y="2651760"/>
            <a:ext cx="91" cy="411480"/>
          </a:xfrm>
          <a:prstGeom prst="line">
            <a:avLst/>
          </a:prstGeom>
          <a:noFill/>
          <a:ln w="15875">
            <a:solidFill>
              <a:srgbClr val="50808E"/>
            </a:solidFill>
            <a:prstDash val="solid"/>
          </a:ln>
        </p:spPr>
        <p:txBody>
          <a:bodyPr/>
          <a:p/>
        </p:txBody>
      </p:sp>
      <p:sp>
        <p:nvSpPr>
          <p:cNvPr id="10" name="Shape 8"/>
          <p:cNvSpPr/>
          <p:nvPr/>
        </p:nvSpPr>
        <p:spPr>
          <a:xfrm>
            <a:off x="886968" y="3063240"/>
            <a:ext cx="329184" cy="329184"/>
          </a:xfrm>
          <a:prstGeom prst="ellipse">
            <a:avLst/>
          </a:prstGeom>
          <a:solidFill>
            <a:srgbClr val="02C39A"/>
          </a:solidFill>
          <a:ln/>
        </p:spPr>
        <p:txBody>
          <a:bodyPr/>
          <a:p/>
        </p:txBody>
      </p:sp>
      <p:sp>
        <p:nvSpPr>
          <p:cNvPr id="11" name="Text 9"/>
          <p:cNvSpPr txBox="1"/>
          <p:nvPr/>
        </p:nvSpPr>
        <p:spPr>
          <a:xfrm>
            <a:off x="1572768" y="2103120"/>
            <a:ext cx="7315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test</a:t>
            </a:r>
            <a:endParaRPr lang="en-US" sz="1200" dirty="0"/>
          </a:p>
        </p:txBody>
      </p:sp>
      <p:sp>
        <p:nvSpPr>
          <p:cNvPr id="12" name="Shape 10"/>
          <p:cNvSpPr/>
          <p:nvPr/>
        </p:nvSpPr>
        <p:spPr>
          <a:xfrm>
            <a:off x="1938528" y="2651760"/>
            <a:ext cx="91" cy="411480"/>
          </a:xfrm>
          <a:prstGeom prst="line">
            <a:avLst/>
          </a:prstGeom>
          <a:noFill/>
          <a:ln w="15875">
            <a:solidFill>
              <a:srgbClr val="50808E"/>
            </a:solidFill>
            <a:prstDash val="solid"/>
          </a:ln>
        </p:spPr>
        <p:txBody>
          <a:bodyPr/>
          <a:p/>
        </p:txBody>
      </p:sp>
      <p:sp>
        <p:nvSpPr>
          <p:cNvPr id="13" name="Shape 11"/>
          <p:cNvSpPr/>
          <p:nvPr/>
        </p:nvSpPr>
        <p:spPr>
          <a:xfrm>
            <a:off x="1773936" y="3063240"/>
            <a:ext cx="329184" cy="329184"/>
          </a:xfrm>
          <a:prstGeom prst="ellipse">
            <a:avLst/>
          </a:prstGeom>
          <a:solidFill>
            <a:srgbClr val="02C39A"/>
          </a:solidFill>
          <a:ln/>
        </p:spPr>
        <p:txBody>
          <a:bodyPr/>
          <a:p/>
        </p:txBody>
      </p:sp>
      <p:sp>
        <p:nvSpPr>
          <p:cNvPr id="14" name="Text 12"/>
          <p:cNvSpPr txBox="1"/>
          <p:nvPr/>
        </p:nvSpPr>
        <p:spPr>
          <a:xfrm>
            <a:off x="2459736" y="2103120"/>
            <a:ext cx="7315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p:txBody>
      </p:sp>
      <p:sp>
        <p:nvSpPr>
          <p:cNvPr id="15" name="Shape 13"/>
          <p:cNvSpPr/>
          <p:nvPr/>
        </p:nvSpPr>
        <p:spPr>
          <a:xfrm>
            <a:off x="2825496" y="2651760"/>
            <a:ext cx="91" cy="411480"/>
          </a:xfrm>
          <a:prstGeom prst="line">
            <a:avLst/>
          </a:prstGeom>
          <a:noFill/>
          <a:ln w="15875">
            <a:solidFill>
              <a:srgbClr val="50808E"/>
            </a:solidFill>
            <a:prstDash val="solid"/>
          </a:ln>
        </p:spPr>
        <p:txBody>
          <a:bodyPr/>
          <a:p/>
        </p:txBody>
      </p:sp>
      <p:sp>
        <p:nvSpPr>
          <p:cNvPr id="16" name="Shape 14"/>
          <p:cNvSpPr/>
          <p:nvPr/>
        </p:nvSpPr>
        <p:spPr>
          <a:xfrm>
            <a:off x="2660904" y="3063240"/>
            <a:ext cx="329184" cy="329184"/>
          </a:xfrm>
          <a:prstGeom prst="ellipse">
            <a:avLst/>
          </a:prstGeom>
          <a:solidFill>
            <a:srgbClr val="02C39A"/>
          </a:solidFill>
          <a:ln/>
        </p:spPr>
        <p:txBody>
          <a:bodyPr/>
          <a:p/>
        </p:txBody>
      </p:sp>
      <p:sp>
        <p:nvSpPr>
          <p:cNvPr id="17" name="Text 15"/>
          <p:cNvSpPr txBox="1"/>
          <p:nvPr/>
        </p:nvSpPr>
        <p:spPr>
          <a:xfrm>
            <a:off x="3346704" y="2103120"/>
            <a:ext cx="7315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mail</a:t>
            </a:r>
            <a:endParaRPr lang="en-US" sz="1200" dirty="0"/>
          </a:p>
        </p:txBody>
      </p:sp>
      <p:sp>
        <p:nvSpPr>
          <p:cNvPr id="18" name="Shape 16"/>
          <p:cNvSpPr/>
          <p:nvPr/>
        </p:nvSpPr>
        <p:spPr>
          <a:xfrm>
            <a:off x="3712464" y="2651760"/>
            <a:ext cx="91" cy="411480"/>
          </a:xfrm>
          <a:prstGeom prst="line">
            <a:avLst/>
          </a:prstGeom>
          <a:noFill/>
          <a:ln w="15875">
            <a:solidFill>
              <a:srgbClr val="50808E"/>
            </a:solidFill>
            <a:prstDash val="solid"/>
          </a:ln>
        </p:spPr>
        <p:txBody>
          <a:bodyPr/>
          <a:p/>
        </p:txBody>
      </p:sp>
      <p:sp>
        <p:nvSpPr>
          <p:cNvPr id="19" name="Shape 17"/>
          <p:cNvSpPr/>
          <p:nvPr/>
        </p:nvSpPr>
        <p:spPr>
          <a:xfrm>
            <a:off x="3547872" y="3063240"/>
            <a:ext cx="329184" cy="329184"/>
          </a:xfrm>
          <a:prstGeom prst="ellipse">
            <a:avLst/>
          </a:prstGeom>
          <a:solidFill>
            <a:srgbClr val="02C39A"/>
          </a:solidFill>
          <a:ln/>
        </p:spPr>
        <p:txBody>
          <a:bodyPr/>
          <a:p/>
        </p:txBody>
      </p:sp>
      <p:sp>
        <p:nvSpPr>
          <p:cNvPr id="20" name="Text 18"/>
          <p:cNvSpPr txBox="1"/>
          <p:nvPr/>
        </p:nvSpPr>
        <p:spPr>
          <a:xfrm>
            <a:off x="4233672" y="2103120"/>
            <a:ext cx="731520" cy="54864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hex</a:t>
            </a:r>
            <a:endParaRPr lang="en-US" sz="1200" dirty="0"/>
          </a:p>
        </p:txBody>
      </p:sp>
      <p:sp>
        <p:nvSpPr>
          <p:cNvPr id="21" name="Shape 19"/>
          <p:cNvSpPr/>
          <p:nvPr/>
        </p:nvSpPr>
        <p:spPr>
          <a:xfrm>
            <a:off x="4599432" y="2651760"/>
            <a:ext cx="91" cy="411480"/>
          </a:xfrm>
          <a:prstGeom prst="line">
            <a:avLst/>
          </a:prstGeom>
          <a:noFill/>
          <a:ln w="15875">
            <a:solidFill>
              <a:srgbClr val="50808E"/>
            </a:solidFill>
            <a:prstDash val="solid"/>
          </a:ln>
        </p:spPr>
        <p:txBody>
          <a:bodyPr/>
          <a:p/>
        </p:txBody>
      </p:sp>
      <p:sp>
        <p:nvSpPr>
          <p:cNvPr id="22" name="Shape 20"/>
          <p:cNvSpPr/>
          <p:nvPr/>
        </p:nvSpPr>
        <p:spPr>
          <a:xfrm>
            <a:off x="4434840" y="3063240"/>
            <a:ext cx="329184" cy="329184"/>
          </a:xfrm>
          <a:prstGeom prst="ellipse">
            <a:avLst/>
          </a:prstGeom>
          <a:solidFill>
            <a:srgbClr val="02C39A"/>
          </a:solidFill>
          <a:ln/>
        </p:spPr>
        <p:txBody>
          <a:bodyPr/>
          <a:p/>
        </p:txBody>
      </p:sp>
      <p:sp>
        <p:nvSpPr>
          <p:cNvPr id="23" name="Text 21"/>
          <p:cNvSpPr txBox="1"/>
          <p:nvPr/>
        </p:nvSpPr>
        <p:spPr>
          <a:xfrm>
            <a:off x="5120640" y="2103120"/>
            <a:ext cx="731520" cy="548640"/>
          </a:xfrm>
          <a:prstGeom prst="rect">
            <a:avLst/>
          </a:prstGeom>
          <a:noFill/>
          <a:ln/>
        </p:spPr>
        <p:txBody>
          <a:bodyPr wrap="square" lIns="0" tIns="0" rIns="0" bIns="0" rtlCol="0" anchor="ctr"/>
          <a:lstStyle/>
          <a:p>
            <a:pPr algn="ctr" indent="0" marL="0">
              <a:buNone/>
            </a:pPr>
            <a:r>
              <a:rPr lang="en-US" sz="1200" b="1" dirty="0">
                <a:solidFill>
                  <a:srgbClr val="F3B5AE"/>
                </a:solidFill>
                <a:latin typeface="Calibri" pitchFamily="34" charset="0"/>
                <a:ea typeface="Calibri" pitchFamily="34" charset="-122"/>
                <a:cs typeface="Calibri" pitchFamily="34" charset="-120"/>
              </a:rPr>
              <a:t>test?</a:t>
            </a:r>
            <a:endParaRPr lang="en-US" sz="1200" dirty="0"/>
          </a:p>
        </p:txBody>
      </p:sp>
      <p:sp>
        <p:nvSpPr>
          <p:cNvPr id="24" name="Shape 22"/>
          <p:cNvSpPr/>
          <p:nvPr/>
        </p:nvSpPr>
        <p:spPr>
          <a:xfrm>
            <a:off x="5486400" y="2651760"/>
            <a:ext cx="91" cy="411480"/>
          </a:xfrm>
          <a:prstGeom prst="line">
            <a:avLst/>
          </a:prstGeom>
          <a:noFill/>
          <a:ln w="15875">
            <a:solidFill>
              <a:srgbClr val="50808E"/>
            </a:solidFill>
            <a:prstDash val="solid"/>
          </a:ln>
        </p:spPr>
        <p:txBody>
          <a:bodyPr/>
          <a:p/>
        </p:txBody>
      </p:sp>
      <p:sp>
        <p:nvSpPr>
          <p:cNvPr id="25" name="Shape 23"/>
          <p:cNvSpPr/>
          <p:nvPr/>
        </p:nvSpPr>
        <p:spPr>
          <a:xfrm>
            <a:off x="548640" y="3657600"/>
            <a:ext cx="5440680" cy="2606040"/>
          </a:xfrm>
          <a:prstGeom prst="roundRect">
            <a:avLst>
              <a:gd name="adj" fmla="val 2105"/>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6" name="Text 24"/>
          <p:cNvSpPr txBox="1"/>
          <p:nvPr/>
        </p:nvSpPr>
        <p:spPr>
          <a:xfrm>
            <a:off x="777240" y="3840480"/>
            <a:ext cx="4983480" cy="228600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Simple, but every file name must be unique — across all users.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Two users cannot both call a file test.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Hundreds of files in one list: impossible to organise.</a:t>
            </a:r>
            <a:endParaRPr lang="en-US" sz="1400" dirty="0"/>
          </a:p>
        </p:txBody>
      </p:sp>
      <p:sp>
        <p:nvSpPr>
          <p:cNvPr id="27" name="Text 25"/>
          <p:cNvSpPr txBox="1"/>
          <p:nvPr/>
        </p:nvSpPr>
        <p:spPr>
          <a:xfrm>
            <a:off x="6217920" y="1600200"/>
            <a:ext cx="5440680" cy="320040"/>
          </a:xfrm>
          <a:prstGeom prst="rect">
            <a:avLst/>
          </a:prstGeom>
          <a:noFill/>
          <a:ln/>
        </p:spPr>
        <p:txBody>
          <a:bodyPr wrap="square" lIns="0" tIns="0" rIns="0" bIns="0" rtlCol="0" anchor="t"/>
          <a:lstStyle/>
          <a:p>
            <a:pPr indent="0" marL="0">
              <a:buNone/>
            </a:pPr>
            <a:r>
              <a:rPr lang="en-US" sz="1500" b="1" dirty="0">
                <a:solidFill>
                  <a:srgbClr val="028090"/>
                </a:solidFill>
                <a:latin typeface="Calibri" pitchFamily="34" charset="0"/>
                <a:ea typeface="Calibri" pitchFamily="34" charset="-122"/>
                <a:cs typeface="Calibri" pitchFamily="34" charset="-120"/>
              </a:rPr>
              <a:t>Two-level: one directory per user</a:t>
            </a:r>
            <a:endParaRPr lang="en-US" sz="1500" dirty="0"/>
          </a:p>
        </p:txBody>
      </p:sp>
      <p:sp>
        <p:nvSpPr>
          <p:cNvPr id="28" name="Shape 26"/>
          <p:cNvSpPr/>
          <p:nvPr/>
        </p:nvSpPr>
        <p:spPr>
          <a:xfrm>
            <a:off x="7315200" y="2057400"/>
            <a:ext cx="3291840" cy="457200"/>
          </a:xfrm>
          <a:prstGeom prst="roundRect">
            <a:avLst>
              <a:gd name="adj" fmla="val 10000"/>
            </a:avLst>
          </a:prstGeom>
          <a:solidFill>
            <a:srgbClr val="36454F"/>
          </a:solidFill>
          <a:ln/>
        </p:spPr>
        <p:txBody>
          <a:bodyPr/>
          <a:p/>
        </p:txBody>
      </p:sp>
      <p:sp>
        <p:nvSpPr>
          <p:cNvPr id="29" name="Text 27"/>
          <p:cNvSpPr txBox="1"/>
          <p:nvPr/>
        </p:nvSpPr>
        <p:spPr>
          <a:xfrm>
            <a:off x="7315200" y="2057400"/>
            <a:ext cx="3291840" cy="457200"/>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master file directory:  ayse  ·  mehmet</a:t>
            </a:r>
            <a:endParaRPr lang="en-US" sz="1200" dirty="0"/>
          </a:p>
        </p:txBody>
      </p:sp>
      <p:sp>
        <p:nvSpPr>
          <p:cNvPr id="30" name="Shape 28"/>
          <p:cNvSpPr/>
          <p:nvPr/>
        </p:nvSpPr>
        <p:spPr>
          <a:xfrm flipH="1">
            <a:off x="7589520" y="2514600"/>
            <a:ext cx="548640" cy="320040"/>
          </a:xfrm>
          <a:prstGeom prst="line">
            <a:avLst/>
          </a:prstGeom>
          <a:noFill/>
          <a:ln w="15875">
            <a:solidFill>
              <a:srgbClr val="50808E"/>
            </a:solidFill>
            <a:prstDash val="solid"/>
          </a:ln>
        </p:spPr>
        <p:txBody>
          <a:bodyPr/>
          <a:p/>
        </p:txBody>
      </p:sp>
      <p:sp>
        <p:nvSpPr>
          <p:cNvPr id="31" name="Shape 29"/>
          <p:cNvSpPr/>
          <p:nvPr/>
        </p:nvSpPr>
        <p:spPr>
          <a:xfrm>
            <a:off x="6492240" y="2834640"/>
            <a:ext cx="2194560" cy="411480"/>
          </a:xfrm>
          <a:prstGeom prst="roundRect">
            <a:avLst>
              <a:gd name="adj" fmla="val 11111"/>
            </a:avLst>
          </a:prstGeom>
          <a:solidFill>
            <a:srgbClr val="D7E9E6"/>
          </a:solidFill>
          <a:ln/>
        </p:spPr>
        <p:txBody>
          <a:bodyPr/>
          <a:p/>
        </p:txBody>
      </p:sp>
      <p:sp>
        <p:nvSpPr>
          <p:cNvPr id="32" name="Text 30"/>
          <p:cNvSpPr txBox="1"/>
          <p:nvPr/>
        </p:nvSpPr>
        <p:spPr>
          <a:xfrm>
            <a:off x="6492240" y="2834640"/>
            <a:ext cx="2194560" cy="41148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ayse: test · data</a:t>
            </a:r>
            <a:endParaRPr lang="en-US" sz="1200" dirty="0"/>
          </a:p>
        </p:txBody>
      </p:sp>
      <p:sp>
        <p:nvSpPr>
          <p:cNvPr id="33" name="Shape 31"/>
          <p:cNvSpPr/>
          <p:nvPr/>
        </p:nvSpPr>
        <p:spPr>
          <a:xfrm>
            <a:off x="7040880" y="3246120"/>
            <a:ext cx="91" cy="228600"/>
          </a:xfrm>
          <a:prstGeom prst="line">
            <a:avLst/>
          </a:prstGeom>
          <a:noFill/>
          <a:ln w="15875">
            <a:solidFill>
              <a:srgbClr val="50808E"/>
            </a:solidFill>
            <a:prstDash val="solid"/>
          </a:ln>
        </p:spPr>
        <p:txBody>
          <a:bodyPr/>
          <a:p/>
        </p:txBody>
      </p:sp>
      <p:sp>
        <p:nvSpPr>
          <p:cNvPr id="34" name="Shape 32"/>
          <p:cNvSpPr/>
          <p:nvPr/>
        </p:nvSpPr>
        <p:spPr>
          <a:xfrm>
            <a:off x="6876288" y="3474720"/>
            <a:ext cx="329184" cy="329184"/>
          </a:xfrm>
          <a:prstGeom prst="ellipse">
            <a:avLst/>
          </a:prstGeom>
          <a:solidFill>
            <a:srgbClr val="02C39A"/>
          </a:solidFill>
          <a:ln/>
        </p:spPr>
        <p:txBody>
          <a:bodyPr/>
          <a:p/>
        </p:txBody>
      </p:sp>
      <p:sp>
        <p:nvSpPr>
          <p:cNvPr id="35" name="Shape 33"/>
          <p:cNvSpPr/>
          <p:nvPr/>
        </p:nvSpPr>
        <p:spPr>
          <a:xfrm>
            <a:off x="8138160" y="3246120"/>
            <a:ext cx="91" cy="228600"/>
          </a:xfrm>
          <a:prstGeom prst="line">
            <a:avLst/>
          </a:prstGeom>
          <a:noFill/>
          <a:ln w="15875">
            <a:solidFill>
              <a:srgbClr val="50808E"/>
            </a:solidFill>
            <a:prstDash val="solid"/>
          </a:ln>
        </p:spPr>
        <p:txBody>
          <a:bodyPr/>
          <a:p/>
        </p:txBody>
      </p:sp>
      <p:sp>
        <p:nvSpPr>
          <p:cNvPr id="36" name="Shape 34"/>
          <p:cNvSpPr/>
          <p:nvPr/>
        </p:nvSpPr>
        <p:spPr>
          <a:xfrm>
            <a:off x="7973568" y="3474720"/>
            <a:ext cx="329184" cy="329184"/>
          </a:xfrm>
          <a:prstGeom prst="ellipse">
            <a:avLst/>
          </a:prstGeom>
          <a:solidFill>
            <a:srgbClr val="02C39A"/>
          </a:solidFill>
          <a:ln/>
        </p:spPr>
        <p:txBody>
          <a:bodyPr/>
          <a:p/>
        </p:txBody>
      </p:sp>
      <p:sp>
        <p:nvSpPr>
          <p:cNvPr id="37" name="Shape 35"/>
          <p:cNvSpPr/>
          <p:nvPr/>
        </p:nvSpPr>
        <p:spPr>
          <a:xfrm>
            <a:off x="9784080" y="2514600"/>
            <a:ext cx="594360" cy="320040"/>
          </a:xfrm>
          <a:prstGeom prst="line">
            <a:avLst/>
          </a:prstGeom>
          <a:noFill/>
          <a:ln w="15875">
            <a:solidFill>
              <a:srgbClr val="50808E"/>
            </a:solidFill>
            <a:prstDash val="solid"/>
          </a:ln>
        </p:spPr>
        <p:txBody>
          <a:bodyPr/>
          <a:p/>
        </p:txBody>
      </p:sp>
      <p:sp>
        <p:nvSpPr>
          <p:cNvPr id="38" name="Shape 36"/>
          <p:cNvSpPr/>
          <p:nvPr/>
        </p:nvSpPr>
        <p:spPr>
          <a:xfrm>
            <a:off x="9281160" y="2834640"/>
            <a:ext cx="2194560" cy="411480"/>
          </a:xfrm>
          <a:prstGeom prst="roundRect">
            <a:avLst>
              <a:gd name="adj" fmla="val 11111"/>
            </a:avLst>
          </a:prstGeom>
          <a:solidFill>
            <a:srgbClr val="D7E9E6"/>
          </a:solidFill>
          <a:ln/>
        </p:spPr>
        <p:txBody>
          <a:bodyPr/>
          <a:p/>
        </p:txBody>
      </p:sp>
      <p:sp>
        <p:nvSpPr>
          <p:cNvPr id="39" name="Text 37"/>
          <p:cNvSpPr txBox="1"/>
          <p:nvPr/>
        </p:nvSpPr>
        <p:spPr>
          <a:xfrm>
            <a:off x="9281160" y="2834640"/>
            <a:ext cx="2194560" cy="41148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mehmet: test · mail</a:t>
            </a:r>
            <a:endParaRPr lang="en-US" sz="1200" dirty="0"/>
          </a:p>
        </p:txBody>
      </p:sp>
      <p:sp>
        <p:nvSpPr>
          <p:cNvPr id="40" name="Shape 38"/>
          <p:cNvSpPr/>
          <p:nvPr/>
        </p:nvSpPr>
        <p:spPr>
          <a:xfrm>
            <a:off x="9829800" y="3246120"/>
            <a:ext cx="91" cy="228600"/>
          </a:xfrm>
          <a:prstGeom prst="line">
            <a:avLst/>
          </a:prstGeom>
          <a:noFill/>
          <a:ln w="15875">
            <a:solidFill>
              <a:srgbClr val="50808E"/>
            </a:solidFill>
            <a:prstDash val="solid"/>
          </a:ln>
        </p:spPr>
        <p:txBody>
          <a:bodyPr/>
          <a:p/>
        </p:txBody>
      </p:sp>
      <p:sp>
        <p:nvSpPr>
          <p:cNvPr id="41" name="Shape 39"/>
          <p:cNvSpPr/>
          <p:nvPr/>
        </p:nvSpPr>
        <p:spPr>
          <a:xfrm>
            <a:off x="9665208" y="3474720"/>
            <a:ext cx="329184" cy="329184"/>
          </a:xfrm>
          <a:prstGeom prst="ellipse">
            <a:avLst/>
          </a:prstGeom>
          <a:solidFill>
            <a:srgbClr val="02C39A"/>
          </a:solidFill>
          <a:ln/>
        </p:spPr>
        <p:txBody>
          <a:bodyPr/>
          <a:p/>
        </p:txBody>
      </p:sp>
      <p:sp>
        <p:nvSpPr>
          <p:cNvPr id="42" name="Shape 40"/>
          <p:cNvSpPr/>
          <p:nvPr/>
        </p:nvSpPr>
        <p:spPr>
          <a:xfrm>
            <a:off x="10927080" y="3246120"/>
            <a:ext cx="91" cy="228600"/>
          </a:xfrm>
          <a:prstGeom prst="line">
            <a:avLst/>
          </a:prstGeom>
          <a:noFill/>
          <a:ln w="15875">
            <a:solidFill>
              <a:srgbClr val="50808E"/>
            </a:solidFill>
            <a:prstDash val="solid"/>
          </a:ln>
        </p:spPr>
        <p:txBody>
          <a:bodyPr/>
          <a:p/>
        </p:txBody>
      </p:sp>
      <p:sp>
        <p:nvSpPr>
          <p:cNvPr id="43" name="Shape 41"/>
          <p:cNvSpPr/>
          <p:nvPr/>
        </p:nvSpPr>
        <p:spPr>
          <a:xfrm>
            <a:off x="10762488" y="3474720"/>
            <a:ext cx="329184" cy="329184"/>
          </a:xfrm>
          <a:prstGeom prst="ellipse">
            <a:avLst/>
          </a:prstGeom>
          <a:solidFill>
            <a:srgbClr val="02C39A"/>
          </a:solidFill>
          <a:ln/>
        </p:spPr>
        <p:txBody>
          <a:bodyPr/>
          <a:p/>
        </p:txBody>
      </p:sp>
      <p:sp>
        <p:nvSpPr>
          <p:cNvPr id="44" name="Shape 42"/>
          <p:cNvSpPr/>
          <p:nvPr/>
        </p:nvSpPr>
        <p:spPr>
          <a:xfrm>
            <a:off x="6217920" y="4023360"/>
            <a:ext cx="544068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5" name="Text 43"/>
          <p:cNvSpPr txBox="1"/>
          <p:nvPr/>
        </p:nvSpPr>
        <p:spPr>
          <a:xfrm>
            <a:off x="6446520" y="4206240"/>
            <a:ext cx="4983480" cy="192024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Each user has a private directory: both may own a test file.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Path name = user + file name, e.g. /ayse/test.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But no subfolders, and sharing files between users is awkward.</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DIRECTORY STRUCTURES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Tree-Structured Directories and Path Names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32</a:t>
            </a:r>
            <a:endParaRPr lang="en-US" sz="900" dirty="0"/>
          </a:p>
        </p:txBody>
      </p:sp>
      <p:sp>
        <p:nvSpPr>
          <p:cNvPr id="6" name="Shape 4"/>
          <p:cNvSpPr/>
          <p:nvPr/>
        </p:nvSpPr>
        <p:spPr>
          <a:xfrm>
            <a:off x="3291840" y="1600200"/>
            <a:ext cx="1143000" cy="420624"/>
          </a:xfrm>
          <a:prstGeom prst="roundRect">
            <a:avLst>
              <a:gd name="adj" fmla="val 10870"/>
            </a:avLst>
          </a:prstGeom>
          <a:solidFill>
            <a:srgbClr val="36454F"/>
          </a:solidFill>
          <a:ln/>
        </p:spPr>
        <p:txBody>
          <a:bodyPr/>
          <a:p/>
        </p:txBody>
      </p:sp>
      <p:sp>
        <p:nvSpPr>
          <p:cNvPr id="7" name="Text 5"/>
          <p:cNvSpPr txBox="1"/>
          <p:nvPr/>
        </p:nvSpPr>
        <p:spPr>
          <a:xfrm>
            <a:off x="3291840" y="16002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8" name="Shape 6"/>
          <p:cNvSpPr/>
          <p:nvPr/>
        </p:nvSpPr>
        <p:spPr>
          <a:xfrm flipH="1">
            <a:off x="1664208" y="2020824"/>
            <a:ext cx="2194560" cy="493776"/>
          </a:xfrm>
          <a:prstGeom prst="line">
            <a:avLst/>
          </a:prstGeom>
          <a:noFill/>
          <a:ln w="15875">
            <a:solidFill>
              <a:srgbClr val="50808E"/>
            </a:solidFill>
            <a:prstDash val="solid"/>
          </a:ln>
        </p:spPr>
        <p:txBody>
          <a:bodyPr/>
          <a:p/>
        </p:txBody>
      </p:sp>
      <p:sp>
        <p:nvSpPr>
          <p:cNvPr id="9" name="Shape 7"/>
          <p:cNvSpPr/>
          <p:nvPr/>
        </p:nvSpPr>
        <p:spPr>
          <a:xfrm>
            <a:off x="1097280" y="2514600"/>
            <a:ext cx="1143000" cy="420624"/>
          </a:xfrm>
          <a:prstGeom prst="roundRect">
            <a:avLst>
              <a:gd name="adj" fmla="val 10870"/>
            </a:avLst>
          </a:prstGeom>
          <a:solidFill>
            <a:srgbClr val="D7E9E6"/>
          </a:solidFill>
          <a:ln/>
        </p:spPr>
        <p:txBody>
          <a:bodyPr/>
          <a:p/>
        </p:txBody>
      </p:sp>
      <p:sp>
        <p:nvSpPr>
          <p:cNvPr id="10" name="Text 8"/>
          <p:cNvSpPr txBox="1"/>
          <p:nvPr/>
        </p:nvSpPr>
        <p:spPr>
          <a:xfrm>
            <a:off x="1097280" y="25146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bin</a:t>
            </a:r>
            <a:endParaRPr lang="en-US" sz="1200" dirty="0"/>
          </a:p>
        </p:txBody>
      </p:sp>
      <p:sp>
        <p:nvSpPr>
          <p:cNvPr id="11" name="Shape 9"/>
          <p:cNvSpPr/>
          <p:nvPr/>
        </p:nvSpPr>
        <p:spPr>
          <a:xfrm>
            <a:off x="3858768" y="2020824"/>
            <a:ext cx="91" cy="493776"/>
          </a:xfrm>
          <a:prstGeom prst="line">
            <a:avLst/>
          </a:prstGeom>
          <a:noFill/>
          <a:ln w="15875">
            <a:solidFill>
              <a:srgbClr val="50808E"/>
            </a:solidFill>
            <a:prstDash val="solid"/>
          </a:ln>
        </p:spPr>
        <p:txBody>
          <a:bodyPr/>
          <a:p/>
        </p:txBody>
      </p:sp>
      <p:sp>
        <p:nvSpPr>
          <p:cNvPr id="12" name="Shape 10"/>
          <p:cNvSpPr/>
          <p:nvPr/>
        </p:nvSpPr>
        <p:spPr>
          <a:xfrm>
            <a:off x="3291840" y="2514600"/>
            <a:ext cx="1143000" cy="420624"/>
          </a:xfrm>
          <a:prstGeom prst="roundRect">
            <a:avLst>
              <a:gd name="adj" fmla="val 10870"/>
            </a:avLst>
          </a:prstGeom>
          <a:solidFill>
            <a:srgbClr val="D7E9E6"/>
          </a:solidFill>
          <a:ln/>
        </p:spPr>
        <p:txBody>
          <a:bodyPr/>
          <a:p/>
        </p:txBody>
      </p:sp>
      <p:sp>
        <p:nvSpPr>
          <p:cNvPr id="13" name="Text 11"/>
          <p:cNvSpPr txBox="1"/>
          <p:nvPr/>
        </p:nvSpPr>
        <p:spPr>
          <a:xfrm>
            <a:off x="3291840" y="25146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home</a:t>
            </a:r>
            <a:endParaRPr lang="en-US" sz="1200" dirty="0"/>
          </a:p>
        </p:txBody>
      </p:sp>
      <p:sp>
        <p:nvSpPr>
          <p:cNvPr id="14" name="Shape 12"/>
          <p:cNvSpPr/>
          <p:nvPr/>
        </p:nvSpPr>
        <p:spPr>
          <a:xfrm>
            <a:off x="3858768" y="2020824"/>
            <a:ext cx="1783080" cy="493776"/>
          </a:xfrm>
          <a:prstGeom prst="line">
            <a:avLst/>
          </a:prstGeom>
          <a:noFill/>
          <a:ln w="15875">
            <a:solidFill>
              <a:srgbClr val="50808E"/>
            </a:solidFill>
            <a:prstDash val="solid"/>
          </a:ln>
        </p:spPr>
        <p:txBody>
          <a:bodyPr/>
          <a:p/>
        </p:txBody>
      </p:sp>
      <p:sp>
        <p:nvSpPr>
          <p:cNvPr id="15" name="Shape 13"/>
          <p:cNvSpPr/>
          <p:nvPr/>
        </p:nvSpPr>
        <p:spPr>
          <a:xfrm>
            <a:off x="5074920" y="2514600"/>
            <a:ext cx="1143000" cy="420624"/>
          </a:xfrm>
          <a:prstGeom prst="roundRect">
            <a:avLst>
              <a:gd name="adj" fmla="val 10870"/>
            </a:avLst>
          </a:prstGeom>
          <a:solidFill>
            <a:srgbClr val="D7E9E6"/>
          </a:solidFill>
          <a:ln/>
        </p:spPr>
        <p:txBody>
          <a:bodyPr/>
          <a:p/>
        </p:txBody>
      </p:sp>
      <p:sp>
        <p:nvSpPr>
          <p:cNvPr id="16" name="Text 14"/>
          <p:cNvSpPr txBox="1"/>
          <p:nvPr/>
        </p:nvSpPr>
        <p:spPr>
          <a:xfrm>
            <a:off x="5074920" y="25146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etc</a:t>
            </a:r>
            <a:endParaRPr lang="en-US" sz="1200" dirty="0"/>
          </a:p>
        </p:txBody>
      </p:sp>
      <p:sp>
        <p:nvSpPr>
          <p:cNvPr id="17" name="Shape 15"/>
          <p:cNvSpPr/>
          <p:nvPr/>
        </p:nvSpPr>
        <p:spPr>
          <a:xfrm flipH="1">
            <a:off x="1051560" y="2935224"/>
            <a:ext cx="612648" cy="493776"/>
          </a:xfrm>
          <a:prstGeom prst="line">
            <a:avLst/>
          </a:prstGeom>
          <a:noFill/>
          <a:ln w="15875">
            <a:solidFill>
              <a:srgbClr val="50808E"/>
            </a:solidFill>
            <a:prstDash val="solid"/>
          </a:ln>
        </p:spPr>
        <p:txBody>
          <a:bodyPr/>
          <a:p/>
        </p:txBody>
      </p:sp>
      <p:sp>
        <p:nvSpPr>
          <p:cNvPr id="18" name="Shape 16"/>
          <p:cNvSpPr/>
          <p:nvPr/>
        </p:nvSpPr>
        <p:spPr>
          <a:xfrm>
            <a:off x="548640" y="3429000"/>
            <a:ext cx="1005840" cy="420624"/>
          </a:xfrm>
          <a:prstGeom prst="roundRect">
            <a:avLst>
              <a:gd name="adj" fmla="val 10870"/>
            </a:avLst>
          </a:prstGeom>
          <a:solidFill>
            <a:srgbClr val="F2F2F2"/>
          </a:solidFill>
          <a:ln/>
        </p:spPr>
        <p:txBody>
          <a:bodyPr/>
          <a:p/>
        </p:txBody>
      </p:sp>
      <p:sp>
        <p:nvSpPr>
          <p:cNvPr id="19" name="Text 17"/>
          <p:cNvSpPr txBox="1"/>
          <p:nvPr/>
        </p:nvSpPr>
        <p:spPr>
          <a:xfrm>
            <a:off x="548640" y="3429000"/>
            <a:ext cx="100584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ls</a:t>
            </a:r>
            <a:endParaRPr lang="en-US" sz="1200" dirty="0"/>
          </a:p>
        </p:txBody>
      </p:sp>
      <p:sp>
        <p:nvSpPr>
          <p:cNvPr id="20" name="Shape 18"/>
          <p:cNvSpPr/>
          <p:nvPr/>
        </p:nvSpPr>
        <p:spPr>
          <a:xfrm>
            <a:off x="1664208" y="2935224"/>
            <a:ext cx="530352" cy="493776"/>
          </a:xfrm>
          <a:prstGeom prst="line">
            <a:avLst/>
          </a:prstGeom>
          <a:noFill/>
          <a:ln w="15875">
            <a:solidFill>
              <a:srgbClr val="50808E"/>
            </a:solidFill>
            <a:prstDash val="solid"/>
          </a:ln>
        </p:spPr>
        <p:txBody>
          <a:bodyPr/>
          <a:p/>
        </p:txBody>
      </p:sp>
      <p:sp>
        <p:nvSpPr>
          <p:cNvPr id="21" name="Shape 19"/>
          <p:cNvSpPr/>
          <p:nvPr/>
        </p:nvSpPr>
        <p:spPr>
          <a:xfrm>
            <a:off x="1691640" y="3429000"/>
            <a:ext cx="1005840" cy="420624"/>
          </a:xfrm>
          <a:prstGeom prst="roundRect">
            <a:avLst>
              <a:gd name="adj" fmla="val 10870"/>
            </a:avLst>
          </a:prstGeom>
          <a:solidFill>
            <a:srgbClr val="F2F2F2"/>
          </a:solidFill>
          <a:ln/>
        </p:spPr>
        <p:txBody>
          <a:bodyPr/>
          <a:p/>
        </p:txBody>
      </p:sp>
      <p:sp>
        <p:nvSpPr>
          <p:cNvPr id="22" name="Text 20"/>
          <p:cNvSpPr txBox="1"/>
          <p:nvPr/>
        </p:nvSpPr>
        <p:spPr>
          <a:xfrm>
            <a:off x="1691640" y="3429000"/>
            <a:ext cx="100584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cat</a:t>
            </a:r>
            <a:endParaRPr lang="en-US" sz="1200" dirty="0"/>
          </a:p>
        </p:txBody>
      </p:sp>
      <p:sp>
        <p:nvSpPr>
          <p:cNvPr id="23" name="Shape 21"/>
          <p:cNvSpPr/>
          <p:nvPr/>
        </p:nvSpPr>
        <p:spPr>
          <a:xfrm flipH="1">
            <a:off x="3493008" y="2935224"/>
            <a:ext cx="365760" cy="493776"/>
          </a:xfrm>
          <a:prstGeom prst="line">
            <a:avLst/>
          </a:prstGeom>
          <a:noFill/>
          <a:ln w="15875">
            <a:solidFill>
              <a:srgbClr val="50808E"/>
            </a:solidFill>
            <a:prstDash val="solid"/>
          </a:ln>
        </p:spPr>
        <p:txBody>
          <a:bodyPr/>
          <a:p/>
        </p:txBody>
      </p:sp>
      <p:sp>
        <p:nvSpPr>
          <p:cNvPr id="24" name="Shape 22"/>
          <p:cNvSpPr/>
          <p:nvPr/>
        </p:nvSpPr>
        <p:spPr>
          <a:xfrm>
            <a:off x="2926080" y="3429000"/>
            <a:ext cx="1143000" cy="420624"/>
          </a:xfrm>
          <a:prstGeom prst="roundRect">
            <a:avLst>
              <a:gd name="adj" fmla="val 10870"/>
            </a:avLst>
          </a:prstGeom>
          <a:solidFill>
            <a:srgbClr val="D7E9E6"/>
          </a:solidFill>
          <a:ln/>
        </p:spPr>
        <p:txBody>
          <a:bodyPr/>
          <a:p/>
        </p:txBody>
      </p:sp>
      <p:sp>
        <p:nvSpPr>
          <p:cNvPr id="25" name="Text 23"/>
          <p:cNvSpPr txBox="1"/>
          <p:nvPr/>
        </p:nvSpPr>
        <p:spPr>
          <a:xfrm>
            <a:off x="2926080" y="34290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ayse</a:t>
            </a:r>
            <a:endParaRPr lang="en-US" sz="1200" dirty="0"/>
          </a:p>
        </p:txBody>
      </p:sp>
      <p:sp>
        <p:nvSpPr>
          <p:cNvPr id="26" name="Shape 24"/>
          <p:cNvSpPr/>
          <p:nvPr/>
        </p:nvSpPr>
        <p:spPr>
          <a:xfrm>
            <a:off x="3858768" y="2935224"/>
            <a:ext cx="1097280" cy="493776"/>
          </a:xfrm>
          <a:prstGeom prst="line">
            <a:avLst/>
          </a:prstGeom>
          <a:noFill/>
          <a:ln w="15875">
            <a:solidFill>
              <a:srgbClr val="50808E"/>
            </a:solidFill>
            <a:prstDash val="solid"/>
          </a:ln>
        </p:spPr>
        <p:txBody>
          <a:bodyPr/>
          <a:p/>
        </p:txBody>
      </p:sp>
      <p:sp>
        <p:nvSpPr>
          <p:cNvPr id="27" name="Shape 25"/>
          <p:cNvSpPr/>
          <p:nvPr/>
        </p:nvSpPr>
        <p:spPr>
          <a:xfrm>
            <a:off x="4389120" y="3429000"/>
            <a:ext cx="1143000" cy="420624"/>
          </a:xfrm>
          <a:prstGeom prst="roundRect">
            <a:avLst>
              <a:gd name="adj" fmla="val 10870"/>
            </a:avLst>
          </a:prstGeom>
          <a:solidFill>
            <a:srgbClr val="D7E9E6"/>
          </a:solidFill>
          <a:ln/>
        </p:spPr>
        <p:txBody>
          <a:bodyPr/>
          <a:p/>
        </p:txBody>
      </p:sp>
      <p:sp>
        <p:nvSpPr>
          <p:cNvPr id="28" name="Text 26"/>
          <p:cNvSpPr txBox="1"/>
          <p:nvPr/>
        </p:nvSpPr>
        <p:spPr>
          <a:xfrm>
            <a:off x="4389120" y="34290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mehmet</a:t>
            </a:r>
            <a:endParaRPr lang="en-US" sz="1200" dirty="0"/>
          </a:p>
        </p:txBody>
      </p:sp>
      <p:sp>
        <p:nvSpPr>
          <p:cNvPr id="29" name="Shape 27"/>
          <p:cNvSpPr/>
          <p:nvPr/>
        </p:nvSpPr>
        <p:spPr>
          <a:xfrm flipH="1">
            <a:off x="2715768" y="3849624"/>
            <a:ext cx="777240" cy="493776"/>
          </a:xfrm>
          <a:prstGeom prst="line">
            <a:avLst/>
          </a:prstGeom>
          <a:noFill/>
          <a:ln w="15875">
            <a:solidFill>
              <a:srgbClr val="50808E"/>
            </a:solidFill>
            <a:prstDash val="solid"/>
          </a:ln>
        </p:spPr>
        <p:txBody>
          <a:bodyPr/>
          <a:p/>
        </p:txBody>
      </p:sp>
      <p:sp>
        <p:nvSpPr>
          <p:cNvPr id="30" name="Shape 28"/>
          <p:cNvSpPr/>
          <p:nvPr/>
        </p:nvSpPr>
        <p:spPr>
          <a:xfrm>
            <a:off x="2148840" y="4343400"/>
            <a:ext cx="1143000" cy="420624"/>
          </a:xfrm>
          <a:prstGeom prst="roundRect">
            <a:avLst>
              <a:gd name="adj" fmla="val 10870"/>
            </a:avLst>
          </a:prstGeom>
          <a:solidFill>
            <a:srgbClr val="D7E9E6"/>
          </a:solidFill>
          <a:ln/>
        </p:spPr>
        <p:txBody>
          <a:bodyPr/>
          <a:p/>
        </p:txBody>
      </p:sp>
      <p:sp>
        <p:nvSpPr>
          <p:cNvPr id="31" name="Text 29"/>
          <p:cNvSpPr txBox="1"/>
          <p:nvPr/>
        </p:nvSpPr>
        <p:spPr>
          <a:xfrm>
            <a:off x="2148840" y="43434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os</a:t>
            </a:r>
            <a:endParaRPr lang="en-US" sz="1200" dirty="0"/>
          </a:p>
        </p:txBody>
      </p:sp>
      <p:sp>
        <p:nvSpPr>
          <p:cNvPr id="32" name="Shape 30"/>
          <p:cNvSpPr/>
          <p:nvPr/>
        </p:nvSpPr>
        <p:spPr>
          <a:xfrm>
            <a:off x="3493008" y="3849624"/>
            <a:ext cx="502920" cy="493776"/>
          </a:xfrm>
          <a:prstGeom prst="line">
            <a:avLst/>
          </a:prstGeom>
          <a:noFill/>
          <a:ln w="15875">
            <a:solidFill>
              <a:srgbClr val="50808E"/>
            </a:solidFill>
            <a:prstDash val="solid"/>
          </a:ln>
        </p:spPr>
        <p:txBody>
          <a:bodyPr/>
          <a:p/>
        </p:txBody>
      </p:sp>
      <p:sp>
        <p:nvSpPr>
          <p:cNvPr id="33" name="Shape 31"/>
          <p:cNvSpPr/>
          <p:nvPr/>
        </p:nvSpPr>
        <p:spPr>
          <a:xfrm>
            <a:off x="3429000" y="4343400"/>
            <a:ext cx="1143000" cy="420624"/>
          </a:xfrm>
          <a:prstGeom prst="roundRect">
            <a:avLst>
              <a:gd name="adj" fmla="val 10870"/>
            </a:avLst>
          </a:prstGeom>
          <a:solidFill>
            <a:srgbClr val="F2F2F2"/>
          </a:solidFill>
          <a:ln/>
        </p:spPr>
        <p:txBody>
          <a:bodyPr/>
          <a:p/>
        </p:txBody>
      </p:sp>
      <p:sp>
        <p:nvSpPr>
          <p:cNvPr id="34" name="Text 32"/>
          <p:cNvSpPr txBox="1"/>
          <p:nvPr/>
        </p:nvSpPr>
        <p:spPr>
          <a:xfrm>
            <a:off x="3429000" y="43434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photo.jpg</a:t>
            </a:r>
            <a:endParaRPr lang="en-US" sz="1200" dirty="0"/>
          </a:p>
        </p:txBody>
      </p:sp>
      <p:sp>
        <p:nvSpPr>
          <p:cNvPr id="35" name="Shape 33"/>
          <p:cNvSpPr/>
          <p:nvPr/>
        </p:nvSpPr>
        <p:spPr>
          <a:xfrm>
            <a:off x="4956048" y="3849624"/>
            <a:ext cx="484632" cy="493776"/>
          </a:xfrm>
          <a:prstGeom prst="line">
            <a:avLst/>
          </a:prstGeom>
          <a:noFill/>
          <a:ln w="15875">
            <a:solidFill>
              <a:srgbClr val="50808E"/>
            </a:solidFill>
            <a:prstDash val="solid"/>
          </a:ln>
        </p:spPr>
        <p:txBody>
          <a:bodyPr/>
          <a:p/>
        </p:txBody>
      </p:sp>
      <p:sp>
        <p:nvSpPr>
          <p:cNvPr id="36" name="Shape 34"/>
          <p:cNvSpPr/>
          <p:nvPr/>
        </p:nvSpPr>
        <p:spPr>
          <a:xfrm>
            <a:off x="4800600" y="4343400"/>
            <a:ext cx="1280160" cy="420624"/>
          </a:xfrm>
          <a:prstGeom prst="roundRect">
            <a:avLst>
              <a:gd name="adj" fmla="val 10870"/>
            </a:avLst>
          </a:prstGeom>
          <a:solidFill>
            <a:srgbClr val="F2F2F2"/>
          </a:solidFill>
          <a:ln/>
        </p:spPr>
        <p:txBody>
          <a:bodyPr/>
          <a:p/>
        </p:txBody>
      </p:sp>
      <p:sp>
        <p:nvSpPr>
          <p:cNvPr id="37" name="Text 35"/>
          <p:cNvSpPr txBox="1"/>
          <p:nvPr/>
        </p:nvSpPr>
        <p:spPr>
          <a:xfrm>
            <a:off x="4800600" y="4343400"/>
            <a:ext cx="128016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report.txt</a:t>
            </a:r>
            <a:endParaRPr lang="en-US" sz="1200" dirty="0"/>
          </a:p>
        </p:txBody>
      </p:sp>
      <p:sp>
        <p:nvSpPr>
          <p:cNvPr id="38" name="Shape 36"/>
          <p:cNvSpPr/>
          <p:nvPr/>
        </p:nvSpPr>
        <p:spPr>
          <a:xfrm flipH="1">
            <a:off x="2029968" y="4764024"/>
            <a:ext cx="685800" cy="493776"/>
          </a:xfrm>
          <a:prstGeom prst="line">
            <a:avLst/>
          </a:prstGeom>
          <a:noFill/>
          <a:ln w="15875">
            <a:solidFill>
              <a:srgbClr val="50808E"/>
            </a:solidFill>
            <a:prstDash val="solid"/>
          </a:ln>
        </p:spPr>
        <p:txBody>
          <a:bodyPr/>
          <a:p/>
        </p:txBody>
      </p:sp>
      <p:sp>
        <p:nvSpPr>
          <p:cNvPr id="39" name="Shape 37"/>
          <p:cNvSpPr/>
          <p:nvPr/>
        </p:nvSpPr>
        <p:spPr>
          <a:xfrm>
            <a:off x="1463040" y="5257800"/>
            <a:ext cx="1143000" cy="420624"/>
          </a:xfrm>
          <a:prstGeom prst="roundRect">
            <a:avLst>
              <a:gd name="adj" fmla="val 10870"/>
            </a:avLst>
          </a:prstGeom>
          <a:solidFill>
            <a:srgbClr val="02C39A"/>
          </a:solidFill>
          <a:ln/>
        </p:spPr>
        <p:txBody>
          <a:bodyPr/>
          <a:p/>
        </p:txBody>
      </p:sp>
      <p:sp>
        <p:nvSpPr>
          <p:cNvPr id="40" name="Text 38"/>
          <p:cNvSpPr txBox="1"/>
          <p:nvPr/>
        </p:nvSpPr>
        <p:spPr>
          <a:xfrm>
            <a:off x="1463040" y="52578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notes.txt</a:t>
            </a:r>
            <a:endParaRPr lang="en-US" sz="1200" dirty="0"/>
          </a:p>
        </p:txBody>
      </p:sp>
      <p:sp>
        <p:nvSpPr>
          <p:cNvPr id="41" name="Shape 39"/>
          <p:cNvSpPr/>
          <p:nvPr/>
        </p:nvSpPr>
        <p:spPr>
          <a:xfrm>
            <a:off x="2715768" y="4764024"/>
            <a:ext cx="594360" cy="493776"/>
          </a:xfrm>
          <a:prstGeom prst="line">
            <a:avLst/>
          </a:prstGeom>
          <a:noFill/>
          <a:ln w="15875">
            <a:solidFill>
              <a:srgbClr val="50808E"/>
            </a:solidFill>
            <a:prstDash val="solid"/>
          </a:ln>
        </p:spPr>
        <p:txBody>
          <a:bodyPr/>
          <a:p/>
        </p:txBody>
      </p:sp>
      <p:sp>
        <p:nvSpPr>
          <p:cNvPr id="42" name="Shape 40"/>
          <p:cNvSpPr/>
          <p:nvPr/>
        </p:nvSpPr>
        <p:spPr>
          <a:xfrm>
            <a:off x="2743200" y="5257800"/>
            <a:ext cx="1143000" cy="420624"/>
          </a:xfrm>
          <a:prstGeom prst="roundRect">
            <a:avLst>
              <a:gd name="adj" fmla="val 10870"/>
            </a:avLst>
          </a:prstGeom>
          <a:solidFill>
            <a:srgbClr val="F2F2F2"/>
          </a:solidFill>
          <a:ln/>
        </p:spPr>
        <p:txBody>
          <a:bodyPr/>
          <a:p/>
        </p:txBody>
      </p:sp>
      <p:sp>
        <p:nvSpPr>
          <p:cNvPr id="43" name="Text 41"/>
          <p:cNvSpPr txBox="1"/>
          <p:nvPr/>
        </p:nvSpPr>
        <p:spPr>
          <a:xfrm>
            <a:off x="2743200" y="5257800"/>
            <a:ext cx="1143000" cy="420624"/>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lab1.c</a:t>
            </a:r>
            <a:endParaRPr lang="en-US" sz="1200" dirty="0"/>
          </a:p>
        </p:txBody>
      </p:sp>
      <p:sp>
        <p:nvSpPr>
          <p:cNvPr id="44" name="Text 42"/>
          <p:cNvSpPr txBox="1"/>
          <p:nvPr/>
        </p:nvSpPr>
        <p:spPr>
          <a:xfrm>
            <a:off x="548640" y="5852160"/>
            <a:ext cx="5669280" cy="274320"/>
          </a:xfrm>
          <a:prstGeom prst="rect">
            <a:avLst/>
          </a:prstGeom>
          <a:noFill/>
          <a:ln/>
        </p:spPr>
        <p:txBody>
          <a:bodyPr wrap="square" lIns="0" tIns="0" rIns="0" bIns="0" rtlCol="0" anchor="t"/>
          <a:lstStyle/>
          <a:p>
            <a:pPr indent="0" marL="0">
              <a:buNone/>
            </a:pPr>
            <a:r>
              <a:rPr lang="en-US" sz="1100" i="1" dirty="0">
                <a:solidFill>
                  <a:srgbClr val="6B7679"/>
                </a:solidFill>
                <a:latin typeface="Calibri" pitchFamily="34" charset="0"/>
                <a:ea typeface="Calibri" pitchFamily="34" charset="-122"/>
                <a:cs typeface="Calibri" pitchFamily="34" charset="-120"/>
              </a:rPr>
              <a:t>pale = directory, white = file</a:t>
            </a:r>
            <a:endParaRPr lang="en-US" sz="1100" dirty="0"/>
          </a:p>
        </p:txBody>
      </p:sp>
      <p:sp>
        <p:nvSpPr>
          <p:cNvPr id="45" name="Shape 43"/>
          <p:cNvSpPr/>
          <p:nvPr/>
        </p:nvSpPr>
        <p:spPr>
          <a:xfrm>
            <a:off x="6583680" y="1508760"/>
            <a:ext cx="5074920" cy="2240280"/>
          </a:xfrm>
          <a:prstGeom prst="roundRect">
            <a:avLst>
              <a:gd name="adj" fmla="val 2449"/>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46" name="Text 44"/>
          <p:cNvSpPr txBox="1"/>
          <p:nvPr/>
        </p:nvSpPr>
        <p:spPr>
          <a:xfrm>
            <a:off x="6812280" y="1691640"/>
            <a:ext cx="461772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Two ways to name a file</a:t>
            </a:r>
            <a:endParaRPr lang="en-US" sz="1500" dirty="0"/>
          </a:p>
        </p:txBody>
      </p:sp>
      <p:sp>
        <p:nvSpPr>
          <p:cNvPr id="47" name="Text 45"/>
          <p:cNvSpPr txBox="1"/>
          <p:nvPr/>
        </p:nvSpPr>
        <p:spPr>
          <a:xfrm>
            <a:off x="6812280" y="2148840"/>
            <a:ext cx="4617720" cy="1463040"/>
          </a:xfrm>
          <a:prstGeom prst="rect">
            <a:avLst/>
          </a:prstGeom>
          <a:noFill/>
          <a:ln/>
        </p:spPr>
        <p:txBody>
          <a:bodyPr wrap="square" lIns="0" tIns="0" rIns="0" bIns="0" rtlCol="0" anchor="t"/>
          <a:lstStyle/>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Absolute path:</a:t>
            </a:r>
            <a:r>
              <a:rPr lang="en-US" sz="1400" dirty="0">
                <a:solidFill>
                  <a:srgbClr val="3A464C"/>
                </a:solidFill>
                <a:latin typeface="Calibri" pitchFamily="34" charset="0"/>
                <a:ea typeface="Calibri" pitchFamily="34" charset="-122"/>
                <a:cs typeface="Calibri" pitchFamily="34" charset="-120"/>
              </a:rPr>
              <a:t> starts at the root /.</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Relative path:</a:t>
            </a:r>
            <a:r>
              <a:rPr lang="en-US" sz="1400" dirty="0">
                <a:solidFill>
                  <a:srgbClr val="3A464C"/>
                </a:solidFill>
                <a:latin typeface="Calibri" pitchFamily="34" charset="0"/>
                <a:ea typeface="Calibri" pitchFamily="34" charset="-122"/>
                <a:cs typeface="Calibri" pitchFamily="34" charset="-120"/>
              </a:rPr>
              <a:t> starts at the current directory.</a:t>
            </a:r>
            <a:endParaRPr lang="en-US" sz="1400" dirty="0"/>
          </a:p>
          <a:p>
            <a:pPr marL="228600" indent="-228600">
              <a:spcAft>
                <a:spcPts val="400"/>
              </a:spcAft>
              <a:buSzPct val="100000"/>
              <a:buChar char="•"/>
            </a:pPr>
            <a:r>
              <a:rPr lang="en-US" sz="1400" b="1" dirty="0">
                <a:solidFill>
                  <a:srgbClr val="3A464C"/>
                </a:solidFill>
                <a:latin typeface="Calibri" pitchFamily="34" charset="0"/>
                <a:ea typeface="Calibri" pitchFamily="34" charset="-122"/>
                <a:cs typeface="Calibri" pitchFamily="34" charset="-120"/>
              </a:rPr>
              <a:t>. and ..</a:t>
            </a:r>
            <a:r>
              <a:rPr lang="en-US" sz="1400" dirty="0">
                <a:solidFill>
                  <a:srgbClr val="3A464C"/>
                </a:solidFill>
                <a:latin typeface="Calibri" pitchFamily="34" charset="0"/>
                <a:ea typeface="Calibri" pitchFamily="34" charset="-122"/>
                <a:cs typeface="Calibri" pitchFamily="34" charset="-120"/>
              </a:rPr>
              <a:t> mean this directory and its parent.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Week 9: pwd, cd and ls move you around this tree.</a:t>
            </a:r>
            <a:endParaRPr lang="en-US" sz="1400" dirty="0"/>
          </a:p>
        </p:txBody>
      </p:sp>
      <p:sp>
        <p:nvSpPr>
          <p:cNvPr id="48" name="Shape 46"/>
          <p:cNvSpPr/>
          <p:nvPr/>
        </p:nvSpPr>
        <p:spPr>
          <a:xfrm>
            <a:off x="6583680" y="3931920"/>
            <a:ext cx="5074920" cy="2331720"/>
          </a:xfrm>
          <a:prstGeom prst="roundRect">
            <a:avLst>
              <a:gd name="adj" fmla="val 1961"/>
            </a:avLst>
          </a:prstGeom>
          <a:solidFill>
            <a:srgbClr val="212121"/>
          </a:solidFill>
          <a:ln/>
        </p:spPr>
        <p:txBody>
          <a:bodyPr/>
          <a:p/>
        </p:txBody>
      </p:sp>
      <p:sp>
        <p:nvSpPr>
          <p:cNvPr id="49" name="Text 47"/>
          <p:cNvSpPr txBox="1"/>
          <p:nvPr/>
        </p:nvSpPr>
        <p:spPr>
          <a:xfrm>
            <a:off x="6766560" y="4041648"/>
            <a:ext cx="4709160" cy="2112264"/>
          </a:xfrm>
          <a:prstGeom prst="rect">
            <a:avLst/>
          </a:prstGeom>
          <a:noFill/>
          <a:ln/>
        </p:spPr>
        <p:txBody>
          <a:bodyPr wrap="square" lIns="0" tIns="0" rIns="0" bIns="0" rtlCol="0" anchor="t"/>
          <a:lstStyle/>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absolute: works from anywhere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/home/ayse/os/notes.txt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relative, current directory /home/ayse</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os/notes.txt</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 </a:t>
            </a:r>
            <a:endParaRPr lang="en-US" sz="1250" dirty="0"/>
          </a:p>
          <a:p>
            <a:pPr indent="0" marL="0">
              <a:lnSpc>
                <a:spcPct val="105000"/>
              </a:lnSpc>
              <a:buNone/>
            </a:pPr>
            <a:r>
              <a:rPr lang="en-US" sz="1250" dirty="0">
                <a:solidFill>
                  <a:srgbClr val="8A9AA0"/>
                </a:solidFill>
                <a:latin typeface="Consolas" pitchFamily="34" charset="0"/>
                <a:ea typeface="Consolas" pitchFamily="34" charset="-122"/>
                <a:cs typeface="Consolas" pitchFamily="34" charset="-120"/>
              </a:rPr>
              <a:t># relative, current directory /home/ayse/os</a:t>
            </a:r>
            <a:endParaRPr lang="en-US" sz="1250" dirty="0"/>
          </a:p>
          <a:p>
            <a:pPr indent="0" marL="0">
              <a:lnSpc>
                <a:spcPct val="105000"/>
              </a:lnSpc>
              <a:buNone/>
            </a:pPr>
            <a:r>
              <a:rPr lang="en-US" sz="1250" dirty="0">
                <a:solidFill>
                  <a:srgbClr val="F2F2F2"/>
                </a:solidFill>
                <a:latin typeface="Consolas" pitchFamily="34" charset="0"/>
                <a:ea typeface="Consolas" pitchFamily="34" charset="-122"/>
                <a:cs typeface="Consolas" pitchFamily="34" charset="-120"/>
              </a:rPr>
              <a:t>../../mehmet/report.txt</a:t>
            </a:r>
            <a:endParaRPr lang="en-US" sz="12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DIRECTORY STRUCTURES</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Acyclic Graphs: Sharing with Links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33</a:t>
            </a:r>
            <a:endParaRPr lang="en-US" sz="900" dirty="0"/>
          </a:p>
        </p:txBody>
      </p:sp>
      <p:sp>
        <p:nvSpPr>
          <p:cNvPr id="6" name="Shape 4"/>
          <p:cNvSpPr/>
          <p:nvPr/>
        </p:nvSpPr>
        <p:spPr>
          <a:xfrm>
            <a:off x="731520" y="1645920"/>
            <a:ext cx="1737360" cy="457200"/>
          </a:xfrm>
          <a:prstGeom prst="roundRect">
            <a:avLst>
              <a:gd name="adj" fmla="val 10000"/>
            </a:avLst>
          </a:prstGeom>
          <a:solidFill>
            <a:srgbClr val="D7E9E6"/>
          </a:solidFill>
          <a:ln/>
        </p:spPr>
        <p:txBody>
          <a:bodyPr/>
          <a:p/>
        </p:txBody>
      </p:sp>
      <p:sp>
        <p:nvSpPr>
          <p:cNvPr id="7" name="Text 5"/>
          <p:cNvSpPr txBox="1"/>
          <p:nvPr/>
        </p:nvSpPr>
        <p:spPr>
          <a:xfrm>
            <a:off x="731520" y="1645920"/>
            <a:ext cx="1737360"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/home/ayse</a:t>
            </a:r>
            <a:endParaRPr lang="en-US" sz="1300" dirty="0"/>
          </a:p>
        </p:txBody>
      </p:sp>
      <p:sp>
        <p:nvSpPr>
          <p:cNvPr id="8" name="Shape 6"/>
          <p:cNvSpPr/>
          <p:nvPr/>
        </p:nvSpPr>
        <p:spPr>
          <a:xfrm>
            <a:off x="4114800" y="1645920"/>
            <a:ext cx="1737360" cy="457200"/>
          </a:xfrm>
          <a:prstGeom prst="roundRect">
            <a:avLst>
              <a:gd name="adj" fmla="val 10000"/>
            </a:avLst>
          </a:prstGeom>
          <a:solidFill>
            <a:srgbClr val="D7E9E6"/>
          </a:solidFill>
          <a:ln/>
        </p:spPr>
        <p:txBody>
          <a:bodyPr/>
          <a:p/>
        </p:txBody>
      </p:sp>
      <p:sp>
        <p:nvSpPr>
          <p:cNvPr id="9" name="Text 7"/>
          <p:cNvSpPr txBox="1"/>
          <p:nvPr/>
        </p:nvSpPr>
        <p:spPr>
          <a:xfrm>
            <a:off x="4114800" y="1645920"/>
            <a:ext cx="1737360"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/home/mehmet</a:t>
            </a:r>
            <a:endParaRPr lang="en-US" sz="1300" dirty="0"/>
          </a:p>
        </p:txBody>
      </p:sp>
      <p:sp>
        <p:nvSpPr>
          <p:cNvPr id="10" name="Shape 8"/>
          <p:cNvSpPr/>
          <p:nvPr/>
        </p:nvSpPr>
        <p:spPr>
          <a:xfrm>
            <a:off x="731520" y="2743200"/>
            <a:ext cx="1737360" cy="457200"/>
          </a:xfrm>
          <a:prstGeom prst="roundRect">
            <a:avLst>
              <a:gd name="adj" fmla="val 10000"/>
            </a:avLst>
          </a:prstGeom>
          <a:solidFill>
            <a:srgbClr val="F2F2F2"/>
          </a:solidFill>
          <a:ln/>
        </p:spPr>
        <p:txBody>
          <a:bodyPr/>
          <a:p/>
        </p:txBody>
      </p:sp>
      <p:sp>
        <p:nvSpPr>
          <p:cNvPr id="11" name="Text 9"/>
          <p:cNvSpPr txBox="1"/>
          <p:nvPr/>
        </p:nvSpPr>
        <p:spPr>
          <a:xfrm>
            <a:off x="731520" y="2743200"/>
            <a:ext cx="1737360"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notes.txt</a:t>
            </a:r>
            <a:endParaRPr lang="en-US" sz="1300" dirty="0"/>
          </a:p>
        </p:txBody>
      </p:sp>
      <p:sp>
        <p:nvSpPr>
          <p:cNvPr id="12" name="Shape 10"/>
          <p:cNvSpPr/>
          <p:nvPr/>
        </p:nvSpPr>
        <p:spPr>
          <a:xfrm>
            <a:off x="4114800" y="2743200"/>
            <a:ext cx="1737360" cy="457200"/>
          </a:xfrm>
          <a:prstGeom prst="roundRect">
            <a:avLst>
              <a:gd name="adj" fmla="val 10000"/>
            </a:avLst>
          </a:prstGeom>
          <a:solidFill>
            <a:srgbClr val="F2F2F2"/>
          </a:solidFill>
          <a:ln/>
        </p:spPr>
        <p:txBody>
          <a:bodyPr/>
          <a:p/>
        </p:txBody>
      </p:sp>
      <p:sp>
        <p:nvSpPr>
          <p:cNvPr id="13" name="Text 11"/>
          <p:cNvSpPr txBox="1"/>
          <p:nvPr/>
        </p:nvSpPr>
        <p:spPr>
          <a:xfrm>
            <a:off x="4114800" y="2743200"/>
            <a:ext cx="1737360" cy="457200"/>
          </a:xfrm>
          <a:prstGeom prst="rect">
            <a:avLst/>
          </a:prstGeom>
          <a:noFill/>
          <a:ln/>
        </p:spPr>
        <p:txBody>
          <a:bodyPr wrap="square" lIns="38100" tIns="38100" rIns="38100" bIns="38100" rtlCol="0" anchor="ctr"/>
          <a:lstStyle/>
          <a:p>
            <a:pPr algn="ctr" indent="0" marL="0">
              <a:buNone/>
            </a:pPr>
            <a:r>
              <a:rPr lang="en-US" sz="1300" b="1" dirty="0">
                <a:solidFill>
                  <a:srgbClr val="212121"/>
                </a:solidFill>
                <a:latin typeface="Calibri" pitchFamily="34" charset="0"/>
                <a:ea typeface="Calibri" pitchFamily="34" charset="-122"/>
                <a:cs typeface="Calibri" pitchFamily="34" charset="-120"/>
              </a:rPr>
              <a:t>hard.txt</a:t>
            </a:r>
            <a:endParaRPr lang="en-US" sz="1300" dirty="0"/>
          </a:p>
        </p:txBody>
      </p:sp>
      <p:sp>
        <p:nvSpPr>
          <p:cNvPr id="14" name="Shape 12"/>
          <p:cNvSpPr/>
          <p:nvPr/>
        </p:nvSpPr>
        <p:spPr>
          <a:xfrm>
            <a:off x="1600200" y="2103120"/>
            <a:ext cx="91" cy="640080"/>
          </a:xfrm>
          <a:prstGeom prst="line">
            <a:avLst/>
          </a:prstGeom>
          <a:noFill/>
          <a:ln w="15875">
            <a:solidFill>
              <a:srgbClr val="50808E"/>
            </a:solidFill>
            <a:prstDash val="solid"/>
          </a:ln>
        </p:spPr>
        <p:txBody>
          <a:bodyPr/>
          <a:p/>
        </p:txBody>
      </p:sp>
      <p:sp>
        <p:nvSpPr>
          <p:cNvPr id="15" name="Shape 13"/>
          <p:cNvSpPr/>
          <p:nvPr/>
        </p:nvSpPr>
        <p:spPr>
          <a:xfrm>
            <a:off x="4983480" y="2103120"/>
            <a:ext cx="91" cy="640080"/>
          </a:xfrm>
          <a:prstGeom prst="line">
            <a:avLst/>
          </a:prstGeom>
          <a:noFill/>
          <a:ln w="15875">
            <a:solidFill>
              <a:srgbClr val="50808E"/>
            </a:solidFill>
            <a:prstDash val="solid"/>
          </a:ln>
        </p:spPr>
        <p:txBody>
          <a:bodyPr/>
          <a:p/>
        </p:txBody>
      </p:sp>
      <p:sp>
        <p:nvSpPr>
          <p:cNvPr id="16" name="Shape 14"/>
          <p:cNvSpPr/>
          <p:nvPr/>
        </p:nvSpPr>
        <p:spPr>
          <a:xfrm>
            <a:off x="2286000" y="3794760"/>
            <a:ext cx="2011680" cy="822960"/>
          </a:xfrm>
          <a:prstGeom prst="roundRect">
            <a:avLst>
              <a:gd name="adj" fmla="val 5556"/>
            </a:avLst>
          </a:prstGeom>
          <a:solidFill>
            <a:srgbClr val="36454F"/>
          </a:solidFill>
          <a:ln/>
        </p:spPr>
        <p:txBody>
          <a:bodyPr/>
          <a:p/>
        </p:txBody>
      </p:sp>
      <p:sp>
        <p:nvSpPr>
          <p:cNvPr id="17" name="Text 15"/>
          <p:cNvSpPr txBox="1"/>
          <p:nvPr/>
        </p:nvSpPr>
        <p:spPr>
          <a:xfrm>
            <a:off x="2286000" y="3794760"/>
            <a:ext cx="2011680" cy="822960"/>
          </a:xfrm>
          <a:prstGeom prst="rect">
            <a:avLst/>
          </a:prstGeom>
          <a:noFill/>
          <a:ln/>
        </p:spPr>
        <p:txBody>
          <a:bodyPr wrap="square" lIns="38100" tIns="38100" rIns="38100" bIns="3810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inode 368662</a:t>
            </a:r>
            <a:endParaRPr lang="en-US" sz="1300" dirty="0"/>
          </a:p>
          <a:p>
            <a:pPr algn="ctr" indent="0" marL="0">
              <a:buNone/>
            </a:pPr>
            <a:r>
              <a:rPr lang="en-US" sz="1100" dirty="0">
                <a:solidFill>
                  <a:srgbClr val="FFFFFF"/>
                </a:solidFill>
                <a:latin typeface="Calibri" pitchFamily="34" charset="0"/>
                <a:ea typeface="Calibri" pitchFamily="34" charset="-122"/>
                <a:cs typeface="Calibri" pitchFamily="34" charset="-120"/>
              </a:rPr>
              <a:t>link count = 2</a:t>
            </a:r>
            <a:endParaRPr lang="en-US" sz="1300" dirty="0"/>
          </a:p>
        </p:txBody>
      </p:sp>
      <p:sp>
        <p:nvSpPr>
          <p:cNvPr id="18" name="Shape 16"/>
          <p:cNvSpPr/>
          <p:nvPr/>
        </p:nvSpPr>
        <p:spPr>
          <a:xfrm>
            <a:off x="1600200" y="3218688"/>
            <a:ext cx="1143000" cy="557784"/>
          </a:xfrm>
          <a:prstGeom prst="line">
            <a:avLst/>
          </a:prstGeom>
          <a:noFill/>
          <a:ln w="25400">
            <a:solidFill>
              <a:srgbClr val="028090"/>
            </a:solidFill>
            <a:prstDash val="solid"/>
            <a:tailEnd type="triangle"/>
          </a:ln>
        </p:spPr>
        <p:txBody>
          <a:bodyPr/>
          <a:p/>
        </p:txBody>
      </p:sp>
      <p:sp>
        <p:nvSpPr>
          <p:cNvPr id="19" name="Shape 17"/>
          <p:cNvSpPr/>
          <p:nvPr/>
        </p:nvSpPr>
        <p:spPr>
          <a:xfrm flipH="1">
            <a:off x="3840480" y="3218688"/>
            <a:ext cx="1143000" cy="557784"/>
          </a:xfrm>
          <a:prstGeom prst="line">
            <a:avLst/>
          </a:prstGeom>
          <a:noFill/>
          <a:ln w="25400">
            <a:solidFill>
              <a:srgbClr val="028090"/>
            </a:solidFill>
            <a:prstDash val="solid"/>
            <a:tailEnd type="triangle"/>
          </a:ln>
        </p:spPr>
        <p:txBody>
          <a:bodyPr/>
          <a:p/>
        </p:txBody>
      </p:sp>
      <p:sp>
        <p:nvSpPr>
          <p:cNvPr id="20" name="Text 18"/>
          <p:cNvSpPr txBox="1"/>
          <p:nvPr/>
        </p:nvSpPr>
        <p:spPr>
          <a:xfrm>
            <a:off x="548640" y="4663440"/>
            <a:ext cx="5486400" cy="320040"/>
          </a:xfrm>
          <a:prstGeom prst="rect">
            <a:avLst/>
          </a:prstGeom>
          <a:noFill/>
          <a:ln/>
        </p:spPr>
        <p:txBody>
          <a:bodyPr wrap="square" lIns="0" tIns="0" rIns="0" bIns="0" rtlCol="0" anchor="t"/>
          <a:lstStyle/>
          <a:p>
            <a:pPr algn="ctr" indent="0" marL="0">
              <a:buNone/>
            </a:pPr>
            <a:r>
              <a:rPr lang="en-US" sz="1300" b="1" dirty="0">
                <a:solidFill>
                  <a:srgbClr val="028090"/>
                </a:solidFill>
                <a:latin typeface="Calibri" pitchFamily="34" charset="0"/>
                <a:ea typeface="Calibri" pitchFamily="34" charset="-122"/>
                <a:cs typeface="Calibri" pitchFamily="34" charset="-120"/>
              </a:rPr>
              <a:t>hard link: two names, one file</a:t>
            </a:r>
            <a:endParaRPr lang="en-US" sz="1300" dirty="0"/>
          </a:p>
        </p:txBody>
      </p:sp>
      <p:sp>
        <p:nvSpPr>
          <p:cNvPr id="21" name="Shape 19"/>
          <p:cNvSpPr/>
          <p:nvPr/>
        </p:nvSpPr>
        <p:spPr>
          <a:xfrm>
            <a:off x="731520" y="5303520"/>
            <a:ext cx="1737360" cy="548640"/>
          </a:xfrm>
          <a:prstGeom prst="roundRect">
            <a:avLst>
              <a:gd name="adj" fmla="val 8333"/>
            </a:avLst>
          </a:prstGeom>
          <a:solidFill>
            <a:srgbClr val="F2F2F2"/>
          </a:solidFill>
          <a:ln/>
        </p:spPr>
        <p:txBody>
          <a:bodyPr/>
          <a:p/>
        </p:txBody>
      </p:sp>
      <p:sp>
        <p:nvSpPr>
          <p:cNvPr id="22" name="Text 20"/>
          <p:cNvSpPr txBox="1"/>
          <p:nvPr/>
        </p:nvSpPr>
        <p:spPr>
          <a:xfrm>
            <a:off x="731520" y="530352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soft.txt</a:t>
            </a:r>
            <a:endParaRPr lang="en-US" sz="1200" dirty="0"/>
          </a:p>
          <a:p>
            <a:pPr algn="ctr" indent="0" marL="0">
              <a:buNone/>
            </a:pPr>
            <a:r>
              <a:rPr lang="en-US" sz="1000" dirty="0">
                <a:solidFill>
                  <a:srgbClr val="212121"/>
                </a:solidFill>
                <a:latin typeface="Calibri" pitchFamily="34" charset="0"/>
                <a:ea typeface="Calibri" pitchFamily="34" charset="-122"/>
                <a:cs typeface="Calibri" pitchFamily="34" charset="-120"/>
              </a:rPr>
              <a:t>contains "notes.txt"</a:t>
            </a:r>
            <a:endParaRPr lang="en-US" sz="1200" dirty="0"/>
          </a:p>
        </p:txBody>
      </p:sp>
      <p:sp>
        <p:nvSpPr>
          <p:cNvPr id="23" name="Shape 21"/>
          <p:cNvSpPr/>
          <p:nvPr/>
        </p:nvSpPr>
        <p:spPr>
          <a:xfrm>
            <a:off x="2487168" y="5577840"/>
            <a:ext cx="1609344" cy="91"/>
          </a:xfrm>
          <a:prstGeom prst="line">
            <a:avLst/>
          </a:prstGeom>
          <a:noFill/>
          <a:ln w="25400">
            <a:solidFill>
              <a:srgbClr val="C98A1B"/>
            </a:solidFill>
            <a:prstDash val="solid"/>
            <a:tailEnd type="triangle"/>
          </a:ln>
        </p:spPr>
        <p:txBody>
          <a:bodyPr/>
          <a:p/>
        </p:txBody>
      </p:sp>
      <p:sp>
        <p:nvSpPr>
          <p:cNvPr id="24" name="Shape 22"/>
          <p:cNvSpPr/>
          <p:nvPr/>
        </p:nvSpPr>
        <p:spPr>
          <a:xfrm>
            <a:off x="4114800" y="5303520"/>
            <a:ext cx="1737360" cy="548640"/>
          </a:xfrm>
          <a:prstGeom prst="roundRect">
            <a:avLst>
              <a:gd name="adj" fmla="val 8333"/>
            </a:avLst>
          </a:prstGeom>
          <a:solidFill>
            <a:srgbClr val="F2F2F2"/>
          </a:solidFill>
          <a:ln/>
        </p:spPr>
        <p:txBody>
          <a:bodyPr/>
          <a:p/>
        </p:txBody>
      </p:sp>
      <p:sp>
        <p:nvSpPr>
          <p:cNvPr id="25" name="Text 23"/>
          <p:cNvSpPr txBox="1"/>
          <p:nvPr/>
        </p:nvSpPr>
        <p:spPr>
          <a:xfrm>
            <a:off x="4114800" y="5303520"/>
            <a:ext cx="1737360" cy="548640"/>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alibri" pitchFamily="34" charset="0"/>
                <a:ea typeface="Calibri" pitchFamily="34" charset="-122"/>
                <a:cs typeface="Calibri" pitchFamily="34" charset="-120"/>
              </a:rPr>
              <a:t>notes.txt</a:t>
            </a:r>
            <a:endParaRPr lang="en-US" sz="1200" dirty="0"/>
          </a:p>
        </p:txBody>
      </p:sp>
      <p:sp>
        <p:nvSpPr>
          <p:cNvPr id="26" name="Text 24"/>
          <p:cNvSpPr txBox="1"/>
          <p:nvPr/>
        </p:nvSpPr>
        <p:spPr>
          <a:xfrm>
            <a:off x="548640" y="5897880"/>
            <a:ext cx="5486400" cy="320040"/>
          </a:xfrm>
          <a:prstGeom prst="rect">
            <a:avLst/>
          </a:prstGeom>
          <a:noFill/>
          <a:ln/>
        </p:spPr>
        <p:txBody>
          <a:bodyPr wrap="square" lIns="0" tIns="0" rIns="0" bIns="0" rtlCol="0" anchor="t"/>
          <a:lstStyle/>
          <a:p>
            <a:pPr algn="ctr" indent="0" marL="0">
              <a:buNone/>
            </a:pPr>
            <a:r>
              <a:rPr lang="en-US" sz="1300" b="1" dirty="0">
                <a:solidFill>
                  <a:srgbClr val="C98A1B"/>
                </a:solidFill>
                <a:latin typeface="Calibri" pitchFamily="34" charset="0"/>
                <a:ea typeface="Calibri" pitchFamily="34" charset="-122"/>
                <a:cs typeface="Calibri" pitchFamily="34" charset="-120"/>
              </a:rPr>
              <a:t>symbolic link: a file that stores a path</a:t>
            </a:r>
            <a:endParaRPr lang="en-US" sz="1300" dirty="0"/>
          </a:p>
        </p:txBody>
      </p:sp>
      <p:sp>
        <p:nvSpPr>
          <p:cNvPr id="27" name="Shape 25"/>
          <p:cNvSpPr/>
          <p:nvPr/>
        </p:nvSpPr>
        <p:spPr>
          <a:xfrm>
            <a:off x="6400800" y="1508760"/>
            <a:ext cx="5257800" cy="2514600"/>
          </a:xfrm>
          <a:prstGeom prst="roundRect">
            <a:avLst>
              <a:gd name="adj" fmla="val 2182"/>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6629400" y="1691640"/>
            <a:ext cx="480060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Acyclic graph</a:t>
            </a:r>
            <a:endParaRPr lang="en-US" sz="1500" dirty="0"/>
          </a:p>
        </p:txBody>
      </p:sp>
      <p:sp>
        <p:nvSpPr>
          <p:cNvPr id="29" name="Text 27"/>
          <p:cNvSpPr txBox="1"/>
          <p:nvPr/>
        </p:nvSpPr>
        <p:spPr>
          <a:xfrm>
            <a:off x="6629400" y="2148840"/>
            <a:ext cx="4800600" cy="17373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file (or directory) may appear in several directories: shared, not copied.</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Hard link:</a:t>
            </a:r>
            <a:r>
              <a:rPr lang="en-US" sz="1350" dirty="0">
                <a:solidFill>
                  <a:srgbClr val="3A464C"/>
                </a:solidFill>
                <a:latin typeface="Calibri" pitchFamily="34" charset="0"/>
                <a:ea typeface="Calibri" pitchFamily="34" charset="-122"/>
                <a:cs typeface="Calibri" pitchFamily="34" charset="-120"/>
              </a:rPr>
              <a:t> another directory entry for the same inode. Deleting one name leaves the file.</a:t>
            </a:r>
            <a:endParaRPr lang="en-US" sz="1350" dirty="0"/>
          </a:p>
          <a:p>
            <a:pPr marL="228600" indent="-228600">
              <a:spcAft>
                <a:spcPts val="400"/>
              </a:spcAft>
              <a:buSzPct val="100000"/>
              <a:buChar char="•"/>
            </a:pPr>
            <a:r>
              <a:rPr lang="en-US" sz="1350" b="1" dirty="0">
                <a:solidFill>
                  <a:srgbClr val="3A464C"/>
                </a:solidFill>
                <a:latin typeface="Calibri" pitchFamily="34" charset="0"/>
                <a:ea typeface="Calibri" pitchFamily="34" charset="-122"/>
                <a:cs typeface="Calibri" pitchFamily="34" charset="-120"/>
              </a:rPr>
              <a:t>Symbolic link:</a:t>
            </a:r>
            <a:r>
              <a:rPr lang="en-US" sz="1350" dirty="0">
                <a:solidFill>
                  <a:srgbClr val="3A464C"/>
                </a:solidFill>
                <a:latin typeface="Calibri" pitchFamily="34" charset="0"/>
                <a:ea typeface="Calibri" pitchFamily="34" charset="-122"/>
                <a:cs typeface="Calibri" pitchFamily="34" charset="-120"/>
              </a:rPr>
              <a:t> a small file holding a path; it dangles if the target is removed.</a:t>
            </a:r>
            <a:endParaRPr lang="en-US" sz="1350" dirty="0"/>
          </a:p>
        </p:txBody>
      </p:sp>
      <p:sp>
        <p:nvSpPr>
          <p:cNvPr id="30" name="Shape 28"/>
          <p:cNvSpPr/>
          <p:nvPr/>
        </p:nvSpPr>
        <p:spPr>
          <a:xfrm>
            <a:off x="6400800" y="4206240"/>
            <a:ext cx="5257800" cy="2057400"/>
          </a:xfrm>
          <a:prstGeom prst="roundRect">
            <a:avLst>
              <a:gd name="adj" fmla="val 2667"/>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1" name="Text 29"/>
          <p:cNvSpPr txBox="1"/>
          <p:nvPr/>
        </p:nvSpPr>
        <p:spPr>
          <a:xfrm>
            <a:off x="6629400" y="4389120"/>
            <a:ext cx="4800600" cy="384048"/>
          </a:xfrm>
          <a:prstGeom prst="rect">
            <a:avLst/>
          </a:prstGeom>
          <a:noFill/>
          <a:ln/>
        </p:spPr>
        <p:txBody>
          <a:bodyPr wrap="square" lIns="0" tIns="0" rIns="0" bIns="0" rtlCol="0" anchor="ctr"/>
          <a:lstStyle/>
          <a:p>
            <a:pPr indent="0" marL="0">
              <a:buNone/>
            </a:pPr>
            <a:r>
              <a:rPr lang="en-US" sz="1500" b="1" dirty="0">
                <a:solidFill>
                  <a:srgbClr val="B5453A"/>
                </a:solidFill>
                <a:latin typeface="Cambria" pitchFamily="34" charset="0"/>
                <a:ea typeface="Cambria" pitchFamily="34" charset="-122"/>
                <a:cs typeface="Cambria" pitchFamily="34" charset="-120"/>
              </a:rPr>
              <a:t>General graph (allowing cycles)</a:t>
            </a:r>
            <a:endParaRPr lang="en-US" sz="1500" dirty="0"/>
          </a:p>
        </p:txBody>
      </p:sp>
      <p:sp>
        <p:nvSpPr>
          <p:cNvPr id="32" name="Text 30"/>
          <p:cNvSpPr txBox="1"/>
          <p:nvPr/>
        </p:nvSpPr>
        <p:spPr>
          <a:xfrm>
            <a:off x="6629400" y="4846320"/>
            <a:ext cx="4800600" cy="12801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 link back to an ancestor creates a cycle: searches may loop forever, and a deleted subtree may never become "unused".</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Linux forbids hard links to directories; symlink loops stop with an error (ELOOP).</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LINUX</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What Linux Shows: Directory Entries and Inodes</a:t>
            </a:r>
            <a:endParaRPr lang="en-US" sz="3000" dirty="0"/>
          </a:p>
        </p:txBody>
      </p:sp>
      <p:sp>
        <p:nvSpPr>
          <p:cNvPr id="4" name="Text 2"/>
          <p:cNvSpPr txBox="1"/>
          <p:nvPr/>
        </p:nvSpPr>
        <p:spPr>
          <a:xfrm>
            <a:off x="548640" y="1417320"/>
            <a:ext cx="11064240" cy="502920"/>
          </a:xfrm>
          <a:prstGeom prst="rect">
            <a:avLst/>
          </a:prstGeom>
          <a:noFill/>
          <a:ln/>
        </p:spPr>
        <p:txBody>
          <a:bodyPr wrap="square" lIns="0" tIns="0" rIns="0" bIns="0" rtlCol="0" anchor="t"/>
          <a:lstStyle/>
          <a:p>
            <a:pPr indent="0" marL="0">
              <a:buNone/>
            </a:pPr>
            <a:r>
              <a:rPr lang="en-US" sz="1500" dirty="0">
                <a:solidFill>
                  <a:srgbClr val="3A464C"/>
                </a:solidFill>
                <a:latin typeface="Calibri" pitchFamily="34" charset="0"/>
                <a:ea typeface="Calibri" pitchFamily="34" charset="-122"/>
                <a:cs typeface="Calibri" pitchFamily="34" charset="-120"/>
              </a:rPr>
              <a:t>A directory is just a table of (name, inode number) pairs. Everything else about a file lives in its inode.</a:t>
            </a:r>
            <a:endParaRPr lang="en-US" sz="1500" dirty="0"/>
          </a:p>
        </p:txBody>
      </p:sp>
      <p:sp>
        <p:nvSpPr>
          <p:cNvPr id="5" name="Text 3"/>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6" name="Text 4"/>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34</a:t>
            </a:r>
            <a:endParaRPr lang="en-US" sz="900" dirty="0"/>
          </a:p>
        </p:txBody>
      </p:sp>
      <p:sp>
        <p:nvSpPr>
          <p:cNvPr id="7" name="Text 5"/>
          <p:cNvSpPr txBox="1"/>
          <p:nvPr/>
        </p:nvSpPr>
        <p:spPr>
          <a:xfrm>
            <a:off x="548640" y="2148840"/>
            <a:ext cx="3108960" cy="320040"/>
          </a:xfrm>
          <a:prstGeom prst="rect">
            <a:avLst/>
          </a:prstGeom>
          <a:noFill/>
          <a:ln/>
        </p:spPr>
        <p:txBody>
          <a:bodyPr wrap="square" lIns="0" tIns="0" rIns="0" bIns="0" rtlCol="0" anchor="t"/>
          <a:lstStyle/>
          <a:p>
            <a:pPr indent="0" marL="0">
              <a:buNone/>
            </a:pPr>
            <a:r>
              <a:rPr lang="en-US" sz="1200" b="1" dirty="0">
                <a:solidFill>
                  <a:srgbClr val="36454F"/>
                </a:solidFill>
                <a:latin typeface="Calibri" pitchFamily="34" charset="0"/>
                <a:ea typeface="Calibri" pitchFamily="34" charset="-122"/>
                <a:cs typeface="Calibri" pitchFamily="34" charset="-120"/>
              </a:rPr>
              <a:t>directory /home/student/lab</a:t>
            </a:r>
            <a:endParaRPr lang="en-US" sz="1200" dirty="0"/>
          </a:p>
        </p:txBody>
      </p:sp>
      <p:sp>
        <p:nvSpPr>
          <p:cNvPr id="8" name="Shape 6"/>
          <p:cNvSpPr/>
          <p:nvPr/>
        </p:nvSpPr>
        <p:spPr>
          <a:xfrm>
            <a:off x="548640" y="2514600"/>
            <a:ext cx="1554480" cy="402336"/>
          </a:xfrm>
          <a:prstGeom prst="roundRect">
            <a:avLst>
              <a:gd name="adj" fmla="val 11364"/>
            </a:avLst>
          </a:prstGeom>
          <a:solidFill>
            <a:srgbClr val="F2F2F2"/>
          </a:solidFill>
          <a:ln/>
        </p:spPr>
        <p:txBody>
          <a:bodyPr/>
          <a:p/>
        </p:txBody>
      </p:sp>
      <p:sp>
        <p:nvSpPr>
          <p:cNvPr id="9" name="Text 7"/>
          <p:cNvSpPr txBox="1"/>
          <p:nvPr/>
        </p:nvSpPr>
        <p:spPr>
          <a:xfrm>
            <a:off x="548640" y="2514600"/>
            <a:ext cx="1554480" cy="402336"/>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notes.txt</a:t>
            </a:r>
            <a:endParaRPr lang="en-US" sz="1200" dirty="0"/>
          </a:p>
        </p:txBody>
      </p:sp>
      <p:sp>
        <p:nvSpPr>
          <p:cNvPr id="10" name="Shape 8"/>
          <p:cNvSpPr/>
          <p:nvPr/>
        </p:nvSpPr>
        <p:spPr>
          <a:xfrm>
            <a:off x="2148840" y="2514600"/>
            <a:ext cx="1051560" cy="402336"/>
          </a:xfrm>
          <a:prstGeom prst="roundRect">
            <a:avLst>
              <a:gd name="adj" fmla="val 11364"/>
            </a:avLst>
          </a:prstGeom>
          <a:solidFill>
            <a:srgbClr val="D7E9E6"/>
          </a:solidFill>
          <a:ln/>
        </p:spPr>
        <p:txBody>
          <a:bodyPr/>
          <a:p/>
        </p:txBody>
      </p:sp>
      <p:sp>
        <p:nvSpPr>
          <p:cNvPr id="11" name="Text 9"/>
          <p:cNvSpPr txBox="1"/>
          <p:nvPr/>
        </p:nvSpPr>
        <p:spPr>
          <a:xfrm>
            <a:off x="2148840" y="2514600"/>
            <a:ext cx="1051560" cy="402336"/>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368662</a:t>
            </a:r>
            <a:endParaRPr lang="en-US" sz="1200" dirty="0"/>
          </a:p>
        </p:txBody>
      </p:sp>
      <p:sp>
        <p:nvSpPr>
          <p:cNvPr id="12" name="Shape 10"/>
          <p:cNvSpPr/>
          <p:nvPr/>
        </p:nvSpPr>
        <p:spPr>
          <a:xfrm>
            <a:off x="548640" y="2971800"/>
            <a:ext cx="1554480" cy="402336"/>
          </a:xfrm>
          <a:prstGeom prst="roundRect">
            <a:avLst>
              <a:gd name="adj" fmla="val 11364"/>
            </a:avLst>
          </a:prstGeom>
          <a:solidFill>
            <a:srgbClr val="F2F2F2"/>
          </a:solidFill>
          <a:ln/>
        </p:spPr>
        <p:txBody>
          <a:bodyPr/>
          <a:p/>
        </p:txBody>
      </p:sp>
      <p:sp>
        <p:nvSpPr>
          <p:cNvPr id="13" name="Text 11"/>
          <p:cNvSpPr txBox="1"/>
          <p:nvPr/>
        </p:nvSpPr>
        <p:spPr>
          <a:xfrm>
            <a:off x="548640" y="2971800"/>
            <a:ext cx="1554480" cy="402336"/>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hard.txt</a:t>
            </a:r>
            <a:endParaRPr lang="en-US" sz="1200" dirty="0"/>
          </a:p>
        </p:txBody>
      </p:sp>
      <p:sp>
        <p:nvSpPr>
          <p:cNvPr id="14" name="Shape 12"/>
          <p:cNvSpPr/>
          <p:nvPr/>
        </p:nvSpPr>
        <p:spPr>
          <a:xfrm>
            <a:off x="2148840" y="2971800"/>
            <a:ext cx="1051560" cy="402336"/>
          </a:xfrm>
          <a:prstGeom prst="roundRect">
            <a:avLst>
              <a:gd name="adj" fmla="val 11364"/>
            </a:avLst>
          </a:prstGeom>
          <a:solidFill>
            <a:srgbClr val="D7E9E6"/>
          </a:solidFill>
          <a:ln/>
        </p:spPr>
        <p:txBody>
          <a:bodyPr/>
          <a:p/>
        </p:txBody>
      </p:sp>
      <p:sp>
        <p:nvSpPr>
          <p:cNvPr id="15" name="Text 13"/>
          <p:cNvSpPr txBox="1"/>
          <p:nvPr/>
        </p:nvSpPr>
        <p:spPr>
          <a:xfrm>
            <a:off x="2148840" y="2971800"/>
            <a:ext cx="1051560" cy="402336"/>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368662</a:t>
            </a:r>
            <a:endParaRPr lang="en-US" sz="1200" dirty="0"/>
          </a:p>
        </p:txBody>
      </p:sp>
      <p:sp>
        <p:nvSpPr>
          <p:cNvPr id="16" name="Shape 14"/>
          <p:cNvSpPr/>
          <p:nvPr/>
        </p:nvSpPr>
        <p:spPr>
          <a:xfrm>
            <a:off x="548640" y="3429000"/>
            <a:ext cx="1554480" cy="402336"/>
          </a:xfrm>
          <a:prstGeom prst="roundRect">
            <a:avLst>
              <a:gd name="adj" fmla="val 11364"/>
            </a:avLst>
          </a:prstGeom>
          <a:solidFill>
            <a:srgbClr val="F2F2F2"/>
          </a:solidFill>
          <a:ln/>
        </p:spPr>
        <p:txBody>
          <a:bodyPr/>
          <a:p/>
        </p:txBody>
      </p:sp>
      <p:sp>
        <p:nvSpPr>
          <p:cNvPr id="17" name="Text 15"/>
          <p:cNvSpPr txBox="1"/>
          <p:nvPr/>
        </p:nvSpPr>
        <p:spPr>
          <a:xfrm>
            <a:off x="548640" y="3429000"/>
            <a:ext cx="1554480" cy="402336"/>
          </a:xfrm>
          <a:prstGeom prst="rect">
            <a:avLst/>
          </a:prstGeom>
          <a:noFill/>
          <a:ln/>
        </p:spPr>
        <p:txBody>
          <a:bodyPr wrap="square" lIns="38100" tIns="38100" rIns="38100" bIns="38100" rtlCol="0" anchor="ctr"/>
          <a:lstStyle/>
          <a:p>
            <a:pPr algn="ctr" indent="0" marL="0">
              <a:buNone/>
            </a:pPr>
            <a:r>
              <a:rPr lang="en-US" sz="1200" dirty="0">
                <a:solidFill>
                  <a:srgbClr val="36454F"/>
                </a:solidFill>
                <a:latin typeface="Consolas" pitchFamily="34" charset="0"/>
                <a:ea typeface="Consolas" pitchFamily="34" charset="-122"/>
                <a:cs typeface="Consolas" pitchFamily="34" charset="-120"/>
              </a:rPr>
              <a:t>soft.txt</a:t>
            </a:r>
            <a:endParaRPr lang="en-US" sz="1200" dirty="0"/>
          </a:p>
        </p:txBody>
      </p:sp>
      <p:sp>
        <p:nvSpPr>
          <p:cNvPr id="18" name="Shape 16"/>
          <p:cNvSpPr/>
          <p:nvPr/>
        </p:nvSpPr>
        <p:spPr>
          <a:xfrm>
            <a:off x="2148840" y="3429000"/>
            <a:ext cx="1051560" cy="402336"/>
          </a:xfrm>
          <a:prstGeom prst="roundRect">
            <a:avLst>
              <a:gd name="adj" fmla="val 11364"/>
            </a:avLst>
          </a:prstGeom>
          <a:solidFill>
            <a:srgbClr val="F2F2F2"/>
          </a:solidFill>
          <a:ln/>
        </p:spPr>
        <p:txBody>
          <a:bodyPr/>
          <a:p/>
        </p:txBody>
      </p:sp>
      <p:sp>
        <p:nvSpPr>
          <p:cNvPr id="19" name="Text 17"/>
          <p:cNvSpPr txBox="1"/>
          <p:nvPr/>
        </p:nvSpPr>
        <p:spPr>
          <a:xfrm>
            <a:off x="2148840" y="3429000"/>
            <a:ext cx="1051560" cy="402336"/>
          </a:xfrm>
          <a:prstGeom prst="rect">
            <a:avLst/>
          </a:prstGeom>
          <a:noFill/>
          <a:ln/>
        </p:spPr>
        <p:txBody>
          <a:bodyPr wrap="square" lIns="38100" tIns="38100" rIns="38100" bIns="38100" rtlCol="0" anchor="ctr"/>
          <a:lstStyle/>
          <a:p>
            <a:pPr algn="ctr" indent="0" marL="0">
              <a:buNone/>
            </a:pPr>
            <a:r>
              <a:rPr lang="en-US" sz="1200" dirty="0">
                <a:solidFill>
                  <a:srgbClr val="212121"/>
                </a:solidFill>
                <a:latin typeface="Consolas" pitchFamily="34" charset="0"/>
                <a:ea typeface="Consolas" pitchFamily="34" charset="-122"/>
                <a:cs typeface="Consolas" pitchFamily="34" charset="-120"/>
              </a:rPr>
              <a:t>368663</a:t>
            </a:r>
            <a:endParaRPr lang="en-US" sz="1200" dirty="0"/>
          </a:p>
        </p:txBody>
      </p:sp>
      <p:sp>
        <p:nvSpPr>
          <p:cNvPr id="20" name="Shape 18"/>
          <p:cNvSpPr/>
          <p:nvPr/>
        </p:nvSpPr>
        <p:spPr>
          <a:xfrm>
            <a:off x="3840480" y="2148840"/>
            <a:ext cx="3108960" cy="3246120"/>
          </a:xfrm>
          <a:prstGeom prst="roundRect">
            <a:avLst>
              <a:gd name="adj" fmla="val 1471"/>
            </a:avLst>
          </a:prstGeom>
          <a:solidFill>
            <a:srgbClr val="36454F"/>
          </a:solidFill>
          <a:ln/>
        </p:spPr>
        <p:txBody>
          <a:bodyPr/>
          <a:p/>
        </p:txBody>
      </p:sp>
      <p:sp>
        <p:nvSpPr>
          <p:cNvPr id="21" name="Text 19"/>
          <p:cNvSpPr txBox="1"/>
          <p:nvPr/>
        </p:nvSpPr>
        <p:spPr>
          <a:xfrm>
            <a:off x="4069080" y="2286000"/>
            <a:ext cx="2743200" cy="3657600"/>
          </a:xfrm>
          <a:prstGeom prst="rect">
            <a:avLst/>
          </a:prstGeom>
          <a:noFill/>
          <a:ln/>
        </p:spPr>
        <p:txBody>
          <a:bodyPr wrap="square" lIns="0" tIns="0" rIns="0" bIns="0" rtlCol="0" anchor="t"/>
          <a:lstStyle/>
          <a:p>
            <a:pPr indent="0" marL="0">
              <a:spcAft>
                <a:spcPts val="300"/>
              </a:spcAft>
              <a:buNone/>
            </a:pPr>
            <a:r>
              <a:rPr lang="en-US" sz="1400" b="1" dirty="0">
                <a:solidFill>
                  <a:srgbClr val="02C39A"/>
                </a:solidFill>
                <a:latin typeface="Calibri" pitchFamily="34" charset="0"/>
                <a:ea typeface="Calibri" pitchFamily="34" charset="-122"/>
                <a:cs typeface="Calibri" pitchFamily="34" charset="-120"/>
              </a:rPr>
              <a:t>inode 368662</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type: regular file</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mode: -rw-rw-r--</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owner, group: student</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size: 6 bytes</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link count: 2</a:t>
            </a:r>
            <a:endParaRPr lang="en-US" sz="1300" dirty="0"/>
          </a:p>
          <a:p>
            <a:pPr indent="0" marL="0">
              <a:spcAft>
                <a:spcPts val="300"/>
              </a:spcAft>
              <a:buNone/>
            </a:pPr>
            <a:r>
              <a:rPr lang="en-US" sz="1300" dirty="0">
                <a:solidFill>
                  <a:srgbClr val="F2F2F2"/>
                </a:solidFill>
                <a:latin typeface="Calibri" pitchFamily="34" charset="0"/>
                <a:ea typeface="Calibri" pitchFamily="34" charset="-122"/>
                <a:cs typeface="Calibri" pitchFamily="34" charset="-120"/>
              </a:rPr>
              <a:t>atime, mtime, ctime</a:t>
            </a:r>
            <a:endParaRPr lang="en-US" sz="1300" dirty="0"/>
          </a:p>
          <a:p>
            <a:pPr indent="0" marL="0">
              <a:spcAft>
                <a:spcPts val="300"/>
              </a:spcAft>
              <a:buNone/>
            </a:pPr>
            <a:r>
              <a:rPr lang="en-US" sz="1300" b="1" dirty="0">
                <a:solidFill>
                  <a:srgbClr val="02C39A"/>
                </a:solidFill>
                <a:latin typeface="Calibri" pitchFamily="34" charset="0"/>
                <a:ea typeface="Calibri" pitchFamily="34" charset="-122"/>
                <a:cs typeface="Calibri" pitchFamily="34" charset="-120"/>
              </a:rPr>
              <a:t>block pointers ──►</a:t>
            </a:r>
            <a:endParaRPr lang="en-US" sz="1300" dirty="0"/>
          </a:p>
          <a:p>
            <a:pPr indent="0" marL="0">
              <a:spcAft>
                <a:spcPts val="300"/>
              </a:spcAft>
              <a:buNone/>
            </a:pPr>
            <a:r>
              <a:rPr lang="en-US" sz="1300" i="1" dirty="0">
                <a:solidFill>
                  <a:srgbClr val="8A9AA0"/>
                </a:solidFill>
                <a:latin typeface="Calibri" pitchFamily="34" charset="0"/>
                <a:ea typeface="Calibri" pitchFamily="34" charset="-122"/>
                <a:cs typeface="Calibri" pitchFamily="34" charset="-120"/>
              </a:rPr>
              <a:t>(no file name!)</a:t>
            </a:r>
            <a:endParaRPr lang="en-US" sz="1300" dirty="0"/>
          </a:p>
        </p:txBody>
      </p:sp>
      <p:sp>
        <p:nvSpPr>
          <p:cNvPr id="22" name="Shape 20"/>
          <p:cNvSpPr/>
          <p:nvPr/>
        </p:nvSpPr>
        <p:spPr>
          <a:xfrm flipV="1">
            <a:off x="3218688" y="2560320"/>
            <a:ext cx="603504" cy="182880"/>
          </a:xfrm>
          <a:prstGeom prst="line">
            <a:avLst/>
          </a:prstGeom>
          <a:noFill/>
          <a:ln w="22225">
            <a:solidFill>
              <a:srgbClr val="028090"/>
            </a:solidFill>
            <a:prstDash val="solid"/>
            <a:tailEnd type="triangle"/>
          </a:ln>
        </p:spPr>
        <p:txBody>
          <a:bodyPr/>
          <a:p/>
        </p:txBody>
      </p:sp>
      <p:sp>
        <p:nvSpPr>
          <p:cNvPr id="23" name="Shape 21"/>
          <p:cNvSpPr/>
          <p:nvPr/>
        </p:nvSpPr>
        <p:spPr>
          <a:xfrm flipV="1">
            <a:off x="3218688" y="2743200"/>
            <a:ext cx="603504" cy="457200"/>
          </a:xfrm>
          <a:prstGeom prst="line">
            <a:avLst/>
          </a:prstGeom>
          <a:noFill/>
          <a:ln w="22225">
            <a:solidFill>
              <a:srgbClr val="028090"/>
            </a:solidFill>
            <a:prstDash val="solid"/>
            <a:tailEnd type="triangle"/>
          </a:ln>
        </p:spPr>
        <p:txBody>
          <a:bodyPr/>
          <a:p/>
        </p:txBody>
      </p:sp>
      <p:sp>
        <p:nvSpPr>
          <p:cNvPr id="24" name="Shape 22"/>
          <p:cNvSpPr/>
          <p:nvPr/>
        </p:nvSpPr>
        <p:spPr>
          <a:xfrm>
            <a:off x="7269480" y="3867912"/>
            <a:ext cx="1097280" cy="402336"/>
          </a:xfrm>
          <a:prstGeom prst="roundRect">
            <a:avLst>
              <a:gd name="adj" fmla="val 11364"/>
            </a:avLst>
          </a:prstGeom>
          <a:solidFill>
            <a:srgbClr val="02C39A"/>
          </a:solidFill>
          <a:ln/>
        </p:spPr>
        <p:txBody>
          <a:bodyPr/>
          <a:p/>
        </p:txBody>
      </p:sp>
      <p:sp>
        <p:nvSpPr>
          <p:cNvPr id="25" name="Text 23"/>
          <p:cNvSpPr txBox="1"/>
          <p:nvPr/>
        </p:nvSpPr>
        <p:spPr>
          <a:xfrm>
            <a:off x="7269480" y="3867912"/>
            <a:ext cx="1097280" cy="402336"/>
          </a:xfrm>
          <a:prstGeom prst="rect">
            <a:avLst/>
          </a:prstGeom>
          <a:noFill/>
          <a:ln/>
        </p:spPr>
        <p:txBody>
          <a:bodyPr wrap="square" lIns="38100" tIns="38100" rIns="38100" bIns="38100" rtlCol="0" anchor="ctr"/>
          <a:lstStyle/>
          <a:p>
            <a:pPr algn="ctr" indent="0" marL="0">
              <a:buNone/>
            </a:pPr>
            <a:r>
              <a:rPr lang="en-US" sz="1200" b="1" dirty="0">
                <a:solidFill>
                  <a:srgbClr val="212121"/>
                </a:solidFill>
                <a:latin typeface="Consolas" pitchFamily="34" charset="0"/>
                <a:ea typeface="Consolas" pitchFamily="34" charset="-122"/>
                <a:cs typeface="Consolas" pitchFamily="34" charset="-120"/>
              </a:rPr>
              <a:t>"hello\n"</a:t>
            </a:r>
            <a:endParaRPr lang="en-US" sz="1200" dirty="0"/>
          </a:p>
        </p:txBody>
      </p:sp>
      <p:sp>
        <p:nvSpPr>
          <p:cNvPr id="26" name="Shape 24"/>
          <p:cNvSpPr/>
          <p:nvPr/>
        </p:nvSpPr>
        <p:spPr>
          <a:xfrm>
            <a:off x="7269480" y="4325112"/>
            <a:ext cx="1097280" cy="402336"/>
          </a:xfrm>
          <a:prstGeom prst="roundRect">
            <a:avLst>
              <a:gd name="adj" fmla="val 11364"/>
            </a:avLst>
          </a:prstGeom>
          <a:solidFill>
            <a:srgbClr val="F2F2F2"/>
          </a:solidFill>
          <a:ln/>
        </p:spPr>
        <p:txBody>
          <a:bodyPr/>
          <a:p/>
        </p:txBody>
      </p:sp>
      <p:sp>
        <p:nvSpPr>
          <p:cNvPr id="27" name="Text 25"/>
          <p:cNvSpPr txBox="1"/>
          <p:nvPr/>
        </p:nvSpPr>
        <p:spPr>
          <a:xfrm>
            <a:off x="7269480" y="4325112"/>
            <a:ext cx="1097280" cy="402336"/>
          </a:xfrm>
          <a:prstGeom prst="rect">
            <a:avLst/>
          </a:prstGeom>
          <a:noFill/>
          <a:ln/>
        </p:spPr>
        <p:txBody>
          <a:bodyPr wrap="square" lIns="38100" tIns="38100" rIns="38100" bIns="38100" rtlCol="0" anchor="ctr"/>
          <a:lstStyle/>
          <a:p>
            <a:pPr algn="ctr" indent="0" marL="0">
              <a:buNone/>
            </a:pPr>
            <a:endParaRPr lang="en-US" sz="1200" dirty="0"/>
          </a:p>
        </p:txBody>
      </p:sp>
      <p:sp>
        <p:nvSpPr>
          <p:cNvPr id="28" name="Shape 26"/>
          <p:cNvSpPr/>
          <p:nvPr/>
        </p:nvSpPr>
        <p:spPr>
          <a:xfrm>
            <a:off x="7269480" y="4782312"/>
            <a:ext cx="1097280" cy="402336"/>
          </a:xfrm>
          <a:prstGeom prst="roundRect">
            <a:avLst>
              <a:gd name="adj" fmla="val 11364"/>
            </a:avLst>
          </a:prstGeom>
          <a:solidFill>
            <a:srgbClr val="F2F2F2"/>
          </a:solidFill>
          <a:ln/>
        </p:spPr>
        <p:txBody>
          <a:bodyPr/>
          <a:p/>
        </p:txBody>
      </p:sp>
      <p:sp>
        <p:nvSpPr>
          <p:cNvPr id="29" name="Text 27"/>
          <p:cNvSpPr txBox="1"/>
          <p:nvPr/>
        </p:nvSpPr>
        <p:spPr>
          <a:xfrm>
            <a:off x="7269480" y="4782312"/>
            <a:ext cx="1097280" cy="402336"/>
          </a:xfrm>
          <a:prstGeom prst="rect">
            <a:avLst/>
          </a:prstGeom>
          <a:noFill/>
          <a:ln/>
        </p:spPr>
        <p:txBody>
          <a:bodyPr wrap="square" lIns="38100" tIns="38100" rIns="38100" bIns="38100" rtlCol="0" anchor="ctr"/>
          <a:lstStyle/>
          <a:p>
            <a:pPr algn="ctr" indent="0" marL="0">
              <a:buNone/>
            </a:pPr>
            <a:endParaRPr lang="en-US" sz="1200" dirty="0"/>
          </a:p>
        </p:txBody>
      </p:sp>
      <p:sp>
        <p:nvSpPr>
          <p:cNvPr id="30" name="Text 28"/>
          <p:cNvSpPr txBox="1"/>
          <p:nvPr/>
        </p:nvSpPr>
        <p:spPr>
          <a:xfrm>
            <a:off x="7132320" y="5239512"/>
            <a:ext cx="1371600" cy="274320"/>
          </a:xfrm>
          <a:prstGeom prst="rect">
            <a:avLst/>
          </a:prstGeom>
          <a:noFill/>
          <a:ln/>
        </p:spPr>
        <p:txBody>
          <a:bodyPr wrap="square" lIns="0" tIns="0" rIns="0" bIns="0" rtlCol="0" anchor="t"/>
          <a:lstStyle/>
          <a:p>
            <a:pPr algn="ctr" indent="0" marL="0">
              <a:buNone/>
            </a:pPr>
            <a:r>
              <a:rPr lang="en-US" sz="1100" i="1" dirty="0">
                <a:solidFill>
                  <a:srgbClr val="6B7679"/>
                </a:solidFill>
                <a:latin typeface="Calibri" pitchFamily="34" charset="0"/>
                <a:ea typeface="Calibri" pitchFamily="34" charset="-122"/>
                <a:cs typeface="Calibri" pitchFamily="34" charset="-120"/>
              </a:rPr>
              <a:t>data blocks</a:t>
            </a:r>
            <a:endParaRPr lang="en-US" sz="1100" dirty="0"/>
          </a:p>
        </p:txBody>
      </p:sp>
      <p:sp>
        <p:nvSpPr>
          <p:cNvPr id="31" name="Shape 29"/>
          <p:cNvSpPr/>
          <p:nvPr/>
        </p:nvSpPr>
        <p:spPr>
          <a:xfrm>
            <a:off x="6217920" y="4069080"/>
            <a:ext cx="1033272" cy="91"/>
          </a:xfrm>
          <a:prstGeom prst="line">
            <a:avLst/>
          </a:prstGeom>
          <a:noFill/>
          <a:ln w="22225">
            <a:solidFill>
              <a:srgbClr val="02C39A"/>
            </a:solidFill>
            <a:prstDash val="solid"/>
            <a:tailEnd type="triangle"/>
          </a:ln>
        </p:spPr>
        <p:txBody>
          <a:bodyPr/>
          <a:p/>
        </p:txBody>
      </p:sp>
      <p:sp>
        <p:nvSpPr>
          <p:cNvPr id="32" name="Shape 30"/>
          <p:cNvSpPr/>
          <p:nvPr/>
        </p:nvSpPr>
        <p:spPr>
          <a:xfrm>
            <a:off x="8595360" y="2148840"/>
            <a:ext cx="3063240" cy="3246120"/>
          </a:xfrm>
          <a:prstGeom prst="roundRect">
            <a:avLst>
              <a:gd name="adj" fmla="val 1791"/>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33" name="Text 31"/>
          <p:cNvSpPr txBox="1"/>
          <p:nvPr/>
        </p:nvSpPr>
        <p:spPr>
          <a:xfrm>
            <a:off x="8823960" y="2331720"/>
            <a:ext cx="260604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See it yourself</a:t>
            </a:r>
            <a:endParaRPr lang="en-US" sz="1500" dirty="0"/>
          </a:p>
        </p:txBody>
      </p:sp>
      <p:sp>
        <p:nvSpPr>
          <p:cNvPr id="34" name="Text 32"/>
          <p:cNvSpPr txBox="1"/>
          <p:nvPr/>
        </p:nvSpPr>
        <p:spPr>
          <a:xfrm>
            <a:off x="8823960" y="2788920"/>
            <a:ext cx="2606040" cy="2468880"/>
          </a:xfrm>
          <a:prstGeom prst="rect">
            <a:avLst/>
          </a:prstGeom>
          <a:noFill/>
          <a:ln/>
        </p:spPr>
        <p:txBody>
          <a:bodyPr wrap="square" lIns="0" tIns="0" rIns="0" bIns="0" rtlCol="0" anchor="t"/>
          <a:lstStyle/>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ls -i: inode numbers.</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ls -l: 2nd column = link count.</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stat file: the whole inode.</a:t>
            </a:r>
            <a:endParaRPr lang="en-US" sz="1400" dirty="0"/>
          </a:p>
          <a:p>
            <a:pPr marL="228600" indent="-228600">
              <a:spcAft>
                <a:spcPts val="400"/>
              </a:spcAft>
              <a:buSzPct val="100000"/>
              <a:buChar char="•"/>
            </a:pPr>
            <a:r>
              <a:rPr lang="en-US" sz="1400" dirty="0">
                <a:solidFill>
                  <a:srgbClr val="3A464C"/>
                </a:solidFill>
                <a:latin typeface="Calibri" pitchFamily="34" charset="0"/>
                <a:ea typeface="Calibri" pitchFamily="34" charset="-122"/>
                <a:cs typeface="Calibri" pitchFamily="34" charset="-120"/>
              </a:rPr>
              <a:t>df -i: free inodes.</a:t>
            </a:r>
            <a:endParaRPr lang="en-US" sz="14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3: ls -li, ln, ln -s and stat</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35</a:t>
            </a:r>
            <a:endParaRPr lang="en-US" sz="900" dirty="0"/>
          </a:p>
        </p:txBody>
      </p:sp>
      <p:sp>
        <p:nvSpPr>
          <p:cNvPr id="6" name="Shape 4"/>
          <p:cNvSpPr/>
          <p:nvPr/>
        </p:nvSpPr>
        <p:spPr>
          <a:xfrm>
            <a:off x="548640" y="1508760"/>
            <a:ext cx="7269480" cy="4754880"/>
          </a:xfrm>
          <a:prstGeom prst="roundRect">
            <a:avLst>
              <a:gd name="adj" fmla="val 962"/>
            </a:avLst>
          </a:prstGeom>
          <a:solidFill>
            <a:srgbClr val="212121"/>
          </a:solidFill>
          <a:ln/>
        </p:spPr>
        <p:txBody>
          <a:bodyPr/>
          <a:p/>
        </p:txBody>
      </p:sp>
      <p:sp>
        <p:nvSpPr>
          <p:cNvPr id="7" name="Text 5"/>
          <p:cNvSpPr txBox="1"/>
          <p:nvPr/>
        </p:nvSpPr>
        <p:spPr>
          <a:xfrm>
            <a:off x="731520" y="1618488"/>
            <a:ext cx="6903720" cy="4535424"/>
          </a:xfrm>
          <a:prstGeom prst="rect">
            <a:avLst/>
          </a:prstGeom>
          <a:noFill/>
          <a:ln/>
        </p:spPr>
        <p:txBody>
          <a:bodyPr wrap="square" lIns="0" tIns="0" rIns="0" bIns="0" rtlCol="0" anchor="t"/>
          <a:lstStyle/>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echo "hello" &gt; notes.txt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ln notes.txt hard.txt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ln -s notes.txt soft.txt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ls -li</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368662 -rw-rw-r-- 2 student student 6 Oct  8 12:20 hard.txt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368662 -rw-rw-r-- 2 student student 6 Oct  8 12:20 notes.txt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368663 lrwxrwxrwx 1 student student 9 Oct  8 12:20 soft.txt -&gt; notes.txt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stat notes.txt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File: notes.txt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  Size: 6            Blocks: 8          IO Block: 4096   regular file</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Device: 254,0   Inode: 368662      Links: 2</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Access: (0664/-rw-rw-r--)  Uid: ( 1001/ student)   Gid: ( 1002/ student)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Modify: 2026-10-08 12:20:48.530146698 +0000</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Change: 2026-10-08 12:20:48.534146698 +0000</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rm notes.txt</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cat hard.txt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hello</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cat soft.txt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cat: soft.txt: No such file or directory</a:t>
            </a:r>
            <a:endParaRPr lang="en-US" sz="1050" dirty="0"/>
          </a:p>
          <a:p>
            <a:pPr indent="0" marL="0">
              <a:lnSpc>
                <a:spcPct val="105000"/>
              </a:lnSpc>
              <a:buNone/>
            </a:pPr>
            <a:r>
              <a:rPr lang="en-US" sz="1050" dirty="0">
                <a:solidFill>
                  <a:srgbClr val="02C39A"/>
                </a:solidFill>
                <a:latin typeface="Consolas" pitchFamily="34" charset="0"/>
                <a:ea typeface="Consolas" pitchFamily="34" charset="-122"/>
                <a:cs typeface="Consolas" pitchFamily="34" charset="-120"/>
              </a:rPr>
              <a:t>$ ls -li</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368662 -rw-rw-r-- 1 student student 6 Oct  8 12:20 hard.txt</a:t>
            </a:r>
            <a:endParaRPr lang="en-US" sz="1050" dirty="0"/>
          </a:p>
          <a:p>
            <a:pPr indent="0" marL="0">
              <a:lnSpc>
                <a:spcPct val="105000"/>
              </a:lnSpc>
              <a:buNone/>
            </a:pPr>
            <a:r>
              <a:rPr lang="en-US" sz="1050" dirty="0">
                <a:solidFill>
                  <a:srgbClr val="F2F2F2"/>
                </a:solidFill>
                <a:latin typeface="Consolas" pitchFamily="34" charset="0"/>
                <a:ea typeface="Consolas" pitchFamily="34" charset="-122"/>
                <a:cs typeface="Consolas" pitchFamily="34" charset="-120"/>
              </a:rPr>
              <a:t>368663 lrwxrwxrwx 1 student student 9 Oct  8 12:20 soft.txt -&gt; notes.txt</a:t>
            </a:r>
            <a:endParaRPr lang="en-US" sz="1050" dirty="0"/>
          </a:p>
        </p:txBody>
      </p:sp>
      <p:sp>
        <p:nvSpPr>
          <p:cNvPr id="8" name="Shape 6"/>
          <p:cNvSpPr/>
          <p:nvPr/>
        </p:nvSpPr>
        <p:spPr>
          <a:xfrm>
            <a:off x="8092440" y="1508760"/>
            <a:ext cx="3566160" cy="4754880"/>
          </a:xfrm>
          <a:prstGeom prst="roundRect">
            <a:avLst>
              <a:gd name="adj" fmla="val 1538"/>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8321040" y="1691640"/>
            <a:ext cx="310896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to observe</a:t>
            </a:r>
            <a:endParaRPr lang="en-US" sz="1500" dirty="0"/>
          </a:p>
        </p:txBody>
      </p:sp>
      <p:sp>
        <p:nvSpPr>
          <p:cNvPr id="10" name="Text 8"/>
          <p:cNvSpPr txBox="1"/>
          <p:nvPr/>
        </p:nvSpPr>
        <p:spPr>
          <a:xfrm>
            <a:off x="8321040" y="2148840"/>
            <a:ext cx="3108960" cy="397764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notes.txt and hard.txt: same inode, link count 2.</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soft.txt: its own inode; size 9 = the length of "notes.txt".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Change time (ctime) moved: ln updated the inode.</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After rm: hard.txt still works, soft.txt dangles.</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Example 4: Sequential and Direct Access in C</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36</a:t>
            </a:r>
            <a:endParaRPr lang="en-US" sz="900" dirty="0"/>
          </a:p>
        </p:txBody>
      </p:sp>
      <p:sp>
        <p:nvSpPr>
          <p:cNvPr id="6" name="Shape 4"/>
          <p:cNvSpPr/>
          <p:nvPr/>
        </p:nvSpPr>
        <p:spPr>
          <a:xfrm>
            <a:off x="548640" y="1508760"/>
            <a:ext cx="6766560" cy="3429000"/>
          </a:xfrm>
          <a:prstGeom prst="roundRect">
            <a:avLst>
              <a:gd name="adj" fmla="val 1333"/>
            </a:avLst>
          </a:prstGeom>
          <a:solidFill>
            <a:srgbClr val="212121"/>
          </a:solidFill>
          <a:ln/>
        </p:spPr>
        <p:txBody>
          <a:bodyPr/>
          <a:p/>
        </p:txBody>
      </p:sp>
      <p:sp>
        <p:nvSpPr>
          <p:cNvPr id="7" name="Text 5"/>
          <p:cNvSpPr txBox="1"/>
          <p:nvPr/>
        </p:nvSpPr>
        <p:spPr>
          <a:xfrm>
            <a:off x="731520" y="1618488"/>
            <a:ext cx="6400800" cy="3209544"/>
          </a:xfrm>
          <a:prstGeom prst="rect">
            <a:avLst/>
          </a:prstGeom>
          <a:noFill/>
          <a:ln/>
        </p:spPr>
        <p:txBody>
          <a:bodyPr wrap="square" lIns="0" tIns="0" rIns="0" bIns="0" rtlCol="0" anchor="t"/>
          <a:lstStyle/>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#define RECSZ 32                       /* bytes per record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int fd = open("students.dat", O_CREAT | O_RDWR | O_TRUNC, 0644);</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 write 5 records: "0 Ayse", "1 Mehmet", ... "4 Zeynep"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lseek(fd, 0, SEEK_SET);                /* 1) sequential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while (read(fd, rec, RECSZ) == RECSZ)</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printf("  [%s]", rec);</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lseek(fd, 3 * RECSZ, SEEK_SET);        /* 2) direct: byte 96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read(fd, rec, RECSZ);</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lseek(fd, 1 * RECSZ, SEEK_SET);        /* 3) overwrite rec 1 */</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write(fd, rec, RECSZ);</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close(fd);</a:t>
            </a:r>
            <a:endParaRPr lang="en-US" sz="1100" dirty="0"/>
          </a:p>
          <a:p>
            <a:pPr indent="0" marL="0">
              <a:lnSpc>
                <a:spcPct val="105000"/>
              </a:lnSpc>
              <a:buNone/>
            </a:pPr>
            <a:r>
              <a:rPr lang="en-US" sz="1100" dirty="0">
                <a:solidFill>
                  <a:srgbClr val="8A9AA0"/>
                </a:solidFill>
                <a:latin typeface="Consolas" pitchFamily="34" charset="0"/>
                <a:ea typeface="Consolas" pitchFamily="34" charset="-122"/>
                <a:cs typeface="Consolas" pitchFamily="34" charset="-120"/>
              </a:rPr>
              <a:t>/* full program: code/file_access.c */</a:t>
            </a:r>
            <a:endParaRPr lang="en-US" sz="1100" dirty="0"/>
          </a:p>
        </p:txBody>
      </p:sp>
      <p:sp>
        <p:nvSpPr>
          <p:cNvPr id="8" name="Shape 6"/>
          <p:cNvSpPr/>
          <p:nvPr/>
        </p:nvSpPr>
        <p:spPr>
          <a:xfrm>
            <a:off x="7589520" y="1508760"/>
            <a:ext cx="4069080" cy="3429000"/>
          </a:xfrm>
          <a:prstGeom prst="roundRect">
            <a:avLst>
              <a:gd name="adj" fmla="val 1600"/>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9" name="Text 7"/>
          <p:cNvSpPr txBox="1"/>
          <p:nvPr/>
        </p:nvSpPr>
        <p:spPr>
          <a:xfrm>
            <a:off x="7818120" y="1691640"/>
            <a:ext cx="3611880" cy="384048"/>
          </a:xfrm>
          <a:prstGeom prst="rect">
            <a:avLst/>
          </a:prstGeom>
          <a:noFill/>
          <a:ln/>
        </p:spPr>
        <p:txBody>
          <a:bodyPr wrap="square" lIns="0" tIns="0" rIns="0" bIns="0" rtlCol="0" anchor="ctr"/>
          <a:lstStyle/>
          <a:p>
            <a:pPr indent="0" marL="0">
              <a:buNone/>
            </a:pPr>
            <a:r>
              <a:rPr lang="en-US" sz="1500" b="1" dirty="0">
                <a:solidFill>
                  <a:srgbClr val="028090"/>
                </a:solidFill>
                <a:latin typeface="Cambria" pitchFamily="34" charset="0"/>
                <a:ea typeface="Cambria" pitchFamily="34" charset="-122"/>
                <a:cs typeface="Cambria" pitchFamily="34" charset="-120"/>
              </a:rPr>
              <a:t>What happens</a:t>
            </a:r>
            <a:endParaRPr lang="en-US" sz="1500" dirty="0"/>
          </a:p>
        </p:txBody>
      </p:sp>
      <p:sp>
        <p:nvSpPr>
          <p:cNvPr id="10" name="Text 8"/>
          <p:cNvSpPr txBox="1"/>
          <p:nvPr/>
        </p:nvSpPr>
        <p:spPr>
          <a:xfrm>
            <a:off x="7818120" y="2148840"/>
            <a:ext cx="3611880" cy="2651760"/>
          </a:xfrm>
          <a:prstGeom prst="rect">
            <a:avLst/>
          </a:prstGeom>
          <a:noFill/>
          <a:ln/>
        </p:spPr>
        <p:txBody>
          <a:bodyPr wrap="square" lIns="0" tIns="0" rIns="0" bIns="0" rtlCol="0" anchor="t"/>
          <a:lstStyle/>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read() advances the file pointer by 32 bytes each time: sequential.</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lseek() sets the pointer anywhere; the next read() or write() starts there: direct.</a:t>
            </a:r>
            <a:endParaRPr lang="en-US" sz="1350" dirty="0"/>
          </a:p>
          <a:p>
            <a:pPr marL="228600" indent="-228600">
              <a:spcAft>
                <a:spcPts val="400"/>
              </a:spcAft>
              <a:buSzPct val="100000"/>
              <a:buChar char="•"/>
            </a:pPr>
            <a:r>
              <a:rPr lang="en-US" sz="1350" dirty="0">
                <a:solidFill>
                  <a:srgbClr val="3A464C"/>
                </a:solidFill>
                <a:latin typeface="Calibri" pitchFamily="34" charset="0"/>
                <a:ea typeface="Calibri" pitchFamily="34" charset="-122"/>
                <a:cs typeface="Calibri" pitchFamily="34" charset="-120"/>
              </a:rPr>
              <a:t>Writing record 1 does not touch the others.</a:t>
            </a:r>
            <a:endParaRPr lang="en-US" sz="1350" dirty="0"/>
          </a:p>
        </p:txBody>
      </p:sp>
      <p:sp>
        <p:nvSpPr>
          <p:cNvPr id="11" name="Shape 9"/>
          <p:cNvSpPr/>
          <p:nvPr/>
        </p:nvSpPr>
        <p:spPr>
          <a:xfrm>
            <a:off x="548640" y="5120640"/>
            <a:ext cx="11109960" cy="1143000"/>
          </a:xfrm>
          <a:prstGeom prst="roundRect">
            <a:avLst>
              <a:gd name="adj" fmla="val 4000"/>
            </a:avLst>
          </a:prstGeom>
          <a:solidFill>
            <a:srgbClr val="212121"/>
          </a:solidFill>
          <a:ln/>
        </p:spPr>
        <p:txBody>
          <a:bodyPr/>
          <a:p/>
        </p:txBody>
      </p:sp>
      <p:sp>
        <p:nvSpPr>
          <p:cNvPr id="12" name="Text 10"/>
          <p:cNvSpPr txBox="1"/>
          <p:nvPr/>
        </p:nvSpPr>
        <p:spPr>
          <a:xfrm>
            <a:off x="731520" y="5230368"/>
            <a:ext cx="10744200" cy="923544"/>
          </a:xfrm>
          <a:prstGeom prst="rect">
            <a:avLst/>
          </a:prstGeom>
          <a:noFill/>
          <a:ln/>
        </p:spPr>
        <p:txBody>
          <a:bodyPr wrap="square" lIns="0" tIns="0" rIns="0" bIns="0" rtlCol="0" anchor="t"/>
          <a:lstStyle/>
          <a:p>
            <a:pPr indent="0" marL="0">
              <a:lnSpc>
                <a:spcPct val="105000"/>
              </a:lnSpc>
              <a:buNone/>
            </a:pPr>
            <a:r>
              <a:rPr lang="en-US" sz="1100" dirty="0">
                <a:solidFill>
                  <a:srgbClr val="02C39A"/>
                </a:solidFill>
                <a:latin typeface="Consolas" pitchFamily="34" charset="0"/>
                <a:ea typeface="Consolas" pitchFamily="34" charset="-122"/>
                <a:cs typeface="Consolas" pitchFamily="34" charset="-120"/>
              </a:rPr>
              <a:t>$ ./file_access</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sequential:  [0 Ayse]  [1 Mehmet]  [2 Elif]  [3 Can]  [4 Zeynep]</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direct: record 3 at byte 96 -&gt; [3 Can]</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after update: record 1 -&gt; [1 Mehmet (updated)]</a:t>
            </a:r>
            <a:endParaRPr lang="en-US" sz="1100" dirty="0"/>
          </a:p>
          <a:p>
            <a:pPr indent="0" marL="0">
              <a:lnSpc>
                <a:spcPct val="105000"/>
              </a:lnSpc>
              <a:buNone/>
            </a:pPr>
            <a:r>
              <a:rPr lang="en-US" sz="1100" dirty="0">
                <a:solidFill>
                  <a:srgbClr val="F2F2F2"/>
                </a:solidFill>
                <a:latin typeface="Consolas" pitchFamily="34" charset="0"/>
                <a:ea typeface="Consolas" pitchFamily="34" charset="-122"/>
                <a:cs typeface="Consolas" pitchFamily="34" charset="-120"/>
              </a:rPr>
              <a:t>file size: 160 bytes</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QUICK QUIZ</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Check Your Understanding</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37</a:t>
            </a:r>
            <a:endParaRPr lang="en-US" sz="900" dirty="0"/>
          </a:p>
        </p:txBody>
      </p:sp>
      <p:sp>
        <p:nvSpPr>
          <p:cNvPr id="6" name="Shape 4"/>
          <p:cNvSpPr/>
          <p:nvPr/>
        </p:nvSpPr>
        <p:spPr>
          <a:xfrm>
            <a:off x="548640" y="1508760"/>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Shape 5"/>
          <p:cNvSpPr/>
          <p:nvPr/>
        </p:nvSpPr>
        <p:spPr>
          <a:xfrm>
            <a:off x="777240" y="1780794"/>
            <a:ext cx="493776" cy="493776"/>
          </a:xfrm>
          <a:prstGeom prst="ellipse">
            <a:avLst/>
          </a:prstGeom>
          <a:solidFill>
            <a:srgbClr val="02C39A"/>
          </a:solidFill>
          <a:ln/>
        </p:spPr>
        <p:txBody>
          <a:bodyPr/>
          <a:p/>
        </p:txBody>
      </p:sp>
      <p:sp>
        <p:nvSpPr>
          <p:cNvPr id="8" name="Text 6"/>
          <p:cNvSpPr txBox="1"/>
          <p:nvPr/>
        </p:nvSpPr>
        <p:spPr>
          <a:xfrm>
            <a:off x="777240" y="1780794"/>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7"/>
          <p:cNvSpPr txBox="1"/>
          <p:nvPr/>
        </p:nvSpPr>
        <p:spPr>
          <a:xfrm>
            <a:off x="1508760" y="1508760"/>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Reference string 1, 2, 3, 1, 4, 1, 2 with 3 frames: how many page faults with FIFO? With LRU?</a:t>
            </a:r>
            <a:endParaRPr lang="en-US" sz="1600" dirty="0"/>
          </a:p>
        </p:txBody>
      </p:sp>
      <p:sp>
        <p:nvSpPr>
          <p:cNvPr id="10" name="Shape 8"/>
          <p:cNvSpPr/>
          <p:nvPr/>
        </p:nvSpPr>
        <p:spPr>
          <a:xfrm>
            <a:off x="548640" y="2747772"/>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1" name="Shape 9"/>
          <p:cNvSpPr/>
          <p:nvPr/>
        </p:nvSpPr>
        <p:spPr>
          <a:xfrm>
            <a:off x="777240" y="3019806"/>
            <a:ext cx="493776" cy="493776"/>
          </a:xfrm>
          <a:prstGeom prst="ellipse">
            <a:avLst/>
          </a:prstGeom>
          <a:solidFill>
            <a:srgbClr val="02C39A"/>
          </a:solidFill>
          <a:ln/>
        </p:spPr>
        <p:txBody>
          <a:bodyPr/>
          <a:p/>
        </p:txBody>
      </p:sp>
      <p:sp>
        <p:nvSpPr>
          <p:cNvPr id="12" name="Text 10"/>
          <p:cNvSpPr txBox="1"/>
          <p:nvPr/>
        </p:nvSpPr>
        <p:spPr>
          <a:xfrm>
            <a:off x="777240" y="3019806"/>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txBox="1"/>
          <p:nvPr/>
        </p:nvSpPr>
        <p:spPr>
          <a:xfrm>
            <a:off x="1508760" y="2747772"/>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tₘ = 200 ns, t_fault = 8 ms, p = 0.0001. What is the effective access time?</a:t>
            </a:r>
            <a:endParaRPr lang="en-US" sz="1600" dirty="0"/>
          </a:p>
        </p:txBody>
      </p:sp>
      <p:sp>
        <p:nvSpPr>
          <p:cNvPr id="14" name="Shape 12"/>
          <p:cNvSpPr/>
          <p:nvPr/>
        </p:nvSpPr>
        <p:spPr>
          <a:xfrm>
            <a:off x="548640" y="3986784"/>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5" name="Shape 13"/>
          <p:cNvSpPr/>
          <p:nvPr/>
        </p:nvSpPr>
        <p:spPr>
          <a:xfrm>
            <a:off x="777240" y="4258818"/>
            <a:ext cx="493776" cy="493776"/>
          </a:xfrm>
          <a:prstGeom prst="ellipse">
            <a:avLst/>
          </a:prstGeom>
          <a:solidFill>
            <a:srgbClr val="02C39A"/>
          </a:solidFill>
          <a:ln/>
        </p:spPr>
        <p:txBody>
          <a:bodyPr/>
          <a:p/>
        </p:txBody>
      </p:sp>
      <p:sp>
        <p:nvSpPr>
          <p:cNvPr id="16" name="Text 14"/>
          <p:cNvSpPr txBox="1"/>
          <p:nvPr/>
        </p:nvSpPr>
        <p:spPr>
          <a:xfrm>
            <a:off x="777240" y="4258818"/>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1508760" y="3986784"/>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Records are 64 bytes, blocks 4096 bytes. In which block, at which offset, does record 200 start?</a:t>
            </a:r>
            <a:endParaRPr lang="en-US" sz="1600" dirty="0"/>
          </a:p>
        </p:txBody>
      </p:sp>
      <p:sp>
        <p:nvSpPr>
          <p:cNvPr id="18" name="Shape 16"/>
          <p:cNvSpPr/>
          <p:nvPr/>
        </p:nvSpPr>
        <p:spPr>
          <a:xfrm>
            <a:off x="548640" y="5225796"/>
            <a:ext cx="11109960" cy="1037844"/>
          </a:xfrm>
          <a:prstGeom prst="roundRect">
            <a:avLst>
              <a:gd name="adj" fmla="val 5286"/>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Shape 17"/>
          <p:cNvSpPr/>
          <p:nvPr/>
        </p:nvSpPr>
        <p:spPr>
          <a:xfrm>
            <a:off x="777240" y="5497830"/>
            <a:ext cx="493776" cy="493776"/>
          </a:xfrm>
          <a:prstGeom prst="ellipse">
            <a:avLst/>
          </a:prstGeom>
          <a:solidFill>
            <a:srgbClr val="02C39A"/>
          </a:solidFill>
          <a:ln/>
        </p:spPr>
        <p:txBody>
          <a:bodyPr/>
          <a:p/>
        </p:txBody>
      </p:sp>
      <p:sp>
        <p:nvSpPr>
          <p:cNvPr id="20" name="Text 18"/>
          <p:cNvSpPr txBox="1"/>
          <p:nvPr/>
        </p:nvSpPr>
        <p:spPr>
          <a:xfrm>
            <a:off x="777240" y="5497830"/>
            <a:ext cx="493776" cy="493776"/>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1" name="Text 19"/>
          <p:cNvSpPr txBox="1"/>
          <p:nvPr/>
        </p:nvSpPr>
        <p:spPr>
          <a:xfrm>
            <a:off x="1508760" y="5225796"/>
            <a:ext cx="9921240" cy="1037844"/>
          </a:xfrm>
          <a:prstGeom prst="rect">
            <a:avLst/>
          </a:prstGeom>
          <a:noFill/>
          <a:ln/>
        </p:spPr>
        <p:txBody>
          <a:bodyPr wrap="square" lIns="0" tIns="0" rIns="0" bIns="0" rtlCol="0" anchor="ctr"/>
          <a:lstStyle/>
          <a:p>
            <a:pPr indent="0" marL="0">
              <a:buNone/>
            </a:pPr>
            <a:r>
              <a:rPr lang="en-US" sz="1600" dirty="0">
                <a:solidFill>
                  <a:srgbClr val="3A464C"/>
                </a:solidFill>
                <a:latin typeface="Calibri" pitchFamily="34" charset="0"/>
                <a:ea typeface="Calibri" pitchFamily="34" charset="-122"/>
                <a:cs typeface="Calibri" pitchFamily="34" charset="-120"/>
              </a:rPr>
              <a:t>After ln a.txt b.txt and rm a.txt, can you still read the data? What if b.txt had been made with ln -s?</a:t>
            </a:r>
            <a:endParaRPr lang="en-US" sz="16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WRAP-UP</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Week 7 — Key Takeaways</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38</a:t>
            </a:r>
            <a:endParaRPr lang="en-US" sz="900" dirty="0"/>
          </a:p>
        </p:txBody>
      </p:sp>
      <p:sp>
        <p:nvSpPr>
          <p:cNvPr id="6" name="Text 4"/>
          <p:cNvSpPr txBox="1"/>
          <p:nvPr/>
        </p:nvSpPr>
        <p:spPr>
          <a:xfrm>
            <a:off x="548640" y="1554480"/>
            <a:ext cx="11064240" cy="4709160"/>
          </a:xfrm>
          <a:prstGeom prst="rect">
            <a:avLst/>
          </a:prstGeom>
          <a:noFill/>
          <a:ln/>
        </p:spPr>
        <p:txBody>
          <a:bodyPr wrap="square" lIns="0" tIns="0" rIns="0" bIns="0" rtlCol="0" anchor="t"/>
          <a:lstStyle/>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Virtual memory:</a:t>
            </a:r>
            <a:r>
              <a:rPr lang="en-US" sz="1800" dirty="0">
                <a:solidFill>
                  <a:srgbClr val="3A464C"/>
                </a:solidFill>
                <a:latin typeface="Calibri" pitchFamily="34" charset="0"/>
                <a:ea typeface="Calibri" pitchFamily="34" charset="-122"/>
                <a:cs typeface="Calibri" pitchFamily="34" charset="-120"/>
              </a:rPr>
              <a:t> a process sees a large address space; only the pages in use are in RAM. Demand paging loads a page on first use.</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Page fault:</a:t>
            </a:r>
            <a:r>
              <a:rPr lang="en-US" sz="1800" dirty="0">
                <a:solidFill>
                  <a:srgbClr val="3A464C"/>
                </a:solidFill>
                <a:latin typeface="Calibri" pitchFamily="34" charset="0"/>
                <a:ea typeface="Calibri" pitchFamily="34" charset="-122"/>
                <a:cs typeface="Calibri" pitchFamily="34" charset="-120"/>
              </a:rPr>
              <a:t> access to an invalid page traps to the OS, which loads the page and restarts the instruction. EAT = (1 − p)·tₘ + p·t_fault, so p must be tiny.</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Copy-on-write:</a:t>
            </a:r>
            <a:r>
              <a:rPr lang="en-US" sz="1800" dirty="0">
                <a:solidFill>
                  <a:srgbClr val="3A464C"/>
                </a:solidFill>
                <a:latin typeface="Calibri" pitchFamily="34" charset="0"/>
                <a:ea typeface="Calibri" pitchFamily="34" charset="-122"/>
                <a:cs typeface="Calibri" pitchFamily="34" charset="-120"/>
              </a:rPr>
              <a:t> fork() shares pages until one side writes.</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Replacement:</a:t>
            </a:r>
            <a:r>
              <a:rPr lang="en-US" sz="1800" dirty="0">
                <a:solidFill>
                  <a:srgbClr val="3A464C"/>
                </a:solidFill>
                <a:latin typeface="Calibri" pitchFamily="34" charset="0"/>
                <a:ea typeface="Calibri" pitchFamily="34" charset="-122"/>
                <a:cs typeface="Calibri" pitchFamily="34" charset="-120"/>
              </a:rPr>
              <a:t> FIFO (simple, Belady's anomaly), OPT (optimal, needs the future), LRU (good, approximated by the clock). Example: 15 / 9 / 12 faults.</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Thrashing:</a:t>
            </a:r>
            <a:r>
              <a:rPr lang="en-US" sz="1800" dirty="0">
                <a:solidFill>
                  <a:srgbClr val="3A464C"/>
                </a:solidFill>
                <a:latin typeface="Calibri" pitchFamily="34" charset="0"/>
                <a:ea typeface="Calibri" pitchFamily="34" charset="-122"/>
                <a:cs typeface="Calibri" pitchFamily="34" charset="-120"/>
              </a:rPr>
              <a:t> too few frames → constant paging; keep each working set in memory.</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Files:</a:t>
            </a:r>
            <a:r>
              <a:rPr lang="en-US" sz="1800" dirty="0">
                <a:solidFill>
                  <a:srgbClr val="3A464C"/>
                </a:solidFill>
                <a:latin typeface="Calibri" pitchFamily="34" charset="0"/>
                <a:ea typeface="Calibri" pitchFamily="34" charset="-122"/>
                <a:cs typeface="Calibri" pitchFamily="34" charset="-120"/>
              </a:rPr>
              <a:t> named data with attributes (in the inode); open-file tables; sequential, direct, indexed access.</a:t>
            </a:r>
            <a:endParaRPr lang="en-US" sz="1800" dirty="0"/>
          </a:p>
          <a:p>
            <a:pPr marL="228600" indent="-228600">
              <a:spcAft>
                <a:spcPts val="1100"/>
              </a:spcAft>
              <a:buSzPct val="100000"/>
              <a:buChar char="•"/>
            </a:pPr>
            <a:r>
              <a:rPr lang="en-US" sz="1800" b="1" dirty="0">
                <a:solidFill>
                  <a:srgbClr val="3A464C"/>
                </a:solidFill>
                <a:latin typeface="Calibri" pitchFamily="34" charset="0"/>
                <a:ea typeface="Calibri" pitchFamily="34" charset="-122"/>
                <a:cs typeface="Calibri" pitchFamily="34" charset="-120"/>
              </a:rPr>
              <a:t>Directories:</a:t>
            </a:r>
            <a:r>
              <a:rPr lang="en-US" sz="1800" dirty="0">
                <a:solidFill>
                  <a:srgbClr val="3A464C"/>
                </a:solidFill>
                <a:latin typeface="Calibri" pitchFamily="34" charset="0"/>
                <a:ea typeface="Calibri" pitchFamily="34" charset="-122"/>
                <a:cs typeface="Calibri" pitchFamily="34" charset="-120"/>
              </a:rPr>
              <a:t> single-level → two-level → tree → acyclic graph (hard and symbolic links).</a:t>
            </a:r>
            <a:endParaRPr lang="en-US" sz="1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292608"/>
            <a:ext cx="10972800" cy="292608"/>
          </a:xfrm>
          <a:prstGeom prst="rect">
            <a:avLst/>
          </a:prstGeom>
          <a:noFill/>
          <a:ln/>
        </p:spPr>
        <p:txBody>
          <a:bodyPr wrap="square" lIns="0" tIns="0" rIns="0" bIns="0"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MIDTERM · WEEK 8</a:t>
            </a:r>
            <a:endParaRPr lang="en-US" sz="1200" dirty="0"/>
          </a:p>
        </p:txBody>
      </p:sp>
      <p:sp>
        <p:nvSpPr>
          <p:cNvPr id="3" name="Text 1"/>
          <p:cNvSpPr txBox="1"/>
          <p:nvPr/>
        </p:nvSpPr>
        <p:spPr>
          <a:xfrm>
            <a:off x="548640" y="566928"/>
            <a:ext cx="11064240" cy="777240"/>
          </a:xfrm>
          <a:prstGeom prst="rect">
            <a:avLst/>
          </a:prstGeom>
          <a:noFill/>
          <a:ln/>
        </p:spPr>
        <p:txBody>
          <a:bodyPr wrap="square" lIns="0" tIns="0" rIns="0" bIns="0" rtlCol="0" anchor="ctr"/>
          <a:lstStyle/>
          <a:p>
            <a:pPr indent="0" marL="0">
              <a:buNone/>
            </a:pPr>
            <a:r>
              <a:rPr lang="en-US" sz="3000" b="1" dirty="0">
                <a:solidFill>
                  <a:srgbClr val="36454F"/>
                </a:solidFill>
                <a:latin typeface="Cambria" pitchFamily="34" charset="0"/>
                <a:ea typeface="Cambria" pitchFamily="34" charset="-122"/>
                <a:cs typeface="Cambria" pitchFamily="34" charset="-120"/>
              </a:rPr>
              <a:t>Midterm Checklist: Weeks 1–7</a:t>
            </a:r>
            <a:endParaRPr lang="en-US" sz="3000" dirty="0"/>
          </a:p>
        </p:txBody>
      </p:sp>
      <p:sp>
        <p:nvSpPr>
          <p:cNvPr id="4" name="Text 2"/>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6B7679"/>
                </a:solidFill>
                <a:latin typeface="Calibri" pitchFamily="34" charset="0"/>
                <a:ea typeface="Calibri" pitchFamily="34" charset="-122"/>
                <a:cs typeface="Calibri" pitchFamily="34" charset="-120"/>
              </a:rPr>
              <a:t>MCMP117 — Fundamentals of Operating Systems</a:t>
            </a:r>
            <a:endParaRPr lang="en-US" sz="900" dirty="0"/>
          </a:p>
        </p:txBody>
      </p:sp>
      <p:sp>
        <p:nvSpPr>
          <p:cNvPr id="5" name="Text 3"/>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6B7679"/>
                </a:solidFill>
                <a:latin typeface="Calibri" pitchFamily="34" charset="0"/>
                <a:ea typeface="Calibri" pitchFamily="34" charset="-122"/>
                <a:cs typeface="Calibri" pitchFamily="34" charset="-120"/>
              </a:rPr>
              <a:t>Week 7  ·  39</a:t>
            </a:r>
            <a:endParaRPr lang="en-US" sz="900" dirty="0"/>
          </a:p>
        </p:txBody>
      </p:sp>
      <p:sp>
        <p:nvSpPr>
          <p:cNvPr id="6" name="Shape 4"/>
          <p:cNvSpPr/>
          <p:nvPr/>
        </p:nvSpPr>
        <p:spPr>
          <a:xfrm>
            <a:off x="54864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7" name="Text 5"/>
          <p:cNvSpPr txBox="1"/>
          <p:nvPr/>
        </p:nvSpPr>
        <p:spPr>
          <a:xfrm>
            <a:off x="77724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W1 History</a:t>
            </a:r>
            <a:endParaRPr lang="en-US" sz="1600" dirty="0"/>
          </a:p>
        </p:txBody>
      </p:sp>
      <p:sp>
        <p:nvSpPr>
          <p:cNvPr id="8" name="Text 6"/>
          <p:cNvSpPr txBox="1"/>
          <p:nvPr/>
        </p:nvSpPr>
        <p:spPr>
          <a:xfrm>
            <a:off x="777240" y="214884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Batch, multiprogramming, time-sharing; why idle CPUs drove OS design; UNIX and Linux.</a:t>
            </a:r>
            <a:endParaRPr lang="en-US" sz="1500" dirty="0"/>
          </a:p>
        </p:txBody>
      </p:sp>
      <p:sp>
        <p:nvSpPr>
          <p:cNvPr id="9" name="Shape 7"/>
          <p:cNvSpPr/>
          <p:nvPr/>
        </p:nvSpPr>
        <p:spPr>
          <a:xfrm>
            <a:off x="338328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0" name="Text 8"/>
          <p:cNvSpPr txBox="1"/>
          <p:nvPr/>
        </p:nvSpPr>
        <p:spPr>
          <a:xfrm>
            <a:off x="361188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W2 OS basics</a:t>
            </a:r>
            <a:endParaRPr lang="en-US" sz="1600" dirty="0"/>
          </a:p>
        </p:txBody>
      </p:sp>
      <p:sp>
        <p:nvSpPr>
          <p:cNvPr id="11" name="Text 9"/>
          <p:cNvSpPr txBox="1"/>
          <p:nvPr/>
        </p:nvSpPr>
        <p:spPr>
          <a:xfrm>
            <a:off x="3611880" y="214884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Definitions, goals, interrupts, storage hierarchy, dual mode, system calls, OS structures.</a:t>
            </a:r>
            <a:endParaRPr lang="en-US" sz="1500" dirty="0"/>
          </a:p>
        </p:txBody>
      </p:sp>
      <p:sp>
        <p:nvSpPr>
          <p:cNvPr id="12" name="Shape 10"/>
          <p:cNvSpPr/>
          <p:nvPr/>
        </p:nvSpPr>
        <p:spPr>
          <a:xfrm>
            <a:off x="621792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3" name="Text 11"/>
          <p:cNvSpPr txBox="1"/>
          <p:nvPr/>
        </p:nvSpPr>
        <p:spPr>
          <a:xfrm>
            <a:off x="644652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W3 Processes</a:t>
            </a:r>
            <a:endParaRPr lang="en-US" sz="1600" dirty="0"/>
          </a:p>
        </p:txBody>
      </p:sp>
      <p:sp>
        <p:nvSpPr>
          <p:cNvPr id="14" name="Text 12"/>
          <p:cNvSpPr txBox="1"/>
          <p:nvPr/>
        </p:nvSpPr>
        <p:spPr>
          <a:xfrm>
            <a:off x="6446520" y="214884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OS services, system-call types, process states, PCB, context switch, fork().</a:t>
            </a:r>
            <a:endParaRPr lang="en-US" sz="1500" dirty="0"/>
          </a:p>
        </p:txBody>
      </p:sp>
      <p:sp>
        <p:nvSpPr>
          <p:cNvPr id="15" name="Shape 13"/>
          <p:cNvSpPr/>
          <p:nvPr/>
        </p:nvSpPr>
        <p:spPr>
          <a:xfrm>
            <a:off x="9052560" y="150876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6" name="Text 14"/>
          <p:cNvSpPr txBox="1"/>
          <p:nvPr/>
        </p:nvSpPr>
        <p:spPr>
          <a:xfrm>
            <a:off x="9281160" y="169164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W4 Threads, CPU</a:t>
            </a:r>
            <a:endParaRPr lang="en-US" sz="1600" dirty="0"/>
          </a:p>
        </p:txBody>
      </p:sp>
      <p:sp>
        <p:nvSpPr>
          <p:cNvPr id="17" name="Text 15"/>
          <p:cNvSpPr txBox="1"/>
          <p:nvPr/>
        </p:nvSpPr>
        <p:spPr>
          <a:xfrm>
            <a:off x="9281160" y="214884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User vs. kernel threads, multithreading models, scheduling criteria.</a:t>
            </a:r>
            <a:endParaRPr lang="en-US" sz="1500" dirty="0"/>
          </a:p>
        </p:txBody>
      </p:sp>
      <p:sp>
        <p:nvSpPr>
          <p:cNvPr id="18" name="Shape 16"/>
          <p:cNvSpPr/>
          <p:nvPr/>
        </p:nvSpPr>
        <p:spPr>
          <a:xfrm>
            <a:off x="54864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19" name="Text 17"/>
          <p:cNvSpPr txBox="1"/>
          <p:nvPr/>
        </p:nvSpPr>
        <p:spPr>
          <a:xfrm>
            <a:off x="777240" y="418338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W5 Algorithms &amp; sync</a:t>
            </a:r>
            <a:endParaRPr lang="en-US" sz="1600" dirty="0"/>
          </a:p>
        </p:txBody>
      </p:sp>
      <p:sp>
        <p:nvSpPr>
          <p:cNvPr id="20" name="Text 18"/>
          <p:cNvSpPr txBox="1"/>
          <p:nvPr/>
        </p:nvSpPr>
        <p:spPr>
          <a:xfrm>
            <a:off x="777240" y="464058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FCFS, SJF/SRTF, Priority, RR with Gantt charts; race conditions, mutex, semaphores.</a:t>
            </a:r>
            <a:endParaRPr lang="en-US" sz="1500" dirty="0"/>
          </a:p>
        </p:txBody>
      </p:sp>
      <p:sp>
        <p:nvSpPr>
          <p:cNvPr id="21" name="Shape 19"/>
          <p:cNvSpPr/>
          <p:nvPr/>
        </p:nvSpPr>
        <p:spPr>
          <a:xfrm>
            <a:off x="338328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2" name="Text 20"/>
          <p:cNvSpPr txBox="1"/>
          <p:nvPr/>
        </p:nvSpPr>
        <p:spPr>
          <a:xfrm>
            <a:off x="3611880" y="418338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W6 Memory</a:t>
            </a:r>
            <a:endParaRPr lang="en-US" sz="1600" dirty="0"/>
          </a:p>
        </p:txBody>
      </p:sp>
      <p:sp>
        <p:nvSpPr>
          <p:cNvPr id="23" name="Text 21"/>
          <p:cNvSpPr txBox="1"/>
          <p:nvPr/>
        </p:nvSpPr>
        <p:spPr>
          <a:xfrm>
            <a:off x="3611880" y="464058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Logical vs. physical, MMU, fragmentation, paging, TLB and EAT, segmentation.</a:t>
            </a:r>
            <a:endParaRPr lang="en-US" sz="1500" dirty="0"/>
          </a:p>
        </p:txBody>
      </p:sp>
      <p:sp>
        <p:nvSpPr>
          <p:cNvPr id="24" name="Shape 22"/>
          <p:cNvSpPr/>
          <p:nvPr/>
        </p:nvSpPr>
        <p:spPr>
          <a:xfrm>
            <a:off x="621792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5" name="Text 23"/>
          <p:cNvSpPr txBox="1"/>
          <p:nvPr/>
        </p:nvSpPr>
        <p:spPr>
          <a:xfrm>
            <a:off x="6446520" y="418338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W7 VM &amp; files</a:t>
            </a:r>
            <a:endParaRPr lang="en-US" sz="1600" dirty="0"/>
          </a:p>
        </p:txBody>
      </p:sp>
      <p:sp>
        <p:nvSpPr>
          <p:cNvPr id="26" name="Text 24"/>
          <p:cNvSpPr txBox="1"/>
          <p:nvPr/>
        </p:nvSpPr>
        <p:spPr>
          <a:xfrm>
            <a:off x="6446520" y="464058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Page faults, EAT with p, FIFO/OPT/LRU tables, thrashing; access methods, directories, links.</a:t>
            </a:r>
            <a:endParaRPr lang="en-US" sz="1500" dirty="0"/>
          </a:p>
        </p:txBody>
      </p:sp>
      <p:sp>
        <p:nvSpPr>
          <p:cNvPr id="27" name="Shape 25"/>
          <p:cNvSpPr/>
          <p:nvPr/>
        </p:nvSpPr>
        <p:spPr>
          <a:xfrm>
            <a:off x="9052560" y="4000500"/>
            <a:ext cx="2606040" cy="2263140"/>
          </a:xfrm>
          <a:prstGeom prst="roundRect">
            <a:avLst>
              <a:gd name="adj" fmla="val 2424"/>
            </a:avLst>
          </a:prstGeom>
          <a:solidFill>
            <a:srgbClr val="F2F2F2"/>
          </a:solidFill>
          <a:ln/>
          <a:effectLst>
            <a:outerShdw sx="100000" sy="100000" kx="0" ky="0" algn="bl" rotWithShape="0" blurRad="101600" dist="25400" dir="5400000">
              <a:srgbClr val="000000">
                <a:alpha val="12000"/>
              </a:srgbClr>
            </a:outerShdw>
          </a:effectLst>
        </p:spPr>
        <p:txBody>
          <a:bodyPr/>
          <a:p/>
        </p:txBody>
      </p:sp>
      <p:sp>
        <p:nvSpPr>
          <p:cNvPr id="28" name="Text 26"/>
          <p:cNvSpPr txBox="1"/>
          <p:nvPr/>
        </p:nvSpPr>
        <p:spPr>
          <a:xfrm>
            <a:off x="9281160" y="4183380"/>
            <a:ext cx="2148840" cy="384048"/>
          </a:xfrm>
          <a:prstGeom prst="rect">
            <a:avLst/>
          </a:prstGeom>
          <a:noFill/>
          <a:ln/>
        </p:spPr>
        <p:txBody>
          <a:bodyPr wrap="square" lIns="0" tIns="0" rIns="0" bIns="0" rtlCol="0" anchor="ctr"/>
          <a:lstStyle/>
          <a:p>
            <a:pPr indent="0" marL="0">
              <a:buNone/>
            </a:pPr>
            <a:r>
              <a:rPr lang="en-US" sz="1600" b="1" dirty="0">
                <a:solidFill>
                  <a:srgbClr val="028090"/>
                </a:solidFill>
                <a:latin typeface="Cambria" pitchFamily="34" charset="0"/>
                <a:ea typeface="Cambria" pitchFamily="34" charset="-122"/>
                <a:cs typeface="Cambria" pitchFamily="34" charset="-120"/>
              </a:rPr>
              <a:t>How to prepare</a:t>
            </a:r>
            <a:endParaRPr lang="en-US" sz="1600" dirty="0"/>
          </a:p>
        </p:txBody>
      </p:sp>
      <p:sp>
        <p:nvSpPr>
          <p:cNvPr id="29" name="Text 27"/>
          <p:cNvSpPr txBox="1"/>
          <p:nvPr/>
        </p:nvSpPr>
        <p:spPr>
          <a:xfrm>
            <a:off x="9281160" y="4640580"/>
            <a:ext cx="2148840" cy="1485900"/>
          </a:xfrm>
          <a:prstGeom prst="rect">
            <a:avLst/>
          </a:prstGeom>
          <a:noFill/>
          <a:ln/>
        </p:spPr>
        <p:txBody>
          <a:bodyPr wrap="square" lIns="0" tIns="0" rIns="0" bIns="0" rtlCol="0" anchor="t"/>
          <a:lstStyle/>
          <a:p>
            <a:pPr indent="0" marL="0">
              <a:spcAft>
                <a:spcPts val="400"/>
              </a:spcAft>
              <a:buNone/>
            </a:pPr>
            <a:r>
              <a:rPr lang="en-US" sz="1500" dirty="0">
                <a:solidFill>
                  <a:srgbClr val="3A464C"/>
                </a:solidFill>
                <a:latin typeface="Calibri" pitchFamily="34" charset="0"/>
                <a:ea typeface="Calibri" pitchFamily="34" charset="-122"/>
                <a:cs typeface="Calibri" pitchFamily="34" charset="-120"/>
              </a:rPr>
              <a:t>Redo every worked example and quiz from the slides and the notes' review questions.</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NEXT WEEK</a:t>
            </a:r>
            <a:endParaRPr lang="en-US" sz="1300" dirty="0"/>
          </a:p>
        </p:txBody>
      </p:sp>
      <p:sp>
        <p:nvSpPr>
          <p:cNvPr id="3" name="Text 1"/>
          <p:cNvSpPr txBox="1"/>
          <p:nvPr/>
        </p:nvSpPr>
        <p:spPr>
          <a:xfrm>
            <a:off x="548640" y="1783080"/>
            <a:ext cx="10972800" cy="77724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Midterm Exam (Week 8)</a:t>
            </a:r>
            <a:endParaRPr lang="en-US" sz="3400" dirty="0"/>
          </a:p>
        </p:txBody>
      </p:sp>
      <p:sp>
        <p:nvSpPr>
          <p:cNvPr id="4" name="Shape 2"/>
          <p:cNvSpPr/>
          <p:nvPr/>
        </p:nvSpPr>
        <p:spPr>
          <a:xfrm>
            <a:off x="548640" y="2834640"/>
            <a:ext cx="7680960" cy="2926080"/>
          </a:xfrm>
          <a:prstGeom prst="roundRect">
            <a:avLst>
              <a:gd name="adj" fmla="val 1875"/>
            </a:avLst>
          </a:prstGeom>
          <a:solidFill>
            <a:srgbClr val="36454F"/>
          </a:solidFill>
          <a:ln/>
        </p:spPr>
        <p:txBody>
          <a:bodyPr/>
          <a:p/>
        </p:txBody>
      </p:sp>
      <p:sp>
        <p:nvSpPr>
          <p:cNvPr id="5" name="Text 3"/>
          <p:cNvSpPr txBox="1"/>
          <p:nvPr/>
        </p:nvSpPr>
        <p:spPr>
          <a:xfrm>
            <a:off x="868680" y="3017520"/>
            <a:ext cx="7132320" cy="365760"/>
          </a:xfrm>
          <a:prstGeom prst="rect">
            <a:avLst/>
          </a:prstGeom>
          <a:noFill/>
          <a:ln/>
        </p:spPr>
        <p:txBody>
          <a:bodyPr wrap="square" lIns="0" tIns="0" rIns="0" bIns="0" rtlCol="0" anchor="ctr"/>
          <a:lstStyle/>
          <a:p>
            <a:pPr indent="0" marL="0">
              <a:buNone/>
            </a:pPr>
            <a:r>
              <a:rPr lang="en-US" sz="1400" b="1" dirty="0">
                <a:solidFill>
                  <a:srgbClr val="02C39A"/>
                </a:solidFill>
                <a:latin typeface="Calibri" pitchFamily="34" charset="0"/>
                <a:ea typeface="Calibri" pitchFamily="34" charset="-122"/>
                <a:cs typeface="Calibri" pitchFamily="34" charset="-120"/>
              </a:rPr>
              <a:t>Week 8 will cover:</a:t>
            </a:r>
            <a:endParaRPr lang="en-US" sz="1400" dirty="0"/>
          </a:p>
        </p:txBody>
      </p:sp>
      <p:sp>
        <p:nvSpPr>
          <p:cNvPr id="6" name="Text 4"/>
          <p:cNvSpPr txBox="1"/>
          <p:nvPr/>
        </p:nvSpPr>
        <p:spPr>
          <a:xfrm>
            <a:off x="868680" y="3474720"/>
            <a:ext cx="7132320" cy="2148840"/>
          </a:xfrm>
          <a:prstGeom prst="rect">
            <a:avLst/>
          </a:prstGeom>
          <a:noFill/>
          <a:ln/>
        </p:spPr>
        <p:txBody>
          <a:bodyPr wrap="square" lIns="0" tIns="0" rIns="0" bIns="0" rtlCol="0" anchor="t"/>
          <a:lstStyle/>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Covers Weeks 1–7: slides plus the course notes</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Practise: Gantt charts, EAT (TLB and page faults), FIFO/OPT/LRU tables, block arithmetic</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Bring your student ID, pens and a basic calculator if allowed</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Time and room: check the course Telegram channel</a:t>
            </a:r>
            <a:endParaRPr lang="en-US" sz="1500" dirty="0"/>
          </a:p>
          <a:p>
            <a:pPr marL="228600" indent="-228600">
              <a:spcAft>
                <a:spcPts val="600"/>
              </a:spcAft>
              <a:buSzPct val="100000"/>
              <a:buChar char="•"/>
            </a:pPr>
            <a:r>
              <a:rPr lang="en-US" sz="1500" dirty="0">
                <a:solidFill>
                  <a:srgbClr val="F2F2F2"/>
                </a:solidFill>
                <a:latin typeface="Calibri" pitchFamily="34" charset="0"/>
                <a:ea typeface="Calibri" pitchFamily="34" charset="-122"/>
                <a:cs typeface="Calibri" pitchFamily="34" charset="-120"/>
              </a:rPr>
              <a:t>After the midterm, Week 9 starts hands-on Linux: the shell and navigation</a:t>
            </a:r>
            <a:endParaRPr lang="en-US" sz="1500" dirty="0"/>
          </a:p>
        </p:txBody>
      </p:sp>
      <p:sp>
        <p:nvSpPr>
          <p:cNvPr id="7"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8"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7  ·  40</a:t>
            </a:r>
            <a:endParaRPr lang="en-US" sz="9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212121"/>
        </a:solidFill>
      </p:bgPr>
    </p:bg>
    <p:spTree>
      <p:nvGrpSpPr>
        <p:cNvPr id="1" name=""/>
        <p:cNvGrpSpPr/>
        <p:nvPr/>
      </p:nvGrpSpPr>
      <p:grpSpPr>
        <a:xfrm>
          <a:off x="0" y="0"/>
          <a:ext cx="0" cy="0"/>
          <a:chOff x="0" y="0"/>
          <a:chExt cx="0" cy="0"/>
        </a:xfrm>
      </p:grpSpPr>
      <p:sp>
        <p:nvSpPr>
          <p:cNvPr id="2" name="Text 0"/>
          <p:cNvSpPr txBox="1"/>
          <p:nvPr/>
        </p:nvSpPr>
        <p:spPr>
          <a:xfrm>
            <a:off x="548640" y="1417320"/>
            <a:ext cx="9144000" cy="320040"/>
          </a:xfrm>
          <a:prstGeom prst="rect">
            <a:avLst/>
          </a:prstGeom>
          <a:noFill/>
          <a:ln/>
        </p:spPr>
        <p:txBody>
          <a:bodyPr wrap="square" lIns="0" tIns="0" rIns="0" bIns="0" rtlCol="0" anchor="ctr"/>
          <a:lstStyle/>
          <a:p>
            <a:pPr indent="0" marL="0">
              <a:buNone/>
            </a:pPr>
            <a:r>
              <a:rPr lang="en-US" sz="1300" b="1" spc="300" kern="0" dirty="0">
                <a:solidFill>
                  <a:srgbClr val="02C39A"/>
                </a:solidFill>
                <a:latin typeface="Calibri" pitchFamily="34" charset="0"/>
                <a:ea typeface="Calibri" pitchFamily="34" charset="-122"/>
                <a:cs typeface="Calibri" pitchFamily="34" charset="-120"/>
              </a:rPr>
              <a:t>QUESTIONS?</a:t>
            </a:r>
            <a:endParaRPr lang="en-US" sz="1300" dirty="0"/>
          </a:p>
        </p:txBody>
      </p:sp>
      <p:sp>
        <p:nvSpPr>
          <p:cNvPr id="3" name="Text 1"/>
          <p:cNvSpPr txBox="1"/>
          <p:nvPr/>
        </p:nvSpPr>
        <p:spPr>
          <a:xfrm>
            <a:off x="548640" y="1783080"/>
            <a:ext cx="9144000" cy="777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Discussion</a:t>
            </a:r>
            <a:endParaRPr lang="en-US" sz="3800" dirty="0"/>
          </a:p>
        </p:txBody>
      </p:sp>
      <p:sp>
        <p:nvSpPr>
          <p:cNvPr id="4" name="Text 2"/>
          <p:cNvSpPr txBox="1"/>
          <p:nvPr/>
        </p:nvSpPr>
        <p:spPr>
          <a:xfrm>
            <a:off x="548640" y="2697480"/>
            <a:ext cx="6858000" cy="640080"/>
          </a:xfrm>
          <a:prstGeom prst="rect">
            <a:avLst/>
          </a:prstGeom>
          <a:noFill/>
          <a:ln/>
        </p:spPr>
        <p:txBody>
          <a:bodyPr wrap="square" lIns="0" tIns="0" rIns="0" bIns="0" rtlCol="0" anchor="ctr"/>
          <a:lstStyle/>
          <a:p>
            <a:pPr indent="0" marL="0">
              <a:buNone/>
            </a:pPr>
            <a:r>
              <a:rPr lang="en-US" sz="1400" i="1" dirty="0">
                <a:solidFill>
                  <a:srgbClr val="F2F2F2"/>
                </a:solidFill>
                <a:latin typeface="Calibri" pitchFamily="34" charset="0"/>
                <a:ea typeface="Calibri" pitchFamily="34" charset="-122"/>
                <a:cs typeface="Calibri" pitchFamily="34" charset="-120"/>
              </a:rPr>
              <a:t>If you have questions after class, ask them on the course Telegram channel — everyone benefits from the answer.</a:t>
            </a:r>
            <a:endParaRPr lang="en-US" sz="1400" dirty="0"/>
          </a:p>
        </p:txBody>
      </p:sp>
      <p:sp>
        <p:nvSpPr>
          <p:cNvPr id="7" name="Text 4"/>
          <p:cNvSpPr txBox="1"/>
          <p:nvPr/>
        </p:nvSpPr>
        <p:spPr>
          <a:xfrm>
            <a:off x="548640" y="3703320"/>
            <a:ext cx="5486400" cy="1463040"/>
          </a:xfrm>
          <a:prstGeom prst="rect">
            <a:avLst/>
          </a:prstGeom>
          <a:noFill/>
          <a:ln/>
        </p:spPr>
        <p:txBody>
          <a:bodyPr wrap="square" lIns="0" tIns="0" rIns="0" bIns="0" rtlCol="0" anchor="t"/>
          <a:lstStyle/>
          <a:p>
            <a:pPr indent="0" marL="0">
              <a:spcAft>
                <a:spcPts val="400"/>
              </a:spcAft>
              <a:buNone/>
            </a:pPr>
            <a:r>
              <a:rPr lang="en-US" sz="1400" b="1" dirty="0">
                <a:solidFill>
                  <a:srgbClr val="F2F2F2"/>
                </a:solidFill>
                <a:latin typeface="Calibri" pitchFamily="34" charset="0"/>
                <a:ea typeface="Calibri" pitchFamily="34" charset="-122"/>
                <a:cs typeface="Calibri" pitchFamily="34" charset="-120"/>
              </a:rPr>
              <a:t>Asst. Prof. Dr. Hasan Oğuz</a:t>
            </a:r>
            <a:endParaRPr lang="en-US" sz="1400" dirty="0"/>
          </a:p>
        </p:txBody>
      </p:sp>
      <p:sp>
        <p:nvSpPr>
          <p:cNvPr id="8" name="Text 5"/>
          <p:cNvSpPr txBox="1"/>
          <p:nvPr/>
        </p:nvSpPr>
        <p:spPr>
          <a:xfrm>
            <a:off x="548640" y="6528816"/>
            <a:ext cx="6400800" cy="274320"/>
          </a:xfrm>
          <a:prstGeom prst="rect">
            <a:avLst/>
          </a:prstGeom>
          <a:noFill/>
          <a:ln/>
        </p:spPr>
        <p:txBody>
          <a:bodyPr wrap="square" lIns="0" tIns="0" rIns="0" bIns="0" rtlCol="0" anchor="ctr"/>
          <a:lstStyle/>
          <a:p>
            <a:pPr indent="0" marL="0">
              <a:buNone/>
            </a:pPr>
            <a:r>
              <a:rPr lang="en-US" sz="900" dirty="0">
                <a:solidFill>
                  <a:srgbClr val="8A9AA0"/>
                </a:solidFill>
                <a:latin typeface="Calibri" pitchFamily="34" charset="0"/>
                <a:ea typeface="Calibri" pitchFamily="34" charset="-122"/>
                <a:cs typeface="Calibri" pitchFamily="34" charset="-120"/>
              </a:rPr>
              <a:t>MCMP117 — Fundamentals of Operating Systems</a:t>
            </a:r>
            <a:endParaRPr lang="en-US" sz="900" dirty="0"/>
          </a:p>
        </p:txBody>
      </p:sp>
      <p:sp>
        <p:nvSpPr>
          <p:cNvPr id="9" name="Text 6"/>
          <p:cNvSpPr txBox="1"/>
          <p:nvPr/>
        </p:nvSpPr>
        <p:spPr>
          <a:xfrm>
            <a:off x="10271455" y="6528816"/>
            <a:ext cx="1371600" cy="274320"/>
          </a:xfrm>
          <a:prstGeom prst="rect">
            <a:avLst/>
          </a:prstGeom>
          <a:noFill/>
          <a:ln/>
        </p:spPr>
        <p:txBody>
          <a:bodyPr wrap="square" lIns="0" tIns="0" rIns="0" bIns="0" rtlCol="0" anchor="ctr"/>
          <a:lstStyle/>
          <a:p>
            <a:pPr algn="r" indent="0" marL="0">
              <a:buNone/>
            </a:pPr>
            <a:r>
              <a:rPr lang="en-US" sz="900" dirty="0">
                <a:solidFill>
                  <a:srgbClr val="8A9AA0"/>
                </a:solidFill>
                <a:latin typeface="Calibri" pitchFamily="34" charset="0"/>
                <a:ea typeface="Calibri" pitchFamily="34" charset="-122"/>
                <a:cs typeface="Calibri" pitchFamily="34" charset="-120"/>
              </a:rPr>
              <a:t>Week 7  ·  41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41</Slides>
  <Notes>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41</vt:i4>
      </vt:variant>
    </vt:vector>
  </HeadingPairs>
  <TitlesOfParts>
    <vt:vector size="4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MCMP117 Week 7</dc:title>
  <dc:subject>PptxGenJS Presentation</dc:subject>
  <dc:creator>PptxGenJS</dc:creator>
  <cp:lastModifiedBy>PptxGenJS</cp:lastModifiedBy>
  <cp:revision>1</cp:revision>
  <dcterms:created xsi:type="dcterms:W3CDTF">2026-10-08T13:04:04Z</dcterms:created>
  <dcterms:modified xsi:type="dcterms:W3CDTF">2026-10-08T13:04:04Z</dcterms:modified>
</cp:coreProperties>
</file>