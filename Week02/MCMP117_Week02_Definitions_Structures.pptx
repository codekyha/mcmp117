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Last week was the story; this week is the anatomy. Two hours: definitions and goals (first hour), then hardware basics and OS structures (second hour), with a short break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three angles: position (between user and hardware), permanence (always running: the kernel), and function (managing resources). None is wrong; each emphasises a different aspect.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scaling column: multiply every time by 1/(0.3 ns) ≈ 3.3 × 10^9. RAM: 100 ns × 3.3e9 ≈ 330 s ≈ 5.5 min; SSD 50 µs → 1.7e5 s ≈ 2 days; HDD 5 ms → 1.7e7 s ≈ 190 days. Numbers are order-of-magnitude, typical of current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observation from strace: printf also ends up as a write() system call. Library functions are convenience wrappers; only system calls cross into the kernel. Students can try this in Week 9 on the lab machines or in WSL.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in our build environment (a virtual machine). On bare-metal Linux a getpid system call is often 50-150 ns. Mode switches are not free; this single fact explains much of Part 4 (why microkernels are slower).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demonstration slide; students do not need to write kernel modules. Emphasise: no main(), init/exit functions instead, runs in kernel mode, output goes to the kernel log (dmesg).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 ·  WEEK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Fundamentals of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Systems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Definitions, Goals, Components &amp; OS Structures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an operating system, what is it for, and how is it built?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Electronical Communication Technology Programme  ·  Vocational School  ·  Istanbul Okan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in Four Ideas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computer follows instructions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output, with the program stored in memory next to the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61188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OS starts first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manages everything else, so that other programs can run.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4652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CPUs cost money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processing, multiprogramming and time-sharing were all invented to keep the processor busy.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52560" y="1508760"/>
            <a:ext cx="2606040" cy="374904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281160" y="1691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UNIX 1969, Linux 1991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148840"/>
            <a:ext cx="21488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composable tools; Linux is the system we will use hands-on from Week 9.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replace the informal definition with a precise one — and look at how operating systems are actually built.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737360" y="15544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Definitions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is an operating system? Two classic views.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63040" y="24688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737360" y="24688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Convenience, efficiency, ability to evolve — and their trade-offs.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463040" y="33832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737360" y="33832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OS, applications, users; interrupts, storage, dual mode.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463040" y="42976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737360" y="42976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Structures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monolithic, layered, microkernel, modular, hybrid.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73152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463040" y="5212080"/>
            <a:ext cx="101955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737360" y="5212080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  </a:t>
            </a: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system calls with real C code and strace.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Exactly Is an Operating System?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informal description to a precise definition.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Definitions You Will Meet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intermediary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9456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acts as an intermediary between the user of a computer and the computer hardware.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Silberschatz, Galvin &amp; Gagne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155448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44568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kernel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19456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program running at all times on the computer. Everything else is either a system program or an application program.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Silberschatz, Galvin &amp; Gagne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83296" y="155448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311896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manager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194560"/>
            <a:ext cx="31089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controls the execution of programs and manages the computer's resources: processor, memory, files and devices.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4434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Stallings (paraphrased)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109960" cy="1051560"/>
          </a:xfrm>
          <a:prstGeom prst="roundRect">
            <a:avLst>
              <a:gd name="adj" fmla="val 521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77240" y="5212080"/>
            <a:ext cx="10652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working definition: the operating system is the software layer that manages the hardware and offers programs a simpler, safer machine to run on. Its always-resident core is called the kernel.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 VIEWS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Machine vs. Resource Manager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Tanenbaum describes the OS from two directions — top-down and bottom-up.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Top-down: an extended machine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ugly hardware behind clean abstractions.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files, not disk sectors and magnetic tracks.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processes, not interrupt lines and registers.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the computer convenient to program and use.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4068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46520" y="228600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Bottom-up: a resource manager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743200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programs and users compete for one machine.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multiplexing: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take turns (the CPU, a printer).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multiplexing: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in pieces (memory, disk space).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allocate resources fairly, efficiently and safely.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views describe the same software. Weeks 3–7 of this course are mostly the resource-manager view: processes, CPU, memory, files.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Kernel, System Programs and Applications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that ships with an operating system is "the kernel".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word processor, game, your own C program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programs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shell, file manager, compiler, ls, cp, Task Manager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" y="388620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memory, file and device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6035040" cy="777240"/>
          </a:xfrm>
          <a:prstGeom prst="roundRect">
            <a:avLst>
              <a:gd name="adj" fmla="val 5882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60350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disks, network card, screen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uses only the services of the layer below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148840"/>
            <a:ext cx="4800600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086600" y="23317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who?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2788920"/>
            <a:ext cx="4343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always in memory, runs in a privileged mode, talks directly to hardware.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programs: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 with the OS but run as normal programs; they make the system usable.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everything you install to do your actual work.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strictly speaking, is only the kernel; a "Linux distribution" adds system programs (mostly from GNU).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Part of the Operating System?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official answer — which is exactly the point. Vote, then argue.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browser?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1998 the U.S. government sued Microsoft, partly over bundling Internet Explorer with Windows. Is the browser "part of Windows"? Lawyers argued about it for years.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2816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5676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graphical desktop?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Windows it is tightly integrated. On Linux it is a replaceable program (GNOME, KDE, …) running on top of the kernel.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0768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3628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store?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phone, most users think of the app store as "the system". Technically it is an application with special permissions.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rule: the kernel is certainly the OS. Beyond the kernel, "the OS" is whatever the vendor ships as the standard system.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Operating System For?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 goals — and why they pull in different directions.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Goals of Every Operating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Stallings summarises the objectives of an OS in three words.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Convenience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computer easier to use and to program.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windows, a shell, simple system calls.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not need to know the hardware.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2816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5676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Efficiency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hardware well: CPU busy, memory full of useful work, disks not waiting.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overhead: the OS itself should use few resources.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0768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3628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Ability to evolve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hardware (SSDs, GPUs, 5G modems) and new services must be addable…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…without breaking existing programs.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choice of OS structure (Part 4).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structure we discuss later is a different compromise between these three goals.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Goal Matters Most? It Depends on the Machine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468880"/>
                <a:gridCol w="6080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Kind of system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Main priority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Why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computer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Convenience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user who wants things to "just work"; the CPU is idle most of the time anyway.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/ cloud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Thousands of users; 1% more throughput can mean hundreds of fewer machines.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Smartphone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(energy)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life: the OS aggressively puts apps and the CPU to sleep.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/ IoT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 (size, cost)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washing machine controller may have a few kilobytes of memory; there may be no OS at all.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(car brakes, drones)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Predictability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answer that arrives late is a wrong answer: deadlines must always be met.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Convenience vs. Efficiency: A Worked Example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1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577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must read 1,000,000 numbers from a file.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way: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the OS for one number at a time → 1,000,000 system calls.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way: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for blocks of 4,096 bytes (≈ 1,000 numbers each) → about 1,000 system calls.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system call costs about 0.1 µs of pure overhead (we measure this later today):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1508760"/>
            <a:ext cx="4800600" cy="2743200"/>
          </a:xfrm>
          <a:prstGeom prst="roundRect">
            <a:avLst>
              <a:gd name="adj" fmla="val 1667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040880" y="1618488"/>
            <a:ext cx="443484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at a time: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1,000,000 × 0.1 µs = 100 ms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blocks of 1,000: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1,000 × 0.1 µs = 0.1 ms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1000 times less overhead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4480560"/>
            <a:ext cx="4800600" cy="1783080"/>
          </a:xfrm>
          <a:prstGeom prst="roundRect">
            <a:avLst>
              <a:gd name="adj" fmla="val 3077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086600" y="4480560"/>
            <a:ext cx="4343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such as C's stdio give you both: you call fgetc() one character at a time, but the library reads big blocks behind the scenes.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a Computer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operating system, application programs and users.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Components of a Computer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2860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02336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1554480"/>
            <a:ext cx="155448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76072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4864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28600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2336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02336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editor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51460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5760720" y="2514600"/>
            <a:ext cx="155448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611880"/>
            <a:ext cx="6766560" cy="822960"/>
          </a:xfrm>
          <a:prstGeom prst="roundRect">
            <a:avLst>
              <a:gd name="adj" fmla="val 5556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548640" y="3611880"/>
            <a:ext cx="6766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6766560" cy="822960"/>
          </a:xfrm>
          <a:prstGeom prst="roundRect">
            <a:avLst>
              <a:gd name="adj" fmla="val 5556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48640" y="4846320"/>
            <a:ext cx="676656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hardware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memory · I/O devices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2588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06324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80060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537960" y="212140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32588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06324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0060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537960" y="321868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931920" y="4453128"/>
            <a:ext cx="91" cy="374904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589520" y="1554480"/>
            <a:ext cx="4069080" cy="4709160"/>
          </a:xfrm>
          <a:prstGeom prst="roundRect">
            <a:avLst>
              <a:gd name="adj" fmla="val 134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7818120" y="173736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818120" y="2194560"/>
            <a:ext cx="3611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provides the basic computing resources.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programs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those resources to solve users' problems.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people, but also other machines and programs.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controls the hardware and coordinates its use among the applications and users.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Box: CPU, Memory and Devices on a Bus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109960" cy="201168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1399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bus — carries data, addresses and control signals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103120" cy="1051560"/>
          </a:xfrm>
          <a:prstGeom prst="roundRect">
            <a:avLst>
              <a:gd name="adj" fmla="val 4348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2286000"/>
            <a:ext cx="210312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fetch–decode–execute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00200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80360" y="2286000"/>
            <a:ext cx="2103120" cy="1051560"/>
          </a:xfrm>
          <a:prstGeom prst="roundRect">
            <a:avLst>
              <a:gd name="adj" fmla="val 4348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880360" y="2286000"/>
            <a:ext cx="210312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31920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257800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5257800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controller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98464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257800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257800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/ HDD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98464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76288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876288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controller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16952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876288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76288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keyboard, mouse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16952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494776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8494776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adapter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494776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494776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35440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113264" y="2286000"/>
            <a:ext cx="1481328" cy="1051560"/>
          </a:xfrm>
          <a:prstGeom prst="roundRect">
            <a:avLst>
              <a:gd name="adj" fmla="val 4348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10113264" y="2286000"/>
            <a:ext cx="1481328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853928" y="1911096"/>
            <a:ext cx="91" cy="356616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113264" y="3886200"/>
            <a:ext cx="148132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50808E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10113264" y="3886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Ethernet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853928" y="3355848"/>
            <a:ext cx="91" cy="512064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4114800" y="40690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39496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 txBox="1"/>
          <p:nvPr/>
        </p:nvSpPr>
        <p:spPr>
          <a:xfrm>
            <a:off x="777240" y="5394960"/>
            <a:ext cx="10652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controller has a small local buffer and works in parallel with the CPU. The OS contains a device driver for each controller: the driver speaks the controller's language so the rest of the OS does not have to.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Interrupts: How a Device Gets the CPU's Attention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does not keep asking the keyboard "anything new?" — the keyboard tells the CPU.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Device finishes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disk controller has copied the data into its buffer.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15184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807208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035808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Signal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raises an interrupt line on the CPU.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73752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65776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294376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Save &amp; jump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294376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saves what it was doing and jumps to the handler listed in the interrupt vector.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0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24344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552944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Handle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52944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OS's interrupt handler (part of the driver) processes the event.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90888" y="3383280"/>
            <a:ext cx="182880" cy="91"/>
          </a:xfrm>
          <a:prstGeom prst="line">
            <a:avLst/>
          </a:prstGeom>
          <a:noFill/>
          <a:ln w="19050">
            <a:solidFill>
              <a:srgbClr val="50808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582912" y="2148840"/>
            <a:ext cx="2057400" cy="2514600"/>
          </a:xfrm>
          <a:prstGeom prst="roundRect">
            <a:avLst>
              <a:gd name="adj" fmla="val 266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9811512" y="23317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Resume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11512" y="278892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state is restored; the interrupted program continues as if nothing happened.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937760"/>
            <a:ext cx="11109960" cy="1325880"/>
          </a:xfrm>
          <a:prstGeom prst="roundRect">
            <a:avLst>
              <a:gd name="adj" fmla="val 4138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77240" y="4937760"/>
            <a:ext cx="10652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operating systems are interrupt-driven: when no program is running and no device needs attention, the OS simply waits. Every key press, network packet and finished disk read arrives as an interrupt — thousands per second.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Storage Hierarchy: Fast and Small vs. Slow and Big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651760"/>
                <a:gridCol w="3886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Level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Typical size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Typical access time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If a register access took 1 second…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registers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KB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0.3 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second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(L1–L3)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few MB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40 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seconds – 2 minutes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memory (RAM)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64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100 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 minutes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4 TB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50 µs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 days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disk (HDD)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20 TB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 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 months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Registers, cache and RAM are volatile (lost at power-off); SSDs and disks are non-volatile. The OS constantly moves data between levels — the theme of Weeks 6 and 7.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Operation: User Mode and Kernel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itself enforces who may do what, using a mode bit inside the CPU.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6035040" cy="1097280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60350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   (mode bit = 1)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programs: restricted instructions only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6035040" cy="1097280"/>
          </a:xfrm>
          <a:prstGeom prst="roundRect">
            <a:avLst>
              <a:gd name="adj" fmla="val 4167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603504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mode   (mode bit = 0)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kernel: every instruction allowed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11680" y="3291840"/>
            <a:ext cx="91" cy="114300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V="1">
            <a:off x="5120640" y="3291840"/>
            <a:ext cx="91" cy="114300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214884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 / interrupt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(trap: set bit to 0)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4747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user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 bit to 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4800600" cy="4114800"/>
          </a:xfrm>
          <a:prstGeom prst="roundRect">
            <a:avLst>
              <a:gd name="adj" fmla="val 1333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086600" y="233172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788920"/>
            <a:ext cx="43434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instructions</a:t>
            </a: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(talk to a device, change memory protection, halt the CPU) work only in kernel mode.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user program tries one, the hardware traps to the OS, which usually kills the program.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buggy or malicious app cannot take over the machine.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x86 CPUs the modes are called rings: Linux and Windows use ring 0 (kernel) and ring 3 (user).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1: A Program That Calls the Kernel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18488"/>
            <a:ext cx="61264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hello_syscall.c -- the same message printed in two ways.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Compile:  gcc hello_syscall.c -o hello_syscall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Run:      ./hello_syscall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Trace:    strace ./hello_syscall      (Linux only)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    /* printf: library function (user mode)  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&lt;unistd.h&gt;   /* write:  thin wrapper around a system call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1) Library call: printf formats the text in user mode,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   then asks the kernel to output it via write().     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printf("Hello from printf!\n");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fflush(stdout);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2) Direct system call: file descriptor 1 = the screen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*    (standard output). 20 = number of bytes to write.   */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write(1, "Hello from write()!\n", 20);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343400" cy="2926080"/>
          </a:xfrm>
          <a:prstGeom prst="roundRect">
            <a:avLst>
              <a:gd name="adj" fmla="val 1875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543800" y="1691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3886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is a library function: it formats text in user mode.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write() is a system call: it switches to kernel mode, and the kernel sends the bytes to the screen.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 shows every system call a program makes: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4663440"/>
            <a:ext cx="4343400" cy="1600200"/>
          </a:xfrm>
          <a:prstGeom prst="roundRect">
            <a:avLst>
              <a:gd name="adj" fmla="val 2857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498080" y="4773168"/>
            <a:ext cx="39776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strace ./hello_syscall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"Hello from printf!\n", 19) = 19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write(1, "Hello from write()!\n", 20) = 20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exit_group(0)                    = ?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2: How Expensive Is a Trip into the Kernel?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18488"/>
            <a:ext cx="61264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N 1000000L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plain_function(long x) { return x + 1;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volatile long sink = 0;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t0 = seconds();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(long i = 0; i &lt; N; i++)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sink += plain_function(i);   /* user mode only */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t1 = seconds();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(long i = 0; i &lt; N; i++)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sink += syscall(SYS_getpid); /* user-&gt;kernel-&gt;user */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t2 = seconds();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printf("ordinary function call : %6.1f ns\n",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(t1 - t0) / N * 1e9);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printf("system call (getpid)   : %6.1f ns\n",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(t2 - t1) / N * 1e9);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full program: code/syscall_cost.c */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34340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543800" y="1691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experiment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 ordinary function one million times.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make one million tiny system calls (getpid).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average time per call.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numbers depend on your machine; the ratio is the lesson.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4892040"/>
            <a:ext cx="4343400" cy="1371600"/>
          </a:xfrm>
          <a:prstGeom prst="roundRect">
            <a:avLst>
              <a:gd name="adj" fmla="val 333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498080" y="5001768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./syscall_cost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ordinary function call :   1.5 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call (getpid)   : 116.1 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call is about 76 times slower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10-Minute Break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how operating systems are built — from MS-DOS to microkernels.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14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Operating-System Structures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goals, very different buildings.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Structure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Linux kernel has over 30 million lines of code. How do you organise something that big?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structure at all (MS-DOS).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53712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kernel program (UNIX, Linux).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1584" y="214884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30184" y="23317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7889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layers, each using only the one below (THE).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Microkernel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kernel; services run as user programs (Mach, MINIX 3, QNX).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5112" y="42519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553712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53712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kernel plus loadable modules (Linux).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01584" y="4251960"/>
            <a:ext cx="3566160" cy="1920240"/>
          </a:xfrm>
          <a:prstGeom prst="roundRect">
            <a:avLst>
              <a:gd name="adj" fmla="val 2857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330184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489204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mix the above (Windows, macOS, Android).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Structure: MS-DOS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fit in very little memory on the 1981 IBM PC; it was never really designed in layers.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20040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system program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MS-DOS device drivers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4023360" cy="731520"/>
          </a:xfrm>
          <a:prstGeom prst="roundRect">
            <a:avLst>
              <a:gd name="adj" fmla="val 6250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5120640"/>
            <a:ext cx="402336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BIOS device drivers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606040"/>
            <a:ext cx="91" cy="2697480"/>
          </a:xfrm>
          <a:prstGeom prst="line">
            <a:avLst/>
          </a:prstGeom>
          <a:noFill/>
          <a:ln w="25400">
            <a:solidFill>
              <a:srgbClr val="B5453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074920" y="2606040"/>
            <a:ext cx="91" cy="1737360"/>
          </a:xfrm>
          <a:prstGeom prst="line">
            <a:avLst/>
          </a:prstGeom>
          <a:noFill/>
          <a:ln w="25400">
            <a:solidFill>
              <a:srgbClr val="B5453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6126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could skip layers and access the hardware directly.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and fast.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write for limited hardware.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protection: one buggy program could crash the whole system.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 8088 CPU had no dual mode, so the OS could not stop it.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protection needs hardware support (dual mode) plus an OS that uses it.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 Kernel: UNIX and Linux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OS services live in one large program that runs in kernel mode, in one address space.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96596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38328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14884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800600" y="2148840"/>
            <a:ext cx="12801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5623560" cy="0"/>
          </a:xfrm>
          <a:prstGeom prst="line">
            <a:avLst/>
          </a:prstGeom>
          <a:noFill/>
          <a:ln w="12700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486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system-call interface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623560" cy="2240280"/>
          </a:xfrm>
          <a:prstGeom prst="roundRect">
            <a:avLst>
              <a:gd name="adj" fmla="val 2041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152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KERNEL — kernel mode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3152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14600" y="39319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251460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mgr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297680" y="393192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7548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31520" y="475488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stack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14600" y="47548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2514600" y="475488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97680" y="475488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50808E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297680" y="4754880"/>
            <a:ext cx="164592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IPC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5623560" cy="548640"/>
          </a:xfrm>
          <a:prstGeom prst="roundRect">
            <a:avLst>
              <a:gd name="adj" fmla="val 833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548640" y="5806440"/>
            <a:ext cx="5623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services call each other directly, like ordinary function calls.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mode switches per system call.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and hard to maintain.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in any driver can crash the entire kernel (a "kernel panic").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39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original UNIX (1970s), Linux, traditional BSD.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is split into layers; layer N may only use layers below it. Layer 0 is the hardware.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577840" cy="59436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55778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5:  User programs / operator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788920"/>
            <a:ext cx="5248656" cy="594360"/>
          </a:xfrm>
          <a:prstGeom prst="roundRect">
            <a:avLst>
              <a:gd name="adj" fmla="val 7692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13232" y="2788920"/>
            <a:ext cx="5248656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4:  Buffering for I/O devices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" y="3474720"/>
            <a:ext cx="4919472" cy="59436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77824" y="3474720"/>
            <a:ext cx="4919472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3:  Operator console driver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42416" y="4160520"/>
            <a:ext cx="4590288" cy="594360"/>
          </a:xfrm>
          <a:prstGeom prst="roundRect">
            <a:avLst>
              <a:gd name="adj" fmla="val 7692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42416" y="4160520"/>
            <a:ext cx="4590288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 Memory management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07008" y="4846320"/>
            <a:ext cx="4261104" cy="594360"/>
          </a:xfrm>
          <a:prstGeom prst="roundRect">
            <a:avLst>
              <a:gd name="adj" fmla="val 7692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207008" y="4846320"/>
            <a:ext cx="4261104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 CPU scheduling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5532120"/>
            <a:ext cx="3931920" cy="594360"/>
          </a:xfrm>
          <a:prstGeom prst="roundRect">
            <a:avLst>
              <a:gd name="adj" fmla="val 7692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371600" y="5532120"/>
            <a:ext cx="39319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0:  Hardware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Loosely based on Dijkstra's THE system (1968).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build and debug one layer at a time.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can be verified separately.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decide the order (does memory need the scheduler, or the reverse?).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passes through many layers → slow.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layering is rare today, but the idea survives inside every OS (e.g. the network stack is layered).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Microkernel: Keep the Kernel Tiny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bare minimum stays in kernel mode; everything else runs as ordinary user-mode servers.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6596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96596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server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38328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2331720"/>
            <a:ext cx="1298448" cy="914400"/>
          </a:xfrm>
          <a:prstGeom prst="roundRect">
            <a:avLst>
              <a:gd name="adj" fmla="val 5000"/>
            </a:avLst>
          </a:prstGeom>
          <a:solidFill>
            <a:srgbClr val="D7E9E6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800600" y="2331720"/>
            <a:ext cx="1298448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5623560" cy="0"/>
          </a:xfrm>
          <a:prstGeom prst="line">
            <a:avLst/>
          </a:prstGeom>
          <a:noFill/>
          <a:ln w="12700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623560" cy="868680"/>
          </a:xfrm>
          <a:prstGeom prst="roundRect">
            <a:avLst>
              <a:gd name="adj" fmla="val 526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48640" y="4572000"/>
            <a:ext cx="5623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· basic scheduling · basic memory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1560" y="3264408"/>
            <a:ext cx="91" cy="1280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2377440" y="3264408"/>
            <a:ext cx="91" cy="1280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1115568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request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41448" y="4114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forwarded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5623560" cy="548640"/>
          </a:xfrm>
          <a:prstGeom prst="roundRect">
            <a:avLst>
              <a:gd name="adj" fmla="val 8333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548640" y="5623560"/>
            <a:ext cx="56235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2636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never calls the file server directly: messages travel through the kernel.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Reliable: a crashed driver is just a crashed program — restart it.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and easy to extend; small kernel is easier to verify.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Slower: every service request needs extra messages and mode switches.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Mach (1980s), MINIX 3, QNX (cars, medical devices), seL4 (mathematically verified).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The Price of a Microkernel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486400" cy="4754880"/>
          </a:xfrm>
          <a:prstGeom prst="roundRect">
            <a:avLst>
              <a:gd name="adj" fmla="val 1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" y="16916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mode switches for one file 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4884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→ kernel → app.  2 switches.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Microkernel:</a:t>
            </a: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→ kernel → file server → kernel → app.  4 switches, plus 2 message copies.</a:t>
            </a:r>
            <a:endParaRPr lang="en-US" sz="16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(illustrative numbers): one switch = 0.1 µs, one message copy = 0.15 µs, the useful work = 1 µs.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5349240" cy="2926080"/>
          </a:xfrm>
          <a:prstGeom prst="roundRect">
            <a:avLst>
              <a:gd name="adj" fmla="val 1563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492240" y="1618488"/>
            <a:ext cx="49834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Monolithic: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2(0.1) + 1.0          = 1.2 µs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Microkernel: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4(0.1) + 2(0.15) + 1.0 = 1.7 µs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Slow-down: 1.7 / 1.2 ≈ 1.42  (42 %)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466344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37960" y="466344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short, frequent operations the overhead dominates. For long operations (reading a large file) it hardly matters. Modern microkernels such as L4 work hard to make messages cheap.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Kernel: Loadable Kernel Modules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kernel plus modules that can be added or removed while the system runs.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 flipH="1">
            <a:off x="3383280" y="2514600"/>
            <a:ext cx="914" cy="1600200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flipH="1">
            <a:off x="3383280" y="3117092"/>
            <a:ext cx="1680031" cy="99770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4114800"/>
            <a:ext cx="2094964" cy="35607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83280" y="4114800"/>
            <a:ext cx="932347" cy="1441730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flipH="1">
            <a:off x="2450933" y="4114800"/>
            <a:ext cx="932347" cy="1441730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flipH="1">
            <a:off x="1288316" y="4114800"/>
            <a:ext cx="2094964" cy="35607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703249" y="3117092"/>
            <a:ext cx="1680031" cy="997708"/>
          </a:xfrm>
          <a:prstGeom prst="line">
            <a:avLst/>
          </a:prstGeom>
          <a:noFill/>
          <a:ln w="15875">
            <a:solidFill>
              <a:srgbClr val="50808E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331720" y="36576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2331720" y="3657600"/>
            <a:ext cx="2103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kernel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51760" y="2212848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2651760" y="2212848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31791" y="28153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331791" y="2815340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drivers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46724" y="4169126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746724" y="4169126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classes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84107" y="5254778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3584107" y="5254778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19413" y="5254778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719413" y="5254778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formats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6796" y="4169126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56796" y="4169126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modules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71729" y="28153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2F2F2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71729" y="2815340"/>
            <a:ext cx="1463040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/ Bluetooth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126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are loaded on demand and linked into the running kernel.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29400" y="205740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6858000" y="2240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8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monolithic: modules run in kernel mode, so calls are fast.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microkernel: flexible — load a driver only when the device appears.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29400" y="3703320"/>
            <a:ext cx="5029200" cy="1463040"/>
          </a:xfrm>
          <a:prstGeom prst="roundRect">
            <a:avLst>
              <a:gd name="adj" fmla="val 375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6858000" y="38862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43434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buggy module still runs in kernel mode and can crash the system.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29400" y="5349240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6858000" y="53492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Linux (lsmod, insmod, rmmod), Solaris, modern BSDs. The most common design today.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3: A Loadable Kernel Module in 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922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18488"/>
            <a:ext cx="61264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&lt;linux/init.h&gt;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&lt;linux/module.h&gt;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&lt;linux/kernel.h&gt;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MODULE_LICENSE("GPL");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MODULE_AUTHOR("MCMP117");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MODULE_DESCRIPTION("Hello-world kernel module");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__init hello_init(void)      /* runs at insmod */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pr_info("hello_module: loaded into the kernel\n");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                         /* 0 = success */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__exit hello_exit(void)     /* runs at rmmod */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pr_info("hello_module: removed from the kernel\n");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module_init(hello_init);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module_exit(hello_exit);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1508760"/>
            <a:ext cx="4343400" cy="2651760"/>
          </a:xfrm>
          <a:prstGeom prst="roundRect">
            <a:avLst>
              <a:gd name="adj" fmla="val 206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543800" y="169164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it (Linux)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2148840"/>
            <a:ext cx="3886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the kernel's own build system (Makefile in the code folder).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pr_info() writes to the kernel log, not to the screen.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try this inside a virtual machine.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4389120"/>
            <a:ext cx="4343400" cy="1874520"/>
          </a:xfrm>
          <a:prstGeom prst="roundRect">
            <a:avLst>
              <a:gd name="adj" fmla="val 2439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498080" y="4498848"/>
            <a:ext cx="39776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make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insmod hello_module.ko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lsmod | grep hello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dmesg | tail -1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hello_module: loaded into the kernel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rmmod hello_module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Systems: What Real Operating Systems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designs are rare. Real systems borrow from several structures for performance, security and convenience.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(NT family)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microkernel ideas (separate subsystems).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speed, most services — including graphics — run in kernel mode.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Loadable drivers, like modules.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2816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5676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 and iOS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5676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"XNU" = Mach microkernel + BSD UNIX parts, compiled into one kernel.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as loadable kernel extensions.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07680" y="2103120"/>
            <a:ext cx="3550920" cy="3154680"/>
          </a:xfrm>
          <a:prstGeom prst="roundRect">
            <a:avLst>
              <a:gd name="adj" fmla="val 1739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336280" y="2286000"/>
            <a:ext cx="3093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6280" y="2743200"/>
            <a:ext cx="3093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modified Linux kernel (monolithic + modules).</a:t>
            </a:r>
            <a:endParaRPr lang="en-US" sz="15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top: hardware abstraction layer, native libraries and the Android runtime for apps.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1992: Andrew Tanenbaum (MINIX, microkernel) told Linus Torvalds that "Linux is obsolete" because it was monolithic. Thirty years later, both designs are still in daily use.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Structures Side by Side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32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26080"/>
                <a:gridCol w="1463040"/>
                <a:gridCol w="21488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Structure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 kernel mode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Speed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Reliability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(no protection)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MS-DOS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Monolithic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OS services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UNIX, Linux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layers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(1968)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Microkernel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tiny kernel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MINIX 3, QNX, seL4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+ loaded 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Linux, Solaris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Windows, macOS, Android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F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36454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5486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trade-off: every boundary you add (layer, message, mode switch) buys reliability and costs speed.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Inside Your Own Operating System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035040" cy="4754880"/>
          </a:xfrm>
          <a:prstGeom prst="roundRect">
            <a:avLst>
              <a:gd name="adj" fmla="val 962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18488"/>
            <a:ext cx="56692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Linux (lab PCs, WSL, or a virtual machine)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uname -r          # which kernel version?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lsmod | head      # which modules are loaded?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strace -c ls      # count the system calls of ls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winver            # which Windows build?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F2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driverquery       # list installed drivers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Manager &gt; Performance: CPU time split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into "user" and "kernel"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508760"/>
            <a:ext cx="4800600" cy="4754880"/>
          </a:xfrm>
          <a:prstGeom prst="roundRect">
            <a:avLst>
              <a:gd name="adj" fmla="val 1154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086600" y="16916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to answer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148840"/>
            <a:ext cx="4343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kernel modules are loaded on your machine?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system call does ls use most often?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how many system calls does a simple command like ls make? (On our test machine: 76.)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Task Manager and find a program that spends a lot of time in kernel mode. Why might that be?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— 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r>
              <a:rPr lang="en-US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OS manages the hardware and offers programs a simpler, safer machine; its always-resident core is the kernel.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views:</a:t>
            </a:r>
            <a:r>
              <a:rPr lang="en-US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extended machine (abstraction, top-down) and resource manager (multiplexing, bottom-up).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goals:</a:t>
            </a:r>
            <a:r>
              <a:rPr lang="en-US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convenience, efficiency, ability to evolve — weighted differently on PCs, servers, phones and embedded systems.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components:</a:t>
            </a:r>
            <a:r>
              <a:rPr lang="en-US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hardware, OS, application programs, users.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needs hardware:</a:t>
            </a:r>
            <a:r>
              <a:rPr lang="en-US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dual mode (user/kernel) and interrupts; a system call costs far more than a function call.</a:t>
            </a:r>
            <a:endParaRPr lang="en-US" sz="17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700" b="1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Structures:</a:t>
            </a:r>
            <a:r>
              <a:rPr lang="en-US" sz="17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simple, monolithic, layered, microkernel, modular, hybrid — each a different speed vs. reliability compromise.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780794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77240" y="178079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508760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time multiplexing and one of space multiplexing performed by an 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747772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019806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301980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747772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could a bug in an MS-DOS program crash the whole computer, but not in a Linux program?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7240" y="4258818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7240" y="425881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86784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call takes 100 ns, a function call 1.5 ns. How much overhead do 10⁶ system calls add, compared with 10⁶ function calls?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25796"/>
            <a:ext cx="11109960" cy="1037844"/>
          </a:xfrm>
          <a:prstGeom prst="roundRect">
            <a:avLst>
              <a:gd name="adj" fmla="val 5286"/>
            </a:avLst>
          </a:prstGeom>
          <a:solidFill>
            <a:srgbClr val="F2F2F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5497830"/>
            <a:ext cx="493776" cy="49377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777240" y="549783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225796"/>
            <a:ext cx="9921240" cy="1037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advantage and one disadvantage of a microkernel compared with a monolithic kernel.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Services, System Calls &amp; Processes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7680960" cy="2926080"/>
          </a:xfrm>
          <a:prstGeom prst="roundRect">
            <a:avLst>
              <a:gd name="adj" fmla="val 1875"/>
            </a:avLst>
          </a:prstGeom>
          <a:solidFill>
            <a:srgbClr val="36454F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will cover: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474720"/>
            <a:ext cx="7132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services an operating system provides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in detail: types, parameters, the system-call table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concept: a program in execution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states: new, ready, running, waiting, terminated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121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questions after class, ask them on the course Telegram channel — everyone benefits from the answer.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Hasan Oğuz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MCMP117 — Fundamentals of Operating Systems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271455" y="6528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37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MCMP117 Week 2</dc:title>
  <dc:subject>PptxGenJS Presentation</dc:subject>
  <dc:creator>PptxGenJS</dc:creator>
  <cp:lastModifiedBy>PptxGenJS</cp:lastModifiedBy>
  <cp:revision>1</cp:revision>
  <dcterms:created xsi:type="dcterms:W3CDTF">2026-10-06T07:26:53Z</dcterms:created>
  <dcterms:modified xsi:type="dcterms:W3CDTF">2026-10-06T07:26:53Z</dcterms:modified>
</cp:coreProperties>
</file>